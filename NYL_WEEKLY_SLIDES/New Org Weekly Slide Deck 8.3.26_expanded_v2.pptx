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2.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3.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4.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5856" r:id="rId4"/>
  </p:sldMasterIdLst>
  <p:notesMasterIdLst>
    <p:notesMasterId r:id="rId51"/>
  </p:notesMasterIdLst>
  <p:handoutMasterIdLst>
    <p:handoutMasterId r:id="rId52"/>
  </p:handoutMasterIdLst>
  <p:sldIdLst>
    <p:sldId id="388" r:id="rId5"/>
    <p:sldId id="259" r:id="rId6"/>
    <p:sldId id="260" r:id="rId7"/>
    <p:sldId id="261" r:id="rId8"/>
    <p:sldId id="267" r:id="rId9"/>
    <p:sldId id="268" r:id="rId10"/>
    <p:sldId id="269" r:id="rId11"/>
    <p:sldId id="270" r:id="rId12"/>
    <p:sldId id="271" r:id="rId13"/>
    <p:sldId id="272" r:id="rId14"/>
    <p:sldId id="273" r:id="rId15"/>
    <p:sldId id="276" r:id="rId16"/>
    <p:sldId id="426" r:id="rId17"/>
    <p:sldId id="2147483647" r:id="rId18"/>
    <p:sldId id="256" r:id="rId19"/>
    <p:sldId id="258" r:id="rId20"/>
    <p:sldId id="262" r:id="rId21"/>
    <p:sldId id="266" r:id="rId22"/>
    <p:sldId id="340" r:id="rId23"/>
    <p:sldId id="263" r:id="rId24"/>
    <p:sldId id="400" r:id="rId25"/>
    <p:sldId id="320" r:id="rId26"/>
    <p:sldId id="427" r:id="rId27"/>
    <p:sldId id="257" r:id="rId28"/>
    <p:sldId id="264" r:id="rId29"/>
    <p:sldId id="265" r:id="rId30"/>
    <p:sldId id="2147483645" r:id="rId31"/>
    <p:sldId id="421" r:id="rId32"/>
    <p:sldId id="319" r:id="rId33"/>
    <p:sldId id="274" r:id="rId34"/>
    <p:sldId id="275" r:id="rId35"/>
    <p:sldId id="277" r:id="rId36"/>
    <p:sldId id="278" r:id="rId37"/>
    <p:sldId id="279" r:id="rId38"/>
    <p:sldId id="280" r:id="rId39"/>
    <p:sldId id="281" r:id="rId40"/>
    <p:sldId id="282" r:id="rId41"/>
    <p:sldId id="283" r:id="rId42"/>
    <p:sldId id="284" r:id="rId43"/>
    <p:sldId id="285" r:id="rId44"/>
    <p:sldId id="286" r:id="rId45"/>
    <p:sldId id="287" r:id="rId46"/>
    <p:sldId id="288" r:id="rId47"/>
    <p:sldId id="289" r:id="rId48"/>
    <p:sldId id="290" r:id="rId49"/>
    <p:sldId id="291" r:id="rId50"/>
  </p:sldIdLst>
  <p:sldSz cx="12192000" cy="6858000"/>
  <p:notesSz cx="7102475" cy="9388475"/>
  <p:custDataLst>
    <p:tags r:id="rId5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5B82AEEB-27C9-4347-8BF2-F4521B8C3795}">
          <p14:sldIdLst>
            <p14:sldId id="388"/>
            <p14:sldId id="259"/>
            <p14:sldId id="260"/>
            <p14:sldId id="261"/>
            <p14:sldId id="267"/>
            <p14:sldId id="268"/>
            <p14:sldId id="269"/>
            <p14:sldId id="270"/>
            <p14:sldId id="271"/>
            <p14:sldId id="272"/>
            <p14:sldId id="273"/>
          </p14:sldIdLst>
        </p14:section>
        <p14:section name="Content" id="{7F40F47A-1A74-41D4-A581-0833D369880F}">
          <p14:sldIdLst>
            <p14:sldId id="276"/>
            <p14:sldId id="426"/>
            <p14:sldId id="2147483647"/>
            <p14:sldId id="256"/>
            <p14:sldId id="258"/>
            <p14:sldId id="262"/>
            <p14:sldId id="266"/>
            <p14:sldId id="340"/>
            <p14:sldId id="263"/>
            <p14:sldId id="400"/>
            <p14:sldId id="320"/>
            <p14:sldId id="427"/>
            <p14:sldId id="257"/>
            <p14:sldId id="264"/>
            <p14:sldId id="265"/>
            <p14:sldId id="2147483645"/>
            <p14:sldId id="421"/>
            <p14:sldId id="319"/>
            <p14:sldId id="274"/>
            <p14:sldId id="275"/>
            <p14:sldId id="277"/>
            <p14:sldId id="278"/>
            <p14:sldId id="279"/>
            <p14:sldId id="280"/>
            <p14:sldId id="281"/>
            <p14:sldId id="282"/>
            <p14:sldId id="283"/>
            <p14:sldId id="284"/>
            <p14:sldId id="285"/>
            <p14:sldId id="286"/>
            <p14:sldId id="287"/>
            <p14:sldId id="288"/>
            <p14:sldId id="289"/>
            <p14:sldId id="290"/>
            <p14:sldId id="291"/>
          </p14:sldIdLst>
        </p14:section>
      </p14:sectionLst>
    </p:ext>
    <p:ext uri="{EFAFB233-063F-42B5-8137-9DF3F51BA10A}">
      <p15:sldGuideLst xmlns:p15="http://schemas.microsoft.com/office/powerpoint/2012/main">
        <p15:guide id="1" pos="1248" userDrawn="1">
          <p15:clr>
            <a:srgbClr val="A4A3A4"/>
          </p15:clr>
        </p15:guide>
        <p15:guide id="2" orient="horz" pos="2376"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C88B104-0603-DB14-FB19-8B061BAFB446}" name="Cirrincione, Deborah (Debbie)" initials="DC" userId="S::DCIRRINCI@newyorklife.com::208aada5-06cf-41ed-b292-2a173ac4d61d" providerId="AD"/>
  <p188:author id="{56DAEC0E-8B9A-EFBA-CEC8-9C86098D70B1}" name="Jean, Natasha" initials="JN" userId="S::njean@newyorklife.com::c457da75-332c-4d7b-9013-a1cb9b90886b" providerId="AD"/>
  <p188:author id="{E6325B11-2B13-A17C-AE9E-D23D2ADBA2C1}" name="Scanlan, Dawn M." initials="SD" userId="S::dhamon@newyorklife.com::12c7cd20-34bf-4117-b7b9-e4f7d0c77492" providerId="AD"/>
  <p188:author id="{03F8FB18-B39D-0050-A8EB-A1A2407ED5D9}" name="Oliveira, Maile M." initials="OM" userId="S::mmbrown@newyorklife.com::64802ba7-84bf-436a-b409-1db34b4cff98" providerId="AD"/>
  <p188:author id="{AB61541C-3827-2330-99F1-4B1E43CD5285}" name="Matzko, Donna J." initials="" userId="S::DMATZKO@newyorklife.com::a0ae713f-cc26-46c7-b8b9-c2ba1a6c18be" providerId="AD"/>
  <p188:author id="{A2B39C1C-877D-7914-D47E-BFD3482E12A9}" name="Murphy, Karen A." initials="KM" userId="S::kamurphy@newyorklife.com::e908a998-6e67-445b-bceb-e3f9243fa633" providerId="AD"/>
  <p188:author id="{27656B1E-4F6E-DB6E-9EE4-2BF187666295}" name="Chambers, Maryann" initials="CM" userId="S::mchambers02@newyorklife.com::859f9a9e-0f02-4620-8509-0bbdd26e0cb9" providerId="AD"/>
  <p188:author id="{0512EF21-C40B-D3CF-1B69-C0088690A08D}" name="Roughan, Sarah" initials="SR" userId="S::SROUGHAN@newyorklife.com::8091c5e4-3c9e-4ce8-a969-a2efd2174472" providerId="AD"/>
  <p188:author id="{61F13D22-0E0E-EE5D-D595-8ADB3788527F}" name="Cattan, Lauren E." initials="" userId="S::lecattan@newyorklife.com::ddd6e1fa-c82a-41c8-9d29-262da4981243" providerId="AD"/>
  <p188:author id="{D388B223-0728-409D-78CA-D25481D8D6FC}" name="Getaz, Marjorie V." initials="GV" userId="S::mgetaz@newyorklife.com::ea5e04bc-0316-4f07-ac82-b5c547970c0d" providerId="AD"/>
  <p188:author id="{6DDBDE29-0235-14EA-0B7D-479B808A7EF1}" name="Schwartz, Grace" initials="" userId="S::gschwartz02@newyorklife.com::482043fe-9bcb-4f4e-8db6-5fe4cb5439ed" providerId="AD"/>
  <p188:author id="{D8734834-E2EB-99E0-93D8-641F24B0AD46}" name="Falvo, Christopher (Chris)" initials="FC" userId="S::cfalvo@newyorklife.com::ad72e406-7e4b-4df6-bc2b-fdbd41892401" providerId="AD"/>
  <p188:author id="{1D1EE235-820B-D8C7-6AA2-316059E7D001}" name="Rose-Curley, Kelly R." initials="RCKR" userId="S::krosecurley@newyorklife.com::35c7f804-a584-4833-8966-5d1db731baab" providerId="AD"/>
  <p188:author id="{50BFF837-3C3A-0E2C-0ED1-FB27565BFCDC}" name="Mariutto, Jennifer M." initials="MM" userId="S::jiannibel@newyorklife.com::c1f1ff73-0556-4c3e-b648-cf17dbe126d2" providerId="AD"/>
  <p188:author id="{EEDAC642-367D-31E6-1752-92D684194A65}" name="Hourihan, Karla M." initials="KH" userId="S::KSUNDSTRO@newyorklife.com::595e3252-aeba-4609-af9d-4f36f617beb2" providerId="AD"/>
  <p188:author id="{F55A2946-8F83-058E-720D-40DF22326A19}" name="Bueti, Grazia (Grace)" initials="B(" userId="S::gbueti@newyorklife.com::c20da38d-4933-4cf1-8bc7-708859dc483f" providerId="AD"/>
  <p188:author id="{5DDDD84C-5F01-C273-2A72-188E082B6E60}" name="Schwartz, Deborah A." initials="DS" userId="S::daschwartz@newyorklife.com::f76e2373-eaaf-4e13-b974-65290e356216" providerId="AD"/>
  <p188:author id="{0E703F4D-9169-B7B3-CD1E-EB37DC168934}" name="Ura, Edit" initials="UE" userId="S::eura@newyorklife.com::a6f2eeb4-940e-4b7f-893a-1553909b3f48" providerId="AD"/>
  <p188:author id="{BA2DDC52-7CE2-0A0C-F0C4-5916F422448A}" name="Bulk, Andrew H. (Hunter)" initials="AB" userId="S::abulk@newyorklife.com::9ca1aaf4-2bdd-45d0-8ed4-7c68d5a17e49" providerId="AD"/>
  <p188:author id="{9C713C55-CBBA-9A64-B8F3-87D958DADF30}" name="Crimmins, Sheila A." initials="CS" userId="S::scrimmins@newyorklife.com::bf709f57-f968-48e4-ba64-4008d5d65a86" providerId="AD"/>
  <p188:author id="{2F65DD55-5C00-7671-AA59-1964AADD4DB0}" name="Bean, Darla L." initials="" userId="S::DBEAN@newyorklife.com::1cdda7fb-ded0-4ae6-9a0b-8ecf3341de13" providerId="AD"/>
  <p188:author id="{0A64D957-4C8C-1539-6B98-92C68A0D1D4A}" name="Kuzma, Matthew P." initials="" userId="S::mkuzma@newyorklife.com::e3edd6ba-4461-45fe-afc9-84ff9b2b1683" providerId="AD"/>
  <p188:author id="{98F39958-7A0C-819B-092A-654262FBFA68}" name="Nabors, Lisa (Lisa Renee)" initials="" userId="S::lnabors@newyorklife.com::2428def2-c02b-428d-91d0-cc587022f317" providerId="AD"/>
  <p188:author id="{047C695E-CC98-0A8A-B34A-0ECA6D510BB4}" name="Brown, Traci" initials="BT" userId="S::tbrown02@newyorklife.com::dbff7f98-554c-4297-ba8f-c5886a4da67b" providerId="AD"/>
  <p188:author id="{B6F96364-211C-8C43-AE38-CDEBEB04EC9F}" name="Mitra, Debapriya" initials="DM" userId="S::dmitra@newyorklife.com::21b21f98-a826-4455-9c9d-cb7d150c14fb" providerId="AD"/>
  <p188:author id="{C1456E67-7030-936D-33B0-32CE3A81C3D8}" name="Macchia, John" initials="" userId="S::jmacchia01@newyorklife.com::1f860ba1-b7e6-45b3-ba8f-232cf36abb01" providerId="AD"/>
  <p188:author id="{C8928A67-B20B-D87E-5540-087A347196AA}" name="Gilrein, Sean" initials="SG" userId="S::SGILREIN@newyorklife.com::8345e0ee-d86a-4f4d-938c-9dbb6e7c199d" providerId="AD"/>
  <p188:author id="{60874968-7C58-CE39-5BBD-0D797E532F25}" name="Cirrincione, Deborah (Debbie)" initials="dc" userId="Cirrincione, Deborah (Debbie)" providerId="None"/>
  <p188:author id="{7A0C5C6A-4A62-41D9-4F3E-3F1EBCA67392}" name="Klink, Edward E." initials="" userId="S::eeklink@newyorklife.com::d55b7f20-6b1a-488e-bc4e-45dcf68636ce" providerId="AD"/>
  <p188:author id="{9929BA6B-C613-F00B-8D48-206035D02269}" name="Gomes, Ligiane M. (Ligi)" initials="" userId="S::lgomes@newyorklife.com::2f659f96-c90e-4564-93aa-b062b87100ea" providerId="AD"/>
  <p188:author id="{83CD0270-DF0C-A16E-33B4-C536F7B4706C}" name="Essig, Daniel (Danny)" initials="DE" userId="S::DESSIG@newyorklife.com::f32510c9-2efe-4bb9-aa71-daecbbe6a660" providerId="AD"/>
  <p188:author id="{3A22EB70-5E1C-70AC-9010-295C37A89265}" name="Fidz, Anna M." initials="" userId="S::afidz@newyorklife.com::403b62f2-a980-47af-8223-793a05db5331" providerId="AD"/>
  <p188:author id="{4F22687A-C5BE-8C0B-B553-3927C7BEA320}" name="Cook, Erin E." initials="EC" userId="S::eedowney@newyorklife.com::4ccbf6e1-c364-4b3c-a7a8-4026f8918c02" providerId="AD"/>
  <p188:author id="{49D67B7C-B5F7-6980-A774-191BA199960A}" name="Armstrong-Walker, Diana L." initials="DA" userId="S::dlarmstrongw@newyorklife.com::d378a642-fb86-4375-bb7b-45919c3cc48f" providerId="AD"/>
  <p188:author id="{C91B6384-E527-0C03-4389-92D94BB2B7CF}" name="McGuirk, Sheehan M." initials="MS" userId="S::smmcguirk@newyorklife.com::79890cd6-8da1-4f61-9db7-93e67eab352f" providerId="AD"/>
  <p188:author id="{DC977B89-0EAF-5F3D-1266-F0CEED641F58}" name="Gassaway, Debra (Debbie)" initials="" userId="S::dgassaway@newyorklife.com::811452f0-8070-42fd-a663-809a5b3624d3" providerId="AD"/>
  <p188:author id="{5E10B28E-48F4-BFAA-3974-64ECAB236F61}" name="Crimmins, Sheila A." initials="" userId="S::SCRIMMINS@newyorklife.com::bf709f57-f968-48e4-ba64-4008d5d65a86" providerId="AD"/>
  <p188:author id="{BE250D9C-0FC2-4FB7-F358-F4665534E3A1}" name="Shortall, Matthew" initials="SM" userId="S::mshortall@newyorklife.com::d61067b8-2dcf-49a2-837a-c6ef30972e27" providerId="AD"/>
  <p188:author id="{4FE8B29C-AF9E-63CB-0734-2F82018A51EB}" name="Liftman, Stephanie M." initials="" userId="S::smschneider@newyorklife.com::efc14625-f729-4af2-9e74-6b90b22b429d" providerId="AD"/>
  <p188:author id="{0C2A559E-9C6C-0970-3F23-A3AA10F90442}" name="Amendola, Anthony J." initials="AA" userId="S::aamendola@newyorklife.com::8d9d6dd4-fd66-429c-9e35-a7518ede12fb" providerId="AD"/>
  <p188:author id="{670EE99F-FA4B-F0B4-EAEC-1FF4C6FC0808}" name="Niehoff, Elizabeth H. (Liz)" initials="" userId="S::ehniehoff@newyorklife.com::2ad97e79-e416-461d-82b2-97d0b67ac1b1" providerId="AD"/>
  <p188:author id="{8A7325A0-1279-11C4-F94B-A403B22E1209}" name="Belo, Rose Marie" initials="" userId="S::rbelo@newyorklife.com::5312c633-4b08-4e98-985d-c547bb9a124f" providerId="AD"/>
  <p188:author id="{D8E169A0-C7FF-473C-B3AD-1168C85C0385}" name="Laramee, Elaine R." initials="" userId="S::ELARAMEE@newyorklife.com::ed7f34df-5a18-4770-8d58-27343b68b770" providerId="AD"/>
  <p188:author id="{8AA8C5A0-FBF5-2187-E641-BE707A338C8E}" name="Gilrein, Sean" initials="GS" userId="S::sgilrein@newyorklife.com::8345e0ee-d86a-4f4d-938c-9dbb6e7c199d" providerId="AD"/>
  <p188:author id="{E03D09A5-F491-365F-185C-D85A4EE8EFAA}" name="Ruggeri, Renee M." initials="RR" userId="S::rmruggeri@newyorklife.com::8c8a01f5-9c3d-41b4-80e7-fc45fe604ed3" providerId="AD"/>
  <p188:author id="{3DF8EDA6-F86C-B98A-543E-360DCC21BB87}" name="Bean, Darla L." initials="BD" userId="S::dbean@newyorklife.com::1cdda7fb-ded0-4ae6-9a0b-8ecf3341de13" providerId="AD"/>
  <p188:author id="{C9110DAB-FD2B-50BE-50C7-7AD79071ACD7}" name="Petruccelli, Michael R. (Mike)" initials="" userId="S::mpetruccelli@newyorklife.com::6782a3d9-3f74-4bdf-838d-3b731992a725" providerId="AD"/>
  <p188:author id="{44669BAB-D232-6235-700B-B5070BD4784F}" name="Aligaen, Rina M." initials="" userId="S::rmaligaen@newyorklife.com::4d14e425-8ff4-45db-ab59-805e6bbc9a26" providerId="AD"/>
  <p188:author id="{E6EB99AD-729A-A869-0A78-480BA10A9DDD}" name="Weiser, Donna" initials="" userId="S::dweiser@newyorklife.com::8c69d483-485e-4e52-bf1a-586a7cc2347f" providerId="AD"/>
  <p188:author id="{BDA5E4AD-99DB-EE25-F4CE-ADFC14485082}" name="Antoniello, Christopher (Chris)" initials="" userId="S::cantoniello@newyorklife.com::712220fb-5d91-4258-9539-9653d43a755a" providerId="AD"/>
  <p188:author id="{C1B340AF-8CAB-C24A-19FE-71E0B22B6927}" name="Hill-Ries, Lisa N." initials="HL" userId="S::lnhillries@newyorklife.com::ab99e0e4-2b3a-4625-b0e9-1b0cffed9825" providerId="AD"/>
  <p188:author id="{AA45C8AF-5EAE-ED19-6D1B-21528F2279DA}" name="Rubin, Kathleen M. (Kathy)" initials="" userId="S::KRUBIN@newyorklife.com::12ebbc21-f07a-48bc-a611-e3954683d7c0" providerId="AD"/>
  <p188:author id="{80A621B0-98DD-DB02-6DA8-A0C392D002CD}" name="Rubin, Kathleen M. (Kathy)" initials="R(" userId="S::krubin@newyorklife.com::12ebbc21-f07a-48bc-a611-e3954683d7c0" providerId="AD"/>
  <p188:author id="{1D5EECB4-62E1-82F7-98F7-2ABE559C17BD}" name="Hase, Melanie L. (Melli)" initials="MH" userId="S::mlhase@newyorklife.com::97460e0e-4c90-446b-b934-aa22cb2ed870" providerId="AD"/>
  <p188:author id="{252F77B8-3706-DFAE-3C76-A25A02541A7F}" name="Laramee, Elaine R." initials="LE" userId="S::elaramee@newyorklife.com::ed7f34df-5a18-4770-8d58-27343b68b770" providerId="AD"/>
  <p188:author id="{899231BF-295E-7C78-33C6-B9E4F60BE1EF}" name="Parker-Magyar, Alexander V." initials="" userId="S::avparkermagy@newyorklife.com::b2a07cd5-f592-4539-94aa-2a41e6a238e9" providerId="AD"/>
  <p188:author id="{EEF746C8-7549-9BD7-F3D3-EFB000BA5F6C}" name="Holbert, Michelle E. (Shelley)" initials="MH" userId="S::mholbert@newyorklife.com::23f080fe-79e7-4e1e-86a3-fde953166fbf" providerId="AD"/>
  <p188:author id="{24BA49C8-92E0-50E2-A4FA-9651F8610C6E}" name="Roughan, Sarah" initials="RS" userId="S::sroughan@newyorklife.com::8091c5e4-3c9e-4ce8-a969-a2efd2174472" providerId="AD"/>
  <p188:author id="{05C777CA-1AA9-7018-66C4-30CABF602BD9}" name="Brown, Peggy W." initials="BP" userId="S::pwbrown@newyorklife.com::1aecf54a-6bf6-4592-8b93-f373f4acaca2" providerId="AD"/>
  <p188:author id="{23AF9CCA-78FA-50A7-D504-0D454CD01A46}" name="Curtin, Lauren A." initials="" userId="S::lgilmore@newyorklife.com::6f6c4c81-7c45-40a8-b3f5-7e6ddd073395" providerId="AD"/>
  <p188:author id="{4820F8CA-0D7D-75D3-F9C2-5A9B9094B06F}" name="Lombardi, Ronald" initials="" userId="S::rlombardi@newyorklife.com::90020542-9349-4a1c-98f6-ac728adb002c" providerId="AD"/>
  <p188:author id="{EB8FBDCB-B405-9C57-DD28-EC16DFE1FEA5}" name="Falvo, Christopher (Chris)" initials="CF" userId="S::CFALVO@newyorklife.com::ad72e406-7e4b-4df6-bc2b-fdbd41892401" providerId="AD"/>
  <p188:author id="{F01B96D6-87F5-F019-5EB5-4F939888460F}" name="Mariutto, Jennifer M." initials="JM" userId="S::JIANNIBEL@newyorklife.com::c1f1ff73-0556-4c3e-b648-cf17dbe126d2" providerId="AD"/>
  <p188:author id="{68B046DB-94B6-1D44-553A-1D134A7BA8DC}" name="Essig, Daniel (Danny)" initials="ED" userId="S::dessig@newyorklife.com::f32510c9-2efe-4bb9-aa71-daecbbe6a660" providerId="AD"/>
  <p188:author id="{0C2CE8DF-280C-8473-CC3F-0CAA48B56FE8}" name="Gulisano, James F. (Jamie)" initials="" userId="S::JGULISANO@newyorklife.com::9c98f369-4b8b-4fec-acab-a272b9024458" providerId="AD"/>
  <p188:author id="{181863E0-D98D-3C17-17AD-016BAEF37155}" name="Ferguson, Michael S. (Mike)" initials="F(" userId="S::mferguson01@newyorklife.com::3572e4fa-3fa2-48c8-b0ce-39fda1969879" providerId="AD"/>
  <p188:author id="{C0B5DBE0-FF85-AE3E-4531-56962B7CF052}" name="Mcdermott, Patrick B." initials="" userId="S::PMCDERMOT@newyorklife.com::abc56b72-56a0-49c6-bee4-46c6d1d4f69d" providerId="AD"/>
  <p188:author id="{DA07D0E3-359E-887B-A92C-C1E38B730533}" name="Cirrincione, Deborah (Debbie)" initials="CD" userId="S::dcirrinci@newyorklife.com::208aada5-06cf-41ed-b292-2a173ac4d61d" providerId="AD"/>
  <p188:author id="{CF15BEE4-1643-3CCA-D837-251CF4390522}" name="Rowland, Njeri C." initials="NR" userId="S::nrowland@newyorklife.com::7526444e-40cd-4685-9189-6a7ffe474f76" providerId="AD"/>
  <p188:author id="{73371CE5-7D96-BD6C-078D-B3A6D6FAA8B9}" name="Bednarz, Christine A." initials="BCA" userId="S::cabednarz@newyorklife.com::8da3e2fc-0a9f-4d26-abe3-9a25ded5506f" providerId="AD"/>
  <p188:author id="{BA766DE9-407E-EF14-8BB4-753AB4536BF1}" name="Ramirez, Elena" initials="" userId="S::eramirez01@newyorklife.com::23d85afb-dd90-43d4-81ae-ec36a7bcb17c" providerId="AD"/>
  <p188:author id="{A760F5EA-D132-CBB7-7F81-35BF0FE07E30}" name="Scanlan, Dawn M." initials="DS" userId="S::DHAMON@newyorklife.com::12c7cd20-34bf-4117-b7b9-e4f7d0c77492" providerId="AD"/>
  <p188:author id="{9D80C2EB-5545-7878-D0C2-C959B1F1ADB7}" name="Ferguson, Michael S. (Mike)" initials="MF" userId="S::MFERGUSON01@newyorklife.com::3572e4fa-3fa2-48c8-b0ce-39fda1969879" providerId="AD"/>
  <p188:author id="{81825AEE-7DF5-D32C-1742-6673EC338428}" name="Hourihan, Karla M." initials="HK" userId="S::ksundstro@newyorklife.com::595e3252-aeba-4609-af9d-4f36f617beb2" providerId="AD"/>
  <p188:author id="{4B87E1EF-0466-3982-449B-38629DF1EE7F}" name="Forand, Patrick W." initials="FP" userId="S::pforand@newyorklife.com::151abf93-ee6a-4408-8c4a-0fc8c7dedff4" providerId="AD"/>
  <p188:author id="{6D3F07FA-114C-E68A-CE88-D43B6543403C}" name="Leblanc, Alice M." initials="LA" userId="S::amleblanc@newyorklife.com::33e02965-ec6b-40a7-a9cc-4a2ef90d62ff" providerId="AD"/>
  <p188:author id="{233E4CFA-658D-8295-4ADF-C95E00CF94E1}" name="Csillag, Carmen" initials="" userId="S::ccsillag@newyorklife.com::5bab7689-479a-4c08-9af9-59f51916266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A62"/>
    <a:srgbClr val="0468FF"/>
    <a:srgbClr val="EE60D3"/>
    <a:srgbClr val="E82CC4"/>
    <a:srgbClr val="0A3C53"/>
    <a:srgbClr val="0042E8"/>
    <a:srgbClr val="66A7FF"/>
    <a:srgbClr val="7FE9A5"/>
    <a:srgbClr val="A5CA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1065" autoAdjust="0"/>
  </p:normalViewPr>
  <p:slideViewPr>
    <p:cSldViewPr snapToGrid="0">
      <p:cViewPr varScale="1">
        <p:scale>
          <a:sx n="78" d="100"/>
          <a:sy n="78" d="100"/>
        </p:scale>
        <p:origin x="1836" y="96"/>
      </p:cViewPr>
      <p:guideLst>
        <p:guide pos="1248"/>
        <p:guide orient="horz" pos="237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gs" Target="tags/tag1.xml"/><Relationship Id="rId58" Type="http://schemas.microsoft.com/office/2018/10/relationships/authors" Target="author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04540B7-88FC-4FF0-9C85-01BE2D4F7D91}" type="doc">
      <dgm:prSet loTypeId="urn:microsoft.com/office/officeart/2005/8/layout/process1" loCatId="process" qsTypeId="urn:microsoft.com/office/officeart/2005/8/quickstyle/simple1" qsCatId="simple" csTypeId="urn:microsoft.com/office/officeart/2005/8/colors/colorful1" csCatId="colorful" phldr="1"/>
      <dgm:spPr/>
      <dgm:t>
        <a:bodyPr/>
        <a:lstStyle/>
        <a:p>
          <a:endParaRPr lang="en-US"/>
        </a:p>
      </dgm:t>
    </dgm:pt>
    <dgm:pt modelId="{5BABC92B-58F1-4DF1-B473-1CC2DC8AB027}">
      <dgm:prSet phldrT="[Text]" custT="1"/>
      <dgm:spPr>
        <a:solidFill>
          <a:schemeClr val="accent3"/>
        </a:solidFill>
      </dgm:spPr>
      <dgm:t>
        <a:bodyPr lIns="45720" tIns="0" rIns="45720" bIns="0"/>
        <a:lstStyle/>
        <a:p>
          <a:pPr>
            <a:lnSpc>
              <a:spcPct val="100000"/>
            </a:lnSpc>
            <a:spcAft>
              <a:spcPts val="600"/>
            </a:spcAft>
          </a:pPr>
          <a:r>
            <a:rPr lang="en-US" sz="1600" b="1">
              <a:solidFill>
                <a:sysClr val="windowText" lastClr="000000"/>
              </a:solidFill>
            </a:rPr>
            <a:t>Wealth Transfer &amp; Income Tax Planning</a:t>
          </a:r>
        </a:p>
        <a:p>
          <a:pPr>
            <a:lnSpc>
              <a:spcPct val="100000"/>
            </a:lnSpc>
            <a:spcAft>
              <a:spcPts val="0"/>
            </a:spcAft>
          </a:pPr>
          <a:r>
            <a:rPr lang="en-US" sz="1400" b="1">
              <a:solidFill>
                <a:sysClr val="windowText" lastClr="000000"/>
              </a:solidFill>
            </a:rPr>
            <a:t>Aug 5</a:t>
          </a:r>
        </a:p>
        <a:p>
          <a:pPr>
            <a:lnSpc>
              <a:spcPct val="100000"/>
            </a:lnSpc>
            <a:spcAft>
              <a:spcPts val="600"/>
            </a:spcAft>
          </a:pPr>
          <a:r>
            <a:rPr lang="en-US" sz="1400">
              <a:solidFill>
                <a:sysClr val="windowText" lastClr="000000"/>
              </a:solidFill>
            </a:rPr>
            <a:t>12-1 PM</a:t>
          </a:r>
        </a:p>
      </dgm:t>
    </dgm:pt>
    <dgm:pt modelId="{61344212-1111-4F20-BBC7-71D93F702157}" type="parTrans" cxnId="{4820817C-3A5F-4EBB-B14C-E73988C9A353}">
      <dgm:prSet/>
      <dgm:spPr/>
      <dgm:t>
        <a:bodyPr/>
        <a:lstStyle/>
        <a:p>
          <a:endParaRPr lang="en-US"/>
        </a:p>
      </dgm:t>
    </dgm:pt>
    <dgm:pt modelId="{443E2B69-67A4-46E3-8390-21AEE76EF650}" type="sibTrans" cxnId="{4820817C-3A5F-4EBB-B14C-E73988C9A353}">
      <dgm:prSet/>
      <dgm:spPr>
        <a:solidFill>
          <a:schemeClr val="tx1"/>
        </a:solidFill>
      </dgm:spPr>
      <dgm:t>
        <a:bodyPr/>
        <a:lstStyle/>
        <a:p>
          <a:endParaRPr lang="en-US"/>
        </a:p>
      </dgm:t>
    </dgm:pt>
    <dgm:pt modelId="{255407D7-80EA-4977-92FC-96560464012A}">
      <dgm:prSet phldrT="[Text]" custT="1"/>
      <dgm:spPr>
        <a:solidFill>
          <a:srgbClr val="0468FF"/>
        </a:solidFill>
      </dgm:spPr>
      <dgm:t>
        <a:bodyPr lIns="45720" tIns="0" rIns="45720" bIns="0"/>
        <a:lstStyle/>
        <a:p>
          <a:pPr>
            <a:lnSpc>
              <a:spcPct val="100000"/>
            </a:lnSpc>
            <a:spcAft>
              <a:spcPts val="600"/>
            </a:spcAft>
          </a:pPr>
          <a:r>
            <a:rPr lang="en-US" sz="1600" b="1">
              <a:solidFill>
                <a:schemeClr val="bg1"/>
              </a:solidFill>
            </a:rPr>
            <a:t>Advanced Estate Planning</a:t>
          </a:r>
        </a:p>
        <a:p>
          <a:pPr>
            <a:lnSpc>
              <a:spcPct val="100000"/>
            </a:lnSpc>
            <a:spcAft>
              <a:spcPts val="0"/>
            </a:spcAft>
          </a:pPr>
          <a:r>
            <a:rPr lang="en-US" sz="1400" b="1">
              <a:solidFill>
                <a:schemeClr val="bg1"/>
              </a:solidFill>
            </a:rPr>
            <a:t>Sept 2 </a:t>
          </a:r>
        </a:p>
        <a:p>
          <a:pPr>
            <a:lnSpc>
              <a:spcPct val="100000"/>
            </a:lnSpc>
            <a:spcAft>
              <a:spcPts val="600"/>
            </a:spcAft>
          </a:pPr>
          <a:r>
            <a:rPr lang="en-US" sz="1400">
              <a:solidFill>
                <a:schemeClr val="bg1"/>
              </a:solidFill>
            </a:rPr>
            <a:t>12-1 PM</a:t>
          </a:r>
        </a:p>
      </dgm:t>
    </dgm:pt>
    <dgm:pt modelId="{55EF3769-C0FA-4667-B300-281033F61FC3}" type="parTrans" cxnId="{E147EA81-5804-467C-80B4-7A9EAFA180C4}">
      <dgm:prSet/>
      <dgm:spPr/>
      <dgm:t>
        <a:bodyPr/>
        <a:lstStyle/>
        <a:p>
          <a:endParaRPr lang="en-US"/>
        </a:p>
      </dgm:t>
    </dgm:pt>
    <dgm:pt modelId="{00CD8670-7C10-47E8-8271-DC9CDF0A0A0F}" type="sibTrans" cxnId="{E147EA81-5804-467C-80B4-7A9EAFA180C4}">
      <dgm:prSet/>
      <dgm:spPr>
        <a:solidFill>
          <a:schemeClr val="tx1"/>
        </a:solidFill>
      </dgm:spPr>
      <dgm:t>
        <a:bodyPr/>
        <a:lstStyle/>
        <a:p>
          <a:endParaRPr lang="en-US"/>
        </a:p>
      </dgm:t>
    </dgm:pt>
    <dgm:pt modelId="{3143FF91-552C-43E4-BB0D-7558EDC232A6}">
      <dgm:prSet phldrT="[Text]" custT="1"/>
      <dgm:spPr/>
      <dgm:t>
        <a:bodyPr lIns="45720" tIns="0" rIns="45720" bIns="91440"/>
        <a:lstStyle/>
        <a:p>
          <a:pPr>
            <a:lnSpc>
              <a:spcPct val="100000"/>
            </a:lnSpc>
            <a:spcAft>
              <a:spcPts val="600"/>
            </a:spcAft>
          </a:pPr>
          <a:r>
            <a:rPr lang="en-US" sz="1600" b="1"/>
            <a:t>Business Succession &amp; Buy-Sell</a:t>
          </a:r>
        </a:p>
        <a:p>
          <a:pPr>
            <a:lnSpc>
              <a:spcPct val="100000"/>
            </a:lnSpc>
            <a:spcAft>
              <a:spcPts val="0"/>
            </a:spcAft>
          </a:pPr>
          <a:r>
            <a:rPr lang="en-US" sz="1400" b="1"/>
            <a:t>Oct 14</a:t>
          </a:r>
        </a:p>
        <a:p>
          <a:pPr>
            <a:lnSpc>
              <a:spcPct val="100000"/>
            </a:lnSpc>
            <a:spcAft>
              <a:spcPts val="600"/>
            </a:spcAft>
          </a:pPr>
          <a:r>
            <a:rPr lang="en-US" sz="1400">
              <a:solidFill>
                <a:schemeClr val="bg1"/>
              </a:solidFill>
            </a:rPr>
            <a:t>12-1 PM</a:t>
          </a:r>
        </a:p>
      </dgm:t>
    </dgm:pt>
    <dgm:pt modelId="{A258F2E7-E306-49F5-B576-7D01E496B81B}" type="parTrans" cxnId="{EE77A636-5E23-495F-91F2-4920A67EA747}">
      <dgm:prSet/>
      <dgm:spPr/>
      <dgm:t>
        <a:bodyPr/>
        <a:lstStyle/>
        <a:p>
          <a:endParaRPr lang="en-US"/>
        </a:p>
      </dgm:t>
    </dgm:pt>
    <dgm:pt modelId="{9ED18E15-743C-49B2-8A2E-7DB8AC5478C0}" type="sibTrans" cxnId="{EE77A636-5E23-495F-91F2-4920A67EA747}">
      <dgm:prSet/>
      <dgm:spPr/>
      <dgm:t>
        <a:bodyPr/>
        <a:lstStyle/>
        <a:p>
          <a:endParaRPr lang="en-US"/>
        </a:p>
      </dgm:t>
    </dgm:pt>
    <dgm:pt modelId="{EEAE75F7-1530-4B91-92C5-B096B1EDD00C}" type="pres">
      <dgm:prSet presAssocID="{504540B7-88FC-4FF0-9C85-01BE2D4F7D91}" presName="Name0" presStyleCnt="0">
        <dgm:presLayoutVars>
          <dgm:dir/>
          <dgm:resizeHandles val="exact"/>
        </dgm:presLayoutVars>
      </dgm:prSet>
      <dgm:spPr/>
    </dgm:pt>
    <dgm:pt modelId="{64E7CD10-6C8C-4580-B8D8-1F405FFD2576}" type="pres">
      <dgm:prSet presAssocID="{5BABC92B-58F1-4DF1-B473-1CC2DC8AB027}" presName="node" presStyleLbl="node1" presStyleIdx="0" presStyleCnt="3" custScaleY="102430" custLinFactNeighborX="-3085" custLinFactNeighborY="1040">
        <dgm:presLayoutVars>
          <dgm:bulletEnabled val="1"/>
        </dgm:presLayoutVars>
      </dgm:prSet>
      <dgm:spPr>
        <a:prstGeom prst="rect">
          <a:avLst/>
        </a:prstGeom>
      </dgm:spPr>
    </dgm:pt>
    <dgm:pt modelId="{30AE786F-9EDE-4BF1-871B-841F682048A7}" type="pres">
      <dgm:prSet presAssocID="{443E2B69-67A4-46E3-8390-21AEE76EF650}" presName="sibTrans" presStyleLbl="sibTrans2D1" presStyleIdx="0" presStyleCnt="2" custScaleX="139732" custLinFactNeighborX="3602" custLinFactNeighborY="5742"/>
      <dgm:spPr/>
    </dgm:pt>
    <dgm:pt modelId="{E8FEB662-F48E-41E7-84D6-7DBF2A166D77}" type="pres">
      <dgm:prSet presAssocID="{443E2B69-67A4-46E3-8390-21AEE76EF650}" presName="connectorText" presStyleLbl="sibTrans2D1" presStyleIdx="0" presStyleCnt="2"/>
      <dgm:spPr/>
    </dgm:pt>
    <dgm:pt modelId="{02E7ECB1-4AB3-417F-81A6-31EE96F8D38F}" type="pres">
      <dgm:prSet presAssocID="{255407D7-80EA-4977-92FC-96560464012A}" presName="node" presStyleLbl="node1" presStyleIdx="1" presStyleCnt="3" custScaleY="102430" custLinFactNeighborX="-11342">
        <dgm:presLayoutVars>
          <dgm:bulletEnabled val="1"/>
        </dgm:presLayoutVars>
      </dgm:prSet>
      <dgm:spPr>
        <a:prstGeom prst="rect">
          <a:avLst/>
        </a:prstGeom>
      </dgm:spPr>
    </dgm:pt>
    <dgm:pt modelId="{45F90A00-8D85-4F0F-85F1-F6C071FC374C}" type="pres">
      <dgm:prSet presAssocID="{00CD8670-7C10-47E8-8271-DC9CDF0A0A0F}" presName="sibTrans" presStyleLbl="sibTrans2D1" presStyleIdx="1" presStyleCnt="2" custScaleX="132990" custLinFactNeighborY="2871"/>
      <dgm:spPr/>
    </dgm:pt>
    <dgm:pt modelId="{1376F263-9B26-48CF-8FF8-05485B1E6875}" type="pres">
      <dgm:prSet presAssocID="{00CD8670-7C10-47E8-8271-DC9CDF0A0A0F}" presName="connectorText" presStyleLbl="sibTrans2D1" presStyleIdx="1" presStyleCnt="2"/>
      <dgm:spPr/>
    </dgm:pt>
    <dgm:pt modelId="{6E7AF4D8-A319-4C31-A277-6CDD88E2247C}" type="pres">
      <dgm:prSet presAssocID="{3143FF91-552C-43E4-BB0D-7558EDC232A6}" presName="node" presStyleLbl="node1" presStyleIdx="2" presStyleCnt="3" custScaleY="102430" custLinFactNeighborX="-15840">
        <dgm:presLayoutVars>
          <dgm:bulletEnabled val="1"/>
        </dgm:presLayoutVars>
      </dgm:prSet>
      <dgm:spPr>
        <a:prstGeom prst="rect">
          <a:avLst/>
        </a:prstGeom>
      </dgm:spPr>
    </dgm:pt>
  </dgm:ptLst>
  <dgm:cxnLst>
    <dgm:cxn modelId="{D44E4116-A1DF-4293-929F-6D1762DFD579}" type="presOf" srcId="{504540B7-88FC-4FF0-9C85-01BE2D4F7D91}" destId="{EEAE75F7-1530-4B91-92C5-B096B1EDD00C}" srcOrd="0" destOrd="0" presId="urn:microsoft.com/office/officeart/2005/8/layout/process1"/>
    <dgm:cxn modelId="{63F9D625-A362-4F47-8858-CD445D788D4B}" type="presOf" srcId="{443E2B69-67A4-46E3-8390-21AEE76EF650}" destId="{E8FEB662-F48E-41E7-84D6-7DBF2A166D77}" srcOrd="1" destOrd="0" presId="urn:microsoft.com/office/officeart/2005/8/layout/process1"/>
    <dgm:cxn modelId="{EE77A636-5E23-495F-91F2-4920A67EA747}" srcId="{504540B7-88FC-4FF0-9C85-01BE2D4F7D91}" destId="{3143FF91-552C-43E4-BB0D-7558EDC232A6}" srcOrd="2" destOrd="0" parTransId="{A258F2E7-E306-49F5-B576-7D01E496B81B}" sibTransId="{9ED18E15-743C-49B2-8A2E-7DB8AC5478C0}"/>
    <dgm:cxn modelId="{63D6F43E-9DAB-4496-B392-0BA07DA135ED}" type="presOf" srcId="{00CD8670-7C10-47E8-8271-DC9CDF0A0A0F}" destId="{1376F263-9B26-48CF-8FF8-05485B1E6875}" srcOrd="1" destOrd="0" presId="urn:microsoft.com/office/officeart/2005/8/layout/process1"/>
    <dgm:cxn modelId="{B57F3975-CB3D-4938-B4BE-09674E3B6C54}" type="presOf" srcId="{443E2B69-67A4-46E3-8390-21AEE76EF650}" destId="{30AE786F-9EDE-4BF1-871B-841F682048A7}" srcOrd="0" destOrd="0" presId="urn:microsoft.com/office/officeart/2005/8/layout/process1"/>
    <dgm:cxn modelId="{4820817C-3A5F-4EBB-B14C-E73988C9A353}" srcId="{504540B7-88FC-4FF0-9C85-01BE2D4F7D91}" destId="{5BABC92B-58F1-4DF1-B473-1CC2DC8AB027}" srcOrd="0" destOrd="0" parTransId="{61344212-1111-4F20-BBC7-71D93F702157}" sibTransId="{443E2B69-67A4-46E3-8390-21AEE76EF650}"/>
    <dgm:cxn modelId="{E147EA81-5804-467C-80B4-7A9EAFA180C4}" srcId="{504540B7-88FC-4FF0-9C85-01BE2D4F7D91}" destId="{255407D7-80EA-4977-92FC-96560464012A}" srcOrd="1" destOrd="0" parTransId="{55EF3769-C0FA-4667-B300-281033F61FC3}" sibTransId="{00CD8670-7C10-47E8-8271-DC9CDF0A0A0F}"/>
    <dgm:cxn modelId="{E8819691-057F-4E90-A68D-68F348DEE042}" type="presOf" srcId="{3143FF91-552C-43E4-BB0D-7558EDC232A6}" destId="{6E7AF4D8-A319-4C31-A277-6CDD88E2247C}" srcOrd="0" destOrd="0" presId="urn:microsoft.com/office/officeart/2005/8/layout/process1"/>
    <dgm:cxn modelId="{78B0B1EA-B1F3-4AA3-91EE-78E56F3EDF41}" type="presOf" srcId="{00CD8670-7C10-47E8-8271-DC9CDF0A0A0F}" destId="{45F90A00-8D85-4F0F-85F1-F6C071FC374C}" srcOrd="0" destOrd="0" presId="urn:microsoft.com/office/officeart/2005/8/layout/process1"/>
    <dgm:cxn modelId="{88F274F0-D8F7-43C5-8D93-70EFDE814AF4}" type="presOf" srcId="{255407D7-80EA-4977-92FC-96560464012A}" destId="{02E7ECB1-4AB3-417F-81A6-31EE96F8D38F}" srcOrd="0" destOrd="0" presId="urn:microsoft.com/office/officeart/2005/8/layout/process1"/>
    <dgm:cxn modelId="{A63B83F3-B220-439D-A929-2B31556C8CFD}" type="presOf" srcId="{5BABC92B-58F1-4DF1-B473-1CC2DC8AB027}" destId="{64E7CD10-6C8C-4580-B8D8-1F405FFD2576}" srcOrd="0" destOrd="0" presId="urn:microsoft.com/office/officeart/2005/8/layout/process1"/>
    <dgm:cxn modelId="{0AC616F4-567A-469D-9FE2-8D3AC7AA5882}" type="presParOf" srcId="{EEAE75F7-1530-4B91-92C5-B096B1EDD00C}" destId="{64E7CD10-6C8C-4580-B8D8-1F405FFD2576}" srcOrd="0" destOrd="0" presId="urn:microsoft.com/office/officeart/2005/8/layout/process1"/>
    <dgm:cxn modelId="{055D095F-D9BC-47E0-BAE5-665CCF8C968D}" type="presParOf" srcId="{EEAE75F7-1530-4B91-92C5-B096B1EDD00C}" destId="{30AE786F-9EDE-4BF1-871B-841F682048A7}" srcOrd="1" destOrd="0" presId="urn:microsoft.com/office/officeart/2005/8/layout/process1"/>
    <dgm:cxn modelId="{68C58167-35F6-4BE1-94D8-3DE339A97C9A}" type="presParOf" srcId="{30AE786F-9EDE-4BF1-871B-841F682048A7}" destId="{E8FEB662-F48E-41E7-84D6-7DBF2A166D77}" srcOrd="0" destOrd="0" presId="urn:microsoft.com/office/officeart/2005/8/layout/process1"/>
    <dgm:cxn modelId="{C0ABE5A1-4443-414B-9BA0-039510C0D30F}" type="presParOf" srcId="{EEAE75F7-1530-4B91-92C5-B096B1EDD00C}" destId="{02E7ECB1-4AB3-417F-81A6-31EE96F8D38F}" srcOrd="2" destOrd="0" presId="urn:microsoft.com/office/officeart/2005/8/layout/process1"/>
    <dgm:cxn modelId="{88AF35EA-6705-403F-8B59-6B7853E0CC58}" type="presParOf" srcId="{EEAE75F7-1530-4B91-92C5-B096B1EDD00C}" destId="{45F90A00-8D85-4F0F-85F1-F6C071FC374C}" srcOrd="3" destOrd="0" presId="urn:microsoft.com/office/officeart/2005/8/layout/process1"/>
    <dgm:cxn modelId="{4F4C7C32-5C35-4DC1-A4FD-AFCC718A8C3E}" type="presParOf" srcId="{45F90A00-8D85-4F0F-85F1-F6C071FC374C}" destId="{1376F263-9B26-48CF-8FF8-05485B1E6875}" srcOrd="0" destOrd="0" presId="urn:microsoft.com/office/officeart/2005/8/layout/process1"/>
    <dgm:cxn modelId="{F0A91996-B56B-4985-B9C3-F31327973392}" type="presParOf" srcId="{EEAE75F7-1530-4B91-92C5-B096B1EDD00C}" destId="{6E7AF4D8-A319-4C31-A277-6CDD88E2247C}"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E7CD10-6C8C-4580-B8D8-1F405FFD2576}">
      <dsp:nvSpPr>
        <dsp:cNvPr id="0" name=""/>
        <dsp:cNvSpPr/>
      </dsp:nvSpPr>
      <dsp:spPr>
        <a:xfrm>
          <a:off x="0" y="578957"/>
          <a:ext cx="1523549" cy="1463036"/>
        </a:xfrm>
        <a:prstGeom prst="rect">
          <a:avLst/>
        </a:prstGeom>
        <a:solidFill>
          <a:schemeClr val="accent3"/>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0" rIns="45720" bIns="0" numCol="1" spcCol="1270" anchor="ctr" anchorCtr="0">
          <a:noAutofit/>
        </a:bodyPr>
        <a:lstStyle/>
        <a:p>
          <a:pPr marL="0" lvl="0" indent="0" algn="ctr" defTabSz="711200">
            <a:lnSpc>
              <a:spcPct val="100000"/>
            </a:lnSpc>
            <a:spcBef>
              <a:spcPct val="0"/>
            </a:spcBef>
            <a:spcAft>
              <a:spcPts val="600"/>
            </a:spcAft>
            <a:buNone/>
          </a:pPr>
          <a:r>
            <a:rPr lang="en-US" sz="1600" b="1" kern="1200">
              <a:solidFill>
                <a:sysClr val="windowText" lastClr="000000"/>
              </a:solidFill>
            </a:rPr>
            <a:t>Wealth Transfer &amp; Income Tax Planning</a:t>
          </a:r>
        </a:p>
        <a:p>
          <a:pPr marL="0" lvl="0" indent="0" algn="ctr" defTabSz="711200">
            <a:lnSpc>
              <a:spcPct val="100000"/>
            </a:lnSpc>
            <a:spcBef>
              <a:spcPct val="0"/>
            </a:spcBef>
            <a:spcAft>
              <a:spcPts val="0"/>
            </a:spcAft>
            <a:buNone/>
          </a:pPr>
          <a:r>
            <a:rPr lang="en-US" sz="1400" b="1" kern="1200">
              <a:solidFill>
                <a:sysClr val="windowText" lastClr="000000"/>
              </a:solidFill>
            </a:rPr>
            <a:t>Aug 5</a:t>
          </a:r>
        </a:p>
        <a:p>
          <a:pPr marL="0" lvl="0" indent="0" algn="ctr" defTabSz="711200">
            <a:lnSpc>
              <a:spcPct val="100000"/>
            </a:lnSpc>
            <a:spcBef>
              <a:spcPct val="0"/>
            </a:spcBef>
            <a:spcAft>
              <a:spcPts val="600"/>
            </a:spcAft>
            <a:buNone/>
          </a:pPr>
          <a:r>
            <a:rPr lang="en-US" sz="1400" kern="1200">
              <a:solidFill>
                <a:sysClr val="windowText" lastClr="000000"/>
              </a:solidFill>
            </a:rPr>
            <a:t>12-1 PM</a:t>
          </a:r>
        </a:p>
      </dsp:txBody>
      <dsp:txXfrm>
        <a:off x="0" y="578957"/>
        <a:ext cx="1523549" cy="1463036"/>
      </dsp:txXfrm>
    </dsp:sp>
    <dsp:sp modelId="{30AE786F-9EDE-4BF1-871B-841F682048A7}">
      <dsp:nvSpPr>
        <dsp:cNvPr id="0" name=""/>
        <dsp:cNvSpPr/>
      </dsp:nvSpPr>
      <dsp:spPr>
        <a:xfrm rot="21575521">
          <a:off x="1615689" y="1135763"/>
          <a:ext cx="416618" cy="377840"/>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1615690" y="1211735"/>
        <a:ext cx="303266" cy="226704"/>
      </dsp:txXfrm>
    </dsp:sp>
    <dsp:sp modelId="{02E7ECB1-4AB3-417F-81A6-31EE96F8D38F}">
      <dsp:nvSpPr>
        <dsp:cNvPr id="0" name=""/>
        <dsp:cNvSpPr/>
      </dsp:nvSpPr>
      <dsp:spPr>
        <a:xfrm>
          <a:off x="2086092" y="564102"/>
          <a:ext cx="1523549" cy="1463036"/>
        </a:xfrm>
        <a:prstGeom prst="rect">
          <a:avLst/>
        </a:prstGeom>
        <a:solidFill>
          <a:srgbClr val="0468FF"/>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0" rIns="45720" bIns="0" numCol="1" spcCol="1270" anchor="ctr" anchorCtr="0">
          <a:noAutofit/>
        </a:bodyPr>
        <a:lstStyle/>
        <a:p>
          <a:pPr marL="0" lvl="0" indent="0" algn="ctr" defTabSz="711200">
            <a:lnSpc>
              <a:spcPct val="100000"/>
            </a:lnSpc>
            <a:spcBef>
              <a:spcPct val="0"/>
            </a:spcBef>
            <a:spcAft>
              <a:spcPts val="600"/>
            </a:spcAft>
            <a:buNone/>
          </a:pPr>
          <a:r>
            <a:rPr lang="en-US" sz="1600" b="1" kern="1200">
              <a:solidFill>
                <a:schemeClr val="bg1"/>
              </a:solidFill>
            </a:rPr>
            <a:t>Advanced Estate Planning</a:t>
          </a:r>
        </a:p>
        <a:p>
          <a:pPr marL="0" lvl="0" indent="0" algn="ctr" defTabSz="711200">
            <a:lnSpc>
              <a:spcPct val="100000"/>
            </a:lnSpc>
            <a:spcBef>
              <a:spcPct val="0"/>
            </a:spcBef>
            <a:spcAft>
              <a:spcPts val="0"/>
            </a:spcAft>
            <a:buNone/>
          </a:pPr>
          <a:r>
            <a:rPr lang="en-US" sz="1400" b="1" kern="1200">
              <a:solidFill>
                <a:schemeClr val="bg1"/>
              </a:solidFill>
            </a:rPr>
            <a:t>Sept 2 </a:t>
          </a:r>
        </a:p>
        <a:p>
          <a:pPr marL="0" lvl="0" indent="0" algn="ctr" defTabSz="711200">
            <a:lnSpc>
              <a:spcPct val="100000"/>
            </a:lnSpc>
            <a:spcBef>
              <a:spcPct val="0"/>
            </a:spcBef>
            <a:spcAft>
              <a:spcPts val="600"/>
            </a:spcAft>
            <a:buNone/>
          </a:pPr>
          <a:r>
            <a:rPr lang="en-US" sz="1400" kern="1200">
              <a:solidFill>
                <a:schemeClr val="bg1"/>
              </a:solidFill>
            </a:rPr>
            <a:t>12-1 PM</a:t>
          </a:r>
        </a:p>
      </dsp:txBody>
      <dsp:txXfrm>
        <a:off x="2086092" y="564102"/>
        <a:ext cx="1523549" cy="1463036"/>
      </dsp:txXfrm>
    </dsp:sp>
    <dsp:sp modelId="{45F90A00-8D85-4F0F-85F1-F6C071FC374C}">
      <dsp:nvSpPr>
        <dsp:cNvPr id="0" name=""/>
        <dsp:cNvSpPr/>
      </dsp:nvSpPr>
      <dsp:spPr>
        <a:xfrm>
          <a:off x="3705368" y="1117548"/>
          <a:ext cx="415019" cy="377840"/>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3705368" y="1193116"/>
        <a:ext cx="301667" cy="226704"/>
      </dsp:txXfrm>
    </dsp:sp>
    <dsp:sp modelId="{6E7AF4D8-A319-4C31-A277-6CDD88E2247C}">
      <dsp:nvSpPr>
        <dsp:cNvPr id="0" name=""/>
        <dsp:cNvSpPr/>
      </dsp:nvSpPr>
      <dsp:spPr>
        <a:xfrm>
          <a:off x="4198450" y="564102"/>
          <a:ext cx="1523549" cy="1463036"/>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0" rIns="45720" bIns="91440" numCol="1" spcCol="1270" anchor="ctr" anchorCtr="0">
          <a:noAutofit/>
        </a:bodyPr>
        <a:lstStyle/>
        <a:p>
          <a:pPr marL="0" lvl="0" indent="0" algn="ctr" defTabSz="711200">
            <a:lnSpc>
              <a:spcPct val="100000"/>
            </a:lnSpc>
            <a:spcBef>
              <a:spcPct val="0"/>
            </a:spcBef>
            <a:spcAft>
              <a:spcPts val="600"/>
            </a:spcAft>
            <a:buNone/>
          </a:pPr>
          <a:r>
            <a:rPr lang="en-US" sz="1600" b="1" kern="1200"/>
            <a:t>Business Succession &amp; Buy-Sell</a:t>
          </a:r>
        </a:p>
        <a:p>
          <a:pPr marL="0" lvl="0" indent="0" algn="ctr" defTabSz="711200">
            <a:lnSpc>
              <a:spcPct val="100000"/>
            </a:lnSpc>
            <a:spcBef>
              <a:spcPct val="0"/>
            </a:spcBef>
            <a:spcAft>
              <a:spcPts val="0"/>
            </a:spcAft>
            <a:buNone/>
          </a:pPr>
          <a:r>
            <a:rPr lang="en-US" sz="1400" b="1" kern="1200"/>
            <a:t>Oct 14</a:t>
          </a:r>
        </a:p>
        <a:p>
          <a:pPr marL="0" lvl="0" indent="0" algn="ctr" defTabSz="711200">
            <a:lnSpc>
              <a:spcPct val="100000"/>
            </a:lnSpc>
            <a:spcBef>
              <a:spcPct val="0"/>
            </a:spcBef>
            <a:spcAft>
              <a:spcPts val="600"/>
            </a:spcAft>
            <a:buNone/>
          </a:pPr>
          <a:r>
            <a:rPr lang="en-US" sz="1400" kern="1200">
              <a:solidFill>
                <a:schemeClr val="bg1"/>
              </a:solidFill>
            </a:rPr>
            <a:t>12-1 PM</a:t>
          </a:r>
        </a:p>
      </dsp:txBody>
      <dsp:txXfrm>
        <a:off x="4198450" y="564102"/>
        <a:ext cx="1523549" cy="1463036"/>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39839A-6710-2204-4CDA-C3A65EC879F4}"/>
              </a:ext>
            </a:extLst>
          </p:cNvPr>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a:extLst>
              <a:ext uri="{FF2B5EF4-FFF2-40B4-BE49-F238E27FC236}">
                <a16:creationId xmlns:a16="http://schemas.microsoft.com/office/drawing/2014/main" id="{E99578DC-03E8-1058-6D53-36643595872A}"/>
              </a:ext>
            </a:extLst>
          </p:cNvPr>
          <p:cNvSpPr>
            <a:spLocks noGrp="1"/>
          </p:cNvSpPr>
          <p:nvPr>
            <p:ph type="dt" sz="quarter" idx="1"/>
          </p:nvPr>
        </p:nvSpPr>
        <p:spPr>
          <a:xfrm>
            <a:off x="4023092" y="0"/>
            <a:ext cx="3077739" cy="471054"/>
          </a:xfrm>
          <a:prstGeom prst="rect">
            <a:avLst/>
          </a:prstGeom>
        </p:spPr>
        <p:txBody>
          <a:bodyPr vert="horz" lIns="94229" tIns="47114" rIns="94229" bIns="47114" rtlCol="0"/>
          <a:lstStyle>
            <a:lvl1pPr algn="r">
              <a:defRPr sz="1200"/>
            </a:lvl1pPr>
          </a:lstStyle>
          <a:p>
            <a:fld id="{E7A4511B-ADED-4F45-B3F1-92161E2FB2AD}" type="datetimeFigureOut">
              <a:rPr lang="en-US" smtClean="0"/>
              <a:t>8/2/2026</a:t>
            </a:fld>
            <a:endParaRPr lang="en-US"/>
          </a:p>
        </p:txBody>
      </p:sp>
      <p:sp>
        <p:nvSpPr>
          <p:cNvPr id="4" name="Footer Placeholder 3">
            <a:extLst>
              <a:ext uri="{FF2B5EF4-FFF2-40B4-BE49-F238E27FC236}">
                <a16:creationId xmlns:a16="http://schemas.microsoft.com/office/drawing/2014/main" id="{D79651AB-85DF-CC16-069D-ADF98F769CC6}"/>
              </a:ext>
            </a:extLst>
          </p:cNvPr>
          <p:cNvSpPr>
            <a:spLocks noGrp="1"/>
          </p:cNvSpPr>
          <p:nvPr>
            <p:ph type="ftr" sz="quarter" idx="2"/>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D9EB7D0-D96F-0021-E271-E06D345388B0}"/>
              </a:ext>
            </a:extLst>
          </p:cNvPr>
          <p:cNvSpPr>
            <a:spLocks noGrp="1"/>
          </p:cNvSpPr>
          <p:nvPr>
            <p:ph type="sldNum" sz="quarter" idx="3"/>
          </p:nvPr>
        </p:nvSpPr>
        <p:spPr>
          <a:xfrm>
            <a:off x="4023092" y="8917422"/>
            <a:ext cx="3077739" cy="471053"/>
          </a:xfrm>
          <a:prstGeom prst="rect">
            <a:avLst/>
          </a:prstGeom>
        </p:spPr>
        <p:txBody>
          <a:bodyPr vert="horz" lIns="94229" tIns="47114" rIns="94229" bIns="47114" rtlCol="0" anchor="b"/>
          <a:lstStyle>
            <a:lvl1pPr algn="r">
              <a:defRPr sz="1200"/>
            </a:lvl1pPr>
          </a:lstStyle>
          <a:p>
            <a:fld id="{8F3748A2-8B31-4D5F-8B5A-39B51195A439}" type="slidenum">
              <a:rPr lang="en-US" smtClean="0"/>
              <a:t>‹#›</a:t>
            </a:fld>
            <a:endParaRPr lang="en-US"/>
          </a:p>
        </p:txBody>
      </p:sp>
    </p:spTree>
    <p:extLst>
      <p:ext uri="{BB962C8B-B14F-4D97-AF65-F5344CB8AC3E}">
        <p14:creationId xmlns:p14="http://schemas.microsoft.com/office/powerpoint/2010/main" val="233057701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957" userDrawn="1">
          <p15:clr>
            <a:srgbClr val="F26B43"/>
          </p15:clr>
        </p15:guide>
        <p15:guide id="2" pos="2237"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EA976E3E-BBA1-487D-B81E-A53C96360150}" type="datetimeFigureOut">
              <a:t>8/2/2026</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B8F2EEE2-46E2-47E5-8287-018A51779D44}" type="slidenum">
              <a:t>‹#›</a:t>
            </a:fld>
            <a:endParaRPr lang="en-US"/>
          </a:p>
        </p:txBody>
      </p:sp>
    </p:spTree>
    <p:extLst>
      <p:ext uri="{BB962C8B-B14F-4D97-AF65-F5344CB8AC3E}">
        <p14:creationId xmlns:p14="http://schemas.microsoft.com/office/powerpoint/2010/main" val="2113819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assets.newyorklife.com/is/content/nylAssetsProd/individual-disability-insurance-digital-agent-playbook?uuid=dac6f6f5-4c94-4699-a6dd-e5b9556604c1"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www.today.newyorklife.com/agencyportal/s/article/Agency-Podcast-Page"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nylife.zoom.us/webinar/register/WN_wKUcuQL0T62fBk_KRySxzA#/registration" TargetMode="External"/><Relationship Id="rId2" Type="http://schemas.openxmlformats.org/officeDocument/2006/relationships/slide" Target="../slides/slide24.xml"/><Relationship Id="rId1" Type="http://schemas.openxmlformats.org/officeDocument/2006/relationships/notesMaster" Target="../notesMasters/notesMaster1.xml"/><Relationship Id="rId4" Type="http://schemas.openxmlformats.org/officeDocument/2006/relationships/hyperlink" Target="mailto:Darla_bean@newyorklife.com" TargetMode="External"/></Relationships>
</file>

<file path=ppt/notesSlides/_rels/notesSlide25.xml.rels><?xml version="1.0" encoding="UTF-8" standalone="yes"?>
<Relationships xmlns="http://schemas.openxmlformats.org/package/2006/relationships"><Relationship Id="rId3" Type="http://schemas.openxmlformats.org/officeDocument/2006/relationships/hyperlink" Target="mailto:Darla_bean@newyorklife.com"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8F2EEE2-46E2-47E5-8287-018A51779D44}" type="slidenum">
              <a:rPr lang="en-US" smtClean="0"/>
              <a:t>1</a:t>
            </a:fld>
            <a:endParaRPr lang="en-US"/>
          </a:p>
        </p:txBody>
      </p:sp>
    </p:spTree>
    <p:extLst>
      <p:ext uri="{BB962C8B-B14F-4D97-AF65-F5344CB8AC3E}">
        <p14:creationId xmlns:p14="http://schemas.microsoft.com/office/powerpoint/2010/main" val="9929214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the meeting with this. Say every name out loud and do not rush it.</a:t>
            </a:r>
          </a:p>
          <a:p>
            <a:endParaRPr/>
          </a:p>
          <a:p>
            <a:r>
              <a:t>Eleven agents qualified for the July life case bonus. Forty seven and three quarter paid cases between them, and three thousand seven hundred fifty dollars going out in August.</a:t>
            </a:r>
          </a:p>
          <a:p>
            <a:endParaRPr/>
          </a:p>
          <a:p>
            <a:r>
              <a:t>Start on the left. Four agents doubled the bonus to five hundred dollars. That takes five or more paid cases plus growth over July of last year. Lisa Finch led the office with eight. Tamika Murry had six. Harrison Trepagnier five point six. Rachal Bezou five.</a:t>
            </a:r>
          </a:p>
          <a:p>
            <a:endParaRPr/>
          </a:p>
          <a:p>
            <a:r>
              <a:t>Call out that Harrison is Second Prior and Rachal is Third Prior. They are not brand new and they are still growing year over year. That is what a practice looks like when somebody keeps working the fundamentals after the newness wears off.</a:t>
            </a:r>
          </a:p>
          <a:p>
            <a:endParaRPr/>
          </a:p>
          <a:p>
            <a:r>
              <a:t>On the right, seven agents earned the two hundred fifty dollar bonus with three or more paid cases. Brooks Malone at four point one seven and Woodrow Randall at four were both close to doubling.</a:t>
            </a:r>
          </a:p>
          <a:p>
            <a:endParaRPr/>
          </a:p>
          <a:p>
            <a:r>
              <a:t>Then the three Current Class names. Malika Walker, Precious Winn, and Jacob Delaughter each hit three cases in their first months. Make a point of that. A new agent paying three life cases in a month is doing the job right.</a:t>
            </a:r>
          </a:p>
          <a:p>
            <a:endParaRPr/>
          </a:p>
          <a:p>
            <a:r>
              <a:t>Two housekeeping notes if anyone asks. Employee's Whole Life counts three to one. Variable Universal Life, Market Wealth Plus and COLI slash BOLI do not count, and neither do cases issued in New York State for the cash bonus. Anybody who qualified with New York issued cases, or who was not enrolled in EAP by July thirty first, gets Council Credits instead of cash. Bonuses land in August.</a:t>
            </a:r>
          </a:p>
          <a:p>
            <a:endParaRPr/>
          </a:p>
          <a:p>
            <a:r>
              <a:t>Close by pointing at the number that is missing from this slide. Eleven agents qualified. How many are in this room? The gap between those two numbers is the whole opportunity for August, and the bar was three cases.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transition into the market section. Keep it short.</a:t>
            </a:r>
          </a:p>
          <a:p>
            <a:endParaRPr/>
          </a:p>
          <a:p>
            <a:r>
              <a:t>Frame the two weeks for the room. The week that just ended was the busiest earnings week of the year plus a Fed meeting plus the second quarter GDP report. The week ahead is a labor market week that ends with the July jobs report on Friday.</a:t>
            </a:r>
          </a:p>
          <a:p>
            <a:endParaRPr/>
          </a:p>
          <a:p>
            <a:r>
              <a:t>One sentence to set the table: the market went up last week, but underneath it there was a lot of damage in the AI infrastructure names, and that is the story we will spend the training half hour 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Start with the scoreboard, then immediately explain why the scoreboard is misleading this week.</a:t>
            </a:r>
          </a:p>
          <a:p>
            <a:endParaRPr/>
          </a:p>
          <a:p>
            <a:r>
              <a:t>Three indexes up about one percent. That is a quiet week on paper. But the S&amp;P 500 has essentially gone sideways since the middle of May, hovering around 7,500, and July finished with the S&amp;P down a tenth of a percent and the Nasdaq down more than three percent.</a:t>
            </a:r>
          </a:p>
          <a:p>
            <a:endParaRPr/>
          </a:p>
          <a:p>
            <a:r>
              <a:t>The point to land: the index level hid a violent rotation. Money moved out of the leveraged, high beta AI infrastructure names and into the large cap technology companies that actually reported cash earnings. Amazon delivered. Apple did not, and got punished for it.</a:t>
            </a:r>
          </a:p>
          <a:p>
            <a:endParaRPr/>
          </a:p>
          <a:p>
            <a:r>
              <a:t>If an agent asks what to tell a client who only reads headlines, the answer is that a flat month with big moves underneath is normal, and it is exactly why we do not build plans around one month of returns.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numbers matter here and you should say all three.</a:t>
            </a:r>
          </a:p>
          <a:p>
            <a:endParaRPr/>
          </a:p>
          <a:p>
            <a:r>
              <a:t>Growth slowed to one and a half percent. That is not a recession, it is a downshift, and the cause is identifiable. Tariffs and the energy shock from the Iran conflict raised costs, and the enormous appetite for AI equipment pulled in imports, which mechanically subtracts from GDP.</a:t>
            </a:r>
          </a:p>
          <a:p>
            <a:endParaRPr/>
          </a:p>
          <a:p>
            <a:r>
              <a:t>Core inflation at three point three percent is the problem. That is well above the Fed's two percent target and it is why the Fed did nothing on the twenty ninth. Three members wanted to hike. That is a hawkish committee.</a:t>
            </a:r>
          </a:p>
          <a:p>
            <a:endParaRPr/>
          </a:p>
          <a:p>
            <a:r>
              <a:t>Consumer spending rose two point one percent. The consumer is still working. That is the piece that keeps this from being a scary picture.</a:t>
            </a:r>
          </a:p>
          <a:p>
            <a:endParaRPr/>
          </a:p>
          <a:p>
            <a:r>
              <a:t>New York Life Investments frames the second half as a narrowing path. Constructive, but with less room for error. That is the house view and it is a good phrase to borrow with clients.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week the market drew a line.</a:t>
            </a:r>
          </a:p>
          <a:p>
            <a:endParaRPr/>
          </a:p>
          <a:p>
            <a:r>
              <a:t>Four of the biggest technology companies reported inside the same week. The ones that showed real demand behind their spending went up. The ones that showed spending without the demand got hit. Amazon and Microsoft were rewarded. Meta and Alphabet were not. Apple missed on Services and on China and fell.</a:t>
            </a:r>
          </a:p>
          <a:p>
            <a:endParaRPr/>
          </a:p>
          <a:p>
            <a:r>
              <a:t>The capital spending number is the one to remember. Somewhere between seven hundred twenty and seven hundred forty five billion dollars from four companies in one year. That is a scale of investment we have not seen before, and the market is now asking a fair question. Where is the revenue?</a:t>
            </a:r>
          </a:p>
          <a:p>
            <a:endParaRPr/>
          </a:p>
          <a:p>
            <a:r>
              <a:t>On the thirty seven percent earnings growth figure, be honest with the room. A chunk of that is mark to market gains on investments, not operating profit. Do not quote it to a client without the caveat.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week left to right and do not rush Friday.</a:t>
            </a:r>
          </a:p>
          <a:p>
            <a:endParaRPr/>
          </a:p>
          <a:p>
            <a:r>
              <a:t>Monday is ISM manufacturing. June was 49.0, which means contraction. The private surveys point to a better number. If it prints above 50, factories are growing again and that helps the cyclical parts of the market.</a:t>
            </a:r>
          </a:p>
          <a:p>
            <a:endParaRPr/>
          </a:p>
          <a:p>
            <a:r>
              <a:t>Wednesday gives us ADP payrolls and the service sector reading, plus two Fed speakers. Governor Cook and President Daly did not dissent at the last meeting, so what they say tells us where the middle of the committee sits.</a:t>
            </a:r>
          </a:p>
          <a:p>
            <a:endParaRPr/>
          </a:p>
          <a:p>
            <a:r>
              <a:t>Thursday brings productivity and unit labor costs. Unit labor costs are the quiet inflation number nobody talks about. If labor costs are rising faster than output, inflation gets stickier.</a:t>
            </a:r>
          </a:p>
          <a:p>
            <a:endParaRPr/>
          </a:p>
          <a:p>
            <a:r>
              <a:t>Friday is the whole week. June payrolls came in at fifty seven thousand against a consensus near one hundred fifteen thousand. That was a bad miss, though most of it came from leisure and hospitality shedding sixty one thousand jobs, which looks like a seasonal quirk. Consensus for July is around eighty five thousand.</a:t>
            </a:r>
          </a:p>
          <a:p>
            <a:endParaRPr/>
          </a:p>
          <a:p>
            <a:r>
              <a:t>Give the room the rule of thumb. Under one hundred thousand and the market starts pricing a September rate cut again. Over one hundred fifty thousand and yields go up because the Fed has cover to stay tight.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fifteen percent of the index reports this week, and three of the names are direct tests of the AI trade.</a:t>
            </a:r>
          </a:p>
          <a:p>
            <a:endParaRPr/>
          </a:p>
          <a:p>
            <a:r>
              <a:t>Palantir on Monday is the software test. Revenue is expected to grow eighty one percent, which is remarkable, but the stock trades near sixty one times sales. When a company is priced that richly, beating is not enough. It has to beat and guide higher.</a:t>
            </a:r>
          </a:p>
          <a:p>
            <a:endParaRPr/>
          </a:p>
          <a:p>
            <a:r>
              <a:t>AMD on Tuesday is the hardware test. Revenue expected around eleven point two billion, up forty six percent. The room should listen for the MI450 and Helios ramp, because that is where the Meta and OpenAI commitments turn into revenue.</a:t>
            </a:r>
          </a:p>
          <a:p>
            <a:endParaRPr/>
          </a:p>
          <a:p>
            <a:r>
              <a:t>SanDisk on Wednesday matters more than its size suggests. It is the first clean look at memory pricing after that stock fell fifty three percent from its high. Memory is where the AI supply chain is tightest.</a:t>
            </a:r>
          </a:p>
          <a:p>
            <a:endParaRPr/>
          </a:p>
          <a:p>
            <a:r>
              <a:t>Tuesday morning also gives us Caterpillar, Merck, McDonald's and Pfizer. That is a good cross section of the economy outside technology, and it tells us whether the consumer and the industrial base are holding up.</a:t>
            </a:r>
          </a:p>
          <a:p>
            <a:endParaRPr/>
          </a:p>
          <a:p>
            <a:r>
              <a:t>SpaceX reports as a public company for the first time on Tuesday. Expect noise.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Fed picture changed character this year and agents need to understand why.</a:t>
            </a:r>
          </a:p>
          <a:p>
            <a:endParaRPr/>
          </a:p>
          <a:p>
            <a:r>
              <a:t>For most of the last two years the argument was about how fast the Fed would cut. That argument is over. Three members of this committee voted to raise rates in July. Before the meeting, the futures market put the odds of a surprise hike near one in three.</a:t>
            </a:r>
          </a:p>
          <a:p>
            <a:endParaRPr/>
          </a:p>
          <a:p>
            <a:r>
              <a:t>The reason is energy. The conflict with Iran pushed oil and freight costs up, and that has reversed a lot of the disinflation we had. Core inflation at three point three percent does not let the Fed ease.</a:t>
            </a:r>
          </a:p>
          <a:p>
            <a:endParaRPr/>
          </a:p>
          <a:p>
            <a:r>
              <a:t>Kevin Warsh will not give forward guidance. Whatever you think of that as policy, the practical effect is that every jobs report and every CPI print now moves the market more than it used to, because there is no cushion of guidance to absorb it.</a:t>
            </a:r>
          </a:p>
          <a:p>
            <a:endParaRPr/>
          </a:p>
          <a:p>
            <a:r>
              <a:t>The advisor angle is the part to emphasize. Uncertainty about rates is not a reason to panic a client. It is the argument for the products we sell. Guaranteed income and protection are worth more when nobody can tell you what the next twelve months look like.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bridge into today's training, so set it up but do not give away the whole story.</a:t>
            </a:r>
          </a:p>
          <a:p>
            <a:endParaRPr/>
          </a:p>
          <a:p>
            <a:r>
              <a:t>Here is the short version. A twenty five year old former OpenAI researcher named Leopold Aschenbrenner ran a fund called Situational Awareness. It peaked around forty five billion dollars. He borrowed roughly four dollars for every dollar of his own and put it into one idea. Buy the physical build out of AI, and short the software companies he believed AI would destroy.</a:t>
            </a:r>
          </a:p>
          <a:p>
            <a:endParaRPr/>
          </a:p>
          <a:p>
            <a:r>
              <a:t>In July the market did the opposite of what he expected. His AI infrastructure holdings fell thirty six to fifty five percent. The software companies he was short went up seventeen to thirty seven percent. He lost on both sides at once, and his lenders called the loans.</a:t>
            </a:r>
          </a:p>
          <a:p>
            <a:endParaRPr/>
          </a:p>
          <a:p>
            <a:r>
              <a:t>Now say the part that almost everybody got wrong, because it is the whole point of the training. This was not an AI crash. The S and P 500 fell about two percent and Nvidia actually finished July higher. This was a rotation. Money left the leveraged, capital hungry end of AI and moved into the profitable, cash generating end of it.</a:t>
            </a:r>
          </a:p>
          <a:p>
            <a:endParaRPr/>
          </a:p>
          <a:p>
            <a:r>
              <a:t>He was on the wrong side of that rotation on both legs, at four times leverage.</a:t>
            </a:r>
          </a:p>
          <a:p>
            <a:endParaRPr/>
          </a:p>
          <a:p>
            <a:r>
              <a:t>Tell them we will spend the training on why he was wrong, because that is the part that is useful. Leverage only explains how fast it happened.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client facing slide. Read it the way you would say it at a kitchen table, not the way you would say it on a trading desk.</a:t>
            </a:r>
          </a:p>
          <a:p>
            <a:endParaRPr/>
          </a:p>
          <a:p>
            <a:r>
              <a:t>The goal is not to impress anybody with what you know about hedge funds. The goal is to make a client feel like somebody is paying attention on their behalf.</a:t>
            </a:r>
          </a:p>
          <a:p>
            <a:endParaRPr/>
          </a:p>
          <a:p>
            <a:r>
              <a:t>Four things happened. The market was up slightly. The economy slowed but people kept spending. Inflation is still too high so the Fed did nothing. And one big fund blew itself up with borrowed money and made a handful of technology stocks jump around.</a:t>
            </a:r>
          </a:p>
          <a:p>
            <a:endParaRPr/>
          </a:p>
          <a:p>
            <a:r>
              <a:t>Then pivot to the plan. The single most useful sentence you can say this week is this. That fund did not fail because it was wrong about AI. It failed because it borrowed so much money that it could not afford to wait to be right. Your plan does not borrow. That is on purpose.</a:t>
            </a:r>
          </a:p>
          <a:p>
            <a:endParaRPr/>
          </a:p>
          <a:p>
            <a:r>
              <a:t>Close by asking what has changed in their life. A new job, a new grandchild, a parent who needs care. Those are real reasons to revisit a plan. A headline is not.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2289">
              <a:defRPr/>
            </a:pPr>
            <a:r>
              <a:rPr lang="en-US" b="1"/>
              <a:t>New Org Section: </a:t>
            </a:r>
            <a:r>
              <a:rPr lang="en-US"/>
              <a:t>For SPs and Partners presenting to </a:t>
            </a:r>
            <a:r>
              <a:rPr lang="en-US" b="1"/>
              <a:t>New Org agents</a:t>
            </a:r>
            <a:r>
              <a:rPr lang="en-US"/>
              <a:t>. These slides are visible to EPs and MPs.</a:t>
            </a:r>
            <a:endParaRPr lang="en-US" b="1"/>
          </a:p>
          <a:p>
            <a:endParaRPr lang="en-US"/>
          </a:p>
        </p:txBody>
      </p:sp>
      <p:sp>
        <p:nvSpPr>
          <p:cNvPr id="4" name="Slide Number Placeholder 3"/>
          <p:cNvSpPr>
            <a:spLocks noGrp="1"/>
          </p:cNvSpPr>
          <p:nvPr>
            <p:ph type="sldNum" sz="quarter" idx="5"/>
          </p:nvPr>
        </p:nvSpPr>
        <p:spPr/>
        <p:txBody>
          <a:bodyPr/>
          <a:lstStyle/>
          <a:p>
            <a:fld id="{B8F2EEE2-46E2-47E5-8287-018A51779D44}" type="slidenum">
              <a:rPr lang="en-US" smtClean="0"/>
              <a:t>12</a:t>
            </a:fld>
            <a:endParaRPr lang="en-US"/>
          </a:p>
        </p:txBody>
      </p:sp>
    </p:spTree>
    <p:extLst>
      <p:ext uri="{BB962C8B-B14F-4D97-AF65-F5344CB8AC3E}">
        <p14:creationId xmlns:p14="http://schemas.microsoft.com/office/powerpoint/2010/main" val="39826634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D399B-855E-C3EA-38E9-7CA8A1AAEA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D77AA8-6D35-4F35-18AE-A6FF0592978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6272ECD-1C71-F4F4-0A9D-9537632A595B}"/>
              </a:ext>
            </a:extLst>
          </p:cNvPr>
          <p:cNvSpPr>
            <a:spLocks noGrp="1"/>
          </p:cNvSpPr>
          <p:nvPr>
            <p:ph type="body" idx="1"/>
          </p:nvPr>
        </p:nvSpPr>
        <p:spPr/>
        <p:txBody>
          <a:bodyPr/>
          <a:lstStyle/>
          <a:p>
            <a:r>
              <a:rPr lang="en-US" sz="1200" b="1" i="0" kern="1200">
                <a:solidFill>
                  <a:schemeClr val="tx1"/>
                </a:solidFill>
                <a:effectLst/>
                <a:latin typeface="+mn-lt"/>
                <a:ea typeface="+mn-ea"/>
                <a:cs typeface="+mn-cs"/>
              </a:rPr>
              <a:t>Chinese Market Monthly SIE Study Group Sessions</a:t>
            </a:r>
          </a:p>
          <a:p>
            <a:r>
              <a:rPr lang="en-US" sz="1200" kern="1200">
                <a:solidFill>
                  <a:schemeClr val="tx1"/>
                </a:solidFill>
                <a:effectLst/>
                <a:latin typeface="+mn-lt"/>
                <a:ea typeface="+mn-ea"/>
                <a:cs typeface="+mn-cs"/>
              </a:rPr>
              <a:t>(for New Org, </a:t>
            </a:r>
            <a:r>
              <a:rPr lang="en-US" sz="1200" kern="1200" err="1">
                <a:solidFill>
                  <a:schemeClr val="tx1"/>
                </a:solidFill>
                <a:effectLst/>
                <a:latin typeface="+mn-lt"/>
                <a:ea typeface="+mn-ea"/>
                <a:cs typeface="+mn-cs"/>
              </a:rPr>
              <a:t>Estab</a:t>
            </a:r>
            <a:r>
              <a:rPr lang="en-US" sz="1200" kern="1200">
                <a:solidFill>
                  <a:schemeClr val="tx1"/>
                </a:solidFill>
                <a:effectLst/>
                <a:latin typeface="+mn-lt"/>
                <a:ea typeface="+mn-ea"/>
                <a:cs typeface="+mn-cs"/>
              </a:rPr>
              <a:t> and Second Line Managers)</a:t>
            </a: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Chinese Market will conduct a series of SIE tutorial sessions based on STC study material. All sessions will be conducted primarily in Mandarin Chinese and English. </a:t>
            </a:r>
          </a:p>
          <a:p>
            <a:endParaRPr lang="en-US" sz="1200" b="1"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t>Contact: </a:t>
            </a:r>
            <a:r>
              <a:rPr lang="en-US" sz="1200" kern="1200">
                <a:solidFill>
                  <a:schemeClr val="tx1"/>
                </a:solidFill>
                <a:effectLst/>
                <a:latin typeface="+mn-lt"/>
                <a:ea typeface="Geneva" charset="0"/>
                <a:cs typeface="Geneva" charset="0"/>
              </a:rPr>
              <a:t>targetmarkets@newyorklife.com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a:solidFill>
                  <a:schemeClr val="tx1"/>
                </a:solidFill>
                <a:effectLst/>
                <a:latin typeface="+mn-lt"/>
                <a:ea typeface="Geneva" charset="0"/>
                <a:cs typeface="+mn-cs"/>
              </a:rPr>
              <a:t>Register: </a:t>
            </a:r>
            <a:r>
              <a:rPr lang="en-US" sz="1200" b="0" i="0" kern="1200">
                <a:solidFill>
                  <a:schemeClr val="tx1"/>
                </a:solidFill>
                <a:effectLst/>
                <a:latin typeface="+mn-lt"/>
                <a:ea typeface="Geneva" charset="0"/>
                <a:cs typeface="+mn-cs"/>
              </a:rPr>
              <a:t>https://nylife.zoom.us/meeting/register/a4UI1WqPQOKCBm1JCZqQoA</a:t>
            </a:r>
            <a:endParaRPr lang="en-US" sz="1200" b="0"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a:ea typeface="Calibri"/>
                <a:cs typeface="Calibri"/>
              </a:rPr>
              <a:t>Submitted by: John Macchia</a:t>
            </a:r>
          </a:p>
        </p:txBody>
      </p:sp>
      <p:sp>
        <p:nvSpPr>
          <p:cNvPr id="4" name="Slide Number Placeholder 3">
            <a:extLst>
              <a:ext uri="{FF2B5EF4-FFF2-40B4-BE49-F238E27FC236}">
                <a16:creationId xmlns:a16="http://schemas.microsoft.com/office/drawing/2014/main" id="{DB71C912-79EB-0B4E-28BF-E3AB1C84B9C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F9CFDD-3617-F247-94E7-B6D03232F67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478234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cs typeface="Arial" panose="020B0604020202020204" pitchFamily="34" charset="0"/>
              </a:rPr>
              <a:t>Start the week with insights from Broderick Young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cs typeface="Arial" panose="020B0604020202020204" pitchFamily="34" charset="0"/>
              </a:rPr>
              <a:t>Motivation Monday </a:t>
            </a:r>
            <a:r>
              <a:rPr lang="en-US" b="0">
                <a:latin typeface="Arial" panose="020B0604020202020204" pitchFamily="34" charset="0"/>
                <a:cs typeface="Arial" panose="020B0604020202020204" pitchFamily="34" charset="0"/>
              </a:rPr>
              <a:t>is a monthly webinar series designed to help agents start the week with fresh ideas, practical strategies and motivation from some of New York Life’s most successful professionals. In the Aug. 3 session, hosted </a:t>
            </a:r>
            <a:r>
              <a:rPr lang="en-US" b="1">
                <a:latin typeface="Arial" panose="020B0604020202020204" pitchFamily="34" charset="0"/>
                <a:cs typeface="Arial" panose="020B0604020202020204" pitchFamily="34" charset="0"/>
              </a:rPr>
              <a:t>by Andrew Goldstein</a:t>
            </a:r>
            <a:r>
              <a:rPr lang="en-US" b="0">
                <a:latin typeface="Arial" panose="020B0604020202020204" pitchFamily="34" charset="0"/>
                <a:cs typeface="Arial" panose="020B0604020202020204" pitchFamily="34" charset="0"/>
              </a:rPr>
              <a:t>, Vice President, Agency Sales &amp; Field Activation, </a:t>
            </a:r>
            <a:r>
              <a:rPr lang="en-US" b="1">
                <a:latin typeface="Arial" panose="020B0604020202020204" pitchFamily="34" charset="0"/>
                <a:cs typeface="Arial" panose="020B0604020202020204" pitchFamily="34" charset="0"/>
              </a:rPr>
              <a:t>Broderick Young </a:t>
            </a:r>
            <a:r>
              <a:rPr lang="en-US" b="0">
                <a:latin typeface="Arial" panose="020B0604020202020204" pitchFamily="34" charset="0"/>
                <a:cs typeface="Arial" panose="020B0604020202020204" pitchFamily="34" charset="0"/>
              </a:rPr>
              <a:t>will share how authenticity, resilience, education and a relationship-focused approach have shaped his New York Life career. Attendees will gain practical insights they can apply to strengthen client connections, reframe conversations and support long-term growth.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ea typeface="Calibri"/>
                <a:cs typeface="Arial" panose="020B0604020202020204" pitchFamily="34" charset="0"/>
              </a:rPr>
              <a:t>Contact:</a:t>
            </a:r>
            <a:r>
              <a:rPr lang="en-US">
                <a:latin typeface="Arial" panose="020B0604020202020204" pitchFamily="34" charset="0"/>
                <a:ea typeface="Calibri"/>
                <a:cs typeface="Arial" panose="020B0604020202020204" pitchFamily="34" charset="0"/>
              </a:rPr>
              <a:t> PLAN@newyorklife.com</a:t>
            </a:r>
            <a:endParaRPr lang="en-US">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cs typeface="Arial" panose="020B0604020202020204" pitchFamily="34" charset="0"/>
              </a:rPr>
              <a:t>Registration link: </a:t>
            </a:r>
            <a:r>
              <a:rPr lang="en-US" b="0">
                <a:latin typeface="Arial" panose="020B0604020202020204" pitchFamily="34" charset="0"/>
                <a:cs typeface="Arial" panose="020B0604020202020204" pitchFamily="34" charset="0"/>
              </a:rPr>
              <a:t>https://nylife.zoom.us/webinar/register/WN_ZjFTU_KiRP-XRXYvkZQ1DA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123385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E0C87-021D-4750-4984-F992D75559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2C7E39-6261-68F4-08FB-D72D933522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6B33CF-0D30-B3EB-811C-80A255560FE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ea typeface="Calibri"/>
                <a:cs typeface="Arial" panose="020B0604020202020204" pitchFamily="34" charset="0"/>
              </a:rPr>
              <a:t>Explore what’s new with SVUL Accumulator II</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a:latin typeface="Arial" panose="020B0604020202020204" pitchFamily="34" charset="0"/>
                <a:ea typeface="Calibri"/>
                <a:cs typeface="Arial" panose="020B0604020202020204" pitchFamily="34" charset="0"/>
              </a:rPr>
              <a:t>This national PLAN webinar is designed to help agents understand upcoming SVUL Accumulator II updates and identify new opportunities for client conversations. Attendees will gain practical insights, positioning strategies and resources they can use to strengthen outreach and support meaningful discussions with clients.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a:latin typeface="Arial" panose="020B0604020202020204" pitchFamily="34" charset="0"/>
                <a:ea typeface="Calibri"/>
                <a:cs typeface="Arial" panose="020B0604020202020204" pitchFamily="34" charset="0"/>
              </a:rPr>
              <a:t>Hosted by </a:t>
            </a:r>
            <a:r>
              <a:rPr lang="en-US" b="1">
                <a:latin typeface="Arial" panose="020B0604020202020204" pitchFamily="34" charset="0"/>
                <a:ea typeface="Calibri"/>
                <a:cs typeface="Arial" panose="020B0604020202020204" pitchFamily="34" charset="0"/>
              </a:rPr>
              <a:t>Palmer Stokes</a:t>
            </a:r>
            <a:r>
              <a:rPr lang="en-US" b="0">
                <a:latin typeface="Arial" panose="020B0604020202020204" pitchFamily="34" charset="0"/>
                <a:ea typeface="Calibri"/>
                <a:cs typeface="Arial" panose="020B0604020202020204" pitchFamily="34" charset="0"/>
              </a:rPr>
              <a:t>, Variable Universal Life Solutions Consultant, the session will feature </a:t>
            </a:r>
            <a:r>
              <a:rPr lang="en-US" b="1">
                <a:latin typeface="Arial" panose="020B0604020202020204" pitchFamily="34" charset="0"/>
                <a:ea typeface="Calibri"/>
                <a:cs typeface="Arial" panose="020B0604020202020204" pitchFamily="34" charset="0"/>
              </a:rPr>
              <a:t>Evelin Freytas</a:t>
            </a:r>
            <a:r>
              <a:rPr lang="en-US" b="0">
                <a:latin typeface="Arial" panose="020B0604020202020204" pitchFamily="34" charset="0"/>
                <a:ea typeface="Calibri"/>
                <a:cs typeface="Arial" panose="020B0604020202020204" pitchFamily="34" charset="0"/>
              </a:rPr>
              <a:t>, Chairman’s Council and the top-selling SVUL agent year-to-date. The webinar will cover the new Extended No Lapse Guarantee Rider, expanded lapse protection, client profiles and ways to position SVUL in practice. Agents will also learn about the Suitability Assist AI chatbot and the latest </a:t>
            </a:r>
            <a:r>
              <a:rPr lang="en-US" b="0" err="1">
                <a:latin typeface="Arial" panose="020B0604020202020204" pitchFamily="34" charset="0"/>
                <a:ea typeface="Calibri"/>
                <a:cs typeface="Arial" panose="020B0604020202020204" pitchFamily="34" charset="0"/>
              </a:rPr>
              <a:t>ClientMine</a:t>
            </a:r>
            <a:r>
              <a:rPr lang="en-US" b="0">
                <a:latin typeface="Arial" panose="020B0604020202020204" pitchFamily="34" charset="0"/>
                <a:ea typeface="Calibri"/>
                <a:cs typeface="Arial" panose="020B0604020202020204" pitchFamily="34" charset="0"/>
              </a:rPr>
              <a:t> enhancements to help identify opportunities, prioritize outreach and guide timely follow-up.</a:t>
            </a:r>
            <a:endParaRPr lang="en-US" b="1">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ea typeface="Calibri"/>
                <a:cs typeface="Arial" panose="020B0604020202020204" pitchFamily="34" charset="0"/>
              </a:rPr>
              <a:t>Contact:</a:t>
            </a:r>
            <a:r>
              <a:rPr lang="en-US">
                <a:latin typeface="Arial" panose="020B0604020202020204" pitchFamily="34" charset="0"/>
                <a:ea typeface="Calibri"/>
                <a:cs typeface="Arial" panose="020B0604020202020204" pitchFamily="34" charset="0"/>
              </a:rPr>
              <a:t> PLAN@newyorklife.com</a:t>
            </a:r>
            <a:endParaRPr lang="en-US">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cs typeface="Arial" panose="020B0604020202020204" pitchFamily="34" charset="0"/>
              </a:rPr>
              <a:t>Registration link: </a:t>
            </a:r>
            <a:r>
              <a:rPr lang="en-US" b="0">
                <a:latin typeface="Arial" panose="020B0604020202020204" pitchFamily="34" charset="0"/>
                <a:cs typeface="Arial" panose="020B0604020202020204" pitchFamily="34" charset="0"/>
              </a:rPr>
              <a:t>https://nylife.zoom.us/webinar/register/WN_1OlOlV9VRBC6FWL95OZ9PQ</a:t>
            </a:r>
            <a:endParaRPr lang="en-US" b="0"/>
          </a:p>
        </p:txBody>
      </p:sp>
      <p:sp>
        <p:nvSpPr>
          <p:cNvPr id="4" name="Slide Number Placeholder 3">
            <a:extLst>
              <a:ext uri="{FF2B5EF4-FFF2-40B4-BE49-F238E27FC236}">
                <a16:creationId xmlns:a16="http://schemas.microsoft.com/office/drawing/2014/main" id="{2F006A23-F104-CA10-9BB6-EF769F46829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826840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F6642-7738-F3DA-8679-074C66CD4D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A15475-64F9-20D1-CE21-814D428C36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34B6F5-0B9B-3005-112A-BE180922188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ea typeface="Calibri"/>
                <a:cs typeface="Arial" panose="020B0604020202020204" pitchFamily="34" charset="0"/>
              </a:rPr>
              <a:t>Back by popular demand: Bobby Samuelson returns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a:latin typeface="Arial" panose="020B0604020202020204" pitchFamily="34" charset="0"/>
                <a:ea typeface="Calibri"/>
                <a:cs typeface="Arial" panose="020B0604020202020204" pitchFamily="34" charset="0"/>
              </a:rPr>
              <a:t>Bobby Samuelson returns by popular demand for a timely discussion on </a:t>
            </a:r>
            <a:r>
              <a:rPr lang="en-US" sz="1200"/>
              <a:t>how insurance solutions can enhance a holistic approach to your clients' financial strategy</a:t>
            </a:r>
            <a:r>
              <a:rPr lang="en-US" b="0">
                <a:latin typeface="Arial" panose="020B0604020202020204" pitchFamily="34" charset="0"/>
                <a:ea typeface="Calibri"/>
                <a:cs typeface="Arial" panose="020B0604020202020204" pitchFamily="34" charset="0"/>
              </a:rPr>
              <a:t>. This session will highlight key considerations across today’s solutions and offer practical insights agents can use to support more informed client conversations. Scan the QR code to register for the Aug. 6 webinar.</a:t>
            </a:r>
            <a:endParaRPr lang="en-US" b="1">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ea typeface="Calibri"/>
                <a:cs typeface="Arial" panose="020B0604020202020204" pitchFamily="34" charset="0"/>
              </a:rPr>
              <a:t>Contact:</a:t>
            </a:r>
            <a:r>
              <a:rPr lang="en-US">
                <a:latin typeface="Arial" panose="020B0604020202020204" pitchFamily="34" charset="0"/>
                <a:ea typeface="Calibri"/>
                <a:cs typeface="Arial" panose="020B0604020202020204" pitchFamily="34" charset="0"/>
              </a:rPr>
              <a:t> PLAN@newyorklife.com</a:t>
            </a:r>
            <a:endParaRPr lang="en-US">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cs typeface="Arial" panose="020B0604020202020204" pitchFamily="34" charset="0"/>
              </a:rPr>
              <a:t>Registration link: </a:t>
            </a:r>
            <a:r>
              <a:rPr lang="en-US" b="0">
                <a:latin typeface="Arial" panose="020B0604020202020204" pitchFamily="34" charset="0"/>
                <a:cs typeface="Arial" panose="020B0604020202020204" pitchFamily="34" charset="0"/>
              </a:rPr>
              <a:t>https://nylife.zoom.us/webinar/register/WN_DIfKj2pjQAKHI5WPLPGy1A#/registration</a:t>
            </a:r>
            <a:endParaRPr lang="en-US" b="0"/>
          </a:p>
        </p:txBody>
      </p:sp>
      <p:sp>
        <p:nvSpPr>
          <p:cNvPr id="4" name="Slide Number Placeholder 3">
            <a:extLst>
              <a:ext uri="{FF2B5EF4-FFF2-40B4-BE49-F238E27FC236}">
                <a16:creationId xmlns:a16="http://schemas.microsoft.com/office/drawing/2014/main" id="{955491EC-DD5F-94B9-8208-B47E8565FB7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90244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07EA0-ECFA-DE78-B03B-3B9D92C885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F07317-61DA-9459-04D5-6D6190CA3B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E05D3D-1565-BAD5-A95B-63BC3BBD9398}"/>
              </a:ext>
            </a:extLst>
          </p:cNvPr>
          <p:cNvSpPr>
            <a:spLocks noGrp="1"/>
          </p:cNvSpPr>
          <p:nvPr>
            <p:ph type="body" idx="1"/>
          </p:nvPr>
        </p:nvSpPr>
        <p:spPr/>
        <p:txBody>
          <a:bodyPr/>
          <a:lstStyle/>
          <a:p>
            <a:pPr>
              <a:spcBef>
                <a:spcPct val="0"/>
              </a:spcBef>
              <a:spcAft>
                <a:spcPct val="0"/>
              </a:spcAft>
              <a:defRPr/>
            </a:pPr>
            <a:r>
              <a:rPr lang="en-US" dirty="0">
                <a:solidFill>
                  <a:srgbClr val="000962"/>
                </a:solidFill>
              </a:rPr>
              <a:t>Gain the confidence to explain each option </a:t>
            </a:r>
            <a:r>
              <a:rPr lang="en-US">
                <a:solidFill>
                  <a:srgbClr val="000962"/>
                </a:solidFill>
              </a:rPr>
              <a:t>simply and</a:t>
            </a:r>
            <a:r>
              <a:rPr lang="en-US" dirty="0">
                <a:solidFill>
                  <a:srgbClr val="000962"/>
                </a:solidFill>
              </a:rPr>
              <a:t> recommend coverage based on client’s goals, budget, and life stage</a:t>
            </a:r>
            <a:endParaRPr lang="en-US" dirty="0">
              <a:solidFill>
                <a:srgbClr val="000962"/>
              </a:solidFill>
              <a:ea typeface="Calibri" panose="020F0502020204030204"/>
              <a:cs typeface="Calibri" panose="020F0502020204030204"/>
            </a:endParaRPr>
          </a:p>
          <a:p>
            <a:pPr>
              <a:spcBef>
                <a:spcPct val="0"/>
              </a:spcBef>
              <a:spcAft>
                <a:spcPct val="0"/>
              </a:spcAft>
              <a:defRPr/>
            </a:pPr>
            <a:r>
              <a:rPr lang="en-US" dirty="0">
                <a:solidFill>
                  <a:srgbClr val="000962"/>
                </a:solidFill>
              </a:rPr>
              <a:t>Use real life planning examples to develop </a:t>
            </a:r>
            <a:r>
              <a:rPr lang="en-US">
                <a:solidFill>
                  <a:srgbClr val="000962"/>
                </a:solidFill>
              </a:rPr>
              <a:t>more meaningful</a:t>
            </a:r>
            <a:r>
              <a:rPr lang="en-US" dirty="0">
                <a:solidFill>
                  <a:srgbClr val="000962"/>
                </a:solidFill>
              </a:rPr>
              <a:t> client-focused conversations</a:t>
            </a:r>
            <a:endParaRPr lang="en-US" dirty="0">
              <a:solidFill>
                <a:srgbClr val="000962"/>
              </a:solidFill>
              <a:ea typeface="Calibri" panose="020F0502020204030204"/>
              <a:cs typeface="Calibri" panose="020F0502020204030204"/>
            </a:endParaRPr>
          </a:p>
          <a:p>
            <a:pPr marL="0" marR="0" lvl="0" indent="0" algn="l" defTabSz="914400">
              <a:lnSpc>
                <a:spcPct val="100000"/>
              </a:lnSpc>
              <a:spcBef>
                <a:spcPts val="0"/>
              </a:spcBef>
              <a:spcAft>
                <a:spcPts val="0"/>
              </a:spcAft>
              <a:buClrTx/>
              <a:buSzTx/>
              <a:buFontTx/>
              <a:buNone/>
              <a:tabLst/>
              <a:defRPr/>
            </a:pPr>
            <a:endParaRPr lang="en-US">
              <a:ea typeface="Calibri"/>
              <a:cs typeface="Calibri"/>
            </a:endParaRPr>
          </a:p>
          <a:p>
            <a:endParaRPr lang="en-US"/>
          </a:p>
        </p:txBody>
      </p:sp>
      <p:sp>
        <p:nvSpPr>
          <p:cNvPr id="4" name="Slide Number Placeholder 3">
            <a:extLst>
              <a:ext uri="{FF2B5EF4-FFF2-40B4-BE49-F238E27FC236}">
                <a16:creationId xmlns:a16="http://schemas.microsoft.com/office/drawing/2014/main" id="{71B3FF0A-F485-177A-EFD1-EA9F20FE96B2}"/>
              </a:ext>
            </a:extLst>
          </p:cNvPr>
          <p:cNvSpPr>
            <a:spLocks noGrp="1"/>
          </p:cNvSpPr>
          <p:nvPr>
            <p:ph type="sldNum" sz="quarter" idx="5"/>
          </p:nvPr>
        </p:nvSpPr>
        <p:spPr/>
        <p:txBody>
          <a:bodyPr/>
          <a:lstStyle/>
          <a:p>
            <a:fld id="{B8F2EEE2-46E2-47E5-8287-018A51779D44}" type="slidenum">
              <a:rPr lang="en-US" smtClean="0"/>
              <a:t>17</a:t>
            </a:fld>
            <a:endParaRPr lang="en-US"/>
          </a:p>
        </p:txBody>
      </p:sp>
    </p:spTree>
    <p:extLst>
      <p:ext uri="{BB962C8B-B14F-4D97-AF65-F5344CB8AC3E}">
        <p14:creationId xmlns:p14="http://schemas.microsoft.com/office/powerpoint/2010/main" val="20461128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8DD8-CCB9-A34C-384E-9E3048AC4F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4A117C-4275-163B-A0ED-23935156C4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6E4DF0-04B7-7200-B958-E2E0AD29D96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2"/>
                </a:solidFill>
              </a:rPr>
              <a:t>See real, relevant workflows that help improve efficiency, productivity and the quality of how agents serve clients and grow the business.</a:t>
            </a:r>
            <a:br>
              <a:rPr lang="en-US" sz="1200">
                <a:solidFill>
                  <a:schemeClr val="tx2"/>
                </a:solidFill>
              </a:rPr>
            </a:br>
            <a:br>
              <a:rPr lang="en-US" sz="1200">
                <a:solidFill>
                  <a:schemeClr val="tx2"/>
                </a:solidFill>
              </a:rPr>
            </a:br>
            <a:r>
              <a:rPr lang="en-US"/>
              <a:t>https://nylife.zoom.us/webinar/register/WN_8sDC4TQSTma5ZcumWO9lJg#/registration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indent="0">
              <a:buNone/>
            </a:pPr>
            <a:endParaRPr lang="en-US" sz="1200">
              <a:solidFill>
                <a:schemeClr val="tx2"/>
              </a:solidFill>
            </a:endParaRPr>
          </a:p>
          <a:p>
            <a:endParaRPr lang="en-US"/>
          </a:p>
        </p:txBody>
      </p:sp>
      <p:sp>
        <p:nvSpPr>
          <p:cNvPr id="4" name="Slide Number Placeholder 3">
            <a:extLst>
              <a:ext uri="{FF2B5EF4-FFF2-40B4-BE49-F238E27FC236}">
                <a16:creationId xmlns:a16="http://schemas.microsoft.com/office/drawing/2014/main" id="{0C879213-7FC1-847B-2DB1-3322CA16F5A9}"/>
              </a:ext>
            </a:extLst>
          </p:cNvPr>
          <p:cNvSpPr>
            <a:spLocks noGrp="1"/>
          </p:cNvSpPr>
          <p:nvPr>
            <p:ph type="sldNum" sz="quarter" idx="5"/>
          </p:nvPr>
        </p:nvSpPr>
        <p:spPr/>
        <p:txBody>
          <a:bodyPr/>
          <a:lstStyle/>
          <a:p>
            <a:fld id="{B8F2EEE2-46E2-47E5-8287-018A51779D44}" type="slidenum">
              <a:rPr lang="en-US" smtClean="0"/>
              <a:t>18</a:t>
            </a:fld>
            <a:endParaRPr lang="en-US"/>
          </a:p>
        </p:txBody>
      </p:sp>
    </p:spTree>
    <p:extLst>
      <p:ext uri="{BB962C8B-B14F-4D97-AF65-F5344CB8AC3E}">
        <p14:creationId xmlns:p14="http://schemas.microsoft.com/office/powerpoint/2010/main" val="4186707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latin typeface="Arial" panose="020B0604020202020204" pitchFamily="34" charset="0"/>
                <a:cs typeface="Arial" panose="020B0604020202020204" pitchFamily="34" charset="0"/>
              </a:rPr>
              <a:t>Contact: </a:t>
            </a:r>
            <a:r>
              <a:rPr lang="en-US">
                <a:latin typeface="Arial" panose="020B0604020202020204" pitchFamily="34" charset="0"/>
                <a:cs typeface="Arial" panose="020B0604020202020204" pitchFamily="34" charset="0"/>
              </a:rPr>
              <a:t>PLAN@newyorklife.com</a:t>
            </a:r>
          </a:p>
          <a:p>
            <a:endParaRPr lang="en-US">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Info Central Page: </a:t>
            </a:r>
            <a:r>
              <a:rPr lang="en-US">
                <a:latin typeface="Arial" panose="020B0604020202020204" pitchFamily="34" charset="0"/>
                <a:cs typeface="Arial" panose="020B0604020202020204" pitchFamily="34" charset="0"/>
              </a:rPr>
              <a:t>https://www.today.newyorklife.com/agencyportal/s/article/Awards-Your-Way</a:t>
            </a:r>
          </a:p>
          <a:p>
            <a:endParaRPr lang="en-US">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E815E9C-585E-44A1-B44A-2D99FF74EE6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347560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8DB38-F7AF-A0DE-F802-83B08CCF98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446ADB-A18B-6B30-2E67-3934BC76D8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65F3AE-F7AB-498A-D34D-9713C0C1CB1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baseline="0">
                <a:solidFill>
                  <a:srgbClr val="163E64"/>
                </a:solidFill>
                <a:latin typeface="Georgia"/>
              </a:rPr>
              <a:t>Ready-to-use individual disability insurance (IDI) tools to help you target and grow your business.</a:t>
            </a:r>
            <a:endParaRPr lang="en-US" sz="1600">
              <a:latin typeface="+mn-lt"/>
            </a:endParaRPr>
          </a:p>
          <a:p>
            <a:endParaRPr lang="en-US">
              <a:hlinkClick r:id="rId3"/>
            </a:endParaRPr>
          </a:p>
          <a:p>
            <a:r>
              <a:rPr lang="en-US">
                <a:hlinkClick r:id="rId3"/>
              </a:rPr>
              <a:t>https://assets.newyorklife.com/is/content/nylAssetsProd/individual-disability-insurance-digital-agent-playbook?uuid=dac6f6f5-4c94-4699-a6dd-e5b9556604c1</a:t>
            </a:r>
            <a:endParaRPr lang="en-US"/>
          </a:p>
          <a:p>
            <a:endParaRPr lang="en-US"/>
          </a:p>
        </p:txBody>
      </p:sp>
      <p:sp>
        <p:nvSpPr>
          <p:cNvPr id="4" name="Slide Number Placeholder 3">
            <a:extLst>
              <a:ext uri="{FF2B5EF4-FFF2-40B4-BE49-F238E27FC236}">
                <a16:creationId xmlns:a16="http://schemas.microsoft.com/office/drawing/2014/main" id="{68522568-A829-D48C-9978-CD912E4C3F29}"/>
              </a:ext>
            </a:extLst>
          </p:cNvPr>
          <p:cNvSpPr>
            <a:spLocks noGrp="1"/>
          </p:cNvSpPr>
          <p:nvPr>
            <p:ph type="sldNum" sz="quarter" idx="5"/>
          </p:nvPr>
        </p:nvSpPr>
        <p:spPr/>
        <p:txBody>
          <a:bodyPr/>
          <a:lstStyle/>
          <a:p>
            <a:fld id="{B8F2EEE2-46E2-47E5-8287-018A51779D44}" type="slidenum">
              <a:rPr lang="en-US" smtClean="0"/>
              <a:t>20</a:t>
            </a:fld>
            <a:endParaRPr lang="en-US"/>
          </a:p>
        </p:txBody>
      </p:sp>
    </p:spTree>
    <p:extLst>
      <p:ext uri="{BB962C8B-B14F-4D97-AF65-F5344CB8AC3E}">
        <p14:creationId xmlns:p14="http://schemas.microsoft.com/office/powerpoint/2010/main" val="23022862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a:t>Discover insights that can strengthen client conversations and support better planning outcomes for women. </a:t>
            </a:r>
            <a:endParaRPr lang="en-US">
              <a:solidFill>
                <a:srgbClr val="444444"/>
              </a:solidFill>
            </a:endParaRPr>
          </a:p>
          <a:p>
            <a:pPr>
              <a:defRPr/>
            </a:pPr>
            <a:r>
              <a:rPr lang="en-US"/>
              <a:t>Visit the Annuity Insight podcast page for episodes and additional information. </a:t>
            </a:r>
            <a:endParaRPr lang="en-US">
              <a:solidFill>
                <a:srgbClr val="444444"/>
              </a:solidFill>
            </a:endParaRPr>
          </a:p>
          <a:p>
            <a:pPr>
              <a:defRPr/>
            </a:pPr>
            <a:r>
              <a:rPr lang="en-US"/>
              <a:t>Season 1 and 2 currently available</a:t>
            </a:r>
            <a:br>
              <a:rPr lang="en-US"/>
            </a:br>
            <a:endParaRPr lang="en-US">
              <a:solidFill>
                <a:srgbClr val="444444"/>
              </a:solidFill>
            </a:endParaRPr>
          </a:p>
          <a:p>
            <a:pPr>
              <a:defRPr/>
            </a:pPr>
            <a:r>
              <a:rPr lang="en-US" err="1"/>
              <a:t>InfoCentral</a:t>
            </a:r>
            <a:r>
              <a:rPr lang="en-US"/>
              <a:t> Landing Page: </a:t>
            </a:r>
            <a:r>
              <a:rPr lang="en-US">
                <a:solidFill>
                  <a:srgbClr val="444444"/>
                </a:solidFill>
                <a:hlinkClick r:id="rId3"/>
              </a:rPr>
              <a:t>https://www.today.newyorklife.com/agencyportal/s/article/Agency-Podcast-Page</a:t>
            </a:r>
            <a:endParaRPr lang="en-US">
              <a:solidFill>
                <a:srgbClr val="444444"/>
              </a:solidFill>
            </a:endParaRPr>
          </a:p>
          <a:p>
            <a:pPr>
              <a:defRPr/>
            </a:pPr>
            <a:endParaRPr lang="en-US">
              <a:ea typeface="Calibri"/>
              <a:cs typeface="Calibri"/>
            </a:endParaRPr>
          </a:p>
          <a:p>
            <a:endParaRPr lang="en-US"/>
          </a:p>
        </p:txBody>
      </p:sp>
      <p:sp>
        <p:nvSpPr>
          <p:cNvPr id="4" name="Slide Number Placeholder 3"/>
          <p:cNvSpPr>
            <a:spLocks noGrp="1"/>
          </p:cNvSpPr>
          <p:nvPr>
            <p:ph type="sldNum" sz="quarter" idx="5"/>
          </p:nvPr>
        </p:nvSpPr>
        <p:spPr/>
        <p:txBody>
          <a:bodyPr/>
          <a:lstStyle/>
          <a:p>
            <a:fld id="{B8F2EEE2-46E2-47E5-8287-018A51779D44}" type="slidenum">
              <a:rPr lang="en-US" smtClean="0"/>
              <a:t>21</a:t>
            </a:fld>
            <a:endParaRPr lang="en-US"/>
          </a:p>
        </p:txBody>
      </p:sp>
    </p:spTree>
    <p:extLst>
      <p:ext uri="{BB962C8B-B14F-4D97-AF65-F5344CB8AC3E}">
        <p14:creationId xmlns:p14="http://schemas.microsoft.com/office/powerpoint/2010/main" val="8362397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1C798-0E53-C628-0E78-8CDE244C06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E10D6A-48D4-11B2-AD7D-70EC8823B3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1B919-60C6-9C77-36EF-BA342ADB6B9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DCA5066-8F79-27CF-EEDB-8C3F26185132}"/>
              </a:ext>
            </a:extLst>
          </p:cNvPr>
          <p:cNvSpPr>
            <a:spLocks noGrp="1"/>
          </p:cNvSpPr>
          <p:nvPr>
            <p:ph type="sldNum" sz="quarter" idx="5"/>
          </p:nvPr>
        </p:nvSpPr>
        <p:spPr/>
        <p:txBody>
          <a:bodyPr/>
          <a:lstStyle/>
          <a:p>
            <a:fld id="{B8F2EEE2-46E2-47E5-8287-018A51779D44}" type="slidenum">
              <a:rPr lang="en-US" smtClean="0"/>
              <a:t>22</a:t>
            </a:fld>
            <a:endParaRPr lang="en-US"/>
          </a:p>
        </p:txBody>
      </p:sp>
    </p:spTree>
    <p:extLst>
      <p:ext uri="{BB962C8B-B14F-4D97-AF65-F5344CB8AC3E}">
        <p14:creationId xmlns:p14="http://schemas.microsoft.com/office/powerpoint/2010/main" val="5598276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58280-4E73-F4E2-2014-1CB2B1422B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23CF89-9D1E-1560-9B82-C61F5643573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8C6B298-9468-2E12-77B0-8B4793064A78}"/>
              </a:ext>
            </a:extLst>
          </p:cNvPr>
          <p:cNvSpPr>
            <a:spLocks noGrp="1"/>
          </p:cNvSpPr>
          <p:nvPr>
            <p:ph type="body" idx="1"/>
          </p:nvPr>
        </p:nvSpPr>
        <p:spPr/>
        <p:txBody>
          <a:bodyPr/>
          <a:lstStyle/>
          <a:p>
            <a:r>
              <a:rPr lang="en-US" b="1">
                <a:latin typeface="Arial" panose="020B0604020202020204" pitchFamily="34" charset="0"/>
                <a:cs typeface="Arial" panose="020B0604020202020204" pitchFamily="34" charset="0"/>
              </a:rPr>
              <a:t>Chairman’s Circle returns for 2H 2026!</a:t>
            </a:r>
          </a:p>
          <a:p>
            <a:endParaRPr lang="en-US" b="1">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Chairman’s Circle </a:t>
            </a:r>
            <a:r>
              <a:rPr lang="en-US">
                <a:latin typeface="Arial" panose="020B0604020202020204" pitchFamily="34" charset="0"/>
                <a:cs typeface="Arial" panose="020B0604020202020204" pitchFamily="34" charset="0"/>
              </a:rPr>
              <a:t>returns for the second half of 2026, offering eligible Chairman’s Council agents an invitation-only experience to the </a:t>
            </a:r>
            <a:r>
              <a:rPr lang="en-US" b="1">
                <a:latin typeface="Arial" panose="020B0604020202020204" pitchFamily="34" charset="0"/>
                <a:cs typeface="Arial" panose="020B0604020202020204" pitchFamily="34" charset="0"/>
              </a:rPr>
              <a:t>Kentucky Derby® </a:t>
            </a:r>
            <a:r>
              <a:rPr lang="en-US">
                <a:latin typeface="Arial" panose="020B0604020202020204" pitchFamily="34" charset="0"/>
                <a:cs typeface="Arial" panose="020B0604020202020204" pitchFamily="34" charset="0"/>
              </a:rPr>
              <a:t>. Managers should help agents understand the qualification requirements, track progress throughout the July 1–December 31 incentive time period and reinforce the September 30 opt-in deadline. Full program details are available on Info Central.</a:t>
            </a:r>
          </a:p>
          <a:p>
            <a:endParaRPr lang="en-US" baseline="30000">
              <a:latin typeface="Arial" panose="020B0604020202020204" pitchFamily="34" charset="0"/>
              <a:cs typeface="Arial" panose="020B0604020202020204" pitchFamily="34" charset="0"/>
            </a:endParaRPr>
          </a:p>
          <a:p>
            <a:r>
              <a:rPr lang="en-US" baseline="30000">
                <a:latin typeface="Arial" panose="020B0604020202020204" pitchFamily="34" charset="0"/>
                <a:cs typeface="Arial" panose="020B0604020202020204" pitchFamily="34" charset="0"/>
              </a:rPr>
              <a:t>1</a:t>
            </a:r>
            <a:r>
              <a:rPr lang="en-US">
                <a:latin typeface="Arial" panose="020B0604020202020204" pitchFamily="34" charset="0"/>
                <a:cs typeface="Arial" panose="020B0604020202020204" pitchFamily="34" charset="0"/>
              </a:rPr>
              <a:t> Includes Life, LTCi, and DI. Recurring base premium and riders are calculated at 100%; OPP and single premium policies are calculated at 10%. Excludes LTCi in Delaware state.</a:t>
            </a:r>
          </a:p>
          <a:p>
            <a:endParaRPr lang="en-US">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ea typeface="Calibri"/>
                <a:cs typeface="Arial" panose="020B0604020202020204" pitchFamily="34" charset="0"/>
              </a:rPr>
              <a:t>Contact:</a:t>
            </a:r>
            <a:r>
              <a:rPr lang="en-US">
                <a:latin typeface="Arial" panose="020B0604020202020204" pitchFamily="34" charset="0"/>
                <a:ea typeface="Calibri"/>
                <a:cs typeface="Arial" panose="020B0604020202020204" pitchFamily="34" charset="0"/>
              </a:rPr>
              <a:t> PLAN@newyorklife.com</a:t>
            </a:r>
            <a:endParaRPr lang="en-US">
              <a:latin typeface="Arial" panose="020B0604020202020204" pitchFamily="34" charset="0"/>
              <a:cs typeface="Arial" panose="020B0604020202020204" pitchFamily="34" charset="0"/>
            </a:endParaRPr>
          </a:p>
          <a:p>
            <a:endParaRPr lang="en-US"/>
          </a:p>
          <a:p>
            <a:r>
              <a:rPr lang="en-US" b="1"/>
              <a:t>Info Central Agent Chairman’s Circle Page: </a:t>
            </a:r>
            <a:r>
              <a:rPr lang="en-US"/>
              <a:t>https://www.today.newyorklife.com/agencyportal/s/article/Chairman-s-Circle-2H-2026</a:t>
            </a:r>
          </a:p>
          <a:p>
            <a:endParaRPr lang="en-US">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78EFF86-5CC9-1381-1B89-A8269B4D0CB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61211B-354B-4A5F-BC13-DB9175AC324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184297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D6389-2F99-1AB7-3FBF-3DE6278E09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912D14-A978-F077-50AC-9D8C938C847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5A788E1-13DC-6AD6-1552-E1E39CFA7B52}"/>
              </a:ext>
            </a:extLst>
          </p:cNvPr>
          <p:cNvSpPr>
            <a:spLocks noGrp="1"/>
          </p:cNvSpPr>
          <p:nvPr>
            <p:ph type="body" idx="1"/>
          </p:nvPr>
        </p:nvSpPr>
        <p:spPr/>
        <p:txBody>
          <a:bodyPr/>
          <a:lstStyle/>
          <a:p>
            <a:r>
              <a:rPr lang="en-US"/>
              <a:t>Agents attend internal webinars to hear from outside professionals how advanced planning topics are applied to common situations in the affluent and high net worth market.  </a:t>
            </a:r>
          </a:p>
          <a:p>
            <a:r>
              <a:rPr lang="en-US"/>
              <a:t>Using that knowledge, they then host the Symposium to build network and increase referrals.  </a:t>
            </a:r>
          </a:p>
          <a:p>
            <a:pPr fontAlgn="base"/>
            <a:endParaRPr lang="en-US" b="0" u="none">
              <a:solidFill>
                <a:srgbClr val="FF0000"/>
              </a:solidFill>
              <a:latin typeface="Effra Pro" panose="020B0603020203020204" pitchFamily="34" charset="0"/>
              <a:ea typeface="Calibri" panose="020F0502020204030204" pitchFamily="34" charset="0"/>
              <a:cs typeface="Times New Roman" panose="02020603050405020304" pitchFamily="18" charset="0"/>
            </a:endParaRPr>
          </a:p>
          <a:p>
            <a:pPr fontAlgn="base"/>
            <a:r>
              <a:rPr lang="en-US" b="0" u="none">
                <a:solidFill>
                  <a:srgbClr val="FF0000"/>
                </a:solidFill>
                <a:latin typeface="Effra Pro" panose="020B0603020203020204" pitchFamily="34" charset="0"/>
                <a:ea typeface="Calibri" panose="020F0502020204030204" pitchFamily="34" charset="0"/>
                <a:cs typeface="Times New Roman" panose="02020603050405020304" pitchFamily="18" charset="0"/>
              </a:rPr>
              <a:t>Register for Agent Development webinars at – Share these links to register </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200" b="0" u="none">
              <a:solidFill>
                <a:srgbClr val="FF0000"/>
              </a:solidFill>
              <a:latin typeface="Effra Pro" panose="020B0603020203020204" pitchFamily="34"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b="0" u="none">
                <a:solidFill>
                  <a:srgbClr val="FF0000"/>
                </a:solidFill>
                <a:latin typeface="Effra Pro" panose="020B0603020203020204" pitchFamily="34" charset="0"/>
              </a:rPr>
              <a:t>https://nylife.zoom.us/webinar/register/WN_zdM0HxoJR1iQv541yJp7HA#/registration – August 5</a:t>
            </a:r>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b="0" u="none">
                <a:solidFill>
                  <a:srgbClr val="FF0000"/>
                </a:solidFill>
                <a:latin typeface="Effra Pro" panose="020B0603020203020204" pitchFamily="34" charset="0"/>
              </a:rPr>
              <a:t>https://nylife.zoom.us/webinar/register/WN_8DM6JbJeQ1S9OKfxjv4sHg#/registration – Sept 2</a:t>
            </a:r>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u="sng" kern="1200">
                <a:solidFill>
                  <a:schemeClr val="tx1"/>
                </a:solidFill>
                <a:effectLst/>
                <a:latin typeface="+mn-lt"/>
                <a:ea typeface="+mn-ea"/>
                <a:cs typeface="+mn-cs"/>
                <a:hlinkClick r:id="rId3"/>
              </a:rPr>
              <a:t>https://nylife.zoom.us/webinar/register/WN_wKUcuQL0T62fBk_KRySxzA#/registration</a:t>
            </a:r>
            <a:r>
              <a:rPr lang="en-US" sz="1200" u="sng" kern="1200">
                <a:solidFill>
                  <a:schemeClr val="tx1"/>
                </a:solidFill>
                <a:effectLst/>
                <a:latin typeface="+mn-lt"/>
                <a:ea typeface="+mn-ea"/>
                <a:cs typeface="+mn-cs"/>
              </a:rPr>
              <a:t> – Oct 14</a:t>
            </a:r>
            <a:endParaRPr lang="en-US" sz="1200" b="0" u="none">
              <a:solidFill>
                <a:srgbClr val="FF0000"/>
              </a:solidFill>
              <a:latin typeface="Effra Pro" panose="020B0603020203020204" pitchFamily="34" charset="0"/>
            </a:endParaRP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200" b="0" u="none">
              <a:solidFill>
                <a:srgbClr val="FF0000"/>
              </a:solidFill>
              <a:latin typeface="Effra Pro" panose="020B0603020203020204" pitchFamily="34"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b="0" u="none">
                <a:solidFill>
                  <a:srgbClr val="FF0000"/>
                </a:solidFill>
                <a:latin typeface="Effra Pro" panose="020B0603020203020204" pitchFamily="34" charset="0"/>
                <a:ea typeface="Calibri" panose="020F0502020204030204" pitchFamily="34" charset="0"/>
                <a:cs typeface="Times New Roman" panose="02020603050405020304" pitchFamily="18" charset="0"/>
              </a:rPr>
              <a:t>Contact Darla Bean at </a:t>
            </a:r>
            <a:r>
              <a:rPr lang="en-US" sz="1200" b="0" u="none">
                <a:solidFill>
                  <a:srgbClr val="FF0000"/>
                </a:solidFill>
                <a:latin typeface="Effra Pro" panose="020B0603020203020204" pitchFamily="34" charset="0"/>
                <a:hlinkClick r:id="rId4">
                  <a:extLst>
                    <a:ext uri="{A12FA001-AC4F-418D-AE19-62706E023703}">
                      <ahyp:hlinkClr xmlns:ahyp="http://schemas.microsoft.com/office/drawing/2018/hyperlinkcolor" val="tx"/>
                    </a:ext>
                  </a:extLst>
                </a:hlinkClick>
              </a:rPr>
              <a:t>Darla_bean@newyorklife.com</a:t>
            </a:r>
            <a:r>
              <a:rPr lang="en-US" sz="1200" b="0" u="none">
                <a:solidFill>
                  <a:srgbClr val="FF0000"/>
                </a:solidFill>
                <a:latin typeface="Effra Pro" panose="020B0603020203020204" pitchFamily="34" charset="0"/>
              </a:rPr>
              <a:t> for more information </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200" b="0" u="none">
              <a:solidFill>
                <a:srgbClr val="FF0000"/>
              </a:solidFill>
              <a:latin typeface="Effra Pro" panose="020B0603020203020204" pitchFamily="34" charset="0"/>
            </a:endParaRPr>
          </a:p>
          <a:p>
            <a:pPr fontAlgn="base"/>
            <a:endParaRPr lang="en-US"/>
          </a:p>
          <a:p>
            <a:pPr fontAlgn="base"/>
            <a:endParaRPr lang="en-US"/>
          </a:p>
        </p:txBody>
      </p:sp>
      <p:sp>
        <p:nvSpPr>
          <p:cNvPr id="4" name="Slide Number Placeholder 3">
            <a:extLst>
              <a:ext uri="{FF2B5EF4-FFF2-40B4-BE49-F238E27FC236}">
                <a16:creationId xmlns:a16="http://schemas.microsoft.com/office/drawing/2014/main" id="{4E6B0612-0E26-4B16-54D9-710DA96B076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250856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D7D7C-BF81-DB50-E9C4-B0406C6870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B6126E-489D-911B-F65F-93E2D4373FE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E512836-5054-031E-33DE-D3BF997A406C}"/>
              </a:ext>
            </a:extLst>
          </p:cNvPr>
          <p:cNvSpPr>
            <a:spLocks noGrp="1"/>
          </p:cNvSpPr>
          <p:nvPr>
            <p:ph type="body" idx="1"/>
          </p:nvPr>
        </p:nvSpPr>
        <p:spPr/>
        <p:txBody>
          <a:bodyPr/>
          <a:lstStyle/>
          <a:p>
            <a:pPr fontAlgn="base"/>
            <a:r>
              <a:rPr lang="en-US" b="0" u="none">
                <a:solidFill>
                  <a:srgbClr val="FF0000"/>
                </a:solidFill>
                <a:latin typeface="Effra Pro" panose="020B0603020203020204" pitchFamily="34" charset="0"/>
                <a:ea typeface="Calibri" panose="020F0502020204030204" pitchFamily="34" charset="0"/>
                <a:cs typeface="Times New Roman" panose="02020603050405020304" pitchFamily="18" charset="0"/>
              </a:rPr>
              <a:t>Register your venue at – </a:t>
            </a:r>
            <a:r>
              <a:rPr lang="en-US"/>
              <a:t>https://nyladvisors.com/2026asvenue/ </a:t>
            </a:r>
          </a:p>
          <a:p>
            <a:pPr fontAlgn="base"/>
            <a:endParaRPr lang="en-US"/>
          </a:p>
          <a:p>
            <a:pPr fontAlgn="base"/>
            <a:r>
              <a:rPr lang="en-US"/>
              <a:t>CE credits are offered for attorneys, accountants, and all financial professionals holding designations from The American College.  </a:t>
            </a:r>
          </a:p>
          <a:p>
            <a:pPr fontAlgn="base"/>
            <a:r>
              <a:rPr lang="en-US" b="0"/>
              <a:t>(The purpose of this program is to build referral networks through hosting an educational event for COIs; as such, no </a:t>
            </a:r>
            <a:r>
              <a:rPr lang="en-US" b="0" i="1"/>
              <a:t>insurance</a:t>
            </a:r>
            <a:r>
              <a:rPr lang="en-US" b="0"/>
              <a:t> CE is offered.)   </a:t>
            </a:r>
          </a:p>
          <a:p>
            <a:pPr fontAlgn="base"/>
            <a:endParaRPr lang="en-US" b="1"/>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b="0" u="none">
                <a:solidFill>
                  <a:srgbClr val="FF0000"/>
                </a:solidFill>
                <a:latin typeface="Effra Pro" panose="020B0603020203020204" pitchFamily="34" charset="0"/>
                <a:ea typeface="Calibri" panose="020F0502020204030204" pitchFamily="34" charset="0"/>
                <a:cs typeface="Times New Roman" panose="02020603050405020304" pitchFamily="18" charset="0"/>
              </a:rPr>
              <a:t>Contact Darla Bean at </a:t>
            </a:r>
            <a:r>
              <a:rPr lang="en-US" sz="1200" b="0" u="none">
                <a:solidFill>
                  <a:srgbClr val="FF0000"/>
                </a:solidFill>
                <a:latin typeface="Effra Pro" panose="020B0603020203020204" pitchFamily="34" charset="0"/>
                <a:hlinkClick r:id="rId3">
                  <a:extLst>
                    <a:ext uri="{A12FA001-AC4F-418D-AE19-62706E023703}">
                      <ahyp:hlinkClr xmlns:ahyp="http://schemas.microsoft.com/office/drawing/2018/hyperlinkcolor" val="tx"/>
                    </a:ext>
                  </a:extLst>
                </a:hlinkClick>
              </a:rPr>
              <a:t>Darla_bean@newyorklife.com</a:t>
            </a:r>
            <a:r>
              <a:rPr lang="en-US" sz="1200" b="0" u="none">
                <a:solidFill>
                  <a:srgbClr val="FF0000"/>
                </a:solidFill>
                <a:latin typeface="Effra Pro" panose="020B0603020203020204" pitchFamily="34" charset="0"/>
              </a:rPr>
              <a:t> for more information</a:t>
            </a:r>
          </a:p>
          <a:p>
            <a:pPr fontAlgn="base"/>
            <a:endParaRPr lang="en-US" b="1"/>
          </a:p>
          <a:p>
            <a:pPr fontAlgn="base"/>
            <a:endParaRPr lang="en-US"/>
          </a:p>
          <a:p>
            <a:pPr fontAlgn="base"/>
            <a:endParaRPr lang="en-US"/>
          </a:p>
        </p:txBody>
      </p:sp>
      <p:sp>
        <p:nvSpPr>
          <p:cNvPr id="4" name="Slide Number Placeholder 3">
            <a:extLst>
              <a:ext uri="{FF2B5EF4-FFF2-40B4-BE49-F238E27FC236}">
                <a16:creationId xmlns:a16="http://schemas.microsoft.com/office/drawing/2014/main" id="{BB4C2149-8F63-A514-26E1-C1E6F881894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68203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effectLst/>
              </a:rPr>
              <a:t>The Calendar Program has been a staple at New York Life for many years.  It is a great way to let your clients know you care, and it keeps your brand in front of them throughout the year.</a:t>
            </a:r>
          </a:p>
          <a:p>
            <a:endParaRPr lang="en-US" sz="1200">
              <a:effectLst/>
            </a:endParaRPr>
          </a:p>
          <a:p>
            <a:r>
              <a:rPr lang="en-US" sz="1200">
                <a:effectLst/>
              </a:rPr>
              <a:t>Easy to order on MOD as your clients are loaded in MOD and updated weekly.  You can mail the calendars directly to your clients or have them personalized and shipped to you with envelopes so you can mail on your own, or hand out personally.</a:t>
            </a:r>
          </a:p>
          <a:p>
            <a:endParaRPr lang="en-US"/>
          </a:p>
        </p:txBody>
      </p:sp>
      <p:sp>
        <p:nvSpPr>
          <p:cNvPr id="4" name="Slide Number Placeholder 3"/>
          <p:cNvSpPr>
            <a:spLocks noGrp="1"/>
          </p:cNvSpPr>
          <p:nvPr>
            <p:ph type="sldNum" sz="quarter" idx="5"/>
          </p:nvPr>
        </p:nvSpPr>
        <p:spPr/>
        <p:txBody>
          <a:bodyPr/>
          <a:lstStyle/>
          <a:p>
            <a:fld id="{B8F2EEE2-46E2-47E5-8287-018A51779D44}" type="slidenum">
              <a:rPr lang="en-US" smtClean="0"/>
              <a:t>26</a:t>
            </a:fld>
            <a:endParaRPr lang="en-US"/>
          </a:p>
        </p:txBody>
      </p:sp>
    </p:spTree>
    <p:extLst>
      <p:ext uri="{BB962C8B-B14F-4D97-AF65-F5344CB8AC3E}">
        <p14:creationId xmlns:p14="http://schemas.microsoft.com/office/powerpoint/2010/main" val="35109922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latin typeface="Arial"/>
              </a:rPr>
              <a:t>Contact: Melli Hase and Sean Gilrein | designations@newyorklife.com </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a:br>
            <a:r>
              <a:rPr lang="en-US"/>
              <a:t>This slide serves as a reminder that study cohorts are available for Agents and Managers currently pursuing, or interested in pursuing, the WMCP® designation. The next cohorts will kick off on Tuesday, September 1, followed by 12 weekly sessions as outlined above. </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a:br>
            <a:r>
              <a:rPr lang="en-US" b="1"/>
              <a:t>QR Code link: </a:t>
            </a:r>
            <a:r>
              <a:rPr lang="en-US" sz="1200" b="0" i="0" kern="1200">
                <a:solidFill>
                  <a:schemeClr val="tx1"/>
                </a:solidFill>
                <a:effectLst/>
                <a:latin typeface="+mn-lt"/>
                <a:ea typeface="+mn-ea"/>
                <a:cs typeface="+mn-cs"/>
              </a:rPr>
              <a:t>https://research.newyorklife.com/jfe/form/SV_5BJF32zw0jifZqu</a:t>
            </a:r>
            <a:endParaRPr lang="en-US"/>
          </a:p>
        </p:txBody>
      </p:sp>
      <p:sp>
        <p:nvSpPr>
          <p:cNvPr id="4" name="Slide Number Placeholder 3"/>
          <p:cNvSpPr>
            <a:spLocks noGrp="1"/>
          </p:cNvSpPr>
          <p:nvPr>
            <p:ph type="sldNum" sz="quarter" idx="5"/>
          </p:nvPr>
        </p:nvSpPr>
        <p:spPr/>
        <p:txBody>
          <a:bodyPr/>
          <a:lstStyle/>
          <a:p>
            <a:fld id="{B8F2EEE2-46E2-47E5-8287-018A51779D44}" type="slidenum">
              <a:rPr lang="en-US" smtClean="0"/>
              <a:t>27</a:t>
            </a:fld>
            <a:endParaRPr lang="en-US"/>
          </a:p>
        </p:txBody>
      </p:sp>
    </p:spTree>
    <p:extLst>
      <p:ext uri="{BB962C8B-B14F-4D97-AF65-F5344CB8AC3E}">
        <p14:creationId xmlns:p14="http://schemas.microsoft.com/office/powerpoint/2010/main" val="1371017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kern="1200" baseline="30000" dirty="0">
                <a:effectLst/>
                <a:latin typeface="Arial"/>
                <a:cs typeface="Arial"/>
              </a:rPr>
              <a:t>1</a:t>
            </a:r>
            <a:r>
              <a:rPr lang="en-US" sz="1200" kern="1200" dirty="0">
                <a:effectLst/>
                <a:latin typeface="Arial"/>
                <a:cs typeface="Arial"/>
              </a:rPr>
              <a:t> Executive Council Rocky Mountain Crocs Giveaway: Includes Life (EWL 3:1) </a:t>
            </a:r>
            <a:r>
              <a:rPr lang="en-US" sz="1200" kern="1200" dirty="0" err="1">
                <a:effectLst/>
                <a:latin typeface="Arial"/>
                <a:cs typeface="Arial"/>
              </a:rPr>
              <a:t>LTCi</a:t>
            </a:r>
            <a:r>
              <a:rPr lang="en-US" sz="1200" kern="1200" dirty="0">
                <a:effectLst/>
                <a:latin typeface="Arial"/>
                <a:cs typeface="Arial"/>
              </a:rPr>
              <a:t>, and DI. Excludes VUL/Market Wealth Plus, Annuity and COLI/BOLI products, DIOP and Group Insurance cases. </a:t>
            </a:r>
            <a:r>
              <a:rPr lang="en-US" sz="1200" kern="1200" dirty="0" err="1">
                <a:effectLst/>
                <a:latin typeface="Arial"/>
                <a:cs typeface="Arial"/>
              </a:rPr>
              <a:t>LTCi</a:t>
            </a:r>
            <a:r>
              <a:rPr lang="en-US" sz="1200" kern="1200" dirty="0">
                <a:effectLst/>
                <a:latin typeface="Arial"/>
                <a:cs typeface="Arial"/>
              </a:rPr>
              <a:t> excluded in Delaware State.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baseline="30000">
                <a:effectLst/>
                <a:latin typeface="Arial"/>
                <a:cs typeface="Arial"/>
              </a:rPr>
              <a:t>2</a:t>
            </a:r>
            <a:r>
              <a:rPr lang="en-US" sz="1200" kern="1200">
                <a:effectLst/>
                <a:latin typeface="Arial"/>
                <a:cs typeface="Arial"/>
              </a:rPr>
              <a:t> President’s Council Beachfront Boutique Experience: $300 retail credit</a:t>
            </a:r>
            <a:endParaRPr lang="en-US" sz="1200" kern="1200" dirty="0">
              <a:effectLst/>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baseline="30000" dirty="0">
                <a:effectLst/>
                <a:latin typeface="Arial"/>
                <a:cs typeface="Arial"/>
              </a:rPr>
              <a:t>3</a:t>
            </a:r>
            <a:r>
              <a:rPr lang="en-US" sz="1200" kern="1200" dirty="0">
                <a:effectLst/>
                <a:latin typeface="Arial"/>
                <a:cs typeface="Arial"/>
              </a:rPr>
              <a:t> President’s Council Beachfront Boutique Experience: Includes Life, </a:t>
            </a:r>
            <a:r>
              <a:rPr lang="en-US" sz="1200" kern="1200" dirty="0" err="1">
                <a:effectLst/>
                <a:latin typeface="Arial"/>
                <a:cs typeface="Arial"/>
              </a:rPr>
              <a:t>LTCi</a:t>
            </a:r>
            <a:r>
              <a:rPr lang="en-US" sz="1200" kern="1200" dirty="0">
                <a:effectLst/>
                <a:latin typeface="Arial"/>
                <a:cs typeface="Arial"/>
              </a:rPr>
              <a:t>, and DI. Recurring base premium and riders are calculated at 100%; OPP and single premium policies are calculated at 10%.Excludes premium from Annuity and COLI/BOLI products, DIOP and Group Insurance cases and LTC in DE state.</a:t>
            </a:r>
          </a:p>
          <a:p>
            <a:r>
              <a:rPr lang="en-US" b="1">
                <a:latin typeface="Arial"/>
                <a:cs typeface="Arial"/>
              </a:rPr>
              <a:t>=============================================================</a:t>
            </a:r>
            <a:endParaRPr lang="en-US" b="1" dirty="0">
              <a:latin typeface="Arial"/>
              <a:cs typeface="Arial"/>
            </a:endParaRPr>
          </a:p>
          <a:p>
            <a:endParaRPr lang="en-US" b="1" dirty="0">
              <a:latin typeface="Arial" panose="020B0604020202020204" pitchFamily="34" charset="0"/>
              <a:cs typeface="Arial" panose="020B0604020202020204" pitchFamily="34" charset="0"/>
            </a:endParaRPr>
          </a:p>
          <a:p>
            <a:endParaRPr lang="en-US" b="1" dirty="0">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Exclusive Council Perks for EC and PC agents</a:t>
            </a:r>
          </a:p>
          <a:p>
            <a:endParaRPr lang="en-US" b="1">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Executive Council Rocky Mountain Crocs™ Giveaway Experience – Open to 2026 Executive Council qualifiers.</a:t>
            </a:r>
          </a:p>
          <a:p>
            <a:endParaRPr lang="en-US">
              <a:latin typeface="Arial" panose="020B0604020202020204" pitchFamily="34" charset="0"/>
              <a:cs typeface="Arial" panose="020B0604020202020204" pitchFamily="34" charset="0"/>
            </a:endParaRPr>
          </a:p>
          <a:p>
            <a:r>
              <a:rPr lang="en-US" sz="1200" kern="1200">
                <a:solidFill>
                  <a:schemeClr val="tx1"/>
                </a:solidFill>
                <a:effectLst/>
                <a:latin typeface="Arial" panose="020B0604020202020204" pitchFamily="34" charset="0"/>
                <a:ea typeface="+mn-ea"/>
                <a:cs typeface="Arial" panose="020B0604020202020204" pitchFamily="34" charset="0"/>
              </a:rPr>
              <a:t>Compete with your Executive Council peers from July 1 through August 14. </a:t>
            </a:r>
          </a:p>
          <a:p>
            <a:endParaRPr lang="en-US" sz="1200" kern="1200">
              <a:solidFill>
                <a:schemeClr val="tx1"/>
              </a:solidFill>
              <a:effectLst/>
              <a:latin typeface="Arial" panose="020B0604020202020204" pitchFamily="34" charset="0"/>
              <a:ea typeface="+mn-ea"/>
              <a:cs typeface="Arial" panose="020B0604020202020204" pitchFamily="34" charset="0"/>
            </a:endParaRPr>
          </a:p>
          <a:p>
            <a:pPr marL="171450" indent="-171450">
              <a:buFont typeface="Arial" panose="020B0604020202020204" pitchFamily="34" charset="0"/>
              <a:buChar char="•"/>
            </a:pPr>
            <a:r>
              <a:rPr lang="en-US" sz="1200" kern="1200">
                <a:solidFill>
                  <a:schemeClr val="tx1"/>
                </a:solidFill>
                <a:effectLst/>
                <a:latin typeface="Arial" panose="020B0604020202020204" pitchFamily="34" charset="0"/>
                <a:ea typeface="+mn-ea"/>
                <a:cs typeface="Arial" panose="020B0604020202020204" pitchFamily="34" charset="0"/>
              </a:rPr>
              <a:t>Agents who finish in the </a:t>
            </a:r>
            <a:r>
              <a:rPr lang="en-US" sz="1200" b="1" kern="1200">
                <a:solidFill>
                  <a:schemeClr val="tx1"/>
                </a:solidFill>
                <a:effectLst/>
                <a:latin typeface="Arial" panose="020B0604020202020204" pitchFamily="34" charset="0"/>
                <a:ea typeface="+mn-ea"/>
                <a:cs typeface="Arial" panose="020B0604020202020204" pitchFamily="34" charset="0"/>
              </a:rPr>
              <a:t>top 200</a:t>
            </a:r>
            <a:r>
              <a:rPr lang="en-US" sz="1200" kern="1200">
                <a:solidFill>
                  <a:schemeClr val="tx1"/>
                </a:solidFill>
                <a:effectLst/>
                <a:latin typeface="Arial" panose="020B0604020202020204" pitchFamily="34" charset="0"/>
                <a:ea typeface="+mn-ea"/>
                <a:cs typeface="Arial" panose="020B0604020202020204" pitchFamily="34" charset="0"/>
              </a:rPr>
              <a:t> on the paid insurance solution cases leaderboard will qualify for an exclusive invitation for themselves and their registered guests to the Rocky Mountain Crocs Giveaway Experience at the Executive Council Meeting on Tuesday, August 25 in Denver, Colorado</a:t>
            </a:r>
          </a:p>
          <a:p>
            <a:pPr marL="171450" indent="-171450">
              <a:buFont typeface="Arial" panose="020B0604020202020204" pitchFamily="34" charset="0"/>
              <a:buChar char="•"/>
            </a:pPr>
            <a:r>
              <a:rPr lang="en-US" sz="1200" kern="1200" dirty="0">
                <a:solidFill>
                  <a:schemeClr val="tx1"/>
                </a:solidFill>
                <a:effectLst/>
                <a:latin typeface="Arial"/>
                <a:cs typeface="Arial"/>
              </a:rPr>
              <a:t>Incentive-eligible solutions Include: Life (EWL 3:1) </a:t>
            </a:r>
            <a:r>
              <a:rPr lang="en-US" sz="1200" kern="1200" dirty="0" err="1">
                <a:solidFill>
                  <a:schemeClr val="tx1"/>
                </a:solidFill>
                <a:effectLst/>
                <a:latin typeface="Arial"/>
                <a:cs typeface="Arial"/>
              </a:rPr>
              <a:t>LTCi</a:t>
            </a:r>
            <a:r>
              <a:rPr lang="en-US" sz="1200" kern="1200" dirty="0">
                <a:solidFill>
                  <a:schemeClr val="tx1"/>
                </a:solidFill>
                <a:effectLst/>
                <a:latin typeface="Arial"/>
                <a:cs typeface="Arial"/>
              </a:rPr>
              <a:t>, and DI cases paid between July 1 and August 14.</a:t>
            </a:r>
          </a:p>
          <a:p>
            <a:pPr marL="628650" lvl="1" indent="-171450">
              <a:buFont typeface="Arial" panose="020B0604020202020204" pitchFamily="34" charset="0"/>
              <a:buChar char="•"/>
            </a:pPr>
            <a:r>
              <a:rPr lang="en-US" sz="1200" kern="1200" dirty="0">
                <a:solidFill>
                  <a:schemeClr val="tx1"/>
                </a:solidFill>
                <a:effectLst/>
                <a:latin typeface="Arial"/>
                <a:cs typeface="Arial"/>
              </a:rPr>
              <a:t>Excludes: annuities, VUL/Market Wealth Plus and DIOP. </a:t>
            </a:r>
            <a:r>
              <a:rPr lang="en-US" sz="1200" kern="1200" dirty="0" err="1">
                <a:solidFill>
                  <a:schemeClr val="tx1"/>
                </a:solidFill>
                <a:effectLst/>
                <a:latin typeface="Arial"/>
                <a:cs typeface="Arial"/>
              </a:rPr>
              <a:t>LTCi</a:t>
            </a:r>
            <a:r>
              <a:rPr lang="en-US" sz="1200" kern="1200" dirty="0">
                <a:solidFill>
                  <a:schemeClr val="tx1"/>
                </a:solidFill>
                <a:effectLst/>
                <a:latin typeface="Arial"/>
                <a:cs typeface="Arial"/>
              </a:rPr>
              <a:t> excluded in Delaware State.</a:t>
            </a:r>
          </a:p>
          <a:p>
            <a:endParaRPr lang="en-US" sz="1200" kern="1200">
              <a:solidFill>
                <a:schemeClr val="tx1"/>
              </a:solidFill>
              <a:effectLst/>
              <a:latin typeface="Arial" panose="020B0604020202020204" pitchFamily="34" charset="0"/>
              <a:ea typeface="+mn-ea"/>
              <a:cs typeface="Arial" panose="020B0604020202020204" pitchFamily="34" charset="0"/>
            </a:endParaRPr>
          </a:p>
          <a:p>
            <a:r>
              <a:rPr lang="en-US" sz="1200" kern="1200" dirty="0">
                <a:solidFill>
                  <a:schemeClr val="tx1"/>
                </a:solidFill>
                <a:effectLst/>
                <a:latin typeface="Arial"/>
                <a:cs typeface="Arial"/>
              </a:rPr>
              <a:t>The experience encompasses your choice of one complimentary Crocs bag, either a tote or backpack, a custom New York Life </a:t>
            </a:r>
            <a:r>
              <a:rPr lang="en-US" sz="1200" kern="1200" dirty="0" err="1">
                <a:solidFill>
                  <a:schemeClr val="tx1"/>
                </a:solidFill>
                <a:effectLst/>
                <a:latin typeface="Arial"/>
                <a:cs typeface="Arial"/>
              </a:rPr>
              <a:t>Jibbitz</a:t>
            </a:r>
            <a:r>
              <a:rPr lang="en-US" sz="1200" kern="1200" dirty="0">
                <a:solidFill>
                  <a:schemeClr val="tx1"/>
                </a:solidFill>
                <a:effectLst/>
                <a:latin typeface="Arial"/>
                <a:cs typeface="Arial"/>
              </a:rPr>
              <a:t> charm, and two additional charms selected from the </a:t>
            </a:r>
            <a:r>
              <a:rPr lang="en-US" sz="1200" kern="1200" dirty="0" err="1">
                <a:solidFill>
                  <a:schemeClr val="tx1"/>
                </a:solidFill>
                <a:effectLst/>
                <a:latin typeface="Arial"/>
                <a:cs typeface="Arial"/>
              </a:rPr>
              <a:t>Jibbitz</a:t>
            </a:r>
            <a:r>
              <a:rPr lang="en-US" sz="1200" kern="1200" dirty="0">
                <a:solidFill>
                  <a:schemeClr val="tx1"/>
                </a:solidFill>
                <a:effectLst/>
                <a:latin typeface="Arial"/>
                <a:cs typeface="Arial"/>
              </a:rPr>
              <a:t> Bar. Registered guest are invited to participate in the experience.</a:t>
            </a:r>
          </a:p>
          <a:p>
            <a:endParaRPr lang="en-US" sz="1200" kern="1200">
              <a:solidFill>
                <a:schemeClr val="tx1"/>
              </a:solidFill>
              <a:effectLst/>
              <a:latin typeface="Arial" panose="020B0604020202020204" pitchFamily="34" charset="0"/>
              <a:ea typeface="+mn-ea"/>
              <a:cs typeface="Arial" panose="020B0604020202020204" pitchFamily="34" charset="0"/>
            </a:endParaRPr>
          </a:p>
          <a:p>
            <a:r>
              <a:rPr lang="en-US" sz="1200" kern="1200">
                <a:solidFill>
                  <a:schemeClr val="tx1"/>
                </a:solidFill>
                <a:effectLst/>
                <a:latin typeface="Arial" panose="020B0604020202020204" pitchFamily="34" charset="0"/>
                <a:ea typeface="+mn-ea"/>
                <a:cs typeface="Arial" panose="020B0604020202020204" pitchFamily="34" charset="0"/>
              </a:rPr>
              <a:t>Qualifying agents must attend the Executive Council Meeting to patriciate.</a:t>
            </a:r>
          </a:p>
          <a:p>
            <a:endParaRPr lang="en-US" sz="120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effectLst/>
                <a:latin typeface="Arial" panose="020B0604020202020204" pitchFamily="34" charset="0"/>
                <a:ea typeface="+mn-ea"/>
                <a:cs typeface="Arial" panose="020B0604020202020204" pitchFamily="34" charset="0"/>
              </a:rPr>
              <a:t>President's Council Beachfront Boutique Experience – Open to 2026 President’s Council qualifiers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kern="120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Arial" panose="020B0604020202020204" pitchFamily="34" charset="0"/>
                <a:ea typeface="+mn-ea"/>
                <a:cs typeface="Arial" panose="020B0604020202020204" pitchFamily="34" charset="0"/>
              </a:rPr>
              <a:t>Compete with your President’s Council peers during the Third Quarter of 2026 (July 1 – September 30)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kern="1200">
              <a:solidFill>
                <a:schemeClr val="tx1"/>
              </a:solidFill>
              <a:effectLst/>
              <a:latin typeface="Arial" panose="020B0604020202020204" pitchFamily="34" charset="0"/>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a:solidFill>
                  <a:schemeClr val="tx1"/>
                </a:solidFill>
                <a:effectLst/>
                <a:latin typeface="Arial" panose="020B0604020202020204" pitchFamily="34" charset="0"/>
                <a:ea typeface="+mn-ea"/>
                <a:cs typeface="Arial" panose="020B0604020202020204" pitchFamily="34" charset="0"/>
              </a:rPr>
              <a:t>Agents who finish in the 100 on the 3Q paid insurance solution </a:t>
            </a:r>
            <a:r>
              <a:rPr lang="en-US" sz="1200" b="0">
                <a:solidFill>
                  <a:schemeClr val="bg1"/>
                </a:solidFill>
                <a:latin typeface="Arial" panose="020B0604020202020204" pitchFamily="34" charset="0"/>
                <a:cs typeface="Arial" panose="020B0604020202020204" pitchFamily="34" charset="0"/>
              </a:rPr>
              <a:t>premium leaderboard will qualify to receive a retail credit to spend at a private New York Life shopping event at the President’s Council meeting on October 6 &amp; 7.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solidFill>
                  <a:schemeClr val="bg1"/>
                </a:solidFill>
                <a:latin typeface="Arial" panose="020B0604020202020204" pitchFamily="34" charset="0"/>
                <a:cs typeface="Arial" panose="020B0604020202020204" pitchFamily="34" charset="0"/>
              </a:rPr>
              <a:t>The top 10 will also qualify for a premium chickee hut rental on October 7!</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Arial"/>
                <a:cs typeface="Arial"/>
              </a:rPr>
              <a:t>Includes Life, </a:t>
            </a:r>
            <a:r>
              <a:rPr lang="en-US" sz="1200" dirty="0" err="1">
                <a:latin typeface="Arial"/>
                <a:cs typeface="Arial"/>
              </a:rPr>
              <a:t>LTCi</a:t>
            </a:r>
            <a:r>
              <a:rPr lang="en-US" sz="1200" dirty="0">
                <a:latin typeface="Arial"/>
                <a:cs typeface="Arial"/>
              </a:rPr>
              <a:t>, and DI. Recurring base premium and riders are calculated at 100%; OPP and single premium policies are calculated at 10%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Arial" panose="020B0604020202020204" pitchFamily="34" charset="0"/>
                <a:cs typeface="Arial" panose="020B0604020202020204" pitchFamily="34" charset="0"/>
              </a:rPr>
              <a:t>Excludes premium from Annuity and COLI/BOLI products, DIOP and Group Insurance cases and LTC in DE state.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dirty="0">
                <a:solidFill>
                  <a:schemeClr val="tx1"/>
                </a:solidFill>
                <a:effectLst/>
                <a:latin typeface="Arial"/>
                <a:cs typeface="Arial"/>
              </a:rPr>
              <a:t>Agents must be </a:t>
            </a:r>
            <a:r>
              <a:rPr lang="en-US" sz="1200" b="0" kern="1200" dirty="0" err="1">
                <a:solidFill>
                  <a:schemeClr val="tx1"/>
                </a:solidFill>
                <a:effectLst/>
                <a:latin typeface="Arial"/>
                <a:cs typeface="Arial"/>
              </a:rPr>
              <a:t>prorata</a:t>
            </a:r>
            <a:r>
              <a:rPr lang="en-US" sz="1200" b="0" kern="1200" dirty="0">
                <a:solidFill>
                  <a:schemeClr val="tx1"/>
                </a:solidFill>
                <a:effectLst/>
                <a:latin typeface="Arial"/>
                <a:cs typeface="Arial"/>
              </a:rPr>
              <a:t> proactive by September 30.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Arial" panose="020B0604020202020204" pitchFamily="34" charset="0"/>
                <a:ea typeface="+mn-ea"/>
                <a:cs typeface="Arial" panose="020B0604020202020204" pitchFamily="34" charset="0"/>
              </a:rPr>
              <a:t>The experience encompasses an elevated retail shopping event with a $300 retail credit,  complete with refreshments and private access to the resort's premier ladies and gentlemen’s boutiques, </a:t>
            </a:r>
            <a:r>
              <a:rPr lang="en-US" sz="1200" b="1" kern="1200">
                <a:solidFill>
                  <a:schemeClr val="tx1"/>
                </a:solidFill>
                <a:effectLst/>
                <a:latin typeface="Arial" panose="020B0604020202020204" pitchFamily="34" charset="0"/>
                <a:ea typeface="+mn-ea"/>
                <a:cs typeface="Arial" panose="020B0604020202020204" pitchFamily="34" charset="0"/>
              </a:rPr>
              <a:t>Sweet Waters</a:t>
            </a:r>
            <a:r>
              <a:rPr lang="en-US" sz="1200" kern="1200">
                <a:solidFill>
                  <a:schemeClr val="tx1"/>
                </a:solidFill>
                <a:effectLst/>
                <a:latin typeface="Arial" panose="020B0604020202020204" pitchFamily="34" charset="0"/>
                <a:ea typeface="+mn-ea"/>
                <a:cs typeface="Arial" panose="020B0604020202020204" pitchFamily="34" charset="0"/>
              </a:rPr>
              <a:t> and </a:t>
            </a:r>
            <a:r>
              <a:rPr lang="en-US" sz="1200" b="1" kern="1200">
                <a:solidFill>
                  <a:schemeClr val="tx1"/>
                </a:solidFill>
                <a:effectLst/>
                <a:latin typeface="Arial" panose="020B0604020202020204" pitchFamily="34" charset="0"/>
                <a:ea typeface="+mn-ea"/>
                <a:cs typeface="Arial" panose="020B0604020202020204" pitchFamily="34" charset="0"/>
              </a:rPr>
              <a:t>Cross Winds</a:t>
            </a:r>
            <a:r>
              <a:rPr lang="en-US" sz="1200" kern="1200">
                <a:solidFill>
                  <a:schemeClr val="tx1"/>
                </a:solidFill>
                <a:effectLst/>
                <a:latin typeface="Arial" panose="020B0604020202020204" pitchFamily="34" charset="0"/>
                <a:ea typeface="+mn-ea"/>
                <a:cs typeface="Arial" panose="020B0604020202020204" pitchFamily="34" charset="0"/>
              </a:rPr>
              <a:t>. Browse stylish women's apparel, swimwear, and accessories from brands such as </a:t>
            </a:r>
            <a:r>
              <a:rPr lang="en-US" sz="1200" b="1" kern="1200">
                <a:solidFill>
                  <a:schemeClr val="tx1"/>
                </a:solidFill>
                <a:effectLst/>
                <a:latin typeface="Arial" panose="020B0604020202020204" pitchFamily="34" charset="0"/>
                <a:ea typeface="+mn-ea"/>
                <a:cs typeface="Arial" panose="020B0604020202020204" pitchFamily="34" charset="0"/>
              </a:rPr>
              <a:t>Lilly Pulitzer</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lululemon</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Versace</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and Gucci</a:t>
            </a:r>
            <a:r>
              <a:rPr lang="en-US" sz="1200" kern="1200">
                <a:solidFill>
                  <a:schemeClr val="tx1"/>
                </a:solidFill>
                <a:effectLst/>
                <a:latin typeface="Arial" panose="020B0604020202020204" pitchFamily="34" charset="0"/>
                <a:ea typeface="+mn-ea"/>
                <a:cs typeface="Arial" panose="020B0604020202020204" pitchFamily="34" charset="0"/>
              </a:rPr>
              <a:t>®, or explore the latest men's fashion and accessories from designers including </a:t>
            </a:r>
            <a:r>
              <a:rPr lang="en-US" sz="1200" b="1" kern="1200">
                <a:solidFill>
                  <a:schemeClr val="tx1"/>
                </a:solidFill>
                <a:effectLst/>
                <a:latin typeface="Arial" panose="020B0604020202020204" pitchFamily="34" charset="0"/>
                <a:ea typeface="+mn-ea"/>
                <a:cs typeface="Arial" panose="020B0604020202020204" pitchFamily="34" charset="0"/>
              </a:rPr>
              <a:t>BUGATCHI</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Tommy Bahama</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Maui Jim</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Ray-Ban</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and lululemon</a:t>
            </a:r>
            <a:r>
              <a:rPr lang="en-US" sz="1200" kern="1200">
                <a:solidFill>
                  <a:schemeClr val="tx1"/>
                </a:solidFill>
                <a:effectLst/>
                <a:latin typeface="Arial" panose="020B0604020202020204" pitchFamily="34" charset="0"/>
                <a:ea typeface="+mn-ea"/>
                <a:cs typeface="Arial" panose="020B0604020202020204" pitchFamily="34" charset="0"/>
              </a:rPr>
              <a:t>®. Personal shoppers will also be available to help agents make the most of their experience.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Arial" panose="020B0604020202020204" pitchFamily="34" charset="0"/>
                <a:ea typeface="+mn-ea"/>
                <a:cs typeface="Arial" panose="020B0604020202020204" pitchFamily="34" charset="0"/>
              </a:rPr>
              <a:t>The top 10 leaderboard agents will also qualify for a premium chickee hut rental on the JW Marriott’s breathtaking beach on Wednesday, October 7. This Balinese-inspired shaded retreat accommodates up to six guests and is ideally located between the beach and pool. Rental includes a queen daybed, chairs, and towel service.</a:t>
            </a:r>
          </a:p>
          <a:p>
            <a:endParaRPr lang="en-US" sz="1200" kern="1200">
              <a:solidFill>
                <a:schemeClr val="tx1"/>
              </a:solidFill>
              <a:effectLst/>
              <a:latin typeface="Arial" panose="020B0604020202020204" pitchFamily="34" charset="0"/>
              <a:ea typeface="+mn-ea"/>
              <a:cs typeface="Arial" panose="020B0604020202020204" pitchFamily="34" charset="0"/>
            </a:endParaRPr>
          </a:p>
          <a:p>
            <a:r>
              <a:rPr lang="en-US" sz="1200" kern="1200">
                <a:solidFill>
                  <a:schemeClr val="tx1"/>
                </a:solidFill>
                <a:effectLst/>
                <a:latin typeface="Arial" panose="020B0604020202020204" pitchFamily="34" charset="0"/>
                <a:ea typeface="+mn-ea"/>
                <a:cs typeface="Arial" panose="020B0604020202020204" pitchFamily="34" charset="0"/>
              </a:rPr>
              <a:t>Qualifying agents must attend the President’s Council Meeting to receive the retail credit and chickee hut rental .</a:t>
            </a:r>
          </a:p>
          <a:p>
            <a:endParaRPr lang="en-US" sz="12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61211B-354B-4A5F-BC13-DB9175AC324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956303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slide. Change the energy in the room here.</a:t>
            </a:r>
          </a:p>
          <a:p>
            <a:endParaRPr/>
          </a:p>
          <a:p>
            <a:r>
              <a:t>Say something like this. We just went through the numbers. Now I want to spend thirty minutes on one story, because it teaches more about risk than any chart I could put in front of you.</a:t>
            </a:r>
          </a:p>
          <a:p>
            <a:endParaRPr/>
          </a:p>
          <a:p>
            <a:r>
              <a:t>Last week the best performing large fund in the world was forced to sell everything it owned. Up four hundred thirty nine percent for the first half of the year. Six days later it had no public stock positions at all.</a:t>
            </a:r>
          </a:p>
          <a:p>
            <a:endParaRPr/>
          </a:p>
          <a:p>
            <a:r>
              <a:t>Here is the part almost every write up got wrong, and it is the reason this training exists. Everybody is saying he blew up because he used too much leverage. That is true and it is useless. Leverage is a magnifying glass. It does not decide whether you are right or wrong, it only decides how fast you find out.</a:t>
            </a:r>
          </a:p>
          <a:p>
            <a:endParaRPr/>
          </a:p>
          <a:p>
            <a:r>
              <a:t>He lost fast because of leverage. He lost because he was wrong. We are going to spend most of our time on why he was wrong, because that part is the useful part.</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by answering the obvious objection. Somebody is thinking, why do I care about a hedge fund when I sell life insurance and annuities.</a:t>
            </a:r>
          </a:p>
          <a:p>
            <a:endParaRPr/>
          </a:p>
          <a:p>
            <a:r>
              <a:t>Four reasons.</a:t>
            </a:r>
          </a:p>
          <a:p>
            <a:endParaRPr/>
          </a:p>
          <a:p>
            <a:r>
              <a:t>First, AI is the story clients ask about. If you cannot talk about it intelligently you look uninformed on the one topic they care about.</a:t>
            </a:r>
          </a:p>
          <a:p>
            <a:endParaRPr/>
          </a:p>
          <a:p>
            <a:r>
              <a:t>Second, clients confuse concentration with conviction. When a client says he is heavily in one stock because he believes in it, this is the story you tell him.</a:t>
            </a:r>
          </a:p>
          <a:p>
            <a:endParaRPr/>
          </a:p>
          <a:p>
            <a:r>
              <a:t>Third, borrowing to invest is not a hedge fund thing anymore. Margin accounts, home equity lines, loans against a policy. Same mechanism, smaller numbers.</a:t>
            </a:r>
          </a:p>
          <a:p>
            <a:endParaRPr/>
          </a:p>
          <a:p>
            <a:r>
              <a:t>Fourth, and this is the one that will stick with them. He was right about the technology and still lost thirty billion dollars. Being right about a trend and being right about who profits from it are two completely different questions. Most clients have never separated those two things in their head.</a:t>
            </a:r>
          </a:p>
          <a:p>
            <a:endParaRPr/>
          </a:p>
          <a:p>
            <a:r>
              <a:t>Give them the run of show at the bottom so they know where we are going. The last few minutes are the part they get paid for.</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 drop a photo of Aschenbrenner into the frame on the left before you present. A recent news photo works best.</a:t>
            </a:r>
          </a:p>
          <a:p>
            <a:endParaRPr/>
          </a:p>
          <a:p>
            <a:r>
              <a:t>Give the room the resume, because the resume is the point.</a:t>
            </a:r>
          </a:p>
          <a:p>
            <a:endParaRPr/>
          </a:p>
          <a:p>
            <a:r>
              <a:t>Valedictorian at Columbia at nineteen. Research at Oxford. A seat at OpenAI on the team responsible for controlling systems smarter than humans. On paper this is as impressive as a twenty five year old gets.</a:t>
            </a:r>
          </a:p>
          <a:p>
            <a:endParaRPr/>
          </a:p>
          <a:p>
            <a:r>
              <a:t>Two details deserve a pause. He was at the FTX Future Fund and got out just before that collapsed. And he was fired from OpenAI. He says it was retaliation for a security memo. OpenAI says it was a leak. We do not know who is right.</a:t>
            </a:r>
          </a:p>
          <a:p>
            <a:endParaRPr/>
          </a:p>
          <a:p>
            <a:r>
              <a:t>What we do know is that this is a man with enormous intellectual credentials and no experience managing other people's money. Two months after being fired he published an essay, raised two hundred twenty five million dollars, and started a hedge fund.</a:t>
            </a:r>
          </a:p>
          <a:p>
            <a:endParaRPr/>
          </a:p>
          <a:p>
            <a:r>
              <a:t>Here is the takeaway. Credentials are not a risk control. Being the smartest person in the room tells you nothing about whether that person has ever had to live with the consequences of being wrong.</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essay came out in June 2024. A hundred sixty five pages, free on the internet, read by everybody who matters in that industry.</a:t>
            </a:r>
          </a:p>
          <a:p>
            <a:endParaRPr/>
          </a:p>
          <a:p>
            <a:r>
              <a:t>But the essay is not the trade. The trade was two ideas, and you need both to understand what happened.</a:t>
            </a:r>
          </a:p>
          <a:p>
            <a:endParaRPr/>
          </a:p>
          <a:p>
            <a:r>
              <a:t>Conviction one. The physical build-out of AI is the trade of the decade. Not the chip designers, the bottleneck underneath them. Power, memory, data centers, rented computing capacity. Buy the picks and shovels.</a:t>
            </a:r>
          </a:p>
          <a:p>
            <a:endParaRPr/>
          </a:p>
          <a:p>
            <a:r>
              <a:t>Conviction two, and this is the one that killed him. Application software is not going to be disrupted by AI. It is going to be destroyed. Read the quote on the right out loud, because it tells you exactly how he thought. He called them wrapper companies. He said they were betting on stagnation. He said, and I quote, your stuff is not going to matter.</a:t>
            </a:r>
          </a:p>
          <a:p>
            <a:endParaRPr/>
          </a:p>
          <a:p>
            <a:r>
              <a:t>So the fund is one sentence. Buy the compute, short the things that run on the compute.</a:t>
            </a:r>
          </a:p>
          <a:p>
            <a:endParaRPr/>
          </a:p>
          <a:p>
            <a:r>
              <a:t>Ask the room to hold that sentence. In about ten minutes we are going to look at what actually happened to both sides of it.</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timeline. It is short, and the shortness is the point.</a:t>
            </a:r>
          </a:p>
          <a:p>
            <a:endParaRPr/>
          </a:p>
          <a:p>
            <a:r>
              <a:t>Late 2024 he opens with about two hundred twenty five million. Silicon Valley money. The Collison brothers who founded Stripe, Nat Friedman who ran GitHub, Daniel Gross.</a:t>
            </a:r>
          </a:p>
          <a:p>
            <a:endParaRPr/>
          </a:p>
          <a:p>
            <a:r>
              <a:t>By June of this year the Journal is writing profiles, Jane Street is an investor, and the fund is over twenty billion. That last one matters. When you tell this story somebody will say the investors were naive. They were not. Jane Street is one of the most sophisticated trading firms on earth.</a:t>
            </a:r>
          </a:p>
          <a:p>
            <a:endParaRPr/>
          </a:p>
          <a:p>
            <a:r>
              <a:t>July twenty fourth the half year letter goes out. Up four hundred thirty nine percent net. Not gross, net of fees. Arguably the best six months any large fund has ever had.</a:t>
            </a:r>
          </a:p>
          <a:p>
            <a:endParaRPr/>
          </a:p>
          <a:p>
            <a:r>
              <a:t>Seven days later assets are near ten billion, and roughly half of what is left is a private stake in Anthropic he cannot easily sell.</a:t>
            </a:r>
          </a:p>
          <a:p>
            <a:endParaRPr/>
          </a:p>
          <a:p>
            <a:r>
              <a:t>One number worth saying out loud, because it is the fairest thing you can say about him. He is still up about eighty percent for the year. This was a catastrophe, not a zero. But he came very close, and he said so himself.</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anatomy of the trade. Take your time, because this slide explains everything that follows.</a:t>
            </a:r>
          </a:p>
          <a:p>
            <a:endParaRPr/>
          </a:p>
          <a:p>
            <a:r>
              <a:t>Look at what he owned. Not Nvidia. Not Microsoft. He owned the second derivative. Fuel cells that power data centers. Memory. Rented computing capacity. And old bitcoin miners that converted their electrical substations into AI data centers.</a:t>
            </a:r>
          </a:p>
          <a:p>
            <a:endParaRPr/>
          </a:p>
          <a:p>
            <a:r>
              <a:t>The logic was sound on its face. If AI is going to be enormous, the bottleneck is not the chip designer, it is electricity and storage and physical capacity.</a:t>
            </a:r>
          </a:p>
          <a:p>
            <a:endParaRPr/>
          </a:p>
          <a:p>
            <a:r>
              <a:t>Now look at the concentration. Top five, more than seventy six percent. And look at that right hand column. He owned eight point two percent of Core Scientific. When you own eight percent of a company you are not a participant in that stock, you are the market in it. There is no exit that does not move the price against you.</a:t>
            </a:r>
          </a:p>
          <a:p>
            <a:endParaRPr/>
          </a:p>
          <a:p>
            <a:r>
              <a:t>And note the last line. The disclosed long book was under four billion against a fund north of twenty billion. A 13F does not show short positions or swaps. Everything that actually killed him was invisible in the filings.</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Slow down here, because this is arithmetic most people have never had explained to them.</a:t>
            </a:r>
          </a:p>
          <a:p>
            <a:endParaRPr/>
          </a:p>
          <a:p>
            <a:r>
              <a:t>Gross exposure as high as four times. For every dollar an investor put in, roughly four dollars were working in the market. Three of those are borrowed from the prime brokers.</a:t>
            </a:r>
          </a:p>
          <a:p>
            <a:endParaRPr/>
          </a:p>
          <a:p>
            <a:r>
              <a:t>Do the math out loud. If your longs fall forty percent and you are levered four to one, that is a one hundred sixty percent hit to your equity. You are wiped out with room to spare.</a:t>
            </a:r>
          </a:p>
          <a:p>
            <a:endParaRPr/>
          </a:p>
          <a:p>
            <a:r>
              <a:t>And the hedges did not work. He owned puts on big semiconductor names against small volatile ones. That is the same bet in two different sizes, not a hedge. When it broke, the longs fell far harder than the protection.</a:t>
            </a:r>
          </a:p>
          <a:p>
            <a:endParaRPr/>
          </a:p>
          <a:p>
            <a:r>
              <a:t>Now read the line at the bottom, and this is the pivot for the whole training.</a:t>
            </a:r>
          </a:p>
          <a:p>
            <a:endParaRPr/>
          </a:p>
          <a:p>
            <a:r>
              <a:t>Leverage decided how fast he found out. It did not decide that he was wrong. If he had run this book with no borrowed money at all, he would have had a bad month and lived to fight another day. The reason he is finished is not the four times. It is what he owned and what he was short. That is where we are going next.</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the room remembers one slide, make it this one.</a:t>
            </a:r>
          </a:p>
          <a:p>
            <a:endParaRPr/>
          </a:p>
          <a:p>
            <a:r>
              <a:t>Two letters to the same investors, six days apart.</a:t>
            </a:r>
          </a:p>
          <a:p>
            <a:endParaRPr/>
          </a:p>
          <a:p>
            <a:r>
              <a:t>July twenty fourth. Up four hundred thirty nine percent. He tells them the selloff in AI stocks is one of the best buying opportunities since early 2025. He invites them to wire more money starting August first. And there is a postscript, which I want you to read exactly as written. At times we call out opportunities that seem like a particularly good time to add funds, if you have been waiting for one.</a:t>
            </a:r>
          </a:p>
          <a:p>
            <a:endParaRPr/>
          </a:p>
          <a:p>
            <a:r>
              <a:t>July thirtieth. Down sixty seven percent for the month. We let you down. We came closer to permanent capital impairment than is acceptable to us.</a:t>
            </a:r>
          </a:p>
          <a:p>
            <a:endParaRPr/>
          </a:p>
          <a:p>
            <a:r>
              <a:t>Now here is the important part, and do not let the room turn this into a joke about a kid.</a:t>
            </a:r>
          </a:p>
          <a:p>
            <a:endParaRPr/>
          </a:p>
          <a:p>
            <a:r>
              <a:t>He was not running a scam. He was not lying to those investors. He believed every word of the July twenty fourth letter. He was so convinced he was right that a forty percent drawdown in his own holdings looked to him like a sale.</a:t>
            </a:r>
          </a:p>
          <a:p>
            <a:endParaRPr/>
          </a:p>
          <a:p>
            <a:r>
              <a:t>That is what conviction feels like from the inside. It feels like clarity. It feels like everyone else being slow.</a:t>
            </a:r>
          </a:p>
          <a:p>
            <a:endParaRPr/>
          </a:p>
          <a:p>
            <a:r>
              <a:t>Ask the room this question. How would you know the difference between real conviction and being trapped in a position? Because from the inside, six days out, he could not tell.</a:t>
            </a:r>
          </a:p>
          <a:p>
            <a:endParaRPr/>
          </a:p>
          <a:p>
            <a:r>
              <a:t>That question is worth more to your clients than anything else in this deck.</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evidence slide. It is the one that proves the thesis, so do not rush it.</a:t>
            </a:r>
          </a:p>
          <a:p>
            <a:endParaRPr/>
          </a:p>
          <a:p>
            <a:r>
              <a:t>Left column, what he owned, over twenty trading sessions. Down thirty six to fifty five percent.</a:t>
            </a:r>
          </a:p>
          <a:p>
            <a:endParaRPr/>
          </a:p>
          <a:p>
            <a:r>
              <a:t>Right column, what he was short, over the same twenty sessions. Up seventeen to thirty seven percent. Workday up thirty seven. Adobe up twenty eight and a half.</a:t>
            </a:r>
          </a:p>
          <a:p>
            <a:endParaRPr/>
          </a:p>
          <a:p>
            <a:r>
              <a:t>Understand what that means mechanically. He lost on both sides at the same time. The longs collapsed and the shorts rallied. In a short position, the stock going up is your loss.</a:t>
            </a:r>
          </a:p>
          <a:p>
            <a:endParaRPr/>
          </a:p>
          <a:p>
            <a:r>
              <a:t>Now look at the bottom line, because this is what almost every write up missed. The S and P 500 fell about two percent and stayed near a record. Nvidia, the supposed center of the whole AI trade, fell five percent and finished July up slightly.</a:t>
            </a:r>
          </a:p>
          <a:p>
            <a:endParaRPr/>
          </a:p>
          <a:p>
            <a:r>
              <a:t>If this had been an AI crash, Nvidia would have been destroyed. It was not. What happened in July was a rotation. Money came out of the leveraged, capital hungry, second derivative end of AI and went into the profitable, cash generating, asset light end of it.</a:t>
            </a:r>
          </a:p>
          <a:p>
            <a:endParaRPr/>
          </a:p>
          <a:p>
            <a:r>
              <a:t>He was positioned on exactly the wrong side of that rotation, on both legs, at four times leverage.</a:t>
            </a:r>
          </a:p>
          <a:p>
            <a:endParaRPr/>
          </a:p>
          <a:p>
            <a:r>
              <a:t>Say the summary sentence plainly. The market did not decide AI was a bad idea. The market decided it had been paying the wrong people for it.</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core of it. Why was he wrong.</a:t>
            </a:r>
          </a:p>
          <a:p>
            <a:endParaRPr/>
          </a:p>
          <a:p>
            <a:r>
              <a:t>His software thesis rests on one premise. A company selling enterprise software is selling the work the software performs. If a model can do that work, the company is worth nothing.</a:t>
            </a:r>
          </a:p>
          <a:p>
            <a:endParaRPr/>
          </a:p>
          <a:p>
            <a:r>
              <a:t>That is what a brilliant twenty five year old engineer believes. It is not what anybody who has run a business believes. Three reasons.</a:t>
            </a:r>
          </a:p>
          <a:p>
            <a:endParaRPr/>
          </a:p>
          <a:p>
            <a:r>
              <a:t>One, the price is trivial. A fully loaded Microsoft seat with Copilot is about a thousand dollars a year against an employee costing a hundred thousand. That is one percent. Veeva is one to five percent of what a pharma sales rep costs. No chief financial officer wakes up wanting to rebuild his company's plumbing to save one percent of headcount cost.</a:t>
            </a:r>
          </a:p>
          <a:p>
            <a:endParaRPr/>
          </a:p>
          <a:p>
            <a:r>
              <a:t>Two, and this is the one nobody outside a regulated industry understands. The product is not the software. The product is the validated record. Veeva's systems are qualified under FDA rules for electronic records. When an inspector walks in, that audit trail is the company's legal defense. You cannot swap that out for a clever model. You would have to revalidate a decade of regulated records in front of a regulator.</a:t>
            </a:r>
          </a:p>
          <a:p>
            <a:endParaRPr/>
          </a:p>
          <a:p>
            <a:r>
              <a:t>Three, people do try to leave, constantly, and they almost always fail. Average cost overruns on these replacements run near one hundred ninety percent. Gartner says more than seventy percent of recent projects will miss their goals.</a:t>
            </a:r>
          </a:p>
          <a:p>
            <a:endParaRPr/>
          </a:p>
          <a:p>
            <a:r>
              <a:t>Bring it home with the bottom line. These businesses sell the rails, not the labor, at a price so far below the value that the customer never negotiates hard, with switching costs so high he could not leave if he wanted to.</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part that turns his thesis inside out.</a:t>
            </a:r>
          </a:p>
          <a:p>
            <a:endParaRPr/>
          </a:p>
          <a:p>
            <a:r>
              <a:t>He believed AI would eat the applications. Instead the applications are selling AI as an upsell on top of a subscription the customer cannot afford to cancel.</a:t>
            </a:r>
          </a:p>
          <a:p>
            <a:endParaRPr/>
          </a:p>
          <a:p>
            <a:r>
              <a:t>Microsoft passed thirty million paid Copilot seats in the June quarter, double where it was in January. Accenture alone bought seven hundred forty thousand. Bayer, Johnson and Johnson, Mercedes and Roche have each deployed more than ninety thousand.</a:t>
            </a:r>
          </a:p>
          <a:p>
            <a:endParaRPr/>
          </a:p>
          <a:p>
            <a:r>
              <a:t>Look at that middle number. Six hundred seventy eight billion dollars of contracted revenue not yet recognized, up eighty four percent. That is the closest thing software has to a railroad's signed freight contracts.</a:t>
            </a:r>
          </a:p>
          <a:p>
            <a:endParaRPr/>
          </a:p>
          <a:p>
            <a:r>
              <a:t>Now the bottom table, and this is the argument in numbers. Adobe converts a third of revenue to free cash flow and spends three quarters of one percent of revenue on capital expenditure. Salesforce and Intuit are similar. These businesses barely consume capital.</a:t>
            </a:r>
          </a:p>
          <a:p>
            <a:endParaRPr/>
          </a:p>
          <a:p>
            <a:r>
              <a:t>And they were trading around eleven to fourteen times trailing earnings. Those are the multiples of a dying industry, applied to businesses printing cash.</a:t>
            </a:r>
          </a:p>
          <a:p>
            <a:endParaRPr/>
          </a:p>
          <a:p>
            <a:r>
              <a:t>One honest caveat for the room. Adobe was down about thirty one percent on the year going into that rally, so part of what happened in July is a beaten down group snapping back. The mispricing argument and the oversold bounce argument are both true at the same time.</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other half of why he was wrong, and it applies to the long side of his book.</a:t>
            </a:r>
          </a:p>
          <a:p>
            <a:endParaRPr/>
          </a:p>
          <a:p>
            <a:r>
              <a:t>He assumed that because a technology is transformative, the capital that builds it will earn a decent return. There is no relationship between those two things. Often it is the opposite.</a:t>
            </a:r>
          </a:p>
          <a:p>
            <a:endParaRPr/>
          </a:p>
          <a:p>
            <a:r>
              <a:t>His own essay contains the tell. He wrote that the talk of the town had gone from ten billion dollar compute clusters to a hundred billion to trillion dollar clusters, and that every six months another zero gets added. He wrote that as a bull case. Read as a businessman, that is a description of a capital cycle heading for trouble.</a:t>
            </a:r>
          </a:p>
          <a:p>
            <a:endParaRPr/>
          </a:p>
          <a:p>
            <a:r>
              <a:t>Look at the numbers. Amazon put ninety four percent of everything the business generated back into the ground in a single year, and guides to two hundred twenty billion for this year. Moody's sees hyperscaler spending near a trillion dollars in 2027, funded partly with debt.</a:t>
            </a:r>
          </a:p>
          <a:p>
            <a:endParaRPr/>
          </a:p>
          <a:p>
            <a:r>
              <a:t>Microsoft is the tell. Revenue grew by a third and free cash flow went down, because capital expenditure went from eighteen percent of revenue to thirty five percent. That is what a huge capital cycle does even to the best business in the world.</a:t>
            </a:r>
          </a:p>
          <a:p>
            <a:endParaRPr/>
          </a:p>
          <a:p>
            <a:r>
              <a:t>Then the accounting point, and be careful and fair here. Several of these companies extended how long they assume a server lasts, which increases reported profit without producing a dollar of cash. Amazon went the other direction and shortened it, citing the pace of AI development. When the most experienced data center operator on earth tells you the hardware wears out faster than the schedules assume, that is worth listening to.</a:t>
            </a:r>
          </a:p>
          <a:p>
            <a:endParaRPr/>
          </a:p>
          <a:p>
            <a:r>
              <a:t>And the card on the right is the question nobody has answered. Where does the revenue come from to pay for all of this? Bain says the industry is about eight hundred billion a year short. OpenAI lost twenty one billion dollars on thirteen billion of revenue.</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history, because this pattern is not new and it is not subtle.</a:t>
            </a:r>
          </a:p>
          <a:p>
            <a:endParaRPr/>
          </a:p>
          <a:p>
            <a:r>
              <a:t>Between 1865 and 1875 America roughly doubled its railroad mileage. Railroad capital reached four and a half billion dollars at a time when the entire banking system had seven hundred twenty million. In January 1870, eighty seven percent of everything that traded on the New York Stock Exchange was a railroad share.</a:t>
            </a:r>
          </a:p>
          <a:p>
            <a:endParaRPr/>
          </a:p>
          <a:p>
            <a:r>
              <a:t>Every argument you hear about AI today was made then. The railroads will transform the country. And they did. They compressed distance and cost in a way that seemed impossible a few years earlier.</a:t>
            </a:r>
          </a:p>
          <a:p>
            <a:endParaRPr/>
          </a:p>
          <a:p>
            <a:r>
              <a:t>It did not matter to the investors. Jay Cooke failed in September 1873. The exchange closed for ten days, the first time in its history. By 1877, a fifth of American track mileage was in receivership. European investors lost something like six hundred million dollars.</a:t>
            </a:r>
          </a:p>
          <a:p>
            <a:endParaRPr/>
          </a:p>
          <a:p>
            <a:r>
              <a:t>And where the railroads survived, competition took the returns anyway. Revenue per ton mile fell sixty one percent between 1870 and 1900.</a:t>
            </a:r>
          </a:p>
          <a:p>
            <a:endParaRPr/>
          </a:p>
          <a:p>
            <a:r>
              <a:t>Read the last line on the card slowly. Every additional mile made the network more valuable to America and less valuable to the men who had paid for it.</a:t>
            </a:r>
          </a:p>
          <a:p>
            <a:endParaRPr/>
          </a:p>
          <a:p>
            <a:r>
              <a:t>Then ask the room the question that connects it. Which of the things Aschenbrenner owned has route control? Bitcoin miners with retrofitted substations? Rented compute resold at a spread? Memory, which has never earned its cost of capital through a full cycle? Those are not toll booths. Those are the Northern Pacific right before bankruptcy.</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if the builders lose, who wins. This is the answer, and it is the same answer in three different centuries.</a:t>
            </a:r>
          </a:p>
          <a:p>
            <a:endParaRPr/>
          </a:p>
          <a:p>
            <a:r>
              <a:t>Adams Express was incorporated in 1854 with a million and change. It never owned a single mile of track. It bought space on other men's trains and moved parcels and money. It paid an unbroken eight dollar dividend from 1869 forward, straight through the depression that put a fifth of American rail into receivership. It converted into a closed end fund in 1929 and it is still listed today. The company that rented space on the railroads outlived almost all the railroads.</a:t>
            </a:r>
          </a:p>
          <a:p>
            <a:endParaRPr/>
          </a:p>
          <a:p>
            <a:r>
              <a:t>Pullman, same idea. Organized in 1867 with a million dollars. Did not own track. Owned the sleeping cars and leased them to the railroads. Dividends of eight to twelve percent for decades.</a:t>
            </a:r>
          </a:p>
          <a:p>
            <a:endParaRPr/>
          </a:p>
          <a:p>
            <a:r>
              <a:t>And then our own lifetime. After the 1996 Telecom Act, carriers poured more than five hundred billion dollars into fiber. By the early 2000s no more than two percent of long haul capacity was being used. Global Crossing raised twenty billion, built a hundred thousand miles of undersea cable, went bankrupt, and the assets sold for about a penny and a quarter on the dollar.</a:t>
            </a:r>
          </a:p>
          <a:p>
            <a:endParaRPr/>
          </a:p>
          <a:p>
            <a:r>
              <a:t>Who got the value? Google, Amazon and Netflix. They built businesses on bandwidth that was nearly free because somebody else had already gone broke providing it.</a:t>
            </a:r>
          </a:p>
          <a:p>
            <a:endParaRPr/>
          </a:p>
          <a:p>
            <a:r>
              <a:t>That is the pattern. When an economy builds an expensive new network, the capital that builds it earns a poor return, because competition and obsolescence and overbuilding strip it away. The businesses that ride on the network at almost no capital cost, and that own the customer or the data or the standard, keep the profit.</a:t>
            </a:r>
          </a:p>
          <a:p>
            <a:endParaRPr/>
          </a:p>
          <a:p>
            <a:r>
              <a:t>Aschenbrenner bought the track and shorted the toll booths.</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 drop a photo of Ken Griffin into the frame on the left.</a:t>
            </a:r>
          </a:p>
          <a:p>
            <a:endParaRPr/>
          </a:p>
          <a:p>
            <a:r>
              <a:t>Now the other side of the trade, because somebody is always buying.</a:t>
            </a:r>
          </a:p>
          <a:p>
            <a:endParaRPr/>
          </a:p>
          <a:p>
            <a:r>
              <a:t>Griffin started trading convertible bonds out of his Harvard dorm in 1987 and founded Citadel in 1990 with about four and a half million dollars. Today it is arguably the most profitable hedge fund in history.</a:t>
            </a:r>
          </a:p>
          <a:p>
            <a:endParaRPr/>
          </a:p>
          <a:p>
            <a:r>
              <a:t>Worth noting that Millennium and Jane Street also bid for this book. Citadel won it. That tells you the assets were desirable at the right price. This was not charity and it was not a bailout.</a:t>
            </a:r>
          </a:p>
          <a:p>
            <a:endParaRPr/>
          </a:p>
          <a:p>
            <a:r>
              <a:t>Now the table, and this is the pattern that agents never forget once they see it.</a:t>
            </a:r>
          </a:p>
          <a:p>
            <a:endParaRPr/>
          </a:p>
          <a:p>
            <a:r>
              <a:t>Enron, 2001. The day after the collapse he was hiring their traders and their weather forecasters. He did not buy the company, he bought the people.</a:t>
            </a:r>
          </a:p>
          <a:p>
            <a:endParaRPr/>
          </a:p>
          <a:p>
            <a:r>
              <a:t>Amaranth, 2006. Lost six billion on natural gas in days. Citadel and JPMorgan bought the energy book at a steep discount.</a:t>
            </a:r>
          </a:p>
          <a:p>
            <a:endParaRPr/>
          </a:p>
          <a:p>
            <a:r>
              <a:t>Sowood, 2007. The story is that Citadel put a team together and delivered an offer at three thirty in the morning because everybody else had gone home.</a:t>
            </a:r>
          </a:p>
          <a:p>
            <a:endParaRPr/>
          </a:p>
          <a:p>
            <a:r>
              <a:t>Melvin, 2021, and get this one right because people always get it wrong. That was a rescue investment during the GameStop squeeze, not a purchase of assets. Two and three quarter billion in. Melvin shut down anyway in 2022. That one did not work.</a:t>
            </a:r>
          </a:p>
          <a:p>
            <a:endParaRPr/>
          </a:p>
          <a:p>
            <a:r>
              <a:t>The lesson for the room. In every forced sale there is a seller with no choice and a buyer with all the time in the world. You always want to be the second one. The way you stay the second one is by not borrowing.</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Handle this carefully, because somebody has seen the memes and will bring it up.</a:t>
            </a:r>
          </a:p>
          <a:p>
            <a:endParaRPr/>
          </a:p>
          <a:p>
            <a:r>
              <a:t>The claim is that Griffin or people around him helped push this fund over the edge through the media so Citadel could buy the book cheap.</a:t>
            </a:r>
          </a:p>
          <a:p>
            <a:endParaRPr/>
          </a:p>
          <a:p>
            <a:r>
              <a:t>Here is what I could actually verify.</a:t>
            </a:r>
          </a:p>
          <a:p>
            <a:endParaRPr/>
          </a:p>
          <a:p>
            <a:r>
              <a:t>None of the serious reporting says that. Not CNBC, not the Journal, not Bloomberg, not the Financial Times. The margin calls came from the prime brokers. Goldman, JPMorgan and Bank of America. Citadel was not the lender and had no ability to call those loans.</a:t>
            </a:r>
          </a:p>
          <a:p>
            <a:endParaRPr/>
          </a:p>
          <a:p>
            <a:r>
              <a:t>The GameStop comparison is worth addressing because it is the same shape of accusation. In 2021 the theory was that Griffin leaned on Robinhood to stop people buying GameStop to protect Melvin. Griffin testified under oath before Congress that he did not. The restrictions came from the clearinghouse demanding more collateral overnight. Later reviews found no evidence of collusion.</a:t>
            </a:r>
          </a:p>
          <a:p>
            <a:endParaRPr/>
          </a:p>
          <a:p>
            <a:r>
              <a:t>There is one related item worth mentioning honestly. Microsoft rose more than fifteen percent on July thirtieth, its largest one day market value gain in history, on a quarter that beat revenue by under three percent. Some people look at that and see forced short covering in the tape. Others point out that Azure crossed a hundred billion dollars and growth accelerated to forty three percent, which is a real catalyst. Both things can be true. Nobody has proven the first.</a:t>
            </a:r>
          </a:p>
          <a:p>
            <a:endParaRPr/>
          </a:p>
          <a:p>
            <a:r>
              <a:t>So the honest answer. The rumor is unsupported. Citadel benefited enormously from this situation, and benefiting from a disaster is not the same as causing one.</a:t>
            </a:r>
          </a:p>
          <a:p>
            <a:endParaRPr/>
          </a:p>
          <a:p>
            <a:r>
              <a:t>Saying that to a client makes you the person in their life who checks things before repeating them. That is worth more than being first with a juicy story.</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it out. Do not let them leave with a fun story and no action.</a:t>
            </a:r>
          </a:p>
          <a:p>
            <a:endParaRPr/>
          </a:p>
          <a:p>
            <a:r>
              <a:t>Six lessons. The first one is the one that is new, and it is the most valuable thing in this deck.</a:t>
            </a:r>
          </a:p>
          <a:p>
            <a:endParaRPr/>
          </a:p>
          <a:p>
            <a:r>
              <a:t>He was right about the trend and still lost thirty billion dollars. Right about AI, wrong about who gets paid for it. When a client tells you he is buying something because a technology is going to change the world, that is the sentence to give him back.</a:t>
            </a:r>
          </a:p>
          <a:p>
            <a:endParaRPr/>
          </a:p>
          <a:p>
            <a:r>
              <a:t>Two, leverage decided how fast, not whether. Without borrowed money this is a bad month, not the end.</a:t>
            </a:r>
          </a:p>
          <a:p>
            <a:endParaRPr/>
          </a:p>
          <a:p>
            <a:r>
              <a:t>Three, concentration is not conviction. Remember he was asking investors for more money six days before he lost the portfolio, and he meant it.</a:t>
            </a:r>
          </a:p>
          <a:p>
            <a:endParaRPr/>
          </a:p>
          <a:p>
            <a:r>
              <a:t>Four, the toll booth beats the track. 1873, 2002, and now.</a:t>
            </a:r>
          </a:p>
          <a:p>
            <a:endParaRPr/>
          </a:p>
          <a:p>
            <a:r>
              <a:t>Five, a hedge that shares your risk is not a hedge.</a:t>
            </a:r>
          </a:p>
          <a:p>
            <a:endParaRPr/>
          </a:p>
          <a:p>
            <a:r>
              <a:t>Six, forced selling sets prices and then it stops. His holdings jumped eighteen to twenty eight percent the day he finished selling.</a:t>
            </a:r>
          </a:p>
          <a:p>
            <a:endParaRPr/>
          </a:p>
          <a:p>
            <a:r>
              <a:t>Now the homework, and be specific about it. Find three clients who are concentrated. Too much company stock, too much in one sector, too much riding on the employer who also signs the paycheck. Find anybody who has mentioned borrowing to invest, whether that is a margin account, a home equity line, or a loan against a policy. Book one review with each.</a:t>
            </a:r>
          </a:p>
          <a:p>
            <a:endParaRPr/>
          </a:p>
          <a:p>
            <a:r>
              <a:t>And when you sit down, open with what has changed in their life, not with the market. The market is the excuse for the call. Their life is the reason for the meeting.</a:t>
            </a:r>
          </a:p>
          <a:p>
            <a:endParaRPr/>
          </a:p>
          <a:p>
            <a:r>
              <a:t>Last thing, and say it out loud. This is a training deck. It is internal, it is not investment advice, and it is not a recommendation on any security we named today.</a:t>
            </a:r>
          </a:p>
          <a:p>
            <a:endParaRPr/>
          </a:p>
          <a:p>
            <a:r>
              <a:t>Discussion question if you have time. Which client of yours is running a small version of this right now, and are you going to call them this week?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7BBB44ED-3F55-29A4-DD1E-8FC01AD0F44D}"/>
              </a:ext>
            </a:extLst>
          </p:cNvPr>
          <p:cNvSpPr>
            <a:spLocks noGrp="1"/>
          </p:cNvSpPr>
          <p:nvPr>
            <p:ph type="title"/>
          </p:nvPr>
        </p:nvSpPr>
        <p:spPr>
          <a:xfrm>
            <a:off x="626269" y="493776"/>
            <a:ext cx="10939462" cy="804672"/>
          </a:xfrm>
          <a:prstGeom prst="rect">
            <a:avLst/>
          </a:prstGeom>
        </p:spPr>
        <p:txBody>
          <a:bodyPr vert="horz" lIns="0" tIns="0" rIns="0" bIns="0" rtlCol="0" anchor="t" anchorCtr="0">
            <a:noAutofit/>
          </a:bodyPr>
          <a:lstStyle>
            <a:lvl1pPr>
              <a:defRPr>
                <a:latin typeface="+mj-lt"/>
              </a:defRPr>
            </a:lvl1pPr>
          </a:lstStyle>
          <a:p>
            <a:r>
              <a:rPr lang="en-US"/>
              <a:t>Click to edit Master title style</a:t>
            </a:r>
          </a:p>
        </p:txBody>
      </p:sp>
    </p:spTree>
    <p:extLst>
      <p:ext uri="{BB962C8B-B14F-4D97-AF65-F5344CB8AC3E}">
        <p14:creationId xmlns:p14="http://schemas.microsoft.com/office/powerpoint/2010/main" val="20919069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xt -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46671-891F-05B5-E76C-0E97C7654478}"/>
              </a:ext>
            </a:extLst>
          </p:cNvPr>
          <p:cNvSpPr>
            <a:spLocks noGrp="1"/>
          </p:cNvSpPr>
          <p:nvPr>
            <p:ph type="title" hasCustomPrompt="1"/>
          </p:nvPr>
        </p:nvSpPr>
        <p:spPr>
          <a:xfrm>
            <a:off x="439946" y="381000"/>
            <a:ext cx="11294854" cy="496033"/>
          </a:xfrm>
        </p:spPr>
        <p:txBody>
          <a:bodyPr wrap="square">
            <a:noAutofit/>
          </a:bodyPr>
          <a:lstStyle>
            <a:lvl1pPr>
              <a:spcBef>
                <a:spcPts val="800"/>
              </a:spcBef>
              <a:defRPr sz="3200">
                <a:solidFill>
                  <a:schemeClr val="tx1"/>
                </a:solidFill>
              </a:defRPr>
            </a:lvl1pPr>
          </a:lstStyle>
          <a:p>
            <a:r>
              <a:rPr lang="en-US"/>
              <a:t>Main heading</a:t>
            </a:r>
          </a:p>
        </p:txBody>
      </p:sp>
      <p:sp>
        <p:nvSpPr>
          <p:cNvPr id="3" name="Content Placeholder 2">
            <a:extLst>
              <a:ext uri="{FF2B5EF4-FFF2-40B4-BE49-F238E27FC236}">
                <a16:creationId xmlns:a16="http://schemas.microsoft.com/office/drawing/2014/main" id="{6C62AF48-D0E9-35B2-E289-CB02A3E2F065}"/>
              </a:ext>
            </a:extLst>
          </p:cNvPr>
          <p:cNvSpPr>
            <a:spLocks noGrp="1"/>
          </p:cNvSpPr>
          <p:nvPr>
            <p:ph idx="1"/>
          </p:nvPr>
        </p:nvSpPr>
        <p:spPr>
          <a:xfrm>
            <a:off x="457200" y="1714500"/>
            <a:ext cx="11277600" cy="4114800"/>
          </a:xfrm>
          <a:prstGeom prst="rect">
            <a:avLst/>
          </a:prstGeom>
        </p:spPr>
        <p:txBody>
          <a:bodyPr/>
          <a:lstStyle>
            <a:lvl1pPr>
              <a:lnSpc>
                <a:spcPct val="120000"/>
              </a:lnSpc>
              <a:spcBef>
                <a:spcPts val="600"/>
              </a:spcBef>
              <a:defRPr sz="2000">
                <a:solidFill>
                  <a:srgbClr val="000000"/>
                </a:solidFill>
              </a:defRPr>
            </a:lvl1pPr>
            <a:lvl2pPr marL="685800" indent="-228600">
              <a:lnSpc>
                <a:spcPct val="120000"/>
              </a:lnSpc>
              <a:spcBef>
                <a:spcPts val="600"/>
              </a:spcBef>
              <a:buFont typeface="System Font Regular"/>
              <a:buChar char="⎼"/>
              <a:defRPr sz="1800">
                <a:solidFill>
                  <a:srgbClr val="000000"/>
                </a:solidFill>
              </a:defRPr>
            </a:lvl2pPr>
            <a:lvl3pPr>
              <a:lnSpc>
                <a:spcPct val="120000"/>
              </a:lnSpc>
              <a:spcBef>
                <a:spcPts val="600"/>
              </a:spcBef>
              <a:defRPr sz="1600">
                <a:solidFill>
                  <a:srgbClr val="000000"/>
                </a:solidFill>
              </a:defRPr>
            </a:lvl3pPr>
            <a:lvl4pPr marL="1600200" indent="-228600">
              <a:lnSpc>
                <a:spcPct val="120000"/>
              </a:lnSpc>
              <a:spcBef>
                <a:spcPts val="600"/>
              </a:spcBef>
              <a:buFont typeface="System Font Regular"/>
              <a:buChar char="⎼"/>
              <a:defRPr sz="1400">
                <a:solidFill>
                  <a:srgbClr val="000000"/>
                </a:solidFill>
              </a:defRPr>
            </a:lvl4pPr>
            <a:lvl5pPr>
              <a:lnSpc>
                <a:spcPct val="120000"/>
              </a:lnSpc>
              <a:spcBef>
                <a:spcPts val="600"/>
              </a:spcBef>
              <a:defRPr sz="1400">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9D31BAC0-BC8B-E413-6089-9DD81A14F6B4}"/>
              </a:ext>
            </a:extLst>
          </p:cNvPr>
          <p:cNvSpPr>
            <a:spLocks noGrp="1"/>
          </p:cNvSpPr>
          <p:nvPr>
            <p:ph type="body" sz="quarter" idx="12" hasCustomPrompt="1"/>
          </p:nvPr>
        </p:nvSpPr>
        <p:spPr>
          <a:xfrm>
            <a:off x="439946" y="953242"/>
            <a:ext cx="11294854" cy="496033"/>
          </a:xfrm>
          <a:prstGeom prst="rect">
            <a:avLst/>
          </a:prstGeom>
        </p:spPr>
        <p:txBody>
          <a:bodyPr wrap="square">
            <a:noAutofit/>
          </a:bodyPr>
          <a:lstStyle>
            <a:lvl1pPr marL="0" indent="0">
              <a:lnSpc>
                <a:spcPct val="110000"/>
              </a:lnSpc>
              <a:spcBef>
                <a:spcPts val="800"/>
              </a:spcBef>
              <a:spcAft>
                <a:spcPts val="0"/>
              </a:spcAft>
              <a:buNone/>
              <a:defRPr sz="2200" spc="0">
                <a:solidFill>
                  <a:schemeClr val="tx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subheading or intro line</a:t>
            </a:r>
          </a:p>
        </p:txBody>
      </p:sp>
    </p:spTree>
    <p:extLst>
      <p:ext uri="{BB962C8B-B14F-4D97-AF65-F5344CB8AC3E}">
        <p14:creationId xmlns:p14="http://schemas.microsoft.com/office/powerpoint/2010/main" val="1693236738"/>
      </p:ext>
    </p:extLst>
  </p:cSld>
  <p:clrMapOvr>
    <a:masterClrMapping/>
  </p:clrMapOvr>
  <p:extLst>
    <p:ext uri="{DCECCB84-F9BA-43D5-87BE-67443E8EF086}">
      <p15:sldGuideLst xmlns:p15="http://schemas.microsoft.com/office/powerpoint/2012/main">
        <p15:guide id="1" orient="horz" pos="1080">
          <p15:clr>
            <a:srgbClr val="A4A3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609806" y="1488141"/>
            <a:ext cx="5038854" cy="4233390"/>
          </a:xfrm>
        </p:spPr>
        <p:txBody>
          <a:bodyPr lIns="0" anchor="t" anchorCtr="0"/>
          <a:lstStyle>
            <a:lvl1pPr algn="l">
              <a:defRPr sz="4400"/>
            </a:lvl1pPr>
          </a:lstStyle>
          <a:p>
            <a:endParaRPr lang="en-US"/>
          </a:p>
        </p:txBody>
      </p:sp>
      <p:pic>
        <p:nvPicPr>
          <p:cNvPr id="3" name="Picture 2" descr="A blue and grey square&#10;&#10;AI-generated content may be incorrect.">
            <a:extLst>
              <a:ext uri="{FF2B5EF4-FFF2-40B4-BE49-F238E27FC236}">
                <a16:creationId xmlns:a16="http://schemas.microsoft.com/office/drawing/2014/main" id="{CDBA8C77-70CA-13DB-6585-126480192E47}"/>
              </a:ext>
            </a:extLst>
          </p:cNvPr>
          <p:cNvPicPr>
            <a:picLocks noChangeAspect="1"/>
          </p:cNvPicPr>
          <p:nvPr userDrawn="1"/>
        </p:nvPicPr>
        <p:blipFill>
          <a:blip r:embed="rId2">
            <a:alphaModFix amt="70000"/>
          </a:blip>
          <a:stretch>
            <a:fillRect/>
          </a:stretch>
        </p:blipFill>
        <p:spPr>
          <a:xfrm>
            <a:off x="0" y="616857"/>
            <a:ext cx="6265333" cy="6241143"/>
          </a:xfrm>
          <a:prstGeom prst="rect">
            <a:avLst/>
          </a:prstGeom>
        </p:spPr>
      </p:pic>
      <p:sp>
        <p:nvSpPr>
          <p:cNvPr id="4" name="TextBox 3">
            <a:extLst>
              <a:ext uri="{FF2B5EF4-FFF2-40B4-BE49-F238E27FC236}">
                <a16:creationId xmlns:a16="http://schemas.microsoft.com/office/drawing/2014/main" id="{324A4B02-5F61-61C6-B6B7-D67C131CE9A7}"/>
              </a:ext>
            </a:extLst>
          </p:cNvPr>
          <p:cNvSpPr txBox="1"/>
          <p:nvPr userDrawn="1"/>
        </p:nvSpPr>
        <p:spPr>
          <a:xfrm>
            <a:off x="11303871" y="6303527"/>
            <a:ext cx="429164" cy="210391"/>
          </a:xfrm>
          <a:prstGeom prst="rect">
            <a:avLst/>
          </a:prstGeom>
          <a:noFill/>
        </p:spPr>
        <p:txBody>
          <a:bodyPr wrap="square" lIns="0" tIns="0" rIns="0" bIns="0" rtlCol="0" anchor="t" anchorCtr="0">
            <a:noAutofit/>
          </a:bodyPr>
          <a:lstStyle/>
          <a:p>
            <a:pPr marL="0" algn="r" defTabSz="914400" rtl="0" eaLnBrk="1" latinLnBrk="0" hangingPunct="1"/>
            <a:fld id="{B14C4DC2-5DCA-497B-95BC-EA9B7B01D74F}" type="slidenum">
              <a:rPr lang="en-ID" sz="1000" b="0" kern="1200" smtClean="0">
                <a:solidFill>
                  <a:schemeClr val="bg2">
                    <a:lumMod val="25000"/>
                  </a:schemeClr>
                </a:solidFill>
                <a:latin typeface="+mn-lt"/>
                <a:ea typeface="+mn-ea"/>
                <a:cs typeface="+mn-cs"/>
              </a:rPr>
              <a:pPr marL="0" algn="r" defTabSz="914400" rtl="0" eaLnBrk="1" latinLnBrk="0" hangingPunct="1"/>
              <a:t>‹#›</a:t>
            </a:fld>
            <a:endParaRPr lang="en-ID" sz="1000" b="0" kern="1200">
              <a:solidFill>
                <a:schemeClr val="bg2">
                  <a:lumMod val="25000"/>
                </a:schemeClr>
              </a:solidFill>
              <a:latin typeface="+mn-lt"/>
              <a:ea typeface="+mn-ea"/>
              <a:cs typeface="+mn-cs"/>
            </a:endParaRPr>
          </a:p>
        </p:txBody>
      </p:sp>
    </p:spTree>
    <p:extLst>
      <p:ext uri="{BB962C8B-B14F-4D97-AF65-F5344CB8AC3E}">
        <p14:creationId xmlns:p14="http://schemas.microsoft.com/office/powerpoint/2010/main" val="3823583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78766" y="2485075"/>
            <a:ext cx="10834468" cy="943925"/>
          </a:xfrm>
        </p:spPr>
        <p:txBody>
          <a:bodyPr lIns="0" anchor="t" anchorCtr="0"/>
          <a:lstStyle>
            <a:lvl1pPr algn="ctr">
              <a:defRPr sz="5000"/>
            </a:lvl1pPr>
          </a:lstStyle>
          <a:p>
            <a:endParaRPr lang="en-US"/>
          </a:p>
        </p:txBody>
      </p:sp>
    </p:spTree>
    <p:extLst>
      <p:ext uri="{BB962C8B-B14F-4D97-AF65-F5344CB8AC3E}">
        <p14:creationId xmlns:p14="http://schemas.microsoft.com/office/powerpoint/2010/main" val="34005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COL TEXT A">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marL="0" indent="0">
              <a:buNone/>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8" name="Title 7">
            <a:extLst>
              <a:ext uri="{FF2B5EF4-FFF2-40B4-BE49-F238E27FC236}">
                <a16:creationId xmlns:a16="http://schemas.microsoft.com/office/drawing/2014/main" id="{55693EF2-8722-D131-EA6A-161C518F1622}"/>
              </a:ext>
            </a:extLst>
          </p:cNvPr>
          <p:cNvSpPr>
            <a:spLocks noGrp="1"/>
          </p:cNvSpPr>
          <p:nvPr>
            <p:ph type="title"/>
          </p:nvPr>
        </p:nvSpPr>
        <p:spPr>
          <a:xfrm>
            <a:off x="6665369" y="493776"/>
            <a:ext cx="4754880" cy="1219201"/>
          </a:xfrm>
        </p:spPr>
        <p:txBody>
          <a:bodyPr/>
          <a:lstStyle/>
          <a:p>
            <a:endParaRPr lang="en-US"/>
          </a:p>
        </p:txBody>
      </p:sp>
    </p:spTree>
    <p:extLst>
      <p:ext uri="{BB962C8B-B14F-4D97-AF65-F5344CB8AC3E}">
        <p14:creationId xmlns:p14="http://schemas.microsoft.com/office/powerpoint/2010/main" val="34049539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COL TEXT B">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5" name="Title 4">
            <a:extLst>
              <a:ext uri="{FF2B5EF4-FFF2-40B4-BE49-F238E27FC236}">
                <a16:creationId xmlns:a16="http://schemas.microsoft.com/office/drawing/2014/main" id="{2D529423-01B6-FD0F-9F4A-0764671527B0}"/>
              </a:ext>
            </a:extLst>
          </p:cNvPr>
          <p:cNvSpPr>
            <a:spLocks noGrp="1"/>
          </p:cNvSpPr>
          <p:nvPr>
            <p:ph type="title"/>
          </p:nvPr>
        </p:nvSpPr>
        <p:spPr>
          <a:xfrm>
            <a:off x="6665369" y="493776"/>
            <a:ext cx="4754880" cy="1219200"/>
          </a:xfrm>
        </p:spPr>
        <p:txBody>
          <a:bodyPr/>
          <a:lstStyle/>
          <a:p>
            <a:endParaRPr lang="en-US"/>
          </a:p>
        </p:txBody>
      </p:sp>
    </p:spTree>
    <p:extLst>
      <p:ext uri="{BB962C8B-B14F-4D97-AF65-F5344CB8AC3E}">
        <p14:creationId xmlns:p14="http://schemas.microsoft.com/office/powerpoint/2010/main" val="391920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CA992317-2EB7-BE94-DA22-137A68110825}"/>
              </a:ext>
            </a:extLst>
          </p:cNvPr>
          <p:cNvSpPr>
            <a:spLocks noGrp="1"/>
          </p:cNvSpPr>
          <p:nvPr>
            <p:ph type="pic" idx="14"/>
          </p:nvPr>
        </p:nvSpPr>
        <p:spPr>
          <a:xfrm>
            <a:off x="6096000" y="0"/>
            <a:ext cx="6096000" cy="6858000"/>
          </a:xfrm>
          <a:solidFill>
            <a:srgbClr val="A5EFBF">
              <a:alpha val="50000"/>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Title 2">
            <a:extLst>
              <a:ext uri="{FF2B5EF4-FFF2-40B4-BE49-F238E27FC236}">
                <a16:creationId xmlns:a16="http://schemas.microsoft.com/office/drawing/2014/main" id="{EC3CB6E0-0218-7DCC-B7E5-3C90E485F68E}"/>
              </a:ext>
            </a:extLst>
          </p:cNvPr>
          <p:cNvSpPr>
            <a:spLocks noGrp="1"/>
          </p:cNvSpPr>
          <p:nvPr>
            <p:ph type="title"/>
          </p:nvPr>
        </p:nvSpPr>
        <p:spPr>
          <a:xfrm>
            <a:off x="457200" y="493776"/>
            <a:ext cx="5029200" cy="2487168"/>
          </a:xfrm>
        </p:spPr>
        <p:txBody>
          <a:bodyPr/>
          <a:lstStyle>
            <a:lvl1pPr>
              <a:defRPr sz="3600">
                <a:solidFill>
                  <a:srgbClr val="000A62"/>
                </a:solidFill>
              </a:defRPr>
            </a:lvl1pPr>
          </a:lstStyle>
          <a:p>
            <a:endParaRPr lang="en-US"/>
          </a:p>
        </p:txBody>
      </p:sp>
    </p:spTree>
    <p:extLst>
      <p:ext uri="{BB962C8B-B14F-4D97-AF65-F5344CB8AC3E}">
        <p14:creationId xmlns:p14="http://schemas.microsoft.com/office/powerpoint/2010/main" val="999082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LOGO">
    <p:spTree>
      <p:nvGrpSpPr>
        <p:cNvPr id="1" name=""/>
        <p:cNvGrpSpPr/>
        <p:nvPr/>
      </p:nvGrpSpPr>
      <p:grpSpPr>
        <a:xfrm>
          <a:off x="0" y="0"/>
          <a:ext cx="0" cy="0"/>
          <a:chOff x="0" y="0"/>
          <a:chExt cx="0" cy="0"/>
        </a:xfrm>
      </p:grpSpPr>
      <p:pic>
        <p:nvPicPr>
          <p:cNvPr id="11" name="Picture 10" descr="A blue and grey square&#10;&#10;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pic>
        <p:nvPicPr>
          <p:cNvPr id="2" name="Graphic 1">
            <a:extLst>
              <a:ext uri="{FF2B5EF4-FFF2-40B4-BE49-F238E27FC236}">
                <a16:creationId xmlns:a16="http://schemas.microsoft.com/office/drawing/2014/main" id="{8F53EAEA-39FB-5B87-7263-2C114FEFF040}"/>
              </a:ext>
            </a:extLst>
          </p:cNvPr>
          <p:cNvPicPr>
            <a:picLocks noChangeAspect="1"/>
          </p:cNvPicPr>
          <p:nvPr userDrawn="1"/>
        </p:nvPicPr>
        <p:blipFill>
          <a:blip r:embed="rId3"/>
          <a:srcRect/>
          <a:stretch/>
        </p:blipFill>
        <p:spPr>
          <a:xfrm>
            <a:off x="4856245" y="2183735"/>
            <a:ext cx="2479509" cy="2490530"/>
          </a:xfrm>
          <a:prstGeom prst="rect">
            <a:avLst/>
          </a:prstGeom>
          <a:effectLst/>
        </p:spPr>
      </p:pic>
      <p:sp>
        <p:nvSpPr>
          <p:cNvPr id="3" name="TextBox 2">
            <a:extLst>
              <a:ext uri="{FF2B5EF4-FFF2-40B4-BE49-F238E27FC236}">
                <a16:creationId xmlns:a16="http://schemas.microsoft.com/office/drawing/2014/main" id="{B6733DA5-7CEB-156D-B682-AC4F46921F76}"/>
              </a:ext>
            </a:extLst>
          </p:cNvPr>
          <p:cNvSpPr txBox="1"/>
          <p:nvPr userDrawn="1"/>
        </p:nvSpPr>
        <p:spPr>
          <a:xfrm>
            <a:off x="11303871" y="6303527"/>
            <a:ext cx="429164" cy="210391"/>
          </a:xfrm>
          <a:prstGeom prst="rect">
            <a:avLst/>
          </a:prstGeom>
          <a:noFill/>
        </p:spPr>
        <p:txBody>
          <a:bodyPr wrap="square" lIns="0" tIns="0" rIns="0" bIns="0" rtlCol="0" anchor="t" anchorCtr="0">
            <a:noAutofit/>
          </a:bodyPr>
          <a:lstStyle/>
          <a:p>
            <a:pPr marL="0" algn="r" defTabSz="914400" rtl="0" eaLnBrk="1" latinLnBrk="0" hangingPunct="1"/>
            <a:fld id="{B14C4DC2-5DCA-497B-95BC-EA9B7B01D74F}" type="slidenum">
              <a:rPr lang="en-ID" sz="1000" b="0" kern="1200" smtClean="0">
                <a:solidFill>
                  <a:schemeClr val="bg2">
                    <a:lumMod val="25000"/>
                  </a:schemeClr>
                </a:solidFill>
                <a:latin typeface="+mn-lt"/>
                <a:ea typeface="+mn-ea"/>
                <a:cs typeface="+mn-cs"/>
              </a:rPr>
              <a:pPr marL="0" algn="r" defTabSz="914400" rtl="0" eaLnBrk="1" latinLnBrk="0" hangingPunct="1"/>
              <a:t>‹#›</a:t>
            </a:fld>
            <a:endParaRPr lang="en-ID" sz="1000" b="0" kern="1200">
              <a:solidFill>
                <a:schemeClr val="bg2">
                  <a:lumMod val="25000"/>
                </a:schemeClr>
              </a:solidFill>
              <a:latin typeface="+mn-lt"/>
              <a:ea typeface="+mn-ea"/>
              <a:cs typeface="+mn-cs"/>
            </a:endParaRPr>
          </a:p>
        </p:txBody>
      </p:sp>
    </p:spTree>
    <p:extLst>
      <p:ext uri="{BB962C8B-B14F-4D97-AF65-F5344CB8AC3E}">
        <p14:creationId xmlns:p14="http://schemas.microsoft.com/office/powerpoint/2010/main" val="1069983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1_LOGO">
    <p:spTree>
      <p:nvGrpSpPr>
        <p:cNvPr id="1" name=""/>
        <p:cNvGrpSpPr/>
        <p:nvPr/>
      </p:nvGrpSpPr>
      <p:grpSpPr>
        <a:xfrm>
          <a:off x="0" y="0"/>
          <a:ext cx="0" cy="0"/>
          <a:chOff x="0" y="0"/>
          <a:chExt cx="0" cy="0"/>
        </a:xfrm>
      </p:grpSpPr>
      <p:pic>
        <p:nvPicPr>
          <p:cNvPr id="11" name="Picture 10" descr="A blue and grey square&#10;&#10;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pic>
        <p:nvPicPr>
          <p:cNvPr id="4" name="Picture 3" descr="A blue and black logo&#10;&#10;AI-generated content may be incorrect.">
            <a:extLst>
              <a:ext uri="{FF2B5EF4-FFF2-40B4-BE49-F238E27FC236}">
                <a16:creationId xmlns:a16="http://schemas.microsoft.com/office/drawing/2014/main" id="{998306C0-7B5B-AB98-EC2E-C89EC1D1A8F9}"/>
              </a:ext>
            </a:extLst>
          </p:cNvPr>
          <p:cNvPicPr>
            <a:picLocks noChangeAspect="1"/>
          </p:cNvPicPr>
          <p:nvPr userDrawn="1"/>
        </p:nvPicPr>
        <p:blipFill>
          <a:blip r:embed="rId3"/>
          <a:stretch>
            <a:fillRect/>
          </a:stretch>
        </p:blipFill>
        <p:spPr>
          <a:xfrm>
            <a:off x="2919977" y="2624326"/>
            <a:ext cx="6352045" cy="1609347"/>
          </a:xfrm>
          <a:prstGeom prst="rect">
            <a:avLst/>
          </a:prstGeom>
        </p:spPr>
      </p:pic>
      <p:sp>
        <p:nvSpPr>
          <p:cNvPr id="2" name="TextBox 1">
            <a:extLst>
              <a:ext uri="{FF2B5EF4-FFF2-40B4-BE49-F238E27FC236}">
                <a16:creationId xmlns:a16="http://schemas.microsoft.com/office/drawing/2014/main" id="{16E22BEF-0925-1E3B-D20F-77CDF40128C3}"/>
              </a:ext>
            </a:extLst>
          </p:cNvPr>
          <p:cNvSpPr txBox="1"/>
          <p:nvPr userDrawn="1"/>
        </p:nvSpPr>
        <p:spPr>
          <a:xfrm>
            <a:off x="11303871" y="6303527"/>
            <a:ext cx="429164" cy="210391"/>
          </a:xfrm>
          <a:prstGeom prst="rect">
            <a:avLst/>
          </a:prstGeom>
          <a:noFill/>
        </p:spPr>
        <p:txBody>
          <a:bodyPr wrap="square" lIns="0" tIns="0" rIns="0" bIns="0" rtlCol="0" anchor="t" anchorCtr="0">
            <a:noAutofit/>
          </a:bodyPr>
          <a:lstStyle/>
          <a:p>
            <a:pPr marL="0" algn="r" defTabSz="914400" rtl="0" eaLnBrk="1" latinLnBrk="0" hangingPunct="1"/>
            <a:fld id="{B14C4DC2-5DCA-497B-95BC-EA9B7B01D74F}" type="slidenum">
              <a:rPr lang="en-ID" sz="1000" b="0" kern="1200" smtClean="0">
                <a:solidFill>
                  <a:schemeClr val="bg2">
                    <a:lumMod val="25000"/>
                  </a:schemeClr>
                </a:solidFill>
                <a:latin typeface="+mn-lt"/>
                <a:ea typeface="+mn-ea"/>
                <a:cs typeface="+mn-cs"/>
              </a:rPr>
              <a:pPr marL="0" algn="r" defTabSz="914400" rtl="0" eaLnBrk="1" latinLnBrk="0" hangingPunct="1"/>
              <a:t>‹#›</a:t>
            </a:fld>
            <a:endParaRPr lang="en-ID" sz="1000" b="0" kern="1200">
              <a:solidFill>
                <a:schemeClr val="bg2">
                  <a:lumMod val="25000"/>
                </a:schemeClr>
              </a:solidFill>
              <a:latin typeface="+mn-lt"/>
              <a:ea typeface="+mn-ea"/>
              <a:cs typeface="+mn-cs"/>
            </a:endParaRPr>
          </a:p>
        </p:txBody>
      </p:sp>
    </p:spTree>
    <p:extLst>
      <p:ext uri="{BB962C8B-B14F-4D97-AF65-F5344CB8AC3E}">
        <p14:creationId xmlns:p14="http://schemas.microsoft.com/office/powerpoint/2010/main" val="811780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609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Content Light Blue">
    <p:bg>
      <p:bgPr>
        <a:solidFill>
          <a:srgbClr val="B2D4E4">
            <a:alpha val="60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10711748" cy="682752"/>
          </a:xfrm>
        </p:spPr>
        <p:txBody>
          <a:bodyPr/>
          <a:lstStyle>
            <a:lvl1pPr>
              <a:defRPr>
                <a:solidFill>
                  <a:srgbClr val="0A3C53"/>
                </a:solidFill>
                <a:latin typeface="Alda Pro" pitchFamily="50" charset="0"/>
              </a:defRPr>
            </a:lvl1pPr>
          </a:lstStyle>
          <a:p>
            <a:r>
              <a:rPr lang="en-US"/>
              <a:t>Click to edit Master title style</a:t>
            </a:r>
          </a:p>
        </p:txBody>
      </p:sp>
      <p:sp>
        <p:nvSpPr>
          <p:cNvPr id="3" name="Content Placeholder 2"/>
          <p:cNvSpPr>
            <a:spLocks noGrp="1"/>
          </p:cNvSpPr>
          <p:nvPr>
            <p:ph idx="1"/>
          </p:nvPr>
        </p:nvSpPr>
        <p:spPr/>
        <p:txBody>
          <a:bodyPr/>
          <a:lstStyle>
            <a:lvl1pPr>
              <a:defRPr sz="2667">
                <a:solidFill>
                  <a:schemeClr val="bg1"/>
                </a:solidFill>
                <a:latin typeface="Effra Pro" panose="020B0603020203020204" pitchFamily="34" charset="0"/>
              </a:defRPr>
            </a:lvl1pPr>
            <a:lvl2pPr>
              <a:defRPr sz="2400">
                <a:solidFill>
                  <a:schemeClr val="bg1"/>
                </a:solidFill>
                <a:latin typeface="Effra Pro" panose="020B0603020203020204" pitchFamily="34" charset="0"/>
              </a:defRPr>
            </a:lvl2pPr>
            <a:lvl3pPr>
              <a:defRPr sz="2133">
                <a:solidFill>
                  <a:schemeClr val="bg1"/>
                </a:solidFill>
                <a:latin typeface="Effra Pro" panose="020B0603020203020204" pitchFamily="34" charset="0"/>
              </a:defRPr>
            </a:lvl3pPr>
            <a:lvl4pPr>
              <a:defRPr sz="2133">
                <a:solidFill>
                  <a:schemeClr val="bg1"/>
                </a:solidFill>
                <a:latin typeface="Effra Pro" panose="020B0603020203020204" pitchFamily="34" charset="0"/>
              </a:defRPr>
            </a:lvl4pPr>
            <a:lvl5pPr>
              <a:defRPr sz="2133">
                <a:solidFill>
                  <a:schemeClr val="bg1"/>
                </a:solidFill>
                <a:latin typeface="Effra Pro" panose="020B0603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p:cNvSpPr>
            <a:spLocks noGrp="1"/>
          </p:cNvSpPr>
          <p:nvPr>
            <p:ph type="body" sz="quarter" idx="10"/>
          </p:nvPr>
        </p:nvSpPr>
        <p:spPr>
          <a:xfrm>
            <a:off x="390143" y="931977"/>
            <a:ext cx="11408507" cy="651540"/>
          </a:xfrm>
        </p:spPr>
        <p:txBody>
          <a:bodyPr/>
          <a:lstStyle>
            <a:lvl1pPr marL="0" indent="0">
              <a:buNone/>
              <a:defRPr sz="2400" b="0">
                <a:solidFill>
                  <a:srgbClr val="0A3C53"/>
                </a:solidFill>
                <a:latin typeface="Effra Pro" panose="020B0603020203020204" pitchFamily="34" charset="0"/>
              </a:defRPr>
            </a:lvl1pPr>
            <a:lvl2pPr marL="609585" indent="0">
              <a:buNone/>
              <a:defRPr/>
            </a:lvl2pPr>
          </a:lstStyle>
          <a:p>
            <a:pPr lvl="0"/>
            <a:r>
              <a:rPr lang="en-US"/>
              <a:t>Click to edit Master text styles</a:t>
            </a:r>
          </a:p>
        </p:txBody>
      </p:sp>
      <p:sp>
        <p:nvSpPr>
          <p:cNvPr id="11" name="Slide Number Placeholder 9">
            <a:extLst>
              <a:ext uri="{FF2B5EF4-FFF2-40B4-BE49-F238E27FC236}">
                <a16:creationId xmlns:a16="http://schemas.microsoft.com/office/drawing/2014/main" id="{A981E5D6-0803-8921-6403-BB6DB0BD12B1}"/>
              </a:ext>
            </a:extLst>
          </p:cNvPr>
          <p:cNvSpPr>
            <a:spLocks noGrp="1"/>
          </p:cNvSpPr>
          <p:nvPr>
            <p:ph type="sldNum" sz="quarter" idx="4294967295"/>
          </p:nvPr>
        </p:nvSpPr>
        <p:spPr>
          <a:xfrm>
            <a:off x="11493849" y="6583399"/>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13" name="TextBox 12">
            <a:extLst>
              <a:ext uri="{FF2B5EF4-FFF2-40B4-BE49-F238E27FC236}">
                <a16:creationId xmlns:a16="http://schemas.microsoft.com/office/drawing/2014/main" id="{EADC3663-FD28-443D-8635-94D971D411BB}"/>
              </a:ext>
            </a:extLst>
          </p:cNvPr>
          <p:cNvSpPr txBox="1"/>
          <p:nvPr userDrawn="1"/>
        </p:nvSpPr>
        <p:spPr>
          <a:xfrm>
            <a:off x="6451386" y="6574485"/>
            <a:ext cx="4889500" cy="138499"/>
          </a:xfrm>
          <a:prstGeom prst="rect">
            <a:avLst/>
          </a:prstGeom>
          <a:noFill/>
        </p:spPr>
        <p:txBody>
          <a:bodyPr wrap="square" lIns="0" tIns="0" rIns="0" bIns="0" rtlCol="0">
            <a:spAutoFit/>
          </a:bodyPr>
          <a:lstStyle/>
          <a:p>
            <a:pPr algn="r"/>
            <a:r>
              <a:rPr lang="en-US" sz="900">
                <a:solidFill>
                  <a:srgbClr val="0A3C53"/>
                </a:solidFill>
                <a:latin typeface="Effra Pro" panose="020B0603020203020204" pitchFamily="34" charset="0"/>
              </a:rPr>
              <a:t>For internal use only. Not to be used with the public.</a:t>
            </a:r>
          </a:p>
        </p:txBody>
      </p:sp>
      <p:pic>
        <p:nvPicPr>
          <p:cNvPr id="7" name="Picture 6">
            <a:extLst>
              <a:ext uri="{FF2B5EF4-FFF2-40B4-BE49-F238E27FC236}">
                <a16:creationId xmlns:a16="http://schemas.microsoft.com/office/drawing/2014/main" id="{E67FCA87-8478-5E28-4661-20EA3D9955E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455563" y="6192317"/>
            <a:ext cx="1343086" cy="226210"/>
          </a:xfrm>
          <a:prstGeom prst="rect">
            <a:avLst/>
          </a:prstGeom>
        </p:spPr>
      </p:pic>
    </p:spTree>
    <p:extLst>
      <p:ext uri="{BB962C8B-B14F-4D97-AF65-F5344CB8AC3E}">
        <p14:creationId xmlns:p14="http://schemas.microsoft.com/office/powerpoint/2010/main" val="20073299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Custom Layou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8B75A9B-B3DF-4E82-DCCD-EBC806BB84DF}"/>
              </a:ext>
            </a:extLst>
          </p:cNvPr>
          <p:cNvSpPr>
            <a:spLocks noGrp="1"/>
          </p:cNvSpPr>
          <p:nvPr>
            <p:ph type="title" hasCustomPrompt="1"/>
          </p:nvPr>
        </p:nvSpPr>
        <p:spPr>
          <a:xfrm>
            <a:off x="393349" y="181536"/>
            <a:ext cx="11392252" cy="682752"/>
          </a:xfrm>
          <a:prstGeom prst="rect">
            <a:avLst/>
          </a:prstGeom>
        </p:spPr>
        <p:txBody>
          <a:bodyPr/>
          <a:lstStyle>
            <a:lvl1pPr>
              <a:defRPr sz="3200"/>
            </a:lvl1pPr>
          </a:lstStyle>
          <a:p>
            <a:r>
              <a:rPr lang="en-US"/>
              <a:t>Main headline 6 words or less (Aldo Pro font size 32) </a:t>
            </a:r>
          </a:p>
        </p:txBody>
      </p:sp>
      <p:sp>
        <p:nvSpPr>
          <p:cNvPr id="4" name="Text Placeholder 7">
            <a:extLst>
              <a:ext uri="{FF2B5EF4-FFF2-40B4-BE49-F238E27FC236}">
                <a16:creationId xmlns:a16="http://schemas.microsoft.com/office/drawing/2014/main" id="{59976597-673F-23E0-5762-7820B1E50AB7}"/>
              </a:ext>
            </a:extLst>
          </p:cNvPr>
          <p:cNvSpPr>
            <a:spLocks noGrp="1"/>
          </p:cNvSpPr>
          <p:nvPr>
            <p:ph type="body" sz="quarter" idx="13" hasCustomPrompt="1"/>
          </p:nvPr>
        </p:nvSpPr>
        <p:spPr>
          <a:xfrm>
            <a:off x="393349" y="849214"/>
            <a:ext cx="11520487" cy="558800"/>
          </a:xfrm>
          <a:prstGeom prst="rect">
            <a:avLst/>
          </a:prstGeom>
        </p:spPr>
        <p:txBody>
          <a:bodyPr/>
          <a:lstStyle>
            <a:lvl1pPr marL="0" indent="0">
              <a:buFontTx/>
              <a:buNone/>
              <a:defRPr sz="2800">
                <a:solidFill>
                  <a:srgbClr val="2E86AF"/>
                </a:solidFill>
                <a:latin typeface="Effra Pro" panose="020B0603020203020204" pitchFamily="34" charset="0"/>
              </a:defRPr>
            </a:lvl1pPr>
          </a:lstStyle>
          <a:p>
            <a:pPr lvl="0"/>
            <a:r>
              <a:rPr lang="en-US"/>
              <a:t>Sub headline (Effra Pro font size 28)</a:t>
            </a:r>
          </a:p>
        </p:txBody>
      </p:sp>
    </p:spTree>
    <p:extLst>
      <p:ext uri="{BB962C8B-B14F-4D97-AF65-F5344CB8AC3E}">
        <p14:creationId xmlns:p14="http://schemas.microsoft.com/office/powerpoint/2010/main" val="40468725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F15485F8-9E68-60E9-6BC9-9B7F6C1A3D7F}"/>
              </a:ext>
            </a:extLst>
          </p:cNvPr>
          <p:cNvSpPr>
            <a:spLocks noGrp="1"/>
          </p:cNvSpPr>
          <p:nvPr>
            <p:ph type="body" sz="quarter" idx="13" hasCustomPrompt="1"/>
          </p:nvPr>
        </p:nvSpPr>
        <p:spPr>
          <a:xfrm>
            <a:off x="393350" y="850392"/>
            <a:ext cx="11405302" cy="558800"/>
          </a:xfrm>
          <a:prstGeom prst="rect">
            <a:avLst/>
          </a:prstGeom>
        </p:spPr>
        <p:txBody>
          <a:bodyPr lIns="0" tIns="0" rIns="0" bIns="0"/>
          <a:lstStyle>
            <a:lvl1pPr marL="0" indent="0">
              <a:buFontTx/>
              <a:buNone/>
              <a:defRPr sz="2800">
                <a:solidFill>
                  <a:srgbClr val="2E86AF"/>
                </a:solidFill>
                <a:latin typeface="Effra Pro" panose="020B0603020203020204" pitchFamily="34" charset="0"/>
              </a:defRPr>
            </a:lvl1pPr>
          </a:lstStyle>
          <a:p>
            <a:pPr lvl="0"/>
            <a:r>
              <a:rPr lang="en-US"/>
              <a:t>Sub headline (Effra Pro font size 28)</a:t>
            </a:r>
          </a:p>
        </p:txBody>
      </p:sp>
      <p:sp>
        <p:nvSpPr>
          <p:cNvPr id="9" name="Text Placeholder 4">
            <a:extLst>
              <a:ext uri="{FF2B5EF4-FFF2-40B4-BE49-F238E27FC236}">
                <a16:creationId xmlns:a16="http://schemas.microsoft.com/office/drawing/2014/main" id="{D1702492-ECB9-C99D-17F0-C5C3BE0BBEB3}"/>
              </a:ext>
            </a:extLst>
          </p:cNvPr>
          <p:cNvSpPr>
            <a:spLocks noGrp="1"/>
          </p:cNvSpPr>
          <p:nvPr>
            <p:ph type="body" sz="quarter" idx="14"/>
          </p:nvPr>
        </p:nvSpPr>
        <p:spPr>
          <a:xfrm>
            <a:off x="393349" y="1560513"/>
            <a:ext cx="5938478" cy="2761230"/>
          </a:xfrm>
          <a:prstGeom prst="rect">
            <a:avLst/>
          </a:prstGeom>
        </p:spPr>
        <p:txBody>
          <a:bodyPr/>
          <a:lstStyle>
            <a:lvl1pPr>
              <a:defRPr sz="2000">
                <a:solidFill>
                  <a:schemeClr val="bg2"/>
                </a:solidFill>
              </a:defRPr>
            </a:lvl1pPr>
            <a:lvl2pPr>
              <a:defRPr sz="2000">
                <a:solidFill>
                  <a:schemeClr val="bg2"/>
                </a:solidFill>
              </a:defRPr>
            </a:lvl2pPr>
            <a:lvl3pPr>
              <a:defRPr sz="1800">
                <a:solidFill>
                  <a:schemeClr val="bg2"/>
                </a:solidFill>
              </a:defRPr>
            </a:lvl3pPr>
            <a:lvl4pPr>
              <a:defRPr sz="1600">
                <a:solidFill>
                  <a:schemeClr val="bg2"/>
                </a:solidFill>
              </a:defRPr>
            </a:lvl4pPr>
            <a:lvl5pPr>
              <a:defRPr sz="16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1">
            <a:extLst>
              <a:ext uri="{FF2B5EF4-FFF2-40B4-BE49-F238E27FC236}">
                <a16:creationId xmlns:a16="http://schemas.microsoft.com/office/drawing/2014/main" id="{068AFAD1-74BD-2231-701D-CCA497B9D0AC}"/>
              </a:ext>
            </a:extLst>
          </p:cNvPr>
          <p:cNvSpPr>
            <a:spLocks noGrp="1"/>
          </p:cNvSpPr>
          <p:nvPr>
            <p:ph type="title" hasCustomPrompt="1"/>
          </p:nvPr>
        </p:nvSpPr>
        <p:spPr>
          <a:xfrm>
            <a:off x="393349" y="181536"/>
            <a:ext cx="11392252" cy="682752"/>
          </a:xfrm>
          <a:prstGeom prst="rect">
            <a:avLst/>
          </a:prstGeom>
        </p:spPr>
        <p:txBody>
          <a:bodyPr lIns="0" tIns="0" rIns="0" bIns="0"/>
          <a:lstStyle>
            <a:lvl1pPr>
              <a:defRPr sz="3200"/>
            </a:lvl1pPr>
          </a:lstStyle>
          <a:p>
            <a:r>
              <a:rPr lang="en-US"/>
              <a:t>Main headline 6 words or less (Alda Pro font size 32) </a:t>
            </a:r>
          </a:p>
        </p:txBody>
      </p:sp>
    </p:spTree>
    <p:extLst>
      <p:ext uri="{BB962C8B-B14F-4D97-AF65-F5344CB8AC3E}">
        <p14:creationId xmlns:p14="http://schemas.microsoft.com/office/powerpoint/2010/main" val="30952267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4" name="Text Placeholder 2">
            <a:extLst>
              <a:ext uri="{FF2B5EF4-FFF2-40B4-BE49-F238E27FC236}">
                <a16:creationId xmlns:a16="http://schemas.microsoft.com/office/drawing/2014/main" id="{1F647544-7E2B-E34D-527D-A4300AF41D96}"/>
              </a:ext>
            </a:extLst>
          </p:cNvPr>
          <p:cNvSpPr>
            <a:spLocks noGrp="1"/>
          </p:cNvSpPr>
          <p:nvPr>
            <p:ph idx="1"/>
          </p:nvPr>
        </p:nvSpPr>
        <p:spPr>
          <a:xfrm>
            <a:off x="626269" y="1554480"/>
            <a:ext cx="10939462" cy="4247212"/>
          </a:xfrm>
          <a:prstGeom prst="rect">
            <a:avLst/>
          </a:prstGeom>
        </p:spPr>
        <p:txBody>
          <a:bodyPr vert="horz" lIns="0" tIns="0" rIns="0" bIns="0" rtlCol="0" anchor="t" anchorCtr="0">
            <a:noAutofit/>
          </a:bodyPr>
          <a:lstStyle>
            <a:lvl1pPr>
              <a:lnSpc>
                <a:spcPct val="100000"/>
              </a:lnSpc>
              <a:spcAft>
                <a:spcPts val="200"/>
              </a:spcAft>
              <a:defRPr sz="2400"/>
            </a:lvl1pPr>
            <a:lvl2pPr>
              <a:lnSpc>
                <a:spcPct val="100000"/>
              </a:lnSpc>
              <a:spcAft>
                <a:spcPts val="200"/>
              </a:spcAft>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Placeholder 1">
            <a:extLst>
              <a:ext uri="{FF2B5EF4-FFF2-40B4-BE49-F238E27FC236}">
                <a16:creationId xmlns:a16="http://schemas.microsoft.com/office/drawing/2014/main" id="{7BBB44ED-3F55-29A4-DD1E-8FC01AD0F44D}"/>
              </a:ext>
            </a:extLst>
          </p:cNvPr>
          <p:cNvSpPr>
            <a:spLocks noGrp="1"/>
          </p:cNvSpPr>
          <p:nvPr>
            <p:ph type="title"/>
          </p:nvPr>
        </p:nvSpPr>
        <p:spPr>
          <a:xfrm>
            <a:off x="626269" y="493776"/>
            <a:ext cx="10939462" cy="804672"/>
          </a:xfrm>
          <a:prstGeom prst="rect">
            <a:avLst/>
          </a:prstGeom>
        </p:spPr>
        <p:txBody>
          <a:bodyPr vert="horz" lIns="0" tIns="0" rIns="0" bIns="0" rtlCol="0" anchor="t" anchorCtr="0">
            <a:noAutofit/>
          </a:bodyPr>
          <a:lstStyle/>
          <a:p>
            <a:r>
              <a:rPr lang="en-US"/>
              <a:t>Click to edit Master title style</a:t>
            </a:r>
          </a:p>
        </p:txBody>
      </p:sp>
    </p:spTree>
    <p:extLst>
      <p:ext uri="{BB962C8B-B14F-4D97-AF65-F5344CB8AC3E}">
        <p14:creationId xmlns:p14="http://schemas.microsoft.com/office/powerpoint/2010/main" val="8919090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6BE21-AC1E-A39A-9EC5-25B22524EE8B}"/>
              </a:ext>
            </a:extLst>
          </p:cNvPr>
          <p:cNvSpPr>
            <a:spLocks noGrp="1"/>
          </p:cNvSpPr>
          <p:nvPr>
            <p:ph type="title"/>
          </p:nvPr>
        </p:nvSpPr>
        <p:spPr>
          <a:xfrm>
            <a:off x="421041" y="493777"/>
            <a:ext cx="11310707" cy="544802"/>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4" name="Text Placeholder 2">
            <a:extLst>
              <a:ext uri="{FF2B5EF4-FFF2-40B4-BE49-F238E27FC236}">
                <a16:creationId xmlns:a16="http://schemas.microsoft.com/office/drawing/2014/main" id="{1F647544-7E2B-E34D-527D-A4300AF41D96}"/>
              </a:ext>
            </a:extLst>
          </p:cNvPr>
          <p:cNvSpPr>
            <a:spLocks noGrp="1"/>
          </p:cNvSpPr>
          <p:nvPr>
            <p:ph idx="1"/>
          </p:nvPr>
        </p:nvSpPr>
        <p:spPr>
          <a:xfrm>
            <a:off x="421041" y="1862652"/>
            <a:ext cx="11310706" cy="4119486"/>
          </a:xfrm>
          <a:prstGeom prst="rect">
            <a:avLst/>
          </a:prstGeom>
        </p:spPr>
        <p:txBody>
          <a:bodyPr vert="horz" lIns="0" tIns="0" rIns="0" bIns="0" rtlCol="0" anchor="t" anchorCtr="0">
            <a:noAutofit/>
          </a:bodyPr>
          <a:lstStyle>
            <a:lvl1pPr>
              <a:lnSpc>
                <a:spcPct val="100000"/>
              </a:lnSpc>
              <a:spcAft>
                <a:spcPts val="200"/>
              </a:spcAft>
              <a:defRPr sz="2400"/>
            </a:lvl1pPr>
            <a:lvl2pPr>
              <a:lnSpc>
                <a:spcPct val="100000"/>
              </a:lnSpc>
              <a:spcAft>
                <a:spcPts val="200"/>
              </a:spcAft>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595E3170-2F17-5F40-7220-F26FEAC353E1}"/>
              </a:ext>
            </a:extLst>
          </p:cNvPr>
          <p:cNvSpPr>
            <a:spLocks noGrp="1"/>
          </p:cNvSpPr>
          <p:nvPr>
            <p:ph sz="quarter" idx="11"/>
          </p:nvPr>
        </p:nvSpPr>
        <p:spPr>
          <a:xfrm>
            <a:off x="421042" y="1178214"/>
            <a:ext cx="11310706" cy="544803"/>
          </a:xfrm>
        </p:spPr>
        <p:txBody>
          <a:bodyPr/>
          <a:lstStyle>
            <a:lvl1pPr marL="0" indent="0">
              <a:buFontTx/>
              <a:buNone/>
              <a:defRPr sz="2400" b="0">
                <a:latin typeface="+mj-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Tree>
    <p:extLst>
      <p:ext uri="{BB962C8B-B14F-4D97-AF65-F5344CB8AC3E}">
        <p14:creationId xmlns:p14="http://schemas.microsoft.com/office/powerpoint/2010/main" val="19237144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83000">
              <a:srgbClr val="73ACED"/>
            </a:gs>
            <a:gs pos="100000">
              <a:srgbClr val="699DD8"/>
            </a:gs>
            <a:gs pos="26000">
              <a:srgbClr val="9AC8FF"/>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627F9DBD-C578-1BC4-D502-322F3D2B8C73}"/>
              </a:ext>
            </a:extLst>
          </p:cNvPr>
          <p:cNvPicPr>
            <a:picLocks noChangeAspect="1"/>
          </p:cNvPicPr>
          <p:nvPr/>
        </p:nvPicPr>
        <p:blipFill>
          <a:blip r:embed="rId17"/>
          <a:srcRect/>
          <a:stretch/>
        </p:blipFill>
        <p:spPr>
          <a:xfrm>
            <a:off x="457200" y="6186192"/>
            <a:ext cx="455176" cy="457200"/>
          </a:xfrm>
          <a:prstGeom prst="rect">
            <a:avLst/>
          </a:prstGeom>
          <a:effectLst/>
        </p:spPr>
      </p:pic>
      <p:grpSp>
        <p:nvGrpSpPr>
          <p:cNvPr id="71" name="Cut Out" hidden="1">
            <a:extLst>
              <a:ext uri="{FF2B5EF4-FFF2-40B4-BE49-F238E27FC236}">
                <a16:creationId xmlns:a16="http://schemas.microsoft.com/office/drawing/2014/main" id="{645A4865-68ED-9412-B75A-3F8ACB57FB6E}"/>
              </a:ext>
            </a:extLst>
          </p:cNvPr>
          <p:cNvGrpSpPr/>
          <p:nvPr userDrawn="1"/>
        </p:nvGrpSpPr>
        <p:grpSpPr>
          <a:xfrm>
            <a:off x="-247316" y="391974"/>
            <a:ext cx="5968819" cy="6782282"/>
            <a:chOff x="-247316" y="391974"/>
            <a:chExt cx="5968819" cy="6782282"/>
          </a:xfrm>
        </p:grpSpPr>
        <p:sp>
          <p:nvSpPr>
            <p:cNvPr id="64" name="Freeform 63">
              <a:extLst>
                <a:ext uri="{FF2B5EF4-FFF2-40B4-BE49-F238E27FC236}">
                  <a16:creationId xmlns:a16="http://schemas.microsoft.com/office/drawing/2014/main" id="{6AAF9C22-8F00-F0CC-F430-DDD56142D83E}"/>
                </a:ext>
              </a:extLst>
            </p:cNvPr>
            <p:cNvSpPr/>
            <p:nvPr userDrawn="1"/>
          </p:nvSpPr>
          <p:spPr>
            <a:xfrm rot="20700000">
              <a:off x="4501782" y="391974"/>
              <a:ext cx="1219721" cy="6782282"/>
            </a:xfrm>
            <a:custGeom>
              <a:avLst/>
              <a:gdLst>
                <a:gd name="connsiteX0" fmla="*/ 1219721 w 1219721"/>
                <a:gd name="connsiteY0" fmla="*/ 0 h 6782282"/>
                <a:gd name="connsiteX1" fmla="*/ 1219720 w 1219721"/>
                <a:gd name="connsiteY1" fmla="*/ 6782282 h 6782282"/>
                <a:gd name="connsiteX2" fmla="*/ 0 w 1219721"/>
                <a:gd name="connsiteY2" fmla="*/ 6455459 h 6782282"/>
                <a:gd name="connsiteX3" fmla="*/ 0 w 1219721"/>
                <a:gd name="connsiteY3" fmla="*/ 1216910 h 6782282"/>
                <a:gd name="connsiteX4" fmla="*/ 1216910 w 1219721"/>
                <a:gd name="connsiteY4" fmla="*/ 0 h 67822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721" h="6782282">
                  <a:moveTo>
                    <a:pt x="1219721" y="0"/>
                  </a:moveTo>
                  <a:lnTo>
                    <a:pt x="1219720" y="6782282"/>
                  </a:lnTo>
                  <a:lnTo>
                    <a:pt x="0" y="6455459"/>
                  </a:lnTo>
                  <a:lnTo>
                    <a:pt x="0" y="1216910"/>
                  </a:lnTo>
                  <a:lnTo>
                    <a:pt x="121691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66">
              <a:extLst>
                <a:ext uri="{FF2B5EF4-FFF2-40B4-BE49-F238E27FC236}">
                  <a16:creationId xmlns:a16="http://schemas.microsoft.com/office/drawing/2014/main" id="{07F2DA9D-A2E1-6623-5534-DE193CE69237}"/>
                </a:ext>
              </a:extLst>
            </p:cNvPr>
            <p:cNvSpPr/>
            <p:nvPr userDrawn="1"/>
          </p:nvSpPr>
          <p:spPr>
            <a:xfrm rot="20700000">
              <a:off x="3086241" y="2413806"/>
              <a:ext cx="1219717" cy="4725406"/>
            </a:xfrm>
            <a:custGeom>
              <a:avLst/>
              <a:gdLst>
                <a:gd name="connsiteX0" fmla="*/ 1219717 w 1219717"/>
                <a:gd name="connsiteY0" fmla="*/ 0 h 4725406"/>
                <a:gd name="connsiteX1" fmla="*/ 1219717 w 1219717"/>
                <a:gd name="connsiteY1" fmla="*/ 4725406 h 4725406"/>
                <a:gd name="connsiteX2" fmla="*/ 0 w 1219717"/>
                <a:gd name="connsiteY2" fmla="*/ 4398584 h 4725406"/>
                <a:gd name="connsiteX3" fmla="*/ 0 w 1219717"/>
                <a:gd name="connsiteY3" fmla="*/ 1219718 h 4725406"/>
              </a:gdLst>
              <a:ahLst/>
              <a:cxnLst>
                <a:cxn ang="0">
                  <a:pos x="connsiteX0" y="connsiteY0"/>
                </a:cxn>
                <a:cxn ang="0">
                  <a:pos x="connsiteX1" y="connsiteY1"/>
                </a:cxn>
                <a:cxn ang="0">
                  <a:pos x="connsiteX2" y="connsiteY2"/>
                </a:cxn>
                <a:cxn ang="0">
                  <a:pos x="connsiteX3" y="connsiteY3"/>
                </a:cxn>
              </a:cxnLst>
              <a:rect l="l" t="t" r="r" b="b"/>
              <a:pathLst>
                <a:path w="1219717" h="4725406">
                  <a:moveTo>
                    <a:pt x="1219717" y="0"/>
                  </a:moveTo>
                  <a:lnTo>
                    <a:pt x="1219717" y="4725406"/>
                  </a:lnTo>
                  <a:lnTo>
                    <a:pt x="0" y="4398584"/>
                  </a:lnTo>
                  <a:lnTo>
                    <a:pt x="0" y="1219718"/>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0" name="Freeform 69">
              <a:extLst>
                <a:ext uri="{FF2B5EF4-FFF2-40B4-BE49-F238E27FC236}">
                  <a16:creationId xmlns:a16="http://schemas.microsoft.com/office/drawing/2014/main" id="{507EE6BD-3353-5291-18D0-AE718EEBDDB9}"/>
                </a:ext>
              </a:extLst>
            </p:cNvPr>
            <p:cNvSpPr/>
            <p:nvPr userDrawn="1"/>
          </p:nvSpPr>
          <p:spPr>
            <a:xfrm rot="20700000">
              <a:off x="1675953" y="4431391"/>
              <a:ext cx="1219720" cy="2672853"/>
            </a:xfrm>
            <a:custGeom>
              <a:avLst/>
              <a:gdLst>
                <a:gd name="connsiteX0" fmla="*/ 1219720 w 1219720"/>
                <a:gd name="connsiteY0" fmla="*/ 0 h 2672853"/>
                <a:gd name="connsiteX1" fmla="*/ 1219720 w 1219720"/>
                <a:gd name="connsiteY1" fmla="*/ 2672853 h 2672853"/>
                <a:gd name="connsiteX2" fmla="*/ 0 w 1219720"/>
                <a:gd name="connsiteY2" fmla="*/ 2346030 h 2672853"/>
                <a:gd name="connsiteX3" fmla="*/ 0 w 1219720"/>
                <a:gd name="connsiteY3" fmla="*/ 1219720 h 2672853"/>
              </a:gdLst>
              <a:ahLst/>
              <a:cxnLst>
                <a:cxn ang="0">
                  <a:pos x="connsiteX0" y="connsiteY0"/>
                </a:cxn>
                <a:cxn ang="0">
                  <a:pos x="connsiteX1" y="connsiteY1"/>
                </a:cxn>
                <a:cxn ang="0">
                  <a:pos x="connsiteX2" y="connsiteY2"/>
                </a:cxn>
                <a:cxn ang="0">
                  <a:pos x="connsiteX3" y="connsiteY3"/>
                </a:cxn>
              </a:cxnLst>
              <a:rect l="l" t="t" r="r" b="b"/>
              <a:pathLst>
                <a:path w="1219720" h="2672853">
                  <a:moveTo>
                    <a:pt x="1219720" y="0"/>
                  </a:moveTo>
                  <a:lnTo>
                    <a:pt x="1219720" y="2672853"/>
                  </a:lnTo>
                  <a:lnTo>
                    <a:pt x="0" y="2346030"/>
                  </a:lnTo>
                  <a:lnTo>
                    <a:pt x="0" y="121972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56">
              <a:extLst>
                <a:ext uri="{FF2B5EF4-FFF2-40B4-BE49-F238E27FC236}">
                  <a16:creationId xmlns:a16="http://schemas.microsoft.com/office/drawing/2014/main" id="{7868CEA2-789D-E697-16FE-ACD6F7B6F760}"/>
                </a:ext>
              </a:extLst>
            </p:cNvPr>
            <p:cNvSpPr/>
            <p:nvPr userDrawn="1"/>
          </p:nvSpPr>
          <p:spPr>
            <a:xfrm rot="20700000">
              <a:off x="-247316" y="1017576"/>
              <a:ext cx="5315676" cy="1216909"/>
            </a:xfrm>
            <a:custGeom>
              <a:avLst/>
              <a:gdLst>
                <a:gd name="connsiteX0" fmla="*/ 5315676 w 5315676"/>
                <a:gd name="connsiteY0" fmla="*/ 0 h 1216909"/>
                <a:gd name="connsiteX1" fmla="*/ 4098766 w 5315676"/>
                <a:gd name="connsiteY1" fmla="*/ 1216909 h 1216909"/>
                <a:gd name="connsiteX2" fmla="*/ 4098766 w 5315676"/>
                <a:gd name="connsiteY2" fmla="*/ 1214099 h 1216909"/>
                <a:gd name="connsiteX3" fmla="*/ 0 w 5315676"/>
                <a:gd name="connsiteY3" fmla="*/ 1214099 h 1216909"/>
                <a:gd name="connsiteX4" fmla="*/ 325317 w 5315676"/>
                <a:gd name="connsiteY4" fmla="*/ 0 h 1216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5676" h="1216909">
                  <a:moveTo>
                    <a:pt x="5315676" y="0"/>
                  </a:moveTo>
                  <a:lnTo>
                    <a:pt x="4098766" y="1216909"/>
                  </a:lnTo>
                  <a:lnTo>
                    <a:pt x="4098766" y="1214099"/>
                  </a:lnTo>
                  <a:lnTo>
                    <a:pt x="0" y="1214099"/>
                  </a:lnTo>
                  <a:lnTo>
                    <a:pt x="325317"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58">
              <a:extLst>
                <a:ext uri="{FF2B5EF4-FFF2-40B4-BE49-F238E27FC236}">
                  <a16:creationId xmlns:a16="http://schemas.microsoft.com/office/drawing/2014/main" id="{A355C7A9-C0A5-8D5F-EB91-F99F6596BF4C}"/>
                </a:ext>
              </a:extLst>
            </p:cNvPr>
            <p:cNvSpPr/>
            <p:nvPr userDrawn="1"/>
          </p:nvSpPr>
          <p:spPr>
            <a:xfrm rot="20700000">
              <a:off x="-226351" y="2847108"/>
              <a:ext cx="4127824" cy="1222528"/>
            </a:xfrm>
            <a:custGeom>
              <a:avLst/>
              <a:gdLst>
                <a:gd name="connsiteX0" fmla="*/ 4127824 w 4127824"/>
                <a:gd name="connsiteY0" fmla="*/ 0 h 1222528"/>
                <a:gd name="connsiteX1" fmla="*/ 4127824 w 4127824"/>
                <a:gd name="connsiteY1" fmla="*/ 2811 h 1222528"/>
                <a:gd name="connsiteX2" fmla="*/ 2908106 w 4127824"/>
                <a:gd name="connsiteY2" fmla="*/ 1222528 h 1222528"/>
                <a:gd name="connsiteX3" fmla="*/ 2908106 w 4127824"/>
                <a:gd name="connsiteY3" fmla="*/ 1214099 h 1222528"/>
                <a:gd name="connsiteX4" fmla="*/ 0 w 4127824"/>
                <a:gd name="connsiteY4" fmla="*/ 1214099 h 1222528"/>
                <a:gd name="connsiteX5" fmla="*/ 325317 w 4127824"/>
                <a:gd name="connsiteY5" fmla="*/ 0 h 122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27824" h="1222528">
                  <a:moveTo>
                    <a:pt x="4127824" y="0"/>
                  </a:moveTo>
                  <a:lnTo>
                    <a:pt x="4127824" y="2811"/>
                  </a:lnTo>
                  <a:lnTo>
                    <a:pt x="2908106" y="1222528"/>
                  </a:lnTo>
                  <a:lnTo>
                    <a:pt x="2908106" y="1214099"/>
                  </a:lnTo>
                  <a:lnTo>
                    <a:pt x="0" y="1214099"/>
                  </a:lnTo>
                  <a:lnTo>
                    <a:pt x="325317"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61">
              <a:extLst>
                <a:ext uri="{FF2B5EF4-FFF2-40B4-BE49-F238E27FC236}">
                  <a16:creationId xmlns:a16="http://schemas.microsoft.com/office/drawing/2014/main" id="{1568EE0E-6087-7F47-4FC1-A508563439ED}"/>
                </a:ext>
              </a:extLst>
            </p:cNvPr>
            <p:cNvSpPr/>
            <p:nvPr userDrawn="1"/>
          </p:nvSpPr>
          <p:spPr>
            <a:xfrm rot="20700000">
              <a:off x="-206161" y="4676366"/>
              <a:ext cx="2942781" cy="1222530"/>
            </a:xfrm>
            <a:custGeom>
              <a:avLst/>
              <a:gdLst>
                <a:gd name="connsiteX0" fmla="*/ 2942781 w 2942781"/>
                <a:gd name="connsiteY0" fmla="*/ 0 h 1222530"/>
                <a:gd name="connsiteX1" fmla="*/ 2942781 w 2942781"/>
                <a:gd name="connsiteY1" fmla="*/ 2811 h 1222530"/>
                <a:gd name="connsiteX2" fmla="*/ 1723060 w 2942781"/>
                <a:gd name="connsiteY2" fmla="*/ 1222530 h 1222530"/>
                <a:gd name="connsiteX3" fmla="*/ 1723060 w 2942781"/>
                <a:gd name="connsiteY3" fmla="*/ 1214099 h 1222530"/>
                <a:gd name="connsiteX4" fmla="*/ 0 w 2942781"/>
                <a:gd name="connsiteY4" fmla="*/ 1214098 h 1222530"/>
                <a:gd name="connsiteX5" fmla="*/ 325316 w 2942781"/>
                <a:gd name="connsiteY5" fmla="*/ 0 h 1222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42781" h="1222530">
                  <a:moveTo>
                    <a:pt x="2942781" y="0"/>
                  </a:moveTo>
                  <a:lnTo>
                    <a:pt x="2942781" y="2811"/>
                  </a:lnTo>
                  <a:lnTo>
                    <a:pt x="1723060" y="1222530"/>
                  </a:lnTo>
                  <a:lnTo>
                    <a:pt x="1723060" y="1214099"/>
                  </a:lnTo>
                  <a:lnTo>
                    <a:pt x="0" y="1214098"/>
                  </a:lnTo>
                  <a:lnTo>
                    <a:pt x="325316"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Placeholder 1">
            <a:extLst>
              <a:ext uri="{FF2B5EF4-FFF2-40B4-BE49-F238E27FC236}">
                <a16:creationId xmlns:a16="http://schemas.microsoft.com/office/drawing/2014/main" id="{94D09C11-7276-B67A-A1A1-4C875D1ABA68}"/>
              </a:ext>
            </a:extLst>
          </p:cNvPr>
          <p:cNvSpPr>
            <a:spLocks noGrp="1"/>
          </p:cNvSpPr>
          <p:nvPr userDrawn="1">
            <p:ph type="title"/>
          </p:nvPr>
        </p:nvSpPr>
        <p:spPr>
          <a:xfrm>
            <a:off x="457200" y="493776"/>
            <a:ext cx="11275835" cy="804672"/>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64A7CC43-E171-1153-2B75-F702D7B914A8}"/>
              </a:ext>
            </a:extLst>
          </p:cNvPr>
          <p:cNvSpPr>
            <a:spLocks noGrp="1"/>
          </p:cNvSpPr>
          <p:nvPr userDrawn="1">
            <p:ph type="body" idx="1"/>
          </p:nvPr>
        </p:nvSpPr>
        <p:spPr>
          <a:xfrm>
            <a:off x="457201" y="1554480"/>
            <a:ext cx="11275834" cy="4247212"/>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hidden="1">
            <a:extLst>
              <a:ext uri="{FF2B5EF4-FFF2-40B4-BE49-F238E27FC236}">
                <a16:creationId xmlns:a16="http://schemas.microsoft.com/office/drawing/2014/main" id="{0BF76C95-9667-2357-762F-B7B15D7BA3E7}"/>
              </a:ext>
            </a:extLst>
          </p:cNvPr>
          <p:cNvPicPr>
            <a:picLocks noChangeAspect="1"/>
          </p:cNvPicPr>
          <p:nvPr userDrawn="1"/>
        </p:nvPicPr>
        <p:blipFill>
          <a:blip r:embed="rId18"/>
          <a:stretch>
            <a:fillRect/>
          </a:stretch>
        </p:blipFill>
        <p:spPr>
          <a:xfrm>
            <a:off x="199931" y="-813939"/>
            <a:ext cx="2208828" cy="563207"/>
          </a:xfrm>
          <a:prstGeom prst="rect">
            <a:avLst/>
          </a:prstGeom>
        </p:spPr>
      </p:pic>
      <p:grpSp>
        <p:nvGrpSpPr>
          <p:cNvPr id="38" name="Full Size" hidden="1">
            <a:extLst>
              <a:ext uri="{FF2B5EF4-FFF2-40B4-BE49-F238E27FC236}">
                <a16:creationId xmlns:a16="http://schemas.microsoft.com/office/drawing/2014/main" id="{CBF5D916-2559-D87A-6071-0827F3911641}"/>
              </a:ext>
            </a:extLst>
          </p:cNvPr>
          <p:cNvGrpSpPr/>
          <p:nvPr userDrawn="1"/>
        </p:nvGrpSpPr>
        <p:grpSpPr>
          <a:xfrm rot="-19800000">
            <a:off x="-13122649" y="-4850920"/>
            <a:ext cx="20342655" cy="21641432"/>
            <a:chOff x="-289533" y="-2834540"/>
            <a:chExt cx="9192657" cy="9779562"/>
          </a:xfrm>
        </p:grpSpPr>
        <p:sp>
          <p:nvSpPr>
            <p:cNvPr id="39" name="Freeform 38">
              <a:extLst>
                <a:ext uri="{FF2B5EF4-FFF2-40B4-BE49-F238E27FC236}">
                  <a16:creationId xmlns:a16="http://schemas.microsoft.com/office/drawing/2014/main" id="{09460502-8A0D-F9D8-E3FC-D3C35053B797}"/>
                </a:ext>
              </a:extLst>
            </p:cNvPr>
            <p:cNvSpPr/>
            <p:nvPr userDrawn="1"/>
          </p:nvSpPr>
          <p:spPr>
            <a:xfrm rot="18900000">
              <a:off x="8351944" y="-2834540"/>
              <a:ext cx="551180" cy="7708900"/>
            </a:xfrm>
            <a:custGeom>
              <a:avLst/>
              <a:gdLst>
                <a:gd name="connsiteX0" fmla="*/ 551180 w 551180"/>
                <a:gd name="connsiteY0" fmla="*/ 0 h 7708900"/>
                <a:gd name="connsiteX1" fmla="*/ 551180 w 551180"/>
                <a:gd name="connsiteY1" fmla="*/ 7708900 h 7708900"/>
                <a:gd name="connsiteX2" fmla="*/ 0 w 551180"/>
                <a:gd name="connsiteY2" fmla="*/ 7708900 h 7708900"/>
                <a:gd name="connsiteX3" fmla="*/ 0 w 551180"/>
                <a:gd name="connsiteY3" fmla="*/ 549910 h 7708900"/>
                <a:gd name="connsiteX4" fmla="*/ 549910 w 551180"/>
                <a:gd name="connsiteY4" fmla="*/ 0 h 7708900"/>
                <a:gd name="connsiteX5" fmla="*/ 551180 w 551180"/>
                <a:gd name="connsiteY5" fmla="*/ 0 h 770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1180" h="7708900">
                  <a:moveTo>
                    <a:pt x="551180" y="0"/>
                  </a:moveTo>
                  <a:lnTo>
                    <a:pt x="551180" y="7708900"/>
                  </a:lnTo>
                  <a:lnTo>
                    <a:pt x="0" y="7708900"/>
                  </a:lnTo>
                  <a:lnTo>
                    <a:pt x="0" y="549910"/>
                  </a:lnTo>
                  <a:lnTo>
                    <a:pt x="549910" y="0"/>
                  </a:lnTo>
                  <a:lnTo>
                    <a:pt x="55118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39">
              <a:extLst>
                <a:ext uri="{FF2B5EF4-FFF2-40B4-BE49-F238E27FC236}">
                  <a16:creationId xmlns:a16="http://schemas.microsoft.com/office/drawing/2014/main" id="{A5626CB4-BBEE-998F-0B0A-69DF05DFB1D9}"/>
                </a:ext>
              </a:extLst>
            </p:cNvPr>
            <p:cNvSpPr/>
            <p:nvPr userDrawn="1"/>
          </p:nvSpPr>
          <p:spPr>
            <a:xfrm rot="18900000">
              <a:off x="8350599" y="-1797133"/>
              <a:ext cx="551179" cy="7707629"/>
            </a:xfrm>
            <a:custGeom>
              <a:avLst/>
              <a:gdLst>
                <a:gd name="connsiteX0" fmla="*/ 551179 w 551179"/>
                <a:gd name="connsiteY0" fmla="*/ 0 h 7707629"/>
                <a:gd name="connsiteX1" fmla="*/ 551179 w 551179"/>
                <a:gd name="connsiteY1" fmla="*/ 7707629 h 7707629"/>
                <a:gd name="connsiteX2" fmla="*/ 0 w 551179"/>
                <a:gd name="connsiteY2" fmla="*/ 7707629 h 7707629"/>
                <a:gd name="connsiteX3" fmla="*/ 0 w 551179"/>
                <a:gd name="connsiteY3" fmla="*/ 551179 h 7707629"/>
                <a:gd name="connsiteX4" fmla="*/ 551179 w 551179"/>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79" h="7707629">
                  <a:moveTo>
                    <a:pt x="551179" y="0"/>
                  </a:moveTo>
                  <a:lnTo>
                    <a:pt x="551179" y="7707629"/>
                  </a:lnTo>
                  <a:lnTo>
                    <a:pt x="0" y="7707629"/>
                  </a:lnTo>
                  <a:lnTo>
                    <a:pt x="0" y="551179"/>
                  </a:lnTo>
                  <a:lnTo>
                    <a:pt x="551179" y="0"/>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40">
              <a:extLst>
                <a:ext uri="{FF2B5EF4-FFF2-40B4-BE49-F238E27FC236}">
                  <a16:creationId xmlns:a16="http://schemas.microsoft.com/office/drawing/2014/main" id="{6C2146AF-D932-DAFB-A40A-398827AB05D0}"/>
                </a:ext>
              </a:extLst>
            </p:cNvPr>
            <p:cNvSpPr/>
            <p:nvPr userDrawn="1"/>
          </p:nvSpPr>
          <p:spPr>
            <a:xfrm rot="18900000">
              <a:off x="8350597" y="-762607"/>
              <a:ext cx="551180" cy="7707629"/>
            </a:xfrm>
            <a:custGeom>
              <a:avLst/>
              <a:gdLst>
                <a:gd name="connsiteX0" fmla="*/ 551180 w 551180"/>
                <a:gd name="connsiteY0" fmla="*/ 0 h 7707629"/>
                <a:gd name="connsiteX1" fmla="*/ 551180 w 551180"/>
                <a:gd name="connsiteY1" fmla="*/ 7707629 h 7707629"/>
                <a:gd name="connsiteX2" fmla="*/ 0 w 551180"/>
                <a:gd name="connsiteY2" fmla="*/ 7707629 h 7707629"/>
                <a:gd name="connsiteX3" fmla="*/ 0 w 551180"/>
                <a:gd name="connsiteY3" fmla="*/ 551180 h 7707629"/>
                <a:gd name="connsiteX4" fmla="*/ 551180 w 551180"/>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80" h="7707629">
                  <a:moveTo>
                    <a:pt x="551180" y="0"/>
                  </a:moveTo>
                  <a:lnTo>
                    <a:pt x="551180" y="7707629"/>
                  </a:lnTo>
                  <a:lnTo>
                    <a:pt x="0" y="7707629"/>
                  </a:lnTo>
                  <a:lnTo>
                    <a:pt x="0" y="551180"/>
                  </a:lnTo>
                  <a:lnTo>
                    <a:pt x="551180" y="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a:extLst>
                <a:ext uri="{FF2B5EF4-FFF2-40B4-BE49-F238E27FC236}">
                  <a16:creationId xmlns:a16="http://schemas.microsoft.com/office/drawing/2014/main" id="{F07F8016-2972-8815-07A3-91499D9D4BAE}"/>
                </a:ext>
              </a:extLst>
            </p:cNvPr>
            <p:cNvSpPr/>
            <p:nvPr userDrawn="1"/>
          </p:nvSpPr>
          <p:spPr>
            <a:xfrm rot="18900000">
              <a:off x="-288451" y="744955"/>
              <a:ext cx="7707630" cy="549910"/>
            </a:xfrm>
            <a:custGeom>
              <a:avLst/>
              <a:gdLst>
                <a:gd name="connsiteX0" fmla="*/ 7707630 w 7707630"/>
                <a:gd name="connsiteY0" fmla="*/ 0 h 549910"/>
                <a:gd name="connsiteX1" fmla="*/ 7157720 w 7707630"/>
                <a:gd name="connsiteY1" fmla="*/ 549910 h 549910"/>
                <a:gd name="connsiteX2" fmla="*/ 7157720 w 7707630"/>
                <a:gd name="connsiteY2" fmla="*/ 548640 h 549910"/>
                <a:gd name="connsiteX3" fmla="*/ 0 w 7707630"/>
                <a:gd name="connsiteY3" fmla="*/ 548640 h 549910"/>
                <a:gd name="connsiteX4" fmla="*/ 0 w 7707630"/>
                <a:gd name="connsiteY4" fmla="*/ 0 h 549910"/>
                <a:gd name="connsiteX5" fmla="*/ 7707630 w 7707630"/>
                <a:gd name="connsiteY5" fmla="*/ 0 h 54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07630" h="549910">
                  <a:moveTo>
                    <a:pt x="7707630" y="0"/>
                  </a:moveTo>
                  <a:lnTo>
                    <a:pt x="7157720" y="549910"/>
                  </a:lnTo>
                  <a:lnTo>
                    <a:pt x="7157720" y="548640"/>
                  </a:lnTo>
                  <a:lnTo>
                    <a:pt x="0" y="548640"/>
                  </a:lnTo>
                  <a:lnTo>
                    <a:pt x="0" y="0"/>
                  </a:lnTo>
                  <a:lnTo>
                    <a:pt x="7707630"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42">
              <a:extLst>
                <a:ext uri="{FF2B5EF4-FFF2-40B4-BE49-F238E27FC236}">
                  <a16:creationId xmlns:a16="http://schemas.microsoft.com/office/drawing/2014/main" id="{82852362-83F5-9AD4-AD9F-53F2E0292D33}"/>
                </a:ext>
              </a:extLst>
            </p:cNvPr>
            <p:cNvSpPr/>
            <p:nvPr userDrawn="1"/>
          </p:nvSpPr>
          <p:spPr>
            <a:xfrm rot="18900000">
              <a:off x="-289533" y="1780457"/>
              <a:ext cx="7708899" cy="552449"/>
            </a:xfrm>
            <a:custGeom>
              <a:avLst/>
              <a:gdLst>
                <a:gd name="connsiteX0" fmla="*/ 7708899 w 7708899"/>
                <a:gd name="connsiteY0" fmla="*/ 0 h 552449"/>
                <a:gd name="connsiteX1" fmla="*/ 7708899 w 7708899"/>
                <a:gd name="connsiteY1" fmla="*/ 1270 h 552449"/>
                <a:gd name="connsiteX2" fmla="*/ 7157720 w 7708899"/>
                <a:gd name="connsiteY2" fmla="*/ 552449 h 552449"/>
                <a:gd name="connsiteX3" fmla="*/ 7157720 w 7708899"/>
                <a:gd name="connsiteY3" fmla="*/ 548640 h 552449"/>
                <a:gd name="connsiteX4" fmla="*/ 0 w 7708899"/>
                <a:gd name="connsiteY4" fmla="*/ 548640 h 552449"/>
                <a:gd name="connsiteX5" fmla="*/ 0 w 7708899"/>
                <a:gd name="connsiteY5" fmla="*/ 0 h 552449"/>
                <a:gd name="connsiteX6" fmla="*/ 7708899 w 7708899"/>
                <a:gd name="connsiteY6" fmla="*/ 0 h 552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49">
                  <a:moveTo>
                    <a:pt x="7708899" y="0"/>
                  </a:moveTo>
                  <a:lnTo>
                    <a:pt x="7708899" y="1270"/>
                  </a:lnTo>
                  <a:lnTo>
                    <a:pt x="7157720" y="552449"/>
                  </a:lnTo>
                  <a:lnTo>
                    <a:pt x="7157720" y="548640"/>
                  </a:lnTo>
                  <a:lnTo>
                    <a:pt x="0" y="548640"/>
                  </a:lnTo>
                  <a:lnTo>
                    <a:pt x="0" y="0"/>
                  </a:lnTo>
                  <a:lnTo>
                    <a:pt x="7708899"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43">
              <a:extLst>
                <a:ext uri="{FF2B5EF4-FFF2-40B4-BE49-F238E27FC236}">
                  <a16:creationId xmlns:a16="http://schemas.microsoft.com/office/drawing/2014/main" id="{E7216B24-9E3B-FE57-A75D-569327BB05D9}"/>
                </a:ext>
              </a:extLst>
            </p:cNvPr>
            <p:cNvSpPr/>
            <p:nvPr userDrawn="1"/>
          </p:nvSpPr>
          <p:spPr>
            <a:xfrm rot="18900000">
              <a:off x="-289533" y="2814982"/>
              <a:ext cx="7708899" cy="552450"/>
            </a:xfrm>
            <a:custGeom>
              <a:avLst/>
              <a:gdLst>
                <a:gd name="connsiteX0" fmla="*/ 7708899 w 7708899"/>
                <a:gd name="connsiteY0" fmla="*/ 0 h 552450"/>
                <a:gd name="connsiteX1" fmla="*/ 7708899 w 7708899"/>
                <a:gd name="connsiteY1" fmla="*/ 1270 h 552450"/>
                <a:gd name="connsiteX2" fmla="*/ 7157719 w 7708899"/>
                <a:gd name="connsiteY2" fmla="*/ 552450 h 552450"/>
                <a:gd name="connsiteX3" fmla="*/ 7157719 w 7708899"/>
                <a:gd name="connsiteY3" fmla="*/ 548640 h 552450"/>
                <a:gd name="connsiteX4" fmla="*/ 0 w 7708899"/>
                <a:gd name="connsiteY4" fmla="*/ 548640 h 552450"/>
                <a:gd name="connsiteX5" fmla="*/ 0 w 7708899"/>
                <a:gd name="connsiteY5" fmla="*/ 0 h 552450"/>
                <a:gd name="connsiteX6" fmla="*/ 7708899 w 7708899"/>
                <a:gd name="connsiteY6" fmla="*/ 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50">
                  <a:moveTo>
                    <a:pt x="7708899" y="0"/>
                  </a:moveTo>
                  <a:lnTo>
                    <a:pt x="7708899" y="1270"/>
                  </a:lnTo>
                  <a:lnTo>
                    <a:pt x="7157719" y="552450"/>
                  </a:lnTo>
                  <a:lnTo>
                    <a:pt x="7157719" y="548640"/>
                  </a:lnTo>
                  <a:lnTo>
                    <a:pt x="0" y="548640"/>
                  </a:lnTo>
                  <a:lnTo>
                    <a:pt x="0" y="0"/>
                  </a:lnTo>
                  <a:lnTo>
                    <a:pt x="7708899"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0" name="Rectangle 9">
            <a:extLst>
              <a:ext uri="{FF2B5EF4-FFF2-40B4-BE49-F238E27FC236}">
                <a16:creationId xmlns:a16="http://schemas.microsoft.com/office/drawing/2014/main" id="{F3B603B8-6657-DBEA-8218-6D5AF03436ED}"/>
              </a:ext>
            </a:extLst>
          </p:cNvPr>
          <p:cNvSpPr/>
          <p:nvPr userDrawn="1"/>
        </p:nvSpPr>
        <p:spPr>
          <a:xfrm>
            <a:off x="0" y="6128899"/>
            <a:ext cx="12192000" cy="559648"/>
          </a:xfrm>
          <a:prstGeom prst="rect">
            <a:avLst/>
          </a:prstGeom>
          <a:gradFill flip="none" rotWithShape="1">
            <a:gsLst>
              <a:gs pos="96000">
                <a:schemeClr val="bg1">
                  <a:alpha val="50000"/>
                </a:schemeClr>
              </a:gs>
              <a:gs pos="25000">
                <a:schemeClr val="bg1">
                  <a:alpha val="0"/>
                </a:scheme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blue and black logo&#10;&#10;AI-generated content may be incorrect.">
            <a:extLst>
              <a:ext uri="{FF2B5EF4-FFF2-40B4-BE49-F238E27FC236}">
                <a16:creationId xmlns:a16="http://schemas.microsoft.com/office/drawing/2014/main" id="{16D4158C-5B8E-5DB6-2358-80EF43FEA6C9}"/>
              </a:ext>
            </a:extLst>
          </p:cNvPr>
          <p:cNvPicPr>
            <a:picLocks noChangeAspect="1"/>
          </p:cNvPicPr>
          <p:nvPr userDrawn="1"/>
        </p:nvPicPr>
        <p:blipFill>
          <a:blip r:embed="rId19"/>
          <a:stretch>
            <a:fillRect/>
          </a:stretch>
        </p:blipFill>
        <p:spPr>
          <a:xfrm>
            <a:off x="10064218" y="6251684"/>
            <a:ext cx="1239653" cy="314078"/>
          </a:xfrm>
          <a:prstGeom prst="rect">
            <a:avLst/>
          </a:prstGeom>
        </p:spPr>
      </p:pic>
      <p:sp>
        <p:nvSpPr>
          <p:cNvPr id="4" name="TextBox 3">
            <a:extLst>
              <a:ext uri="{FF2B5EF4-FFF2-40B4-BE49-F238E27FC236}">
                <a16:creationId xmlns:a16="http://schemas.microsoft.com/office/drawing/2014/main" id="{9C1E0DA9-3015-34A0-4456-518524F4A5A9}"/>
              </a:ext>
            </a:extLst>
          </p:cNvPr>
          <p:cNvSpPr txBox="1"/>
          <p:nvPr userDrawn="1"/>
        </p:nvSpPr>
        <p:spPr>
          <a:xfrm>
            <a:off x="11303871" y="6303527"/>
            <a:ext cx="429164" cy="210391"/>
          </a:xfrm>
          <a:prstGeom prst="rect">
            <a:avLst/>
          </a:prstGeom>
          <a:noFill/>
        </p:spPr>
        <p:txBody>
          <a:bodyPr wrap="square" lIns="0" tIns="0" rIns="0" bIns="0" rtlCol="0" anchor="t" anchorCtr="0">
            <a:noAutofit/>
          </a:bodyPr>
          <a:lstStyle/>
          <a:p>
            <a:pPr marL="0" algn="r" defTabSz="914400" rtl="0" eaLnBrk="1" latinLnBrk="0" hangingPunct="1"/>
            <a:fld id="{B14C4DC2-5DCA-497B-95BC-EA9B7B01D74F}" type="slidenum">
              <a:rPr lang="en-ID" sz="1000" b="0" kern="1200" smtClean="0">
                <a:solidFill>
                  <a:schemeClr val="bg2">
                    <a:lumMod val="25000"/>
                  </a:schemeClr>
                </a:solidFill>
                <a:latin typeface="+mn-lt"/>
                <a:ea typeface="+mn-ea"/>
                <a:cs typeface="+mn-cs"/>
              </a:rPr>
              <a:pPr marL="0" algn="r" defTabSz="914400" rtl="0" eaLnBrk="1" latinLnBrk="0" hangingPunct="1"/>
              <a:t>‹#›</a:t>
            </a:fld>
            <a:endParaRPr lang="en-ID" sz="1000" b="0" kern="1200">
              <a:solidFill>
                <a:schemeClr val="bg2">
                  <a:lumMod val="25000"/>
                </a:schemeClr>
              </a:solidFill>
              <a:latin typeface="+mn-lt"/>
              <a:ea typeface="+mn-ea"/>
              <a:cs typeface="+mn-cs"/>
            </a:endParaRPr>
          </a:p>
        </p:txBody>
      </p:sp>
    </p:spTree>
    <p:extLst>
      <p:ext uri="{BB962C8B-B14F-4D97-AF65-F5344CB8AC3E}">
        <p14:creationId xmlns:p14="http://schemas.microsoft.com/office/powerpoint/2010/main" val="3754868560"/>
      </p:ext>
    </p:extLst>
  </p:cSld>
  <p:clrMap bg1="lt1" tx1="dk1" bg2="lt2" tx2="dk2" accent1="accent1" accent2="accent2" accent3="accent3" accent4="accent4" accent5="accent5" accent6="accent6" hlink="hlink" folHlink="folHlink"/>
  <p:sldLayoutIdLst>
    <p:sldLayoutId id="2147485857" r:id="rId1"/>
    <p:sldLayoutId id="2147486010" r:id="rId2"/>
    <p:sldLayoutId id="2147485862" r:id="rId3"/>
    <p:sldLayoutId id="2147485863" r:id="rId4"/>
    <p:sldLayoutId id="2147485865" r:id="rId5"/>
    <p:sldLayoutId id="2147485866" r:id="rId6"/>
    <p:sldLayoutId id="2147485873" r:id="rId7"/>
    <p:sldLayoutId id="2147485881" r:id="rId8"/>
    <p:sldLayoutId id="2147485882" r:id="rId9"/>
    <p:sldLayoutId id="2147485883" r:id="rId10"/>
    <p:sldLayoutId id="2147486060" r:id="rId11"/>
    <p:sldLayoutId id="2147486073" r:id="rId12"/>
    <p:sldLayoutId id="2147486095" r:id="rId13"/>
    <p:sldLayoutId id="2147486175" r:id="rId14"/>
    <p:sldLayoutId id="2147486176" r:id="rId15"/>
  </p:sldLayoutIdLst>
  <p:hf hdr="0" ftr="0" dt="0"/>
  <p:txStyles>
    <p:titleStyle>
      <a:lvl1pPr algn="l" defTabSz="914400" rtl="0" eaLnBrk="1" latinLnBrk="0" hangingPunct="1">
        <a:lnSpc>
          <a:spcPct val="90000"/>
        </a:lnSpc>
        <a:spcBef>
          <a:spcPct val="0"/>
        </a:spcBef>
        <a:buNone/>
        <a:defRPr sz="3200" kern="1200">
          <a:solidFill>
            <a:srgbClr val="000A62"/>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00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16">
          <p15:clr>
            <a:srgbClr val="F26B43"/>
          </p15:clr>
        </p15:guide>
        <p15:guide id="2" pos="396">
          <p15:clr>
            <a:srgbClr val="F26B43"/>
          </p15:clr>
        </p15:guide>
        <p15:guide id="3" pos="7287">
          <p15:clr>
            <a:srgbClr val="F26B43"/>
          </p15:clr>
        </p15:guide>
        <p15:guide id="4" orient="horz" pos="375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7.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jpe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jpe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8.emf"/><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jpeg"/><Relationship Id="rId7"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10.png"/><Relationship Id="rId4" Type="http://schemas.openxmlformats.org/officeDocument/2006/relationships/image" Target="../media/image20.jpeg"/><Relationship Id="rId9"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14.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14.xml"/><Relationship Id="rId5" Type="http://schemas.openxmlformats.org/officeDocument/2006/relationships/image" Target="../media/image34.png"/><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5.xml.rels><?xml version="1.0" encoding="UTF-8" standalone="yes"?>
<Relationships xmlns="http://schemas.openxmlformats.org/package/2006/relationships"><Relationship Id="rId3" Type="http://schemas.openxmlformats.org/officeDocument/2006/relationships/hyperlink" Target="mailto:advisorsymposium@newyorklife.com"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3" Type="http://schemas.openxmlformats.org/officeDocument/2006/relationships/hyperlink" Target="mailto:NYLIC_University@newyorklife.com"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hyperlink" Target="mailto:CE@theamericancollege.edu" TargetMode="Externa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15.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2DE8A6-7F5D-DA8D-6277-B03F5352FC5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9916" y="457171"/>
            <a:ext cx="11272168" cy="5610254"/>
          </a:xfrm>
          <a:prstGeom prst="rect">
            <a:avLst/>
          </a:prstGeom>
        </p:spPr>
      </p:pic>
      <p:sp>
        <p:nvSpPr>
          <p:cNvPr id="4" name="Title 2">
            <a:extLst>
              <a:ext uri="{FF2B5EF4-FFF2-40B4-BE49-F238E27FC236}">
                <a16:creationId xmlns:a16="http://schemas.microsoft.com/office/drawing/2014/main" id="{6FBE3A7A-2278-7A8C-92B9-784ED78AA5D5}"/>
              </a:ext>
            </a:extLst>
          </p:cNvPr>
          <p:cNvSpPr txBox="1">
            <a:spLocks/>
          </p:cNvSpPr>
          <p:nvPr/>
        </p:nvSpPr>
        <p:spPr>
          <a:xfrm>
            <a:off x="411483" y="4324124"/>
            <a:ext cx="3868058" cy="1107996"/>
          </a:xfrm>
          <a:prstGeom prst="rect">
            <a:avLst/>
          </a:prstGeom>
        </p:spPr>
        <p:txBody>
          <a:bodyPr vert="horz" wrap="square" lIns="0" tIns="0" rIns="0" bIns="0" rtlCol="0" anchor="t" anchorCtr="0">
            <a:spAutoFit/>
          </a:bodyPr>
          <a:lstStyle>
            <a:lvl1pPr algn="l" defTabSz="914400" rtl="0" eaLnBrk="1" latinLnBrk="0" hangingPunct="1">
              <a:lnSpc>
                <a:spcPct val="100000"/>
              </a:lnSpc>
              <a:spcBef>
                <a:spcPct val="0"/>
              </a:spcBef>
              <a:buNone/>
              <a:defRPr sz="3200" kern="1200">
                <a:solidFill>
                  <a:schemeClr val="bg1"/>
                </a:solidFill>
                <a:latin typeface="+mj-lt"/>
                <a:ea typeface="+mj-ea"/>
                <a:cs typeface="+mj-cs"/>
              </a:defRPr>
            </a:lvl1pPr>
          </a:lstStyle>
          <a:p>
            <a:r>
              <a:rPr lang="en-US" sz="3600">
                <a:solidFill>
                  <a:schemeClr val="tx1"/>
                </a:solidFill>
              </a:rPr>
              <a:t>What’s important this week</a:t>
            </a:r>
          </a:p>
        </p:txBody>
      </p:sp>
      <p:pic>
        <p:nvPicPr>
          <p:cNvPr id="10" name="Graphic 9">
            <a:extLst>
              <a:ext uri="{FF2B5EF4-FFF2-40B4-BE49-F238E27FC236}">
                <a16:creationId xmlns:a16="http://schemas.microsoft.com/office/drawing/2014/main" id="{1E2BA9F7-3E19-DF27-0E67-641BC67A603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7200" y="457200"/>
            <a:ext cx="868683" cy="868683"/>
          </a:xfrm>
          <a:prstGeom prst="rect">
            <a:avLst/>
          </a:prstGeom>
        </p:spPr>
      </p:pic>
    </p:spTree>
    <p:extLst>
      <p:ext uri="{BB962C8B-B14F-4D97-AF65-F5344CB8AC3E}">
        <p14:creationId xmlns:p14="http://schemas.microsoft.com/office/powerpoint/2010/main" val="1095865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21207" y="6323076"/>
            <a:ext cx="5394960" cy="146304"/>
          </a:xfrm>
          <a:prstGeom prst="rect">
            <a:avLst/>
          </a:prstGeom>
          <a:noFill/>
        </p:spPr>
        <p:txBody>
          <a:bodyPr wrap="square" lIns="0" tIns="0" r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tIns="0" r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tIns="0" r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tIns="18288" rIns="36576" bIns="18288">
            <a:spAutoFit/>
          </a:bodyPr>
          <a:lstStyle/>
          <a:p>
            <a:pPr algn="l"/>
            <a:r>
              <a:rPr sz="3200" b="1" i="0">
                <a:solidFill>
                  <a:srgbClr val="0468FF"/>
                </a:solidFill>
                <a:latin typeface="Arial"/>
              </a:rPr>
              <a:t>Top Performers</a:t>
            </a:r>
          </a:p>
        </p:txBody>
      </p:sp>
      <p:sp>
        <p:nvSpPr>
          <p:cNvPr id="9" name="TextBox 8"/>
          <p:cNvSpPr txBox="1"/>
          <p:nvPr/>
        </p:nvSpPr>
        <p:spPr>
          <a:xfrm>
            <a:off x="713232" y="1353312"/>
            <a:ext cx="10881360" cy="310896"/>
          </a:xfrm>
          <a:prstGeom prst="rect">
            <a:avLst/>
          </a:prstGeom>
          <a:noFill/>
        </p:spPr>
        <p:txBody>
          <a:bodyPr wrap="square" lIns="36576" tIns="18288" rIns="36576" bIns="18288">
            <a:spAutoFit/>
          </a:bodyPr>
          <a:lstStyle/>
          <a:p>
            <a:pPr algn="l"/>
            <a:r>
              <a:rPr sz="1600" b="0" i="0">
                <a:solidFill>
                  <a:srgbClr val="000962"/>
                </a:solidFill>
                <a:latin typeface="Arial"/>
              </a:rPr>
              <a:t>July life case bonus. Qualification period July 1 to July 31, 2026.</a:t>
            </a:r>
          </a:p>
        </p:txBody>
      </p:sp>
      <p:sp>
        <p:nvSpPr>
          <p:cNvPr id="10" name="Rectangle 9"/>
          <p:cNvSpPr/>
          <p:nvPr/>
        </p:nvSpPr>
        <p:spPr>
          <a:xfrm>
            <a:off x="777240" y="1755648"/>
            <a:ext cx="3401568" cy="676656"/>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23544" y="1792224"/>
            <a:ext cx="3108960" cy="182880"/>
          </a:xfrm>
          <a:prstGeom prst="rect">
            <a:avLst/>
          </a:prstGeom>
          <a:noFill/>
        </p:spPr>
        <p:txBody>
          <a:bodyPr wrap="square" lIns="36576" tIns="18288" rIns="36576" bIns="18288">
            <a:spAutoFit/>
          </a:bodyPr>
          <a:lstStyle/>
          <a:p>
            <a:pPr algn="l"/>
            <a:r>
              <a:rPr sz="1000" b="0" i="0">
                <a:solidFill>
                  <a:srgbClr val="46648C"/>
                </a:solidFill>
                <a:latin typeface="Arial"/>
              </a:rPr>
              <a:t>Agents qualified</a:t>
            </a:r>
          </a:p>
        </p:txBody>
      </p:sp>
      <p:sp>
        <p:nvSpPr>
          <p:cNvPr id="12" name="TextBox 11"/>
          <p:cNvSpPr txBox="1"/>
          <p:nvPr/>
        </p:nvSpPr>
        <p:spPr>
          <a:xfrm>
            <a:off x="923544" y="1965960"/>
            <a:ext cx="3108960" cy="274320"/>
          </a:xfrm>
          <a:prstGeom prst="rect">
            <a:avLst/>
          </a:prstGeom>
          <a:noFill/>
        </p:spPr>
        <p:txBody>
          <a:bodyPr wrap="square" lIns="36576" tIns="18288" rIns="36576" bIns="18288">
            <a:spAutoFit/>
          </a:bodyPr>
          <a:lstStyle/>
          <a:p>
            <a:pPr algn="l"/>
            <a:r>
              <a:rPr sz="1900" b="1" i="0">
                <a:solidFill>
                  <a:srgbClr val="0468FF"/>
                </a:solidFill>
                <a:latin typeface="Arial"/>
              </a:rPr>
              <a:t>11</a:t>
            </a:r>
          </a:p>
        </p:txBody>
      </p:sp>
      <p:sp>
        <p:nvSpPr>
          <p:cNvPr id="13" name="TextBox 12"/>
          <p:cNvSpPr txBox="1"/>
          <p:nvPr/>
        </p:nvSpPr>
        <p:spPr>
          <a:xfrm>
            <a:off x="923544" y="2249424"/>
            <a:ext cx="3108960" cy="182880"/>
          </a:xfrm>
          <a:prstGeom prst="rect">
            <a:avLst/>
          </a:prstGeom>
          <a:noFill/>
        </p:spPr>
        <p:txBody>
          <a:bodyPr wrap="square" lIns="36576" tIns="18288" rIns="36576" bIns="18288">
            <a:spAutoFit/>
          </a:bodyPr>
          <a:lstStyle/>
          <a:p>
            <a:pPr algn="l"/>
            <a:r>
              <a:rPr sz="950" b="0" i="0">
                <a:solidFill>
                  <a:srgbClr val="46648C"/>
                </a:solidFill>
                <a:latin typeface="Arial"/>
              </a:rPr>
              <a:t>New Org agents, PTAS excluded</a:t>
            </a:r>
          </a:p>
        </p:txBody>
      </p:sp>
      <p:sp>
        <p:nvSpPr>
          <p:cNvPr id="14" name="Rectangle 13"/>
          <p:cNvSpPr/>
          <p:nvPr/>
        </p:nvSpPr>
        <p:spPr>
          <a:xfrm>
            <a:off x="4416552" y="1755648"/>
            <a:ext cx="3401568" cy="676656"/>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62856" y="1792224"/>
            <a:ext cx="3108960" cy="182880"/>
          </a:xfrm>
          <a:prstGeom prst="rect">
            <a:avLst/>
          </a:prstGeom>
          <a:noFill/>
        </p:spPr>
        <p:txBody>
          <a:bodyPr wrap="square" lIns="36576" tIns="18288" rIns="36576" bIns="18288">
            <a:spAutoFit/>
          </a:bodyPr>
          <a:lstStyle/>
          <a:p>
            <a:pPr algn="l"/>
            <a:r>
              <a:rPr sz="1000" b="0" i="0">
                <a:solidFill>
                  <a:srgbClr val="46648C"/>
                </a:solidFill>
                <a:latin typeface="Arial"/>
              </a:rPr>
              <a:t>Paid life cases</a:t>
            </a:r>
          </a:p>
        </p:txBody>
      </p:sp>
      <p:sp>
        <p:nvSpPr>
          <p:cNvPr id="16" name="TextBox 15"/>
          <p:cNvSpPr txBox="1"/>
          <p:nvPr/>
        </p:nvSpPr>
        <p:spPr>
          <a:xfrm>
            <a:off x="4562856" y="1965960"/>
            <a:ext cx="3108960" cy="274320"/>
          </a:xfrm>
          <a:prstGeom prst="rect">
            <a:avLst/>
          </a:prstGeom>
          <a:noFill/>
        </p:spPr>
        <p:txBody>
          <a:bodyPr wrap="square" lIns="36576" tIns="18288" rIns="36576" bIns="18288">
            <a:spAutoFit/>
          </a:bodyPr>
          <a:lstStyle/>
          <a:p>
            <a:pPr algn="l"/>
            <a:r>
              <a:rPr sz="1900" b="1" i="0">
                <a:solidFill>
                  <a:srgbClr val="0468FF"/>
                </a:solidFill>
                <a:latin typeface="Arial"/>
              </a:rPr>
              <a:t>47.77</a:t>
            </a:r>
          </a:p>
        </p:txBody>
      </p:sp>
      <p:sp>
        <p:nvSpPr>
          <p:cNvPr id="17" name="TextBox 16"/>
          <p:cNvSpPr txBox="1"/>
          <p:nvPr/>
        </p:nvSpPr>
        <p:spPr>
          <a:xfrm>
            <a:off x="4562856" y="2249424"/>
            <a:ext cx="3108960" cy="182880"/>
          </a:xfrm>
          <a:prstGeom prst="rect">
            <a:avLst/>
          </a:prstGeom>
          <a:noFill/>
        </p:spPr>
        <p:txBody>
          <a:bodyPr wrap="square" lIns="36576" tIns="18288" rIns="36576" bIns="18288">
            <a:spAutoFit/>
          </a:bodyPr>
          <a:lstStyle/>
          <a:p>
            <a:pPr algn="l"/>
            <a:r>
              <a:rPr sz="950" b="0" i="0">
                <a:solidFill>
                  <a:srgbClr val="46648C"/>
                </a:solidFill>
                <a:latin typeface="Arial"/>
              </a:rPr>
              <a:t>Credited in the July window</a:t>
            </a:r>
          </a:p>
        </p:txBody>
      </p:sp>
      <p:sp>
        <p:nvSpPr>
          <p:cNvPr id="18" name="Rectangle 17"/>
          <p:cNvSpPr/>
          <p:nvPr/>
        </p:nvSpPr>
        <p:spPr>
          <a:xfrm>
            <a:off x="8055864" y="1755648"/>
            <a:ext cx="3401568" cy="676656"/>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02168" y="1792224"/>
            <a:ext cx="3108960" cy="182880"/>
          </a:xfrm>
          <a:prstGeom prst="rect">
            <a:avLst/>
          </a:prstGeom>
          <a:noFill/>
        </p:spPr>
        <p:txBody>
          <a:bodyPr wrap="square" lIns="36576" tIns="18288" rIns="36576" bIns="18288">
            <a:spAutoFit/>
          </a:bodyPr>
          <a:lstStyle/>
          <a:p>
            <a:pPr algn="l"/>
            <a:r>
              <a:rPr sz="1000" b="0" i="0">
                <a:solidFill>
                  <a:srgbClr val="46648C"/>
                </a:solidFill>
                <a:latin typeface="Arial"/>
              </a:rPr>
              <a:t>Bonuses earned</a:t>
            </a:r>
          </a:p>
        </p:txBody>
      </p:sp>
      <p:sp>
        <p:nvSpPr>
          <p:cNvPr id="20" name="TextBox 19"/>
          <p:cNvSpPr txBox="1"/>
          <p:nvPr/>
        </p:nvSpPr>
        <p:spPr>
          <a:xfrm>
            <a:off x="8202168" y="1965960"/>
            <a:ext cx="3108960" cy="274320"/>
          </a:xfrm>
          <a:prstGeom prst="rect">
            <a:avLst/>
          </a:prstGeom>
          <a:noFill/>
        </p:spPr>
        <p:txBody>
          <a:bodyPr wrap="square" lIns="36576" tIns="18288" rIns="36576" bIns="18288">
            <a:spAutoFit/>
          </a:bodyPr>
          <a:lstStyle/>
          <a:p>
            <a:pPr algn="l"/>
            <a:r>
              <a:rPr sz="1900" b="1" i="0">
                <a:solidFill>
                  <a:srgbClr val="0468FF"/>
                </a:solidFill>
                <a:latin typeface="Arial"/>
              </a:rPr>
              <a:t>$3,750</a:t>
            </a:r>
          </a:p>
        </p:txBody>
      </p:sp>
      <p:sp>
        <p:nvSpPr>
          <p:cNvPr id="21" name="TextBox 20"/>
          <p:cNvSpPr txBox="1"/>
          <p:nvPr/>
        </p:nvSpPr>
        <p:spPr>
          <a:xfrm>
            <a:off x="8202168" y="2249424"/>
            <a:ext cx="3108960" cy="182880"/>
          </a:xfrm>
          <a:prstGeom prst="rect">
            <a:avLst/>
          </a:prstGeom>
          <a:noFill/>
        </p:spPr>
        <p:txBody>
          <a:bodyPr wrap="square" lIns="36576" tIns="18288" rIns="36576" bIns="18288">
            <a:spAutoFit/>
          </a:bodyPr>
          <a:lstStyle/>
          <a:p>
            <a:pPr algn="l"/>
            <a:r>
              <a:rPr sz="950" b="0" i="0">
                <a:solidFill>
                  <a:srgbClr val="46648C"/>
                </a:solidFill>
                <a:latin typeface="Arial"/>
              </a:rPr>
              <a:t>Credited in August through EAP</a:t>
            </a:r>
          </a:p>
        </p:txBody>
      </p:sp>
      <p:sp>
        <p:nvSpPr>
          <p:cNvPr id="22" name="Rectangle 21"/>
          <p:cNvSpPr/>
          <p:nvPr/>
        </p:nvSpPr>
        <p:spPr>
          <a:xfrm>
            <a:off x="777240" y="2578608"/>
            <a:ext cx="256032" cy="201168"/>
          </a:xfrm>
          <a:prstGeom prst="rect">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115568" y="2551176"/>
            <a:ext cx="4023360" cy="237744"/>
          </a:xfrm>
          <a:prstGeom prst="rect">
            <a:avLst/>
          </a:prstGeom>
          <a:noFill/>
        </p:spPr>
        <p:txBody>
          <a:bodyPr wrap="square" lIns="36576" tIns="18288" rIns="36576" bIns="18288">
            <a:spAutoFit/>
          </a:bodyPr>
          <a:lstStyle/>
          <a:p>
            <a:pPr algn="l"/>
            <a:r>
              <a:rPr sz="1400" b="1" i="0">
                <a:solidFill>
                  <a:srgbClr val="0468FF"/>
                </a:solidFill>
                <a:latin typeface="Arial"/>
              </a:rPr>
              <a:t>Bonus doubled to $500</a:t>
            </a:r>
          </a:p>
        </p:txBody>
      </p:sp>
      <p:sp>
        <p:nvSpPr>
          <p:cNvPr id="24" name="TextBox 23"/>
          <p:cNvSpPr txBox="1"/>
          <p:nvPr/>
        </p:nvSpPr>
        <p:spPr>
          <a:xfrm>
            <a:off x="777240" y="2779776"/>
            <a:ext cx="5074920" cy="182880"/>
          </a:xfrm>
          <a:prstGeom prst="rect">
            <a:avLst/>
          </a:prstGeom>
          <a:noFill/>
        </p:spPr>
        <p:txBody>
          <a:bodyPr wrap="square" lIns="36576" tIns="18288" rIns="36576" bIns="18288">
            <a:spAutoFit/>
          </a:bodyPr>
          <a:lstStyle/>
          <a:p>
            <a:pPr algn="l"/>
            <a:r>
              <a:rPr sz="1000" b="0" i="0">
                <a:solidFill>
                  <a:srgbClr val="46648C"/>
                </a:solidFill>
                <a:latin typeface="Arial"/>
              </a:rPr>
              <a:t>5 or more paid cases and growth over July 2025</a:t>
            </a:r>
          </a:p>
        </p:txBody>
      </p:sp>
      <p:sp>
        <p:nvSpPr>
          <p:cNvPr id="25" name="Rectangle 24"/>
          <p:cNvSpPr/>
          <p:nvPr/>
        </p:nvSpPr>
        <p:spPr>
          <a:xfrm>
            <a:off x="777240" y="2999232"/>
            <a:ext cx="5074920" cy="457200"/>
          </a:xfrm>
          <a:prstGeom prst="rect">
            <a:avLst/>
          </a:prstGeom>
          <a:solidFill>
            <a:srgbClr val="000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41832" y="3081527"/>
            <a:ext cx="292608" cy="292608"/>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41832" y="3113532"/>
            <a:ext cx="292608" cy="228600"/>
          </a:xfrm>
          <a:prstGeom prst="rect">
            <a:avLst/>
          </a:prstGeom>
          <a:noFill/>
        </p:spPr>
        <p:txBody>
          <a:bodyPr wrap="square" lIns="36576" tIns="18288" rIns="36576" bIns="18288">
            <a:spAutoFit/>
          </a:bodyPr>
          <a:lstStyle/>
          <a:p>
            <a:pPr algn="ctr"/>
            <a:r>
              <a:rPr sz="1100" b="1" i="0">
                <a:solidFill>
                  <a:srgbClr val="FFFFFF"/>
                </a:solidFill>
                <a:latin typeface="Arial"/>
              </a:rPr>
              <a:t>1</a:t>
            </a:r>
          </a:p>
        </p:txBody>
      </p:sp>
      <p:sp>
        <p:nvSpPr>
          <p:cNvPr id="28" name="TextBox 27"/>
          <p:cNvSpPr txBox="1"/>
          <p:nvPr/>
        </p:nvSpPr>
        <p:spPr>
          <a:xfrm>
            <a:off x="1335024" y="3026663"/>
            <a:ext cx="2834640" cy="210312"/>
          </a:xfrm>
          <a:prstGeom prst="rect">
            <a:avLst/>
          </a:prstGeom>
          <a:noFill/>
        </p:spPr>
        <p:txBody>
          <a:bodyPr wrap="square" lIns="36576" tIns="18288" rIns="36576" bIns="18288">
            <a:spAutoFit/>
          </a:bodyPr>
          <a:lstStyle/>
          <a:p>
            <a:pPr algn="l"/>
            <a:r>
              <a:rPr sz="1250" b="1" i="0">
                <a:solidFill>
                  <a:srgbClr val="FFFFFF"/>
                </a:solidFill>
                <a:latin typeface="Arial"/>
              </a:rPr>
              <a:t>Finch, Lisa</a:t>
            </a:r>
          </a:p>
        </p:txBody>
      </p:sp>
      <p:sp>
        <p:nvSpPr>
          <p:cNvPr id="29" name="TextBox 28"/>
          <p:cNvSpPr txBox="1"/>
          <p:nvPr/>
        </p:nvSpPr>
        <p:spPr>
          <a:xfrm>
            <a:off x="1335024" y="3236976"/>
            <a:ext cx="2834640" cy="182880"/>
          </a:xfrm>
          <a:prstGeom prst="rect">
            <a:avLst/>
          </a:prstGeom>
          <a:noFill/>
        </p:spPr>
        <p:txBody>
          <a:bodyPr wrap="square" lIns="36576" tIns="18288" rIns="36576" bIns="18288">
            <a:spAutoFit/>
          </a:bodyPr>
          <a:lstStyle/>
          <a:p>
            <a:pPr algn="l"/>
            <a:r>
              <a:rPr sz="950" b="0" i="0">
                <a:solidFill>
                  <a:srgbClr val="C7E2FF"/>
                </a:solidFill>
                <a:latin typeface="Arial"/>
              </a:rPr>
              <a:t>First Prior   |   8 cases</a:t>
            </a:r>
          </a:p>
        </p:txBody>
      </p:sp>
      <p:sp>
        <p:nvSpPr>
          <p:cNvPr id="30" name="TextBox 29"/>
          <p:cNvSpPr txBox="1"/>
          <p:nvPr/>
        </p:nvSpPr>
        <p:spPr>
          <a:xfrm>
            <a:off x="4206240" y="3090672"/>
            <a:ext cx="1481328" cy="274320"/>
          </a:xfrm>
          <a:prstGeom prst="rect">
            <a:avLst/>
          </a:prstGeom>
          <a:noFill/>
        </p:spPr>
        <p:txBody>
          <a:bodyPr wrap="square" lIns="36576" tIns="18288" rIns="36576" bIns="18288">
            <a:spAutoFit/>
          </a:bodyPr>
          <a:lstStyle/>
          <a:p>
            <a:pPr algn="r"/>
            <a:r>
              <a:rPr sz="1500" b="1" i="0">
                <a:solidFill>
                  <a:srgbClr val="FFFFFF"/>
                </a:solidFill>
                <a:latin typeface="Arial"/>
              </a:rPr>
              <a:t>$500</a:t>
            </a:r>
          </a:p>
        </p:txBody>
      </p:sp>
      <p:sp>
        <p:nvSpPr>
          <p:cNvPr id="31" name="Rectangle 30"/>
          <p:cNvSpPr/>
          <p:nvPr/>
        </p:nvSpPr>
        <p:spPr>
          <a:xfrm>
            <a:off x="777240" y="3511296"/>
            <a:ext cx="5074920" cy="457200"/>
          </a:xfrm>
          <a:prstGeom prst="rect">
            <a:avLst/>
          </a:prstGeom>
          <a:solidFill>
            <a:srgbClr val="000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941832" y="3593591"/>
            <a:ext cx="292608" cy="292608"/>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41832" y="3625596"/>
            <a:ext cx="292608" cy="228600"/>
          </a:xfrm>
          <a:prstGeom prst="rect">
            <a:avLst/>
          </a:prstGeom>
          <a:noFill/>
        </p:spPr>
        <p:txBody>
          <a:bodyPr wrap="square" lIns="36576" tIns="18288" rIns="36576" bIns="18288">
            <a:spAutoFit/>
          </a:bodyPr>
          <a:lstStyle/>
          <a:p>
            <a:pPr algn="ctr"/>
            <a:r>
              <a:rPr sz="1100" b="1" i="0">
                <a:solidFill>
                  <a:srgbClr val="FFFFFF"/>
                </a:solidFill>
                <a:latin typeface="Arial"/>
              </a:rPr>
              <a:t>2</a:t>
            </a:r>
          </a:p>
        </p:txBody>
      </p:sp>
      <p:sp>
        <p:nvSpPr>
          <p:cNvPr id="34" name="TextBox 33"/>
          <p:cNvSpPr txBox="1"/>
          <p:nvPr/>
        </p:nvSpPr>
        <p:spPr>
          <a:xfrm>
            <a:off x="1335024" y="3538727"/>
            <a:ext cx="2834640" cy="210312"/>
          </a:xfrm>
          <a:prstGeom prst="rect">
            <a:avLst/>
          </a:prstGeom>
          <a:noFill/>
        </p:spPr>
        <p:txBody>
          <a:bodyPr wrap="square" lIns="36576" tIns="18288" rIns="36576" bIns="18288">
            <a:spAutoFit/>
          </a:bodyPr>
          <a:lstStyle/>
          <a:p>
            <a:pPr algn="l"/>
            <a:r>
              <a:rPr sz="1250" b="1" i="0">
                <a:solidFill>
                  <a:srgbClr val="FFFFFF"/>
                </a:solidFill>
                <a:latin typeface="Arial"/>
              </a:rPr>
              <a:t>Murry, Tamika</a:t>
            </a:r>
          </a:p>
        </p:txBody>
      </p:sp>
      <p:sp>
        <p:nvSpPr>
          <p:cNvPr id="35" name="TextBox 34"/>
          <p:cNvSpPr txBox="1"/>
          <p:nvPr/>
        </p:nvSpPr>
        <p:spPr>
          <a:xfrm>
            <a:off x="1335024" y="3749039"/>
            <a:ext cx="2834640" cy="182880"/>
          </a:xfrm>
          <a:prstGeom prst="rect">
            <a:avLst/>
          </a:prstGeom>
          <a:noFill/>
        </p:spPr>
        <p:txBody>
          <a:bodyPr wrap="square" lIns="36576" tIns="18288" rIns="36576" bIns="18288">
            <a:spAutoFit/>
          </a:bodyPr>
          <a:lstStyle/>
          <a:p>
            <a:pPr algn="l"/>
            <a:r>
              <a:rPr sz="950" b="0" i="0">
                <a:solidFill>
                  <a:srgbClr val="C7E2FF"/>
                </a:solidFill>
                <a:latin typeface="Arial"/>
              </a:rPr>
              <a:t>First Prior   |   6 cases</a:t>
            </a:r>
          </a:p>
        </p:txBody>
      </p:sp>
      <p:sp>
        <p:nvSpPr>
          <p:cNvPr id="36" name="TextBox 35"/>
          <p:cNvSpPr txBox="1"/>
          <p:nvPr/>
        </p:nvSpPr>
        <p:spPr>
          <a:xfrm>
            <a:off x="4206240" y="3602736"/>
            <a:ext cx="1481328" cy="274320"/>
          </a:xfrm>
          <a:prstGeom prst="rect">
            <a:avLst/>
          </a:prstGeom>
          <a:noFill/>
        </p:spPr>
        <p:txBody>
          <a:bodyPr wrap="square" lIns="36576" tIns="18288" rIns="36576" bIns="18288">
            <a:spAutoFit/>
          </a:bodyPr>
          <a:lstStyle/>
          <a:p>
            <a:pPr algn="r"/>
            <a:r>
              <a:rPr sz="1500" b="1" i="0">
                <a:solidFill>
                  <a:srgbClr val="FFFFFF"/>
                </a:solidFill>
                <a:latin typeface="Arial"/>
              </a:rPr>
              <a:t>$500</a:t>
            </a:r>
          </a:p>
        </p:txBody>
      </p:sp>
      <p:sp>
        <p:nvSpPr>
          <p:cNvPr id="37" name="Rectangle 36"/>
          <p:cNvSpPr/>
          <p:nvPr/>
        </p:nvSpPr>
        <p:spPr>
          <a:xfrm>
            <a:off x="777240" y="4023360"/>
            <a:ext cx="5074920" cy="457200"/>
          </a:xfrm>
          <a:prstGeom prst="rect">
            <a:avLst/>
          </a:prstGeom>
          <a:solidFill>
            <a:srgbClr val="000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941832" y="4105656"/>
            <a:ext cx="292608" cy="292608"/>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41832" y="4137660"/>
            <a:ext cx="292608" cy="228600"/>
          </a:xfrm>
          <a:prstGeom prst="rect">
            <a:avLst/>
          </a:prstGeom>
          <a:noFill/>
        </p:spPr>
        <p:txBody>
          <a:bodyPr wrap="square" lIns="36576" tIns="18288" rIns="36576" bIns="18288">
            <a:spAutoFit/>
          </a:bodyPr>
          <a:lstStyle/>
          <a:p>
            <a:pPr algn="ctr"/>
            <a:r>
              <a:rPr sz="1100" b="1" i="0">
                <a:solidFill>
                  <a:srgbClr val="FFFFFF"/>
                </a:solidFill>
                <a:latin typeface="Arial"/>
              </a:rPr>
              <a:t>3</a:t>
            </a:r>
          </a:p>
        </p:txBody>
      </p:sp>
      <p:sp>
        <p:nvSpPr>
          <p:cNvPr id="40" name="TextBox 39"/>
          <p:cNvSpPr txBox="1"/>
          <p:nvPr/>
        </p:nvSpPr>
        <p:spPr>
          <a:xfrm>
            <a:off x="1335024" y="4050792"/>
            <a:ext cx="2834640" cy="210312"/>
          </a:xfrm>
          <a:prstGeom prst="rect">
            <a:avLst/>
          </a:prstGeom>
          <a:noFill/>
        </p:spPr>
        <p:txBody>
          <a:bodyPr wrap="square" lIns="36576" tIns="18288" rIns="36576" bIns="18288">
            <a:spAutoFit/>
          </a:bodyPr>
          <a:lstStyle/>
          <a:p>
            <a:pPr algn="l"/>
            <a:r>
              <a:rPr sz="1250" b="1" i="0">
                <a:solidFill>
                  <a:srgbClr val="FFFFFF"/>
                </a:solidFill>
                <a:latin typeface="Arial"/>
              </a:rPr>
              <a:t>Trepagnier, Harrison A</a:t>
            </a:r>
          </a:p>
        </p:txBody>
      </p:sp>
      <p:sp>
        <p:nvSpPr>
          <p:cNvPr id="41" name="TextBox 40"/>
          <p:cNvSpPr txBox="1"/>
          <p:nvPr/>
        </p:nvSpPr>
        <p:spPr>
          <a:xfrm>
            <a:off x="1335024" y="4261104"/>
            <a:ext cx="2834640" cy="182880"/>
          </a:xfrm>
          <a:prstGeom prst="rect">
            <a:avLst/>
          </a:prstGeom>
          <a:noFill/>
        </p:spPr>
        <p:txBody>
          <a:bodyPr wrap="square" lIns="36576" tIns="18288" rIns="36576" bIns="18288">
            <a:spAutoFit/>
          </a:bodyPr>
          <a:lstStyle/>
          <a:p>
            <a:pPr algn="l"/>
            <a:r>
              <a:rPr sz="950" b="0" i="0">
                <a:solidFill>
                  <a:srgbClr val="C7E2FF"/>
                </a:solidFill>
                <a:latin typeface="Arial"/>
              </a:rPr>
              <a:t>Second Prior   |   5.6 cases</a:t>
            </a:r>
          </a:p>
        </p:txBody>
      </p:sp>
      <p:sp>
        <p:nvSpPr>
          <p:cNvPr id="42" name="TextBox 41"/>
          <p:cNvSpPr txBox="1"/>
          <p:nvPr/>
        </p:nvSpPr>
        <p:spPr>
          <a:xfrm>
            <a:off x="4206240" y="4114800"/>
            <a:ext cx="1481328" cy="274320"/>
          </a:xfrm>
          <a:prstGeom prst="rect">
            <a:avLst/>
          </a:prstGeom>
          <a:noFill/>
        </p:spPr>
        <p:txBody>
          <a:bodyPr wrap="square" lIns="36576" tIns="18288" rIns="36576" bIns="18288">
            <a:spAutoFit/>
          </a:bodyPr>
          <a:lstStyle/>
          <a:p>
            <a:pPr algn="r"/>
            <a:r>
              <a:rPr sz="1500" b="1" i="0">
                <a:solidFill>
                  <a:srgbClr val="FFFFFF"/>
                </a:solidFill>
                <a:latin typeface="Arial"/>
              </a:rPr>
              <a:t>$500</a:t>
            </a:r>
          </a:p>
        </p:txBody>
      </p:sp>
      <p:sp>
        <p:nvSpPr>
          <p:cNvPr id="43" name="Rectangle 42"/>
          <p:cNvSpPr/>
          <p:nvPr/>
        </p:nvSpPr>
        <p:spPr>
          <a:xfrm>
            <a:off x="777240" y="4535424"/>
            <a:ext cx="5074920" cy="457200"/>
          </a:xfrm>
          <a:prstGeom prst="rect">
            <a:avLst/>
          </a:prstGeom>
          <a:solidFill>
            <a:srgbClr val="000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941832" y="4617720"/>
            <a:ext cx="292608" cy="292608"/>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41832" y="4649724"/>
            <a:ext cx="292608" cy="228600"/>
          </a:xfrm>
          <a:prstGeom prst="rect">
            <a:avLst/>
          </a:prstGeom>
          <a:noFill/>
        </p:spPr>
        <p:txBody>
          <a:bodyPr wrap="square" lIns="36576" tIns="18288" rIns="36576" bIns="18288">
            <a:spAutoFit/>
          </a:bodyPr>
          <a:lstStyle/>
          <a:p>
            <a:pPr algn="ctr"/>
            <a:r>
              <a:rPr sz="1100" b="1" i="0">
                <a:solidFill>
                  <a:srgbClr val="FFFFFF"/>
                </a:solidFill>
                <a:latin typeface="Arial"/>
              </a:rPr>
              <a:t>4</a:t>
            </a:r>
          </a:p>
        </p:txBody>
      </p:sp>
      <p:sp>
        <p:nvSpPr>
          <p:cNvPr id="46" name="TextBox 45"/>
          <p:cNvSpPr txBox="1"/>
          <p:nvPr/>
        </p:nvSpPr>
        <p:spPr>
          <a:xfrm>
            <a:off x="1335024" y="4562856"/>
            <a:ext cx="2834640" cy="210312"/>
          </a:xfrm>
          <a:prstGeom prst="rect">
            <a:avLst/>
          </a:prstGeom>
          <a:noFill/>
        </p:spPr>
        <p:txBody>
          <a:bodyPr wrap="square" lIns="36576" tIns="18288" rIns="36576" bIns="18288">
            <a:spAutoFit/>
          </a:bodyPr>
          <a:lstStyle/>
          <a:p>
            <a:pPr algn="l"/>
            <a:r>
              <a:rPr sz="1250" b="1" i="0">
                <a:solidFill>
                  <a:srgbClr val="FFFFFF"/>
                </a:solidFill>
                <a:latin typeface="Arial"/>
              </a:rPr>
              <a:t>Bezou, Rachal</a:t>
            </a:r>
          </a:p>
        </p:txBody>
      </p:sp>
      <p:sp>
        <p:nvSpPr>
          <p:cNvPr id="47" name="TextBox 46"/>
          <p:cNvSpPr txBox="1"/>
          <p:nvPr/>
        </p:nvSpPr>
        <p:spPr>
          <a:xfrm>
            <a:off x="1335024" y="4773168"/>
            <a:ext cx="2834640" cy="182880"/>
          </a:xfrm>
          <a:prstGeom prst="rect">
            <a:avLst/>
          </a:prstGeom>
          <a:noFill/>
        </p:spPr>
        <p:txBody>
          <a:bodyPr wrap="square" lIns="36576" tIns="18288" rIns="36576" bIns="18288">
            <a:spAutoFit/>
          </a:bodyPr>
          <a:lstStyle/>
          <a:p>
            <a:pPr algn="l"/>
            <a:r>
              <a:rPr sz="950" b="0" i="0">
                <a:solidFill>
                  <a:srgbClr val="C7E2FF"/>
                </a:solidFill>
                <a:latin typeface="Arial"/>
              </a:rPr>
              <a:t>Third Prior   |   5 cases</a:t>
            </a:r>
          </a:p>
        </p:txBody>
      </p:sp>
      <p:sp>
        <p:nvSpPr>
          <p:cNvPr id="48" name="TextBox 47"/>
          <p:cNvSpPr txBox="1"/>
          <p:nvPr/>
        </p:nvSpPr>
        <p:spPr>
          <a:xfrm>
            <a:off x="4206240" y="4626864"/>
            <a:ext cx="1481328" cy="274320"/>
          </a:xfrm>
          <a:prstGeom prst="rect">
            <a:avLst/>
          </a:prstGeom>
          <a:noFill/>
        </p:spPr>
        <p:txBody>
          <a:bodyPr wrap="square" lIns="36576" tIns="18288" rIns="36576" bIns="18288">
            <a:spAutoFit/>
          </a:bodyPr>
          <a:lstStyle/>
          <a:p>
            <a:pPr algn="r"/>
            <a:r>
              <a:rPr sz="1500" b="1" i="0">
                <a:solidFill>
                  <a:srgbClr val="FFFFFF"/>
                </a:solidFill>
                <a:latin typeface="Arial"/>
              </a:rPr>
              <a:t>$500</a:t>
            </a:r>
          </a:p>
        </p:txBody>
      </p:sp>
      <p:sp>
        <p:nvSpPr>
          <p:cNvPr id="49" name="Rectangle 48"/>
          <p:cNvSpPr/>
          <p:nvPr/>
        </p:nvSpPr>
        <p:spPr>
          <a:xfrm>
            <a:off x="6336792" y="2578608"/>
            <a:ext cx="256032" cy="201168"/>
          </a:xfrm>
          <a:prstGeom prst="rect">
            <a:avLst/>
          </a:prstGeom>
          <a:solidFill>
            <a:srgbClr val="000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675120" y="2551176"/>
            <a:ext cx="4663440" cy="237744"/>
          </a:xfrm>
          <a:prstGeom prst="rect">
            <a:avLst/>
          </a:prstGeom>
          <a:noFill/>
        </p:spPr>
        <p:txBody>
          <a:bodyPr wrap="square" lIns="36576" tIns="18288" rIns="36576" bIns="18288">
            <a:spAutoFit/>
          </a:bodyPr>
          <a:lstStyle/>
          <a:p>
            <a:pPr algn="l"/>
            <a:r>
              <a:rPr sz="1400" b="1" i="0">
                <a:solidFill>
                  <a:srgbClr val="0468FF"/>
                </a:solidFill>
                <a:latin typeface="Arial"/>
              </a:rPr>
              <a:t>$250 bonus earned</a:t>
            </a:r>
          </a:p>
        </p:txBody>
      </p:sp>
      <p:sp>
        <p:nvSpPr>
          <p:cNvPr id="51" name="TextBox 50"/>
          <p:cNvSpPr txBox="1"/>
          <p:nvPr/>
        </p:nvSpPr>
        <p:spPr>
          <a:xfrm>
            <a:off x="6336792" y="2779776"/>
            <a:ext cx="5074920" cy="182880"/>
          </a:xfrm>
          <a:prstGeom prst="rect">
            <a:avLst/>
          </a:prstGeom>
          <a:noFill/>
        </p:spPr>
        <p:txBody>
          <a:bodyPr wrap="square" lIns="36576" tIns="18288" rIns="36576" bIns="18288">
            <a:spAutoFit/>
          </a:bodyPr>
          <a:lstStyle/>
          <a:p>
            <a:pPr algn="l"/>
            <a:r>
              <a:rPr sz="1000" b="0" i="0">
                <a:solidFill>
                  <a:srgbClr val="46648C"/>
                </a:solidFill>
                <a:latin typeface="Arial"/>
              </a:rPr>
              <a:t>3 or more paid life cases in July</a:t>
            </a:r>
          </a:p>
        </p:txBody>
      </p:sp>
      <p:sp>
        <p:nvSpPr>
          <p:cNvPr id="52" name="Rectangle 51"/>
          <p:cNvSpPr/>
          <p:nvPr/>
        </p:nvSpPr>
        <p:spPr>
          <a:xfrm>
            <a:off x="6336792" y="2999232"/>
            <a:ext cx="5074920" cy="25603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419088" y="3008375"/>
            <a:ext cx="365760" cy="237744"/>
          </a:xfrm>
          <a:prstGeom prst="rect">
            <a:avLst/>
          </a:prstGeom>
          <a:noFill/>
        </p:spPr>
        <p:txBody>
          <a:bodyPr wrap="square" lIns="36576" tIns="18288" rIns="36576" bIns="18288" anchor="ctr">
            <a:spAutoFit/>
          </a:bodyPr>
          <a:lstStyle/>
          <a:p>
            <a:pPr algn="ctr"/>
            <a:r>
              <a:rPr sz="1000" b="1" i="0">
                <a:solidFill>
                  <a:srgbClr val="46648C"/>
                </a:solidFill>
                <a:latin typeface="Arial"/>
              </a:rPr>
              <a:t>5</a:t>
            </a:r>
          </a:p>
        </p:txBody>
      </p:sp>
      <p:sp>
        <p:nvSpPr>
          <p:cNvPr id="54" name="TextBox 53"/>
          <p:cNvSpPr txBox="1"/>
          <p:nvPr/>
        </p:nvSpPr>
        <p:spPr>
          <a:xfrm>
            <a:off x="6821424" y="3008375"/>
            <a:ext cx="2834640" cy="237744"/>
          </a:xfrm>
          <a:prstGeom prst="rect">
            <a:avLst/>
          </a:prstGeom>
          <a:noFill/>
        </p:spPr>
        <p:txBody>
          <a:bodyPr wrap="square" lIns="36576" tIns="18288" rIns="36576" bIns="18288" anchor="ctr">
            <a:spAutoFit/>
          </a:bodyPr>
          <a:lstStyle/>
          <a:p>
            <a:pPr algn="l"/>
            <a:r>
              <a:rPr sz="1100" b="1" i="0">
                <a:solidFill>
                  <a:srgbClr val="000962"/>
                </a:solidFill>
                <a:latin typeface="Arial"/>
              </a:rPr>
              <a:t>Malone, Brooks</a:t>
            </a:r>
          </a:p>
        </p:txBody>
      </p:sp>
      <p:sp>
        <p:nvSpPr>
          <p:cNvPr id="55" name="TextBox 54"/>
          <p:cNvSpPr txBox="1"/>
          <p:nvPr/>
        </p:nvSpPr>
        <p:spPr>
          <a:xfrm>
            <a:off x="9582912" y="3008375"/>
            <a:ext cx="1051560" cy="237744"/>
          </a:xfrm>
          <a:prstGeom prst="rect">
            <a:avLst/>
          </a:prstGeom>
          <a:noFill/>
        </p:spPr>
        <p:txBody>
          <a:bodyPr wrap="square" lIns="36576" tIns="18288" rIns="36576" bIns="18288" anchor="ctr">
            <a:spAutoFit/>
          </a:bodyPr>
          <a:lstStyle/>
          <a:p>
            <a:pPr algn="l"/>
            <a:r>
              <a:rPr sz="900" b="0" i="0">
                <a:solidFill>
                  <a:srgbClr val="46648C"/>
                </a:solidFill>
                <a:latin typeface="Arial"/>
              </a:rPr>
              <a:t>First Prior</a:t>
            </a:r>
          </a:p>
        </p:txBody>
      </p:sp>
      <p:sp>
        <p:nvSpPr>
          <p:cNvPr id="56" name="TextBox 55"/>
          <p:cNvSpPr txBox="1"/>
          <p:nvPr/>
        </p:nvSpPr>
        <p:spPr>
          <a:xfrm>
            <a:off x="10479024" y="3008375"/>
            <a:ext cx="822960" cy="237744"/>
          </a:xfrm>
          <a:prstGeom prst="rect">
            <a:avLst/>
          </a:prstGeom>
          <a:noFill/>
        </p:spPr>
        <p:txBody>
          <a:bodyPr wrap="square" lIns="36576" tIns="18288" rIns="36576" bIns="18288" anchor="ctr">
            <a:spAutoFit/>
          </a:bodyPr>
          <a:lstStyle/>
          <a:p>
            <a:pPr algn="r"/>
            <a:r>
              <a:rPr sz="950" b="1" i="0">
                <a:solidFill>
                  <a:srgbClr val="0468FF"/>
                </a:solidFill>
                <a:latin typeface="Arial"/>
              </a:rPr>
              <a:t>4.17 cases</a:t>
            </a:r>
          </a:p>
        </p:txBody>
      </p:sp>
      <p:sp>
        <p:nvSpPr>
          <p:cNvPr id="57" name="Rectangle 56"/>
          <p:cNvSpPr/>
          <p:nvPr/>
        </p:nvSpPr>
        <p:spPr>
          <a:xfrm>
            <a:off x="6336792" y="3300984"/>
            <a:ext cx="5074920" cy="25603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419088" y="3310127"/>
            <a:ext cx="365760" cy="237744"/>
          </a:xfrm>
          <a:prstGeom prst="rect">
            <a:avLst/>
          </a:prstGeom>
          <a:noFill/>
        </p:spPr>
        <p:txBody>
          <a:bodyPr wrap="square" lIns="36576" tIns="18288" rIns="36576" bIns="18288" anchor="ctr">
            <a:spAutoFit/>
          </a:bodyPr>
          <a:lstStyle/>
          <a:p>
            <a:pPr algn="ctr"/>
            <a:r>
              <a:rPr sz="1000" b="1" i="0">
                <a:solidFill>
                  <a:srgbClr val="46648C"/>
                </a:solidFill>
                <a:latin typeface="Arial"/>
              </a:rPr>
              <a:t>6</a:t>
            </a:r>
          </a:p>
        </p:txBody>
      </p:sp>
      <p:sp>
        <p:nvSpPr>
          <p:cNvPr id="59" name="TextBox 58"/>
          <p:cNvSpPr txBox="1"/>
          <p:nvPr/>
        </p:nvSpPr>
        <p:spPr>
          <a:xfrm>
            <a:off x="6821424" y="3310127"/>
            <a:ext cx="2834640" cy="237744"/>
          </a:xfrm>
          <a:prstGeom prst="rect">
            <a:avLst/>
          </a:prstGeom>
          <a:noFill/>
        </p:spPr>
        <p:txBody>
          <a:bodyPr wrap="square" lIns="36576" tIns="18288" rIns="36576" bIns="18288" anchor="ctr">
            <a:spAutoFit/>
          </a:bodyPr>
          <a:lstStyle/>
          <a:p>
            <a:pPr algn="l"/>
            <a:r>
              <a:rPr sz="1100" b="1" i="0">
                <a:solidFill>
                  <a:srgbClr val="000962"/>
                </a:solidFill>
                <a:latin typeface="Arial"/>
              </a:rPr>
              <a:t>Randall, Woodrow W</a:t>
            </a:r>
          </a:p>
        </p:txBody>
      </p:sp>
      <p:sp>
        <p:nvSpPr>
          <p:cNvPr id="60" name="TextBox 59"/>
          <p:cNvSpPr txBox="1"/>
          <p:nvPr/>
        </p:nvSpPr>
        <p:spPr>
          <a:xfrm>
            <a:off x="9582912" y="3310127"/>
            <a:ext cx="1051560" cy="237744"/>
          </a:xfrm>
          <a:prstGeom prst="rect">
            <a:avLst/>
          </a:prstGeom>
          <a:noFill/>
        </p:spPr>
        <p:txBody>
          <a:bodyPr wrap="square" lIns="36576" tIns="18288" rIns="36576" bIns="18288" anchor="ctr">
            <a:spAutoFit/>
          </a:bodyPr>
          <a:lstStyle/>
          <a:p>
            <a:pPr algn="l"/>
            <a:r>
              <a:rPr sz="900" b="0" i="0">
                <a:solidFill>
                  <a:srgbClr val="46648C"/>
                </a:solidFill>
                <a:latin typeface="Arial"/>
              </a:rPr>
              <a:t>First Prior</a:t>
            </a:r>
          </a:p>
        </p:txBody>
      </p:sp>
      <p:sp>
        <p:nvSpPr>
          <p:cNvPr id="61" name="TextBox 60"/>
          <p:cNvSpPr txBox="1"/>
          <p:nvPr/>
        </p:nvSpPr>
        <p:spPr>
          <a:xfrm>
            <a:off x="10479024" y="3310127"/>
            <a:ext cx="822960" cy="237744"/>
          </a:xfrm>
          <a:prstGeom prst="rect">
            <a:avLst/>
          </a:prstGeom>
          <a:noFill/>
        </p:spPr>
        <p:txBody>
          <a:bodyPr wrap="square" lIns="36576" tIns="18288" rIns="36576" bIns="18288" anchor="ctr">
            <a:spAutoFit/>
          </a:bodyPr>
          <a:lstStyle/>
          <a:p>
            <a:pPr algn="r"/>
            <a:r>
              <a:rPr sz="950" b="1" i="0">
                <a:solidFill>
                  <a:srgbClr val="0468FF"/>
                </a:solidFill>
                <a:latin typeface="Arial"/>
              </a:rPr>
              <a:t>4 cases</a:t>
            </a:r>
          </a:p>
        </p:txBody>
      </p:sp>
      <p:sp>
        <p:nvSpPr>
          <p:cNvPr id="62" name="Rectangle 61"/>
          <p:cNvSpPr/>
          <p:nvPr/>
        </p:nvSpPr>
        <p:spPr>
          <a:xfrm>
            <a:off x="6336792" y="3602736"/>
            <a:ext cx="5074920" cy="25603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419088" y="3611879"/>
            <a:ext cx="365760" cy="237744"/>
          </a:xfrm>
          <a:prstGeom prst="rect">
            <a:avLst/>
          </a:prstGeom>
          <a:noFill/>
        </p:spPr>
        <p:txBody>
          <a:bodyPr wrap="square" lIns="36576" tIns="18288" rIns="36576" bIns="18288" anchor="ctr">
            <a:spAutoFit/>
          </a:bodyPr>
          <a:lstStyle/>
          <a:p>
            <a:pPr algn="ctr"/>
            <a:r>
              <a:rPr sz="1000" b="1" i="0">
                <a:solidFill>
                  <a:srgbClr val="46648C"/>
                </a:solidFill>
                <a:latin typeface="Arial"/>
              </a:rPr>
              <a:t>7</a:t>
            </a:r>
          </a:p>
        </p:txBody>
      </p:sp>
      <p:sp>
        <p:nvSpPr>
          <p:cNvPr id="64" name="TextBox 63"/>
          <p:cNvSpPr txBox="1"/>
          <p:nvPr/>
        </p:nvSpPr>
        <p:spPr>
          <a:xfrm>
            <a:off x="6821424" y="3611879"/>
            <a:ext cx="2834640" cy="237744"/>
          </a:xfrm>
          <a:prstGeom prst="rect">
            <a:avLst/>
          </a:prstGeom>
          <a:noFill/>
        </p:spPr>
        <p:txBody>
          <a:bodyPr wrap="square" lIns="36576" tIns="18288" rIns="36576" bIns="18288" anchor="ctr">
            <a:spAutoFit/>
          </a:bodyPr>
          <a:lstStyle/>
          <a:p>
            <a:pPr algn="l"/>
            <a:r>
              <a:rPr sz="1100" b="1" i="0">
                <a:solidFill>
                  <a:srgbClr val="000962"/>
                </a:solidFill>
                <a:latin typeface="Arial"/>
              </a:rPr>
              <a:t>Bordelon, Brook</a:t>
            </a:r>
          </a:p>
        </p:txBody>
      </p:sp>
      <p:sp>
        <p:nvSpPr>
          <p:cNvPr id="65" name="TextBox 64"/>
          <p:cNvSpPr txBox="1"/>
          <p:nvPr/>
        </p:nvSpPr>
        <p:spPr>
          <a:xfrm>
            <a:off x="9582912" y="3611879"/>
            <a:ext cx="1051560" cy="237744"/>
          </a:xfrm>
          <a:prstGeom prst="rect">
            <a:avLst/>
          </a:prstGeom>
          <a:noFill/>
        </p:spPr>
        <p:txBody>
          <a:bodyPr wrap="square" lIns="36576" tIns="18288" rIns="36576" bIns="18288" anchor="ctr">
            <a:spAutoFit/>
          </a:bodyPr>
          <a:lstStyle/>
          <a:p>
            <a:pPr algn="l"/>
            <a:r>
              <a:rPr sz="900" b="0" i="0">
                <a:solidFill>
                  <a:srgbClr val="46648C"/>
                </a:solidFill>
                <a:latin typeface="Arial"/>
              </a:rPr>
              <a:t>First Prior</a:t>
            </a:r>
          </a:p>
        </p:txBody>
      </p:sp>
      <p:sp>
        <p:nvSpPr>
          <p:cNvPr id="66" name="TextBox 65"/>
          <p:cNvSpPr txBox="1"/>
          <p:nvPr/>
        </p:nvSpPr>
        <p:spPr>
          <a:xfrm>
            <a:off x="10479024" y="3611879"/>
            <a:ext cx="822960" cy="237744"/>
          </a:xfrm>
          <a:prstGeom prst="rect">
            <a:avLst/>
          </a:prstGeom>
          <a:noFill/>
        </p:spPr>
        <p:txBody>
          <a:bodyPr wrap="square" lIns="36576" tIns="18288" rIns="36576" bIns="18288" anchor="ctr">
            <a:spAutoFit/>
          </a:bodyPr>
          <a:lstStyle/>
          <a:p>
            <a:pPr algn="r"/>
            <a:r>
              <a:rPr sz="950" b="1" i="0">
                <a:solidFill>
                  <a:srgbClr val="0468FF"/>
                </a:solidFill>
                <a:latin typeface="Arial"/>
              </a:rPr>
              <a:t>3 cases</a:t>
            </a:r>
          </a:p>
        </p:txBody>
      </p:sp>
      <p:sp>
        <p:nvSpPr>
          <p:cNvPr id="67" name="Rectangle 66"/>
          <p:cNvSpPr/>
          <p:nvPr/>
        </p:nvSpPr>
        <p:spPr>
          <a:xfrm>
            <a:off x="6336792" y="3904487"/>
            <a:ext cx="5074920" cy="25603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6419088" y="3913631"/>
            <a:ext cx="365760" cy="237744"/>
          </a:xfrm>
          <a:prstGeom prst="rect">
            <a:avLst/>
          </a:prstGeom>
          <a:noFill/>
        </p:spPr>
        <p:txBody>
          <a:bodyPr wrap="square" lIns="36576" tIns="18288" rIns="36576" bIns="18288" anchor="ctr">
            <a:spAutoFit/>
          </a:bodyPr>
          <a:lstStyle/>
          <a:p>
            <a:pPr algn="ctr"/>
            <a:r>
              <a:rPr sz="1000" b="1" i="0">
                <a:solidFill>
                  <a:srgbClr val="46648C"/>
                </a:solidFill>
                <a:latin typeface="Arial"/>
              </a:rPr>
              <a:t>8</a:t>
            </a:r>
          </a:p>
        </p:txBody>
      </p:sp>
      <p:sp>
        <p:nvSpPr>
          <p:cNvPr id="69" name="TextBox 68"/>
          <p:cNvSpPr txBox="1"/>
          <p:nvPr/>
        </p:nvSpPr>
        <p:spPr>
          <a:xfrm>
            <a:off x="6821424" y="3913631"/>
            <a:ext cx="2834640" cy="237744"/>
          </a:xfrm>
          <a:prstGeom prst="rect">
            <a:avLst/>
          </a:prstGeom>
          <a:noFill/>
        </p:spPr>
        <p:txBody>
          <a:bodyPr wrap="square" lIns="36576" tIns="18288" rIns="36576" bIns="18288" anchor="ctr">
            <a:spAutoFit/>
          </a:bodyPr>
          <a:lstStyle/>
          <a:p>
            <a:pPr algn="l"/>
            <a:r>
              <a:rPr sz="1100" b="1" i="0">
                <a:solidFill>
                  <a:srgbClr val="000962"/>
                </a:solidFill>
                <a:latin typeface="Arial"/>
              </a:rPr>
              <a:t>Crouch, Casey M</a:t>
            </a:r>
          </a:p>
        </p:txBody>
      </p:sp>
      <p:sp>
        <p:nvSpPr>
          <p:cNvPr id="70" name="TextBox 69"/>
          <p:cNvSpPr txBox="1"/>
          <p:nvPr/>
        </p:nvSpPr>
        <p:spPr>
          <a:xfrm>
            <a:off x="9582912" y="3913631"/>
            <a:ext cx="1051560" cy="237744"/>
          </a:xfrm>
          <a:prstGeom prst="rect">
            <a:avLst/>
          </a:prstGeom>
          <a:noFill/>
        </p:spPr>
        <p:txBody>
          <a:bodyPr wrap="square" lIns="36576" tIns="18288" rIns="36576" bIns="18288" anchor="ctr">
            <a:spAutoFit/>
          </a:bodyPr>
          <a:lstStyle/>
          <a:p>
            <a:pPr algn="l"/>
            <a:r>
              <a:rPr sz="900" b="0" i="0">
                <a:solidFill>
                  <a:srgbClr val="46648C"/>
                </a:solidFill>
                <a:latin typeface="Arial"/>
              </a:rPr>
              <a:t>First Prior</a:t>
            </a:r>
          </a:p>
        </p:txBody>
      </p:sp>
      <p:sp>
        <p:nvSpPr>
          <p:cNvPr id="71" name="TextBox 70"/>
          <p:cNvSpPr txBox="1"/>
          <p:nvPr/>
        </p:nvSpPr>
        <p:spPr>
          <a:xfrm>
            <a:off x="10479024" y="3913631"/>
            <a:ext cx="822960" cy="237744"/>
          </a:xfrm>
          <a:prstGeom prst="rect">
            <a:avLst/>
          </a:prstGeom>
          <a:noFill/>
        </p:spPr>
        <p:txBody>
          <a:bodyPr wrap="square" lIns="36576" tIns="18288" rIns="36576" bIns="18288" anchor="ctr">
            <a:spAutoFit/>
          </a:bodyPr>
          <a:lstStyle/>
          <a:p>
            <a:pPr algn="r"/>
            <a:r>
              <a:rPr sz="950" b="1" i="0">
                <a:solidFill>
                  <a:srgbClr val="0468FF"/>
                </a:solidFill>
                <a:latin typeface="Arial"/>
              </a:rPr>
              <a:t>3 cases</a:t>
            </a:r>
          </a:p>
        </p:txBody>
      </p:sp>
      <p:sp>
        <p:nvSpPr>
          <p:cNvPr id="72" name="Rectangle 71"/>
          <p:cNvSpPr/>
          <p:nvPr/>
        </p:nvSpPr>
        <p:spPr>
          <a:xfrm>
            <a:off x="6336792" y="4206240"/>
            <a:ext cx="5074920" cy="25603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419088" y="4215383"/>
            <a:ext cx="365760" cy="237744"/>
          </a:xfrm>
          <a:prstGeom prst="rect">
            <a:avLst/>
          </a:prstGeom>
          <a:noFill/>
        </p:spPr>
        <p:txBody>
          <a:bodyPr wrap="square" lIns="36576" tIns="18288" rIns="36576" bIns="18288" anchor="ctr">
            <a:spAutoFit/>
          </a:bodyPr>
          <a:lstStyle/>
          <a:p>
            <a:pPr algn="ctr"/>
            <a:r>
              <a:rPr sz="1000" b="1" i="0">
                <a:solidFill>
                  <a:srgbClr val="46648C"/>
                </a:solidFill>
                <a:latin typeface="Arial"/>
              </a:rPr>
              <a:t>9</a:t>
            </a:r>
          </a:p>
        </p:txBody>
      </p:sp>
      <p:sp>
        <p:nvSpPr>
          <p:cNvPr id="74" name="TextBox 73"/>
          <p:cNvSpPr txBox="1"/>
          <p:nvPr/>
        </p:nvSpPr>
        <p:spPr>
          <a:xfrm>
            <a:off x="6821424" y="4215383"/>
            <a:ext cx="2834640" cy="237744"/>
          </a:xfrm>
          <a:prstGeom prst="rect">
            <a:avLst/>
          </a:prstGeom>
          <a:noFill/>
        </p:spPr>
        <p:txBody>
          <a:bodyPr wrap="square" lIns="36576" tIns="18288" rIns="36576" bIns="18288" anchor="ctr">
            <a:spAutoFit/>
          </a:bodyPr>
          <a:lstStyle/>
          <a:p>
            <a:pPr algn="l"/>
            <a:r>
              <a:rPr sz="1100" b="1" i="0">
                <a:solidFill>
                  <a:srgbClr val="000962"/>
                </a:solidFill>
                <a:latin typeface="Arial"/>
              </a:rPr>
              <a:t>Delaughter, Jacob</a:t>
            </a:r>
          </a:p>
        </p:txBody>
      </p:sp>
      <p:sp>
        <p:nvSpPr>
          <p:cNvPr id="75" name="TextBox 74"/>
          <p:cNvSpPr txBox="1"/>
          <p:nvPr/>
        </p:nvSpPr>
        <p:spPr>
          <a:xfrm>
            <a:off x="9582912" y="4215383"/>
            <a:ext cx="1051560" cy="237744"/>
          </a:xfrm>
          <a:prstGeom prst="rect">
            <a:avLst/>
          </a:prstGeom>
          <a:noFill/>
        </p:spPr>
        <p:txBody>
          <a:bodyPr wrap="square" lIns="36576" tIns="18288" rIns="36576" bIns="18288" anchor="ctr">
            <a:spAutoFit/>
          </a:bodyPr>
          <a:lstStyle/>
          <a:p>
            <a:pPr algn="l"/>
            <a:r>
              <a:rPr sz="900" b="0" i="0">
                <a:solidFill>
                  <a:srgbClr val="46648C"/>
                </a:solidFill>
                <a:latin typeface="Arial"/>
              </a:rPr>
              <a:t>Current</a:t>
            </a:r>
          </a:p>
        </p:txBody>
      </p:sp>
      <p:sp>
        <p:nvSpPr>
          <p:cNvPr id="76" name="TextBox 75"/>
          <p:cNvSpPr txBox="1"/>
          <p:nvPr/>
        </p:nvSpPr>
        <p:spPr>
          <a:xfrm>
            <a:off x="10479024" y="4215383"/>
            <a:ext cx="822960" cy="237744"/>
          </a:xfrm>
          <a:prstGeom prst="rect">
            <a:avLst/>
          </a:prstGeom>
          <a:noFill/>
        </p:spPr>
        <p:txBody>
          <a:bodyPr wrap="square" lIns="36576" tIns="18288" rIns="36576" bIns="18288" anchor="ctr">
            <a:spAutoFit/>
          </a:bodyPr>
          <a:lstStyle/>
          <a:p>
            <a:pPr algn="r"/>
            <a:r>
              <a:rPr sz="950" b="1" i="0">
                <a:solidFill>
                  <a:srgbClr val="0468FF"/>
                </a:solidFill>
                <a:latin typeface="Arial"/>
              </a:rPr>
              <a:t>3 cases</a:t>
            </a:r>
          </a:p>
        </p:txBody>
      </p:sp>
      <p:sp>
        <p:nvSpPr>
          <p:cNvPr id="77" name="Rectangle 76"/>
          <p:cNvSpPr/>
          <p:nvPr/>
        </p:nvSpPr>
        <p:spPr>
          <a:xfrm>
            <a:off x="6336792" y="4507992"/>
            <a:ext cx="5074920" cy="25603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419088" y="4517136"/>
            <a:ext cx="365760" cy="237744"/>
          </a:xfrm>
          <a:prstGeom prst="rect">
            <a:avLst/>
          </a:prstGeom>
          <a:noFill/>
        </p:spPr>
        <p:txBody>
          <a:bodyPr wrap="square" lIns="36576" tIns="18288" rIns="36576" bIns="18288" anchor="ctr">
            <a:spAutoFit/>
          </a:bodyPr>
          <a:lstStyle/>
          <a:p>
            <a:pPr algn="ctr"/>
            <a:r>
              <a:rPr sz="1000" b="1" i="0">
                <a:solidFill>
                  <a:srgbClr val="46648C"/>
                </a:solidFill>
                <a:latin typeface="Arial"/>
              </a:rPr>
              <a:t>10</a:t>
            </a:r>
          </a:p>
        </p:txBody>
      </p:sp>
      <p:sp>
        <p:nvSpPr>
          <p:cNvPr id="79" name="TextBox 78"/>
          <p:cNvSpPr txBox="1"/>
          <p:nvPr/>
        </p:nvSpPr>
        <p:spPr>
          <a:xfrm>
            <a:off x="6821424" y="4517136"/>
            <a:ext cx="2834640" cy="237744"/>
          </a:xfrm>
          <a:prstGeom prst="rect">
            <a:avLst/>
          </a:prstGeom>
          <a:noFill/>
        </p:spPr>
        <p:txBody>
          <a:bodyPr wrap="square" lIns="36576" tIns="18288" rIns="36576" bIns="18288" anchor="ctr">
            <a:spAutoFit/>
          </a:bodyPr>
          <a:lstStyle/>
          <a:p>
            <a:pPr algn="l"/>
            <a:r>
              <a:rPr sz="1100" b="1" i="0">
                <a:solidFill>
                  <a:srgbClr val="000962"/>
                </a:solidFill>
                <a:latin typeface="Arial"/>
              </a:rPr>
              <a:t>Walker, Malika Z</a:t>
            </a:r>
          </a:p>
        </p:txBody>
      </p:sp>
      <p:sp>
        <p:nvSpPr>
          <p:cNvPr id="80" name="TextBox 79"/>
          <p:cNvSpPr txBox="1"/>
          <p:nvPr/>
        </p:nvSpPr>
        <p:spPr>
          <a:xfrm>
            <a:off x="9582912" y="4517136"/>
            <a:ext cx="1051560" cy="237744"/>
          </a:xfrm>
          <a:prstGeom prst="rect">
            <a:avLst/>
          </a:prstGeom>
          <a:noFill/>
        </p:spPr>
        <p:txBody>
          <a:bodyPr wrap="square" lIns="36576" tIns="18288" rIns="36576" bIns="18288" anchor="ctr">
            <a:spAutoFit/>
          </a:bodyPr>
          <a:lstStyle/>
          <a:p>
            <a:pPr algn="l"/>
            <a:r>
              <a:rPr sz="900" b="0" i="0">
                <a:solidFill>
                  <a:srgbClr val="46648C"/>
                </a:solidFill>
                <a:latin typeface="Arial"/>
              </a:rPr>
              <a:t>Current</a:t>
            </a:r>
          </a:p>
        </p:txBody>
      </p:sp>
      <p:sp>
        <p:nvSpPr>
          <p:cNvPr id="81" name="TextBox 80"/>
          <p:cNvSpPr txBox="1"/>
          <p:nvPr/>
        </p:nvSpPr>
        <p:spPr>
          <a:xfrm>
            <a:off x="10479024" y="4517136"/>
            <a:ext cx="822960" cy="237744"/>
          </a:xfrm>
          <a:prstGeom prst="rect">
            <a:avLst/>
          </a:prstGeom>
          <a:noFill/>
        </p:spPr>
        <p:txBody>
          <a:bodyPr wrap="square" lIns="36576" tIns="18288" rIns="36576" bIns="18288" anchor="ctr">
            <a:spAutoFit/>
          </a:bodyPr>
          <a:lstStyle/>
          <a:p>
            <a:pPr algn="r"/>
            <a:r>
              <a:rPr sz="950" b="1" i="0">
                <a:solidFill>
                  <a:srgbClr val="0468FF"/>
                </a:solidFill>
                <a:latin typeface="Arial"/>
              </a:rPr>
              <a:t>3 cases</a:t>
            </a:r>
          </a:p>
        </p:txBody>
      </p:sp>
      <p:sp>
        <p:nvSpPr>
          <p:cNvPr id="82" name="Rectangle 81"/>
          <p:cNvSpPr/>
          <p:nvPr/>
        </p:nvSpPr>
        <p:spPr>
          <a:xfrm>
            <a:off x="6336792" y="4809744"/>
            <a:ext cx="5074920" cy="25603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6419088" y="4818888"/>
            <a:ext cx="365760" cy="237744"/>
          </a:xfrm>
          <a:prstGeom prst="rect">
            <a:avLst/>
          </a:prstGeom>
          <a:noFill/>
        </p:spPr>
        <p:txBody>
          <a:bodyPr wrap="square" lIns="36576" tIns="18288" rIns="36576" bIns="18288" anchor="ctr">
            <a:spAutoFit/>
          </a:bodyPr>
          <a:lstStyle/>
          <a:p>
            <a:pPr algn="ctr"/>
            <a:r>
              <a:rPr sz="1000" b="1" i="0">
                <a:solidFill>
                  <a:srgbClr val="46648C"/>
                </a:solidFill>
                <a:latin typeface="Arial"/>
              </a:rPr>
              <a:t>11</a:t>
            </a:r>
          </a:p>
        </p:txBody>
      </p:sp>
      <p:sp>
        <p:nvSpPr>
          <p:cNvPr id="84" name="TextBox 83"/>
          <p:cNvSpPr txBox="1"/>
          <p:nvPr/>
        </p:nvSpPr>
        <p:spPr>
          <a:xfrm>
            <a:off x="6821424" y="4818888"/>
            <a:ext cx="2834640" cy="237744"/>
          </a:xfrm>
          <a:prstGeom prst="rect">
            <a:avLst/>
          </a:prstGeom>
          <a:noFill/>
        </p:spPr>
        <p:txBody>
          <a:bodyPr wrap="square" lIns="36576" tIns="18288" rIns="36576" bIns="18288" anchor="ctr">
            <a:spAutoFit/>
          </a:bodyPr>
          <a:lstStyle/>
          <a:p>
            <a:pPr algn="l"/>
            <a:r>
              <a:rPr sz="1100" b="1" i="0">
                <a:solidFill>
                  <a:srgbClr val="000962"/>
                </a:solidFill>
                <a:latin typeface="Arial"/>
              </a:rPr>
              <a:t>Winn, Precious R</a:t>
            </a:r>
          </a:p>
        </p:txBody>
      </p:sp>
      <p:sp>
        <p:nvSpPr>
          <p:cNvPr id="85" name="TextBox 84"/>
          <p:cNvSpPr txBox="1"/>
          <p:nvPr/>
        </p:nvSpPr>
        <p:spPr>
          <a:xfrm>
            <a:off x="9582912" y="4818888"/>
            <a:ext cx="1051560" cy="237744"/>
          </a:xfrm>
          <a:prstGeom prst="rect">
            <a:avLst/>
          </a:prstGeom>
          <a:noFill/>
        </p:spPr>
        <p:txBody>
          <a:bodyPr wrap="square" lIns="36576" tIns="18288" rIns="36576" bIns="18288" anchor="ctr">
            <a:spAutoFit/>
          </a:bodyPr>
          <a:lstStyle/>
          <a:p>
            <a:pPr algn="l"/>
            <a:r>
              <a:rPr sz="900" b="0" i="0">
                <a:solidFill>
                  <a:srgbClr val="46648C"/>
                </a:solidFill>
                <a:latin typeface="Arial"/>
              </a:rPr>
              <a:t>Current</a:t>
            </a:r>
          </a:p>
        </p:txBody>
      </p:sp>
      <p:sp>
        <p:nvSpPr>
          <p:cNvPr id="86" name="TextBox 85"/>
          <p:cNvSpPr txBox="1"/>
          <p:nvPr/>
        </p:nvSpPr>
        <p:spPr>
          <a:xfrm>
            <a:off x="10479024" y="4818888"/>
            <a:ext cx="822960" cy="237744"/>
          </a:xfrm>
          <a:prstGeom prst="rect">
            <a:avLst/>
          </a:prstGeom>
          <a:noFill/>
        </p:spPr>
        <p:txBody>
          <a:bodyPr wrap="square" lIns="36576" tIns="18288" rIns="36576" bIns="18288" anchor="ctr">
            <a:spAutoFit/>
          </a:bodyPr>
          <a:lstStyle/>
          <a:p>
            <a:pPr algn="r"/>
            <a:r>
              <a:rPr sz="950" b="1" i="0">
                <a:solidFill>
                  <a:srgbClr val="0468FF"/>
                </a:solidFill>
                <a:latin typeface="Arial"/>
              </a:rPr>
              <a:t>3 cases</a:t>
            </a:r>
          </a:p>
        </p:txBody>
      </p:sp>
      <p:sp>
        <p:nvSpPr>
          <p:cNvPr id="87" name="TextBox 86"/>
          <p:cNvSpPr txBox="1"/>
          <p:nvPr/>
        </p:nvSpPr>
        <p:spPr>
          <a:xfrm>
            <a:off x="777240" y="5120640"/>
            <a:ext cx="10607040" cy="274320"/>
          </a:xfrm>
          <a:prstGeom prst="rect">
            <a:avLst/>
          </a:prstGeom>
          <a:noFill/>
        </p:spPr>
        <p:txBody>
          <a:bodyPr wrap="square" lIns="36576" tIns="18288" rIns="36576" bIns="18288">
            <a:spAutoFit/>
          </a:bodyPr>
          <a:lstStyle/>
          <a:p>
            <a:pPr algn="l"/>
            <a:r>
              <a:rPr sz="900" b="0" i="0">
                <a:solidFill>
                  <a:srgbClr val="46648C"/>
                </a:solidFill>
                <a:latin typeface="Arial"/>
              </a:rPr>
              <a:t>Employee's Whole Life counts 3:1. VUL, Market Wealth Plus and COLI/BOLI excluded. New York State cases and agents not enrolled in EAP by 7/31 receive Council Credits in lieu of cash.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000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327648"/>
            <a:ext cx="12191969" cy="146304"/>
          </a:xfrm>
          <a:prstGeom prst="rect">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1207" y="6323076"/>
            <a:ext cx="5394960" cy="146304"/>
          </a:xfrm>
          <a:prstGeom prst="rect">
            <a:avLst/>
          </a:prstGeom>
          <a:noFill/>
        </p:spPr>
        <p:txBody>
          <a:bodyPr wrap="square" lIns="0" tIns="0" rIns="0" bIns="0">
            <a:spAutoFit/>
          </a:bodyPr>
          <a:lstStyle/>
          <a:p>
            <a:pPr algn="l"/>
            <a:r>
              <a:rPr sz="550" b="0" i="0">
                <a:solidFill>
                  <a:srgbClr val="C7E2FF"/>
                </a:solidFill>
                <a:latin typeface="Arial"/>
              </a:rPr>
              <a:t>Internal use only. For agent use only. Not for use with the public.</a:t>
            </a:r>
          </a:p>
        </p:txBody>
      </p:sp>
      <p:sp>
        <p:nvSpPr>
          <p:cNvPr id="5" name="TextBox 4"/>
          <p:cNvSpPr txBox="1"/>
          <p:nvPr/>
        </p:nvSpPr>
        <p:spPr>
          <a:xfrm>
            <a:off x="10012680" y="6259068"/>
            <a:ext cx="1097280" cy="182880"/>
          </a:xfrm>
          <a:prstGeom prst="rect">
            <a:avLst/>
          </a:prstGeom>
          <a:noFill/>
        </p:spPr>
        <p:txBody>
          <a:bodyPr wrap="square" lIns="0" tIns="0" rIns="0" bIns="0">
            <a:spAutoFit/>
          </a:bodyPr>
          <a:lstStyle/>
          <a:p>
            <a:pPr algn="r"/>
            <a:r>
              <a:rPr sz="850" b="1" i="0">
                <a:solidFill>
                  <a:srgbClr val="C7E2FF"/>
                </a:solidFill>
                <a:latin typeface="Arial"/>
              </a:rPr>
              <a:t>ELEVATE</a:t>
            </a:r>
          </a:p>
        </p:txBody>
      </p:sp>
      <p:sp>
        <p:nvSpPr>
          <p:cNvPr id="6" name="TextBox 5"/>
          <p:cNvSpPr txBox="1"/>
          <p:nvPr/>
        </p:nvSpPr>
        <p:spPr>
          <a:xfrm>
            <a:off x="11192256" y="6268212"/>
            <a:ext cx="502920" cy="164592"/>
          </a:xfrm>
          <a:prstGeom prst="rect">
            <a:avLst/>
          </a:prstGeom>
          <a:noFill/>
        </p:spPr>
        <p:txBody>
          <a:bodyPr wrap="square" lIns="0" tIns="0" rIns="0" bIns="0">
            <a:spAutoFit/>
          </a:bodyPr>
          <a:lstStyle/>
          <a:p>
            <a:pPr algn="l"/>
            <a:r>
              <a:rPr sz="580" b="0" i="0">
                <a:solidFill>
                  <a:srgbClr val="C7E2FF"/>
                </a:solidFill>
                <a:latin typeface="Arial"/>
              </a:rPr>
              <a:t>NEW ORG</a:t>
            </a:r>
          </a:p>
        </p:txBody>
      </p:sp>
      <p:sp>
        <p:nvSpPr>
          <p:cNvPr id="7" name="TextBox 6"/>
          <p:cNvSpPr txBox="1"/>
          <p:nvPr/>
        </p:nvSpPr>
        <p:spPr>
          <a:xfrm>
            <a:off x="1097280" y="2331720"/>
            <a:ext cx="9966960" cy="777240"/>
          </a:xfrm>
          <a:prstGeom prst="rect">
            <a:avLst/>
          </a:prstGeom>
          <a:noFill/>
        </p:spPr>
        <p:txBody>
          <a:bodyPr wrap="square" lIns="36576" tIns="18288" rIns="36576" bIns="18288">
            <a:spAutoFit/>
          </a:bodyPr>
          <a:lstStyle/>
          <a:p>
            <a:pPr algn="ctr"/>
            <a:r>
              <a:rPr sz="4400" b="1" i="0">
                <a:solidFill>
                  <a:srgbClr val="FFFFFF"/>
                </a:solidFill>
                <a:latin typeface="Arial"/>
              </a:rPr>
              <a:t>Market Week Overview</a:t>
            </a:r>
          </a:p>
        </p:txBody>
      </p:sp>
      <p:sp>
        <p:nvSpPr>
          <p:cNvPr id="8" name="TextBox 7"/>
          <p:cNvSpPr txBox="1"/>
          <p:nvPr/>
        </p:nvSpPr>
        <p:spPr>
          <a:xfrm>
            <a:off x="1097280" y="3310128"/>
            <a:ext cx="9966960" cy="310896"/>
          </a:xfrm>
          <a:prstGeom prst="rect">
            <a:avLst/>
          </a:prstGeom>
          <a:noFill/>
        </p:spPr>
        <p:txBody>
          <a:bodyPr wrap="square" lIns="36576" tIns="18288" rIns="36576" bIns="18288">
            <a:spAutoFit/>
          </a:bodyPr>
          <a:lstStyle/>
          <a:p>
            <a:pPr algn="ctr"/>
            <a:r>
              <a:rPr sz="1700" b="0" i="0">
                <a:solidFill>
                  <a:srgbClr val="C7E2FF"/>
                </a:solidFill>
                <a:latin typeface="Arial"/>
              </a:rPr>
              <a:t>Week ended Friday, July 31, 2026</a:t>
            </a:r>
          </a:p>
        </p:txBody>
      </p:sp>
      <p:sp>
        <p:nvSpPr>
          <p:cNvPr id="9" name="TextBox 8"/>
          <p:cNvSpPr txBox="1"/>
          <p:nvPr/>
        </p:nvSpPr>
        <p:spPr>
          <a:xfrm>
            <a:off x="1097280" y="3712463"/>
            <a:ext cx="9966960" cy="310896"/>
          </a:xfrm>
          <a:prstGeom prst="rect">
            <a:avLst/>
          </a:prstGeom>
          <a:noFill/>
        </p:spPr>
        <p:txBody>
          <a:bodyPr wrap="square" lIns="36576" tIns="18288" rIns="36576" bIns="18288">
            <a:spAutoFit/>
          </a:bodyPr>
          <a:lstStyle/>
          <a:p>
            <a:pPr algn="ctr"/>
            <a:r>
              <a:rPr sz="1700" b="0" i="0">
                <a:solidFill>
                  <a:srgbClr val="C7E2FF"/>
                </a:solidFill>
                <a:latin typeface="Arial"/>
              </a:rPr>
              <a:t>Week Ahead: August 3 - August 7, 2026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21207" y="6323076"/>
            <a:ext cx="5394960" cy="146304"/>
          </a:xfrm>
          <a:prstGeom prst="rect">
            <a:avLst/>
          </a:prstGeom>
          <a:noFill/>
        </p:spPr>
        <p:txBody>
          <a:bodyPr wrap="square" lIns="0" tIns="0" r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tIns="0" r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tIns="0" r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tIns="18288" rIns="36576" bIns="18288">
            <a:spAutoFit/>
          </a:bodyPr>
          <a:lstStyle/>
          <a:p>
            <a:pPr algn="l"/>
            <a:r>
              <a:rPr sz="3200" b="1" i="0">
                <a:solidFill>
                  <a:srgbClr val="0468FF"/>
                </a:solidFill>
                <a:latin typeface="Arial"/>
              </a:rPr>
              <a:t>Week in Review: U.S. Markets Overview</a:t>
            </a:r>
          </a:p>
        </p:txBody>
      </p:sp>
      <p:sp>
        <p:nvSpPr>
          <p:cNvPr id="9" name="TextBox 8"/>
          <p:cNvSpPr txBox="1"/>
          <p:nvPr/>
        </p:nvSpPr>
        <p:spPr>
          <a:xfrm>
            <a:off x="713232" y="1353312"/>
            <a:ext cx="10881360" cy="310896"/>
          </a:xfrm>
          <a:prstGeom prst="rect">
            <a:avLst/>
          </a:prstGeom>
          <a:noFill/>
        </p:spPr>
        <p:txBody>
          <a:bodyPr wrap="square" lIns="36576" tIns="18288" rIns="36576" bIns="18288">
            <a:spAutoFit/>
          </a:bodyPr>
          <a:lstStyle/>
          <a:p>
            <a:pPr algn="l"/>
            <a:r>
              <a:rPr sz="1600" b="0" i="0">
                <a:solidFill>
                  <a:srgbClr val="000962"/>
                </a:solidFill>
                <a:latin typeface="Arial"/>
              </a:rPr>
              <a:t>Indexes finished higher while the AI trade churned violently underneath.</a:t>
            </a:r>
          </a:p>
        </p:txBody>
      </p:sp>
      <p:sp>
        <p:nvSpPr>
          <p:cNvPr id="10" name="TextBox 9"/>
          <p:cNvSpPr txBox="1"/>
          <p:nvPr/>
        </p:nvSpPr>
        <p:spPr>
          <a:xfrm>
            <a:off x="868680" y="1965960"/>
            <a:ext cx="6263640" cy="3291840"/>
          </a:xfrm>
          <a:prstGeom prst="rect">
            <a:avLst/>
          </a:prstGeom>
          <a:noFill/>
        </p:spPr>
        <p:txBody>
          <a:bodyPr wrap="square" lIns="36576" tIns="18288" rIns="36576" bIns="18288">
            <a:spAutoFit/>
          </a:bodyPr>
          <a:lstStyle/>
          <a:p>
            <a:pPr algn="l">
              <a:spcAft>
                <a:spcPts val="800"/>
              </a:spcAft>
            </a:pPr>
            <a:r>
              <a:rPr sz="1450" b="0" i="0">
                <a:solidFill>
                  <a:srgbClr val="000962"/>
                </a:solidFill>
                <a:latin typeface="Arial"/>
              </a:rPr>
              <a:t>S&amp;P 500 closed at 7,489.72 on Friday, up about 1.0% for the week.</a:t>
            </a:r>
          </a:p>
          <a:p>
            <a:pPr algn="l">
              <a:spcAft>
                <a:spcPts val="800"/>
              </a:spcAft>
            </a:pPr>
            <a:r>
              <a:rPr sz="1450" b="0" i="0">
                <a:solidFill>
                  <a:srgbClr val="000962"/>
                </a:solidFill>
                <a:latin typeface="Arial"/>
              </a:rPr>
              <a:t>Nasdaq Composite closed at 25,373.85, up roughly 1.6% for the week.</a:t>
            </a:r>
          </a:p>
          <a:p>
            <a:pPr algn="l">
              <a:spcAft>
                <a:spcPts val="800"/>
              </a:spcAft>
            </a:pPr>
            <a:r>
              <a:rPr sz="1450" b="0" i="0">
                <a:solidFill>
                  <a:srgbClr val="000962"/>
                </a:solidFill>
                <a:latin typeface="Arial"/>
              </a:rPr>
              <a:t>Dow closed at 52,485.03, up 276.97 points on Friday and about 1% for the week.</a:t>
            </a:r>
          </a:p>
          <a:p>
            <a:pPr algn="l">
              <a:spcAft>
                <a:spcPts val="800"/>
              </a:spcAft>
            </a:pPr>
            <a:r>
              <a:rPr sz="1450" b="0" i="0">
                <a:solidFill>
                  <a:srgbClr val="000962"/>
                </a:solidFill>
                <a:latin typeface="Arial"/>
              </a:rPr>
              <a:t>For the month of July: S&amp;P 500 slipped 0.1%, Nasdaq fell 3.2%, and the Dow rose 0.3% for a fourth straight monthly gain.</a:t>
            </a:r>
          </a:p>
          <a:p>
            <a:pPr algn="l">
              <a:spcAft>
                <a:spcPts val="800"/>
              </a:spcAft>
            </a:pPr>
            <a:r>
              <a:rPr sz="1450" b="0" i="0">
                <a:solidFill>
                  <a:srgbClr val="000962"/>
                </a:solidFill>
                <a:latin typeface="Arial"/>
              </a:rPr>
              <a:t>S&amp;P 500 semiconductors fell 3.4% on the week, per Yardeni Research.</a:t>
            </a:r>
          </a:p>
          <a:p>
            <a:pPr algn="l">
              <a:spcAft>
                <a:spcPts val="800"/>
              </a:spcAft>
            </a:pPr>
            <a:r>
              <a:rPr sz="1450" b="0" i="0">
                <a:solidFill>
                  <a:srgbClr val="000962"/>
                </a:solidFill>
                <a:latin typeface="Arial"/>
              </a:rPr>
              <a:t>Amazon jumped after earnings beat expectations. Apple fell on soft Services and Greater China revenue.</a:t>
            </a:r>
          </a:p>
        </p:txBody>
      </p:sp>
      <p:sp>
        <p:nvSpPr>
          <p:cNvPr id="11" name="Rectangle 10"/>
          <p:cNvSpPr/>
          <p:nvPr/>
        </p:nvSpPr>
        <p:spPr>
          <a:xfrm>
            <a:off x="7818120" y="1938528"/>
            <a:ext cx="3337560" cy="301752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28432" y="2157984"/>
            <a:ext cx="2916936" cy="274320"/>
          </a:xfrm>
          <a:prstGeom prst="rect">
            <a:avLst/>
          </a:prstGeom>
          <a:noFill/>
        </p:spPr>
        <p:txBody>
          <a:bodyPr wrap="square" lIns="36576" tIns="18288" rIns="36576" bIns="18288">
            <a:spAutoFit/>
          </a:bodyPr>
          <a:lstStyle/>
          <a:p>
            <a:pPr algn="l"/>
            <a:r>
              <a:rPr sz="1600" b="1" i="0">
                <a:solidFill>
                  <a:srgbClr val="0468FF"/>
                </a:solidFill>
                <a:latin typeface="Arial"/>
              </a:rPr>
              <a:t>Plain English</a:t>
            </a:r>
          </a:p>
        </p:txBody>
      </p:sp>
      <p:sp>
        <p:nvSpPr>
          <p:cNvPr id="13" name="TextBox 12"/>
          <p:cNvSpPr txBox="1"/>
          <p:nvPr/>
        </p:nvSpPr>
        <p:spPr>
          <a:xfrm>
            <a:off x="8028432" y="2578608"/>
            <a:ext cx="2916936" cy="2157984"/>
          </a:xfrm>
          <a:prstGeom prst="rect">
            <a:avLst/>
          </a:prstGeom>
          <a:noFill/>
        </p:spPr>
        <p:txBody>
          <a:bodyPr wrap="square" lIns="36576" tIns="18288" rIns="36576" bIns="18288">
            <a:spAutoFit/>
          </a:bodyPr>
          <a:lstStyle/>
          <a:p>
            <a:pPr algn="l">
              <a:spcAft>
                <a:spcPts val="600"/>
              </a:spcAft>
            </a:pPr>
            <a:r>
              <a:rPr sz="1450" b="0" i="0">
                <a:solidFill>
                  <a:srgbClr val="000962"/>
                </a:solidFill>
                <a:latin typeface="Arial"/>
              </a:rPr>
              <a:t>The scoreboard looked calm. The game underneath was not. Big technology earnings pulled the index up while the smaller AI infrastructure names were getting hit hard.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21207" y="6323076"/>
            <a:ext cx="5394960" cy="146304"/>
          </a:xfrm>
          <a:prstGeom prst="rect">
            <a:avLst/>
          </a:prstGeom>
          <a:noFill/>
        </p:spPr>
        <p:txBody>
          <a:bodyPr wrap="square" lIns="0" tIns="0" r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tIns="0" r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tIns="0" r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tIns="18288" rIns="36576" bIns="18288">
            <a:spAutoFit/>
          </a:bodyPr>
          <a:lstStyle/>
          <a:p>
            <a:pPr algn="l"/>
            <a:r>
              <a:rPr sz="3200" b="1" i="0">
                <a:solidFill>
                  <a:srgbClr val="0468FF"/>
                </a:solidFill>
                <a:latin typeface="Arial"/>
              </a:rPr>
              <a:t>Key Economic Data Released Last Week</a:t>
            </a:r>
          </a:p>
        </p:txBody>
      </p:sp>
      <p:sp>
        <p:nvSpPr>
          <p:cNvPr id="9" name="TextBox 8"/>
          <p:cNvSpPr txBox="1"/>
          <p:nvPr/>
        </p:nvSpPr>
        <p:spPr>
          <a:xfrm>
            <a:off x="713232" y="1353312"/>
            <a:ext cx="10881360" cy="310896"/>
          </a:xfrm>
          <a:prstGeom prst="rect">
            <a:avLst/>
          </a:prstGeom>
          <a:noFill/>
        </p:spPr>
        <p:txBody>
          <a:bodyPr wrap="square" lIns="36576" tIns="18288" rIns="36576" bIns="18288">
            <a:spAutoFit/>
          </a:bodyPr>
          <a:lstStyle/>
          <a:p>
            <a:pPr algn="l"/>
            <a:r>
              <a:rPr sz="1600" b="0" i="0">
                <a:solidFill>
                  <a:srgbClr val="000962"/>
                </a:solidFill>
                <a:latin typeface="Arial"/>
              </a:rPr>
              <a:t>Growth cooled, inflation stayed sticky, and the Fed sat on its hands.</a:t>
            </a:r>
          </a:p>
        </p:txBody>
      </p:sp>
      <p:sp>
        <p:nvSpPr>
          <p:cNvPr id="10" name="Rectangle 9"/>
          <p:cNvSpPr/>
          <p:nvPr/>
        </p:nvSpPr>
        <p:spPr>
          <a:xfrm>
            <a:off x="868680" y="1965960"/>
            <a:ext cx="3246120" cy="105156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7" y="2029967"/>
            <a:ext cx="3026663" cy="182880"/>
          </a:xfrm>
          <a:prstGeom prst="rect">
            <a:avLst/>
          </a:prstGeom>
          <a:noFill/>
        </p:spPr>
        <p:txBody>
          <a:bodyPr wrap="square" lIns="36576" tIns="18288" rIns="36576" bIns="18288">
            <a:spAutoFit/>
          </a:bodyPr>
          <a:lstStyle/>
          <a:p>
            <a:pPr algn="l"/>
            <a:r>
              <a:rPr sz="1050" b="0" i="0">
                <a:solidFill>
                  <a:srgbClr val="46648C"/>
                </a:solidFill>
                <a:latin typeface="Arial"/>
              </a:rPr>
              <a:t>Q2 2026 real GDP</a:t>
            </a:r>
          </a:p>
        </p:txBody>
      </p:sp>
      <p:sp>
        <p:nvSpPr>
          <p:cNvPr id="12" name="TextBox 11"/>
          <p:cNvSpPr txBox="1"/>
          <p:nvPr/>
        </p:nvSpPr>
        <p:spPr>
          <a:xfrm>
            <a:off x="978407" y="2221991"/>
            <a:ext cx="3026663" cy="310896"/>
          </a:xfrm>
          <a:prstGeom prst="rect">
            <a:avLst/>
          </a:prstGeom>
          <a:noFill/>
        </p:spPr>
        <p:txBody>
          <a:bodyPr wrap="square" lIns="36576" tIns="18288" rIns="36576" bIns="18288">
            <a:spAutoFit/>
          </a:bodyPr>
          <a:lstStyle/>
          <a:p>
            <a:pPr algn="l"/>
            <a:r>
              <a:rPr sz="2200" b="1" i="0">
                <a:solidFill>
                  <a:srgbClr val="0468FF"/>
                </a:solidFill>
                <a:latin typeface="Arial"/>
              </a:rPr>
              <a:t>1.5%</a:t>
            </a:r>
          </a:p>
        </p:txBody>
      </p:sp>
      <p:sp>
        <p:nvSpPr>
          <p:cNvPr id="13" name="TextBox 12"/>
          <p:cNvSpPr txBox="1"/>
          <p:nvPr/>
        </p:nvSpPr>
        <p:spPr>
          <a:xfrm>
            <a:off x="978407" y="2587752"/>
            <a:ext cx="3026663" cy="356615"/>
          </a:xfrm>
          <a:prstGeom prst="rect">
            <a:avLst/>
          </a:prstGeom>
          <a:noFill/>
        </p:spPr>
        <p:txBody>
          <a:bodyPr wrap="square" lIns="36576" tIns="18288" rIns="36576" bIns="18288">
            <a:spAutoFit/>
          </a:bodyPr>
          <a:lstStyle/>
          <a:p>
            <a:pPr algn="l"/>
            <a:r>
              <a:rPr sz="1100" b="0" i="0">
                <a:solidFill>
                  <a:srgbClr val="000962"/>
                </a:solidFill>
                <a:latin typeface="Arial"/>
              </a:rPr>
              <a:t>Down from 2.1% in Q1</a:t>
            </a:r>
          </a:p>
        </p:txBody>
      </p:sp>
      <p:sp>
        <p:nvSpPr>
          <p:cNvPr id="14" name="Rectangle 13"/>
          <p:cNvSpPr/>
          <p:nvPr/>
        </p:nvSpPr>
        <p:spPr>
          <a:xfrm>
            <a:off x="4443984" y="1965960"/>
            <a:ext cx="3246120" cy="105156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53712" y="2029967"/>
            <a:ext cx="3026663" cy="182880"/>
          </a:xfrm>
          <a:prstGeom prst="rect">
            <a:avLst/>
          </a:prstGeom>
          <a:noFill/>
        </p:spPr>
        <p:txBody>
          <a:bodyPr wrap="square" lIns="36576" tIns="18288" rIns="36576" bIns="18288">
            <a:spAutoFit/>
          </a:bodyPr>
          <a:lstStyle/>
          <a:p>
            <a:pPr algn="l"/>
            <a:r>
              <a:rPr sz="1050" b="0" i="0">
                <a:solidFill>
                  <a:srgbClr val="46648C"/>
                </a:solidFill>
                <a:latin typeface="Arial"/>
              </a:rPr>
              <a:t>June core inflation</a:t>
            </a:r>
          </a:p>
        </p:txBody>
      </p:sp>
      <p:sp>
        <p:nvSpPr>
          <p:cNvPr id="16" name="TextBox 15"/>
          <p:cNvSpPr txBox="1"/>
          <p:nvPr/>
        </p:nvSpPr>
        <p:spPr>
          <a:xfrm>
            <a:off x="4553712" y="2221991"/>
            <a:ext cx="3026663" cy="310896"/>
          </a:xfrm>
          <a:prstGeom prst="rect">
            <a:avLst/>
          </a:prstGeom>
          <a:noFill/>
        </p:spPr>
        <p:txBody>
          <a:bodyPr wrap="square" lIns="36576" tIns="18288" rIns="36576" bIns="18288">
            <a:spAutoFit/>
          </a:bodyPr>
          <a:lstStyle/>
          <a:p>
            <a:pPr algn="l"/>
            <a:r>
              <a:rPr sz="2200" b="1" i="0">
                <a:solidFill>
                  <a:srgbClr val="0468FF"/>
                </a:solidFill>
                <a:latin typeface="Arial"/>
              </a:rPr>
              <a:t>3.3%</a:t>
            </a:r>
          </a:p>
        </p:txBody>
      </p:sp>
      <p:sp>
        <p:nvSpPr>
          <p:cNvPr id="17" name="TextBox 16"/>
          <p:cNvSpPr txBox="1"/>
          <p:nvPr/>
        </p:nvSpPr>
        <p:spPr>
          <a:xfrm>
            <a:off x="4553712" y="2587752"/>
            <a:ext cx="3026663" cy="356615"/>
          </a:xfrm>
          <a:prstGeom prst="rect">
            <a:avLst/>
          </a:prstGeom>
          <a:noFill/>
        </p:spPr>
        <p:txBody>
          <a:bodyPr wrap="square" lIns="36576" tIns="18288" rIns="36576" bIns="18288">
            <a:spAutoFit/>
          </a:bodyPr>
          <a:lstStyle/>
          <a:p>
            <a:pPr algn="l"/>
            <a:r>
              <a:rPr sz="1100" b="0" i="0">
                <a:solidFill>
                  <a:srgbClr val="000962"/>
                </a:solidFill>
                <a:latin typeface="Arial"/>
              </a:rPr>
              <a:t>Still above the Fed's 2% target</a:t>
            </a:r>
          </a:p>
        </p:txBody>
      </p:sp>
      <p:sp>
        <p:nvSpPr>
          <p:cNvPr id="18" name="Rectangle 17"/>
          <p:cNvSpPr/>
          <p:nvPr/>
        </p:nvSpPr>
        <p:spPr>
          <a:xfrm>
            <a:off x="8019288" y="1965960"/>
            <a:ext cx="3246120" cy="105156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129015" y="2029967"/>
            <a:ext cx="3026663" cy="182880"/>
          </a:xfrm>
          <a:prstGeom prst="rect">
            <a:avLst/>
          </a:prstGeom>
          <a:noFill/>
        </p:spPr>
        <p:txBody>
          <a:bodyPr wrap="square" lIns="36576" tIns="18288" rIns="36576" bIns="18288">
            <a:spAutoFit/>
          </a:bodyPr>
          <a:lstStyle/>
          <a:p>
            <a:pPr algn="l"/>
            <a:r>
              <a:rPr sz="1050" b="0" i="0">
                <a:solidFill>
                  <a:srgbClr val="46648C"/>
                </a:solidFill>
                <a:latin typeface="Arial"/>
              </a:rPr>
              <a:t>Fed funds decision</a:t>
            </a:r>
          </a:p>
        </p:txBody>
      </p:sp>
      <p:sp>
        <p:nvSpPr>
          <p:cNvPr id="20" name="TextBox 19"/>
          <p:cNvSpPr txBox="1"/>
          <p:nvPr/>
        </p:nvSpPr>
        <p:spPr>
          <a:xfrm>
            <a:off x="8129015" y="2221991"/>
            <a:ext cx="3026663" cy="310896"/>
          </a:xfrm>
          <a:prstGeom prst="rect">
            <a:avLst/>
          </a:prstGeom>
          <a:noFill/>
        </p:spPr>
        <p:txBody>
          <a:bodyPr wrap="square" lIns="36576" tIns="18288" rIns="36576" bIns="18288">
            <a:spAutoFit/>
          </a:bodyPr>
          <a:lstStyle/>
          <a:p>
            <a:pPr algn="l"/>
            <a:r>
              <a:rPr sz="2200" b="1" i="0">
                <a:solidFill>
                  <a:srgbClr val="0468FF"/>
                </a:solidFill>
                <a:latin typeface="Arial"/>
              </a:rPr>
              <a:t>No change</a:t>
            </a:r>
          </a:p>
        </p:txBody>
      </p:sp>
      <p:sp>
        <p:nvSpPr>
          <p:cNvPr id="21" name="TextBox 20"/>
          <p:cNvSpPr txBox="1"/>
          <p:nvPr/>
        </p:nvSpPr>
        <p:spPr>
          <a:xfrm>
            <a:off x="8129015" y="2587752"/>
            <a:ext cx="3026663" cy="356615"/>
          </a:xfrm>
          <a:prstGeom prst="rect">
            <a:avLst/>
          </a:prstGeom>
          <a:noFill/>
        </p:spPr>
        <p:txBody>
          <a:bodyPr wrap="square" lIns="36576" tIns="18288" rIns="36576" bIns="18288">
            <a:spAutoFit/>
          </a:bodyPr>
          <a:lstStyle/>
          <a:p>
            <a:pPr algn="l"/>
            <a:r>
              <a:rPr sz="1100" b="0" i="0">
                <a:solidFill>
                  <a:srgbClr val="000962"/>
                </a:solidFill>
                <a:latin typeface="Arial"/>
              </a:rPr>
              <a:t>Three hawkish dissents</a:t>
            </a:r>
          </a:p>
        </p:txBody>
      </p:sp>
      <p:sp>
        <p:nvSpPr>
          <p:cNvPr id="22" name="TextBox 21"/>
          <p:cNvSpPr txBox="1"/>
          <p:nvPr/>
        </p:nvSpPr>
        <p:spPr>
          <a:xfrm>
            <a:off x="868680" y="3337560"/>
            <a:ext cx="6675120" cy="2011680"/>
          </a:xfrm>
          <a:prstGeom prst="rect">
            <a:avLst/>
          </a:prstGeom>
          <a:noFill/>
        </p:spPr>
        <p:txBody>
          <a:bodyPr wrap="square" lIns="36576" tIns="18288" rIns="36576" bIns="18288">
            <a:spAutoFit/>
          </a:bodyPr>
          <a:lstStyle/>
          <a:p>
            <a:pPr algn="l">
              <a:spcAft>
                <a:spcPts val="700"/>
              </a:spcAft>
            </a:pPr>
            <a:r>
              <a:rPr sz="1350" b="0" i="0">
                <a:solidFill>
                  <a:srgbClr val="000962"/>
                </a:solidFill>
                <a:latin typeface="Arial"/>
              </a:rPr>
              <a:t>Second quarter GDP grew 1.5%, slower than the first quarter's 2.1%, as tariffs and higher oil prices acted as a supply shock and AI equipment imports widened the trade deficit.</a:t>
            </a:r>
          </a:p>
          <a:p>
            <a:pPr algn="l">
              <a:spcAft>
                <a:spcPts val="700"/>
              </a:spcAft>
            </a:pPr>
            <a:r>
              <a:rPr sz="1350" b="0" i="0">
                <a:solidFill>
                  <a:srgbClr val="000962"/>
                </a:solidFill>
                <a:latin typeface="Arial"/>
              </a:rPr>
              <a:t>Consumer spending held up. Personal spending rose 2.1% after a 0.4% gain in the first quarter.</a:t>
            </a:r>
          </a:p>
          <a:p>
            <a:pPr algn="l">
              <a:spcAft>
                <a:spcPts val="700"/>
              </a:spcAft>
            </a:pPr>
            <a:r>
              <a:rPr sz="1350" b="0" i="0">
                <a:solidFill>
                  <a:srgbClr val="000962"/>
                </a:solidFill>
                <a:latin typeface="Arial"/>
              </a:rPr>
              <a:t>The FOMC held rates steady on July 29 with three hawkish dissents. It was Chair Kevin Warsh's first press conference.</a:t>
            </a:r>
          </a:p>
        </p:txBody>
      </p:sp>
      <p:sp>
        <p:nvSpPr>
          <p:cNvPr id="23" name="Rectangle 22"/>
          <p:cNvSpPr/>
          <p:nvPr/>
        </p:nvSpPr>
        <p:spPr>
          <a:xfrm>
            <a:off x="8019288" y="3337560"/>
            <a:ext cx="3246120" cy="201168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9600" y="3502152"/>
            <a:ext cx="2834640" cy="256032"/>
          </a:xfrm>
          <a:prstGeom prst="rect">
            <a:avLst/>
          </a:prstGeom>
          <a:noFill/>
        </p:spPr>
        <p:txBody>
          <a:bodyPr wrap="square" lIns="36576" tIns="18288" rIns="36576" bIns="18288">
            <a:spAutoFit/>
          </a:bodyPr>
          <a:lstStyle/>
          <a:p>
            <a:pPr algn="l"/>
            <a:r>
              <a:rPr sz="1500" b="1" i="0">
                <a:solidFill>
                  <a:srgbClr val="0468FF"/>
                </a:solidFill>
                <a:latin typeface="Arial"/>
              </a:rPr>
              <a:t>NYLIM view</a:t>
            </a:r>
          </a:p>
        </p:txBody>
      </p:sp>
      <p:sp>
        <p:nvSpPr>
          <p:cNvPr id="25" name="TextBox 24"/>
          <p:cNvSpPr txBox="1"/>
          <p:nvPr/>
        </p:nvSpPr>
        <p:spPr>
          <a:xfrm>
            <a:off x="8229600" y="3840480"/>
            <a:ext cx="2834640" cy="1371600"/>
          </a:xfrm>
          <a:prstGeom prst="rect">
            <a:avLst/>
          </a:prstGeom>
          <a:noFill/>
        </p:spPr>
        <p:txBody>
          <a:bodyPr wrap="square" lIns="36576" tIns="18288" rIns="36576" bIns="18288">
            <a:spAutoFit/>
          </a:bodyPr>
          <a:lstStyle/>
          <a:p>
            <a:pPr algn="l"/>
            <a:r>
              <a:rPr sz="1250" b="0" i="0">
                <a:solidFill>
                  <a:srgbClr val="000962"/>
                </a:solidFill>
                <a:latin typeface="Arial"/>
              </a:rPr>
              <a:t>The midyear Macro Pulse calls this The Narrowing Path. Resilient fundamentals and AI leadership, but stickier inflation makes the road ahead narrower.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21207" y="6323076"/>
            <a:ext cx="5394960" cy="146304"/>
          </a:xfrm>
          <a:prstGeom prst="rect">
            <a:avLst/>
          </a:prstGeom>
          <a:noFill/>
        </p:spPr>
        <p:txBody>
          <a:bodyPr wrap="square" lIns="0" tIns="0" r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tIns="0" r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tIns="0" r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tIns="18288" rIns="36576" bIns="18288">
            <a:spAutoFit/>
          </a:bodyPr>
          <a:lstStyle/>
          <a:p>
            <a:pPr algn="l"/>
            <a:r>
              <a:rPr sz="3200" b="1" i="0">
                <a:solidFill>
                  <a:srgbClr val="0468FF"/>
                </a:solidFill>
                <a:latin typeface="Arial"/>
              </a:rPr>
              <a:t>Notable Earnings from Last Week</a:t>
            </a:r>
          </a:p>
        </p:txBody>
      </p:sp>
      <p:sp>
        <p:nvSpPr>
          <p:cNvPr id="9" name="TextBox 8"/>
          <p:cNvSpPr txBox="1"/>
          <p:nvPr/>
        </p:nvSpPr>
        <p:spPr>
          <a:xfrm>
            <a:off x="713232" y="1353312"/>
            <a:ext cx="10881360" cy="310896"/>
          </a:xfrm>
          <a:prstGeom prst="rect">
            <a:avLst/>
          </a:prstGeom>
          <a:noFill/>
        </p:spPr>
        <p:txBody>
          <a:bodyPr wrap="square" lIns="36576" tIns="18288" rIns="36576" bIns="18288">
            <a:spAutoFit/>
          </a:bodyPr>
          <a:lstStyle/>
          <a:p>
            <a:pPr algn="l"/>
            <a:r>
              <a:rPr sz="1600" b="0" i="0">
                <a:solidFill>
                  <a:srgbClr val="000962"/>
                </a:solidFill>
                <a:latin typeface="Arial"/>
              </a:rPr>
              <a:t>Big Tech reported together and the market separated spenders from earners.</a:t>
            </a:r>
          </a:p>
        </p:txBody>
      </p:sp>
      <p:sp>
        <p:nvSpPr>
          <p:cNvPr id="10" name="TextBox 9"/>
          <p:cNvSpPr txBox="1"/>
          <p:nvPr/>
        </p:nvSpPr>
        <p:spPr>
          <a:xfrm>
            <a:off x="868680" y="1874519"/>
            <a:ext cx="10424160" cy="310896"/>
          </a:xfrm>
          <a:prstGeom prst="rect">
            <a:avLst/>
          </a:prstGeom>
          <a:noFill/>
        </p:spPr>
        <p:txBody>
          <a:bodyPr wrap="square" lIns="36576" tIns="18288" rIns="36576" bIns="18288">
            <a:spAutoFit/>
          </a:bodyPr>
          <a:lstStyle/>
          <a:p>
            <a:pPr algn="l"/>
            <a:r>
              <a:rPr sz="1500" b="1" i="0">
                <a:solidFill>
                  <a:srgbClr val="000962"/>
                </a:solidFill>
                <a:latin typeface="Arial"/>
              </a:rPr>
              <a:t>Capital spending is no longer free. Companies that showed the demand behind the spend were rewarded.</a:t>
            </a:r>
          </a:p>
        </p:txBody>
      </p:sp>
      <p:sp>
        <p:nvSpPr>
          <p:cNvPr id="11" name="Rectangle 10"/>
          <p:cNvSpPr/>
          <p:nvPr/>
        </p:nvSpPr>
        <p:spPr>
          <a:xfrm>
            <a:off x="868680" y="2377440"/>
            <a:ext cx="2468880" cy="123444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7" y="2441448"/>
            <a:ext cx="2249424" cy="182880"/>
          </a:xfrm>
          <a:prstGeom prst="rect">
            <a:avLst/>
          </a:prstGeom>
          <a:noFill/>
        </p:spPr>
        <p:txBody>
          <a:bodyPr wrap="square" lIns="36576" tIns="18288" rIns="36576" bIns="18288">
            <a:spAutoFit/>
          </a:bodyPr>
          <a:lstStyle/>
          <a:p>
            <a:pPr algn="l"/>
            <a:r>
              <a:rPr sz="1050" b="0" i="0">
                <a:solidFill>
                  <a:srgbClr val="46648C"/>
                </a:solidFill>
                <a:latin typeface="Arial"/>
              </a:rPr>
              <a:t>Amazon</a:t>
            </a:r>
          </a:p>
        </p:txBody>
      </p:sp>
      <p:sp>
        <p:nvSpPr>
          <p:cNvPr id="13" name="TextBox 12"/>
          <p:cNvSpPr txBox="1"/>
          <p:nvPr/>
        </p:nvSpPr>
        <p:spPr>
          <a:xfrm>
            <a:off x="978407" y="2633472"/>
            <a:ext cx="2249424" cy="310896"/>
          </a:xfrm>
          <a:prstGeom prst="rect">
            <a:avLst/>
          </a:prstGeom>
          <a:noFill/>
        </p:spPr>
        <p:txBody>
          <a:bodyPr wrap="square" lIns="36576" tIns="18288" rIns="36576" bIns="18288">
            <a:spAutoFit/>
          </a:bodyPr>
          <a:lstStyle/>
          <a:p>
            <a:pPr algn="l"/>
            <a:r>
              <a:rPr sz="2000" b="1" i="0">
                <a:solidFill>
                  <a:srgbClr val="0468FF"/>
                </a:solidFill>
                <a:latin typeface="Arial"/>
              </a:rPr>
              <a:t>Beat</a:t>
            </a:r>
          </a:p>
        </p:txBody>
      </p:sp>
      <p:sp>
        <p:nvSpPr>
          <p:cNvPr id="14" name="TextBox 13"/>
          <p:cNvSpPr txBox="1"/>
          <p:nvPr/>
        </p:nvSpPr>
        <p:spPr>
          <a:xfrm>
            <a:off x="978407" y="2999232"/>
            <a:ext cx="2249424" cy="539496"/>
          </a:xfrm>
          <a:prstGeom prst="rect">
            <a:avLst/>
          </a:prstGeom>
          <a:noFill/>
        </p:spPr>
        <p:txBody>
          <a:bodyPr wrap="square" lIns="36576" tIns="18288" rIns="36576" bIns="18288">
            <a:spAutoFit/>
          </a:bodyPr>
          <a:lstStyle/>
          <a:p>
            <a:pPr algn="l"/>
            <a:r>
              <a:rPr sz="1100" b="0" i="0">
                <a:solidFill>
                  <a:srgbClr val="000962"/>
                </a:solidFill>
                <a:latin typeface="Arial"/>
              </a:rPr>
              <a:t>Shares surged on the report</a:t>
            </a:r>
          </a:p>
        </p:txBody>
      </p:sp>
      <p:sp>
        <p:nvSpPr>
          <p:cNvPr id="15" name="Rectangle 14"/>
          <p:cNvSpPr/>
          <p:nvPr/>
        </p:nvSpPr>
        <p:spPr>
          <a:xfrm>
            <a:off x="3520440" y="2377440"/>
            <a:ext cx="2468880" cy="123444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30168" y="2441448"/>
            <a:ext cx="2249424" cy="182880"/>
          </a:xfrm>
          <a:prstGeom prst="rect">
            <a:avLst/>
          </a:prstGeom>
          <a:noFill/>
        </p:spPr>
        <p:txBody>
          <a:bodyPr wrap="square" lIns="36576" tIns="18288" rIns="36576" bIns="18288">
            <a:spAutoFit/>
          </a:bodyPr>
          <a:lstStyle/>
          <a:p>
            <a:pPr algn="l"/>
            <a:r>
              <a:rPr sz="1050" b="0" i="0">
                <a:solidFill>
                  <a:srgbClr val="46648C"/>
                </a:solidFill>
                <a:latin typeface="Arial"/>
              </a:rPr>
              <a:t>Microsoft</a:t>
            </a:r>
          </a:p>
        </p:txBody>
      </p:sp>
      <p:sp>
        <p:nvSpPr>
          <p:cNvPr id="17" name="TextBox 16"/>
          <p:cNvSpPr txBox="1"/>
          <p:nvPr/>
        </p:nvSpPr>
        <p:spPr>
          <a:xfrm>
            <a:off x="3630168" y="2633472"/>
            <a:ext cx="2249424" cy="310896"/>
          </a:xfrm>
          <a:prstGeom prst="rect">
            <a:avLst/>
          </a:prstGeom>
          <a:noFill/>
        </p:spPr>
        <p:txBody>
          <a:bodyPr wrap="square" lIns="36576" tIns="18288" rIns="36576" bIns="18288">
            <a:spAutoFit/>
          </a:bodyPr>
          <a:lstStyle/>
          <a:p>
            <a:pPr algn="l"/>
            <a:r>
              <a:rPr sz="2000" b="1" i="0">
                <a:solidFill>
                  <a:srgbClr val="0468FF"/>
                </a:solidFill>
                <a:latin typeface="Arial"/>
              </a:rPr>
              <a:t>Beat</a:t>
            </a:r>
          </a:p>
        </p:txBody>
      </p:sp>
      <p:sp>
        <p:nvSpPr>
          <p:cNvPr id="18" name="TextBox 17"/>
          <p:cNvSpPr txBox="1"/>
          <p:nvPr/>
        </p:nvSpPr>
        <p:spPr>
          <a:xfrm>
            <a:off x="3630168" y="2999232"/>
            <a:ext cx="2249424" cy="539496"/>
          </a:xfrm>
          <a:prstGeom prst="rect">
            <a:avLst/>
          </a:prstGeom>
          <a:noFill/>
        </p:spPr>
        <p:txBody>
          <a:bodyPr wrap="square" lIns="36576" tIns="18288" rIns="36576" bIns="18288">
            <a:spAutoFit/>
          </a:bodyPr>
          <a:lstStyle/>
          <a:p>
            <a:pPr algn="l"/>
            <a:r>
              <a:rPr sz="1100" b="0" i="0">
                <a:solidFill>
                  <a:srgbClr val="000962"/>
                </a:solidFill>
                <a:latin typeface="Arial"/>
              </a:rPr>
              <a:t>Capex guide lifted memory names</a:t>
            </a:r>
          </a:p>
        </p:txBody>
      </p:sp>
      <p:sp>
        <p:nvSpPr>
          <p:cNvPr id="19" name="Rectangle 18"/>
          <p:cNvSpPr/>
          <p:nvPr/>
        </p:nvSpPr>
        <p:spPr>
          <a:xfrm>
            <a:off x="6172200" y="2377440"/>
            <a:ext cx="2468880" cy="123444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81928" y="2441448"/>
            <a:ext cx="2249424" cy="182880"/>
          </a:xfrm>
          <a:prstGeom prst="rect">
            <a:avLst/>
          </a:prstGeom>
          <a:noFill/>
        </p:spPr>
        <p:txBody>
          <a:bodyPr wrap="square" lIns="36576" tIns="18288" rIns="36576" bIns="18288">
            <a:spAutoFit/>
          </a:bodyPr>
          <a:lstStyle/>
          <a:p>
            <a:pPr algn="l"/>
            <a:r>
              <a:rPr sz="1050" b="0" i="0">
                <a:solidFill>
                  <a:srgbClr val="46648C"/>
                </a:solidFill>
                <a:latin typeface="Arial"/>
              </a:rPr>
              <a:t>Apple</a:t>
            </a:r>
          </a:p>
        </p:txBody>
      </p:sp>
      <p:sp>
        <p:nvSpPr>
          <p:cNvPr id="21" name="TextBox 20"/>
          <p:cNvSpPr txBox="1"/>
          <p:nvPr/>
        </p:nvSpPr>
        <p:spPr>
          <a:xfrm>
            <a:off x="6281928" y="2633472"/>
            <a:ext cx="2249424" cy="310896"/>
          </a:xfrm>
          <a:prstGeom prst="rect">
            <a:avLst/>
          </a:prstGeom>
          <a:noFill/>
        </p:spPr>
        <p:txBody>
          <a:bodyPr wrap="square" lIns="36576" tIns="18288" rIns="36576" bIns="18288">
            <a:spAutoFit/>
          </a:bodyPr>
          <a:lstStyle/>
          <a:p>
            <a:pPr algn="l"/>
            <a:r>
              <a:rPr sz="2000" b="1" i="0">
                <a:solidFill>
                  <a:srgbClr val="0468FF"/>
                </a:solidFill>
                <a:latin typeface="Arial"/>
              </a:rPr>
              <a:t>Miss</a:t>
            </a:r>
          </a:p>
        </p:txBody>
      </p:sp>
      <p:sp>
        <p:nvSpPr>
          <p:cNvPr id="22" name="TextBox 21"/>
          <p:cNvSpPr txBox="1"/>
          <p:nvPr/>
        </p:nvSpPr>
        <p:spPr>
          <a:xfrm>
            <a:off x="6281928" y="2999232"/>
            <a:ext cx="2249424" cy="539496"/>
          </a:xfrm>
          <a:prstGeom prst="rect">
            <a:avLst/>
          </a:prstGeom>
          <a:noFill/>
        </p:spPr>
        <p:txBody>
          <a:bodyPr wrap="square" lIns="36576" tIns="18288" rIns="36576" bIns="18288">
            <a:spAutoFit/>
          </a:bodyPr>
          <a:lstStyle/>
          <a:p>
            <a:pPr algn="l"/>
            <a:r>
              <a:rPr sz="1100" b="0" i="0">
                <a:solidFill>
                  <a:srgbClr val="000962"/>
                </a:solidFill>
                <a:latin typeface="Arial"/>
              </a:rPr>
              <a:t>Services and Greater China short</a:t>
            </a:r>
          </a:p>
        </p:txBody>
      </p:sp>
      <p:sp>
        <p:nvSpPr>
          <p:cNvPr id="23" name="Rectangle 22"/>
          <p:cNvSpPr/>
          <p:nvPr/>
        </p:nvSpPr>
        <p:spPr>
          <a:xfrm>
            <a:off x="8823960" y="2377440"/>
            <a:ext cx="2468880" cy="123444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33688" y="2441448"/>
            <a:ext cx="2249424" cy="182880"/>
          </a:xfrm>
          <a:prstGeom prst="rect">
            <a:avLst/>
          </a:prstGeom>
          <a:noFill/>
        </p:spPr>
        <p:txBody>
          <a:bodyPr wrap="square" lIns="36576" tIns="18288" rIns="36576" bIns="18288">
            <a:spAutoFit/>
          </a:bodyPr>
          <a:lstStyle/>
          <a:p>
            <a:pPr algn="l"/>
            <a:r>
              <a:rPr sz="1050" b="0" i="0">
                <a:solidFill>
                  <a:srgbClr val="46648C"/>
                </a:solidFill>
                <a:latin typeface="Arial"/>
              </a:rPr>
              <a:t>Meta / Alphabet</a:t>
            </a:r>
          </a:p>
        </p:txBody>
      </p:sp>
      <p:sp>
        <p:nvSpPr>
          <p:cNvPr id="25" name="TextBox 24"/>
          <p:cNvSpPr txBox="1"/>
          <p:nvPr/>
        </p:nvSpPr>
        <p:spPr>
          <a:xfrm>
            <a:off x="8933688" y="2633472"/>
            <a:ext cx="2249424" cy="310896"/>
          </a:xfrm>
          <a:prstGeom prst="rect">
            <a:avLst/>
          </a:prstGeom>
          <a:noFill/>
        </p:spPr>
        <p:txBody>
          <a:bodyPr wrap="square" lIns="36576" tIns="18288" rIns="36576" bIns="18288">
            <a:spAutoFit/>
          </a:bodyPr>
          <a:lstStyle/>
          <a:p>
            <a:pPr algn="l"/>
            <a:r>
              <a:rPr sz="1700" b="1" i="0">
                <a:solidFill>
                  <a:srgbClr val="0468FF"/>
                </a:solidFill>
                <a:latin typeface="Arial"/>
              </a:rPr>
              <a:t>Punished</a:t>
            </a:r>
          </a:p>
        </p:txBody>
      </p:sp>
      <p:sp>
        <p:nvSpPr>
          <p:cNvPr id="26" name="TextBox 25"/>
          <p:cNvSpPr txBox="1"/>
          <p:nvPr/>
        </p:nvSpPr>
        <p:spPr>
          <a:xfrm>
            <a:off x="8933688" y="2999232"/>
            <a:ext cx="2249424" cy="539496"/>
          </a:xfrm>
          <a:prstGeom prst="rect">
            <a:avLst/>
          </a:prstGeom>
          <a:noFill/>
        </p:spPr>
        <p:txBody>
          <a:bodyPr wrap="square" lIns="36576" tIns="18288" rIns="36576" bIns="18288">
            <a:spAutoFit/>
          </a:bodyPr>
          <a:lstStyle/>
          <a:p>
            <a:pPr algn="l"/>
            <a:r>
              <a:rPr sz="1100" b="0" i="0">
                <a:solidFill>
                  <a:srgbClr val="000962"/>
                </a:solidFill>
                <a:latin typeface="Arial"/>
              </a:rPr>
              <a:t>Spending without proof of demand</a:t>
            </a:r>
          </a:p>
        </p:txBody>
      </p:sp>
      <p:sp>
        <p:nvSpPr>
          <p:cNvPr id="27" name="TextBox 26"/>
          <p:cNvSpPr txBox="1"/>
          <p:nvPr/>
        </p:nvSpPr>
        <p:spPr>
          <a:xfrm>
            <a:off x="868680" y="3840480"/>
            <a:ext cx="10424160" cy="1417320"/>
          </a:xfrm>
          <a:prstGeom prst="rect">
            <a:avLst/>
          </a:prstGeom>
          <a:noFill/>
        </p:spPr>
        <p:txBody>
          <a:bodyPr wrap="square" lIns="36576" tIns="18288" rIns="36576" bIns="18288">
            <a:spAutoFit/>
          </a:bodyPr>
          <a:lstStyle/>
          <a:p>
            <a:pPr algn="l">
              <a:spcAft>
                <a:spcPts val="700"/>
              </a:spcAft>
            </a:pPr>
            <a:r>
              <a:rPr sz="1350" b="0" i="0">
                <a:solidFill>
                  <a:srgbClr val="000962"/>
                </a:solidFill>
                <a:latin typeface="Arial"/>
              </a:rPr>
              <a:t>The four hyperscalers are now forecast to spend a combined $720 billion to $745 billion on capital projects in 2026.</a:t>
            </a:r>
          </a:p>
          <a:p>
            <a:pPr algn="l">
              <a:spcAft>
                <a:spcPts val="700"/>
              </a:spcAft>
            </a:pPr>
            <a:r>
              <a:rPr sz="1350" b="0" i="0">
                <a:solidFill>
                  <a:srgbClr val="000962"/>
                </a:solidFill>
                <a:latin typeface="Arial"/>
              </a:rPr>
              <a:t>About 71% of S&amp;P 500 companies have reported second quarter results. Consensus operating earnings growth was 37.0% year over year as of July 30, though that figure is flattered by mark to market investment gains at a few of the largest names.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21207" y="6323076"/>
            <a:ext cx="5394960" cy="146304"/>
          </a:xfrm>
          <a:prstGeom prst="rect">
            <a:avLst/>
          </a:prstGeom>
          <a:noFill/>
        </p:spPr>
        <p:txBody>
          <a:bodyPr wrap="square" lIns="0" tIns="0" r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tIns="0" r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tIns="0" r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tIns="18288" rIns="36576" bIns="18288">
            <a:spAutoFit/>
          </a:bodyPr>
          <a:lstStyle/>
          <a:p>
            <a:pPr algn="l"/>
            <a:r>
              <a:rPr sz="3200" b="1" i="0">
                <a:solidFill>
                  <a:srgbClr val="0468FF"/>
                </a:solidFill>
                <a:latin typeface="Arial"/>
              </a:rPr>
              <a:t>Economic Reports Calendar: Week Ahead</a:t>
            </a:r>
          </a:p>
        </p:txBody>
      </p:sp>
      <p:sp>
        <p:nvSpPr>
          <p:cNvPr id="9" name="TextBox 8"/>
          <p:cNvSpPr txBox="1"/>
          <p:nvPr/>
        </p:nvSpPr>
        <p:spPr>
          <a:xfrm>
            <a:off x="713232" y="1353312"/>
            <a:ext cx="10881360" cy="310896"/>
          </a:xfrm>
          <a:prstGeom prst="rect">
            <a:avLst/>
          </a:prstGeom>
          <a:noFill/>
        </p:spPr>
        <p:txBody>
          <a:bodyPr wrap="square" lIns="36576" tIns="18288" rIns="36576" bIns="18288">
            <a:spAutoFit/>
          </a:bodyPr>
          <a:lstStyle/>
          <a:p>
            <a:pPr algn="l"/>
            <a:r>
              <a:rPr sz="1600" b="0" i="0">
                <a:solidFill>
                  <a:srgbClr val="000962"/>
                </a:solidFill>
                <a:latin typeface="Arial"/>
              </a:rPr>
              <a:t>August 3 to 7, 2026. Labor market week, and Friday is the main event.</a:t>
            </a:r>
          </a:p>
        </p:txBody>
      </p:sp>
      <p:sp>
        <p:nvSpPr>
          <p:cNvPr id="10" name="TextBox 9"/>
          <p:cNvSpPr txBox="1"/>
          <p:nvPr/>
        </p:nvSpPr>
        <p:spPr>
          <a:xfrm>
            <a:off x="658368" y="1920240"/>
            <a:ext cx="1005840" cy="237744"/>
          </a:xfrm>
          <a:prstGeom prst="rect">
            <a:avLst/>
          </a:prstGeom>
          <a:noFill/>
        </p:spPr>
        <p:txBody>
          <a:bodyPr wrap="square" lIns="36576" tIns="18288" rIns="36576" bIns="18288">
            <a:spAutoFit/>
          </a:bodyPr>
          <a:lstStyle/>
          <a:p>
            <a:pPr algn="l"/>
            <a:r>
              <a:rPr sz="1200" b="1" i="0">
                <a:solidFill>
                  <a:srgbClr val="0468FF"/>
                </a:solidFill>
                <a:latin typeface="Arial"/>
              </a:rPr>
              <a:t>Date</a:t>
            </a:r>
          </a:p>
        </p:txBody>
      </p:sp>
      <p:sp>
        <p:nvSpPr>
          <p:cNvPr id="11" name="TextBox 10"/>
          <p:cNvSpPr txBox="1"/>
          <p:nvPr/>
        </p:nvSpPr>
        <p:spPr>
          <a:xfrm>
            <a:off x="1664208" y="1920240"/>
            <a:ext cx="2880360" cy="237744"/>
          </a:xfrm>
          <a:prstGeom prst="rect">
            <a:avLst/>
          </a:prstGeom>
          <a:noFill/>
        </p:spPr>
        <p:txBody>
          <a:bodyPr wrap="square" lIns="36576" tIns="18288" rIns="36576" bIns="18288">
            <a:spAutoFit/>
          </a:bodyPr>
          <a:lstStyle/>
          <a:p>
            <a:pPr algn="l"/>
            <a:r>
              <a:rPr sz="1200" b="1" i="0">
                <a:solidFill>
                  <a:srgbClr val="0468FF"/>
                </a:solidFill>
                <a:latin typeface="Arial"/>
              </a:rPr>
              <a:t>Report</a:t>
            </a:r>
          </a:p>
        </p:txBody>
      </p:sp>
      <p:sp>
        <p:nvSpPr>
          <p:cNvPr id="12" name="TextBox 11"/>
          <p:cNvSpPr txBox="1"/>
          <p:nvPr/>
        </p:nvSpPr>
        <p:spPr>
          <a:xfrm>
            <a:off x="4544568" y="1920240"/>
            <a:ext cx="2880360" cy="237744"/>
          </a:xfrm>
          <a:prstGeom prst="rect">
            <a:avLst/>
          </a:prstGeom>
          <a:noFill/>
        </p:spPr>
        <p:txBody>
          <a:bodyPr wrap="square" lIns="36576" tIns="18288" rIns="36576" bIns="18288">
            <a:spAutoFit/>
          </a:bodyPr>
          <a:lstStyle/>
          <a:p>
            <a:pPr algn="l"/>
            <a:r>
              <a:rPr sz="1200" b="1" i="0">
                <a:solidFill>
                  <a:srgbClr val="0468FF"/>
                </a:solidFill>
                <a:latin typeface="Arial"/>
              </a:rPr>
              <a:t>Prior / Estimate</a:t>
            </a:r>
          </a:p>
        </p:txBody>
      </p:sp>
      <p:sp>
        <p:nvSpPr>
          <p:cNvPr id="13" name="TextBox 12"/>
          <p:cNvSpPr txBox="1"/>
          <p:nvPr/>
        </p:nvSpPr>
        <p:spPr>
          <a:xfrm>
            <a:off x="7424927" y="1920240"/>
            <a:ext cx="4023360" cy="237744"/>
          </a:xfrm>
          <a:prstGeom prst="rect">
            <a:avLst/>
          </a:prstGeom>
          <a:noFill/>
        </p:spPr>
        <p:txBody>
          <a:bodyPr wrap="square" lIns="36576" tIns="18288" rIns="36576" bIns="18288">
            <a:spAutoFit/>
          </a:bodyPr>
          <a:lstStyle/>
          <a:p>
            <a:pPr algn="l"/>
            <a:r>
              <a:rPr sz="1200" b="1" i="0">
                <a:solidFill>
                  <a:srgbClr val="0468FF"/>
                </a:solidFill>
                <a:latin typeface="Arial"/>
              </a:rPr>
              <a:t>Why it matters</a:t>
            </a:r>
          </a:p>
        </p:txBody>
      </p:sp>
      <p:sp>
        <p:nvSpPr>
          <p:cNvPr id="14" name="Rectangle 13"/>
          <p:cNvSpPr/>
          <p:nvPr/>
        </p:nvSpPr>
        <p:spPr>
          <a:xfrm>
            <a:off x="658368" y="2267712"/>
            <a:ext cx="10789920" cy="512064"/>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94944" y="2304288"/>
            <a:ext cx="932688" cy="438912"/>
          </a:xfrm>
          <a:prstGeom prst="rect">
            <a:avLst/>
          </a:prstGeom>
          <a:noFill/>
        </p:spPr>
        <p:txBody>
          <a:bodyPr wrap="square" lIns="36576" tIns="18288" rIns="36576" bIns="18288" anchor="ctr">
            <a:spAutoFit/>
          </a:bodyPr>
          <a:lstStyle/>
          <a:p>
            <a:pPr algn="l"/>
            <a:r>
              <a:rPr sz="1100" b="0" i="0">
                <a:solidFill>
                  <a:srgbClr val="000962"/>
                </a:solidFill>
                <a:latin typeface="Arial"/>
              </a:rPr>
              <a:t>Mon 8/3</a:t>
            </a:r>
          </a:p>
        </p:txBody>
      </p:sp>
      <p:sp>
        <p:nvSpPr>
          <p:cNvPr id="16" name="TextBox 15"/>
          <p:cNvSpPr txBox="1"/>
          <p:nvPr/>
        </p:nvSpPr>
        <p:spPr>
          <a:xfrm>
            <a:off x="1700784" y="2304288"/>
            <a:ext cx="2807208" cy="438912"/>
          </a:xfrm>
          <a:prstGeom prst="rect">
            <a:avLst/>
          </a:prstGeom>
          <a:noFill/>
        </p:spPr>
        <p:txBody>
          <a:bodyPr wrap="square" lIns="36576" tIns="18288" rIns="36576" bIns="18288" anchor="ctr">
            <a:spAutoFit/>
          </a:bodyPr>
          <a:lstStyle/>
          <a:p>
            <a:pPr algn="l"/>
            <a:r>
              <a:rPr sz="1100" b="0" i="0">
                <a:solidFill>
                  <a:srgbClr val="000962"/>
                </a:solidFill>
                <a:latin typeface="Arial"/>
              </a:rPr>
              <a:t>ISM Manufacturing PMI (July)</a:t>
            </a:r>
          </a:p>
        </p:txBody>
      </p:sp>
      <p:sp>
        <p:nvSpPr>
          <p:cNvPr id="17" name="TextBox 16"/>
          <p:cNvSpPr txBox="1"/>
          <p:nvPr/>
        </p:nvSpPr>
        <p:spPr>
          <a:xfrm>
            <a:off x="4581144" y="2304288"/>
            <a:ext cx="2807208" cy="438912"/>
          </a:xfrm>
          <a:prstGeom prst="rect">
            <a:avLst/>
          </a:prstGeom>
          <a:noFill/>
        </p:spPr>
        <p:txBody>
          <a:bodyPr wrap="square" lIns="36576" tIns="18288" rIns="36576" bIns="18288" anchor="ctr">
            <a:spAutoFit/>
          </a:bodyPr>
          <a:lstStyle/>
          <a:p>
            <a:pPr algn="l"/>
            <a:r>
              <a:rPr sz="1100" b="0" i="0">
                <a:solidFill>
                  <a:srgbClr val="000962"/>
                </a:solidFill>
                <a:latin typeface="Arial"/>
              </a:rPr>
              <a:t>Prior 49.0; flash S&amp;P Global 53.8</a:t>
            </a:r>
          </a:p>
        </p:txBody>
      </p:sp>
      <p:sp>
        <p:nvSpPr>
          <p:cNvPr id="18" name="TextBox 17"/>
          <p:cNvSpPr txBox="1"/>
          <p:nvPr/>
        </p:nvSpPr>
        <p:spPr>
          <a:xfrm>
            <a:off x="7461503" y="2304288"/>
            <a:ext cx="3950208" cy="438912"/>
          </a:xfrm>
          <a:prstGeom prst="rect">
            <a:avLst/>
          </a:prstGeom>
          <a:noFill/>
        </p:spPr>
        <p:txBody>
          <a:bodyPr wrap="square" lIns="36576" tIns="18288" rIns="36576" bIns="18288" anchor="ctr">
            <a:spAutoFit/>
          </a:bodyPr>
          <a:lstStyle/>
          <a:p>
            <a:pPr algn="l"/>
            <a:r>
              <a:rPr sz="1100" b="0" i="0">
                <a:solidFill>
                  <a:srgbClr val="000962"/>
                </a:solidFill>
                <a:latin typeface="Arial"/>
              </a:rPr>
              <a:t>Above 50 means factories are growing again.</a:t>
            </a:r>
          </a:p>
        </p:txBody>
      </p:sp>
      <p:sp>
        <p:nvSpPr>
          <p:cNvPr id="19" name="Rectangle 18"/>
          <p:cNvSpPr/>
          <p:nvPr/>
        </p:nvSpPr>
        <p:spPr>
          <a:xfrm>
            <a:off x="658368" y="2816352"/>
            <a:ext cx="10789920" cy="512064"/>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94944" y="2852928"/>
            <a:ext cx="932688" cy="438912"/>
          </a:xfrm>
          <a:prstGeom prst="rect">
            <a:avLst/>
          </a:prstGeom>
          <a:noFill/>
        </p:spPr>
        <p:txBody>
          <a:bodyPr wrap="square" lIns="36576" tIns="18288" rIns="36576" bIns="18288" anchor="ctr">
            <a:spAutoFit/>
          </a:bodyPr>
          <a:lstStyle/>
          <a:p>
            <a:pPr algn="l"/>
            <a:r>
              <a:rPr sz="1100" b="0" i="0">
                <a:solidFill>
                  <a:srgbClr val="000962"/>
                </a:solidFill>
                <a:latin typeface="Arial"/>
              </a:rPr>
              <a:t>Tue 8/4</a:t>
            </a:r>
          </a:p>
        </p:txBody>
      </p:sp>
      <p:sp>
        <p:nvSpPr>
          <p:cNvPr id="21" name="TextBox 20"/>
          <p:cNvSpPr txBox="1"/>
          <p:nvPr/>
        </p:nvSpPr>
        <p:spPr>
          <a:xfrm>
            <a:off x="1700784" y="2852928"/>
            <a:ext cx="2807208" cy="438912"/>
          </a:xfrm>
          <a:prstGeom prst="rect">
            <a:avLst/>
          </a:prstGeom>
          <a:noFill/>
        </p:spPr>
        <p:txBody>
          <a:bodyPr wrap="square" lIns="36576" tIns="18288" rIns="36576" bIns="18288" anchor="ctr">
            <a:spAutoFit/>
          </a:bodyPr>
          <a:lstStyle/>
          <a:p>
            <a:pPr algn="l"/>
            <a:r>
              <a:rPr sz="1100" b="0" i="0">
                <a:solidFill>
                  <a:srgbClr val="000962"/>
                </a:solidFill>
                <a:latin typeface="Arial"/>
              </a:rPr>
              <a:t>JOLTS job openings (June)</a:t>
            </a:r>
          </a:p>
        </p:txBody>
      </p:sp>
      <p:sp>
        <p:nvSpPr>
          <p:cNvPr id="22" name="TextBox 21"/>
          <p:cNvSpPr txBox="1"/>
          <p:nvPr/>
        </p:nvSpPr>
        <p:spPr>
          <a:xfrm>
            <a:off x="4581144" y="2852928"/>
            <a:ext cx="2807208" cy="438912"/>
          </a:xfrm>
          <a:prstGeom prst="rect">
            <a:avLst/>
          </a:prstGeom>
          <a:noFill/>
        </p:spPr>
        <p:txBody>
          <a:bodyPr wrap="square" lIns="36576" tIns="18288" rIns="36576" bIns="18288" anchor="ctr">
            <a:spAutoFit/>
          </a:bodyPr>
          <a:lstStyle/>
          <a:p>
            <a:pPr algn="l"/>
            <a:r>
              <a:rPr sz="1100" b="0" i="0">
                <a:solidFill>
                  <a:srgbClr val="000962"/>
                </a:solidFill>
                <a:latin typeface="Arial"/>
              </a:rPr>
              <a:t>Openings expected to soften</a:t>
            </a:r>
          </a:p>
        </p:txBody>
      </p:sp>
      <p:sp>
        <p:nvSpPr>
          <p:cNvPr id="23" name="TextBox 22"/>
          <p:cNvSpPr txBox="1"/>
          <p:nvPr/>
        </p:nvSpPr>
        <p:spPr>
          <a:xfrm>
            <a:off x="7461503" y="2852928"/>
            <a:ext cx="3950208" cy="438912"/>
          </a:xfrm>
          <a:prstGeom prst="rect">
            <a:avLst/>
          </a:prstGeom>
          <a:noFill/>
        </p:spPr>
        <p:txBody>
          <a:bodyPr wrap="square" lIns="36576" tIns="18288" rIns="36576" bIns="18288" anchor="ctr">
            <a:spAutoFit/>
          </a:bodyPr>
          <a:lstStyle/>
          <a:p>
            <a:pPr algn="l"/>
            <a:r>
              <a:rPr sz="1100" b="0" i="0">
                <a:solidFill>
                  <a:srgbClr val="000962"/>
                </a:solidFill>
                <a:latin typeface="Arial"/>
              </a:rPr>
              <a:t>Measures demand for workers, not just hiring.</a:t>
            </a:r>
          </a:p>
        </p:txBody>
      </p:sp>
      <p:sp>
        <p:nvSpPr>
          <p:cNvPr id="24" name="Rectangle 23"/>
          <p:cNvSpPr/>
          <p:nvPr/>
        </p:nvSpPr>
        <p:spPr>
          <a:xfrm>
            <a:off x="658368" y="3364992"/>
            <a:ext cx="10789920" cy="512064"/>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94944" y="3401568"/>
            <a:ext cx="932688" cy="438912"/>
          </a:xfrm>
          <a:prstGeom prst="rect">
            <a:avLst/>
          </a:prstGeom>
          <a:noFill/>
        </p:spPr>
        <p:txBody>
          <a:bodyPr wrap="square" lIns="36576" tIns="18288" rIns="36576" bIns="18288" anchor="ctr">
            <a:spAutoFit/>
          </a:bodyPr>
          <a:lstStyle/>
          <a:p>
            <a:pPr algn="l"/>
            <a:r>
              <a:rPr sz="1100" b="0" i="0">
                <a:solidFill>
                  <a:srgbClr val="000962"/>
                </a:solidFill>
                <a:latin typeface="Arial"/>
              </a:rPr>
              <a:t>Wed 8/5</a:t>
            </a:r>
          </a:p>
        </p:txBody>
      </p:sp>
      <p:sp>
        <p:nvSpPr>
          <p:cNvPr id="26" name="TextBox 25"/>
          <p:cNvSpPr txBox="1"/>
          <p:nvPr/>
        </p:nvSpPr>
        <p:spPr>
          <a:xfrm>
            <a:off x="1700784" y="3401568"/>
            <a:ext cx="2807208" cy="438912"/>
          </a:xfrm>
          <a:prstGeom prst="rect">
            <a:avLst/>
          </a:prstGeom>
          <a:noFill/>
        </p:spPr>
        <p:txBody>
          <a:bodyPr wrap="square" lIns="36576" tIns="18288" rIns="36576" bIns="18288" anchor="ctr">
            <a:spAutoFit/>
          </a:bodyPr>
          <a:lstStyle/>
          <a:p>
            <a:pPr algn="l"/>
            <a:r>
              <a:rPr sz="1100" b="0" i="0">
                <a:solidFill>
                  <a:srgbClr val="000962"/>
                </a:solidFill>
                <a:latin typeface="Arial"/>
              </a:rPr>
              <a:t>ADP private payrolls; ISM Services; Fed speakers Cook and Daly</a:t>
            </a:r>
          </a:p>
        </p:txBody>
      </p:sp>
      <p:sp>
        <p:nvSpPr>
          <p:cNvPr id="27" name="TextBox 26"/>
          <p:cNvSpPr txBox="1"/>
          <p:nvPr/>
        </p:nvSpPr>
        <p:spPr>
          <a:xfrm>
            <a:off x="4581144" y="3401568"/>
            <a:ext cx="2807208" cy="438912"/>
          </a:xfrm>
          <a:prstGeom prst="rect">
            <a:avLst/>
          </a:prstGeom>
          <a:noFill/>
        </p:spPr>
        <p:txBody>
          <a:bodyPr wrap="square" lIns="36576" tIns="18288" rIns="36576" bIns="18288" anchor="ctr">
            <a:spAutoFit/>
          </a:bodyPr>
          <a:lstStyle/>
          <a:p>
            <a:pPr algn="l"/>
            <a:r>
              <a:rPr sz="1100" b="0" i="0">
                <a:solidFill>
                  <a:srgbClr val="000962"/>
                </a:solidFill>
                <a:latin typeface="Arial"/>
              </a:rPr>
              <a:t>ADP prior +98,000</a:t>
            </a:r>
          </a:p>
        </p:txBody>
      </p:sp>
      <p:sp>
        <p:nvSpPr>
          <p:cNvPr id="28" name="TextBox 27"/>
          <p:cNvSpPr txBox="1"/>
          <p:nvPr/>
        </p:nvSpPr>
        <p:spPr>
          <a:xfrm>
            <a:off x="7461503" y="3401568"/>
            <a:ext cx="3950208" cy="438912"/>
          </a:xfrm>
          <a:prstGeom prst="rect">
            <a:avLst/>
          </a:prstGeom>
          <a:noFill/>
        </p:spPr>
        <p:txBody>
          <a:bodyPr wrap="square" lIns="36576" tIns="18288" rIns="36576" bIns="18288" anchor="ctr">
            <a:spAutoFit/>
          </a:bodyPr>
          <a:lstStyle/>
          <a:p>
            <a:pPr algn="l"/>
            <a:r>
              <a:rPr sz="1100" b="0" i="0">
                <a:solidFill>
                  <a:srgbClr val="000962"/>
                </a:solidFill>
                <a:latin typeface="Arial"/>
              </a:rPr>
              <a:t>First read on July hiring plus Fed tone.</a:t>
            </a:r>
          </a:p>
        </p:txBody>
      </p:sp>
      <p:sp>
        <p:nvSpPr>
          <p:cNvPr id="29" name="Rectangle 28"/>
          <p:cNvSpPr/>
          <p:nvPr/>
        </p:nvSpPr>
        <p:spPr>
          <a:xfrm>
            <a:off x="658368" y="3913632"/>
            <a:ext cx="10789920" cy="512064"/>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94944" y="3950208"/>
            <a:ext cx="932688" cy="438912"/>
          </a:xfrm>
          <a:prstGeom prst="rect">
            <a:avLst/>
          </a:prstGeom>
          <a:noFill/>
        </p:spPr>
        <p:txBody>
          <a:bodyPr wrap="square" lIns="36576" tIns="18288" rIns="36576" bIns="18288" anchor="ctr">
            <a:spAutoFit/>
          </a:bodyPr>
          <a:lstStyle/>
          <a:p>
            <a:pPr algn="l"/>
            <a:r>
              <a:rPr sz="1100" b="0" i="0">
                <a:solidFill>
                  <a:srgbClr val="000962"/>
                </a:solidFill>
                <a:latin typeface="Arial"/>
              </a:rPr>
              <a:t>Thu 8/6</a:t>
            </a:r>
          </a:p>
        </p:txBody>
      </p:sp>
      <p:sp>
        <p:nvSpPr>
          <p:cNvPr id="31" name="TextBox 30"/>
          <p:cNvSpPr txBox="1"/>
          <p:nvPr/>
        </p:nvSpPr>
        <p:spPr>
          <a:xfrm>
            <a:off x="1700784" y="3950208"/>
            <a:ext cx="2807208" cy="438912"/>
          </a:xfrm>
          <a:prstGeom prst="rect">
            <a:avLst/>
          </a:prstGeom>
          <a:noFill/>
        </p:spPr>
        <p:txBody>
          <a:bodyPr wrap="square" lIns="36576" tIns="18288" rIns="36576" bIns="18288" anchor="ctr">
            <a:spAutoFit/>
          </a:bodyPr>
          <a:lstStyle/>
          <a:p>
            <a:pPr algn="l"/>
            <a:r>
              <a:rPr sz="1100" b="0" i="0">
                <a:solidFill>
                  <a:srgbClr val="000962"/>
                </a:solidFill>
                <a:latin typeface="Arial"/>
              </a:rPr>
              <a:t>Challenger layoffs; jobless claims; Q2 productivity and unit labor costs</a:t>
            </a:r>
          </a:p>
        </p:txBody>
      </p:sp>
      <p:sp>
        <p:nvSpPr>
          <p:cNvPr id="32" name="TextBox 31"/>
          <p:cNvSpPr txBox="1"/>
          <p:nvPr/>
        </p:nvSpPr>
        <p:spPr>
          <a:xfrm>
            <a:off x="4581144" y="3950208"/>
            <a:ext cx="2807208" cy="438912"/>
          </a:xfrm>
          <a:prstGeom prst="rect">
            <a:avLst/>
          </a:prstGeom>
          <a:noFill/>
        </p:spPr>
        <p:txBody>
          <a:bodyPr wrap="square" lIns="36576" tIns="18288" rIns="36576" bIns="18288" anchor="ctr">
            <a:spAutoFit/>
          </a:bodyPr>
          <a:lstStyle/>
          <a:p>
            <a:pPr algn="l"/>
            <a:r>
              <a:rPr sz="1100" b="0" i="0">
                <a:solidFill>
                  <a:srgbClr val="000962"/>
                </a:solidFill>
                <a:latin typeface="Arial"/>
              </a:rPr>
              <a:t>Challenger prior 45,800</a:t>
            </a:r>
          </a:p>
        </p:txBody>
      </p:sp>
      <p:sp>
        <p:nvSpPr>
          <p:cNvPr id="33" name="TextBox 32"/>
          <p:cNvSpPr txBox="1"/>
          <p:nvPr/>
        </p:nvSpPr>
        <p:spPr>
          <a:xfrm>
            <a:off x="7461503" y="3950208"/>
            <a:ext cx="3950208" cy="438912"/>
          </a:xfrm>
          <a:prstGeom prst="rect">
            <a:avLst/>
          </a:prstGeom>
          <a:noFill/>
        </p:spPr>
        <p:txBody>
          <a:bodyPr wrap="square" lIns="36576" tIns="18288" rIns="36576" bIns="18288" anchor="ctr">
            <a:spAutoFit/>
          </a:bodyPr>
          <a:lstStyle/>
          <a:p>
            <a:pPr algn="l"/>
            <a:r>
              <a:rPr sz="1100" b="0" i="0">
                <a:solidFill>
                  <a:srgbClr val="000962"/>
                </a:solidFill>
                <a:latin typeface="Arial"/>
              </a:rPr>
              <a:t>Labor costs feed directly into inflation.</a:t>
            </a:r>
          </a:p>
        </p:txBody>
      </p:sp>
      <p:sp>
        <p:nvSpPr>
          <p:cNvPr id="34" name="Rectangle 33"/>
          <p:cNvSpPr/>
          <p:nvPr/>
        </p:nvSpPr>
        <p:spPr>
          <a:xfrm>
            <a:off x="658368" y="4462272"/>
            <a:ext cx="10789920" cy="512064"/>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94944" y="4498848"/>
            <a:ext cx="932688" cy="438912"/>
          </a:xfrm>
          <a:prstGeom prst="rect">
            <a:avLst/>
          </a:prstGeom>
          <a:noFill/>
        </p:spPr>
        <p:txBody>
          <a:bodyPr wrap="square" lIns="36576" tIns="18288" rIns="36576" bIns="18288" anchor="ctr">
            <a:spAutoFit/>
          </a:bodyPr>
          <a:lstStyle/>
          <a:p>
            <a:pPr algn="l"/>
            <a:r>
              <a:rPr sz="1100" b="0" i="0">
                <a:solidFill>
                  <a:srgbClr val="000962"/>
                </a:solidFill>
                <a:latin typeface="Arial"/>
              </a:rPr>
              <a:t>Fri 8/7</a:t>
            </a:r>
          </a:p>
        </p:txBody>
      </p:sp>
      <p:sp>
        <p:nvSpPr>
          <p:cNvPr id="36" name="TextBox 35"/>
          <p:cNvSpPr txBox="1"/>
          <p:nvPr/>
        </p:nvSpPr>
        <p:spPr>
          <a:xfrm>
            <a:off x="1700784" y="4498848"/>
            <a:ext cx="2807208" cy="438912"/>
          </a:xfrm>
          <a:prstGeom prst="rect">
            <a:avLst/>
          </a:prstGeom>
          <a:noFill/>
        </p:spPr>
        <p:txBody>
          <a:bodyPr wrap="square" lIns="36576" tIns="18288" rIns="36576" bIns="18288" anchor="ctr">
            <a:spAutoFit/>
          </a:bodyPr>
          <a:lstStyle/>
          <a:p>
            <a:pPr algn="l"/>
            <a:r>
              <a:rPr sz="1100" b="0" i="0">
                <a:solidFill>
                  <a:srgbClr val="000962"/>
                </a:solidFill>
                <a:latin typeface="Arial"/>
              </a:rPr>
              <a:t>July employment report, 8:30 a.m. ET</a:t>
            </a:r>
          </a:p>
        </p:txBody>
      </p:sp>
      <p:sp>
        <p:nvSpPr>
          <p:cNvPr id="37" name="TextBox 36"/>
          <p:cNvSpPr txBox="1"/>
          <p:nvPr/>
        </p:nvSpPr>
        <p:spPr>
          <a:xfrm>
            <a:off x="4581144" y="4498848"/>
            <a:ext cx="2807208" cy="438912"/>
          </a:xfrm>
          <a:prstGeom prst="rect">
            <a:avLst/>
          </a:prstGeom>
          <a:noFill/>
        </p:spPr>
        <p:txBody>
          <a:bodyPr wrap="square" lIns="36576" tIns="18288" rIns="36576" bIns="18288" anchor="ctr">
            <a:spAutoFit/>
          </a:bodyPr>
          <a:lstStyle/>
          <a:p>
            <a:pPr algn="l"/>
            <a:r>
              <a:rPr sz="1100" b="0" i="0">
                <a:solidFill>
                  <a:srgbClr val="000962"/>
                </a:solidFill>
                <a:latin typeface="Arial"/>
              </a:rPr>
              <a:t>June +57,000; consensus about +85,000</a:t>
            </a:r>
          </a:p>
        </p:txBody>
      </p:sp>
      <p:sp>
        <p:nvSpPr>
          <p:cNvPr id="38" name="TextBox 37"/>
          <p:cNvSpPr txBox="1"/>
          <p:nvPr/>
        </p:nvSpPr>
        <p:spPr>
          <a:xfrm>
            <a:off x="7461503" y="4498848"/>
            <a:ext cx="3950208" cy="438912"/>
          </a:xfrm>
          <a:prstGeom prst="rect">
            <a:avLst/>
          </a:prstGeom>
          <a:noFill/>
        </p:spPr>
        <p:txBody>
          <a:bodyPr wrap="square" lIns="36576" tIns="18288" rIns="36576" bIns="18288" anchor="ctr">
            <a:spAutoFit/>
          </a:bodyPr>
          <a:lstStyle/>
          <a:p>
            <a:pPr algn="l"/>
            <a:r>
              <a:rPr sz="1100" b="0" i="0">
                <a:solidFill>
                  <a:srgbClr val="000962"/>
                </a:solidFill>
                <a:latin typeface="Arial"/>
              </a:rPr>
              <a:t>The number that sets the September Fed debate.</a:t>
            </a:r>
          </a:p>
        </p:txBody>
      </p:sp>
      <p:sp>
        <p:nvSpPr>
          <p:cNvPr id="39" name="TextBox 38"/>
          <p:cNvSpPr txBox="1"/>
          <p:nvPr/>
        </p:nvSpPr>
        <p:spPr>
          <a:xfrm>
            <a:off x="658368" y="5084064"/>
            <a:ext cx="10607040" cy="274320"/>
          </a:xfrm>
          <a:prstGeom prst="rect">
            <a:avLst/>
          </a:prstGeom>
          <a:noFill/>
        </p:spPr>
        <p:txBody>
          <a:bodyPr wrap="square" lIns="36576" tIns="18288" rIns="36576" bIns="18288">
            <a:spAutoFit/>
          </a:bodyPr>
          <a:lstStyle/>
          <a:p>
            <a:pPr algn="l"/>
            <a:r>
              <a:rPr sz="1300" b="1" i="0">
                <a:solidFill>
                  <a:srgbClr val="0468FF"/>
                </a:solidFill>
                <a:latin typeface="Arial"/>
              </a:rPr>
              <a:t>Rule of thumb: payrolls under 100,000 revives the rate cut case. Over 150,000 pushes yields up.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21207" y="6323076"/>
            <a:ext cx="5394960" cy="146304"/>
          </a:xfrm>
          <a:prstGeom prst="rect">
            <a:avLst/>
          </a:prstGeom>
          <a:noFill/>
        </p:spPr>
        <p:txBody>
          <a:bodyPr wrap="square" lIns="0" tIns="0" r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tIns="0" r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tIns="0" r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tIns="18288" rIns="36576" bIns="18288">
            <a:spAutoFit/>
          </a:bodyPr>
          <a:lstStyle/>
          <a:p>
            <a:pPr algn="l"/>
            <a:r>
              <a:rPr sz="3200" b="1" i="0">
                <a:solidFill>
                  <a:srgbClr val="0468FF"/>
                </a:solidFill>
                <a:latin typeface="Arial"/>
              </a:rPr>
              <a:t>Earnings Calendar: Week Ahead</a:t>
            </a:r>
          </a:p>
        </p:txBody>
      </p:sp>
      <p:sp>
        <p:nvSpPr>
          <p:cNvPr id="9" name="TextBox 8"/>
          <p:cNvSpPr txBox="1"/>
          <p:nvPr/>
        </p:nvSpPr>
        <p:spPr>
          <a:xfrm>
            <a:off x="713232" y="1353312"/>
            <a:ext cx="10881360" cy="310896"/>
          </a:xfrm>
          <a:prstGeom prst="rect">
            <a:avLst/>
          </a:prstGeom>
          <a:noFill/>
        </p:spPr>
        <p:txBody>
          <a:bodyPr wrap="square" lIns="36576" tIns="18288" rIns="36576" bIns="18288">
            <a:spAutoFit/>
          </a:bodyPr>
          <a:lstStyle/>
          <a:p>
            <a:pPr algn="l"/>
            <a:r>
              <a:rPr sz="1600" b="0" i="0">
                <a:solidFill>
                  <a:srgbClr val="000962"/>
                </a:solidFill>
                <a:latin typeface="Arial"/>
              </a:rPr>
              <a:t>Roughly 15% of the S&amp;P 500 reports. The question is whether AI demand is real.</a:t>
            </a:r>
          </a:p>
        </p:txBody>
      </p:sp>
      <p:sp>
        <p:nvSpPr>
          <p:cNvPr id="10" name="TextBox 9"/>
          <p:cNvSpPr txBox="1"/>
          <p:nvPr/>
        </p:nvSpPr>
        <p:spPr>
          <a:xfrm>
            <a:off x="658368" y="1920240"/>
            <a:ext cx="1005840" cy="237744"/>
          </a:xfrm>
          <a:prstGeom prst="rect">
            <a:avLst/>
          </a:prstGeom>
          <a:noFill/>
        </p:spPr>
        <p:txBody>
          <a:bodyPr wrap="square" lIns="36576" tIns="18288" rIns="36576" bIns="18288">
            <a:spAutoFit/>
          </a:bodyPr>
          <a:lstStyle/>
          <a:p>
            <a:pPr algn="l"/>
            <a:r>
              <a:rPr sz="1200" b="1" i="0">
                <a:solidFill>
                  <a:srgbClr val="0468FF"/>
                </a:solidFill>
                <a:latin typeface="Arial"/>
              </a:rPr>
              <a:t>Date</a:t>
            </a:r>
          </a:p>
        </p:txBody>
      </p:sp>
      <p:sp>
        <p:nvSpPr>
          <p:cNvPr id="11" name="TextBox 10"/>
          <p:cNvSpPr txBox="1"/>
          <p:nvPr/>
        </p:nvSpPr>
        <p:spPr>
          <a:xfrm>
            <a:off x="1664208" y="1920240"/>
            <a:ext cx="3063240" cy="237744"/>
          </a:xfrm>
          <a:prstGeom prst="rect">
            <a:avLst/>
          </a:prstGeom>
          <a:noFill/>
        </p:spPr>
        <p:txBody>
          <a:bodyPr wrap="square" lIns="36576" tIns="18288" rIns="36576" bIns="18288">
            <a:spAutoFit/>
          </a:bodyPr>
          <a:lstStyle/>
          <a:p>
            <a:pPr algn="l"/>
            <a:r>
              <a:rPr sz="1200" b="1" i="0">
                <a:solidFill>
                  <a:srgbClr val="0468FF"/>
                </a:solidFill>
                <a:latin typeface="Arial"/>
              </a:rPr>
              <a:t>Company</a:t>
            </a:r>
          </a:p>
        </p:txBody>
      </p:sp>
      <p:sp>
        <p:nvSpPr>
          <p:cNvPr id="12" name="TextBox 11"/>
          <p:cNvSpPr txBox="1"/>
          <p:nvPr/>
        </p:nvSpPr>
        <p:spPr>
          <a:xfrm>
            <a:off x="4727448" y="1920240"/>
            <a:ext cx="3246120" cy="237744"/>
          </a:xfrm>
          <a:prstGeom prst="rect">
            <a:avLst/>
          </a:prstGeom>
          <a:noFill/>
        </p:spPr>
        <p:txBody>
          <a:bodyPr wrap="square" lIns="36576" tIns="18288" rIns="36576" bIns="18288">
            <a:spAutoFit/>
          </a:bodyPr>
          <a:lstStyle/>
          <a:p>
            <a:pPr algn="l"/>
            <a:r>
              <a:rPr sz="1200" b="1" i="0">
                <a:solidFill>
                  <a:srgbClr val="0468FF"/>
                </a:solidFill>
                <a:latin typeface="Arial"/>
              </a:rPr>
              <a:t>Consensus</a:t>
            </a:r>
          </a:p>
        </p:txBody>
      </p:sp>
      <p:sp>
        <p:nvSpPr>
          <p:cNvPr id="13" name="TextBox 12"/>
          <p:cNvSpPr txBox="1"/>
          <p:nvPr/>
        </p:nvSpPr>
        <p:spPr>
          <a:xfrm>
            <a:off x="7973567" y="1920240"/>
            <a:ext cx="3474720" cy="237744"/>
          </a:xfrm>
          <a:prstGeom prst="rect">
            <a:avLst/>
          </a:prstGeom>
          <a:noFill/>
        </p:spPr>
        <p:txBody>
          <a:bodyPr wrap="square" lIns="36576" tIns="18288" rIns="36576" bIns="18288">
            <a:spAutoFit/>
          </a:bodyPr>
          <a:lstStyle/>
          <a:p>
            <a:pPr algn="l"/>
            <a:r>
              <a:rPr sz="1200" b="1" i="0">
                <a:solidFill>
                  <a:srgbClr val="0468FF"/>
                </a:solidFill>
                <a:latin typeface="Arial"/>
              </a:rPr>
              <a:t>Why watch</a:t>
            </a:r>
          </a:p>
        </p:txBody>
      </p:sp>
      <p:sp>
        <p:nvSpPr>
          <p:cNvPr id="14" name="Rectangle 13"/>
          <p:cNvSpPr/>
          <p:nvPr/>
        </p:nvSpPr>
        <p:spPr>
          <a:xfrm>
            <a:off x="658368" y="2267712"/>
            <a:ext cx="10789920" cy="512064"/>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94944" y="2304288"/>
            <a:ext cx="932688" cy="438912"/>
          </a:xfrm>
          <a:prstGeom prst="rect">
            <a:avLst/>
          </a:prstGeom>
          <a:noFill/>
        </p:spPr>
        <p:txBody>
          <a:bodyPr wrap="square" lIns="36576" tIns="18288" rIns="36576" bIns="18288" anchor="ctr">
            <a:spAutoFit/>
          </a:bodyPr>
          <a:lstStyle/>
          <a:p>
            <a:pPr algn="l"/>
            <a:r>
              <a:rPr sz="1100" b="0" i="0">
                <a:solidFill>
                  <a:srgbClr val="000962"/>
                </a:solidFill>
                <a:latin typeface="Arial"/>
              </a:rPr>
              <a:t>Mon 8/3</a:t>
            </a:r>
          </a:p>
        </p:txBody>
      </p:sp>
      <p:sp>
        <p:nvSpPr>
          <p:cNvPr id="16" name="TextBox 15"/>
          <p:cNvSpPr txBox="1"/>
          <p:nvPr/>
        </p:nvSpPr>
        <p:spPr>
          <a:xfrm>
            <a:off x="1700784" y="2304288"/>
            <a:ext cx="2990088" cy="438912"/>
          </a:xfrm>
          <a:prstGeom prst="rect">
            <a:avLst/>
          </a:prstGeom>
          <a:noFill/>
        </p:spPr>
        <p:txBody>
          <a:bodyPr wrap="square" lIns="36576" tIns="18288" rIns="36576" bIns="18288" anchor="ctr">
            <a:spAutoFit/>
          </a:bodyPr>
          <a:lstStyle/>
          <a:p>
            <a:pPr algn="l"/>
            <a:r>
              <a:rPr sz="1100" b="0" i="0">
                <a:solidFill>
                  <a:srgbClr val="000962"/>
                </a:solidFill>
                <a:latin typeface="Arial"/>
              </a:rPr>
              <a:t>Palantir (PLTR), after close</a:t>
            </a:r>
          </a:p>
        </p:txBody>
      </p:sp>
      <p:sp>
        <p:nvSpPr>
          <p:cNvPr id="17" name="TextBox 16"/>
          <p:cNvSpPr txBox="1"/>
          <p:nvPr/>
        </p:nvSpPr>
        <p:spPr>
          <a:xfrm>
            <a:off x="4764024" y="2304288"/>
            <a:ext cx="3172968" cy="438912"/>
          </a:xfrm>
          <a:prstGeom prst="rect">
            <a:avLst/>
          </a:prstGeom>
          <a:noFill/>
        </p:spPr>
        <p:txBody>
          <a:bodyPr wrap="square" lIns="36576" tIns="18288" rIns="36576" bIns="18288" anchor="ctr">
            <a:spAutoFit/>
          </a:bodyPr>
          <a:lstStyle/>
          <a:p>
            <a:pPr algn="l"/>
            <a:r>
              <a:rPr sz="1100" b="0" i="0">
                <a:solidFill>
                  <a:srgbClr val="000962"/>
                </a:solidFill>
                <a:latin typeface="Arial"/>
              </a:rPr>
              <a:t>Rev about $1.81B, up 81%; EPS about $0.35</a:t>
            </a:r>
          </a:p>
        </p:txBody>
      </p:sp>
      <p:sp>
        <p:nvSpPr>
          <p:cNvPr id="18" name="TextBox 17"/>
          <p:cNvSpPr txBox="1"/>
          <p:nvPr/>
        </p:nvSpPr>
        <p:spPr>
          <a:xfrm>
            <a:off x="8010143" y="2304288"/>
            <a:ext cx="3401568" cy="438912"/>
          </a:xfrm>
          <a:prstGeom prst="rect">
            <a:avLst/>
          </a:prstGeom>
          <a:noFill/>
        </p:spPr>
        <p:txBody>
          <a:bodyPr wrap="square" lIns="36576" tIns="18288" rIns="36576" bIns="18288" anchor="ctr">
            <a:spAutoFit/>
          </a:bodyPr>
          <a:lstStyle/>
          <a:p>
            <a:pPr algn="l"/>
            <a:r>
              <a:rPr sz="1100" b="0" i="0">
                <a:solidFill>
                  <a:srgbClr val="000962"/>
                </a:solidFill>
                <a:latin typeface="Arial"/>
              </a:rPr>
              <a:t>Software demand, and a 61x sales multiple.</a:t>
            </a:r>
          </a:p>
        </p:txBody>
      </p:sp>
      <p:sp>
        <p:nvSpPr>
          <p:cNvPr id="19" name="Rectangle 18"/>
          <p:cNvSpPr/>
          <p:nvPr/>
        </p:nvSpPr>
        <p:spPr>
          <a:xfrm>
            <a:off x="658368" y="2816352"/>
            <a:ext cx="10789920" cy="512064"/>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94944" y="2852928"/>
            <a:ext cx="932688" cy="438912"/>
          </a:xfrm>
          <a:prstGeom prst="rect">
            <a:avLst/>
          </a:prstGeom>
          <a:noFill/>
        </p:spPr>
        <p:txBody>
          <a:bodyPr wrap="square" lIns="36576" tIns="18288" rIns="36576" bIns="18288" anchor="ctr">
            <a:spAutoFit/>
          </a:bodyPr>
          <a:lstStyle/>
          <a:p>
            <a:pPr algn="l"/>
            <a:r>
              <a:rPr sz="1100" b="0" i="0">
                <a:solidFill>
                  <a:srgbClr val="000962"/>
                </a:solidFill>
                <a:latin typeface="Arial"/>
              </a:rPr>
              <a:t>Tue 8/4</a:t>
            </a:r>
          </a:p>
        </p:txBody>
      </p:sp>
      <p:sp>
        <p:nvSpPr>
          <p:cNvPr id="21" name="TextBox 20"/>
          <p:cNvSpPr txBox="1"/>
          <p:nvPr/>
        </p:nvSpPr>
        <p:spPr>
          <a:xfrm>
            <a:off x="1700784" y="2852928"/>
            <a:ext cx="2990088" cy="438912"/>
          </a:xfrm>
          <a:prstGeom prst="rect">
            <a:avLst/>
          </a:prstGeom>
          <a:noFill/>
        </p:spPr>
        <p:txBody>
          <a:bodyPr wrap="square" lIns="36576" tIns="18288" rIns="36576" bIns="18288" anchor="ctr">
            <a:spAutoFit/>
          </a:bodyPr>
          <a:lstStyle/>
          <a:p>
            <a:pPr algn="l"/>
            <a:r>
              <a:rPr sz="1100" b="0" i="0">
                <a:solidFill>
                  <a:srgbClr val="000962"/>
                </a:solidFill>
                <a:latin typeface="Arial"/>
              </a:rPr>
              <a:t>Caterpillar, Merck, McDonald's, Pfizer (before open)</a:t>
            </a:r>
          </a:p>
        </p:txBody>
      </p:sp>
      <p:sp>
        <p:nvSpPr>
          <p:cNvPr id="22" name="TextBox 21"/>
          <p:cNvSpPr txBox="1"/>
          <p:nvPr/>
        </p:nvSpPr>
        <p:spPr>
          <a:xfrm>
            <a:off x="4764024" y="2852928"/>
            <a:ext cx="3172968" cy="438912"/>
          </a:xfrm>
          <a:prstGeom prst="rect">
            <a:avLst/>
          </a:prstGeom>
          <a:noFill/>
        </p:spPr>
        <p:txBody>
          <a:bodyPr wrap="square" lIns="36576" tIns="18288" rIns="36576" bIns="18288" anchor="ctr">
            <a:spAutoFit/>
          </a:bodyPr>
          <a:lstStyle/>
          <a:p>
            <a:pPr algn="l"/>
            <a:r>
              <a:rPr sz="1100" b="0" i="0">
                <a:solidFill>
                  <a:srgbClr val="000962"/>
                </a:solidFill>
                <a:latin typeface="Arial"/>
              </a:rPr>
              <a:t>Broad old economy read</a:t>
            </a:r>
          </a:p>
        </p:txBody>
      </p:sp>
      <p:sp>
        <p:nvSpPr>
          <p:cNvPr id="23" name="TextBox 22"/>
          <p:cNvSpPr txBox="1"/>
          <p:nvPr/>
        </p:nvSpPr>
        <p:spPr>
          <a:xfrm>
            <a:off x="8010143" y="2852928"/>
            <a:ext cx="3401568" cy="438912"/>
          </a:xfrm>
          <a:prstGeom prst="rect">
            <a:avLst/>
          </a:prstGeom>
          <a:noFill/>
        </p:spPr>
        <p:txBody>
          <a:bodyPr wrap="square" lIns="36576" tIns="18288" rIns="36576" bIns="18288" anchor="ctr">
            <a:spAutoFit/>
          </a:bodyPr>
          <a:lstStyle/>
          <a:p>
            <a:pPr algn="l"/>
            <a:r>
              <a:rPr sz="1100" b="0" i="0">
                <a:solidFill>
                  <a:srgbClr val="000962"/>
                </a:solidFill>
                <a:latin typeface="Arial"/>
              </a:rPr>
              <a:t>Industrial and consumer health.</a:t>
            </a:r>
          </a:p>
        </p:txBody>
      </p:sp>
      <p:sp>
        <p:nvSpPr>
          <p:cNvPr id="24" name="Rectangle 23"/>
          <p:cNvSpPr/>
          <p:nvPr/>
        </p:nvSpPr>
        <p:spPr>
          <a:xfrm>
            <a:off x="658368" y="3364992"/>
            <a:ext cx="10789920" cy="512064"/>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94944" y="3401568"/>
            <a:ext cx="932688" cy="438912"/>
          </a:xfrm>
          <a:prstGeom prst="rect">
            <a:avLst/>
          </a:prstGeom>
          <a:noFill/>
        </p:spPr>
        <p:txBody>
          <a:bodyPr wrap="square" lIns="36576" tIns="18288" rIns="36576" bIns="18288" anchor="ctr">
            <a:spAutoFit/>
          </a:bodyPr>
          <a:lstStyle/>
          <a:p>
            <a:pPr algn="l"/>
            <a:r>
              <a:rPr sz="1100" b="0" i="0">
                <a:solidFill>
                  <a:srgbClr val="000962"/>
                </a:solidFill>
                <a:latin typeface="Arial"/>
              </a:rPr>
              <a:t>Tue 8/4</a:t>
            </a:r>
          </a:p>
        </p:txBody>
      </p:sp>
      <p:sp>
        <p:nvSpPr>
          <p:cNvPr id="26" name="TextBox 25"/>
          <p:cNvSpPr txBox="1"/>
          <p:nvPr/>
        </p:nvSpPr>
        <p:spPr>
          <a:xfrm>
            <a:off x="1700784" y="3401568"/>
            <a:ext cx="2990088" cy="438912"/>
          </a:xfrm>
          <a:prstGeom prst="rect">
            <a:avLst/>
          </a:prstGeom>
          <a:noFill/>
        </p:spPr>
        <p:txBody>
          <a:bodyPr wrap="square" lIns="36576" tIns="18288" rIns="36576" bIns="18288" anchor="ctr">
            <a:spAutoFit/>
          </a:bodyPr>
          <a:lstStyle/>
          <a:p>
            <a:pPr algn="l"/>
            <a:r>
              <a:rPr sz="1100" b="0" i="0">
                <a:solidFill>
                  <a:srgbClr val="000962"/>
                </a:solidFill>
                <a:latin typeface="Arial"/>
              </a:rPr>
              <a:t>AMD (AMC); Amgen; SpaceX first report as a public company</a:t>
            </a:r>
          </a:p>
        </p:txBody>
      </p:sp>
      <p:sp>
        <p:nvSpPr>
          <p:cNvPr id="27" name="TextBox 26"/>
          <p:cNvSpPr txBox="1"/>
          <p:nvPr/>
        </p:nvSpPr>
        <p:spPr>
          <a:xfrm>
            <a:off x="4764024" y="3401568"/>
            <a:ext cx="3172968" cy="438912"/>
          </a:xfrm>
          <a:prstGeom prst="rect">
            <a:avLst/>
          </a:prstGeom>
          <a:noFill/>
        </p:spPr>
        <p:txBody>
          <a:bodyPr wrap="square" lIns="36576" tIns="18288" rIns="36576" bIns="18288" anchor="ctr">
            <a:spAutoFit/>
          </a:bodyPr>
          <a:lstStyle/>
          <a:p>
            <a:pPr algn="l"/>
            <a:r>
              <a:rPr sz="1100" b="0" i="0">
                <a:solidFill>
                  <a:srgbClr val="000962"/>
                </a:solidFill>
                <a:latin typeface="Arial"/>
              </a:rPr>
              <a:t>AMD rev about $11.2B, up 46%; EPS about $1.61</a:t>
            </a:r>
          </a:p>
        </p:txBody>
      </p:sp>
      <p:sp>
        <p:nvSpPr>
          <p:cNvPr id="28" name="TextBox 27"/>
          <p:cNvSpPr txBox="1"/>
          <p:nvPr/>
        </p:nvSpPr>
        <p:spPr>
          <a:xfrm>
            <a:off x="8010143" y="3401568"/>
            <a:ext cx="3401568" cy="438912"/>
          </a:xfrm>
          <a:prstGeom prst="rect">
            <a:avLst/>
          </a:prstGeom>
          <a:noFill/>
        </p:spPr>
        <p:txBody>
          <a:bodyPr wrap="square" lIns="36576" tIns="18288" rIns="36576" bIns="18288" anchor="ctr">
            <a:spAutoFit/>
          </a:bodyPr>
          <a:lstStyle/>
          <a:p>
            <a:pPr algn="l"/>
            <a:r>
              <a:rPr sz="1100" b="0" i="0">
                <a:solidFill>
                  <a:srgbClr val="000962"/>
                </a:solidFill>
                <a:latin typeface="Arial"/>
              </a:rPr>
              <a:t>MI450 and Helios AI hardware ramp.</a:t>
            </a:r>
          </a:p>
        </p:txBody>
      </p:sp>
      <p:sp>
        <p:nvSpPr>
          <p:cNvPr id="29" name="Rectangle 28"/>
          <p:cNvSpPr/>
          <p:nvPr/>
        </p:nvSpPr>
        <p:spPr>
          <a:xfrm>
            <a:off x="658368" y="3913632"/>
            <a:ext cx="10789920" cy="512064"/>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94944" y="3950208"/>
            <a:ext cx="932688" cy="438912"/>
          </a:xfrm>
          <a:prstGeom prst="rect">
            <a:avLst/>
          </a:prstGeom>
          <a:noFill/>
        </p:spPr>
        <p:txBody>
          <a:bodyPr wrap="square" lIns="36576" tIns="18288" rIns="36576" bIns="18288" anchor="ctr">
            <a:spAutoFit/>
          </a:bodyPr>
          <a:lstStyle/>
          <a:p>
            <a:pPr algn="l"/>
            <a:r>
              <a:rPr sz="1100" b="0" i="0">
                <a:solidFill>
                  <a:srgbClr val="000962"/>
                </a:solidFill>
                <a:latin typeface="Arial"/>
              </a:rPr>
              <a:t>Wed 8/5</a:t>
            </a:r>
          </a:p>
        </p:txBody>
      </p:sp>
      <p:sp>
        <p:nvSpPr>
          <p:cNvPr id="31" name="TextBox 30"/>
          <p:cNvSpPr txBox="1"/>
          <p:nvPr/>
        </p:nvSpPr>
        <p:spPr>
          <a:xfrm>
            <a:off x="1700784" y="3950208"/>
            <a:ext cx="2990088" cy="438912"/>
          </a:xfrm>
          <a:prstGeom prst="rect">
            <a:avLst/>
          </a:prstGeom>
          <a:noFill/>
        </p:spPr>
        <p:txBody>
          <a:bodyPr wrap="square" lIns="36576" tIns="18288" rIns="36576" bIns="18288" anchor="ctr">
            <a:spAutoFit/>
          </a:bodyPr>
          <a:lstStyle/>
          <a:p>
            <a:pPr algn="l"/>
            <a:r>
              <a:rPr sz="1100" b="0" i="0">
                <a:solidFill>
                  <a:srgbClr val="000962"/>
                </a:solidFill>
                <a:latin typeface="Arial"/>
              </a:rPr>
              <a:t>Eli Lilly, Walt Disney (before open); Shopify; SanDisk</a:t>
            </a:r>
          </a:p>
        </p:txBody>
      </p:sp>
      <p:sp>
        <p:nvSpPr>
          <p:cNvPr id="32" name="TextBox 31"/>
          <p:cNvSpPr txBox="1"/>
          <p:nvPr/>
        </p:nvSpPr>
        <p:spPr>
          <a:xfrm>
            <a:off x="4764024" y="3950208"/>
            <a:ext cx="3172968" cy="438912"/>
          </a:xfrm>
          <a:prstGeom prst="rect">
            <a:avLst/>
          </a:prstGeom>
          <a:noFill/>
        </p:spPr>
        <p:txBody>
          <a:bodyPr wrap="square" lIns="36576" tIns="18288" rIns="36576" bIns="18288" anchor="ctr">
            <a:spAutoFit/>
          </a:bodyPr>
          <a:lstStyle/>
          <a:p>
            <a:pPr algn="l"/>
            <a:r>
              <a:rPr sz="1100" b="0" i="0">
                <a:solidFill>
                  <a:srgbClr val="000962"/>
                </a:solidFill>
                <a:latin typeface="Arial"/>
              </a:rPr>
              <a:t>SanDisk is the first pure NAND read</a:t>
            </a:r>
          </a:p>
        </p:txBody>
      </p:sp>
      <p:sp>
        <p:nvSpPr>
          <p:cNvPr id="33" name="TextBox 32"/>
          <p:cNvSpPr txBox="1"/>
          <p:nvPr/>
        </p:nvSpPr>
        <p:spPr>
          <a:xfrm>
            <a:off x="8010143" y="3950208"/>
            <a:ext cx="3401568" cy="438912"/>
          </a:xfrm>
          <a:prstGeom prst="rect">
            <a:avLst/>
          </a:prstGeom>
          <a:noFill/>
        </p:spPr>
        <p:txBody>
          <a:bodyPr wrap="square" lIns="36576" tIns="18288" rIns="36576" bIns="18288" anchor="ctr">
            <a:spAutoFit/>
          </a:bodyPr>
          <a:lstStyle/>
          <a:p>
            <a:pPr algn="l"/>
            <a:r>
              <a:rPr sz="1100" b="0" i="0">
                <a:solidFill>
                  <a:srgbClr val="000962"/>
                </a:solidFill>
                <a:latin typeface="Arial"/>
              </a:rPr>
              <a:t>Memory pricing after a 53% drawdown.</a:t>
            </a:r>
          </a:p>
        </p:txBody>
      </p:sp>
      <p:sp>
        <p:nvSpPr>
          <p:cNvPr id="34" name="Rectangle 33"/>
          <p:cNvSpPr/>
          <p:nvPr/>
        </p:nvSpPr>
        <p:spPr>
          <a:xfrm>
            <a:off x="658368" y="4462272"/>
            <a:ext cx="10789920" cy="512064"/>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94944" y="4498848"/>
            <a:ext cx="932688" cy="438912"/>
          </a:xfrm>
          <a:prstGeom prst="rect">
            <a:avLst/>
          </a:prstGeom>
          <a:noFill/>
        </p:spPr>
        <p:txBody>
          <a:bodyPr wrap="square" lIns="36576" tIns="18288" rIns="36576" bIns="18288" anchor="ctr">
            <a:spAutoFit/>
          </a:bodyPr>
          <a:lstStyle/>
          <a:p>
            <a:pPr algn="l"/>
            <a:r>
              <a:rPr sz="1100" b="0" i="0">
                <a:solidFill>
                  <a:srgbClr val="000962"/>
                </a:solidFill>
                <a:latin typeface="Arial"/>
              </a:rPr>
              <a:t>Thu 8/6</a:t>
            </a:r>
          </a:p>
        </p:txBody>
      </p:sp>
      <p:sp>
        <p:nvSpPr>
          <p:cNvPr id="36" name="TextBox 35"/>
          <p:cNvSpPr txBox="1"/>
          <p:nvPr/>
        </p:nvSpPr>
        <p:spPr>
          <a:xfrm>
            <a:off x="1700784" y="4498848"/>
            <a:ext cx="2990088" cy="438912"/>
          </a:xfrm>
          <a:prstGeom prst="rect">
            <a:avLst/>
          </a:prstGeom>
          <a:noFill/>
        </p:spPr>
        <p:txBody>
          <a:bodyPr wrap="square" lIns="36576" tIns="18288" rIns="36576" bIns="18288" anchor="ctr">
            <a:spAutoFit/>
          </a:bodyPr>
          <a:lstStyle/>
          <a:p>
            <a:pPr algn="l"/>
            <a:r>
              <a:rPr sz="1100" b="0" i="0">
                <a:solidFill>
                  <a:srgbClr val="000962"/>
                </a:solidFill>
                <a:latin typeface="Arial"/>
              </a:rPr>
              <a:t>ConocoPhillips (before open); Rocket Lab</a:t>
            </a:r>
          </a:p>
        </p:txBody>
      </p:sp>
      <p:sp>
        <p:nvSpPr>
          <p:cNvPr id="37" name="TextBox 36"/>
          <p:cNvSpPr txBox="1"/>
          <p:nvPr/>
        </p:nvSpPr>
        <p:spPr>
          <a:xfrm>
            <a:off x="4764024" y="4498848"/>
            <a:ext cx="3172968" cy="438912"/>
          </a:xfrm>
          <a:prstGeom prst="rect">
            <a:avLst/>
          </a:prstGeom>
          <a:noFill/>
        </p:spPr>
        <p:txBody>
          <a:bodyPr wrap="square" lIns="36576" tIns="18288" rIns="36576" bIns="18288" anchor="ctr">
            <a:spAutoFit/>
          </a:bodyPr>
          <a:lstStyle/>
          <a:p>
            <a:pPr algn="l"/>
            <a:r>
              <a:rPr sz="1100" b="0" i="0">
                <a:solidFill>
                  <a:srgbClr val="000962"/>
                </a:solidFill>
                <a:latin typeface="Arial"/>
              </a:rPr>
              <a:t>Rocket Lab rev about $155M to $165M</a:t>
            </a:r>
          </a:p>
        </p:txBody>
      </p:sp>
      <p:sp>
        <p:nvSpPr>
          <p:cNvPr id="38" name="TextBox 37"/>
          <p:cNvSpPr txBox="1"/>
          <p:nvPr/>
        </p:nvSpPr>
        <p:spPr>
          <a:xfrm>
            <a:off x="8010143" y="4498848"/>
            <a:ext cx="3401568" cy="438912"/>
          </a:xfrm>
          <a:prstGeom prst="rect">
            <a:avLst/>
          </a:prstGeom>
          <a:noFill/>
        </p:spPr>
        <p:txBody>
          <a:bodyPr wrap="square" lIns="36576" tIns="18288" rIns="36576" bIns="18288" anchor="ctr">
            <a:spAutoFit/>
          </a:bodyPr>
          <a:lstStyle/>
          <a:p>
            <a:pPr algn="l"/>
            <a:r>
              <a:rPr sz="1100" b="0" i="0">
                <a:solidFill>
                  <a:srgbClr val="000962"/>
                </a:solidFill>
                <a:latin typeface="Arial"/>
              </a:rPr>
              <a:t>Energy margins and the Iridium deal.</a:t>
            </a:r>
          </a:p>
        </p:txBody>
      </p:sp>
      <p:sp>
        <p:nvSpPr>
          <p:cNvPr id="39" name="TextBox 38"/>
          <p:cNvSpPr txBox="1"/>
          <p:nvPr/>
        </p:nvSpPr>
        <p:spPr>
          <a:xfrm>
            <a:off x="658368" y="5084064"/>
            <a:ext cx="10607040" cy="274320"/>
          </a:xfrm>
          <a:prstGeom prst="rect">
            <a:avLst/>
          </a:prstGeom>
          <a:noFill/>
        </p:spPr>
        <p:txBody>
          <a:bodyPr wrap="square" lIns="36576" tIns="18288" rIns="36576" bIns="18288">
            <a:spAutoFit/>
          </a:bodyPr>
          <a:lstStyle/>
          <a:p>
            <a:pPr algn="l"/>
            <a:r>
              <a:rPr sz="1300" b="1" i="0">
                <a:solidFill>
                  <a:srgbClr val="0468FF"/>
                </a:solidFill>
                <a:latin typeface="Arial"/>
              </a:rPr>
              <a:t>High impact names: Palantir Monday, AMD Tuesday, SanDisk Wednesday. All three are AI demand tests.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21207" y="6323076"/>
            <a:ext cx="5394960" cy="146304"/>
          </a:xfrm>
          <a:prstGeom prst="rect">
            <a:avLst/>
          </a:prstGeom>
          <a:noFill/>
        </p:spPr>
        <p:txBody>
          <a:bodyPr wrap="square" lIns="0" tIns="0" r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tIns="0" r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tIns="0" r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tIns="18288" rIns="36576" bIns="18288">
            <a:spAutoFit/>
          </a:bodyPr>
          <a:lstStyle/>
          <a:p>
            <a:pPr algn="l"/>
            <a:r>
              <a:rPr sz="3200" b="1" i="0">
                <a:solidFill>
                  <a:srgbClr val="0468FF"/>
                </a:solidFill>
                <a:latin typeface="Arial"/>
              </a:rPr>
              <a:t>Fed, Rates and Macro Watch</a:t>
            </a:r>
          </a:p>
        </p:txBody>
      </p:sp>
      <p:sp>
        <p:nvSpPr>
          <p:cNvPr id="9" name="TextBox 8"/>
          <p:cNvSpPr txBox="1"/>
          <p:nvPr/>
        </p:nvSpPr>
        <p:spPr>
          <a:xfrm>
            <a:off x="713232" y="1353312"/>
            <a:ext cx="10881360" cy="310896"/>
          </a:xfrm>
          <a:prstGeom prst="rect">
            <a:avLst/>
          </a:prstGeom>
          <a:noFill/>
        </p:spPr>
        <p:txBody>
          <a:bodyPr wrap="square" lIns="36576" tIns="18288" rIns="36576" bIns="18288">
            <a:spAutoFit/>
          </a:bodyPr>
          <a:lstStyle/>
          <a:p>
            <a:pPr algn="l"/>
            <a:r>
              <a:rPr sz="1600" b="0" i="0">
                <a:solidFill>
                  <a:srgbClr val="000962"/>
                </a:solidFill>
                <a:latin typeface="Arial"/>
              </a:rPr>
              <a:t>A hawkish committee, a new chair, and an inflation problem that will not quit.</a:t>
            </a:r>
          </a:p>
        </p:txBody>
      </p:sp>
      <p:sp>
        <p:nvSpPr>
          <p:cNvPr id="10" name="TextBox 9"/>
          <p:cNvSpPr txBox="1"/>
          <p:nvPr/>
        </p:nvSpPr>
        <p:spPr>
          <a:xfrm>
            <a:off x="868680" y="1965960"/>
            <a:ext cx="6675120" cy="3017520"/>
          </a:xfrm>
          <a:prstGeom prst="rect">
            <a:avLst/>
          </a:prstGeom>
          <a:noFill/>
        </p:spPr>
        <p:txBody>
          <a:bodyPr wrap="square" lIns="36576" tIns="18288" rIns="36576" bIns="18288">
            <a:spAutoFit/>
          </a:bodyPr>
          <a:lstStyle/>
          <a:p>
            <a:pPr algn="l">
              <a:spcAft>
                <a:spcPts val="800"/>
              </a:spcAft>
            </a:pPr>
            <a:r>
              <a:rPr sz="1400" b="0" i="0">
                <a:solidFill>
                  <a:srgbClr val="000962"/>
                </a:solidFill>
                <a:latin typeface="Arial"/>
              </a:rPr>
              <a:t>The FOMC held rates steady on July 29. Three members dissented in favor of a hike.</a:t>
            </a:r>
          </a:p>
          <a:p>
            <a:pPr algn="l">
              <a:spcAft>
                <a:spcPts val="800"/>
              </a:spcAft>
            </a:pPr>
            <a:r>
              <a:rPr sz="1400" b="0" i="0">
                <a:solidFill>
                  <a:srgbClr val="000962"/>
                </a:solidFill>
                <a:latin typeface="Arial"/>
              </a:rPr>
              <a:t>Kevin Warsh chairs the Fed and has declined to offer forward guidance, which puts more weight on every data release.</a:t>
            </a:r>
          </a:p>
          <a:p>
            <a:pPr algn="l">
              <a:spcAft>
                <a:spcPts val="800"/>
              </a:spcAft>
            </a:pPr>
            <a:r>
              <a:rPr sz="1400" b="0" i="0">
                <a:solidFill>
                  <a:srgbClr val="000962"/>
                </a:solidFill>
                <a:latin typeface="Arial"/>
              </a:rPr>
              <a:t>Ahead of the meeting, CME FedWatch showed roughly a one in three chance of a surprise hike.</a:t>
            </a:r>
          </a:p>
          <a:p>
            <a:pPr algn="l">
              <a:spcAft>
                <a:spcPts val="800"/>
              </a:spcAft>
            </a:pPr>
            <a:r>
              <a:rPr sz="1400" b="0" i="0">
                <a:solidFill>
                  <a:srgbClr val="000962"/>
                </a:solidFill>
                <a:latin typeface="Arial"/>
              </a:rPr>
              <a:t>The next FOMC meeting is September 16. Friday's jobs report and the August 12 CPI report will decide the debate.</a:t>
            </a:r>
          </a:p>
          <a:p>
            <a:pPr algn="l">
              <a:spcAft>
                <a:spcPts val="800"/>
              </a:spcAft>
            </a:pPr>
            <a:r>
              <a:rPr sz="1400" b="0" i="0">
                <a:solidFill>
                  <a:srgbClr val="000962"/>
                </a:solidFill>
                <a:latin typeface="Arial"/>
              </a:rPr>
              <a:t>Inflation has been driven higher by energy since the Iran conflict began, which is why easing has been harder to justify.</a:t>
            </a:r>
          </a:p>
        </p:txBody>
      </p:sp>
      <p:sp>
        <p:nvSpPr>
          <p:cNvPr id="11" name="Rectangle 10"/>
          <p:cNvSpPr/>
          <p:nvPr/>
        </p:nvSpPr>
        <p:spPr>
          <a:xfrm>
            <a:off x="7818120" y="1938528"/>
            <a:ext cx="3337560" cy="301752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28432" y="2157984"/>
            <a:ext cx="2916936" cy="274320"/>
          </a:xfrm>
          <a:prstGeom prst="rect">
            <a:avLst/>
          </a:prstGeom>
          <a:noFill/>
        </p:spPr>
        <p:txBody>
          <a:bodyPr wrap="square" lIns="36576" tIns="18288" rIns="36576" bIns="18288">
            <a:spAutoFit/>
          </a:bodyPr>
          <a:lstStyle/>
          <a:p>
            <a:pPr algn="l"/>
            <a:r>
              <a:rPr sz="1600" b="1" i="0">
                <a:solidFill>
                  <a:srgbClr val="0468FF"/>
                </a:solidFill>
                <a:latin typeface="Arial"/>
              </a:rPr>
              <a:t>Advisor angle</a:t>
            </a:r>
          </a:p>
        </p:txBody>
      </p:sp>
      <p:sp>
        <p:nvSpPr>
          <p:cNvPr id="13" name="TextBox 12"/>
          <p:cNvSpPr txBox="1"/>
          <p:nvPr/>
        </p:nvSpPr>
        <p:spPr>
          <a:xfrm>
            <a:off x="8028432" y="2578608"/>
            <a:ext cx="2916936" cy="2157984"/>
          </a:xfrm>
          <a:prstGeom prst="rect">
            <a:avLst/>
          </a:prstGeom>
          <a:noFill/>
        </p:spPr>
        <p:txBody>
          <a:bodyPr wrap="square" lIns="36576" tIns="18288" rIns="36576" bIns="18288">
            <a:spAutoFit/>
          </a:bodyPr>
          <a:lstStyle/>
          <a:p>
            <a:pPr algn="l">
              <a:spcAft>
                <a:spcPts val="600"/>
              </a:spcAft>
            </a:pPr>
            <a:r>
              <a:rPr sz="1450" b="0" i="0">
                <a:solidFill>
                  <a:srgbClr val="000962"/>
                </a:solidFill>
                <a:latin typeface="Arial"/>
              </a:rPr>
              <a:t>Do not sell fear about rates. Sell the plan. When the direction of policy is genuinely uncertain, guarantees, income floors and protection get more valuable, not less.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21207" y="6323076"/>
            <a:ext cx="5394960" cy="146304"/>
          </a:xfrm>
          <a:prstGeom prst="rect">
            <a:avLst/>
          </a:prstGeom>
          <a:noFill/>
        </p:spPr>
        <p:txBody>
          <a:bodyPr wrap="square" lIns="0" tIns="0" r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tIns="0" r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tIns="0" r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tIns="18288" rIns="36576" bIns="18288">
            <a:spAutoFit/>
          </a:bodyPr>
          <a:lstStyle/>
          <a:p>
            <a:pPr algn="l"/>
            <a:r>
              <a:rPr sz="3200" b="1" i="0">
                <a:solidFill>
                  <a:srgbClr val="0468FF"/>
                </a:solidFill>
                <a:latin typeface="Arial"/>
              </a:rPr>
              <a:t>Theme Spotlight: The AI Deleveraging</a:t>
            </a:r>
          </a:p>
        </p:txBody>
      </p:sp>
      <p:sp>
        <p:nvSpPr>
          <p:cNvPr id="9" name="TextBox 8"/>
          <p:cNvSpPr txBox="1"/>
          <p:nvPr/>
        </p:nvSpPr>
        <p:spPr>
          <a:xfrm>
            <a:off x="713232" y="1353312"/>
            <a:ext cx="10881360" cy="310896"/>
          </a:xfrm>
          <a:prstGeom prst="rect">
            <a:avLst/>
          </a:prstGeom>
          <a:noFill/>
        </p:spPr>
        <p:txBody>
          <a:bodyPr wrap="square" lIns="36576" tIns="18288" rIns="36576" bIns="18288">
            <a:spAutoFit/>
          </a:bodyPr>
          <a:lstStyle/>
          <a:p>
            <a:pPr algn="l"/>
            <a:r>
              <a:rPr sz="1600" b="0" i="0">
                <a:solidFill>
                  <a:srgbClr val="000962"/>
                </a:solidFill>
                <a:latin typeface="Arial"/>
              </a:rPr>
              <a:t>The biggest story of the week was a fund blowing up, not an index moving.</a:t>
            </a:r>
          </a:p>
        </p:txBody>
      </p:sp>
      <p:sp>
        <p:nvSpPr>
          <p:cNvPr id="10" name="TextBox 9"/>
          <p:cNvSpPr txBox="1"/>
          <p:nvPr/>
        </p:nvSpPr>
        <p:spPr>
          <a:xfrm>
            <a:off x="868680" y="1965960"/>
            <a:ext cx="6675120" cy="3017520"/>
          </a:xfrm>
          <a:prstGeom prst="rect">
            <a:avLst/>
          </a:prstGeom>
          <a:noFill/>
        </p:spPr>
        <p:txBody>
          <a:bodyPr wrap="square" lIns="36576" tIns="18288" rIns="36576" bIns="18288">
            <a:spAutoFit/>
          </a:bodyPr>
          <a:lstStyle/>
          <a:p>
            <a:pPr algn="l">
              <a:spcAft>
                <a:spcPts val="800"/>
              </a:spcAft>
            </a:pPr>
            <a:r>
              <a:rPr sz="1400" b="0" i="0">
                <a:solidFill>
                  <a:srgbClr val="000962"/>
                </a:solidFill>
                <a:latin typeface="Arial"/>
              </a:rPr>
              <a:t>Situational Awareness LP, a $45 billion AI focused hedge fund, was forced to sell its entire public stock portfolio to Ken Griffin's Citadel after margin calls.</a:t>
            </a:r>
          </a:p>
          <a:p>
            <a:pPr algn="l">
              <a:spcAft>
                <a:spcPts val="800"/>
              </a:spcAft>
            </a:pPr>
            <a:r>
              <a:rPr sz="1400" b="0" i="0">
                <a:solidFill>
                  <a:srgbClr val="000962"/>
                </a:solidFill>
                <a:latin typeface="Arial"/>
              </a:rPr>
              <a:t>This was a rotation, not an AI crash. Money moved out of the leveraged, capital hungry end of AI and into the profitable, asset light end.</a:t>
            </a:r>
          </a:p>
          <a:p>
            <a:pPr algn="l">
              <a:spcAft>
                <a:spcPts val="800"/>
              </a:spcAft>
            </a:pPr>
            <a:r>
              <a:rPr sz="1400" b="0" i="0">
                <a:solidFill>
                  <a:srgbClr val="000962"/>
                </a:solidFill>
                <a:latin typeface="Arial"/>
              </a:rPr>
              <a:t>AI infrastructure names fell 36% to 55% in July while enterprise software names rose 17% to 37%. The S&amp;P 500 fell only 2.3% and Nvidia finished July higher.</a:t>
            </a:r>
          </a:p>
          <a:p>
            <a:pPr algn="l">
              <a:spcAft>
                <a:spcPts val="800"/>
              </a:spcAft>
            </a:pPr>
            <a:r>
              <a:rPr sz="1400" b="0" i="0">
                <a:solidFill>
                  <a:srgbClr val="000962"/>
                </a:solidFill>
                <a:latin typeface="Arial"/>
              </a:rPr>
              <a:t>Korea's Kospi lost roughly a third of its value in July, then rose 17.9% on July 31, its largest one day gain on record.</a:t>
            </a:r>
          </a:p>
        </p:txBody>
      </p:sp>
      <p:sp>
        <p:nvSpPr>
          <p:cNvPr id="11" name="Rectangle 10"/>
          <p:cNvSpPr/>
          <p:nvPr/>
        </p:nvSpPr>
        <p:spPr>
          <a:xfrm>
            <a:off x="7818120" y="1938528"/>
            <a:ext cx="3337560" cy="301752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28432" y="2157984"/>
            <a:ext cx="2916936" cy="274320"/>
          </a:xfrm>
          <a:prstGeom prst="rect">
            <a:avLst/>
          </a:prstGeom>
          <a:noFill/>
        </p:spPr>
        <p:txBody>
          <a:bodyPr wrap="square" lIns="36576" tIns="18288" rIns="36576" bIns="18288">
            <a:spAutoFit/>
          </a:bodyPr>
          <a:lstStyle/>
          <a:p>
            <a:pPr algn="l"/>
            <a:r>
              <a:rPr sz="1600" b="1" i="0">
                <a:solidFill>
                  <a:srgbClr val="0468FF"/>
                </a:solidFill>
                <a:latin typeface="Arial"/>
              </a:rPr>
              <a:t>Plain English</a:t>
            </a:r>
          </a:p>
        </p:txBody>
      </p:sp>
      <p:sp>
        <p:nvSpPr>
          <p:cNvPr id="13" name="TextBox 12"/>
          <p:cNvSpPr txBox="1"/>
          <p:nvPr/>
        </p:nvSpPr>
        <p:spPr>
          <a:xfrm>
            <a:off x="8028432" y="2578608"/>
            <a:ext cx="2916936" cy="2157984"/>
          </a:xfrm>
          <a:prstGeom prst="rect">
            <a:avLst/>
          </a:prstGeom>
          <a:noFill/>
        </p:spPr>
        <p:txBody>
          <a:bodyPr wrap="square" lIns="36576" tIns="18288" rIns="36576" bIns="18288">
            <a:spAutoFit/>
          </a:bodyPr>
          <a:lstStyle/>
          <a:p>
            <a:pPr algn="l">
              <a:spcAft>
                <a:spcPts val="600"/>
              </a:spcAft>
            </a:pPr>
            <a:r>
              <a:rPr sz="1450" b="0" i="0">
                <a:solidFill>
                  <a:srgbClr val="000962"/>
                </a:solidFill>
                <a:latin typeface="Arial"/>
              </a:rPr>
              <a:t>One large investor borrowed heavily to bet that AI would destroy software companies. The opposite happened. His lenders made him sell everything at once, and that forced selling drove most of July's swings.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21207" y="6323076"/>
            <a:ext cx="5394960" cy="146304"/>
          </a:xfrm>
          <a:prstGeom prst="rect">
            <a:avLst/>
          </a:prstGeom>
          <a:noFill/>
        </p:spPr>
        <p:txBody>
          <a:bodyPr wrap="square" lIns="0" tIns="0" r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tIns="0" r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tIns="0" r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tIns="18288" rIns="36576" bIns="18288">
            <a:spAutoFit/>
          </a:bodyPr>
          <a:lstStyle/>
          <a:p>
            <a:pPr algn="l"/>
            <a:r>
              <a:rPr sz="3200" b="1" i="0">
                <a:solidFill>
                  <a:srgbClr val="0468FF"/>
                </a:solidFill>
                <a:latin typeface="Arial"/>
              </a:rPr>
              <a:t>Client Talking Points: What This Means for You</a:t>
            </a:r>
          </a:p>
        </p:txBody>
      </p:sp>
      <p:sp>
        <p:nvSpPr>
          <p:cNvPr id="9" name="TextBox 8"/>
          <p:cNvSpPr txBox="1"/>
          <p:nvPr/>
        </p:nvSpPr>
        <p:spPr>
          <a:xfrm>
            <a:off x="713232" y="1353312"/>
            <a:ext cx="10881360" cy="310896"/>
          </a:xfrm>
          <a:prstGeom prst="rect">
            <a:avLst/>
          </a:prstGeom>
          <a:noFill/>
        </p:spPr>
        <p:txBody>
          <a:bodyPr wrap="square" lIns="36576" tIns="18288" rIns="36576" bIns="18288">
            <a:spAutoFit/>
          </a:bodyPr>
          <a:lstStyle/>
          <a:p>
            <a:pPr algn="l"/>
            <a:r>
              <a:rPr sz="1600" b="0" i="0">
                <a:solidFill>
                  <a:srgbClr val="000962"/>
                </a:solidFill>
                <a:latin typeface="Arial"/>
              </a:rPr>
              <a:t>Plain English language you can use in conversations this week.</a:t>
            </a:r>
          </a:p>
        </p:txBody>
      </p:sp>
      <p:sp>
        <p:nvSpPr>
          <p:cNvPr id="10" name="Rectangle 9"/>
          <p:cNvSpPr/>
          <p:nvPr/>
        </p:nvSpPr>
        <p:spPr>
          <a:xfrm>
            <a:off x="777240" y="1874519"/>
            <a:ext cx="5074920" cy="324612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87552" y="2057400"/>
            <a:ext cx="4663440" cy="274320"/>
          </a:xfrm>
          <a:prstGeom prst="rect">
            <a:avLst/>
          </a:prstGeom>
          <a:noFill/>
        </p:spPr>
        <p:txBody>
          <a:bodyPr wrap="square" lIns="36576" tIns="18288" rIns="36576" bIns="18288">
            <a:spAutoFit/>
          </a:bodyPr>
          <a:lstStyle/>
          <a:p>
            <a:pPr algn="l"/>
            <a:r>
              <a:rPr sz="1500" b="1" i="0">
                <a:solidFill>
                  <a:srgbClr val="0468FF"/>
                </a:solidFill>
                <a:latin typeface="Arial"/>
              </a:rPr>
              <a:t>What happened last week</a:t>
            </a:r>
          </a:p>
        </p:txBody>
      </p:sp>
      <p:sp>
        <p:nvSpPr>
          <p:cNvPr id="12" name="TextBox 11"/>
          <p:cNvSpPr txBox="1"/>
          <p:nvPr/>
        </p:nvSpPr>
        <p:spPr>
          <a:xfrm>
            <a:off x="987552" y="2450592"/>
            <a:ext cx="4663440" cy="2560320"/>
          </a:xfrm>
          <a:prstGeom prst="rect">
            <a:avLst/>
          </a:prstGeom>
          <a:noFill/>
        </p:spPr>
        <p:txBody>
          <a:bodyPr wrap="square" lIns="36576" tIns="18288" rIns="36576" bIns="18288">
            <a:spAutoFit/>
          </a:bodyPr>
          <a:lstStyle/>
          <a:p>
            <a:pPr algn="l">
              <a:spcAft>
                <a:spcPts val="800"/>
              </a:spcAft>
            </a:pPr>
            <a:r>
              <a:rPr sz="1250" b="0" i="0">
                <a:solidFill>
                  <a:srgbClr val="000962"/>
                </a:solidFill>
                <a:latin typeface="Arial"/>
              </a:rPr>
              <a:t>The stock market finished the week a little higher, and July ended about where it started.</a:t>
            </a:r>
          </a:p>
          <a:p>
            <a:pPr algn="l">
              <a:spcAft>
                <a:spcPts val="800"/>
              </a:spcAft>
            </a:pPr>
            <a:r>
              <a:rPr sz="1250" b="0" i="0">
                <a:solidFill>
                  <a:srgbClr val="000962"/>
                </a:solidFill>
                <a:latin typeface="Arial"/>
              </a:rPr>
              <a:t>The economy grew more slowly this spring than it did at the start of the year, but people kept spending.</a:t>
            </a:r>
          </a:p>
          <a:p>
            <a:pPr algn="l">
              <a:spcAft>
                <a:spcPts val="800"/>
              </a:spcAft>
            </a:pPr>
            <a:r>
              <a:rPr sz="1250" b="0" i="0">
                <a:solidFill>
                  <a:srgbClr val="000962"/>
                </a:solidFill>
                <a:latin typeface="Arial"/>
              </a:rPr>
              <a:t>Prices are still rising faster than the Federal Reserve would like, so it left interest rates alone.</a:t>
            </a:r>
          </a:p>
          <a:p>
            <a:pPr algn="l">
              <a:spcAft>
                <a:spcPts val="800"/>
              </a:spcAft>
            </a:pPr>
            <a:r>
              <a:rPr sz="1250" b="0" i="0">
                <a:solidFill>
                  <a:srgbClr val="000962"/>
                </a:solidFill>
                <a:latin typeface="Arial"/>
              </a:rPr>
              <a:t>One large investment fund got into trouble and had to sell everything it owned. That caused big swings in a small group of technology stocks.</a:t>
            </a:r>
          </a:p>
        </p:txBody>
      </p:sp>
      <p:sp>
        <p:nvSpPr>
          <p:cNvPr id="13" name="Rectangle 12"/>
          <p:cNvSpPr/>
          <p:nvPr/>
        </p:nvSpPr>
        <p:spPr>
          <a:xfrm>
            <a:off x="6336792" y="1874519"/>
            <a:ext cx="5074920" cy="324612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47104" y="2057400"/>
            <a:ext cx="4663440" cy="274320"/>
          </a:xfrm>
          <a:prstGeom prst="rect">
            <a:avLst/>
          </a:prstGeom>
          <a:noFill/>
        </p:spPr>
        <p:txBody>
          <a:bodyPr wrap="square" lIns="36576" tIns="18288" rIns="36576" bIns="18288">
            <a:spAutoFit/>
          </a:bodyPr>
          <a:lstStyle/>
          <a:p>
            <a:pPr algn="l"/>
            <a:r>
              <a:rPr sz="1500" b="1" i="0">
                <a:solidFill>
                  <a:srgbClr val="0468FF"/>
                </a:solidFill>
                <a:latin typeface="Arial"/>
              </a:rPr>
              <a:t>What it means for your plan</a:t>
            </a:r>
          </a:p>
        </p:txBody>
      </p:sp>
      <p:sp>
        <p:nvSpPr>
          <p:cNvPr id="15" name="TextBox 14"/>
          <p:cNvSpPr txBox="1"/>
          <p:nvPr/>
        </p:nvSpPr>
        <p:spPr>
          <a:xfrm>
            <a:off x="6547104" y="2450592"/>
            <a:ext cx="4663440" cy="2560320"/>
          </a:xfrm>
          <a:prstGeom prst="rect">
            <a:avLst/>
          </a:prstGeom>
          <a:noFill/>
        </p:spPr>
        <p:txBody>
          <a:bodyPr wrap="square" lIns="36576" tIns="18288" rIns="36576" bIns="18288">
            <a:spAutoFit/>
          </a:bodyPr>
          <a:lstStyle/>
          <a:p>
            <a:pPr algn="l">
              <a:spcAft>
                <a:spcPts val="700"/>
              </a:spcAft>
            </a:pPr>
            <a:r>
              <a:rPr sz="1250" b="0" i="0">
                <a:solidFill>
                  <a:srgbClr val="000962"/>
                </a:solidFill>
                <a:latin typeface="Arial"/>
              </a:rPr>
              <a:t>Your plan was not built on one month of returns, and it should not change because of one.</a:t>
            </a:r>
          </a:p>
          <a:p>
            <a:pPr algn="l">
              <a:spcAft>
                <a:spcPts val="700"/>
              </a:spcAft>
            </a:pPr>
            <a:r>
              <a:rPr sz="1250" b="0" i="0">
                <a:solidFill>
                  <a:srgbClr val="000962"/>
                </a:solidFill>
                <a:latin typeface="Arial"/>
              </a:rPr>
              <a:t>Borrowing money to invest is what turned a bad month into a disaster for that fund. Your plan does not do that.</a:t>
            </a:r>
          </a:p>
          <a:p>
            <a:pPr algn="l">
              <a:spcAft>
                <a:spcPts val="700"/>
              </a:spcAft>
            </a:pPr>
            <a:r>
              <a:rPr sz="1250" b="0" i="0">
                <a:solidFill>
                  <a:srgbClr val="000962"/>
                </a:solidFill>
                <a:latin typeface="Arial"/>
              </a:rPr>
              <a:t>Owning a mix of things, rather than one idea, is what keeps a rough patch from becoming permanent damage.</a:t>
            </a:r>
          </a:p>
          <a:p>
            <a:pPr algn="l">
              <a:spcAft>
                <a:spcPts val="700"/>
              </a:spcAft>
            </a:pPr>
            <a:r>
              <a:rPr sz="1250" b="0" i="0">
                <a:solidFill>
                  <a:srgbClr val="000962"/>
                </a:solidFill>
                <a:latin typeface="Arial"/>
              </a:rPr>
              <a:t>Nobody can tell you what interest rates do next. That is exactly why guarantees and protected income are worth having.</a:t>
            </a:r>
          </a:p>
          <a:p>
            <a:pPr algn="l">
              <a:spcAft>
                <a:spcPts val="700"/>
              </a:spcAft>
            </a:pPr>
            <a:r>
              <a:rPr sz="1250" b="0" i="0">
                <a:solidFill>
                  <a:srgbClr val="000962"/>
                </a:solidFill>
                <a:latin typeface="Arial"/>
              </a:rPr>
              <a:t>If anything in your life has changed, that is a better reason to review your plan than anything in the news.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0188B79-DFBA-30A1-4A8A-02C3307CF19D}"/>
              </a:ext>
            </a:extLst>
          </p:cNvPr>
          <p:cNvSpPr>
            <a:spLocks/>
          </p:cNvSpPr>
          <p:nvPr/>
        </p:nvSpPr>
        <p:spPr>
          <a:xfrm>
            <a:off x="0" y="1937020"/>
            <a:ext cx="12192000" cy="2403392"/>
          </a:xfrm>
          <a:prstGeom prst="rect">
            <a:avLst/>
          </a:prstGeom>
          <a:solidFill>
            <a:schemeClr val="bg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ctr"/>
          <a:lstStyle/>
          <a:p>
            <a:pPr lvl="0">
              <a:defRPr/>
            </a:pPr>
            <a:endParaRPr lang="en-US" sz="1600" b="1">
              <a:solidFill>
                <a:srgbClr val="000962">
                  <a:lumMod val="90000"/>
                  <a:lumOff val="10000"/>
                </a:srgbClr>
              </a:solidFill>
            </a:endParaRPr>
          </a:p>
        </p:txBody>
      </p:sp>
      <p:sp>
        <p:nvSpPr>
          <p:cNvPr id="2" name="Title 1">
            <a:extLst>
              <a:ext uri="{FF2B5EF4-FFF2-40B4-BE49-F238E27FC236}">
                <a16:creationId xmlns:a16="http://schemas.microsoft.com/office/drawing/2014/main" id="{E45B6932-9BA9-2103-14A2-C3C2D1AFD3D1}"/>
              </a:ext>
            </a:extLst>
          </p:cNvPr>
          <p:cNvSpPr>
            <a:spLocks noGrp="1"/>
          </p:cNvSpPr>
          <p:nvPr>
            <p:ph type="title"/>
          </p:nvPr>
        </p:nvSpPr>
        <p:spPr>
          <a:xfrm>
            <a:off x="457200" y="2390819"/>
            <a:ext cx="7988157" cy="1828193"/>
          </a:xfrm>
        </p:spPr>
        <p:txBody>
          <a:bodyPr wrap="square" lIns="0" tIns="0" rIns="0" bIns="0" anchor="t">
            <a:spAutoFit/>
          </a:bodyPr>
          <a:lstStyle/>
          <a:p>
            <a:r>
              <a:rPr lang="en-US" sz="4400">
                <a:latin typeface="Georgia"/>
              </a:rPr>
              <a:t>New Org: </a:t>
            </a:r>
            <a:br>
              <a:rPr lang="en-US" sz="4400"/>
            </a:br>
            <a:r>
              <a:rPr lang="en-US" sz="4400">
                <a:latin typeface="Georgia"/>
              </a:rPr>
              <a:t>What’s important week of </a:t>
            </a:r>
            <a:br>
              <a:rPr lang="en-US" sz="4400">
                <a:latin typeface="Georgia"/>
              </a:rPr>
            </a:br>
            <a:r>
              <a:rPr lang="en-US" sz="4400">
                <a:latin typeface="Georgia"/>
              </a:rPr>
              <a:t>August 3</a:t>
            </a:r>
            <a:endParaRPr lang="en-US" sz="4400"/>
          </a:p>
        </p:txBody>
      </p:sp>
    </p:spTree>
    <p:custDataLst>
      <p:tags r:id="rId1"/>
    </p:custDataLst>
    <p:extLst>
      <p:ext uri="{BB962C8B-B14F-4D97-AF65-F5344CB8AC3E}">
        <p14:creationId xmlns:p14="http://schemas.microsoft.com/office/powerpoint/2010/main" val="350097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FE23E-4BED-DA25-CAFB-7AC0E160802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9B903207-8A56-F75A-8084-59888198FD76}"/>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4506DF1F-66D2-F4A4-5F4C-041EEA1856F4}"/>
              </a:ext>
            </a:extLst>
          </p:cNvPr>
          <p:cNvSpPr>
            <a:spLocks noGrp="1"/>
          </p:cNvSpPr>
          <p:nvPr>
            <p:ph type="title"/>
          </p:nvPr>
        </p:nvSpPr>
        <p:spPr/>
        <p:txBody>
          <a:bodyPr/>
          <a:lstStyle/>
          <a:p>
            <a:r>
              <a:rPr lang="en-US"/>
              <a:t>Target Markets Upcoming Webinars</a:t>
            </a:r>
          </a:p>
        </p:txBody>
      </p:sp>
      <p:sp>
        <p:nvSpPr>
          <p:cNvPr id="3" name="Content Placeholder 2">
            <a:extLst>
              <a:ext uri="{FF2B5EF4-FFF2-40B4-BE49-F238E27FC236}">
                <a16:creationId xmlns:a16="http://schemas.microsoft.com/office/drawing/2014/main" id="{E4C60738-2FD7-184E-F3C1-D855A56B2712}"/>
              </a:ext>
            </a:extLst>
          </p:cNvPr>
          <p:cNvSpPr>
            <a:spLocks noGrp="1"/>
          </p:cNvSpPr>
          <p:nvPr>
            <p:ph idx="1"/>
          </p:nvPr>
        </p:nvSpPr>
        <p:spPr>
          <a:xfrm>
            <a:off x="442686" y="2612696"/>
            <a:ext cx="5268269" cy="2452037"/>
          </a:xfrm>
        </p:spPr>
        <p:txBody>
          <a:bodyPr/>
          <a:lstStyle/>
          <a:p>
            <a:pPr marL="0" lvl="0" indent="0">
              <a:lnSpc>
                <a:spcPct val="100000"/>
              </a:lnSpc>
              <a:spcBef>
                <a:spcPts val="0"/>
              </a:spcBef>
              <a:buNone/>
              <a:defRPr/>
            </a:pPr>
            <a:r>
              <a:rPr lang="en-US" b="1">
                <a:solidFill>
                  <a:schemeClr val="tx1"/>
                </a:solidFill>
                <a:latin typeface="Arial"/>
                <a:cs typeface="Arial"/>
              </a:rPr>
              <a:t>Chinese Market </a:t>
            </a:r>
            <a:br>
              <a:rPr lang="en-US" b="1"/>
            </a:br>
            <a:r>
              <a:rPr lang="en-US" b="1">
                <a:solidFill>
                  <a:schemeClr val="tx1"/>
                </a:solidFill>
                <a:latin typeface="Arial"/>
                <a:cs typeface="Arial"/>
              </a:rPr>
              <a:t>Monthly SIE Study Group Sessions</a:t>
            </a:r>
          </a:p>
          <a:p>
            <a:pPr marL="0" lvl="0" indent="0">
              <a:lnSpc>
                <a:spcPct val="100000"/>
              </a:lnSpc>
              <a:spcBef>
                <a:spcPts val="0"/>
              </a:spcBef>
              <a:buNone/>
              <a:defRPr/>
            </a:pPr>
            <a:endParaRPr lang="en-US">
              <a:solidFill>
                <a:schemeClr val="tx1"/>
              </a:solidFill>
            </a:endParaRPr>
          </a:p>
          <a:p>
            <a:pPr marL="0" lvl="0" indent="0">
              <a:lnSpc>
                <a:spcPct val="100000"/>
              </a:lnSpc>
              <a:spcBef>
                <a:spcPts val="0"/>
              </a:spcBef>
              <a:buNone/>
              <a:defRPr/>
            </a:pPr>
            <a:r>
              <a:rPr lang="en-US">
                <a:solidFill>
                  <a:schemeClr val="tx1"/>
                </a:solidFill>
                <a:latin typeface="Arial"/>
                <a:cs typeface="Arial"/>
              </a:rPr>
              <a:t>Chinese Market will conduct a series of SIE tutorial sessions based on STC study material. All sessions will be conducted primarily in Mandarin Chinese and English. </a:t>
            </a:r>
          </a:p>
          <a:p>
            <a:pPr marL="0" lvl="0" indent="0">
              <a:lnSpc>
                <a:spcPct val="100000"/>
              </a:lnSpc>
              <a:spcBef>
                <a:spcPts val="0"/>
              </a:spcBef>
              <a:buNone/>
              <a:defRPr/>
            </a:pPr>
            <a:endParaRPr lang="en-US">
              <a:solidFill>
                <a:schemeClr val="tx1"/>
              </a:solidFill>
            </a:endParaRPr>
          </a:p>
          <a:p>
            <a:pPr marL="0" lvl="0" indent="0">
              <a:lnSpc>
                <a:spcPct val="100000"/>
              </a:lnSpc>
              <a:spcBef>
                <a:spcPts val="0"/>
              </a:spcBef>
              <a:buNone/>
              <a:defRPr/>
            </a:pPr>
            <a:endParaRPr lang="en-US">
              <a:solidFill>
                <a:schemeClr val="tx1"/>
              </a:solidFill>
            </a:endParaRPr>
          </a:p>
          <a:p>
            <a:pPr marL="0" lvl="0" indent="0">
              <a:lnSpc>
                <a:spcPct val="100000"/>
              </a:lnSpc>
              <a:spcBef>
                <a:spcPts val="0"/>
              </a:spcBef>
              <a:buNone/>
              <a:defRPr/>
            </a:pPr>
            <a:endParaRPr lang="en-US">
              <a:solidFill>
                <a:schemeClr val="tx1"/>
              </a:solidFill>
            </a:endParaRPr>
          </a:p>
        </p:txBody>
      </p:sp>
      <p:sp>
        <p:nvSpPr>
          <p:cNvPr id="6" name="Rectangle 5">
            <a:extLst>
              <a:ext uri="{FF2B5EF4-FFF2-40B4-BE49-F238E27FC236}">
                <a16:creationId xmlns:a16="http://schemas.microsoft.com/office/drawing/2014/main" id="{75C553D1-0E45-8AE6-F9E2-B362F51FF947}"/>
              </a:ext>
            </a:extLst>
          </p:cNvPr>
          <p:cNvSpPr/>
          <p:nvPr/>
        </p:nvSpPr>
        <p:spPr bwMode="ltGray">
          <a:xfrm>
            <a:off x="6246343" y="4820094"/>
            <a:ext cx="5488452"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7" name="Isosceles Triangle 6">
            <a:extLst>
              <a:ext uri="{FF2B5EF4-FFF2-40B4-BE49-F238E27FC236}">
                <a16:creationId xmlns:a16="http://schemas.microsoft.com/office/drawing/2014/main" id="{64E0ABFD-4844-341B-CA09-D9654C2D0948}"/>
              </a:ext>
            </a:extLst>
          </p:cNvPr>
          <p:cNvSpPr/>
          <p:nvPr/>
        </p:nvSpPr>
        <p:spPr bwMode="ltGray">
          <a:xfrm rot="5400000">
            <a:off x="10057079" y="5251917"/>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8" name="TextBox 7">
            <a:extLst>
              <a:ext uri="{FF2B5EF4-FFF2-40B4-BE49-F238E27FC236}">
                <a16:creationId xmlns:a16="http://schemas.microsoft.com/office/drawing/2014/main" id="{AA7DCF2F-14AC-EDA7-DEEE-96DCA60EB691}"/>
              </a:ext>
            </a:extLst>
          </p:cNvPr>
          <p:cNvSpPr txBox="1"/>
          <p:nvPr/>
        </p:nvSpPr>
        <p:spPr>
          <a:xfrm>
            <a:off x="6652910" y="5123712"/>
            <a:ext cx="3358157" cy="73866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to register for Monthly SIE Study Group Sessions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965"/>
              </a:solidFill>
              <a:effectLst/>
              <a:uLnTx/>
              <a:uFillTx/>
              <a:latin typeface="Arial"/>
              <a:ea typeface="+mn-ea"/>
              <a:cs typeface="+mn-cs"/>
            </a:endParaRPr>
          </a:p>
        </p:txBody>
      </p:sp>
      <p:sp>
        <p:nvSpPr>
          <p:cNvPr id="9" name="Rectangle 8">
            <a:extLst>
              <a:ext uri="{FF2B5EF4-FFF2-40B4-BE49-F238E27FC236}">
                <a16:creationId xmlns:a16="http://schemas.microsoft.com/office/drawing/2014/main" id="{9AB7D319-13BE-05A1-9988-ED81947B391A}"/>
              </a:ext>
            </a:extLst>
          </p:cNvPr>
          <p:cNvSpPr>
            <a:spLocks/>
          </p:cNvSpPr>
          <p:nvPr/>
        </p:nvSpPr>
        <p:spPr>
          <a:xfrm rot="10800000" flipV="1">
            <a:off x="10635115" y="4820093"/>
            <a:ext cx="1099679" cy="10996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pic>
        <p:nvPicPr>
          <p:cNvPr id="12" name="Picture 4">
            <a:extLst>
              <a:ext uri="{FF2B5EF4-FFF2-40B4-BE49-F238E27FC236}">
                <a16:creationId xmlns:a16="http://schemas.microsoft.com/office/drawing/2014/main" id="{BD35C048-7990-BA84-4962-42BA379DD56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10721213" y="4898445"/>
            <a:ext cx="942975" cy="94297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8386DFFB-0404-D78A-801B-7008DC2A0B8C}"/>
              </a:ext>
            </a:extLst>
          </p:cNvPr>
          <p:cNvPicPr>
            <a:picLocks noChangeAspect="1"/>
          </p:cNvPicPr>
          <p:nvPr/>
        </p:nvPicPr>
        <p:blipFill>
          <a:blip r:embed="rId4" cstate="print">
            <a:extLst>
              <a:ext uri="{28A0092B-C50C-407E-A947-70E740481C1C}">
                <a14:useLocalDpi xmlns:a14="http://schemas.microsoft.com/office/drawing/2010/main" val="0"/>
              </a:ext>
            </a:extLst>
          </a:blip>
          <a:srcRect t="6221" b="6221"/>
          <a:stretch/>
        </p:blipFill>
        <p:spPr>
          <a:xfrm>
            <a:off x="6284279" y="1546476"/>
            <a:ext cx="5450516" cy="3181999"/>
          </a:xfrm>
          <a:prstGeom prst="rect">
            <a:avLst/>
          </a:prstGeom>
        </p:spPr>
      </p:pic>
      <p:sp>
        <p:nvSpPr>
          <p:cNvPr id="5" name="Rectangle 4">
            <a:extLst>
              <a:ext uri="{FF2B5EF4-FFF2-40B4-BE49-F238E27FC236}">
                <a16:creationId xmlns:a16="http://schemas.microsoft.com/office/drawing/2014/main" id="{72CA2E43-231D-511C-F26A-5C19A26BF52C}"/>
              </a:ext>
            </a:extLst>
          </p:cNvPr>
          <p:cNvSpPr/>
          <p:nvPr/>
        </p:nvSpPr>
        <p:spPr bwMode="ltGray">
          <a:xfrm>
            <a:off x="457199" y="1535039"/>
            <a:ext cx="4955027" cy="840171"/>
          </a:xfrm>
          <a:prstGeom prst="rect">
            <a:avLst/>
          </a:prstGeom>
          <a:solidFill>
            <a:srgbClr val="0468FF"/>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pic>
        <p:nvPicPr>
          <p:cNvPr id="14" name="Picture 13">
            <a:extLst>
              <a:ext uri="{FF2B5EF4-FFF2-40B4-BE49-F238E27FC236}">
                <a16:creationId xmlns:a16="http://schemas.microsoft.com/office/drawing/2014/main" id="{BA315AED-1732-61C0-0CF0-847D48F855B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6311" y="1700896"/>
            <a:ext cx="508694" cy="508456"/>
          </a:xfrm>
          <a:prstGeom prst="rect">
            <a:avLst/>
          </a:prstGeom>
        </p:spPr>
      </p:pic>
      <p:sp>
        <p:nvSpPr>
          <p:cNvPr id="16" name="TextBox 15">
            <a:extLst>
              <a:ext uri="{FF2B5EF4-FFF2-40B4-BE49-F238E27FC236}">
                <a16:creationId xmlns:a16="http://schemas.microsoft.com/office/drawing/2014/main" id="{D4CBB471-E7A1-0343-0FF6-1376AF130269}"/>
              </a:ext>
            </a:extLst>
          </p:cNvPr>
          <p:cNvSpPr txBox="1"/>
          <p:nvPr/>
        </p:nvSpPr>
        <p:spPr>
          <a:xfrm>
            <a:off x="1512438" y="1678125"/>
            <a:ext cx="3899788" cy="553998"/>
          </a:xfrm>
          <a:prstGeom prst="rect">
            <a:avLst/>
          </a:prstGeom>
          <a:noFill/>
        </p:spPr>
        <p:txBody>
          <a:bodyPr wrap="square" lIns="0" tIns="0" rIns="0" bIns="0" anchor="t">
            <a:spAutoFit/>
          </a:bodyPr>
          <a:lstStyle/>
          <a:p>
            <a:pPr>
              <a:defRPr/>
            </a:pPr>
            <a:r>
              <a:rPr kumimoji="0" lang="en-US" sz="1800" b="1" i="0" u="none" strike="noStrike" kern="1200" cap="none" spc="0" normalizeH="0" baseline="0" noProof="0">
                <a:ln>
                  <a:noFill/>
                </a:ln>
                <a:solidFill>
                  <a:srgbClr val="FFFFFF"/>
                </a:solidFill>
                <a:effectLst/>
                <a:uLnTx/>
                <a:uFillTx/>
                <a:latin typeface="Arial"/>
                <a:ea typeface="+mn-ea"/>
                <a:cs typeface="+mn-cs"/>
              </a:rPr>
              <a:t>Date: </a:t>
            </a:r>
            <a:r>
              <a:rPr lang="en-US" b="1">
                <a:solidFill>
                  <a:srgbClr val="FFFFFF"/>
                </a:solidFill>
                <a:latin typeface="Arial"/>
              </a:rPr>
              <a:t>Monday</a:t>
            </a:r>
            <a:r>
              <a:rPr kumimoji="0" lang="en-US" sz="1800" b="1" i="0" u="none" strike="noStrike" kern="1200" cap="none" spc="0" normalizeH="0" baseline="0" noProof="0">
                <a:ln>
                  <a:noFill/>
                </a:ln>
                <a:solidFill>
                  <a:srgbClr val="FFFFFF"/>
                </a:solidFill>
                <a:effectLst/>
                <a:uLnTx/>
                <a:uFillTx/>
                <a:latin typeface="Arial"/>
                <a:ea typeface="+mn-ea"/>
                <a:cs typeface="+mn-cs"/>
              </a:rPr>
              <a:t>, </a:t>
            </a:r>
            <a:r>
              <a:rPr lang="en-US" b="1">
                <a:solidFill>
                  <a:srgbClr val="FFFFFF"/>
                </a:solidFill>
                <a:latin typeface="Arial"/>
              </a:rPr>
              <a:t>August 3</a:t>
            </a:r>
            <a:r>
              <a:rPr kumimoji="0" lang="en-US" sz="1800" b="1" i="0" u="none" strike="noStrike" kern="1200" cap="none" spc="0" normalizeH="0" baseline="0" noProof="0">
                <a:ln>
                  <a:noFill/>
                </a:ln>
                <a:solidFill>
                  <a:srgbClr val="FFFFFF"/>
                </a:solidFill>
                <a:effectLst/>
                <a:uLnTx/>
                <a:uFillTx/>
                <a:latin typeface="Arial"/>
                <a:ea typeface="+mn-ea"/>
                <a:cs typeface="+mn-cs"/>
              </a:rPr>
              <a:t>, 2026</a:t>
            </a:r>
            <a:br>
              <a:rPr lang="en-US" sz="1800" b="0" i="0" u="none" strike="noStrike" kern="1200" cap="none" spc="0" normalizeH="0" baseline="0" noProof="0">
                <a:ln>
                  <a:noFill/>
                </a:ln>
                <a:effectLst/>
                <a:uLnTx/>
                <a:uFillTx/>
                <a:latin typeface="Arial"/>
              </a:rPr>
            </a:br>
            <a:r>
              <a:rPr kumimoji="0" lang="en-US" sz="1800" b="0" i="0" u="none" strike="noStrike" kern="1200" cap="none" spc="0" normalizeH="0" baseline="0" noProof="0">
                <a:ln>
                  <a:noFill/>
                </a:ln>
                <a:solidFill>
                  <a:srgbClr val="FFFFFF"/>
                </a:solidFill>
                <a:effectLst/>
                <a:uLnTx/>
                <a:uFillTx/>
                <a:latin typeface="Arial"/>
                <a:ea typeface="+mn-ea"/>
                <a:cs typeface="+mn-cs"/>
              </a:rPr>
              <a:t>Time: </a:t>
            </a:r>
            <a:r>
              <a:rPr lang="en-US">
                <a:solidFill>
                  <a:srgbClr val="FFFFFF"/>
                </a:solidFill>
                <a:latin typeface="Arial"/>
              </a:rPr>
              <a:t>4</a:t>
            </a:r>
            <a:r>
              <a:rPr lang="en-US" b="1">
                <a:solidFill>
                  <a:srgbClr val="FFFFFF"/>
                </a:solidFill>
                <a:latin typeface="Arial"/>
              </a:rPr>
              <a:t>:00</a:t>
            </a:r>
            <a:r>
              <a:rPr kumimoji="0" lang="en-US" sz="1800" b="1" i="0" u="none" strike="noStrike" kern="1200" cap="none" spc="0" normalizeH="0" baseline="0" noProof="0">
                <a:ln>
                  <a:noFill/>
                </a:ln>
                <a:solidFill>
                  <a:srgbClr val="FFFFFF"/>
                </a:solidFill>
                <a:effectLst/>
                <a:uLnTx/>
                <a:uFillTx/>
                <a:latin typeface="Arial"/>
                <a:ea typeface="+mn-ea"/>
                <a:cs typeface="+mn-cs"/>
              </a:rPr>
              <a:t> p.m. ET</a:t>
            </a:r>
            <a:endParaRPr kumimoji="0" lang="en-US" sz="1800" b="0" i="0" u="none" strike="noStrike" kern="1200" cap="none" spc="0" normalizeH="0" baseline="3000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54042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FA29D-2359-3BF7-DFCF-3A5517FA794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8E2D3E4-4BE8-51E9-95D4-F92884983387}"/>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AE28D651-C31B-68FE-AAE8-341ADB9C5EE7}"/>
              </a:ext>
            </a:extLst>
          </p:cNvPr>
          <p:cNvSpPr>
            <a:spLocks noGrp="1"/>
          </p:cNvSpPr>
          <p:nvPr>
            <p:ph type="title"/>
          </p:nvPr>
        </p:nvSpPr>
        <p:spPr/>
        <p:txBody>
          <a:bodyPr/>
          <a:lstStyle/>
          <a:p>
            <a:r>
              <a:rPr lang="en-US"/>
              <a:t>Don’t miss this month’s Motivation Monday!</a:t>
            </a:r>
          </a:p>
        </p:txBody>
      </p:sp>
      <p:sp>
        <p:nvSpPr>
          <p:cNvPr id="3" name="Content Placeholder 2">
            <a:extLst>
              <a:ext uri="{FF2B5EF4-FFF2-40B4-BE49-F238E27FC236}">
                <a16:creationId xmlns:a16="http://schemas.microsoft.com/office/drawing/2014/main" id="{3C14D308-26C3-9585-0D2E-BEBA273DDCF6}"/>
              </a:ext>
            </a:extLst>
          </p:cNvPr>
          <p:cNvSpPr>
            <a:spLocks noGrp="1"/>
          </p:cNvSpPr>
          <p:nvPr>
            <p:ph idx="1"/>
          </p:nvPr>
        </p:nvSpPr>
        <p:spPr>
          <a:xfrm>
            <a:off x="457199" y="2547121"/>
            <a:ext cx="6610351" cy="2272972"/>
          </a:xfrm>
        </p:spPr>
        <p:txBody>
          <a:bodyPr/>
          <a:lstStyle/>
          <a:p>
            <a:pPr marL="0" indent="0">
              <a:lnSpc>
                <a:spcPct val="100000"/>
              </a:lnSpc>
              <a:spcBef>
                <a:spcPts val="0"/>
              </a:spcBef>
              <a:spcAft>
                <a:spcPts val="600"/>
              </a:spcAft>
              <a:buNone/>
            </a:pPr>
            <a:r>
              <a:rPr lang="en-US" sz="1600"/>
              <a:t>Join </a:t>
            </a:r>
            <a:r>
              <a:rPr lang="en-US" sz="1600" b="1"/>
              <a:t>Broderick Young </a:t>
            </a:r>
            <a:r>
              <a:rPr lang="en-US" sz="1600"/>
              <a:t>for a candid conversation on the mindset and relationship-building approach that have shaped his career.</a:t>
            </a:r>
          </a:p>
          <a:p>
            <a:pPr>
              <a:lnSpc>
                <a:spcPct val="100000"/>
              </a:lnSpc>
              <a:spcBef>
                <a:spcPts val="0"/>
              </a:spcBef>
              <a:spcAft>
                <a:spcPts val="600"/>
              </a:spcAft>
            </a:pPr>
            <a:r>
              <a:rPr lang="en-US" sz="1600"/>
              <a:t>Hosted by </a:t>
            </a:r>
            <a:r>
              <a:rPr lang="en-US" sz="1600" b="1"/>
              <a:t>Andrew Goldstein</a:t>
            </a:r>
            <a:r>
              <a:rPr lang="en-US" sz="1600"/>
              <a:t>, Vice President, Agency Sales </a:t>
            </a:r>
            <a:br>
              <a:rPr lang="en-US" sz="1600"/>
            </a:br>
            <a:r>
              <a:rPr lang="en-US" sz="1600"/>
              <a:t>&amp; Field Activation</a:t>
            </a:r>
          </a:p>
          <a:p>
            <a:pPr>
              <a:lnSpc>
                <a:spcPct val="100000"/>
              </a:lnSpc>
              <a:spcBef>
                <a:spcPts val="0"/>
              </a:spcBef>
              <a:spcAft>
                <a:spcPts val="600"/>
              </a:spcAft>
            </a:pPr>
            <a:r>
              <a:rPr lang="en-US" sz="1600"/>
              <a:t>Authenticity, resilience and self-belief</a:t>
            </a:r>
          </a:p>
          <a:p>
            <a:pPr>
              <a:lnSpc>
                <a:spcPct val="100000"/>
              </a:lnSpc>
              <a:spcBef>
                <a:spcPts val="0"/>
              </a:spcBef>
              <a:spcAft>
                <a:spcPts val="600"/>
              </a:spcAft>
            </a:pPr>
            <a:r>
              <a:rPr lang="en-US" sz="1600"/>
              <a:t>Education and a resource-focused approach</a:t>
            </a:r>
          </a:p>
          <a:p>
            <a:pPr>
              <a:lnSpc>
                <a:spcPct val="100000"/>
              </a:lnSpc>
              <a:spcBef>
                <a:spcPts val="0"/>
              </a:spcBef>
              <a:spcAft>
                <a:spcPts val="600"/>
              </a:spcAft>
            </a:pPr>
            <a:r>
              <a:rPr lang="en-US" sz="1600"/>
              <a:t>Ideas to strengthen client relationships and drive growth.</a:t>
            </a:r>
          </a:p>
        </p:txBody>
      </p:sp>
      <p:sp>
        <p:nvSpPr>
          <p:cNvPr id="4" name="Text Placeholder 3">
            <a:extLst>
              <a:ext uri="{FF2B5EF4-FFF2-40B4-BE49-F238E27FC236}">
                <a16:creationId xmlns:a16="http://schemas.microsoft.com/office/drawing/2014/main" id="{57DCD786-5FC4-8337-868A-56420AAF834F}"/>
              </a:ext>
            </a:extLst>
          </p:cNvPr>
          <p:cNvSpPr>
            <a:spLocks noGrp="1"/>
          </p:cNvSpPr>
          <p:nvPr>
            <p:ph type="body" sz="quarter" idx="12"/>
          </p:nvPr>
        </p:nvSpPr>
        <p:spPr>
          <a:xfrm>
            <a:off x="439946" y="953242"/>
            <a:ext cx="11294854" cy="496033"/>
          </a:xfrm>
        </p:spPr>
        <p:txBody>
          <a:bodyPr/>
          <a:lstStyle/>
          <a:p>
            <a:r>
              <a:rPr lang="en-US"/>
              <a:t>Register now for insights from Broderick Young</a:t>
            </a:r>
            <a:endParaRPr lang="en-US" sz="2200"/>
          </a:p>
        </p:txBody>
      </p:sp>
      <p:sp>
        <p:nvSpPr>
          <p:cNvPr id="7" name="Rectangle 6">
            <a:extLst>
              <a:ext uri="{FF2B5EF4-FFF2-40B4-BE49-F238E27FC236}">
                <a16:creationId xmlns:a16="http://schemas.microsoft.com/office/drawing/2014/main" id="{8E74B189-4B55-DB57-DC58-F5F26AA47966}"/>
              </a:ext>
            </a:extLst>
          </p:cNvPr>
          <p:cNvSpPr/>
          <p:nvPr/>
        </p:nvSpPr>
        <p:spPr bwMode="ltGray">
          <a:xfrm>
            <a:off x="439946" y="4820094"/>
            <a:ext cx="5335131"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12" name="Isosceles Triangle 11">
            <a:extLst>
              <a:ext uri="{FF2B5EF4-FFF2-40B4-BE49-F238E27FC236}">
                <a16:creationId xmlns:a16="http://schemas.microsoft.com/office/drawing/2014/main" id="{FA7D9749-D1E3-EB81-4DA6-3322E9907DBE}"/>
              </a:ext>
            </a:extLst>
          </p:cNvPr>
          <p:cNvSpPr/>
          <p:nvPr/>
        </p:nvSpPr>
        <p:spPr bwMode="ltGray">
          <a:xfrm rot="5400000">
            <a:off x="3887468" y="5251917"/>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13" name="TextBox 12">
            <a:extLst>
              <a:ext uri="{FF2B5EF4-FFF2-40B4-BE49-F238E27FC236}">
                <a16:creationId xmlns:a16="http://schemas.microsoft.com/office/drawing/2014/main" id="{4D8A75D9-214B-CCB7-6C1B-4903D07369F0}"/>
              </a:ext>
            </a:extLst>
          </p:cNvPr>
          <p:cNvSpPr txBox="1"/>
          <p:nvPr/>
        </p:nvSpPr>
        <p:spPr>
          <a:xfrm>
            <a:off x="700816" y="5123712"/>
            <a:ext cx="3251057"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965"/>
                </a:solidFill>
                <a:effectLst/>
                <a:uLnTx/>
                <a:uFillTx/>
                <a:latin typeface="Arial"/>
                <a:ea typeface="+mn-ea"/>
                <a:cs typeface="+mn-cs"/>
              </a:rPr>
              <a:t>Register today</a:t>
            </a:r>
            <a:r>
              <a:rPr kumimoji="0" lang="en-US" sz="1600" b="0" i="0" u="none" strike="noStrike" kern="1200" cap="none" spc="0" normalizeH="0" baseline="0" noProof="0">
                <a:ln>
                  <a:noFill/>
                </a:ln>
                <a:solidFill>
                  <a:srgbClr val="000965"/>
                </a:solidFill>
                <a:effectLst/>
                <a:uLnTx/>
                <a:uFillTx/>
                <a:latin typeface="Arial"/>
                <a:ea typeface="+mn-ea"/>
                <a:cs typeface="+mn-cs"/>
              </a:rPr>
              <a:t> - Scan the QR code to reserve your spot today.</a:t>
            </a:r>
            <a:endParaRPr kumimoji="0" lang="en-US" sz="1600" b="0" i="0" u="none" strike="noStrike" kern="1200" cap="none" spc="0" normalizeH="0" baseline="0" noProof="0">
              <a:ln>
                <a:noFill/>
              </a:ln>
              <a:solidFill>
                <a:srgbClr val="7FB9FF"/>
              </a:solidFill>
              <a:effectLst/>
              <a:uLnTx/>
              <a:uFillTx/>
              <a:latin typeface="Arial"/>
              <a:ea typeface="+mn-ea"/>
              <a:cs typeface="+mn-cs"/>
            </a:endParaRPr>
          </a:p>
        </p:txBody>
      </p:sp>
      <p:sp>
        <p:nvSpPr>
          <p:cNvPr id="6" name="Rectangle 5">
            <a:extLst>
              <a:ext uri="{FF2B5EF4-FFF2-40B4-BE49-F238E27FC236}">
                <a16:creationId xmlns:a16="http://schemas.microsoft.com/office/drawing/2014/main" id="{0035125A-F1B5-35B3-9031-BC90F584E3BE}"/>
              </a:ext>
            </a:extLst>
          </p:cNvPr>
          <p:cNvSpPr/>
          <p:nvPr/>
        </p:nvSpPr>
        <p:spPr bwMode="ltGray">
          <a:xfrm>
            <a:off x="457199" y="1535039"/>
            <a:ext cx="6610351" cy="840171"/>
          </a:xfrm>
          <a:prstGeom prst="rect">
            <a:avLst/>
          </a:prstGeom>
          <a:solidFill>
            <a:schemeClr val="accent2"/>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pic>
        <p:nvPicPr>
          <p:cNvPr id="9" name="Picture 8">
            <a:extLst>
              <a:ext uri="{FF2B5EF4-FFF2-40B4-BE49-F238E27FC236}">
                <a16:creationId xmlns:a16="http://schemas.microsoft.com/office/drawing/2014/main" id="{A55AA3A4-7622-385A-EFF4-8F90337BFF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6311" y="1700896"/>
            <a:ext cx="508694" cy="508456"/>
          </a:xfrm>
          <a:prstGeom prst="rect">
            <a:avLst/>
          </a:prstGeom>
        </p:spPr>
      </p:pic>
      <p:sp>
        <p:nvSpPr>
          <p:cNvPr id="10" name="TextBox 9">
            <a:extLst>
              <a:ext uri="{FF2B5EF4-FFF2-40B4-BE49-F238E27FC236}">
                <a16:creationId xmlns:a16="http://schemas.microsoft.com/office/drawing/2014/main" id="{F511897D-EF22-0DCF-DFD6-FBD3163D7DEB}"/>
              </a:ext>
            </a:extLst>
          </p:cNvPr>
          <p:cNvSpPr txBox="1"/>
          <p:nvPr/>
        </p:nvSpPr>
        <p:spPr>
          <a:xfrm>
            <a:off x="1512438" y="1678125"/>
            <a:ext cx="3899788" cy="55399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Date: </a:t>
            </a:r>
            <a:r>
              <a:rPr kumimoji="0" lang="en-US" sz="1800" b="0" i="0" u="none" strike="noStrike" kern="1200" cap="none" spc="0" normalizeH="0" baseline="0" noProof="0">
                <a:ln>
                  <a:noFill/>
                </a:ln>
                <a:solidFill>
                  <a:srgbClr val="FFFFFF"/>
                </a:solidFill>
                <a:effectLst/>
                <a:uLnTx/>
                <a:uFillTx/>
                <a:latin typeface="Arial"/>
                <a:ea typeface="+mn-ea"/>
                <a:cs typeface="+mn-cs"/>
              </a:rPr>
              <a:t>Monday, August 3, 2026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Time: </a:t>
            </a:r>
            <a:r>
              <a:rPr kumimoji="0" lang="en-US" sz="1800" b="0" i="0" u="none" strike="noStrike" kern="1200" cap="none" spc="0" normalizeH="0" baseline="0" noProof="0">
                <a:ln>
                  <a:noFill/>
                </a:ln>
                <a:solidFill>
                  <a:srgbClr val="FFFFFF"/>
                </a:solidFill>
                <a:effectLst/>
                <a:uLnTx/>
                <a:uFillTx/>
                <a:latin typeface="Arial"/>
                <a:ea typeface="+mn-ea"/>
                <a:cs typeface="+mn-cs"/>
              </a:rPr>
              <a:t>3:00 – 4:00 p.m. ET*</a:t>
            </a:r>
            <a:endParaRPr kumimoji="0" lang="en-US" sz="1800" b="0" i="0" u="none" strike="noStrike" kern="1200" cap="none" spc="0" normalizeH="0" baseline="30000" noProof="0">
              <a:ln>
                <a:noFill/>
              </a:ln>
              <a:solidFill>
                <a:srgbClr val="FFFFFF"/>
              </a:solidFill>
              <a:effectLst/>
              <a:uLnTx/>
              <a:uFillTx/>
              <a:latin typeface="Arial"/>
              <a:ea typeface="+mn-ea"/>
              <a:cs typeface="+mn-cs"/>
            </a:endParaRPr>
          </a:p>
        </p:txBody>
      </p:sp>
      <p:pic>
        <p:nvPicPr>
          <p:cNvPr id="14" name="Picture 13">
            <a:extLst>
              <a:ext uri="{FF2B5EF4-FFF2-40B4-BE49-F238E27FC236}">
                <a16:creationId xmlns:a16="http://schemas.microsoft.com/office/drawing/2014/main" id="{670DC966-A7F1-E8CB-B9CB-E7AA956E77B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4675398" y="4820094"/>
            <a:ext cx="1099679" cy="1099679"/>
          </a:xfrm>
          <a:prstGeom prst="rect">
            <a:avLst/>
          </a:prstGeom>
        </p:spPr>
      </p:pic>
      <p:sp>
        <p:nvSpPr>
          <p:cNvPr id="32" name="TextBox 31">
            <a:extLst>
              <a:ext uri="{FF2B5EF4-FFF2-40B4-BE49-F238E27FC236}">
                <a16:creationId xmlns:a16="http://schemas.microsoft.com/office/drawing/2014/main" id="{13DC8645-52F3-9553-D70B-41F47E858EC2}"/>
              </a:ext>
            </a:extLst>
          </p:cNvPr>
          <p:cNvSpPr txBox="1"/>
          <p:nvPr/>
        </p:nvSpPr>
        <p:spPr>
          <a:xfrm>
            <a:off x="2934712" y="6330088"/>
            <a:ext cx="6097656" cy="183320"/>
          </a:xfrm>
          <a:prstGeom prst="rect">
            <a:avLst/>
          </a:prstGeom>
          <a:noFill/>
        </p:spPr>
        <p:txBody>
          <a:bodyPr wrap="square" lIns="0" tIns="0" rIns="0" bIns="0">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200" b="0" i="0" u="none" strike="noStrike" kern="1200" cap="none" spc="0" normalizeH="0" baseline="0" noProof="0">
                <a:ln>
                  <a:noFill/>
                </a:ln>
                <a:solidFill>
                  <a:srgbClr val="000962"/>
                </a:solidFill>
                <a:effectLst/>
                <a:uLnTx/>
                <a:uFillTx/>
                <a:latin typeface="Arial" panose="020B0604020202020204" pitchFamily="34" charset="0"/>
                <a:ea typeface="Aptos" panose="020B0004020202020204" pitchFamily="34" charset="0"/>
                <a:cs typeface="Arial" panose="020B0604020202020204" pitchFamily="34" charset="0"/>
              </a:rPr>
              <a:t>*2 pm CT, 1 pm MT, 12 pm PT, 11 am Alaska, 9 am Hawaii</a:t>
            </a:r>
          </a:p>
        </p:txBody>
      </p:sp>
      <p:sp>
        <p:nvSpPr>
          <p:cNvPr id="8" name="Rectangle 7">
            <a:extLst>
              <a:ext uri="{FF2B5EF4-FFF2-40B4-BE49-F238E27FC236}">
                <a16:creationId xmlns:a16="http://schemas.microsoft.com/office/drawing/2014/main" id="{3D1EB759-4C6F-DBBC-5AA2-4C69C2A930FF}"/>
              </a:ext>
            </a:extLst>
          </p:cNvPr>
          <p:cNvSpPr/>
          <p:nvPr/>
        </p:nvSpPr>
        <p:spPr>
          <a:xfrm>
            <a:off x="7391400" y="1535039"/>
            <a:ext cx="4343400" cy="438473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1" name="TextBox 10">
            <a:extLst>
              <a:ext uri="{FF2B5EF4-FFF2-40B4-BE49-F238E27FC236}">
                <a16:creationId xmlns:a16="http://schemas.microsoft.com/office/drawing/2014/main" id="{3F8CBF4E-907E-BA1F-E0D4-2B27CB223B15}"/>
              </a:ext>
            </a:extLst>
          </p:cNvPr>
          <p:cNvSpPr txBox="1"/>
          <p:nvPr/>
        </p:nvSpPr>
        <p:spPr>
          <a:xfrm>
            <a:off x="7391400" y="1541055"/>
            <a:ext cx="4343400" cy="430887"/>
          </a:xfrm>
          <a:prstGeom prst="rect">
            <a:avLst/>
          </a:prstGeom>
          <a:solidFill>
            <a:schemeClr val="tx1"/>
          </a:solidFill>
        </p:spPr>
        <p:txBody>
          <a:bodyPr wrap="square" lIns="182880" tIns="91440" rIns="91440" bIns="9144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a:ln>
                  <a:noFill/>
                </a:ln>
                <a:solidFill>
                  <a:srgbClr val="FFFFFF"/>
                </a:solidFill>
                <a:effectLst/>
                <a:uLnTx/>
                <a:uFillTx/>
                <a:latin typeface="Arial"/>
                <a:ea typeface="+mn-ea"/>
                <a:cs typeface="+mn-cs"/>
              </a:rPr>
              <a:t>Featured speaker</a:t>
            </a:r>
          </a:p>
        </p:txBody>
      </p:sp>
      <p:sp>
        <p:nvSpPr>
          <p:cNvPr id="27" name="TextBox 26">
            <a:extLst>
              <a:ext uri="{FF2B5EF4-FFF2-40B4-BE49-F238E27FC236}">
                <a16:creationId xmlns:a16="http://schemas.microsoft.com/office/drawing/2014/main" id="{F5254A35-7E00-FAF7-C55B-CB00FFDC5CF6}"/>
              </a:ext>
            </a:extLst>
          </p:cNvPr>
          <p:cNvSpPr txBox="1"/>
          <p:nvPr/>
        </p:nvSpPr>
        <p:spPr>
          <a:xfrm>
            <a:off x="8190859" y="4950838"/>
            <a:ext cx="2744482" cy="892552"/>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Aft>
                <a:spcPts val="0"/>
              </a:spcAft>
              <a:buClrTx/>
              <a:buSzTx/>
              <a:buFontTx/>
              <a:buNone/>
              <a:tabLst/>
              <a:defRPr/>
            </a:pPr>
            <a:r>
              <a:rPr kumimoji="0" lang="en-US" sz="1600" b="1" i="0" u="none" strike="noStrike" kern="1200" cap="none" spc="0" normalizeH="0" baseline="0" noProof="0">
                <a:ln>
                  <a:noFill/>
                </a:ln>
                <a:solidFill>
                  <a:schemeClr val="bg1"/>
                </a:solidFill>
                <a:effectLst/>
                <a:uLnTx/>
                <a:uFillTx/>
                <a:latin typeface="Arial"/>
                <a:ea typeface="+mn-ea"/>
                <a:cs typeface="+mn-cs"/>
              </a:rPr>
              <a:t>Broderick L. Young, </a:t>
            </a:r>
            <a:br>
              <a:rPr kumimoji="0" lang="en-US" sz="1600" b="1" i="0" u="none" strike="noStrike" kern="1200" cap="none" spc="0" normalizeH="0" baseline="0" noProof="0">
                <a:ln>
                  <a:noFill/>
                </a:ln>
                <a:solidFill>
                  <a:schemeClr val="bg1"/>
                </a:solidFill>
                <a:effectLst/>
                <a:uLnTx/>
                <a:uFillTx/>
                <a:latin typeface="Arial"/>
                <a:ea typeface="+mn-ea"/>
                <a:cs typeface="+mn-cs"/>
              </a:rPr>
            </a:br>
            <a:r>
              <a:rPr kumimoji="0" lang="en-US" sz="1400" b="0" i="0" u="none" strike="noStrike" kern="1200" cap="none" spc="0" normalizeH="0" baseline="0" noProof="0">
                <a:ln>
                  <a:noFill/>
                </a:ln>
                <a:solidFill>
                  <a:schemeClr val="bg1"/>
                </a:solidFill>
                <a:effectLst/>
                <a:uLnTx/>
                <a:uFillTx/>
                <a:latin typeface="Arial"/>
                <a:ea typeface="+mn-ea"/>
                <a:cs typeface="+mn-cs"/>
              </a:rPr>
              <a:t>CASL, CFP, CLF, </a:t>
            </a:r>
            <a:r>
              <a:rPr kumimoji="0" lang="en-US" sz="1400" b="0" i="0" u="none" strike="noStrike" kern="1200" cap="none" spc="0" normalizeH="0" baseline="0" noProof="0" err="1">
                <a:ln>
                  <a:noFill/>
                </a:ln>
                <a:solidFill>
                  <a:schemeClr val="bg1"/>
                </a:solidFill>
                <a:effectLst/>
                <a:uLnTx/>
                <a:uFillTx/>
                <a:latin typeface="Arial"/>
                <a:ea typeface="+mn-ea"/>
                <a:cs typeface="+mn-cs"/>
              </a:rPr>
              <a:t>ChFC</a:t>
            </a:r>
            <a:r>
              <a:rPr kumimoji="0" lang="en-US" sz="1400" b="0" i="0" u="none" strike="noStrike" kern="1200" cap="none" spc="0" normalizeH="0" baseline="0" noProof="0">
                <a:ln>
                  <a:noFill/>
                </a:ln>
                <a:solidFill>
                  <a:schemeClr val="bg1"/>
                </a:solidFill>
                <a:effectLst/>
                <a:uLnTx/>
                <a:uFillTx/>
                <a:latin typeface="Arial"/>
                <a:ea typeface="+mn-ea"/>
                <a:cs typeface="+mn-cs"/>
              </a:rPr>
              <a:t>, CLU</a:t>
            </a:r>
          </a:p>
          <a:p>
            <a:pPr marL="0" marR="0" lvl="0" indent="0" algn="ctr" defTabSz="914400" rtl="0" eaLnBrk="1" fontAlgn="auto" latinLnBrk="0" hangingPunct="1">
              <a:lnSpc>
                <a:spcPct val="100000"/>
              </a:lnSpc>
              <a:spcAft>
                <a:spcPts val="0"/>
              </a:spcAft>
              <a:buClrTx/>
              <a:buSzTx/>
              <a:buFontTx/>
              <a:buNone/>
              <a:tabLst/>
              <a:defRPr/>
            </a:pPr>
            <a:r>
              <a:rPr kumimoji="0" lang="en-US" sz="1400" b="0" i="0" u="none" strike="noStrike" kern="1200" cap="none" spc="0" normalizeH="0" baseline="0" noProof="0">
                <a:ln>
                  <a:noFill/>
                </a:ln>
                <a:solidFill>
                  <a:schemeClr val="bg1"/>
                </a:solidFill>
                <a:effectLst/>
                <a:uLnTx/>
                <a:uFillTx/>
                <a:latin typeface="Arial"/>
                <a:ea typeface="+mn-ea"/>
                <a:cs typeface="+mn-cs"/>
              </a:rPr>
              <a:t>Greater DC General Office</a:t>
            </a:r>
          </a:p>
          <a:p>
            <a:pPr marL="0" marR="0" lvl="0" indent="0" algn="ctr" defTabSz="914400" rtl="0" eaLnBrk="1" fontAlgn="auto" latinLnBrk="0" hangingPunct="1">
              <a:lnSpc>
                <a:spcPct val="100000"/>
              </a:lnSpc>
              <a:spcAft>
                <a:spcPts val="0"/>
              </a:spcAft>
              <a:buClrTx/>
              <a:buSzTx/>
              <a:buFontTx/>
              <a:buNone/>
              <a:tabLst/>
              <a:defRPr/>
            </a:pPr>
            <a:r>
              <a:rPr kumimoji="0" lang="en-US" sz="1400" b="0" i="0" u="none" strike="noStrike" kern="1200" cap="none" spc="0" normalizeH="0" baseline="0" noProof="0">
                <a:ln>
                  <a:noFill/>
                </a:ln>
                <a:solidFill>
                  <a:schemeClr val="bg1"/>
                </a:solidFill>
                <a:effectLst/>
                <a:uLnTx/>
                <a:uFillTx/>
                <a:latin typeface="Arial"/>
                <a:ea typeface="+mn-ea"/>
                <a:cs typeface="+mn-cs"/>
              </a:rPr>
              <a:t>Chairman’s Council</a:t>
            </a:r>
          </a:p>
        </p:txBody>
      </p:sp>
      <p:pic>
        <p:nvPicPr>
          <p:cNvPr id="17" name="Picture 16">
            <a:extLst>
              <a:ext uri="{FF2B5EF4-FFF2-40B4-BE49-F238E27FC236}">
                <a16:creationId xmlns:a16="http://schemas.microsoft.com/office/drawing/2014/main" id="{42DB94A3-0E07-8444-6902-84DC6C939B56}"/>
              </a:ext>
            </a:extLst>
          </p:cNvPr>
          <p:cNvPicPr>
            <a:picLocks noChangeAspect="1"/>
          </p:cNvPicPr>
          <p:nvPr/>
        </p:nvPicPr>
        <p:blipFill>
          <a:blip r:embed="rId5">
            <a:extLst>
              <a:ext uri="{28A0092B-C50C-407E-A947-70E740481C1C}">
                <a14:useLocalDpi xmlns:a14="http://schemas.microsoft.com/office/drawing/2010/main" val="0"/>
              </a:ext>
            </a:extLst>
          </a:blip>
          <a:stretch/>
        </p:blipFill>
        <p:spPr>
          <a:xfrm>
            <a:off x="8139997" y="2057706"/>
            <a:ext cx="2846206" cy="2846206"/>
          </a:xfrm>
          <a:prstGeom prst="rect">
            <a:avLst/>
          </a:prstGeom>
        </p:spPr>
      </p:pic>
    </p:spTree>
    <p:extLst>
      <p:ext uri="{BB962C8B-B14F-4D97-AF65-F5344CB8AC3E}">
        <p14:creationId xmlns:p14="http://schemas.microsoft.com/office/powerpoint/2010/main" val="20367192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F27AA-89C9-B25D-7B01-2FE3259B8C9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4F47EF1-A51E-A90E-70C8-AA67F2D7FF43}"/>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17" name="Rectangle 16">
            <a:extLst>
              <a:ext uri="{FF2B5EF4-FFF2-40B4-BE49-F238E27FC236}">
                <a16:creationId xmlns:a16="http://schemas.microsoft.com/office/drawing/2014/main" id="{C0B26A4C-71B9-2A16-BB3E-AF17A8028518}"/>
              </a:ext>
            </a:extLst>
          </p:cNvPr>
          <p:cNvSpPr/>
          <p:nvPr/>
        </p:nvSpPr>
        <p:spPr>
          <a:xfrm>
            <a:off x="8506686" y="1532300"/>
            <a:ext cx="3233056" cy="437245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5" name="TextBox 24">
            <a:extLst>
              <a:ext uri="{FF2B5EF4-FFF2-40B4-BE49-F238E27FC236}">
                <a16:creationId xmlns:a16="http://schemas.microsoft.com/office/drawing/2014/main" id="{85222C6B-5324-A69A-438E-8C485F06CEAC}"/>
              </a:ext>
            </a:extLst>
          </p:cNvPr>
          <p:cNvSpPr txBox="1"/>
          <p:nvPr/>
        </p:nvSpPr>
        <p:spPr>
          <a:xfrm>
            <a:off x="8771999" y="4956368"/>
            <a:ext cx="2702431" cy="738664"/>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Evelin Freytas, </a:t>
            </a:r>
            <a:br>
              <a:rPr kumimoji="0" lang="en-US" sz="1200" b="1" i="0" u="none" strike="noStrike" kern="1200" cap="none" spc="0" normalizeH="0" baseline="0" noProof="0">
                <a:ln>
                  <a:noFill/>
                </a:ln>
                <a:solidFill>
                  <a:srgbClr val="FFFFFF"/>
                </a:solidFill>
                <a:effectLst/>
                <a:uLnTx/>
                <a:uFillTx/>
                <a:latin typeface="Arial"/>
                <a:ea typeface="+mn-ea"/>
                <a:cs typeface="+mn-cs"/>
              </a:rPr>
            </a:br>
            <a:r>
              <a:rPr kumimoji="0" lang="en-US" sz="1200" b="0" i="0" u="none" strike="noStrike" kern="1200" cap="none" spc="0" normalizeH="0" baseline="0" noProof="0">
                <a:ln>
                  <a:noFill/>
                </a:ln>
                <a:solidFill>
                  <a:srgbClr val="FFFFFF"/>
                </a:solidFill>
                <a:effectLst/>
                <a:uLnTx/>
                <a:uFillTx/>
                <a:latin typeface="Arial"/>
                <a:ea typeface="+mn-ea"/>
                <a:cs typeface="+mn-cs"/>
              </a:rPr>
              <a:t>MBA, LUTCF, CLTC</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Chairman’s Council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Chicago North Shore Office</a:t>
            </a:r>
          </a:p>
        </p:txBody>
      </p:sp>
      <p:sp>
        <p:nvSpPr>
          <p:cNvPr id="7" name="Rectangle 6">
            <a:extLst>
              <a:ext uri="{FF2B5EF4-FFF2-40B4-BE49-F238E27FC236}">
                <a16:creationId xmlns:a16="http://schemas.microsoft.com/office/drawing/2014/main" id="{95459F82-32A6-EF99-D4D5-1F1741224273}"/>
              </a:ext>
            </a:extLst>
          </p:cNvPr>
          <p:cNvSpPr/>
          <p:nvPr/>
        </p:nvSpPr>
        <p:spPr bwMode="ltGray">
          <a:xfrm>
            <a:off x="439946" y="4815798"/>
            <a:ext cx="7614481" cy="1092307"/>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13" name="TextBox 12">
            <a:extLst>
              <a:ext uri="{FF2B5EF4-FFF2-40B4-BE49-F238E27FC236}">
                <a16:creationId xmlns:a16="http://schemas.microsoft.com/office/drawing/2014/main" id="{EB8657F9-46AD-3AC9-E85A-C88108D526BD}"/>
              </a:ext>
            </a:extLst>
          </p:cNvPr>
          <p:cNvSpPr txBox="1"/>
          <p:nvPr/>
        </p:nvSpPr>
        <p:spPr>
          <a:xfrm>
            <a:off x="673644" y="5039094"/>
            <a:ext cx="5662609" cy="64633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965"/>
                </a:solidFill>
                <a:effectLst/>
                <a:uLnTx/>
                <a:uFillTx/>
                <a:latin typeface="Arial"/>
                <a:ea typeface="+mn-ea"/>
                <a:cs typeface="+mn-cs"/>
              </a:rPr>
              <a:t>Register today - </a:t>
            </a:r>
            <a:r>
              <a:rPr kumimoji="0" lang="en-US" sz="1400" b="0" i="0" u="none" strike="noStrike" kern="1200" cap="none" spc="0" normalizeH="0" baseline="0" noProof="0">
                <a:ln>
                  <a:noFill/>
                </a:ln>
                <a:solidFill>
                  <a:srgbClr val="000965"/>
                </a:solidFill>
                <a:effectLst/>
                <a:uLnTx/>
                <a:uFillTx/>
                <a:latin typeface="Arial"/>
                <a:ea typeface="+mn-ea"/>
                <a:cs typeface="+mn-cs"/>
              </a:rPr>
              <a:t>Scan the QR code to reserve your spot and learn how upcoming SVUL Accumulator II updates can create new opportunities for client conversations.</a:t>
            </a:r>
            <a:endParaRPr kumimoji="0" lang="en-US" sz="1400" b="0" i="0" u="none" strike="noStrike" kern="1200" cap="none" spc="0" normalizeH="0" baseline="0" noProof="0">
              <a:ln>
                <a:noFill/>
              </a:ln>
              <a:solidFill>
                <a:srgbClr val="7FB9FF"/>
              </a:solidFill>
              <a:effectLst/>
              <a:uLnTx/>
              <a:uFillTx/>
              <a:latin typeface="Arial"/>
              <a:ea typeface="+mn-ea"/>
              <a:cs typeface="+mn-cs"/>
            </a:endParaRPr>
          </a:p>
        </p:txBody>
      </p:sp>
      <p:sp>
        <p:nvSpPr>
          <p:cNvPr id="2" name="Title 1">
            <a:extLst>
              <a:ext uri="{FF2B5EF4-FFF2-40B4-BE49-F238E27FC236}">
                <a16:creationId xmlns:a16="http://schemas.microsoft.com/office/drawing/2014/main" id="{30C287F9-2401-3C1D-E800-95E890C696BB}"/>
              </a:ext>
            </a:extLst>
          </p:cNvPr>
          <p:cNvSpPr>
            <a:spLocks noGrp="1"/>
          </p:cNvSpPr>
          <p:nvPr>
            <p:ph type="title"/>
          </p:nvPr>
        </p:nvSpPr>
        <p:spPr/>
        <p:txBody>
          <a:bodyPr/>
          <a:lstStyle/>
          <a:p>
            <a:r>
              <a:rPr lang="en-US">
                <a:latin typeface="Georgia"/>
              </a:rPr>
              <a:t>Explore what’s new with SVUL Accumulator II</a:t>
            </a:r>
          </a:p>
        </p:txBody>
      </p:sp>
      <p:sp>
        <p:nvSpPr>
          <p:cNvPr id="3" name="Content Placeholder 2">
            <a:extLst>
              <a:ext uri="{FF2B5EF4-FFF2-40B4-BE49-F238E27FC236}">
                <a16:creationId xmlns:a16="http://schemas.microsoft.com/office/drawing/2014/main" id="{EAB7057C-A5B9-0073-7A2A-1A6C632CE082}"/>
              </a:ext>
            </a:extLst>
          </p:cNvPr>
          <p:cNvSpPr>
            <a:spLocks noGrp="1"/>
          </p:cNvSpPr>
          <p:nvPr>
            <p:ph idx="1"/>
          </p:nvPr>
        </p:nvSpPr>
        <p:spPr>
          <a:xfrm>
            <a:off x="439947" y="2509569"/>
            <a:ext cx="7614481" cy="2254043"/>
          </a:xfrm>
        </p:spPr>
        <p:txBody>
          <a:bodyPr/>
          <a:lstStyle/>
          <a:p>
            <a:pPr marL="0" indent="0">
              <a:lnSpc>
                <a:spcPct val="100000"/>
              </a:lnSpc>
              <a:spcBef>
                <a:spcPts val="0"/>
              </a:spcBef>
              <a:spcAft>
                <a:spcPts val="600"/>
              </a:spcAft>
              <a:buNone/>
              <a:tabLst>
                <a:tab pos="4233863" algn="l"/>
              </a:tabLst>
            </a:pPr>
            <a:r>
              <a:rPr lang="en-US" sz="1800"/>
              <a:t>Learn about upcoming SVUL Accumulator II updates and practical ways </a:t>
            </a:r>
            <a:br>
              <a:rPr lang="en-US" sz="1800"/>
            </a:br>
            <a:r>
              <a:rPr lang="en-US" sz="1800"/>
              <a:t>to identify and position opportunities with clients.</a:t>
            </a:r>
          </a:p>
          <a:p>
            <a:pPr>
              <a:lnSpc>
                <a:spcPct val="100000"/>
              </a:lnSpc>
              <a:spcBef>
                <a:spcPts val="0"/>
              </a:spcBef>
              <a:spcAft>
                <a:spcPts val="300"/>
              </a:spcAft>
              <a:tabLst>
                <a:tab pos="4233863" algn="l"/>
              </a:tabLst>
            </a:pPr>
            <a:r>
              <a:rPr lang="en-US" sz="1800"/>
              <a:t>Overview of SVUL updates</a:t>
            </a:r>
          </a:p>
          <a:p>
            <a:pPr>
              <a:lnSpc>
                <a:spcPct val="100000"/>
              </a:lnSpc>
              <a:spcBef>
                <a:spcPts val="0"/>
              </a:spcBef>
              <a:spcAft>
                <a:spcPts val="300"/>
              </a:spcAft>
              <a:tabLst>
                <a:tab pos="4233863" algn="l"/>
              </a:tabLst>
            </a:pPr>
            <a:r>
              <a:rPr lang="en-US" sz="1800"/>
              <a:t>Introduction to the Extended No Lapse Guarantee Rider</a:t>
            </a:r>
          </a:p>
          <a:p>
            <a:pPr>
              <a:lnSpc>
                <a:spcPct val="100000"/>
              </a:lnSpc>
              <a:spcBef>
                <a:spcPts val="0"/>
              </a:spcBef>
              <a:spcAft>
                <a:spcPts val="300"/>
              </a:spcAft>
              <a:tabLst>
                <a:tab pos="4233863" algn="l"/>
              </a:tabLst>
            </a:pPr>
            <a:r>
              <a:rPr lang="en-US" sz="1800"/>
              <a:t>Suitability Assist AI chatbot</a:t>
            </a:r>
          </a:p>
          <a:p>
            <a:pPr>
              <a:lnSpc>
                <a:spcPct val="100000"/>
              </a:lnSpc>
              <a:spcBef>
                <a:spcPts val="0"/>
              </a:spcBef>
              <a:spcAft>
                <a:spcPts val="300"/>
              </a:spcAft>
              <a:tabLst>
                <a:tab pos="4233863" algn="l"/>
              </a:tabLst>
            </a:pPr>
            <a:r>
              <a:rPr lang="en-US" sz="1800"/>
              <a:t>Latest </a:t>
            </a:r>
            <a:r>
              <a:rPr lang="en-US" sz="1800" err="1"/>
              <a:t>ClientMine</a:t>
            </a:r>
            <a:r>
              <a:rPr lang="en-US" sz="1800"/>
              <a:t> enhancements</a:t>
            </a:r>
          </a:p>
          <a:p>
            <a:pPr>
              <a:lnSpc>
                <a:spcPct val="100000"/>
              </a:lnSpc>
              <a:spcBef>
                <a:spcPts val="0"/>
              </a:spcBef>
              <a:spcAft>
                <a:spcPts val="300"/>
              </a:spcAft>
              <a:tabLst>
                <a:tab pos="4233863" algn="l"/>
              </a:tabLst>
            </a:pPr>
            <a:r>
              <a:rPr lang="en-US" sz="1800"/>
              <a:t>Hosted by </a:t>
            </a:r>
            <a:r>
              <a:rPr lang="en-US" sz="1800" b="1"/>
              <a:t>Palmer Stokes</a:t>
            </a:r>
            <a:r>
              <a:rPr lang="en-US" sz="1800"/>
              <a:t>, Variable Universal Life Solutions Consultant</a:t>
            </a:r>
          </a:p>
        </p:txBody>
      </p:sp>
      <p:sp>
        <p:nvSpPr>
          <p:cNvPr id="4" name="Text Placeholder 3">
            <a:extLst>
              <a:ext uri="{FF2B5EF4-FFF2-40B4-BE49-F238E27FC236}">
                <a16:creationId xmlns:a16="http://schemas.microsoft.com/office/drawing/2014/main" id="{22563939-052F-FD80-5D9A-7025A36F3B73}"/>
              </a:ext>
            </a:extLst>
          </p:cNvPr>
          <p:cNvSpPr>
            <a:spLocks noGrp="1"/>
          </p:cNvSpPr>
          <p:nvPr>
            <p:ph type="body" sz="quarter" idx="12"/>
          </p:nvPr>
        </p:nvSpPr>
        <p:spPr/>
        <p:txBody>
          <a:bodyPr/>
          <a:lstStyle/>
          <a:p>
            <a:r>
              <a:rPr lang="en-US" sz="2200"/>
              <a:t>A national PLAN webinar focused on new riders and new opportunities</a:t>
            </a:r>
          </a:p>
        </p:txBody>
      </p:sp>
      <p:sp>
        <p:nvSpPr>
          <p:cNvPr id="12" name="Isosceles Triangle 11">
            <a:extLst>
              <a:ext uri="{FF2B5EF4-FFF2-40B4-BE49-F238E27FC236}">
                <a16:creationId xmlns:a16="http://schemas.microsoft.com/office/drawing/2014/main" id="{EA46D9B2-51EB-2FC5-F76C-EEB03E5BC3B0}"/>
              </a:ext>
            </a:extLst>
          </p:cNvPr>
          <p:cNvSpPr/>
          <p:nvPr/>
        </p:nvSpPr>
        <p:spPr bwMode="ltGray">
          <a:xfrm rot="5400000">
            <a:off x="6449368" y="5251917"/>
            <a:ext cx="285220" cy="236032"/>
          </a:xfrm>
          <a:prstGeom prst="triangle">
            <a:avLst/>
          </a:prstGeom>
          <a:solidFill>
            <a:srgbClr val="000A62"/>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6" name="Rectangle 5">
            <a:extLst>
              <a:ext uri="{FF2B5EF4-FFF2-40B4-BE49-F238E27FC236}">
                <a16:creationId xmlns:a16="http://schemas.microsoft.com/office/drawing/2014/main" id="{901A5A26-3D86-FC70-6B26-D2F77686FC19}"/>
              </a:ext>
            </a:extLst>
          </p:cNvPr>
          <p:cNvSpPr/>
          <p:nvPr/>
        </p:nvSpPr>
        <p:spPr bwMode="ltGray">
          <a:xfrm>
            <a:off x="439947" y="1535039"/>
            <a:ext cx="7621852" cy="840171"/>
          </a:xfrm>
          <a:prstGeom prst="rect">
            <a:avLst/>
          </a:prstGeom>
          <a:solidFill>
            <a:schemeClr val="accent2"/>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pic>
        <p:nvPicPr>
          <p:cNvPr id="9" name="Picture 8">
            <a:extLst>
              <a:ext uri="{FF2B5EF4-FFF2-40B4-BE49-F238E27FC236}">
                <a16:creationId xmlns:a16="http://schemas.microsoft.com/office/drawing/2014/main" id="{6FDDC1B6-CF18-814C-9CEE-6AC7C92BD02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9059" y="1700896"/>
            <a:ext cx="508694" cy="508456"/>
          </a:xfrm>
          <a:prstGeom prst="rect">
            <a:avLst/>
          </a:prstGeom>
        </p:spPr>
      </p:pic>
      <p:sp>
        <p:nvSpPr>
          <p:cNvPr id="10" name="TextBox 9">
            <a:extLst>
              <a:ext uri="{FF2B5EF4-FFF2-40B4-BE49-F238E27FC236}">
                <a16:creationId xmlns:a16="http://schemas.microsoft.com/office/drawing/2014/main" id="{11504613-C0D0-CB4F-DAD3-F381F5723493}"/>
              </a:ext>
            </a:extLst>
          </p:cNvPr>
          <p:cNvSpPr txBox="1"/>
          <p:nvPr/>
        </p:nvSpPr>
        <p:spPr>
          <a:xfrm>
            <a:off x="1495186" y="1678125"/>
            <a:ext cx="3899788" cy="55399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Date: </a:t>
            </a:r>
            <a:r>
              <a:rPr kumimoji="0" lang="en-US" sz="1800" b="0" i="0" u="none" strike="noStrike" kern="1200" cap="none" spc="0" normalizeH="0" baseline="0" noProof="0">
                <a:ln>
                  <a:noFill/>
                </a:ln>
                <a:solidFill>
                  <a:srgbClr val="FFFFFF"/>
                </a:solidFill>
                <a:effectLst/>
                <a:uLnTx/>
                <a:uFillTx/>
                <a:latin typeface="Arial"/>
                <a:ea typeface="+mn-ea"/>
                <a:cs typeface="+mn-cs"/>
              </a:rPr>
              <a:t>Wednesday, August 5, 2026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Time: </a:t>
            </a:r>
            <a:r>
              <a:rPr kumimoji="0" lang="en-US" sz="1800" b="0" i="0" u="none" strike="noStrike" kern="1200" cap="none" spc="0" normalizeH="0" baseline="0" noProof="0">
                <a:ln>
                  <a:noFill/>
                </a:ln>
                <a:solidFill>
                  <a:srgbClr val="FFFFFF"/>
                </a:solidFill>
                <a:effectLst/>
                <a:uLnTx/>
                <a:uFillTx/>
                <a:latin typeface="Arial"/>
                <a:ea typeface="+mn-ea"/>
                <a:cs typeface="+mn-cs"/>
              </a:rPr>
              <a:t>2:00–3:00 p.m. ET*</a:t>
            </a:r>
            <a:endParaRPr kumimoji="0" lang="en-US" sz="1800" b="0" i="0" u="none" strike="noStrike" kern="1200" cap="none" spc="0" normalizeH="0" baseline="30000" noProof="0">
              <a:ln>
                <a:noFill/>
              </a:ln>
              <a:solidFill>
                <a:srgbClr val="FFFFFF"/>
              </a:solidFill>
              <a:effectLst/>
              <a:uLnTx/>
              <a:uFillTx/>
              <a:latin typeface="Arial"/>
              <a:ea typeface="+mn-ea"/>
              <a:cs typeface="+mn-cs"/>
            </a:endParaRPr>
          </a:p>
        </p:txBody>
      </p:sp>
      <p:sp>
        <p:nvSpPr>
          <p:cNvPr id="14" name="TextBox 13">
            <a:extLst>
              <a:ext uri="{FF2B5EF4-FFF2-40B4-BE49-F238E27FC236}">
                <a16:creationId xmlns:a16="http://schemas.microsoft.com/office/drawing/2014/main" id="{05AFE435-B12B-1F6F-C38C-CAEF96573430}"/>
              </a:ext>
            </a:extLst>
          </p:cNvPr>
          <p:cNvSpPr txBox="1"/>
          <p:nvPr/>
        </p:nvSpPr>
        <p:spPr>
          <a:xfrm>
            <a:off x="2934712" y="6330088"/>
            <a:ext cx="6097656" cy="183320"/>
          </a:xfrm>
          <a:prstGeom prst="rect">
            <a:avLst/>
          </a:prstGeom>
          <a:noFill/>
        </p:spPr>
        <p:txBody>
          <a:bodyPr wrap="square" lIns="0" tIns="0" rIns="0" bIns="0">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200" b="0" i="0" u="none" strike="noStrike" kern="1200" cap="none" spc="0" normalizeH="0" baseline="0" noProof="0">
                <a:ln>
                  <a:noFill/>
                </a:ln>
                <a:solidFill>
                  <a:srgbClr val="000962"/>
                </a:solidFill>
                <a:effectLst/>
                <a:uLnTx/>
                <a:uFillTx/>
                <a:latin typeface="Arial" panose="020B0604020202020204" pitchFamily="34" charset="0"/>
                <a:ea typeface="Aptos" panose="020B0004020202020204" pitchFamily="34" charset="0"/>
                <a:cs typeface="Arial" panose="020B0604020202020204" pitchFamily="34" charset="0"/>
              </a:rPr>
              <a:t>*1 p.m. CT, 12 p.m. MT, 11 a.m. PT, 10 a.m. Alaska, 8 a.m. Hawaii</a:t>
            </a:r>
          </a:p>
        </p:txBody>
      </p:sp>
      <p:pic>
        <p:nvPicPr>
          <p:cNvPr id="20" name="Picture 19">
            <a:extLst>
              <a:ext uri="{FF2B5EF4-FFF2-40B4-BE49-F238E27FC236}">
                <a16:creationId xmlns:a16="http://schemas.microsoft.com/office/drawing/2014/main" id="{36748A09-5135-3040-0DAD-3A705F703A3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6951640" y="4801969"/>
            <a:ext cx="1102787" cy="1102787"/>
          </a:xfrm>
          <a:prstGeom prst="rect">
            <a:avLst/>
          </a:prstGeom>
        </p:spPr>
      </p:pic>
      <p:pic>
        <p:nvPicPr>
          <p:cNvPr id="26" name="Picture 25">
            <a:extLst>
              <a:ext uri="{FF2B5EF4-FFF2-40B4-BE49-F238E27FC236}">
                <a16:creationId xmlns:a16="http://schemas.microsoft.com/office/drawing/2014/main" id="{1546BE2E-F73E-8D37-336D-9298A6441C58}"/>
              </a:ext>
            </a:extLst>
          </p:cNvPr>
          <p:cNvPicPr>
            <a:picLocks noChangeAspect="1"/>
          </p:cNvPicPr>
          <p:nvPr/>
        </p:nvPicPr>
        <p:blipFill>
          <a:blip r:embed="rId5">
            <a:extLst>
              <a:ext uri="{28A0092B-C50C-407E-A947-70E740481C1C}">
                <a14:useLocalDpi xmlns:a14="http://schemas.microsoft.com/office/drawing/2010/main" val="0"/>
              </a:ext>
            </a:extLst>
          </a:blip>
          <a:srcRect l="3775" t="8067" r="8316" b="4024"/>
          <a:stretch>
            <a:fillRect/>
          </a:stretch>
        </p:blipFill>
        <p:spPr>
          <a:xfrm>
            <a:off x="8745609" y="2054351"/>
            <a:ext cx="2755211" cy="2755211"/>
          </a:xfrm>
          <a:prstGeom prst="rect">
            <a:avLst/>
          </a:prstGeom>
        </p:spPr>
      </p:pic>
      <p:sp>
        <p:nvSpPr>
          <p:cNvPr id="18" name="TextBox 17">
            <a:extLst>
              <a:ext uri="{FF2B5EF4-FFF2-40B4-BE49-F238E27FC236}">
                <a16:creationId xmlns:a16="http://schemas.microsoft.com/office/drawing/2014/main" id="{416FC872-E1D5-F97D-CEC6-1567FF8ED084}"/>
              </a:ext>
            </a:extLst>
          </p:cNvPr>
          <p:cNvSpPr txBox="1"/>
          <p:nvPr/>
        </p:nvSpPr>
        <p:spPr>
          <a:xfrm>
            <a:off x="8506686" y="1525484"/>
            <a:ext cx="3233056" cy="430887"/>
          </a:xfrm>
          <a:prstGeom prst="rect">
            <a:avLst/>
          </a:prstGeom>
          <a:solidFill>
            <a:schemeClr val="tx1"/>
          </a:solidFill>
        </p:spPr>
        <p:txBody>
          <a:bodyPr wrap="square" lIns="182880" tIns="91440" rIns="91440" bIns="9144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a:ln>
                  <a:noFill/>
                </a:ln>
                <a:solidFill>
                  <a:srgbClr val="FFFFFF"/>
                </a:solidFill>
                <a:effectLst/>
                <a:uLnTx/>
                <a:uFillTx/>
                <a:latin typeface="Arial"/>
                <a:ea typeface="+mn-ea"/>
                <a:cs typeface="+mn-cs"/>
              </a:rPr>
              <a:t>Featured speaker</a:t>
            </a:r>
          </a:p>
        </p:txBody>
      </p:sp>
    </p:spTree>
    <p:extLst>
      <p:ext uri="{BB962C8B-B14F-4D97-AF65-F5344CB8AC3E}">
        <p14:creationId xmlns:p14="http://schemas.microsoft.com/office/powerpoint/2010/main" val="650956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02C53-2416-F0D1-9751-C305C44EC9E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98819D7-7C94-63D1-A121-49F08528F74D}"/>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7" name="Rectangle 6">
            <a:extLst>
              <a:ext uri="{FF2B5EF4-FFF2-40B4-BE49-F238E27FC236}">
                <a16:creationId xmlns:a16="http://schemas.microsoft.com/office/drawing/2014/main" id="{7E700C76-BED6-DC9E-14DA-4E47ADD4BE92}"/>
              </a:ext>
            </a:extLst>
          </p:cNvPr>
          <p:cNvSpPr/>
          <p:nvPr/>
        </p:nvSpPr>
        <p:spPr bwMode="ltGray">
          <a:xfrm>
            <a:off x="439945" y="4808884"/>
            <a:ext cx="7742762" cy="1092307"/>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13" name="TextBox 12">
            <a:extLst>
              <a:ext uri="{FF2B5EF4-FFF2-40B4-BE49-F238E27FC236}">
                <a16:creationId xmlns:a16="http://schemas.microsoft.com/office/drawing/2014/main" id="{7EF64835-5C13-8C73-2ED8-114DF484C3BC}"/>
              </a:ext>
            </a:extLst>
          </p:cNvPr>
          <p:cNvSpPr txBox="1"/>
          <p:nvPr/>
        </p:nvSpPr>
        <p:spPr>
          <a:xfrm>
            <a:off x="673643" y="5031872"/>
            <a:ext cx="5924782" cy="64633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965"/>
                </a:solidFill>
                <a:effectLst/>
                <a:uLnTx/>
                <a:uFillTx/>
                <a:latin typeface="Arial"/>
                <a:ea typeface="+mn-ea"/>
                <a:cs typeface="+mn-cs"/>
              </a:rPr>
              <a:t>Register today - </a:t>
            </a:r>
            <a:r>
              <a:rPr kumimoji="0" lang="en-US" sz="1400" b="0" i="0" u="none" strike="noStrike" kern="1200" cap="none" spc="0" normalizeH="0" baseline="0" noProof="0">
                <a:ln>
                  <a:noFill/>
                </a:ln>
                <a:solidFill>
                  <a:srgbClr val="000965"/>
                </a:solidFill>
                <a:effectLst/>
                <a:uLnTx/>
                <a:uFillTx/>
                <a:latin typeface="Arial"/>
                <a:ea typeface="+mn-ea"/>
                <a:cs typeface="+mn-cs"/>
              </a:rPr>
              <a:t>Scan the QR code to reserve your spot for this exclusive session with </a:t>
            </a:r>
            <a:r>
              <a:rPr kumimoji="0" lang="en-US" sz="1400" b="1" i="0" u="none" strike="noStrike" kern="1200" cap="none" spc="0" normalizeH="0" baseline="0" noProof="0">
                <a:ln>
                  <a:noFill/>
                </a:ln>
                <a:solidFill>
                  <a:srgbClr val="000965"/>
                </a:solidFill>
                <a:effectLst/>
                <a:uLnTx/>
                <a:uFillTx/>
                <a:latin typeface="Arial"/>
                <a:ea typeface="+mn-ea"/>
                <a:cs typeface="+mn-cs"/>
              </a:rPr>
              <a:t>Bobby Samuelson</a:t>
            </a:r>
            <a:r>
              <a:rPr kumimoji="0" lang="en-US" sz="1400" b="0" i="0" u="none" strike="noStrike" kern="1200" cap="none" spc="0" normalizeH="0" baseline="0" noProof="0">
                <a:ln>
                  <a:noFill/>
                </a:ln>
                <a:solidFill>
                  <a:srgbClr val="000965"/>
                </a:solidFill>
                <a:effectLst/>
                <a:uLnTx/>
                <a:uFillTx/>
                <a:latin typeface="Arial"/>
                <a:ea typeface="+mn-ea"/>
                <a:cs typeface="+mn-cs"/>
              </a:rPr>
              <a:t>. Gain practical insights into life insurance product design to support more informed client conversations.</a:t>
            </a:r>
            <a:endParaRPr kumimoji="0" lang="en-US" sz="1400" b="0" i="0" u="none" strike="noStrike" kern="1200" cap="none" spc="0" normalizeH="0" baseline="0" noProof="0">
              <a:ln>
                <a:noFill/>
              </a:ln>
              <a:solidFill>
                <a:srgbClr val="7FB9FF"/>
              </a:solidFill>
              <a:effectLst/>
              <a:uLnTx/>
              <a:uFillTx/>
              <a:latin typeface="Arial"/>
              <a:ea typeface="+mn-ea"/>
              <a:cs typeface="+mn-cs"/>
            </a:endParaRPr>
          </a:p>
        </p:txBody>
      </p:sp>
      <p:sp>
        <p:nvSpPr>
          <p:cNvPr id="17" name="Rectangle 16">
            <a:extLst>
              <a:ext uri="{FF2B5EF4-FFF2-40B4-BE49-F238E27FC236}">
                <a16:creationId xmlns:a16="http://schemas.microsoft.com/office/drawing/2014/main" id="{89E42875-5BCC-7266-AA02-476F32E1C456}"/>
              </a:ext>
            </a:extLst>
          </p:cNvPr>
          <p:cNvSpPr/>
          <p:nvPr/>
        </p:nvSpPr>
        <p:spPr>
          <a:xfrm>
            <a:off x="8384997" y="1532300"/>
            <a:ext cx="3354745" cy="4372457"/>
          </a:xfrm>
          <a:prstGeom prst="rect">
            <a:avLst/>
          </a:prstGeom>
          <a:solidFill>
            <a:srgbClr val="000A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itle 1">
            <a:extLst>
              <a:ext uri="{FF2B5EF4-FFF2-40B4-BE49-F238E27FC236}">
                <a16:creationId xmlns:a16="http://schemas.microsoft.com/office/drawing/2014/main" id="{CD3635A0-2C5E-E3A4-CEDC-0DEA85350B25}"/>
              </a:ext>
            </a:extLst>
          </p:cNvPr>
          <p:cNvSpPr>
            <a:spLocks noGrp="1"/>
          </p:cNvSpPr>
          <p:nvPr>
            <p:ph type="title"/>
          </p:nvPr>
        </p:nvSpPr>
        <p:spPr/>
        <p:txBody>
          <a:bodyPr/>
          <a:lstStyle/>
          <a:p>
            <a:r>
              <a:rPr lang="en-US">
                <a:latin typeface="Georgia"/>
              </a:rPr>
              <a:t>Back by popular demand: Bobby Samuelson</a:t>
            </a:r>
          </a:p>
        </p:txBody>
      </p:sp>
      <p:sp>
        <p:nvSpPr>
          <p:cNvPr id="3" name="Content Placeholder 2">
            <a:extLst>
              <a:ext uri="{FF2B5EF4-FFF2-40B4-BE49-F238E27FC236}">
                <a16:creationId xmlns:a16="http://schemas.microsoft.com/office/drawing/2014/main" id="{0A67D7B8-7146-05E7-9D8A-D62168FE3604}"/>
              </a:ext>
            </a:extLst>
          </p:cNvPr>
          <p:cNvSpPr>
            <a:spLocks noGrp="1"/>
          </p:cNvSpPr>
          <p:nvPr>
            <p:ph idx="1"/>
          </p:nvPr>
        </p:nvSpPr>
        <p:spPr>
          <a:xfrm>
            <a:off x="439946" y="2347829"/>
            <a:ext cx="7853405" cy="2457489"/>
          </a:xfrm>
        </p:spPr>
        <p:txBody>
          <a:bodyPr/>
          <a:lstStyle/>
          <a:p>
            <a:pPr marL="0" indent="0">
              <a:lnSpc>
                <a:spcPct val="100000"/>
              </a:lnSpc>
              <a:spcBef>
                <a:spcPts val="0"/>
              </a:spcBef>
              <a:spcAft>
                <a:spcPts val="1200"/>
              </a:spcAft>
              <a:buNone/>
              <a:tabLst>
                <a:tab pos="4233863" algn="l"/>
              </a:tabLst>
            </a:pPr>
            <a:r>
              <a:rPr lang="en-US" sz="2200">
                <a:solidFill>
                  <a:srgbClr val="000A62"/>
                </a:solidFill>
                <a:latin typeface="+mj-lt"/>
              </a:rPr>
              <a:t>Age &amp; Stage Planning: Elevate Your Practice with Purpose</a:t>
            </a:r>
            <a:endParaRPr lang="en-US" sz="2200">
              <a:solidFill>
                <a:srgbClr val="FF0000"/>
              </a:solidFill>
              <a:latin typeface="+mj-lt"/>
            </a:endParaRPr>
          </a:p>
          <a:p>
            <a:pPr marL="0" indent="0">
              <a:lnSpc>
                <a:spcPct val="100000"/>
              </a:lnSpc>
              <a:spcBef>
                <a:spcPts val="0"/>
              </a:spcBef>
              <a:spcAft>
                <a:spcPts val="600"/>
              </a:spcAft>
              <a:buNone/>
              <a:tabLst>
                <a:tab pos="4233863" algn="l"/>
              </a:tabLst>
            </a:pPr>
            <a:r>
              <a:rPr lang="en-US" sz="1800"/>
              <a:t>Join </a:t>
            </a:r>
            <a:r>
              <a:rPr lang="en-US" sz="1800" b="1"/>
              <a:t>Bobby Samuelson </a:t>
            </a:r>
            <a:r>
              <a:rPr lang="en-US" sz="1800"/>
              <a:t>for an insightful discussion on how insurance solutions can enhance a holistic approach to your clients' financial strategy.</a:t>
            </a:r>
          </a:p>
          <a:p>
            <a:pPr>
              <a:lnSpc>
                <a:spcPct val="100000"/>
              </a:lnSpc>
              <a:spcBef>
                <a:spcPts val="0"/>
              </a:spcBef>
              <a:spcAft>
                <a:spcPts val="400"/>
              </a:spcAft>
              <a:tabLst>
                <a:tab pos="4233863" algn="l"/>
              </a:tabLst>
            </a:pPr>
            <a:r>
              <a:rPr lang="en-US" sz="1800"/>
              <a:t>Understand the value behind different solutions – not just their price. </a:t>
            </a:r>
          </a:p>
          <a:p>
            <a:pPr>
              <a:lnSpc>
                <a:spcPct val="100000"/>
              </a:lnSpc>
              <a:spcBef>
                <a:spcPts val="0"/>
              </a:spcBef>
              <a:spcAft>
                <a:spcPts val="400"/>
              </a:spcAft>
              <a:tabLst>
                <a:tab pos="4233863" algn="l"/>
              </a:tabLst>
            </a:pPr>
            <a:r>
              <a:rPr lang="en-US" sz="1800"/>
              <a:t>Learn how to connect insurance recommendations to broader goals. </a:t>
            </a:r>
          </a:p>
          <a:p>
            <a:pPr>
              <a:lnSpc>
                <a:spcPct val="100000"/>
              </a:lnSpc>
              <a:spcBef>
                <a:spcPts val="0"/>
              </a:spcBef>
              <a:spcAft>
                <a:spcPts val="400"/>
              </a:spcAft>
              <a:tabLst>
                <a:tab pos="4233863" algn="l"/>
              </a:tabLst>
            </a:pPr>
            <a:r>
              <a:rPr lang="en-US" sz="1800"/>
              <a:t>Empower clients through thoughtful, planning-centered conversations. </a:t>
            </a:r>
          </a:p>
        </p:txBody>
      </p:sp>
      <p:sp>
        <p:nvSpPr>
          <p:cNvPr id="4" name="Text Placeholder 3">
            <a:extLst>
              <a:ext uri="{FF2B5EF4-FFF2-40B4-BE49-F238E27FC236}">
                <a16:creationId xmlns:a16="http://schemas.microsoft.com/office/drawing/2014/main" id="{51A374B3-F224-3F18-F551-3487797D1EC5}"/>
              </a:ext>
            </a:extLst>
          </p:cNvPr>
          <p:cNvSpPr>
            <a:spLocks noGrp="1"/>
          </p:cNvSpPr>
          <p:nvPr>
            <p:ph type="body" sz="quarter" idx="12"/>
          </p:nvPr>
        </p:nvSpPr>
        <p:spPr/>
        <p:txBody>
          <a:bodyPr/>
          <a:lstStyle/>
          <a:p>
            <a:r>
              <a:rPr lang="en-US" sz="2200"/>
              <a:t>Take a deeper look at how insurance solutions support a holistic financial strategy</a:t>
            </a:r>
          </a:p>
        </p:txBody>
      </p:sp>
      <p:sp>
        <p:nvSpPr>
          <p:cNvPr id="12" name="Isosceles Triangle 11">
            <a:extLst>
              <a:ext uri="{FF2B5EF4-FFF2-40B4-BE49-F238E27FC236}">
                <a16:creationId xmlns:a16="http://schemas.microsoft.com/office/drawing/2014/main" id="{2B9B7CBA-082C-FA2B-CBC2-292F6996C3DC}"/>
              </a:ext>
            </a:extLst>
          </p:cNvPr>
          <p:cNvSpPr/>
          <p:nvPr/>
        </p:nvSpPr>
        <p:spPr bwMode="ltGray">
          <a:xfrm rot="5400000">
            <a:off x="6660834" y="5237021"/>
            <a:ext cx="285220" cy="236032"/>
          </a:xfrm>
          <a:prstGeom prst="triangle">
            <a:avLst/>
          </a:prstGeom>
          <a:solidFill>
            <a:srgbClr val="000A62"/>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6" name="Rectangle 5">
            <a:extLst>
              <a:ext uri="{FF2B5EF4-FFF2-40B4-BE49-F238E27FC236}">
                <a16:creationId xmlns:a16="http://schemas.microsoft.com/office/drawing/2014/main" id="{03EE29B2-CBD2-BE68-B7FF-F9A119B41ADE}"/>
              </a:ext>
            </a:extLst>
          </p:cNvPr>
          <p:cNvSpPr/>
          <p:nvPr/>
        </p:nvSpPr>
        <p:spPr bwMode="ltGray">
          <a:xfrm>
            <a:off x="439946" y="1525485"/>
            <a:ext cx="7742762" cy="633918"/>
          </a:xfrm>
          <a:prstGeom prst="rect">
            <a:avLst/>
          </a:prstGeom>
          <a:solidFill>
            <a:schemeClr val="accent2"/>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pic>
        <p:nvPicPr>
          <p:cNvPr id="9" name="Picture 8">
            <a:extLst>
              <a:ext uri="{FF2B5EF4-FFF2-40B4-BE49-F238E27FC236}">
                <a16:creationId xmlns:a16="http://schemas.microsoft.com/office/drawing/2014/main" id="{92912D44-B0B9-4DC4-3256-4C7D7DF6FAF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9058" y="1588216"/>
            <a:ext cx="508694" cy="508456"/>
          </a:xfrm>
          <a:prstGeom prst="rect">
            <a:avLst/>
          </a:prstGeom>
        </p:spPr>
      </p:pic>
      <p:sp>
        <p:nvSpPr>
          <p:cNvPr id="10" name="TextBox 9">
            <a:extLst>
              <a:ext uri="{FF2B5EF4-FFF2-40B4-BE49-F238E27FC236}">
                <a16:creationId xmlns:a16="http://schemas.microsoft.com/office/drawing/2014/main" id="{9CC77E10-0BBC-F2E4-A62A-31AEF5E01C0B}"/>
              </a:ext>
            </a:extLst>
          </p:cNvPr>
          <p:cNvSpPr txBox="1"/>
          <p:nvPr/>
        </p:nvSpPr>
        <p:spPr>
          <a:xfrm>
            <a:off x="1495184" y="1703945"/>
            <a:ext cx="6460939" cy="276999"/>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Date: </a:t>
            </a:r>
            <a:r>
              <a:rPr kumimoji="0" lang="en-US" sz="1800" b="0" i="0" u="none" strike="noStrike" kern="1200" cap="none" spc="0" normalizeH="0" baseline="0" noProof="0">
                <a:ln>
                  <a:noFill/>
                </a:ln>
                <a:solidFill>
                  <a:srgbClr val="FFFFFF"/>
                </a:solidFill>
                <a:effectLst/>
                <a:uLnTx/>
                <a:uFillTx/>
                <a:latin typeface="Arial"/>
                <a:ea typeface="+mn-ea"/>
                <a:cs typeface="+mn-cs"/>
              </a:rPr>
              <a:t>Thursday, August 6, 2026  |  </a:t>
            </a:r>
            <a:r>
              <a:rPr kumimoji="0" lang="en-US" sz="1800" b="1" i="0" u="none" strike="noStrike" kern="1200" cap="none" spc="0" normalizeH="0" baseline="0" noProof="0">
                <a:ln>
                  <a:noFill/>
                </a:ln>
                <a:solidFill>
                  <a:srgbClr val="FFFFFF"/>
                </a:solidFill>
                <a:effectLst/>
                <a:uLnTx/>
                <a:uFillTx/>
                <a:latin typeface="Arial"/>
                <a:ea typeface="+mn-ea"/>
                <a:cs typeface="+mn-cs"/>
              </a:rPr>
              <a:t>Time: </a:t>
            </a:r>
            <a:r>
              <a:rPr kumimoji="0" lang="en-US" sz="1800" b="0" i="0" u="none" strike="noStrike" kern="1200" cap="none" spc="0" normalizeH="0" baseline="0" noProof="0">
                <a:ln>
                  <a:noFill/>
                </a:ln>
                <a:solidFill>
                  <a:srgbClr val="FFFFFF"/>
                </a:solidFill>
                <a:effectLst/>
                <a:uLnTx/>
                <a:uFillTx/>
                <a:latin typeface="Arial"/>
                <a:ea typeface="+mn-ea"/>
                <a:cs typeface="+mn-cs"/>
              </a:rPr>
              <a:t>2:00 p.m. ET*</a:t>
            </a:r>
            <a:endParaRPr kumimoji="0" lang="en-US" sz="1800" b="0" i="0" u="none" strike="noStrike" kern="1200" cap="none" spc="0" normalizeH="0" baseline="30000" noProof="0">
              <a:ln>
                <a:noFill/>
              </a:ln>
              <a:solidFill>
                <a:srgbClr val="FFFFFF"/>
              </a:solidFill>
              <a:effectLst/>
              <a:uLnTx/>
              <a:uFillTx/>
              <a:latin typeface="Arial"/>
              <a:ea typeface="+mn-ea"/>
              <a:cs typeface="+mn-cs"/>
            </a:endParaRPr>
          </a:p>
        </p:txBody>
      </p:sp>
      <p:sp>
        <p:nvSpPr>
          <p:cNvPr id="14" name="TextBox 13">
            <a:extLst>
              <a:ext uri="{FF2B5EF4-FFF2-40B4-BE49-F238E27FC236}">
                <a16:creationId xmlns:a16="http://schemas.microsoft.com/office/drawing/2014/main" id="{5A8B7A99-DC25-3F29-FD5D-3CDD5BD12FFE}"/>
              </a:ext>
            </a:extLst>
          </p:cNvPr>
          <p:cNvSpPr txBox="1"/>
          <p:nvPr/>
        </p:nvSpPr>
        <p:spPr>
          <a:xfrm>
            <a:off x="2934712" y="6330088"/>
            <a:ext cx="6097656" cy="183320"/>
          </a:xfrm>
          <a:prstGeom prst="rect">
            <a:avLst/>
          </a:prstGeom>
          <a:noFill/>
        </p:spPr>
        <p:txBody>
          <a:bodyPr wrap="square" lIns="0" tIns="0" rIns="0" bIns="0">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200" b="0" i="0" u="none" strike="noStrike" kern="1200" cap="none" spc="0" normalizeH="0" baseline="0" noProof="0">
                <a:ln>
                  <a:noFill/>
                </a:ln>
                <a:solidFill>
                  <a:srgbClr val="000962"/>
                </a:solidFill>
                <a:effectLst/>
                <a:uLnTx/>
                <a:uFillTx/>
                <a:latin typeface="Arial" panose="020B0604020202020204" pitchFamily="34" charset="0"/>
                <a:ea typeface="Aptos" panose="020B0004020202020204" pitchFamily="34" charset="0"/>
                <a:cs typeface="Arial" panose="020B0604020202020204" pitchFamily="34" charset="0"/>
              </a:rPr>
              <a:t>*1 p.m. CT | 12 p.m. MT | 11 a.m. PT10 a.m. Alaska | 8 a.m. Hawaii</a:t>
            </a:r>
          </a:p>
        </p:txBody>
      </p:sp>
      <p:sp>
        <p:nvSpPr>
          <p:cNvPr id="25" name="TextBox 24">
            <a:extLst>
              <a:ext uri="{FF2B5EF4-FFF2-40B4-BE49-F238E27FC236}">
                <a16:creationId xmlns:a16="http://schemas.microsoft.com/office/drawing/2014/main" id="{D7465513-99E8-75B6-DABA-4518319487DB}"/>
              </a:ext>
            </a:extLst>
          </p:cNvPr>
          <p:cNvSpPr txBox="1"/>
          <p:nvPr/>
        </p:nvSpPr>
        <p:spPr>
          <a:xfrm>
            <a:off x="8384998" y="5216354"/>
            <a:ext cx="3349802" cy="584775"/>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a:ea typeface="+mn-ea"/>
                <a:cs typeface="+mn-cs"/>
              </a:rPr>
              <a:t>Bobby Samuelson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Editor, </a:t>
            </a:r>
            <a:r>
              <a:rPr kumimoji="0" lang="en-US" sz="1200" b="0" i="1" u="none" strike="noStrike" kern="1200" cap="none" spc="0" normalizeH="0" baseline="0" noProof="0">
                <a:ln>
                  <a:noFill/>
                </a:ln>
                <a:solidFill>
                  <a:srgbClr val="FFFFFF"/>
                </a:solidFill>
                <a:effectLst/>
                <a:uLnTx/>
                <a:uFillTx/>
                <a:latin typeface="Arial"/>
                <a:ea typeface="+mn-ea"/>
                <a:cs typeface="+mn-cs"/>
              </a:rPr>
              <a:t>The Life Product Review</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Respected life insurance industry authority</a:t>
            </a:r>
            <a:endParaRPr kumimoji="0" lang="en-IN" sz="1200" b="0" i="0" u="none" strike="noStrike" kern="1200" cap="none" spc="0" normalizeH="0" baseline="0" noProof="0">
              <a:ln>
                <a:noFill/>
              </a:ln>
              <a:solidFill>
                <a:srgbClr val="FFFFFF"/>
              </a:solidFill>
              <a:effectLst/>
              <a:uLnTx/>
              <a:uFillTx/>
              <a:latin typeface="Arial"/>
              <a:ea typeface="+mn-ea"/>
              <a:cs typeface="+mn-cs"/>
            </a:endParaRPr>
          </a:p>
        </p:txBody>
      </p:sp>
      <p:pic>
        <p:nvPicPr>
          <p:cNvPr id="11" name="Picture 10">
            <a:extLst>
              <a:ext uri="{FF2B5EF4-FFF2-40B4-BE49-F238E27FC236}">
                <a16:creationId xmlns:a16="http://schemas.microsoft.com/office/drawing/2014/main" id="{09F3CCD0-1354-E825-91EF-ED16AD105588}"/>
              </a:ext>
            </a:extLst>
          </p:cNvPr>
          <p:cNvPicPr>
            <a:picLocks noChangeAspect="1"/>
          </p:cNvPicPr>
          <p:nvPr/>
        </p:nvPicPr>
        <p:blipFill>
          <a:blip r:embed="rId4">
            <a:extLst>
              <a:ext uri="{28A0092B-C50C-407E-A947-70E740481C1C}">
                <a14:useLocalDpi xmlns:a14="http://schemas.microsoft.com/office/drawing/2010/main" val="0"/>
              </a:ext>
            </a:extLst>
          </a:blip>
          <a:srcRect l="19312" t="5664" r="19108" b="-1581"/>
          <a:stretch>
            <a:fillRect/>
          </a:stretch>
        </p:blipFill>
        <p:spPr>
          <a:xfrm>
            <a:off x="8380056" y="1520244"/>
            <a:ext cx="3354745" cy="3666086"/>
          </a:xfrm>
          <a:prstGeom prst="rect">
            <a:avLst/>
          </a:prstGeom>
        </p:spPr>
      </p:pic>
      <p:pic>
        <p:nvPicPr>
          <p:cNvPr id="16" name="Picture 15">
            <a:extLst>
              <a:ext uri="{FF2B5EF4-FFF2-40B4-BE49-F238E27FC236}">
                <a16:creationId xmlns:a16="http://schemas.microsoft.com/office/drawing/2014/main" id="{7143D700-9050-22C0-8235-AD3773C489D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90399" y="4805318"/>
            <a:ext cx="1092307" cy="1092307"/>
          </a:xfrm>
          <a:prstGeom prst="rect">
            <a:avLst/>
          </a:prstGeom>
        </p:spPr>
      </p:pic>
    </p:spTree>
    <p:extLst>
      <p:ext uri="{BB962C8B-B14F-4D97-AF65-F5344CB8AC3E}">
        <p14:creationId xmlns:p14="http://schemas.microsoft.com/office/powerpoint/2010/main" val="4502892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69241-884B-E753-7B35-07DD1E9AEA0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18B3AEA-D3F3-E746-B82B-78A604324D82}"/>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512A73B9-189D-CFBC-EF39-3DFBE102E8F7}"/>
              </a:ext>
            </a:extLst>
          </p:cNvPr>
          <p:cNvSpPr>
            <a:spLocks noGrp="1"/>
          </p:cNvSpPr>
          <p:nvPr>
            <p:ph type="title"/>
          </p:nvPr>
        </p:nvSpPr>
        <p:spPr/>
        <p:txBody>
          <a:bodyPr/>
          <a:lstStyle/>
          <a:p>
            <a:r>
              <a:rPr lang="en-US">
                <a:latin typeface="Georgia"/>
              </a:rPr>
              <a:t> New Agent Educational call</a:t>
            </a:r>
            <a:endParaRPr lang="en-US">
              <a:solidFill>
                <a:srgbClr val="000000"/>
              </a:solidFill>
              <a:latin typeface="Georgia"/>
            </a:endParaRPr>
          </a:p>
          <a:p>
            <a:endParaRPr lang="en-US"/>
          </a:p>
        </p:txBody>
      </p:sp>
      <p:sp>
        <p:nvSpPr>
          <p:cNvPr id="3" name="Content Placeholder 2">
            <a:extLst>
              <a:ext uri="{FF2B5EF4-FFF2-40B4-BE49-F238E27FC236}">
                <a16:creationId xmlns:a16="http://schemas.microsoft.com/office/drawing/2014/main" id="{DBD8E44E-05F2-3A75-08B5-4322AAF7E193}"/>
              </a:ext>
            </a:extLst>
          </p:cNvPr>
          <p:cNvSpPr>
            <a:spLocks noGrp="1"/>
          </p:cNvSpPr>
          <p:nvPr>
            <p:ph idx="1"/>
          </p:nvPr>
        </p:nvSpPr>
        <p:spPr>
          <a:xfrm>
            <a:off x="457199" y="2638782"/>
            <a:ext cx="6834267" cy="3376307"/>
          </a:xfrm>
        </p:spPr>
        <p:txBody>
          <a:bodyPr/>
          <a:lstStyle/>
          <a:p>
            <a:pPr marL="0" indent="0">
              <a:lnSpc>
                <a:spcPct val="100000"/>
              </a:lnSpc>
              <a:spcBef>
                <a:spcPct val="0"/>
              </a:spcBef>
              <a:spcAft>
                <a:spcPct val="0"/>
              </a:spcAft>
              <a:buNone/>
            </a:pPr>
            <a:endParaRPr lang="en-US" sz="1800">
              <a:latin typeface="Arial"/>
              <a:cs typeface="Arial"/>
            </a:endParaRPr>
          </a:p>
          <a:p>
            <a:pPr marL="285750" indent="-285750">
              <a:lnSpc>
                <a:spcPct val="100000"/>
              </a:lnSpc>
              <a:spcBef>
                <a:spcPct val="0"/>
              </a:spcBef>
              <a:spcAft>
                <a:spcPct val="0"/>
              </a:spcAft>
              <a:buFont typeface="Arial,Sans-Serif"/>
              <a:buChar char="•"/>
            </a:pPr>
            <a:r>
              <a:rPr lang="en-US" sz="1800">
                <a:latin typeface="Arial"/>
                <a:cs typeface="Arial"/>
              </a:rPr>
              <a:t>Gain the confidence to explain each option simply and recommend coverage based on client’s goals, budget, and life stage</a:t>
            </a:r>
            <a:endParaRPr lang="en-US" sz="1800"/>
          </a:p>
          <a:p>
            <a:pPr marL="0" indent="0">
              <a:lnSpc>
                <a:spcPct val="100000"/>
              </a:lnSpc>
              <a:spcBef>
                <a:spcPct val="0"/>
              </a:spcBef>
              <a:spcAft>
                <a:spcPct val="0"/>
              </a:spcAft>
              <a:buNone/>
            </a:pPr>
            <a:endParaRPr lang="en-US" sz="1800"/>
          </a:p>
          <a:p>
            <a:pPr marL="285750" indent="-285750">
              <a:lnSpc>
                <a:spcPct val="100000"/>
              </a:lnSpc>
              <a:spcBef>
                <a:spcPct val="0"/>
              </a:spcBef>
              <a:spcAft>
                <a:spcPct val="0"/>
              </a:spcAft>
              <a:buFont typeface="Arial,Sans-Serif"/>
            </a:pPr>
            <a:r>
              <a:rPr lang="en-US" sz="1800">
                <a:latin typeface="Arial"/>
                <a:cs typeface="Arial"/>
              </a:rPr>
              <a:t>Use real life planning examples to develop more meaningful client-focused conversations</a:t>
            </a:r>
            <a:endParaRPr lang="en-US" sz="1800"/>
          </a:p>
          <a:p>
            <a:pPr marL="0" indent="0">
              <a:buNone/>
            </a:pPr>
            <a:endParaRPr lang="en-US"/>
          </a:p>
          <a:p>
            <a:endParaRPr lang="en-US"/>
          </a:p>
          <a:p>
            <a:pPr marL="0" indent="0">
              <a:buNone/>
            </a:pPr>
            <a:endParaRPr lang="en-US"/>
          </a:p>
          <a:p>
            <a:pPr marL="0" indent="0">
              <a:buNone/>
            </a:pPr>
            <a:endParaRPr lang="en-US"/>
          </a:p>
        </p:txBody>
      </p:sp>
      <p:sp>
        <p:nvSpPr>
          <p:cNvPr id="4" name="Text Placeholder 3">
            <a:extLst>
              <a:ext uri="{FF2B5EF4-FFF2-40B4-BE49-F238E27FC236}">
                <a16:creationId xmlns:a16="http://schemas.microsoft.com/office/drawing/2014/main" id="{E004CB1B-1835-0EDC-4FAA-665A403EB458}"/>
              </a:ext>
            </a:extLst>
          </p:cNvPr>
          <p:cNvSpPr>
            <a:spLocks noGrp="1"/>
          </p:cNvSpPr>
          <p:nvPr>
            <p:ph type="body" sz="quarter" idx="12"/>
          </p:nvPr>
        </p:nvSpPr>
        <p:spPr>
          <a:xfrm>
            <a:off x="439946" y="953242"/>
            <a:ext cx="11294854" cy="496033"/>
          </a:xfrm>
        </p:spPr>
        <p:txBody>
          <a:bodyPr/>
          <a:lstStyle/>
          <a:p>
            <a:r>
              <a:rPr lang="en-US">
                <a:solidFill>
                  <a:srgbClr val="000A62"/>
                </a:solidFill>
              </a:rPr>
              <a:t>Life Insurance 101 – Term, Whole, Blends and Use Cases</a:t>
            </a:r>
            <a:endParaRPr lang="en-US">
              <a:solidFill>
                <a:srgbClr val="000000"/>
              </a:solidFill>
            </a:endParaRPr>
          </a:p>
          <a:p>
            <a:endParaRPr lang="en-US" sz="2200"/>
          </a:p>
        </p:txBody>
      </p:sp>
      <p:sp>
        <p:nvSpPr>
          <p:cNvPr id="7" name="Rectangle 6">
            <a:extLst>
              <a:ext uri="{FF2B5EF4-FFF2-40B4-BE49-F238E27FC236}">
                <a16:creationId xmlns:a16="http://schemas.microsoft.com/office/drawing/2014/main" id="{A5EF9580-222F-FE6D-E438-B61AA0C2AD2B}"/>
              </a:ext>
            </a:extLst>
          </p:cNvPr>
          <p:cNvSpPr/>
          <p:nvPr/>
        </p:nvSpPr>
        <p:spPr bwMode="ltGray">
          <a:xfrm>
            <a:off x="7391395" y="4820094"/>
            <a:ext cx="4343400"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8" name="Rectangle 7">
            <a:extLst>
              <a:ext uri="{FF2B5EF4-FFF2-40B4-BE49-F238E27FC236}">
                <a16:creationId xmlns:a16="http://schemas.microsoft.com/office/drawing/2014/main" id="{C578C4CA-01AF-2325-9462-F0E87EDBA2A0}"/>
              </a:ext>
            </a:extLst>
          </p:cNvPr>
          <p:cNvSpPr/>
          <p:nvPr/>
        </p:nvSpPr>
        <p:spPr>
          <a:xfrm>
            <a:off x="7391400" y="1535039"/>
            <a:ext cx="4343400" cy="3189738"/>
          </a:xfrm>
          <a:prstGeom prst="rect">
            <a:avLst/>
          </a:prstGeom>
          <a:solidFill>
            <a:schemeClr val="accent2">
              <a:alpha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 name="Isosceles Triangle 11">
            <a:extLst>
              <a:ext uri="{FF2B5EF4-FFF2-40B4-BE49-F238E27FC236}">
                <a16:creationId xmlns:a16="http://schemas.microsoft.com/office/drawing/2014/main" id="{CCB686BB-17A4-5A43-5C67-2CB6A1B44E88}"/>
              </a:ext>
            </a:extLst>
          </p:cNvPr>
          <p:cNvSpPr/>
          <p:nvPr/>
        </p:nvSpPr>
        <p:spPr bwMode="ltGray">
          <a:xfrm rot="5400000">
            <a:off x="10057079" y="5251917"/>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13" name="TextBox 12">
            <a:extLst>
              <a:ext uri="{FF2B5EF4-FFF2-40B4-BE49-F238E27FC236}">
                <a16:creationId xmlns:a16="http://schemas.microsoft.com/office/drawing/2014/main" id="{5B0670DA-8E19-7100-0BA6-ECED490ACA08}"/>
              </a:ext>
            </a:extLst>
          </p:cNvPr>
          <p:cNvSpPr txBox="1"/>
          <p:nvPr/>
        </p:nvSpPr>
        <p:spPr>
          <a:xfrm>
            <a:off x="7716137" y="5000601"/>
            <a:ext cx="2048126" cy="73866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to register for this event or webinar</a:t>
            </a:r>
            <a:r>
              <a:rPr kumimoji="0" lang="en-US" sz="1600" b="0" i="0" u="none" strike="noStrike" kern="1200" cap="none" spc="0" normalizeH="0" baseline="0" noProof="0">
                <a:ln>
                  <a:noFill/>
                </a:ln>
                <a:solidFill>
                  <a:srgbClr val="7FB9FF"/>
                </a:solidFill>
                <a:effectLst/>
                <a:uLnTx/>
                <a:uFillTx/>
                <a:latin typeface="Arial"/>
                <a:ea typeface="+mn-ea"/>
                <a:cs typeface="+mn-cs"/>
              </a:rPr>
              <a:t>. </a:t>
            </a:r>
          </a:p>
        </p:txBody>
      </p:sp>
      <p:sp>
        <p:nvSpPr>
          <p:cNvPr id="16" name="TextBox 15">
            <a:extLst>
              <a:ext uri="{FF2B5EF4-FFF2-40B4-BE49-F238E27FC236}">
                <a16:creationId xmlns:a16="http://schemas.microsoft.com/office/drawing/2014/main" id="{BB7AFEBB-12FD-C706-492F-048A38E3AB50}"/>
              </a:ext>
            </a:extLst>
          </p:cNvPr>
          <p:cNvSpPr txBox="1"/>
          <p:nvPr/>
        </p:nvSpPr>
        <p:spPr>
          <a:xfrm>
            <a:off x="7402282" y="1541055"/>
            <a:ext cx="4325112" cy="430887"/>
          </a:xfrm>
          <a:prstGeom prst="rect">
            <a:avLst/>
          </a:prstGeom>
          <a:solidFill>
            <a:schemeClr val="tx1"/>
          </a:solidFill>
        </p:spPr>
        <p:txBody>
          <a:bodyPr wrap="square" lIns="182880" tIns="91440" rIns="91440" bIns="9144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a:ln>
                  <a:noFill/>
                </a:ln>
                <a:solidFill>
                  <a:srgbClr val="FFFFFF"/>
                </a:solidFill>
                <a:effectLst/>
                <a:uLnTx/>
                <a:uFillTx/>
                <a:latin typeface="Arial"/>
                <a:ea typeface="+mn-ea"/>
                <a:cs typeface="+mn-cs"/>
              </a:rPr>
              <a:t>Featured speaker</a:t>
            </a:r>
          </a:p>
        </p:txBody>
      </p:sp>
      <p:sp>
        <p:nvSpPr>
          <p:cNvPr id="27" name="TextBox 26">
            <a:extLst>
              <a:ext uri="{FF2B5EF4-FFF2-40B4-BE49-F238E27FC236}">
                <a16:creationId xmlns:a16="http://schemas.microsoft.com/office/drawing/2014/main" id="{16995BA4-43B3-299D-B1BB-7D0ACFE8BABD}"/>
              </a:ext>
            </a:extLst>
          </p:cNvPr>
          <p:cNvSpPr txBox="1"/>
          <p:nvPr/>
        </p:nvSpPr>
        <p:spPr>
          <a:xfrm>
            <a:off x="7490971" y="2612291"/>
            <a:ext cx="1246664" cy="1454244"/>
          </a:xfrm>
          <a:prstGeom prst="rect">
            <a:avLst/>
          </a:prstGeom>
          <a:noFill/>
        </p:spPr>
        <p:txBody>
          <a:bodyPr wrap="square" lIns="0" tIns="0" rIns="0" bIns="0" rtlCol="0" anchor="ctr">
            <a:spAutoFit/>
          </a:bodyPr>
          <a:lstStyle/>
          <a:p>
            <a:pPr algn="ctr">
              <a:defRPr/>
            </a:pPr>
            <a:r>
              <a:rPr lang="en-US" sz="1600" b="1">
                <a:solidFill>
                  <a:srgbClr val="000A63"/>
                </a:solidFill>
                <a:latin typeface="Arial"/>
              </a:rPr>
              <a:t>William J. Louie</a:t>
            </a:r>
            <a:endParaRPr lang="en-US" sz="1600">
              <a:solidFill>
                <a:srgbClr val="000962"/>
              </a:solidFill>
              <a:latin typeface="Arial"/>
            </a:endParaRPr>
          </a:p>
          <a:p>
            <a:pPr algn="ctr">
              <a:defRPr/>
            </a:pPr>
            <a:r>
              <a:rPr lang="en-US" sz="1100">
                <a:solidFill>
                  <a:srgbClr val="000A63"/>
                </a:solidFill>
                <a:latin typeface="Arial"/>
              </a:rPr>
              <a:t>Sales Desk Manager</a:t>
            </a:r>
            <a:endParaRPr lang="en-US" sz="1100">
              <a:solidFill>
                <a:srgbClr val="000962"/>
              </a:solidFill>
              <a:latin typeface="Arial"/>
              <a:cs typeface="Arial"/>
            </a:endParaRPr>
          </a:p>
          <a:p>
            <a:pPr algn="ctr">
              <a:defRPr/>
            </a:pPr>
            <a:r>
              <a:rPr lang="en-US" sz="1100">
                <a:solidFill>
                  <a:srgbClr val="000A63"/>
                </a:solidFill>
                <a:latin typeface="Arial"/>
              </a:rPr>
              <a:t>Life and Business Solutions</a:t>
            </a:r>
            <a:endParaRPr lang="en-US" sz="1100" i="0" u="none" strike="noStrike" kern="1200" cap="none" spc="0" normalizeH="0" baseline="0" noProof="0">
              <a:ln>
                <a:noFill/>
              </a:ln>
              <a:solidFill>
                <a:srgbClr val="000962"/>
              </a:solidFill>
              <a:effectLst/>
              <a:uLnTx/>
              <a:uFillTx/>
              <a:latin typeface="Arial"/>
              <a:cs typeface="Arial"/>
            </a:endParaRPr>
          </a:p>
          <a:p>
            <a:pPr marL="0" marR="0" lvl="0" indent="0" algn="l" defTabSz="914400">
              <a:lnSpc>
                <a:spcPct val="100000"/>
              </a:lnSpc>
              <a:spcBef>
                <a:spcPts val="300"/>
              </a:spcBef>
              <a:spcAft>
                <a:spcPts val="0"/>
              </a:spcAft>
              <a:buClrTx/>
              <a:buSzTx/>
              <a:buFontTx/>
              <a:buNone/>
              <a:tabLst/>
              <a:defRPr/>
            </a:pPr>
            <a:endParaRPr lang="en-IN" sz="1600" b="1" i="0" u="none" strike="noStrike" kern="1200" cap="none" spc="0" normalizeH="0" baseline="0" noProof="0">
              <a:ln>
                <a:noFill/>
              </a:ln>
              <a:solidFill>
                <a:srgbClr val="000965"/>
              </a:solidFill>
              <a:effectLst/>
              <a:uLnTx/>
              <a:uFillTx/>
              <a:latin typeface="Arial"/>
              <a:cs typeface="Arial"/>
            </a:endParaRPr>
          </a:p>
        </p:txBody>
      </p:sp>
      <p:sp>
        <p:nvSpPr>
          <p:cNvPr id="6" name="Rectangle 5">
            <a:extLst>
              <a:ext uri="{FF2B5EF4-FFF2-40B4-BE49-F238E27FC236}">
                <a16:creationId xmlns:a16="http://schemas.microsoft.com/office/drawing/2014/main" id="{9A0C10F6-0792-0CE6-2928-30F25DB3EF90}"/>
              </a:ext>
            </a:extLst>
          </p:cNvPr>
          <p:cNvSpPr/>
          <p:nvPr/>
        </p:nvSpPr>
        <p:spPr bwMode="ltGray">
          <a:xfrm>
            <a:off x="457199" y="1535039"/>
            <a:ext cx="4955027" cy="840171"/>
          </a:xfrm>
          <a:prstGeom prst="rect">
            <a:avLst/>
          </a:prstGeom>
          <a:solidFill>
            <a:srgbClr val="0468FF"/>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pic>
        <p:nvPicPr>
          <p:cNvPr id="9" name="Picture 8">
            <a:extLst>
              <a:ext uri="{FF2B5EF4-FFF2-40B4-BE49-F238E27FC236}">
                <a16:creationId xmlns:a16="http://schemas.microsoft.com/office/drawing/2014/main" id="{2532A0BD-D873-2B06-86EF-6DE5745641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6311" y="1700896"/>
            <a:ext cx="508694" cy="508456"/>
          </a:xfrm>
          <a:prstGeom prst="rect">
            <a:avLst/>
          </a:prstGeom>
        </p:spPr>
      </p:pic>
      <p:sp>
        <p:nvSpPr>
          <p:cNvPr id="10" name="TextBox 9">
            <a:extLst>
              <a:ext uri="{FF2B5EF4-FFF2-40B4-BE49-F238E27FC236}">
                <a16:creationId xmlns:a16="http://schemas.microsoft.com/office/drawing/2014/main" id="{1BA2B533-81FD-F429-DEA4-6649933A6056}"/>
              </a:ext>
            </a:extLst>
          </p:cNvPr>
          <p:cNvSpPr txBox="1"/>
          <p:nvPr/>
        </p:nvSpPr>
        <p:spPr>
          <a:xfrm>
            <a:off x="1512438" y="1678125"/>
            <a:ext cx="3899788" cy="553998"/>
          </a:xfrm>
          <a:prstGeom prst="rect">
            <a:avLst/>
          </a:prstGeom>
          <a:noFill/>
        </p:spPr>
        <p:txBody>
          <a:bodyPr wrap="square" lIns="0" tIns="0" rIns="0" bIns="0" anchor="t">
            <a:spAutoFit/>
          </a:bodyPr>
          <a:lstStyle/>
          <a:p>
            <a:pPr>
              <a:defRPr/>
            </a:pPr>
            <a:r>
              <a:rPr kumimoji="0" lang="en-US" sz="1800" b="1" i="0" u="none" strike="noStrike" kern="1200" cap="none" spc="0" normalizeH="0" baseline="0" noProof="0">
                <a:ln>
                  <a:noFill/>
                </a:ln>
                <a:solidFill>
                  <a:srgbClr val="FFFFFF"/>
                </a:solidFill>
                <a:effectLst/>
                <a:uLnTx/>
                <a:uFillTx/>
                <a:latin typeface="Arial"/>
                <a:ea typeface="+mn-ea"/>
                <a:cs typeface="+mn-cs"/>
              </a:rPr>
              <a:t>Date: </a:t>
            </a:r>
            <a:r>
              <a:rPr lang="en-US" b="1">
                <a:solidFill>
                  <a:srgbClr val="FFFFFF"/>
                </a:solidFill>
                <a:latin typeface="Arial"/>
              </a:rPr>
              <a:t>August 12</a:t>
            </a:r>
            <a:r>
              <a:rPr kumimoji="0" lang="en-US" sz="1800" b="1" i="0" u="none" strike="noStrike" kern="1200" cap="none" spc="0" normalizeH="0" baseline="0" noProof="0">
                <a:ln>
                  <a:noFill/>
                </a:ln>
                <a:solidFill>
                  <a:srgbClr val="FFFFFF"/>
                </a:solidFill>
                <a:effectLst/>
                <a:uLnTx/>
                <a:uFillTx/>
                <a:latin typeface="Arial"/>
                <a:ea typeface="+mn-ea"/>
                <a:cs typeface="+mn-cs"/>
              </a:rPr>
              <a:t>, 2026</a:t>
            </a:r>
            <a:br>
              <a:rPr lang="en-US" sz="1800" b="0" i="0" u="none" strike="noStrike" kern="1200" cap="none" spc="0" normalizeH="0" baseline="0" noProof="0" dirty="0">
                <a:ln>
                  <a:noFill/>
                </a:ln>
                <a:effectLst/>
                <a:uLnTx/>
                <a:uFillTx/>
                <a:latin typeface="Arial"/>
              </a:rPr>
            </a:br>
            <a:r>
              <a:rPr kumimoji="0" lang="en-US" sz="1800" b="0" i="0" u="none" strike="noStrike" kern="1200" cap="none" spc="0" normalizeH="0" baseline="0" noProof="0" dirty="0">
                <a:ln>
                  <a:noFill/>
                </a:ln>
                <a:solidFill>
                  <a:srgbClr val="FFFFFF"/>
                </a:solidFill>
                <a:effectLst/>
                <a:uLnTx/>
                <a:uFillTx/>
                <a:latin typeface="Arial"/>
                <a:ea typeface="+mn-ea"/>
                <a:cs typeface="+mn-cs"/>
              </a:rPr>
              <a:t>Time: </a:t>
            </a:r>
            <a:r>
              <a:rPr lang="en-US" b="1" dirty="0">
                <a:solidFill>
                  <a:srgbClr val="FFFFFF"/>
                </a:solidFill>
                <a:latin typeface="Arial"/>
              </a:rPr>
              <a:t>1:00</a:t>
            </a:r>
            <a:r>
              <a:rPr kumimoji="0" lang="en-US" sz="1800" b="1" i="0" u="none" strike="noStrike" kern="1200" cap="none" spc="0" normalizeH="0" baseline="0" noProof="0" dirty="0">
                <a:ln>
                  <a:noFill/>
                </a:ln>
                <a:solidFill>
                  <a:srgbClr val="FFFFFF"/>
                </a:solidFill>
                <a:effectLst/>
                <a:uLnTx/>
                <a:uFillTx/>
                <a:latin typeface="Arial"/>
                <a:ea typeface="+mn-ea"/>
                <a:cs typeface="+mn-cs"/>
              </a:rPr>
              <a:t> p.m. ET</a:t>
            </a:r>
            <a:endParaRPr kumimoji="0" lang="en-US" sz="1800" b="0" i="0" u="none" strike="noStrike" kern="1200" cap="none" spc="0" normalizeH="0" baseline="30000" noProof="0" dirty="0">
              <a:ln>
                <a:noFill/>
              </a:ln>
              <a:solidFill>
                <a:srgbClr val="FFFFFF"/>
              </a:solidFill>
              <a:effectLst/>
              <a:uLnTx/>
              <a:uFillTx/>
              <a:latin typeface="Arial"/>
              <a:ea typeface="+mn-ea"/>
              <a:cs typeface="+mn-cs"/>
            </a:endParaRPr>
          </a:p>
        </p:txBody>
      </p:sp>
      <p:pic>
        <p:nvPicPr>
          <p:cNvPr id="14" name="Picture 13" descr="A person in a suit and tie&#10;&#10;AI-generated content may be incorrect.">
            <a:extLst>
              <a:ext uri="{FF2B5EF4-FFF2-40B4-BE49-F238E27FC236}">
                <a16:creationId xmlns:a16="http://schemas.microsoft.com/office/drawing/2014/main" id="{B07934D3-0585-0551-C7E3-F788F49A8EEF}"/>
              </a:ext>
            </a:extLst>
          </p:cNvPr>
          <p:cNvPicPr>
            <a:picLocks noChangeAspect="1"/>
          </p:cNvPicPr>
          <p:nvPr/>
        </p:nvPicPr>
        <p:blipFill>
          <a:blip r:embed="rId4"/>
          <a:stretch>
            <a:fillRect/>
          </a:stretch>
        </p:blipFill>
        <p:spPr>
          <a:xfrm>
            <a:off x="8962894" y="1975665"/>
            <a:ext cx="2472091" cy="2370727"/>
          </a:xfrm>
          <a:prstGeom prst="rect">
            <a:avLst/>
          </a:prstGeom>
        </p:spPr>
      </p:pic>
      <p:pic>
        <p:nvPicPr>
          <p:cNvPr id="18" name="Picture 17" descr="A qr code with a bar code&#10;&#10;AI-generated content may be incorrect.">
            <a:extLst>
              <a:ext uri="{FF2B5EF4-FFF2-40B4-BE49-F238E27FC236}">
                <a16:creationId xmlns:a16="http://schemas.microsoft.com/office/drawing/2014/main" id="{7C6C1BAF-9FB9-BB3D-8EA4-C7567BE728BF}"/>
              </a:ext>
            </a:extLst>
          </p:cNvPr>
          <p:cNvPicPr>
            <a:picLocks noChangeAspect="1"/>
          </p:cNvPicPr>
          <p:nvPr/>
        </p:nvPicPr>
        <p:blipFill>
          <a:blip r:embed="rId5"/>
          <a:stretch>
            <a:fillRect/>
          </a:stretch>
        </p:blipFill>
        <p:spPr>
          <a:xfrm>
            <a:off x="10589659" y="4821493"/>
            <a:ext cx="1101188" cy="1105221"/>
          </a:xfrm>
          <a:prstGeom prst="rect">
            <a:avLst/>
          </a:prstGeom>
        </p:spPr>
      </p:pic>
    </p:spTree>
    <p:extLst>
      <p:ext uri="{BB962C8B-B14F-4D97-AF65-F5344CB8AC3E}">
        <p14:creationId xmlns:p14="http://schemas.microsoft.com/office/powerpoint/2010/main" val="13787508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BA7C1-9991-A768-8DB2-EEFCBEC93C9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1ABE196-A1C9-E2BC-BFCD-2516B6DFBF53}"/>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0B95EB7F-F264-EFAE-94D6-7CEB4CDC7B3A}"/>
              </a:ext>
            </a:extLst>
          </p:cNvPr>
          <p:cNvSpPr>
            <a:spLocks noGrp="1"/>
          </p:cNvSpPr>
          <p:nvPr>
            <p:ph type="title"/>
          </p:nvPr>
        </p:nvSpPr>
        <p:spPr/>
        <p:txBody>
          <a:bodyPr/>
          <a:lstStyle/>
          <a:p>
            <a:r>
              <a:rPr lang="en-US"/>
              <a:t>ChatGPT Advantage: Agent insights series</a:t>
            </a:r>
          </a:p>
        </p:txBody>
      </p:sp>
      <p:sp>
        <p:nvSpPr>
          <p:cNvPr id="7" name="Rectangle 6">
            <a:extLst>
              <a:ext uri="{FF2B5EF4-FFF2-40B4-BE49-F238E27FC236}">
                <a16:creationId xmlns:a16="http://schemas.microsoft.com/office/drawing/2014/main" id="{8BF888B1-F11B-C408-9F8D-75F35EBAC2B4}"/>
              </a:ext>
            </a:extLst>
          </p:cNvPr>
          <p:cNvSpPr/>
          <p:nvPr/>
        </p:nvSpPr>
        <p:spPr bwMode="ltGray">
          <a:xfrm>
            <a:off x="6156352" y="4820094"/>
            <a:ext cx="5578443"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8" name="Rectangle 7">
            <a:extLst>
              <a:ext uri="{FF2B5EF4-FFF2-40B4-BE49-F238E27FC236}">
                <a16:creationId xmlns:a16="http://schemas.microsoft.com/office/drawing/2014/main" id="{E37DD6EE-C9A4-E62A-CE4D-E0628A6742C4}"/>
              </a:ext>
            </a:extLst>
          </p:cNvPr>
          <p:cNvSpPr/>
          <p:nvPr/>
        </p:nvSpPr>
        <p:spPr>
          <a:xfrm>
            <a:off x="6167238" y="1626837"/>
            <a:ext cx="5578443" cy="3189738"/>
          </a:xfrm>
          <a:prstGeom prst="rect">
            <a:avLst/>
          </a:prstGeom>
          <a:solidFill>
            <a:schemeClr val="accent2">
              <a:alpha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 name="Isosceles Triangle 11">
            <a:extLst>
              <a:ext uri="{FF2B5EF4-FFF2-40B4-BE49-F238E27FC236}">
                <a16:creationId xmlns:a16="http://schemas.microsoft.com/office/drawing/2014/main" id="{27CBE278-C904-329C-8380-77AC13359CEC}"/>
              </a:ext>
            </a:extLst>
          </p:cNvPr>
          <p:cNvSpPr/>
          <p:nvPr/>
        </p:nvSpPr>
        <p:spPr bwMode="ltGray">
          <a:xfrm rot="5400000">
            <a:off x="10057079" y="5251917"/>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13" name="TextBox 12">
            <a:extLst>
              <a:ext uri="{FF2B5EF4-FFF2-40B4-BE49-F238E27FC236}">
                <a16:creationId xmlns:a16="http://schemas.microsoft.com/office/drawing/2014/main" id="{7A769C5D-C286-1BB0-DE59-7AF4F3618B7A}"/>
              </a:ext>
            </a:extLst>
          </p:cNvPr>
          <p:cNvSpPr txBox="1"/>
          <p:nvPr/>
        </p:nvSpPr>
        <p:spPr>
          <a:xfrm>
            <a:off x="6652910" y="5123712"/>
            <a:ext cx="3136311"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to register for this event or webinar</a:t>
            </a:r>
            <a:r>
              <a:rPr kumimoji="0" lang="en-US" sz="1600" b="0" i="0" u="none" strike="noStrike" kern="1200" cap="none" spc="0" normalizeH="0" baseline="0" noProof="0">
                <a:ln>
                  <a:noFill/>
                </a:ln>
                <a:solidFill>
                  <a:srgbClr val="7FB9FF"/>
                </a:solidFill>
                <a:effectLst/>
                <a:uLnTx/>
                <a:uFillTx/>
                <a:latin typeface="Arial"/>
                <a:ea typeface="+mn-ea"/>
                <a:cs typeface="+mn-cs"/>
              </a:rPr>
              <a:t>. </a:t>
            </a:r>
          </a:p>
        </p:txBody>
      </p:sp>
      <p:sp>
        <p:nvSpPr>
          <p:cNvPr id="15" name="Rectangle 14">
            <a:extLst>
              <a:ext uri="{FF2B5EF4-FFF2-40B4-BE49-F238E27FC236}">
                <a16:creationId xmlns:a16="http://schemas.microsoft.com/office/drawing/2014/main" id="{8098CACC-B6A4-D41B-8DC9-359179414ACB}"/>
              </a:ext>
            </a:extLst>
          </p:cNvPr>
          <p:cNvSpPr>
            <a:spLocks/>
          </p:cNvSpPr>
          <p:nvPr/>
        </p:nvSpPr>
        <p:spPr>
          <a:xfrm rot="10800000" flipV="1">
            <a:off x="10635115" y="4820093"/>
            <a:ext cx="1099679" cy="10996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Add </a:t>
            </a:r>
            <a:br>
              <a:rPr kumimoji="0" lang="en-US" sz="1600" b="0" i="0" u="none" strike="noStrike" kern="1200" cap="none" spc="0" normalizeH="0" baseline="0" noProof="0">
                <a:ln>
                  <a:noFill/>
                </a:ln>
                <a:solidFill>
                  <a:srgbClr val="000000"/>
                </a:solidFill>
                <a:effectLst/>
                <a:uLnTx/>
                <a:uFillTx/>
                <a:latin typeface="Arial"/>
                <a:ea typeface="+mn-ea"/>
                <a:cs typeface="+mn-cs"/>
              </a:rPr>
            </a:br>
            <a:r>
              <a:rPr kumimoji="0" lang="en-US" sz="1600" b="0" i="0" u="none" strike="noStrike" kern="1200" cap="none" spc="0" normalizeH="0" baseline="0" noProof="0">
                <a:ln>
                  <a:noFill/>
                </a:ln>
                <a:solidFill>
                  <a:srgbClr val="000000"/>
                </a:solidFill>
                <a:effectLst/>
                <a:uLnTx/>
                <a:uFillTx/>
                <a:latin typeface="Arial"/>
                <a:ea typeface="+mn-ea"/>
                <a:cs typeface="+mn-cs"/>
              </a:rPr>
              <a:t>QR code here</a:t>
            </a:r>
          </a:p>
        </p:txBody>
      </p:sp>
      <p:sp>
        <p:nvSpPr>
          <p:cNvPr id="16" name="TextBox 15">
            <a:extLst>
              <a:ext uri="{FF2B5EF4-FFF2-40B4-BE49-F238E27FC236}">
                <a16:creationId xmlns:a16="http://schemas.microsoft.com/office/drawing/2014/main" id="{F693AF81-7C50-CD5E-3544-4CA678A951ED}"/>
              </a:ext>
            </a:extLst>
          </p:cNvPr>
          <p:cNvSpPr txBox="1"/>
          <p:nvPr/>
        </p:nvSpPr>
        <p:spPr>
          <a:xfrm>
            <a:off x="6167238" y="1541055"/>
            <a:ext cx="5559552" cy="430887"/>
          </a:xfrm>
          <a:prstGeom prst="rect">
            <a:avLst/>
          </a:prstGeom>
          <a:solidFill>
            <a:schemeClr val="tx1"/>
          </a:solidFill>
        </p:spPr>
        <p:txBody>
          <a:bodyPr wrap="square" lIns="182880" tIns="91440" rIns="91440" bIns="9144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a:ln>
                  <a:noFill/>
                </a:ln>
                <a:solidFill>
                  <a:srgbClr val="FFFFFF"/>
                </a:solidFill>
                <a:effectLst/>
                <a:uLnTx/>
                <a:uFillTx/>
                <a:latin typeface="Arial"/>
                <a:ea typeface="+mn-ea"/>
                <a:cs typeface="+mn-cs"/>
              </a:rPr>
              <a:t>Featured speakers</a:t>
            </a:r>
          </a:p>
        </p:txBody>
      </p:sp>
      <p:sp>
        <p:nvSpPr>
          <p:cNvPr id="20" name="TextBox 19">
            <a:extLst>
              <a:ext uri="{FF2B5EF4-FFF2-40B4-BE49-F238E27FC236}">
                <a16:creationId xmlns:a16="http://schemas.microsoft.com/office/drawing/2014/main" id="{9F2DF7BE-39E5-EC10-6422-49E4AD205D0B}"/>
              </a:ext>
            </a:extLst>
          </p:cNvPr>
          <p:cNvSpPr txBox="1"/>
          <p:nvPr/>
        </p:nvSpPr>
        <p:spPr>
          <a:xfrm>
            <a:off x="6307316" y="3813325"/>
            <a:ext cx="1653064" cy="746358"/>
          </a:xfrm>
          <a:prstGeom prst="rect">
            <a:avLst/>
          </a:prstGeom>
          <a:noFill/>
        </p:spPr>
        <p:txBody>
          <a:bodyPr wrap="square" lIns="0" tIns="0" rIns="0" bIns="0" rtlCol="0" anchor="ctr">
            <a:spAutoFit/>
          </a:bodyPr>
          <a:lstStyle/>
          <a:p>
            <a:pPr algn="ctr"/>
            <a:r>
              <a:rPr lang="en-US" sz="1050" b="1"/>
              <a:t>Jakob Hart, RICP</a:t>
            </a:r>
            <a:endParaRPr lang="en-US" sz="1050"/>
          </a:p>
          <a:p>
            <a:pPr algn="ctr"/>
            <a:r>
              <a:rPr lang="en-US" sz="1000"/>
              <a:t>Financial Advisor &amp; President</a:t>
            </a:r>
            <a:br>
              <a:rPr lang="en-US" sz="1000"/>
            </a:br>
            <a:r>
              <a:rPr lang="en-US" sz="1000"/>
              <a:t>Hart and Hart Financial Services</a:t>
            </a:r>
            <a:br>
              <a:rPr lang="en-US" sz="1000"/>
            </a:br>
            <a:r>
              <a:rPr lang="en-US" sz="800" b="1"/>
              <a:t>Tampa Office</a:t>
            </a:r>
            <a:endParaRPr lang="en-US" sz="800"/>
          </a:p>
        </p:txBody>
      </p:sp>
      <p:sp>
        <p:nvSpPr>
          <p:cNvPr id="26" name="TextBox 25">
            <a:extLst>
              <a:ext uri="{FF2B5EF4-FFF2-40B4-BE49-F238E27FC236}">
                <a16:creationId xmlns:a16="http://schemas.microsoft.com/office/drawing/2014/main" id="{A7CE64AF-5364-3A79-E423-7398A30C738E}"/>
              </a:ext>
            </a:extLst>
          </p:cNvPr>
          <p:cNvSpPr txBox="1"/>
          <p:nvPr/>
        </p:nvSpPr>
        <p:spPr>
          <a:xfrm>
            <a:off x="8075056" y="3814373"/>
            <a:ext cx="1653064" cy="738664"/>
          </a:xfrm>
          <a:prstGeom prst="rect">
            <a:avLst/>
          </a:prstGeom>
          <a:noFill/>
        </p:spPr>
        <p:txBody>
          <a:bodyPr wrap="square" lIns="0" tIns="0" rIns="0" bIns="0" rtlCol="0" anchor="ctr">
            <a:spAutoFit/>
          </a:bodyPr>
          <a:lstStyle/>
          <a:p>
            <a:pPr algn="ctr"/>
            <a:r>
              <a:rPr lang="en-US" sz="1000" b="1"/>
              <a:t>Daniel Lee</a:t>
            </a:r>
            <a:endParaRPr lang="en-US" sz="1000"/>
          </a:p>
          <a:p>
            <a:pPr algn="ctr"/>
            <a:r>
              <a:rPr lang="en-US" sz="1000"/>
              <a:t>Financial Services Professional</a:t>
            </a:r>
            <a:br>
              <a:rPr lang="en-US" sz="1000"/>
            </a:br>
            <a:r>
              <a:rPr lang="en-US" sz="1000"/>
              <a:t>Registered Representative</a:t>
            </a:r>
            <a:br>
              <a:rPr lang="en-US" sz="1000"/>
            </a:br>
            <a:r>
              <a:rPr lang="en-US" sz="800" b="1"/>
              <a:t>Central Georgia Office</a:t>
            </a:r>
            <a:endParaRPr lang="en-US" sz="800"/>
          </a:p>
        </p:txBody>
      </p:sp>
      <p:sp>
        <p:nvSpPr>
          <p:cNvPr id="27" name="TextBox 26">
            <a:extLst>
              <a:ext uri="{FF2B5EF4-FFF2-40B4-BE49-F238E27FC236}">
                <a16:creationId xmlns:a16="http://schemas.microsoft.com/office/drawing/2014/main" id="{2334BA63-BD50-0DBB-A7BA-66F2017B6AC4}"/>
              </a:ext>
            </a:extLst>
          </p:cNvPr>
          <p:cNvSpPr txBox="1"/>
          <p:nvPr/>
        </p:nvSpPr>
        <p:spPr>
          <a:xfrm>
            <a:off x="9928706" y="3733497"/>
            <a:ext cx="1653064" cy="738664"/>
          </a:xfrm>
          <a:prstGeom prst="rect">
            <a:avLst/>
          </a:prstGeom>
          <a:noFill/>
        </p:spPr>
        <p:txBody>
          <a:bodyPr wrap="square" lIns="0" tIns="0" rIns="0" bIns="0" rtlCol="0" anchor="ctr">
            <a:spAutoFit/>
          </a:bodyPr>
          <a:lstStyle/>
          <a:p>
            <a:pPr algn="ctr"/>
            <a:r>
              <a:rPr lang="en-US" sz="1000" b="1"/>
              <a:t>Paul Holman, </a:t>
            </a:r>
            <a:r>
              <a:rPr lang="en-US" sz="1000" b="1" err="1"/>
              <a:t>ChFC</a:t>
            </a:r>
            <a:r>
              <a:rPr lang="en-US" sz="1000" b="1"/>
              <a:t>, CLU, FSCP</a:t>
            </a:r>
            <a:endParaRPr lang="en-US" sz="1000"/>
          </a:p>
          <a:p>
            <a:pPr algn="ctr"/>
            <a:r>
              <a:rPr lang="en-US" sz="1000"/>
              <a:t>Financial Advisor</a:t>
            </a:r>
            <a:br>
              <a:rPr lang="en-US" sz="1000"/>
            </a:br>
            <a:r>
              <a:rPr lang="en-US" sz="1000"/>
              <a:t>Diamond Springs Financial</a:t>
            </a:r>
            <a:br>
              <a:rPr lang="en-US" sz="1000"/>
            </a:br>
            <a:r>
              <a:rPr lang="en-US" sz="800" b="1"/>
              <a:t>Norfolk Office</a:t>
            </a:r>
            <a:endParaRPr lang="en-US" sz="800"/>
          </a:p>
        </p:txBody>
      </p:sp>
      <p:pic>
        <p:nvPicPr>
          <p:cNvPr id="29" name="Picture 28">
            <a:extLst>
              <a:ext uri="{FF2B5EF4-FFF2-40B4-BE49-F238E27FC236}">
                <a16:creationId xmlns:a16="http://schemas.microsoft.com/office/drawing/2014/main" id="{C18EEA4E-BD00-0082-F6EF-B4D0CD72BE4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6525" y="2067259"/>
            <a:ext cx="1645920" cy="1544185"/>
          </a:xfrm>
          <a:prstGeom prst="rect">
            <a:avLst/>
          </a:prstGeom>
        </p:spPr>
      </p:pic>
      <p:pic>
        <p:nvPicPr>
          <p:cNvPr id="30" name="Picture 29">
            <a:extLst>
              <a:ext uri="{FF2B5EF4-FFF2-40B4-BE49-F238E27FC236}">
                <a16:creationId xmlns:a16="http://schemas.microsoft.com/office/drawing/2014/main" id="{1D419FC4-DB09-4DCE-5BCB-BAD094930E9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22616" y="2067259"/>
            <a:ext cx="1645920" cy="1562004"/>
          </a:xfrm>
          <a:prstGeom prst="rect">
            <a:avLst/>
          </a:prstGeom>
        </p:spPr>
      </p:pic>
      <p:pic>
        <p:nvPicPr>
          <p:cNvPr id="31" name="Picture 30">
            <a:extLst>
              <a:ext uri="{FF2B5EF4-FFF2-40B4-BE49-F238E27FC236}">
                <a16:creationId xmlns:a16="http://schemas.microsoft.com/office/drawing/2014/main" id="{D319F972-7D49-8474-3D5B-EE278CC41E4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28706" y="2067259"/>
            <a:ext cx="1645920" cy="1562004"/>
          </a:xfrm>
          <a:prstGeom prst="rect">
            <a:avLst/>
          </a:prstGeom>
        </p:spPr>
      </p:pic>
      <p:sp>
        <p:nvSpPr>
          <p:cNvPr id="10" name="Content Placeholder 2">
            <a:extLst>
              <a:ext uri="{FF2B5EF4-FFF2-40B4-BE49-F238E27FC236}">
                <a16:creationId xmlns:a16="http://schemas.microsoft.com/office/drawing/2014/main" id="{07C26CB1-86C4-ADA6-7B4A-A820ABE22C79}"/>
              </a:ext>
            </a:extLst>
          </p:cNvPr>
          <p:cNvSpPr>
            <a:spLocks noGrp="1"/>
          </p:cNvSpPr>
          <p:nvPr>
            <p:ph idx="1"/>
          </p:nvPr>
        </p:nvSpPr>
        <p:spPr>
          <a:xfrm>
            <a:off x="457199" y="2638782"/>
            <a:ext cx="5630423" cy="3376307"/>
          </a:xfrm>
        </p:spPr>
        <p:txBody>
          <a:bodyPr/>
          <a:lstStyle/>
          <a:p>
            <a:pPr marL="0" indent="0">
              <a:buNone/>
            </a:pPr>
            <a:r>
              <a:rPr lang="en-US"/>
              <a:t>Hear directly from financial professionals using ChatGPT successfully — plus experts from OpenAI </a:t>
            </a:r>
            <a:endParaRPr lang="en-US" sz="1800"/>
          </a:p>
          <a:p>
            <a:endParaRPr lang="en-US"/>
          </a:p>
          <a:p>
            <a:pPr marL="0" indent="0">
              <a:buNone/>
            </a:pPr>
            <a:endParaRPr lang="en-US"/>
          </a:p>
          <a:p>
            <a:pPr marL="0" indent="0">
              <a:buNone/>
            </a:pPr>
            <a:endParaRPr lang="en-US"/>
          </a:p>
        </p:txBody>
      </p:sp>
      <p:sp>
        <p:nvSpPr>
          <p:cNvPr id="11" name="Rectangle 10">
            <a:extLst>
              <a:ext uri="{FF2B5EF4-FFF2-40B4-BE49-F238E27FC236}">
                <a16:creationId xmlns:a16="http://schemas.microsoft.com/office/drawing/2014/main" id="{6E1368A7-9DAC-6C88-BD5B-0751ACDFD9AB}"/>
              </a:ext>
            </a:extLst>
          </p:cNvPr>
          <p:cNvSpPr/>
          <p:nvPr/>
        </p:nvSpPr>
        <p:spPr bwMode="ltGray">
          <a:xfrm>
            <a:off x="457199" y="1535039"/>
            <a:ext cx="4955027" cy="840171"/>
          </a:xfrm>
          <a:prstGeom prst="rect">
            <a:avLst/>
          </a:prstGeom>
          <a:solidFill>
            <a:srgbClr val="0468FF"/>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pic>
        <p:nvPicPr>
          <p:cNvPr id="14" name="Picture 13">
            <a:extLst>
              <a:ext uri="{FF2B5EF4-FFF2-40B4-BE49-F238E27FC236}">
                <a16:creationId xmlns:a16="http://schemas.microsoft.com/office/drawing/2014/main" id="{CF70CCE1-E4EA-6970-5A23-DA4BCE235F0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6311" y="1700896"/>
            <a:ext cx="508694" cy="508456"/>
          </a:xfrm>
          <a:prstGeom prst="rect">
            <a:avLst/>
          </a:prstGeom>
        </p:spPr>
      </p:pic>
      <p:sp>
        <p:nvSpPr>
          <p:cNvPr id="17" name="TextBox 16">
            <a:extLst>
              <a:ext uri="{FF2B5EF4-FFF2-40B4-BE49-F238E27FC236}">
                <a16:creationId xmlns:a16="http://schemas.microsoft.com/office/drawing/2014/main" id="{6B73ECD0-E1B8-1013-09BC-6902C49BD425}"/>
              </a:ext>
            </a:extLst>
          </p:cNvPr>
          <p:cNvSpPr txBox="1"/>
          <p:nvPr/>
        </p:nvSpPr>
        <p:spPr>
          <a:xfrm>
            <a:off x="1512438" y="1678125"/>
            <a:ext cx="3899788" cy="55399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Date: Thursday, August 13, 2026</a:t>
            </a:r>
            <a:br>
              <a:rPr kumimoji="0" lang="en-US" sz="1800" b="0" i="0" u="none" strike="noStrike" kern="1200" cap="none" spc="0" normalizeH="0" baseline="0" noProof="0">
                <a:ln>
                  <a:noFill/>
                </a:ln>
                <a:solidFill>
                  <a:srgbClr val="FFFFFF"/>
                </a:solidFill>
                <a:effectLst/>
                <a:uLnTx/>
                <a:uFillTx/>
                <a:latin typeface="Arial"/>
                <a:ea typeface="+mn-ea"/>
                <a:cs typeface="+mn-cs"/>
              </a:rPr>
            </a:br>
            <a:r>
              <a:rPr kumimoji="0" lang="en-US" sz="1800" b="0" i="0" u="none" strike="noStrike" kern="1200" cap="none" spc="0" normalizeH="0" baseline="0" noProof="0">
                <a:ln>
                  <a:noFill/>
                </a:ln>
                <a:solidFill>
                  <a:srgbClr val="FFFFFF"/>
                </a:solidFill>
                <a:effectLst/>
                <a:uLnTx/>
                <a:uFillTx/>
                <a:latin typeface="Arial"/>
                <a:ea typeface="+mn-ea"/>
                <a:cs typeface="+mn-cs"/>
              </a:rPr>
              <a:t>Time: </a:t>
            </a:r>
            <a:r>
              <a:rPr kumimoji="0" lang="en-US" sz="1800" b="1" i="0" u="none" strike="noStrike" kern="1200" cap="none" spc="0" normalizeH="0" baseline="0" noProof="0">
                <a:ln>
                  <a:noFill/>
                </a:ln>
                <a:solidFill>
                  <a:srgbClr val="FFFFFF"/>
                </a:solidFill>
                <a:effectLst/>
                <a:uLnTx/>
                <a:uFillTx/>
                <a:latin typeface="Arial"/>
                <a:ea typeface="+mn-ea"/>
                <a:cs typeface="+mn-cs"/>
              </a:rPr>
              <a:t>2:00 p.m. ET</a:t>
            </a:r>
            <a:endParaRPr kumimoji="0" lang="en-US" sz="1800" b="0" i="0" u="none" strike="noStrike" kern="1200" cap="none" spc="0" normalizeH="0" baseline="30000" noProof="0">
              <a:ln>
                <a:noFill/>
              </a:ln>
              <a:solidFill>
                <a:srgbClr val="FFFFFF"/>
              </a:solidFill>
              <a:effectLst/>
              <a:uLnTx/>
              <a:uFillTx/>
              <a:latin typeface="Arial"/>
              <a:ea typeface="+mn-ea"/>
              <a:cs typeface="+mn-cs"/>
            </a:endParaRPr>
          </a:p>
        </p:txBody>
      </p:sp>
      <p:pic>
        <p:nvPicPr>
          <p:cNvPr id="3" name="Image 0" descr="/mnt/data/Jakob_Hart_circle.png">
            <a:extLst>
              <a:ext uri="{FF2B5EF4-FFF2-40B4-BE49-F238E27FC236}">
                <a16:creationId xmlns:a16="http://schemas.microsoft.com/office/drawing/2014/main" id="{C1089FCC-809E-F1BA-EDEA-548FF704AC6D}"/>
              </a:ext>
            </a:extLst>
          </p:cNvPr>
          <p:cNvPicPr>
            <a:picLocks noChangeAspect="1"/>
          </p:cNvPicPr>
          <p:nvPr/>
        </p:nvPicPr>
        <p:blipFill>
          <a:blip r:embed="rId6"/>
          <a:stretch>
            <a:fillRect/>
          </a:stretch>
        </p:blipFill>
        <p:spPr>
          <a:xfrm>
            <a:off x="6309012" y="2085080"/>
            <a:ext cx="1606131" cy="1544184"/>
          </a:xfrm>
          <a:prstGeom prst="rect">
            <a:avLst/>
          </a:prstGeom>
        </p:spPr>
      </p:pic>
      <p:pic>
        <p:nvPicPr>
          <p:cNvPr id="6" name="Image 1" descr="/mnt/data/Daniel_Lee_circle.png">
            <a:extLst>
              <a:ext uri="{FF2B5EF4-FFF2-40B4-BE49-F238E27FC236}">
                <a16:creationId xmlns:a16="http://schemas.microsoft.com/office/drawing/2014/main" id="{FC31F499-C81A-338B-EFBC-E00D1C47EBE7}"/>
              </a:ext>
            </a:extLst>
          </p:cNvPr>
          <p:cNvPicPr>
            <a:picLocks noChangeAspect="1"/>
          </p:cNvPicPr>
          <p:nvPr/>
        </p:nvPicPr>
        <p:blipFill>
          <a:blip r:embed="rId7"/>
          <a:stretch>
            <a:fillRect/>
          </a:stretch>
        </p:blipFill>
        <p:spPr>
          <a:xfrm>
            <a:off x="8158858" y="2087634"/>
            <a:ext cx="1562005" cy="1562005"/>
          </a:xfrm>
          <a:prstGeom prst="rect">
            <a:avLst/>
          </a:prstGeom>
        </p:spPr>
      </p:pic>
      <p:pic>
        <p:nvPicPr>
          <p:cNvPr id="9" name="Image 2" descr="/mnt/data/Paul_Holman_circle.png">
            <a:extLst>
              <a:ext uri="{FF2B5EF4-FFF2-40B4-BE49-F238E27FC236}">
                <a16:creationId xmlns:a16="http://schemas.microsoft.com/office/drawing/2014/main" id="{65A05338-E7DB-DA9A-E34A-FD5944A93EF7}"/>
              </a:ext>
            </a:extLst>
          </p:cNvPr>
          <p:cNvPicPr>
            <a:picLocks noChangeAspect="1"/>
          </p:cNvPicPr>
          <p:nvPr/>
        </p:nvPicPr>
        <p:blipFill>
          <a:blip r:embed="rId8"/>
          <a:stretch>
            <a:fillRect/>
          </a:stretch>
        </p:blipFill>
        <p:spPr>
          <a:xfrm>
            <a:off x="10006578" y="2067258"/>
            <a:ext cx="1562005" cy="1562005"/>
          </a:xfrm>
          <a:prstGeom prst="rect">
            <a:avLst/>
          </a:prstGeom>
        </p:spPr>
      </p:pic>
      <p:pic>
        <p:nvPicPr>
          <p:cNvPr id="18" name="Picture 17">
            <a:extLst>
              <a:ext uri="{FF2B5EF4-FFF2-40B4-BE49-F238E27FC236}">
                <a16:creationId xmlns:a16="http://schemas.microsoft.com/office/drawing/2014/main" id="{A099E0E4-99B6-9387-4AD0-D5175ADB6A53}"/>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692781" y="4862745"/>
            <a:ext cx="1042013" cy="1042013"/>
          </a:xfrm>
          <a:prstGeom prst="rect">
            <a:avLst/>
          </a:prstGeom>
        </p:spPr>
      </p:pic>
      <p:grpSp>
        <p:nvGrpSpPr>
          <p:cNvPr id="19" name="Group 18">
            <a:extLst>
              <a:ext uri="{FF2B5EF4-FFF2-40B4-BE49-F238E27FC236}">
                <a16:creationId xmlns:a16="http://schemas.microsoft.com/office/drawing/2014/main" id="{9CF67BC4-2753-8F64-8843-8CED41CF04AA}"/>
              </a:ext>
            </a:extLst>
          </p:cNvPr>
          <p:cNvGrpSpPr/>
          <p:nvPr/>
        </p:nvGrpSpPr>
        <p:grpSpPr>
          <a:xfrm>
            <a:off x="589158" y="4006545"/>
            <a:ext cx="1280160" cy="548640"/>
            <a:chOff x="658368" y="5285232"/>
            <a:chExt cx="1033272" cy="301752"/>
          </a:xfrm>
          <a:solidFill>
            <a:schemeClr val="tx1"/>
          </a:solidFill>
        </p:grpSpPr>
        <p:sp>
          <p:nvSpPr>
            <p:cNvPr id="21" name="Shape 11">
              <a:extLst>
                <a:ext uri="{FF2B5EF4-FFF2-40B4-BE49-F238E27FC236}">
                  <a16:creationId xmlns:a16="http://schemas.microsoft.com/office/drawing/2014/main" id="{7A7FDD39-1B8B-9C78-A221-E62274A126F1}"/>
                </a:ext>
              </a:extLst>
            </p:cNvPr>
            <p:cNvSpPr/>
            <p:nvPr/>
          </p:nvSpPr>
          <p:spPr>
            <a:xfrm>
              <a:off x="658368" y="5285232"/>
              <a:ext cx="1033272" cy="301752"/>
            </a:xfrm>
            <a:prstGeom prst="roundRect">
              <a:avLst>
                <a:gd name="adj" fmla="val 48485"/>
              </a:avLst>
            </a:prstGeom>
            <a:grpFill/>
            <a:ln w="12700">
              <a:solidFill>
                <a:srgbClr val="174C93">
                  <a:alpha val="0"/>
                </a:srgbClr>
              </a:solidFill>
              <a:prstDash val="solid"/>
            </a:ln>
          </p:spPr>
          <p:txBody>
            <a:bodyPr/>
            <a:lstStyle/>
            <a:p>
              <a:endParaRPr lang="en-US" sz="3600"/>
            </a:p>
          </p:txBody>
        </p:sp>
        <p:sp>
          <p:nvSpPr>
            <p:cNvPr id="22" name="Text 12">
              <a:extLst>
                <a:ext uri="{FF2B5EF4-FFF2-40B4-BE49-F238E27FC236}">
                  <a16:creationId xmlns:a16="http://schemas.microsoft.com/office/drawing/2014/main" id="{9C6185C5-1BA5-55E6-C118-01E643E69E22}"/>
                </a:ext>
              </a:extLst>
            </p:cNvPr>
            <p:cNvSpPr/>
            <p:nvPr/>
          </p:nvSpPr>
          <p:spPr>
            <a:xfrm>
              <a:off x="658368" y="5335524"/>
              <a:ext cx="1033272" cy="201168"/>
            </a:xfrm>
            <a:prstGeom prst="rect">
              <a:avLst/>
            </a:prstGeom>
            <a:grpFill/>
            <a:ln/>
          </p:spPr>
          <p:txBody>
            <a:bodyPr wrap="square" lIns="0" tIns="0" rIns="0" bIns="0" rtlCol="0" anchor="ctr"/>
            <a:lstStyle/>
            <a:p>
              <a:pPr marL="0" indent="0" algn="ctr">
                <a:buNone/>
              </a:pPr>
              <a:r>
                <a:rPr lang="en-US" sz="1200" b="1">
                  <a:solidFill>
                    <a:srgbClr val="FFFFFF"/>
                  </a:solidFill>
                  <a:latin typeface="Aptos" pitchFamily="34" charset="0"/>
                  <a:ea typeface="Aptos" pitchFamily="34" charset="-122"/>
                  <a:cs typeface="Aptos" pitchFamily="34" charset="-120"/>
                </a:rPr>
                <a:t>Prompting</a:t>
              </a:r>
              <a:endParaRPr lang="en-US" sz="1200"/>
            </a:p>
          </p:txBody>
        </p:sp>
      </p:grpSp>
      <p:grpSp>
        <p:nvGrpSpPr>
          <p:cNvPr id="23" name="Group 22">
            <a:extLst>
              <a:ext uri="{FF2B5EF4-FFF2-40B4-BE49-F238E27FC236}">
                <a16:creationId xmlns:a16="http://schemas.microsoft.com/office/drawing/2014/main" id="{6CA09FC8-20D6-293B-440D-D405197ECC9D}"/>
              </a:ext>
            </a:extLst>
          </p:cNvPr>
          <p:cNvGrpSpPr/>
          <p:nvPr/>
        </p:nvGrpSpPr>
        <p:grpSpPr>
          <a:xfrm>
            <a:off x="2274512" y="4006545"/>
            <a:ext cx="1280160" cy="548640"/>
            <a:chOff x="1783080" y="5285232"/>
            <a:chExt cx="1188720" cy="301752"/>
          </a:xfrm>
          <a:solidFill>
            <a:schemeClr val="tx1"/>
          </a:solidFill>
        </p:grpSpPr>
        <p:sp>
          <p:nvSpPr>
            <p:cNvPr id="24" name="Shape 13">
              <a:extLst>
                <a:ext uri="{FF2B5EF4-FFF2-40B4-BE49-F238E27FC236}">
                  <a16:creationId xmlns:a16="http://schemas.microsoft.com/office/drawing/2014/main" id="{4207F12F-9BF5-E80D-9FC4-98A7D601590C}"/>
                </a:ext>
              </a:extLst>
            </p:cNvPr>
            <p:cNvSpPr/>
            <p:nvPr/>
          </p:nvSpPr>
          <p:spPr>
            <a:xfrm>
              <a:off x="1783080" y="5285232"/>
              <a:ext cx="1188720" cy="301752"/>
            </a:xfrm>
            <a:prstGeom prst="roundRect">
              <a:avLst>
                <a:gd name="adj" fmla="val 48485"/>
              </a:avLst>
            </a:prstGeom>
            <a:grpFill/>
            <a:ln w="12700">
              <a:solidFill>
                <a:srgbClr val="174C93">
                  <a:alpha val="0"/>
                </a:srgbClr>
              </a:solidFill>
              <a:prstDash val="solid"/>
            </a:ln>
          </p:spPr>
          <p:txBody>
            <a:bodyPr/>
            <a:lstStyle/>
            <a:p>
              <a:endParaRPr lang="en-US" sz="3600"/>
            </a:p>
          </p:txBody>
        </p:sp>
        <p:sp>
          <p:nvSpPr>
            <p:cNvPr id="25" name="Text 14">
              <a:extLst>
                <a:ext uri="{FF2B5EF4-FFF2-40B4-BE49-F238E27FC236}">
                  <a16:creationId xmlns:a16="http://schemas.microsoft.com/office/drawing/2014/main" id="{6A95FB72-296C-CA36-5CE7-4803062EC410}"/>
                </a:ext>
              </a:extLst>
            </p:cNvPr>
            <p:cNvSpPr/>
            <p:nvPr/>
          </p:nvSpPr>
          <p:spPr>
            <a:xfrm>
              <a:off x="1783080" y="5335524"/>
              <a:ext cx="1188720" cy="201168"/>
            </a:xfrm>
            <a:prstGeom prst="rect">
              <a:avLst/>
            </a:prstGeom>
            <a:grpFill/>
            <a:ln/>
          </p:spPr>
          <p:txBody>
            <a:bodyPr wrap="square" lIns="0" tIns="0" rIns="0" bIns="0" rtlCol="0" anchor="ctr"/>
            <a:lstStyle/>
            <a:p>
              <a:pPr marL="0" indent="0" algn="ctr">
                <a:buNone/>
              </a:pPr>
              <a:r>
                <a:rPr lang="en-US" sz="1200" b="1">
                  <a:solidFill>
                    <a:srgbClr val="FFFFFF"/>
                  </a:solidFill>
                  <a:latin typeface="Aptos" pitchFamily="34" charset="0"/>
                  <a:ea typeface="Aptos" pitchFamily="34" charset="-122"/>
                  <a:cs typeface="Aptos" pitchFamily="34" charset="-120"/>
                </a:rPr>
                <a:t>Custom GPTs</a:t>
              </a:r>
              <a:endParaRPr lang="en-US" sz="1200"/>
            </a:p>
          </p:txBody>
        </p:sp>
      </p:grpSp>
      <p:grpSp>
        <p:nvGrpSpPr>
          <p:cNvPr id="28" name="Group 27">
            <a:extLst>
              <a:ext uri="{FF2B5EF4-FFF2-40B4-BE49-F238E27FC236}">
                <a16:creationId xmlns:a16="http://schemas.microsoft.com/office/drawing/2014/main" id="{6FD98479-2300-EEDD-0A54-B415082CA15C}"/>
              </a:ext>
            </a:extLst>
          </p:cNvPr>
          <p:cNvGrpSpPr/>
          <p:nvPr/>
        </p:nvGrpSpPr>
        <p:grpSpPr>
          <a:xfrm>
            <a:off x="2274511" y="4849392"/>
            <a:ext cx="1280160" cy="548640"/>
            <a:chOff x="3063240" y="5285232"/>
            <a:chExt cx="932688" cy="301752"/>
          </a:xfrm>
          <a:solidFill>
            <a:schemeClr val="tx1"/>
          </a:solidFill>
        </p:grpSpPr>
        <p:sp>
          <p:nvSpPr>
            <p:cNvPr id="32" name="Shape 15">
              <a:extLst>
                <a:ext uri="{FF2B5EF4-FFF2-40B4-BE49-F238E27FC236}">
                  <a16:creationId xmlns:a16="http://schemas.microsoft.com/office/drawing/2014/main" id="{F16ECA95-AEA9-5297-C325-1DA2284FDCBE}"/>
                </a:ext>
              </a:extLst>
            </p:cNvPr>
            <p:cNvSpPr/>
            <p:nvPr/>
          </p:nvSpPr>
          <p:spPr>
            <a:xfrm>
              <a:off x="3063240" y="5285232"/>
              <a:ext cx="932688" cy="301752"/>
            </a:xfrm>
            <a:prstGeom prst="roundRect">
              <a:avLst>
                <a:gd name="adj" fmla="val 48485"/>
              </a:avLst>
            </a:prstGeom>
            <a:grpFill/>
            <a:ln w="12700">
              <a:solidFill>
                <a:srgbClr val="174C93">
                  <a:alpha val="0"/>
                </a:srgbClr>
              </a:solidFill>
              <a:prstDash val="solid"/>
            </a:ln>
          </p:spPr>
          <p:txBody>
            <a:bodyPr/>
            <a:lstStyle/>
            <a:p>
              <a:endParaRPr lang="en-US" sz="3600"/>
            </a:p>
          </p:txBody>
        </p:sp>
        <p:sp>
          <p:nvSpPr>
            <p:cNvPr id="33" name="Text 16">
              <a:extLst>
                <a:ext uri="{FF2B5EF4-FFF2-40B4-BE49-F238E27FC236}">
                  <a16:creationId xmlns:a16="http://schemas.microsoft.com/office/drawing/2014/main" id="{3C40A605-3271-F0CF-88DA-021294DA03BE}"/>
                </a:ext>
              </a:extLst>
            </p:cNvPr>
            <p:cNvSpPr/>
            <p:nvPr/>
          </p:nvSpPr>
          <p:spPr>
            <a:xfrm>
              <a:off x="3063240" y="5335524"/>
              <a:ext cx="932688" cy="201168"/>
            </a:xfrm>
            <a:prstGeom prst="rect">
              <a:avLst/>
            </a:prstGeom>
            <a:grpFill/>
            <a:ln/>
          </p:spPr>
          <p:txBody>
            <a:bodyPr wrap="square" lIns="0" tIns="0" rIns="0" bIns="0" rtlCol="0" anchor="ctr"/>
            <a:lstStyle/>
            <a:p>
              <a:pPr marL="0" indent="0" algn="ctr">
                <a:buNone/>
              </a:pPr>
              <a:r>
                <a:rPr lang="en-US" sz="1200" b="1">
                  <a:solidFill>
                    <a:srgbClr val="FFFFFF"/>
                  </a:solidFill>
                  <a:latin typeface="Aptos" pitchFamily="34" charset="0"/>
                  <a:ea typeface="Aptos" pitchFamily="34" charset="-122"/>
                  <a:cs typeface="Aptos" pitchFamily="34" charset="-120"/>
                </a:rPr>
                <a:t>Research</a:t>
              </a:r>
              <a:endParaRPr lang="en-US" sz="1200"/>
            </a:p>
          </p:txBody>
        </p:sp>
      </p:grpSp>
      <p:grpSp>
        <p:nvGrpSpPr>
          <p:cNvPr id="34" name="Group 33">
            <a:extLst>
              <a:ext uri="{FF2B5EF4-FFF2-40B4-BE49-F238E27FC236}">
                <a16:creationId xmlns:a16="http://schemas.microsoft.com/office/drawing/2014/main" id="{51AB8C12-7D1A-3F01-D21B-97C5178B7E1B}"/>
              </a:ext>
            </a:extLst>
          </p:cNvPr>
          <p:cNvGrpSpPr/>
          <p:nvPr/>
        </p:nvGrpSpPr>
        <p:grpSpPr>
          <a:xfrm>
            <a:off x="3959865" y="4006545"/>
            <a:ext cx="1280160" cy="548640"/>
            <a:chOff x="4087368" y="5285232"/>
            <a:chExt cx="822960" cy="301752"/>
          </a:xfrm>
          <a:solidFill>
            <a:schemeClr val="tx1"/>
          </a:solidFill>
        </p:grpSpPr>
        <p:sp>
          <p:nvSpPr>
            <p:cNvPr id="35" name="Shape 17">
              <a:extLst>
                <a:ext uri="{FF2B5EF4-FFF2-40B4-BE49-F238E27FC236}">
                  <a16:creationId xmlns:a16="http://schemas.microsoft.com/office/drawing/2014/main" id="{63EC2B36-A0B3-E3D9-EC78-18C0350F5E33}"/>
                </a:ext>
              </a:extLst>
            </p:cNvPr>
            <p:cNvSpPr/>
            <p:nvPr/>
          </p:nvSpPr>
          <p:spPr>
            <a:xfrm>
              <a:off x="4087368" y="5285232"/>
              <a:ext cx="822960" cy="301752"/>
            </a:xfrm>
            <a:prstGeom prst="roundRect">
              <a:avLst>
                <a:gd name="adj" fmla="val 48485"/>
              </a:avLst>
            </a:prstGeom>
            <a:grpFill/>
            <a:ln w="12700">
              <a:solidFill>
                <a:srgbClr val="174C93">
                  <a:alpha val="0"/>
                </a:srgbClr>
              </a:solidFill>
              <a:prstDash val="solid"/>
            </a:ln>
          </p:spPr>
          <p:txBody>
            <a:bodyPr/>
            <a:lstStyle/>
            <a:p>
              <a:endParaRPr lang="en-US" sz="3600"/>
            </a:p>
          </p:txBody>
        </p:sp>
        <p:sp>
          <p:nvSpPr>
            <p:cNvPr id="36" name="Text 18">
              <a:extLst>
                <a:ext uri="{FF2B5EF4-FFF2-40B4-BE49-F238E27FC236}">
                  <a16:creationId xmlns:a16="http://schemas.microsoft.com/office/drawing/2014/main" id="{EF52C42E-E026-D9A0-FB8A-FF816E1E198B}"/>
                </a:ext>
              </a:extLst>
            </p:cNvPr>
            <p:cNvSpPr/>
            <p:nvPr/>
          </p:nvSpPr>
          <p:spPr>
            <a:xfrm>
              <a:off x="4087368" y="5335524"/>
              <a:ext cx="822960" cy="201168"/>
            </a:xfrm>
            <a:prstGeom prst="rect">
              <a:avLst/>
            </a:prstGeom>
            <a:grpFill/>
            <a:ln/>
          </p:spPr>
          <p:txBody>
            <a:bodyPr wrap="square" lIns="0" tIns="0" rIns="0" bIns="0" rtlCol="0" anchor="ctr"/>
            <a:lstStyle/>
            <a:p>
              <a:pPr marL="0" indent="0" algn="ctr">
                <a:buNone/>
              </a:pPr>
              <a:r>
                <a:rPr lang="en-US" sz="1200" b="1">
                  <a:solidFill>
                    <a:srgbClr val="FFFFFF"/>
                  </a:solidFill>
                  <a:latin typeface="Aptos" pitchFamily="34" charset="0"/>
                  <a:ea typeface="Aptos" pitchFamily="34" charset="-122"/>
                  <a:cs typeface="Aptos" pitchFamily="34" charset="-120"/>
                </a:rPr>
                <a:t>Content</a:t>
              </a:r>
              <a:endParaRPr lang="en-US" sz="1200"/>
            </a:p>
          </p:txBody>
        </p:sp>
      </p:grpSp>
      <p:grpSp>
        <p:nvGrpSpPr>
          <p:cNvPr id="37" name="Group 36">
            <a:extLst>
              <a:ext uri="{FF2B5EF4-FFF2-40B4-BE49-F238E27FC236}">
                <a16:creationId xmlns:a16="http://schemas.microsoft.com/office/drawing/2014/main" id="{8B52F06F-4CC0-CC87-73F9-2B5A188CC392}"/>
              </a:ext>
            </a:extLst>
          </p:cNvPr>
          <p:cNvGrpSpPr/>
          <p:nvPr/>
        </p:nvGrpSpPr>
        <p:grpSpPr>
          <a:xfrm>
            <a:off x="3959865" y="4849392"/>
            <a:ext cx="1280160" cy="548640"/>
            <a:chOff x="5001768" y="5285232"/>
            <a:chExt cx="530352" cy="301752"/>
          </a:xfrm>
          <a:solidFill>
            <a:schemeClr val="tx1"/>
          </a:solidFill>
        </p:grpSpPr>
        <p:sp>
          <p:nvSpPr>
            <p:cNvPr id="38" name="Shape 19">
              <a:extLst>
                <a:ext uri="{FF2B5EF4-FFF2-40B4-BE49-F238E27FC236}">
                  <a16:creationId xmlns:a16="http://schemas.microsoft.com/office/drawing/2014/main" id="{A9EC1BD0-2B02-D5C9-4802-9BB4BE6EE982}"/>
                </a:ext>
              </a:extLst>
            </p:cNvPr>
            <p:cNvSpPr/>
            <p:nvPr/>
          </p:nvSpPr>
          <p:spPr>
            <a:xfrm>
              <a:off x="5001768" y="5285232"/>
              <a:ext cx="530352" cy="301752"/>
            </a:xfrm>
            <a:prstGeom prst="roundRect">
              <a:avLst>
                <a:gd name="adj" fmla="val 48485"/>
              </a:avLst>
            </a:prstGeom>
            <a:grpFill/>
            <a:ln w="12700">
              <a:solidFill>
                <a:srgbClr val="174C93">
                  <a:alpha val="0"/>
                </a:srgbClr>
              </a:solidFill>
              <a:prstDash val="solid"/>
            </a:ln>
          </p:spPr>
          <p:txBody>
            <a:bodyPr/>
            <a:lstStyle/>
            <a:p>
              <a:endParaRPr lang="en-US" sz="3600"/>
            </a:p>
          </p:txBody>
        </p:sp>
        <p:sp>
          <p:nvSpPr>
            <p:cNvPr id="39" name="Text 20">
              <a:extLst>
                <a:ext uri="{FF2B5EF4-FFF2-40B4-BE49-F238E27FC236}">
                  <a16:creationId xmlns:a16="http://schemas.microsoft.com/office/drawing/2014/main" id="{376620D4-5F56-F45A-466A-9B9C5EB7AC5B}"/>
                </a:ext>
              </a:extLst>
            </p:cNvPr>
            <p:cNvSpPr/>
            <p:nvPr/>
          </p:nvSpPr>
          <p:spPr>
            <a:xfrm>
              <a:off x="5001768" y="5335524"/>
              <a:ext cx="530352" cy="201168"/>
            </a:xfrm>
            <a:prstGeom prst="rect">
              <a:avLst/>
            </a:prstGeom>
            <a:grpFill/>
            <a:ln/>
          </p:spPr>
          <p:txBody>
            <a:bodyPr wrap="square" lIns="0" tIns="0" rIns="0" bIns="0" rtlCol="0" anchor="ctr"/>
            <a:lstStyle/>
            <a:p>
              <a:pPr marL="0" indent="0" algn="ctr">
                <a:buNone/>
              </a:pPr>
              <a:r>
                <a:rPr lang="en-US" sz="1200" b="1">
                  <a:solidFill>
                    <a:srgbClr val="FFFFFF"/>
                  </a:solidFill>
                  <a:latin typeface="Aptos" pitchFamily="34" charset="0"/>
                  <a:ea typeface="Aptos" pitchFamily="34" charset="-122"/>
                  <a:cs typeface="Aptos" pitchFamily="34" charset="-120"/>
                </a:rPr>
                <a:t>Data</a:t>
              </a:r>
              <a:endParaRPr lang="en-US" sz="1200"/>
            </a:p>
          </p:txBody>
        </p:sp>
      </p:grpSp>
      <p:grpSp>
        <p:nvGrpSpPr>
          <p:cNvPr id="40" name="Group 39">
            <a:extLst>
              <a:ext uri="{FF2B5EF4-FFF2-40B4-BE49-F238E27FC236}">
                <a16:creationId xmlns:a16="http://schemas.microsoft.com/office/drawing/2014/main" id="{9A75055B-CDB4-0915-3496-DC13757348CF}"/>
              </a:ext>
            </a:extLst>
          </p:cNvPr>
          <p:cNvGrpSpPr/>
          <p:nvPr/>
        </p:nvGrpSpPr>
        <p:grpSpPr>
          <a:xfrm>
            <a:off x="589158" y="4849392"/>
            <a:ext cx="1280160" cy="548640"/>
            <a:chOff x="658368" y="5696712"/>
            <a:chExt cx="1133856" cy="301752"/>
          </a:xfrm>
          <a:solidFill>
            <a:schemeClr val="tx1"/>
          </a:solidFill>
        </p:grpSpPr>
        <p:sp>
          <p:nvSpPr>
            <p:cNvPr id="41" name="Shape 21">
              <a:extLst>
                <a:ext uri="{FF2B5EF4-FFF2-40B4-BE49-F238E27FC236}">
                  <a16:creationId xmlns:a16="http://schemas.microsoft.com/office/drawing/2014/main" id="{7601AAE7-2A3F-F505-433B-8480AF86A9CD}"/>
                </a:ext>
              </a:extLst>
            </p:cNvPr>
            <p:cNvSpPr/>
            <p:nvPr/>
          </p:nvSpPr>
          <p:spPr>
            <a:xfrm>
              <a:off x="658368" y="5696712"/>
              <a:ext cx="1133856" cy="301752"/>
            </a:xfrm>
            <a:prstGeom prst="roundRect">
              <a:avLst>
                <a:gd name="adj" fmla="val 48485"/>
              </a:avLst>
            </a:prstGeom>
            <a:grpFill/>
            <a:ln w="12700">
              <a:solidFill>
                <a:srgbClr val="174C93">
                  <a:alpha val="0"/>
                </a:srgbClr>
              </a:solidFill>
              <a:prstDash val="solid"/>
            </a:ln>
          </p:spPr>
          <p:txBody>
            <a:bodyPr/>
            <a:lstStyle/>
            <a:p>
              <a:endParaRPr lang="en-US" sz="3600"/>
            </a:p>
          </p:txBody>
        </p:sp>
        <p:sp>
          <p:nvSpPr>
            <p:cNvPr id="42" name="Text 22">
              <a:extLst>
                <a:ext uri="{FF2B5EF4-FFF2-40B4-BE49-F238E27FC236}">
                  <a16:creationId xmlns:a16="http://schemas.microsoft.com/office/drawing/2014/main" id="{2D189ADB-961C-8EF5-21B7-E67220BA73AA}"/>
                </a:ext>
              </a:extLst>
            </p:cNvPr>
            <p:cNvSpPr/>
            <p:nvPr/>
          </p:nvSpPr>
          <p:spPr>
            <a:xfrm>
              <a:off x="658368" y="5747004"/>
              <a:ext cx="1133856" cy="201168"/>
            </a:xfrm>
            <a:prstGeom prst="rect">
              <a:avLst/>
            </a:prstGeom>
            <a:grpFill/>
            <a:ln/>
          </p:spPr>
          <p:txBody>
            <a:bodyPr wrap="square" lIns="0" tIns="0" rIns="0" bIns="0" rtlCol="0" anchor="ctr"/>
            <a:lstStyle/>
            <a:p>
              <a:pPr marL="0" indent="0" algn="ctr">
                <a:buNone/>
              </a:pPr>
              <a:r>
                <a:rPr lang="en-US" sz="1200" b="1">
                  <a:solidFill>
                    <a:srgbClr val="FFFFFF"/>
                  </a:solidFill>
                  <a:latin typeface="Aptos" pitchFamily="34" charset="0"/>
                  <a:ea typeface="Aptos" pitchFamily="34" charset="-122"/>
                  <a:cs typeface="Aptos" pitchFamily="34" charset="-120"/>
                </a:rPr>
                <a:t>Automation</a:t>
              </a:r>
              <a:endParaRPr lang="en-US" sz="1200"/>
            </a:p>
          </p:txBody>
        </p:sp>
      </p:grpSp>
    </p:spTree>
    <p:extLst>
      <p:ext uri="{BB962C8B-B14F-4D97-AF65-F5344CB8AC3E}">
        <p14:creationId xmlns:p14="http://schemas.microsoft.com/office/powerpoint/2010/main" val="11180270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6C9DD-8A79-FF8B-FA75-508853B6789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05E09F46-919A-4116-FC38-1C42F4F71210}"/>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2615E96C-E714-9AFF-4602-6C11C184F34E}"/>
              </a:ext>
            </a:extLst>
          </p:cNvPr>
          <p:cNvSpPr>
            <a:spLocks noGrp="1"/>
          </p:cNvSpPr>
          <p:nvPr>
            <p:ph type="title"/>
          </p:nvPr>
        </p:nvSpPr>
        <p:spPr>
          <a:xfrm>
            <a:off x="421042" y="503661"/>
            <a:ext cx="11365791" cy="544803"/>
          </a:xfrm>
        </p:spPr>
        <p:txBody>
          <a:bodyPr/>
          <a:lstStyle/>
          <a:p>
            <a:r>
              <a:rPr lang="en-US" sz="3100"/>
              <a:t>Awards Your Way</a:t>
            </a:r>
          </a:p>
        </p:txBody>
      </p:sp>
      <p:sp>
        <p:nvSpPr>
          <p:cNvPr id="10" name="TextBox 9">
            <a:extLst>
              <a:ext uri="{FF2B5EF4-FFF2-40B4-BE49-F238E27FC236}">
                <a16:creationId xmlns:a16="http://schemas.microsoft.com/office/drawing/2014/main" id="{4029D518-8426-7022-E34F-7F359B222869}"/>
              </a:ext>
            </a:extLst>
          </p:cNvPr>
          <p:cNvSpPr txBox="1"/>
          <p:nvPr/>
        </p:nvSpPr>
        <p:spPr>
          <a:xfrm>
            <a:off x="421040" y="1873840"/>
            <a:ext cx="5532085" cy="2503249"/>
          </a:xfrm>
          <a:prstGeom prst="rect">
            <a:avLst/>
          </a:prstGeom>
          <a:noFill/>
        </p:spPr>
        <p:txBody>
          <a:bodyPr wrap="square" lIns="0" tIns="0" rIns="0" bIns="0">
            <a:spAutoFit/>
          </a:bodyPr>
          <a:lstStyle/>
          <a:p>
            <a:pPr marL="225425" marR="0" lvl="0" indent="-2254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7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Open to eligible 2026 Council agents, QC and higher¹</a:t>
            </a:r>
          </a:p>
          <a:p>
            <a:pPr marL="225425" marR="0" lvl="0" indent="-2254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7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Qualification period: </a:t>
            </a:r>
            <a:r>
              <a:rPr kumimoji="0" lang="en-US" sz="17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July 1–December 31, 2026</a:t>
            </a:r>
          </a:p>
          <a:p>
            <a:pPr marL="225425" marR="0" lvl="0" indent="-2254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7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Earn points through insurance production, growth, and designations</a:t>
            </a:r>
          </a:p>
          <a:p>
            <a:pPr marL="225425" marR="0" lvl="0" indent="-2254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7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Choose rewards that fit you, including travel, merchandise, gift cards, tickets, and experiences</a:t>
            </a:r>
          </a:p>
          <a:p>
            <a:pPr marL="225425" marR="0" lvl="0" indent="-2254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7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Action required: </a:t>
            </a:r>
            <a:r>
              <a:rPr kumimoji="0" lang="en-US" sz="17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Complete the opt-in survey by September 30, 2026, to participate</a:t>
            </a:r>
          </a:p>
        </p:txBody>
      </p:sp>
      <p:sp>
        <p:nvSpPr>
          <p:cNvPr id="19" name="Content Placeholder 3">
            <a:extLst>
              <a:ext uri="{FF2B5EF4-FFF2-40B4-BE49-F238E27FC236}">
                <a16:creationId xmlns:a16="http://schemas.microsoft.com/office/drawing/2014/main" id="{4EB1A58F-11F3-9AE8-E3CD-37AE03FEE886}"/>
              </a:ext>
            </a:extLst>
          </p:cNvPr>
          <p:cNvSpPr txBox="1">
            <a:spLocks/>
          </p:cNvSpPr>
          <p:nvPr/>
        </p:nvSpPr>
        <p:spPr>
          <a:xfrm>
            <a:off x="421042" y="1178214"/>
            <a:ext cx="11310706" cy="54480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2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21" name="TextBox 20">
            <a:extLst>
              <a:ext uri="{FF2B5EF4-FFF2-40B4-BE49-F238E27FC236}">
                <a16:creationId xmlns:a16="http://schemas.microsoft.com/office/drawing/2014/main" id="{7E450849-EFAA-9F5D-A26F-D85D81CDBAF4}"/>
              </a:ext>
            </a:extLst>
          </p:cNvPr>
          <p:cNvSpPr txBox="1"/>
          <p:nvPr/>
        </p:nvSpPr>
        <p:spPr>
          <a:xfrm>
            <a:off x="387989" y="1015812"/>
            <a:ext cx="10375490" cy="369332"/>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962"/>
                </a:solidFill>
                <a:effectLst/>
                <a:uLnTx/>
                <a:uFillTx/>
                <a:latin typeface="Georgia" panose="02040502050405020303"/>
                <a:ea typeface="+mn-ea"/>
                <a:cs typeface="+mn-cs"/>
              </a:rPr>
              <a:t>A new choice-based incentive program for Council agents</a:t>
            </a:r>
          </a:p>
        </p:txBody>
      </p:sp>
      <p:sp>
        <p:nvSpPr>
          <p:cNvPr id="5" name="Rectangle 4">
            <a:extLst>
              <a:ext uri="{FF2B5EF4-FFF2-40B4-BE49-F238E27FC236}">
                <a16:creationId xmlns:a16="http://schemas.microsoft.com/office/drawing/2014/main" id="{91F89F75-762A-7FEB-15EE-E28BCA75A464}"/>
              </a:ext>
            </a:extLst>
          </p:cNvPr>
          <p:cNvSpPr/>
          <p:nvPr/>
        </p:nvSpPr>
        <p:spPr bwMode="ltGray">
          <a:xfrm>
            <a:off x="421040" y="4741051"/>
            <a:ext cx="4999417"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8" name="Isosceles Triangle 7">
            <a:extLst>
              <a:ext uri="{FF2B5EF4-FFF2-40B4-BE49-F238E27FC236}">
                <a16:creationId xmlns:a16="http://schemas.microsoft.com/office/drawing/2014/main" id="{71061361-35FD-18EC-2833-FF8D86DCC48C}"/>
              </a:ext>
            </a:extLst>
          </p:cNvPr>
          <p:cNvSpPr/>
          <p:nvPr/>
        </p:nvSpPr>
        <p:spPr bwMode="ltGray">
          <a:xfrm rot="5400000">
            <a:off x="4392418" y="5172874"/>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9" name="TextBox 8">
            <a:extLst>
              <a:ext uri="{FF2B5EF4-FFF2-40B4-BE49-F238E27FC236}">
                <a16:creationId xmlns:a16="http://schemas.microsoft.com/office/drawing/2014/main" id="{3116A1DF-FFF3-B2D8-947E-09F555F83F0E}"/>
              </a:ext>
            </a:extLst>
          </p:cNvPr>
          <p:cNvSpPr txBox="1"/>
          <p:nvPr/>
        </p:nvSpPr>
        <p:spPr>
          <a:xfrm>
            <a:off x="731521" y="4967725"/>
            <a:ext cx="3420931" cy="64633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965"/>
                </a:solidFill>
                <a:effectLst/>
                <a:uLnTx/>
                <a:uFillTx/>
                <a:latin typeface="Arial"/>
                <a:ea typeface="+mn-ea"/>
                <a:cs typeface="+mn-cs"/>
              </a:rPr>
              <a:t>Scan the QR code to learn more about </a:t>
            </a:r>
            <a:r>
              <a:rPr kumimoji="0" lang="en-US" sz="1400" b="1" i="0" u="none" strike="noStrike" kern="1200" cap="none" spc="0" normalizeH="0" baseline="0" noProof="0">
                <a:ln>
                  <a:noFill/>
                </a:ln>
                <a:solidFill>
                  <a:srgbClr val="000965"/>
                </a:solidFill>
                <a:effectLst/>
                <a:uLnTx/>
                <a:uFillTx/>
                <a:latin typeface="Arial"/>
                <a:ea typeface="+mn-ea"/>
                <a:cs typeface="+mn-cs"/>
              </a:rPr>
              <a:t>Awards Your Way </a:t>
            </a:r>
            <a:r>
              <a:rPr kumimoji="0" lang="en-US" sz="1400" b="0" i="0" u="none" strike="noStrike" kern="1200" cap="none" spc="0" normalizeH="0" baseline="0" noProof="0">
                <a:ln>
                  <a:noFill/>
                </a:ln>
                <a:solidFill>
                  <a:srgbClr val="000965"/>
                </a:solidFill>
                <a:effectLst/>
                <a:uLnTx/>
                <a:uFillTx/>
                <a:latin typeface="Arial"/>
                <a:ea typeface="+mn-ea"/>
                <a:cs typeface="+mn-cs"/>
              </a:rPr>
              <a:t>and complete the opt-in survey by </a:t>
            </a:r>
            <a:r>
              <a:rPr kumimoji="0" lang="en-US" sz="1400" b="1" i="0" u="none" strike="noStrike" kern="1200" cap="none" spc="0" normalizeH="0" baseline="0" noProof="0">
                <a:ln>
                  <a:noFill/>
                </a:ln>
                <a:solidFill>
                  <a:srgbClr val="000965"/>
                </a:solidFill>
                <a:effectLst/>
                <a:uLnTx/>
                <a:uFillTx/>
                <a:latin typeface="Arial"/>
                <a:ea typeface="+mn-ea"/>
                <a:cs typeface="+mn-cs"/>
              </a:rPr>
              <a:t>September 30, 2026</a:t>
            </a:r>
            <a:r>
              <a:rPr kumimoji="0" lang="en-US" sz="1400" b="0" i="0" u="none" strike="noStrike" kern="1200" cap="none" spc="0" normalizeH="0" baseline="0" noProof="0">
                <a:ln>
                  <a:noFill/>
                </a:ln>
                <a:solidFill>
                  <a:srgbClr val="000965"/>
                </a:solidFill>
                <a:effectLst/>
                <a:uLnTx/>
                <a:uFillTx/>
                <a:latin typeface="Arial"/>
                <a:ea typeface="+mn-ea"/>
                <a:cs typeface="+mn-cs"/>
              </a:rPr>
              <a:t>.</a:t>
            </a:r>
            <a:endParaRPr kumimoji="0" lang="en-US" sz="1400" b="0" i="0" u="none" strike="noStrike" kern="1200" cap="none" spc="0" normalizeH="0" baseline="0" noProof="0">
              <a:ln>
                <a:noFill/>
              </a:ln>
              <a:solidFill>
                <a:srgbClr val="7FB9FF"/>
              </a:solidFill>
              <a:effectLst/>
              <a:uLnTx/>
              <a:uFillTx/>
              <a:latin typeface="Arial"/>
              <a:ea typeface="+mn-ea"/>
              <a:cs typeface="+mn-cs"/>
            </a:endParaRPr>
          </a:p>
        </p:txBody>
      </p:sp>
      <p:pic>
        <p:nvPicPr>
          <p:cNvPr id="11" name="Picture 10">
            <a:extLst>
              <a:ext uri="{FF2B5EF4-FFF2-40B4-BE49-F238E27FC236}">
                <a16:creationId xmlns:a16="http://schemas.microsoft.com/office/drawing/2014/main" id="{7C783581-AB64-01DE-7086-97220B16262E}"/>
              </a:ext>
            </a:extLst>
          </p:cNvPr>
          <p:cNvPicPr>
            <a:picLocks noChangeAspect="1"/>
          </p:cNvPicPr>
          <p:nvPr/>
        </p:nvPicPr>
        <p:blipFill>
          <a:blip r:embed="rId3"/>
          <a:srcRect/>
          <a:stretch/>
        </p:blipFill>
        <p:spPr>
          <a:xfrm>
            <a:off x="4998743" y="4742262"/>
            <a:ext cx="1097256" cy="1097256"/>
          </a:xfrm>
          <a:prstGeom prst="rect">
            <a:avLst/>
          </a:prstGeom>
        </p:spPr>
      </p:pic>
      <p:pic>
        <p:nvPicPr>
          <p:cNvPr id="16" name="Picture 15">
            <a:extLst>
              <a:ext uri="{FF2B5EF4-FFF2-40B4-BE49-F238E27FC236}">
                <a16:creationId xmlns:a16="http://schemas.microsoft.com/office/drawing/2014/main" id="{8BE8B8F6-CD72-D826-1243-874EC1D0366B}"/>
              </a:ext>
            </a:extLst>
          </p:cNvPr>
          <p:cNvPicPr>
            <a:picLocks noChangeAspect="1"/>
          </p:cNvPicPr>
          <p:nvPr/>
        </p:nvPicPr>
        <p:blipFill>
          <a:blip r:embed="rId4"/>
          <a:stretch>
            <a:fillRect/>
          </a:stretch>
        </p:blipFill>
        <p:spPr>
          <a:xfrm>
            <a:off x="6185609" y="1619369"/>
            <a:ext cx="5625254" cy="4218940"/>
          </a:xfrm>
          <a:prstGeom prst="rect">
            <a:avLst/>
          </a:prstGeom>
        </p:spPr>
      </p:pic>
      <p:sp>
        <p:nvSpPr>
          <p:cNvPr id="4" name="TextBox 3">
            <a:extLst>
              <a:ext uri="{FF2B5EF4-FFF2-40B4-BE49-F238E27FC236}">
                <a16:creationId xmlns:a16="http://schemas.microsoft.com/office/drawing/2014/main" id="{F957ED26-F7E9-921D-D2AC-8F729B685821}"/>
              </a:ext>
            </a:extLst>
          </p:cNvPr>
          <p:cNvSpPr txBox="1"/>
          <p:nvPr/>
        </p:nvSpPr>
        <p:spPr>
          <a:xfrm>
            <a:off x="2287557" y="6232230"/>
            <a:ext cx="7365874"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30000" noProof="0">
                <a:ln>
                  <a:noFill/>
                </a:ln>
                <a:solidFill>
                  <a:srgbClr val="E2DFDD">
                    <a:lumMod val="50000"/>
                  </a:srgbClr>
                </a:solidFill>
                <a:effectLst/>
                <a:uLnTx/>
                <a:uFillTx/>
                <a:latin typeface="Arial" panose="020B0604020202020204" pitchFamily="34" charset="0"/>
                <a:ea typeface="+mn-ea"/>
                <a:cs typeface="Arial" panose="020B0604020202020204" pitchFamily="34" charset="0"/>
              </a:rPr>
              <a:t>1</a:t>
            </a:r>
            <a:r>
              <a:rPr kumimoji="0" lang="en-US" sz="1000" b="0" i="0" u="none" strike="noStrike" kern="1200" cap="none" spc="0" normalizeH="0" baseline="0" noProof="0">
                <a:ln>
                  <a:noFill/>
                </a:ln>
                <a:solidFill>
                  <a:srgbClr val="E2DFDD">
                    <a:lumMod val="50000"/>
                  </a:srgbClr>
                </a:solidFill>
                <a:effectLst/>
                <a:uLnTx/>
                <a:uFillTx/>
                <a:latin typeface="Arial" panose="020B0604020202020204" pitchFamily="34" charset="0"/>
                <a:ea typeface="+mn-ea"/>
                <a:cs typeface="Arial" panose="020B0604020202020204" pitchFamily="34" charset="0"/>
              </a:rPr>
              <a:t>Agents eligible to enroll in the Life and Annuity Expense Allowance Plan must enroll by July 31, 2026.</a:t>
            </a:r>
          </a:p>
        </p:txBody>
      </p:sp>
    </p:spTree>
    <p:extLst>
      <p:ext uri="{BB962C8B-B14F-4D97-AF65-F5344CB8AC3E}">
        <p14:creationId xmlns:p14="http://schemas.microsoft.com/office/powerpoint/2010/main" val="16328425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CD71A-CF05-6E18-A804-1495C88197D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8C07939-16FE-2E62-FD01-67518A74E8A8}"/>
              </a:ext>
            </a:extLst>
          </p:cNvPr>
          <p:cNvSpPr/>
          <p:nvPr/>
        </p:nvSpPr>
        <p:spPr bwMode="ltGray">
          <a:xfrm>
            <a:off x="93519" y="1345457"/>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10655475-7894-B032-030A-5EC43D4F0BF2}"/>
              </a:ext>
            </a:extLst>
          </p:cNvPr>
          <p:cNvSpPr>
            <a:spLocks noGrp="1"/>
          </p:cNvSpPr>
          <p:nvPr>
            <p:ph type="title"/>
          </p:nvPr>
        </p:nvSpPr>
        <p:spPr>
          <a:xfrm>
            <a:off x="439940" y="381000"/>
            <a:ext cx="11294854" cy="912666"/>
          </a:xfrm>
        </p:spPr>
        <p:txBody>
          <a:bodyPr/>
          <a:lstStyle/>
          <a:p>
            <a:r>
              <a:rPr lang="en-US">
                <a:latin typeface="+mj-lt"/>
              </a:rPr>
              <a:t>Now available on Hearsay/</a:t>
            </a:r>
            <a:r>
              <a:rPr lang="en-US" err="1">
                <a:latin typeface="+mj-lt"/>
              </a:rPr>
              <a:t>Yext</a:t>
            </a:r>
            <a:br>
              <a:rPr lang="en-US" sz="2000">
                <a:latin typeface="+mj-lt"/>
              </a:rPr>
            </a:br>
            <a:r>
              <a:rPr lang="en-US" sz="2800">
                <a:latin typeface="+mj-lt"/>
              </a:rPr>
              <a:t>New IDI email &amp; social media campaigns</a:t>
            </a:r>
          </a:p>
        </p:txBody>
      </p:sp>
      <p:sp>
        <p:nvSpPr>
          <p:cNvPr id="3" name="Content Placeholder 2">
            <a:extLst>
              <a:ext uri="{FF2B5EF4-FFF2-40B4-BE49-F238E27FC236}">
                <a16:creationId xmlns:a16="http://schemas.microsoft.com/office/drawing/2014/main" id="{793FCBC5-95CD-1048-A854-D6FE0CC715FA}"/>
              </a:ext>
            </a:extLst>
          </p:cNvPr>
          <p:cNvSpPr>
            <a:spLocks noGrp="1"/>
          </p:cNvSpPr>
          <p:nvPr>
            <p:ph idx="1"/>
          </p:nvPr>
        </p:nvSpPr>
        <p:spPr>
          <a:xfrm>
            <a:off x="414782" y="1850684"/>
            <a:ext cx="6834267" cy="3661859"/>
          </a:xfrm>
        </p:spPr>
        <p:txBody>
          <a:bodyPr/>
          <a:lstStyle/>
          <a:p>
            <a:pPr marL="0" indent="0">
              <a:buNone/>
            </a:pPr>
            <a:r>
              <a:rPr lang="en-US" b="1">
                <a:latin typeface="+mn-lt"/>
              </a:rPr>
              <a:t>Ready-to-use individual disability insurance (IDI) tools to help you target and grow your business.</a:t>
            </a:r>
            <a:endParaRPr lang="en-US" sz="2800">
              <a:latin typeface="+mn-lt"/>
            </a:endParaRPr>
          </a:p>
          <a:p>
            <a:pPr marL="0" indent="0">
              <a:buNone/>
            </a:pPr>
            <a:r>
              <a:rPr lang="en-US">
                <a:latin typeface="+mn-lt"/>
                <a:ea typeface="Tahoma"/>
                <a:cs typeface="Tahoma"/>
              </a:rPr>
              <a:t>Relevant messaging built for:</a:t>
            </a:r>
          </a:p>
          <a:p>
            <a:r>
              <a:rPr lang="en-US">
                <a:latin typeface="+mn-lt"/>
                <a:ea typeface="Tahoma"/>
                <a:cs typeface="Tahoma"/>
              </a:rPr>
              <a:t>Business owners</a:t>
            </a:r>
          </a:p>
          <a:p>
            <a:r>
              <a:rPr lang="en-US">
                <a:latin typeface="+mn-lt"/>
                <a:ea typeface="Tahoma"/>
                <a:cs typeface="Tahoma"/>
              </a:rPr>
              <a:t>Young professionals</a:t>
            </a:r>
          </a:p>
          <a:p>
            <a:r>
              <a:rPr lang="en-US">
                <a:latin typeface="+mn-lt"/>
                <a:ea typeface="Tahoma"/>
                <a:cs typeface="Tahoma"/>
              </a:rPr>
              <a:t>White-collar clients</a:t>
            </a:r>
          </a:p>
          <a:p>
            <a:r>
              <a:rPr lang="en-US">
                <a:latin typeface="+mn-lt"/>
                <a:ea typeface="Tahoma"/>
                <a:cs typeface="Tahoma"/>
              </a:rPr>
              <a:t>White-coat clients</a:t>
            </a:r>
          </a:p>
          <a:p>
            <a:endParaRPr lang="en-US"/>
          </a:p>
          <a:p>
            <a:pPr marL="0" indent="0">
              <a:buNone/>
            </a:pPr>
            <a:endParaRPr lang="en-US"/>
          </a:p>
          <a:p>
            <a:pPr marL="0" indent="0">
              <a:buNone/>
            </a:pPr>
            <a:endParaRPr lang="en-US"/>
          </a:p>
        </p:txBody>
      </p:sp>
      <p:sp>
        <p:nvSpPr>
          <p:cNvPr id="7" name="Rectangle 6">
            <a:extLst>
              <a:ext uri="{FF2B5EF4-FFF2-40B4-BE49-F238E27FC236}">
                <a16:creationId xmlns:a16="http://schemas.microsoft.com/office/drawing/2014/main" id="{FF469A5E-8382-774F-0861-CFF998FFB05F}"/>
              </a:ext>
            </a:extLst>
          </p:cNvPr>
          <p:cNvSpPr/>
          <p:nvPr/>
        </p:nvSpPr>
        <p:spPr bwMode="ltGray">
          <a:xfrm>
            <a:off x="7391395" y="4820094"/>
            <a:ext cx="4343400"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8" name="Rectangle 7">
            <a:extLst>
              <a:ext uri="{FF2B5EF4-FFF2-40B4-BE49-F238E27FC236}">
                <a16:creationId xmlns:a16="http://schemas.microsoft.com/office/drawing/2014/main" id="{B317DEA6-EF72-06DE-87AF-8EE133993054}"/>
              </a:ext>
            </a:extLst>
          </p:cNvPr>
          <p:cNvSpPr/>
          <p:nvPr/>
        </p:nvSpPr>
        <p:spPr>
          <a:xfrm>
            <a:off x="7391400" y="1535039"/>
            <a:ext cx="4343400" cy="3189738"/>
          </a:xfrm>
          <a:prstGeom prst="rect">
            <a:avLst/>
          </a:prstGeom>
          <a:solidFill>
            <a:schemeClr val="accent2">
              <a:alpha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 name="Isosceles Triangle 11">
            <a:extLst>
              <a:ext uri="{FF2B5EF4-FFF2-40B4-BE49-F238E27FC236}">
                <a16:creationId xmlns:a16="http://schemas.microsoft.com/office/drawing/2014/main" id="{37B1EDA5-FFFA-18CD-FF60-B18AE4F4C34A}"/>
              </a:ext>
            </a:extLst>
          </p:cNvPr>
          <p:cNvSpPr/>
          <p:nvPr/>
        </p:nvSpPr>
        <p:spPr bwMode="ltGray">
          <a:xfrm rot="5400000">
            <a:off x="10057079" y="5251917"/>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13" name="TextBox 12">
            <a:extLst>
              <a:ext uri="{FF2B5EF4-FFF2-40B4-BE49-F238E27FC236}">
                <a16:creationId xmlns:a16="http://schemas.microsoft.com/office/drawing/2014/main" id="{DD08E069-098D-21C4-36DA-03B1FA71759E}"/>
              </a:ext>
            </a:extLst>
          </p:cNvPr>
          <p:cNvSpPr txBox="1"/>
          <p:nvPr/>
        </p:nvSpPr>
        <p:spPr>
          <a:xfrm>
            <a:off x="7716137" y="5000601"/>
            <a:ext cx="2048126" cy="73866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to </a:t>
            </a:r>
            <a:r>
              <a:rPr kumimoji="0" lang="en-US" sz="1600" b="0" i="0" u="none" strike="noStrike" kern="1200" cap="none" spc="0" normalizeH="0" baseline="0" noProof="0" err="1">
                <a:ln>
                  <a:noFill/>
                </a:ln>
                <a:solidFill>
                  <a:srgbClr val="000965"/>
                </a:solidFill>
                <a:effectLst/>
                <a:uLnTx/>
                <a:uFillTx/>
                <a:latin typeface="Arial"/>
                <a:ea typeface="+mn-ea"/>
                <a:cs typeface="+mn-cs"/>
              </a:rPr>
              <a:t>tbrowse</a:t>
            </a:r>
            <a:r>
              <a:rPr kumimoji="0" lang="en-US" sz="1600" b="0" i="0" u="none" strike="noStrike" kern="1200" cap="none" spc="0" normalizeH="0" baseline="0" noProof="0">
                <a:ln>
                  <a:noFill/>
                </a:ln>
                <a:solidFill>
                  <a:srgbClr val="000965"/>
                </a:solidFill>
                <a:effectLst/>
                <a:uLnTx/>
                <a:uFillTx/>
                <a:latin typeface="Arial"/>
                <a:ea typeface="+mn-ea"/>
                <a:cs typeface="+mn-cs"/>
              </a:rPr>
              <a:t> and enroll all campaigns </a:t>
            </a:r>
            <a:endParaRPr kumimoji="0" lang="en-US" sz="1600" b="0" i="0" u="none" strike="noStrike" kern="1200" cap="none" spc="0" normalizeH="0" baseline="0" noProof="0">
              <a:ln>
                <a:noFill/>
              </a:ln>
              <a:solidFill>
                <a:srgbClr val="7FB9FF"/>
              </a:solidFill>
              <a:effectLst/>
              <a:uLnTx/>
              <a:uFillTx/>
              <a:latin typeface="Arial"/>
              <a:ea typeface="+mn-ea"/>
              <a:cs typeface="+mn-cs"/>
            </a:endParaRPr>
          </a:p>
        </p:txBody>
      </p:sp>
      <p:sp>
        <p:nvSpPr>
          <p:cNvPr id="15" name="Rectangle 14">
            <a:extLst>
              <a:ext uri="{FF2B5EF4-FFF2-40B4-BE49-F238E27FC236}">
                <a16:creationId xmlns:a16="http://schemas.microsoft.com/office/drawing/2014/main" id="{D3723B2B-6887-8DC0-E08F-B24DDA2A88C3}"/>
              </a:ext>
            </a:extLst>
          </p:cNvPr>
          <p:cNvSpPr>
            <a:spLocks/>
          </p:cNvSpPr>
          <p:nvPr/>
        </p:nvSpPr>
        <p:spPr>
          <a:xfrm rot="10800000" flipV="1">
            <a:off x="10635115" y="4820093"/>
            <a:ext cx="1099679" cy="10996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Add </a:t>
            </a:r>
            <a:br>
              <a:rPr kumimoji="0" lang="en-US" sz="1600" b="0" i="0" u="none" strike="noStrike" kern="1200" cap="none" spc="0" normalizeH="0" baseline="0" noProof="0">
                <a:ln>
                  <a:noFill/>
                </a:ln>
                <a:solidFill>
                  <a:srgbClr val="000000"/>
                </a:solidFill>
                <a:effectLst/>
                <a:uLnTx/>
                <a:uFillTx/>
                <a:latin typeface="Arial"/>
                <a:ea typeface="+mn-ea"/>
                <a:cs typeface="+mn-cs"/>
              </a:rPr>
            </a:br>
            <a:r>
              <a:rPr kumimoji="0" lang="en-US" sz="1600" b="0" i="0" u="none" strike="noStrike" kern="1200" cap="none" spc="0" normalizeH="0" baseline="0" noProof="0">
                <a:ln>
                  <a:noFill/>
                </a:ln>
                <a:solidFill>
                  <a:srgbClr val="000000"/>
                </a:solidFill>
                <a:effectLst/>
                <a:uLnTx/>
                <a:uFillTx/>
                <a:latin typeface="Arial"/>
                <a:ea typeface="+mn-ea"/>
                <a:cs typeface="+mn-cs"/>
              </a:rPr>
              <a:t>QR code here</a:t>
            </a:r>
          </a:p>
        </p:txBody>
      </p:sp>
      <p:pic>
        <p:nvPicPr>
          <p:cNvPr id="11" name="Picture 10">
            <a:extLst>
              <a:ext uri="{FF2B5EF4-FFF2-40B4-BE49-F238E27FC236}">
                <a16:creationId xmlns:a16="http://schemas.microsoft.com/office/drawing/2014/main" id="{749D2020-F507-B863-AF2A-93C86EA98ED2}"/>
              </a:ext>
            </a:extLst>
          </p:cNvPr>
          <p:cNvPicPr>
            <a:picLocks noChangeAspect="1"/>
          </p:cNvPicPr>
          <p:nvPr/>
        </p:nvPicPr>
        <p:blipFill>
          <a:blip r:embed="rId3"/>
          <a:stretch>
            <a:fillRect/>
          </a:stretch>
        </p:blipFill>
        <p:spPr>
          <a:xfrm>
            <a:off x="7560578" y="1752248"/>
            <a:ext cx="4011312" cy="2656884"/>
          </a:xfrm>
          <a:prstGeom prst="rect">
            <a:avLst/>
          </a:prstGeom>
        </p:spPr>
      </p:pic>
      <p:pic>
        <p:nvPicPr>
          <p:cNvPr id="18" name="Picture 17">
            <a:extLst>
              <a:ext uri="{FF2B5EF4-FFF2-40B4-BE49-F238E27FC236}">
                <a16:creationId xmlns:a16="http://schemas.microsoft.com/office/drawing/2014/main" id="{86CC8A5A-A0B3-B1D6-BF91-A27F0B62145B}"/>
              </a:ext>
            </a:extLst>
          </p:cNvPr>
          <p:cNvPicPr>
            <a:picLocks noChangeAspect="1"/>
          </p:cNvPicPr>
          <p:nvPr/>
        </p:nvPicPr>
        <p:blipFill>
          <a:blip r:embed="rId4"/>
          <a:stretch>
            <a:fillRect/>
          </a:stretch>
        </p:blipFill>
        <p:spPr>
          <a:xfrm>
            <a:off x="10722991" y="4860998"/>
            <a:ext cx="923925" cy="923925"/>
          </a:xfrm>
          <a:prstGeom prst="rect">
            <a:avLst/>
          </a:prstGeom>
        </p:spPr>
      </p:pic>
    </p:spTree>
    <p:extLst>
      <p:ext uri="{BB962C8B-B14F-4D97-AF65-F5344CB8AC3E}">
        <p14:creationId xmlns:p14="http://schemas.microsoft.com/office/powerpoint/2010/main" val="10438248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5D1EC-E6DF-75F1-BC66-F15187896DF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C48A1E0-38AB-A5E9-0A43-FEB5EC81FDD3}"/>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A891E7A3-22D9-62AE-9699-06F7E690844A}"/>
              </a:ext>
            </a:extLst>
          </p:cNvPr>
          <p:cNvSpPr>
            <a:spLocks noGrp="1"/>
          </p:cNvSpPr>
          <p:nvPr>
            <p:ph type="title"/>
          </p:nvPr>
        </p:nvSpPr>
        <p:spPr/>
        <p:txBody>
          <a:bodyPr/>
          <a:lstStyle/>
          <a:p>
            <a:r>
              <a:rPr lang="en-US">
                <a:latin typeface="Georgia"/>
              </a:rPr>
              <a:t>Annuity Insights: Women and Wealth Podcast Series</a:t>
            </a:r>
            <a:endParaRPr lang="en-US"/>
          </a:p>
        </p:txBody>
      </p:sp>
      <p:sp>
        <p:nvSpPr>
          <p:cNvPr id="3" name="Content Placeholder 2">
            <a:extLst>
              <a:ext uri="{FF2B5EF4-FFF2-40B4-BE49-F238E27FC236}">
                <a16:creationId xmlns:a16="http://schemas.microsoft.com/office/drawing/2014/main" id="{E25B9398-7CAF-3473-56BC-DB01DD6366B2}"/>
              </a:ext>
            </a:extLst>
          </p:cNvPr>
          <p:cNvSpPr>
            <a:spLocks noGrp="1"/>
          </p:cNvSpPr>
          <p:nvPr>
            <p:ph idx="1"/>
          </p:nvPr>
        </p:nvSpPr>
        <p:spPr>
          <a:xfrm>
            <a:off x="115614" y="1536370"/>
            <a:ext cx="5920029" cy="4375179"/>
          </a:xfrm>
        </p:spPr>
        <p:txBody>
          <a:bodyPr/>
          <a:lstStyle/>
          <a:p>
            <a:pPr marL="342900" indent="-342900">
              <a:spcBef>
                <a:spcPts val="0"/>
              </a:spcBef>
              <a:spcAft>
                <a:spcPts val="600"/>
              </a:spcAft>
            </a:pPr>
            <a:endParaRPr lang="en-US">
              <a:latin typeface="Arial"/>
              <a:cs typeface="Arial"/>
            </a:endParaRPr>
          </a:p>
          <a:p>
            <a:pPr marL="342900" indent="-342900">
              <a:spcBef>
                <a:spcPts val="0"/>
              </a:spcBef>
              <a:spcAft>
                <a:spcPts val="600"/>
              </a:spcAft>
            </a:pPr>
            <a:r>
              <a:rPr lang="en-US">
                <a:latin typeface="Arial"/>
                <a:cs typeface="Arial"/>
              </a:rPr>
              <a:t>This podcast series examines the financial challenges and planning opportunities shaping women's wealth. </a:t>
            </a:r>
            <a:endParaRPr lang="en-US"/>
          </a:p>
          <a:p>
            <a:pPr marL="342900" indent="-342900">
              <a:spcBef>
                <a:spcPts val="0"/>
              </a:spcBef>
              <a:spcAft>
                <a:spcPts val="600"/>
              </a:spcAft>
            </a:pPr>
            <a:r>
              <a:rPr lang="en-US">
                <a:latin typeface="Arial"/>
                <a:cs typeface="Arial"/>
              </a:rPr>
              <a:t>Designed to provide discussion prompts, planning ideas, and client-ready resources. </a:t>
            </a:r>
            <a:endParaRPr lang="en-US"/>
          </a:p>
          <a:p>
            <a:pPr marL="342900" indent="-342900">
              <a:spcBef>
                <a:spcPts val="0"/>
              </a:spcBef>
              <a:spcAft>
                <a:spcPts val="600"/>
              </a:spcAft>
            </a:pPr>
            <a:r>
              <a:rPr lang="en-US">
                <a:latin typeface="Arial"/>
                <a:cs typeface="Arial"/>
              </a:rPr>
              <a:t>Turn insights into stronger relationships and more impactful planning conversations with women clients.  </a:t>
            </a:r>
            <a:endParaRPr lang="en-US"/>
          </a:p>
          <a:p>
            <a:pPr marL="0" indent="0">
              <a:buNone/>
            </a:pPr>
            <a:endParaRPr lang="en-US"/>
          </a:p>
          <a:p>
            <a:pPr marL="0" indent="0">
              <a:buNone/>
            </a:pPr>
            <a:endParaRPr lang="en-US"/>
          </a:p>
        </p:txBody>
      </p:sp>
      <p:sp>
        <p:nvSpPr>
          <p:cNvPr id="4" name="Text Placeholder 3">
            <a:extLst>
              <a:ext uri="{FF2B5EF4-FFF2-40B4-BE49-F238E27FC236}">
                <a16:creationId xmlns:a16="http://schemas.microsoft.com/office/drawing/2014/main" id="{A142F558-0E18-23AD-47E0-7C51F9F19FCB}"/>
              </a:ext>
            </a:extLst>
          </p:cNvPr>
          <p:cNvSpPr>
            <a:spLocks noGrp="1"/>
          </p:cNvSpPr>
          <p:nvPr>
            <p:ph type="body" sz="quarter" idx="12"/>
          </p:nvPr>
        </p:nvSpPr>
        <p:spPr>
          <a:xfrm>
            <a:off x="439946" y="953242"/>
            <a:ext cx="11294854" cy="496033"/>
          </a:xfrm>
        </p:spPr>
        <p:txBody>
          <a:bodyPr/>
          <a:lstStyle/>
          <a:p>
            <a:r>
              <a:rPr lang="en-US">
                <a:cs typeface="Arial"/>
              </a:rPr>
              <a:t>Turn episode insights into client-ready conversations. </a:t>
            </a:r>
            <a:endParaRPr lang="en-US" sz="2200"/>
          </a:p>
        </p:txBody>
      </p:sp>
      <p:sp>
        <p:nvSpPr>
          <p:cNvPr id="6" name="Rectangle 5">
            <a:extLst>
              <a:ext uri="{FF2B5EF4-FFF2-40B4-BE49-F238E27FC236}">
                <a16:creationId xmlns:a16="http://schemas.microsoft.com/office/drawing/2014/main" id="{2ACF6A73-1F0C-85F7-4172-765FE2E8E0F1}"/>
              </a:ext>
            </a:extLst>
          </p:cNvPr>
          <p:cNvSpPr/>
          <p:nvPr/>
        </p:nvSpPr>
        <p:spPr bwMode="ltGray">
          <a:xfrm>
            <a:off x="6246343" y="4820094"/>
            <a:ext cx="5488452"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7" name="Isosceles Triangle 6">
            <a:extLst>
              <a:ext uri="{FF2B5EF4-FFF2-40B4-BE49-F238E27FC236}">
                <a16:creationId xmlns:a16="http://schemas.microsoft.com/office/drawing/2014/main" id="{9A0F3B12-BCB3-05D9-454C-F2B2A33C5129}"/>
              </a:ext>
            </a:extLst>
          </p:cNvPr>
          <p:cNvSpPr/>
          <p:nvPr/>
        </p:nvSpPr>
        <p:spPr bwMode="ltGray">
          <a:xfrm rot="5400000">
            <a:off x="10057079" y="5251917"/>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8" name="TextBox 7">
            <a:extLst>
              <a:ext uri="{FF2B5EF4-FFF2-40B4-BE49-F238E27FC236}">
                <a16:creationId xmlns:a16="http://schemas.microsoft.com/office/drawing/2014/main" id="{182C7AF3-11CB-838A-C8FE-D12840D9B880}"/>
              </a:ext>
            </a:extLst>
          </p:cNvPr>
          <p:cNvSpPr txBox="1"/>
          <p:nvPr/>
        </p:nvSpPr>
        <p:spPr>
          <a:xfrm>
            <a:off x="6652910" y="5123712"/>
            <a:ext cx="3136311" cy="492443"/>
          </a:xfrm>
          <a:prstGeom prst="rect">
            <a:avLst/>
          </a:prstGeom>
          <a:noFill/>
        </p:spPr>
        <p:txBody>
          <a:bodyPr wrap="square" lIns="0" tIns="0" rIns="0" bIns="0" anchor="t">
            <a:spAutoFit/>
          </a:bodyPr>
          <a:lstStyle/>
          <a:p>
            <a:pPr>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a:t>
            </a:r>
            <a:r>
              <a:rPr lang="en-US" sz="1600">
                <a:solidFill>
                  <a:srgbClr val="000965"/>
                </a:solidFill>
                <a:latin typeface="Arial"/>
              </a:rPr>
              <a:t>to visit the Annuity Insight podcast channel</a:t>
            </a:r>
            <a:endParaRPr lang="en-US" sz="1600" b="0" i="0" u="none" strike="noStrike" kern="1200" cap="none" spc="0" normalizeH="0" baseline="0" noProof="0">
              <a:ln>
                <a:noFill/>
              </a:ln>
              <a:solidFill>
                <a:srgbClr val="7FB9FF"/>
              </a:solidFill>
              <a:effectLst/>
              <a:uLnTx/>
              <a:uFillTx/>
              <a:latin typeface="Arial"/>
              <a:cs typeface="Arial"/>
            </a:endParaRPr>
          </a:p>
        </p:txBody>
      </p:sp>
      <p:sp>
        <p:nvSpPr>
          <p:cNvPr id="9" name="Rectangle 8">
            <a:extLst>
              <a:ext uri="{FF2B5EF4-FFF2-40B4-BE49-F238E27FC236}">
                <a16:creationId xmlns:a16="http://schemas.microsoft.com/office/drawing/2014/main" id="{149B4D92-83D6-9915-ECCA-70C673D98D32}"/>
              </a:ext>
            </a:extLst>
          </p:cNvPr>
          <p:cNvSpPr>
            <a:spLocks/>
          </p:cNvSpPr>
          <p:nvPr/>
        </p:nvSpPr>
        <p:spPr>
          <a:xfrm rot="10800000" flipV="1">
            <a:off x="10635115" y="4820093"/>
            <a:ext cx="1099679" cy="10996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b="0" i="0" u="none" strike="noStrike" kern="1200" cap="none" spc="0" normalizeH="0" baseline="0" noProof="0">
              <a:ln>
                <a:noFill/>
              </a:ln>
              <a:solidFill>
                <a:srgbClr val="000000"/>
              </a:solidFill>
              <a:effectLst/>
              <a:uLnTx/>
              <a:uFillTx/>
              <a:latin typeface="Arial"/>
              <a:cs typeface="Arial"/>
            </a:endParaRPr>
          </a:p>
        </p:txBody>
      </p:sp>
      <p:pic>
        <p:nvPicPr>
          <p:cNvPr id="14" name="Picture 13">
            <a:extLst>
              <a:ext uri="{FF2B5EF4-FFF2-40B4-BE49-F238E27FC236}">
                <a16:creationId xmlns:a16="http://schemas.microsoft.com/office/drawing/2014/main" id="{68EA1E1E-63EF-FCD4-631C-F02A2185C02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6246343" y="1534484"/>
            <a:ext cx="5486400" cy="3200400"/>
          </a:xfrm>
          <a:prstGeom prst="rect">
            <a:avLst/>
          </a:prstGeom>
        </p:spPr>
      </p:pic>
      <p:pic>
        <p:nvPicPr>
          <p:cNvPr id="5" name="Picture 4">
            <a:extLst>
              <a:ext uri="{FF2B5EF4-FFF2-40B4-BE49-F238E27FC236}">
                <a16:creationId xmlns:a16="http://schemas.microsoft.com/office/drawing/2014/main" id="{C77B272C-C4E6-8128-4132-2F2F5362967A}"/>
              </a:ext>
            </a:extLst>
          </p:cNvPr>
          <p:cNvPicPr>
            <a:picLocks noChangeAspect="1"/>
          </p:cNvPicPr>
          <p:nvPr/>
        </p:nvPicPr>
        <p:blipFill>
          <a:blip r:embed="rId4"/>
          <a:stretch>
            <a:fillRect/>
          </a:stretch>
        </p:blipFill>
        <p:spPr>
          <a:xfrm>
            <a:off x="6250214" y="1444626"/>
            <a:ext cx="5497285" cy="3286578"/>
          </a:xfrm>
          <a:prstGeom prst="rect">
            <a:avLst/>
          </a:prstGeom>
        </p:spPr>
      </p:pic>
      <p:pic>
        <p:nvPicPr>
          <p:cNvPr id="11" name="Picture 10">
            <a:extLst>
              <a:ext uri="{FF2B5EF4-FFF2-40B4-BE49-F238E27FC236}">
                <a16:creationId xmlns:a16="http://schemas.microsoft.com/office/drawing/2014/main" id="{EA70463B-454C-EFEC-B3A2-D9823B033731}"/>
              </a:ext>
            </a:extLst>
          </p:cNvPr>
          <p:cNvPicPr>
            <a:picLocks noChangeAspect="1"/>
          </p:cNvPicPr>
          <p:nvPr/>
        </p:nvPicPr>
        <p:blipFill>
          <a:blip r:embed="rId5"/>
          <a:stretch>
            <a:fillRect/>
          </a:stretch>
        </p:blipFill>
        <p:spPr>
          <a:xfrm>
            <a:off x="10640331" y="4818742"/>
            <a:ext cx="1252765" cy="1197430"/>
          </a:xfrm>
          <a:prstGeom prst="rect">
            <a:avLst/>
          </a:prstGeom>
        </p:spPr>
      </p:pic>
    </p:spTree>
    <p:extLst>
      <p:ext uri="{BB962C8B-B14F-4D97-AF65-F5344CB8AC3E}">
        <p14:creationId xmlns:p14="http://schemas.microsoft.com/office/powerpoint/2010/main" val="6687945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AD80C-C231-99B1-1705-DE9FAE0DB893}"/>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50D428A6-36E3-E29E-3971-0B1BE4FD3142}"/>
              </a:ext>
            </a:extLst>
          </p:cNvPr>
          <p:cNvSpPr>
            <a:spLocks/>
          </p:cNvSpPr>
          <p:nvPr/>
        </p:nvSpPr>
        <p:spPr>
          <a:xfrm>
            <a:off x="0" y="1937020"/>
            <a:ext cx="12192000" cy="2403392"/>
          </a:xfrm>
          <a:prstGeom prst="rect">
            <a:avLst/>
          </a:prstGeom>
          <a:solidFill>
            <a:schemeClr val="bg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ctr"/>
          <a:lstStyle/>
          <a:p>
            <a:pPr lvl="0">
              <a:defRPr/>
            </a:pPr>
            <a:endParaRPr lang="en-US" sz="1600" b="1">
              <a:solidFill>
                <a:srgbClr val="000962">
                  <a:lumMod val="90000"/>
                  <a:lumOff val="10000"/>
                </a:srgbClr>
              </a:solidFill>
            </a:endParaRPr>
          </a:p>
        </p:txBody>
      </p:sp>
      <p:sp>
        <p:nvSpPr>
          <p:cNvPr id="2" name="Title 1">
            <a:extLst>
              <a:ext uri="{FF2B5EF4-FFF2-40B4-BE49-F238E27FC236}">
                <a16:creationId xmlns:a16="http://schemas.microsoft.com/office/drawing/2014/main" id="{351C1D24-BECF-A424-4644-E9D9D433F50E}"/>
              </a:ext>
            </a:extLst>
          </p:cNvPr>
          <p:cNvSpPr>
            <a:spLocks noGrp="1"/>
          </p:cNvSpPr>
          <p:nvPr>
            <p:ph type="title"/>
          </p:nvPr>
        </p:nvSpPr>
        <p:spPr>
          <a:xfrm>
            <a:off x="457200" y="2390819"/>
            <a:ext cx="7810107" cy="1828193"/>
          </a:xfrm>
        </p:spPr>
        <p:txBody>
          <a:bodyPr wrap="square" lIns="0" tIns="0" rIns="0" bIns="0" anchor="t">
            <a:spAutoFit/>
          </a:bodyPr>
          <a:lstStyle/>
          <a:p>
            <a:r>
              <a:rPr lang="en-US" sz="4400" err="1">
                <a:latin typeface="Georgia"/>
              </a:rPr>
              <a:t>Estab</a:t>
            </a:r>
            <a:r>
              <a:rPr lang="en-US" sz="4400">
                <a:latin typeface="Georgia"/>
              </a:rPr>
              <a:t>: </a:t>
            </a:r>
            <a:br>
              <a:rPr lang="en-US" sz="4400"/>
            </a:br>
            <a:r>
              <a:rPr lang="en-US" sz="4400">
                <a:latin typeface="Georgia"/>
              </a:rPr>
              <a:t>What’s important week of </a:t>
            </a:r>
            <a:br>
              <a:rPr lang="en-US" sz="4400">
                <a:latin typeface="Georgia"/>
              </a:rPr>
            </a:br>
            <a:r>
              <a:rPr lang="en-US" sz="4400">
                <a:latin typeface="Georgia"/>
              </a:rPr>
              <a:t>August 3</a:t>
            </a:r>
            <a:endParaRPr lang="en-US" sz="4400"/>
          </a:p>
        </p:txBody>
      </p:sp>
    </p:spTree>
    <p:custDataLst>
      <p:tags r:id="rId1"/>
    </p:custDataLst>
    <p:extLst>
      <p:ext uri="{BB962C8B-B14F-4D97-AF65-F5344CB8AC3E}">
        <p14:creationId xmlns:p14="http://schemas.microsoft.com/office/powerpoint/2010/main" val="41170382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0608E-66F3-B44F-C4BE-6A2BFFA855F4}"/>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80146AE-9084-135F-AD0E-2A77B988255F}"/>
              </a:ext>
            </a:extLst>
          </p:cNvPr>
          <p:cNvSpPr/>
          <p:nvPr/>
        </p:nvSpPr>
        <p:spPr>
          <a:xfrm>
            <a:off x="421041" y="1692047"/>
            <a:ext cx="3798382" cy="4421200"/>
          </a:xfrm>
          <a:prstGeom prst="rect">
            <a:avLst/>
          </a:prstGeom>
          <a:solidFill>
            <a:schemeClr val="bg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11" name="Rectangle 10">
            <a:extLst>
              <a:ext uri="{FF2B5EF4-FFF2-40B4-BE49-F238E27FC236}">
                <a16:creationId xmlns:a16="http://schemas.microsoft.com/office/drawing/2014/main" id="{4553CFDE-35A7-2C01-3779-4A454EECF0FB}"/>
              </a:ext>
            </a:extLst>
          </p:cNvPr>
          <p:cNvSpPr/>
          <p:nvPr/>
        </p:nvSpPr>
        <p:spPr>
          <a:xfrm>
            <a:off x="421041" y="1692047"/>
            <a:ext cx="3798382" cy="544803"/>
          </a:xfrm>
          <a:prstGeom prst="rect">
            <a:avLst/>
          </a:prstGeom>
          <a:solidFill>
            <a:srgbClr val="046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4" name="Oval 3">
            <a:extLst>
              <a:ext uri="{FF2B5EF4-FFF2-40B4-BE49-F238E27FC236}">
                <a16:creationId xmlns:a16="http://schemas.microsoft.com/office/drawing/2014/main" id="{F39B7921-7F22-C598-9DCE-032C634292BB}"/>
              </a:ext>
            </a:extLst>
          </p:cNvPr>
          <p:cNvSpPr/>
          <p:nvPr/>
        </p:nvSpPr>
        <p:spPr>
          <a:xfrm>
            <a:off x="3599805" y="690534"/>
            <a:ext cx="4992390" cy="4992390"/>
          </a:xfrm>
          <a:prstGeom prst="ellipse">
            <a:avLst/>
          </a:prstGeom>
          <a:gradFill flip="none" rotWithShape="1">
            <a:gsLst>
              <a:gs pos="73000">
                <a:schemeClr val="bg1">
                  <a:alpha val="0"/>
                </a:schemeClr>
              </a:gs>
              <a:gs pos="44000">
                <a:schemeClr val="bg1">
                  <a:alpha val="52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2" name="Title 1">
            <a:extLst>
              <a:ext uri="{FF2B5EF4-FFF2-40B4-BE49-F238E27FC236}">
                <a16:creationId xmlns:a16="http://schemas.microsoft.com/office/drawing/2014/main" id="{B68083D2-53C7-B6E6-67D7-694F5175D0D8}"/>
              </a:ext>
            </a:extLst>
          </p:cNvPr>
          <p:cNvSpPr>
            <a:spLocks noGrp="1"/>
          </p:cNvSpPr>
          <p:nvPr>
            <p:ph type="title"/>
          </p:nvPr>
        </p:nvSpPr>
        <p:spPr>
          <a:xfrm>
            <a:off x="421041" y="503661"/>
            <a:ext cx="11310707" cy="544803"/>
          </a:xfrm>
        </p:spPr>
        <p:txBody>
          <a:bodyPr/>
          <a:lstStyle/>
          <a:p>
            <a:r>
              <a:rPr lang="en-US" sz="3100">
                <a:latin typeface="Georgia"/>
              </a:rPr>
              <a:t>Chairman’s Circle returns for 2H 2026</a:t>
            </a:r>
          </a:p>
        </p:txBody>
      </p:sp>
      <p:sp>
        <p:nvSpPr>
          <p:cNvPr id="9" name="TextBox 8">
            <a:extLst>
              <a:ext uri="{FF2B5EF4-FFF2-40B4-BE49-F238E27FC236}">
                <a16:creationId xmlns:a16="http://schemas.microsoft.com/office/drawing/2014/main" id="{E034BD1B-4D33-B86E-CD61-0FB287A72901}"/>
              </a:ext>
            </a:extLst>
          </p:cNvPr>
          <p:cNvSpPr txBox="1"/>
          <p:nvPr/>
        </p:nvSpPr>
        <p:spPr>
          <a:xfrm>
            <a:off x="4590018" y="5000945"/>
            <a:ext cx="2997619" cy="830997"/>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rPr>
              <a:t>Ensure eligible agents complete the survey and opt in by Sept. 30!</a:t>
            </a:r>
          </a:p>
        </p:txBody>
      </p:sp>
      <p:sp>
        <p:nvSpPr>
          <p:cNvPr id="10" name="TextBox 9">
            <a:extLst>
              <a:ext uri="{FF2B5EF4-FFF2-40B4-BE49-F238E27FC236}">
                <a16:creationId xmlns:a16="http://schemas.microsoft.com/office/drawing/2014/main" id="{6F0D308E-F986-6E72-DED0-26AF6DCAD461}"/>
              </a:ext>
            </a:extLst>
          </p:cNvPr>
          <p:cNvSpPr txBox="1"/>
          <p:nvPr/>
        </p:nvSpPr>
        <p:spPr>
          <a:xfrm>
            <a:off x="561964" y="1809505"/>
            <a:ext cx="3684754" cy="4303742"/>
          </a:xfrm>
          <a:prstGeom prst="rect">
            <a:avLst/>
          </a:prstGeom>
          <a:noFill/>
        </p:spPr>
        <p:txBody>
          <a:bodyPr wrap="square" lIns="0" tIns="0" rIns="91440" bIns="0">
            <a:spAutoFit/>
          </a:bodyPr>
          <a:lstStyle/>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eorgia" panose="02040502050405020303"/>
                <a:ea typeface="+mn-ea"/>
                <a:cs typeface="Arial" panose="020B0604020202020204" pitchFamily="34" charset="0"/>
              </a:rPr>
              <a:t>What managers need to know</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4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Open to 2026 Chairman’s Council agents</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Eligible agents: </a:t>
            </a:r>
            <a:br>
              <a:rPr kumimoji="0" lang="en-US" sz="14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b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2026 Chairman’s Council agents</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Qualification period: </a:t>
            </a:r>
            <a:br>
              <a:rPr kumimoji="0" lang="en-US" sz="14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b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July 1–December 31, 2026</a:t>
            </a:r>
          </a:p>
          <a:p>
            <a:pPr marL="285750" marR="0" lvl="0" indent="-2857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4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To qualify, agents must:</a:t>
            </a:r>
          </a:p>
          <a:p>
            <a:pPr marL="514350" marR="0" lvl="1" indent="-227013" algn="l" defTabSz="914400" rtl="0" eaLnBrk="1" fontAlgn="auto" latinLnBrk="0" hangingPunct="1">
              <a:lnSpc>
                <a:spcPct val="100000"/>
              </a:lnSpc>
              <a:spcBef>
                <a:spcPts val="0"/>
              </a:spcBef>
              <a:spcAft>
                <a:spcPts val="200"/>
              </a:spcAft>
              <a:buClrTx/>
              <a:buSzTx/>
              <a:buFont typeface="Courier New" panose="02070309020205020404" pitchFamily="49" charset="0"/>
              <a:buChar char="­"/>
              <a:tabLst/>
              <a:defRPr/>
            </a:pP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Rank in the top 50 on the paid insurance solution premium leaderboard¹</a:t>
            </a:r>
          </a:p>
          <a:p>
            <a:pPr marL="514350" marR="0" lvl="1" indent="-227013" algn="l" defTabSz="914400" rtl="0" eaLnBrk="1" fontAlgn="auto" latinLnBrk="0" hangingPunct="1">
              <a:lnSpc>
                <a:spcPct val="100000"/>
              </a:lnSpc>
              <a:spcBef>
                <a:spcPts val="0"/>
              </a:spcBef>
              <a:spcAft>
                <a:spcPts val="200"/>
              </a:spcAft>
              <a:buClrTx/>
              <a:buSzTx/>
              <a:buFont typeface="Courier New" panose="02070309020205020404" pitchFamily="49" charset="0"/>
              <a:buChar char="­"/>
              <a:tabLst/>
              <a:defRPr/>
            </a:pP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Grow 10% over 2H 2025, with a minimum of $150K</a:t>
            </a:r>
          </a:p>
          <a:p>
            <a:pPr marL="514350" lvl="1" indent="-227013">
              <a:spcAft>
                <a:spcPts val="200"/>
              </a:spcAft>
              <a:buFont typeface="Courier New" panose="02070309020205020404" pitchFamily="49" charset="0"/>
              <a:buChar char="­"/>
              <a:defRPr/>
            </a:pPr>
            <a:r>
              <a:rPr lang="en-US" sz="1400">
                <a:solidFill>
                  <a:schemeClr val="accent6">
                    <a:lumMod val="10000"/>
                  </a:schemeClr>
                </a:solidFill>
                <a:latin typeface="Arial" panose="020B0604020202020204" pitchFamily="34" charset="0"/>
                <a:cs typeface="Arial" panose="020B0604020202020204" pitchFamily="34" charset="0"/>
              </a:rPr>
              <a:t>Agents eligible to enroll in the Life and Annuity Expense Allowance Plan must enroll by July 31, 2026.</a:t>
            </a:r>
            <a:endPar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endParaRPr>
          </a:p>
          <a:p>
            <a:pPr marL="514350" marR="0" lvl="1" indent="-227013" algn="l" defTabSz="914400" rtl="0" eaLnBrk="1" fontAlgn="auto" latinLnBrk="0" hangingPunct="1">
              <a:lnSpc>
                <a:spcPct val="100000"/>
              </a:lnSpc>
              <a:spcBef>
                <a:spcPts val="0"/>
              </a:spcBef>
              <a:spcAft>
                <a:spcPts val="800"/>
              </a:spcAft>
              <a:buClrTx/>
              <a:buSzTx/>
              <a:buFont typeface="Courier New" panose="02070309020205020404" pitchFamily="49" charset="0"/>
              <a:buChar char="­"/>
              <a:tabLst/>
              <a:defRPr/>
            </a:pP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Be proactive by Dec. 31</a:t>
            </a:r>
            <a:endParaRPr kumimoji="0" lang="en-US" sz="14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13" name="Rectangle 12">
            <a:extLst>
              <a:ext uri="{FF2B5EF4-FFF2-40B4-BE49-F238E27FC236}">
                <a16:creationId xmlns:a16="http://schemas.microsoft.com/office/drawing/2014/main" id="{04427FE0-5BAB-DE45-9B5F-FF6FCC4129CB}"/>
              </a:ext>
            </a:extLst>
          </p:cNvPr>
          <p:cNvSpPr/>
          <p:nvPr/>
        </p:nvSpPr>
        <p:spPr>
          <a:xfrm>
            <a:off x="7966506" y="3406884"/>
            <a:ext cx="3765242" cy="1278307"/>
          </a:xfrm>
          <a:prstGeom prst="rect">
            <a:avLst/>
          </a:prstGeom>
          <a:solidFill>
            <a:schemeClr val="accent2"/>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15" name="TextBox 14">
            <a:extLst>
              <a:ext uri="{FF2B5EF4-FFF2-40B4-BE49-F238E27FC236}">
                <a16:creationId xmlns:a16="http://schemas.microsoft.com/office/drawing/2014/main" id="{0ACA0AF9-0B00-DB79-BEC7-6AF21C1E802D}"/>
              </a:ext>
            </a:extLst>
          </p:cNvPr>
          <p:cNvSpPr txBox="1"/>
          <p:nvPr/>
        </p:nvSpPr>
        <p:spPr>
          <a:xfrm>
            <a:off x="8011084" y="3574113"/>
            <a:ext cx="3637419" cy="943848"/>
          </a:xfrm>
          <a:prstGeom prst="rect">
            <a:avLst/>
          </a:prstGeom>
          <a:noFill/>
          <a:ln>
            <a:noFill/>
          </a:ln>
        </p:spPr>
        <p:txBody>
          <a:bodyPr wrap="square" lIns="0" tIns="0" rIns="0" bIns="0">
            <a:spAutoFit/>
          </a:bodyPr>
          <a:lstStyle/>
          <a:p>
            <a:pPr marL="0" marR="0" lvl="0" indent="0" algn="ctr" defTabSz="914400" rtl="0" eaLnBrk="1" fontAlgn="auto" latinLnBrk="0" hangingPunct="1">
              <a:lnSpc>
                <a:spcPct val="100000"/>
              </a:lnSpc>
              <a:spcBef>
                <a:spcPts val="0"/>
              </a:spcBef>
              <a:spcAft>
                <a:spcPts val="4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Chairman's Circle is off to the races!</a:t>
            </a:r>
          </a:p>
          <a:p>
            <a:pPr marL="0" marR="0" lvl="0" indent="0" algn="ctr" defTabSz="914400" rtl="0" eaLnBrk="1" fontAlgn="auto" latinLnBrk="0" hangingPunct="1">
              <a:lnSpc>
                <a:spcPct val="100000"/>
              </a:lnSpc>
              <a:spcBef>
                <a:spcPts val="0"/>
              </a:spcBef>
              <a:spcAft>
                <a:spcPts val="4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Qualifiers will experience one of the world’s most celebrated sporting traditions—the </a:t>
            </a:r>
            <a:r>
              <a:rPr kumimoji="0" lang="en-US" sz="1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Kentucky Derby</a:t>
            </a:r>
            <a:r>
              <a:rPr kumimoji="0" lang="en-US" sz="1400" b="1" i="0" u="none" strike="noStrike" kern="1200" cap="none" spc="0" normalizeH="0" baseline="30000" noProof="0">
                <a:ln>
                  <a:noFill/>
                </a:ln>
                <a:solidFill>
                  <a:srgbClr val="FFFFFF"/>
                </a:solidFill>
                <a:effectLst/>
                <a:uLnTx/>
                <a:uFillTx/>
                <a:latin typeface="Arial" panose="020B0604020202020204" pitchFamily="34" charset="0"/>
                <a:ea typeface="+mn-ea"/>
                <a:cs typeface="Arial" panose="020B0604020202020204" pitchFamily="34" charset="0"/>
              </a:rPr>
              <a:t>®</a:t>
            </a:r>
            <a:r>
              <a:rPr kumimoji="0" lang="en-US" sz="1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at Churchill Downs.</a:t>
            </a:r>
          </a:p>
        </p:txBody>
      </p:sp>
      <p:sp>
        <p:nvSpPr>
          <p:cNvPr id="19" name="Content Placeholder 3">
            <a:extLst>
              <a:ext uri="{FF2B5EF4-FFF2-40B4-BE49-F238E27FC236}">
                <a16:creationId xmlns:a16="http://schemas.microsoft.com/office/drawing/2014/main" id="{4571FB6F-FF19-E5AE-16F5-5CFD0A2E043A}"/>
              </a:ext>
            </a:extLst>
          </p:cNvPr>
          <p:cNvSpPr txBox="1">
            <a:spLocks/>
          </p:cNvSpPr>
          <p:nvPr/>
        </p:nvSpPr>
        <p:spPr>
          <a:xfrm>
            <a:off x="421042" y="1178214"/>
            <a:ext cx="11310706" cy="54480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2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21" name="TextBox 20">
            <a:extLst>
              <a:ext uri="{FF2B5EF4-FFF2-40B4-BE49-F238E27FC236}">
                <a16:creationId xmlns:a16="http://schemas.microsoft.com/office/drawing/2014/main" id="{7492D88D-00E6-CCED-36EA-0D8AD8F11CF9}"/>
              </a:ext>
            </a:extLst>
          </p:cNvPr>
          <p:cNvSpPr txBox="1"/>
          <p:nvPr/>
        </p:nvSpPr>
        <p:spPr>
          <a:xfrm>
            <a:off x="421041" y="1117204"/>
            <a:ext cx="11354776"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962"/>
                </a:solidFill>
                <a:effectLst/>
                <a:uLnTx/>
                <a:uFillTx/>
                <a:latin typeface="Georgia" panose="02040502050405020303"/>
                <a:ea typeface="+mn-ea"/>
                <a:cs typeface="+mn-cs"/>
              </a:rPr>
              <a:t>Help eligible Chairman’s Council agents qualify for an invitation-only Kentucky Derby</a:t>
            </a:r>
            <a:r>
              <a:rPr kumimoji="0" lang="en-US" sz="1400" b="0" i="0" u="none" strike="noStrike" kern="1200" cap="none" spc="0" normalizeH="0" baseline="30000" noProof="0">
                <a:ln>
                  <a:noFill/>
                </a:ln>
                <a:solidFill>
                  <a:srgbClr val="000962"/>
                </a:solidFill>
                <a:effectLst/>
                <a:uLnTx/>
                <a:uFillTx/>
                <a:latin typeface="Georgia" panose="02040502050405020303"/>
                <a:ea typeface="+mn-ea"/>
                <a:cs typeface="+mn-cs"/>
              </a:rPr>
              <a:t>®</a:t>
            </a:r>
            <a:r>
              <a:rPr kumimoji="0" lang="en-US" sz="2000" b="0" i="0" u="none" strike="noStrike" kern="1200" cap="none" spc="0" normalizeH="0" baseline="0" noProof="0">
                <a:ln>
                  <a:noFill/>
                </a:ln>
                <a:solidFill>
                  <a:srgbClr val="000962"/>
                </a:solidFill>
                <a:effectLst/>
                <a:uLnTx/>
                <a:uFillTx/>
                <a:latin typeface="Georgia" panose="02040502050405020303"/>
                <a:ea typeface="+mn-ea"/>
                <a:cs typeface="+mn-cs"/>
              </a:rPr>
              <a:t> experience</a:t>
            </a:r>
          </a:p>
        </p:txBody>
      </p:sp>
      <p:sp>
        <p:nvSpPr>
          <p:cNvPr id="22" name="Rectangle 21">
            <a:extLst>
              <a:ext uri="{FF2B5EF4-FFF2-40B4-BE49-F238E27FC236}">
                <a16:creationId xmlns:a16="http://schemas.microsoft.com/office/drawing/2014/main" id="{1B95159E-F259-6C9F-14BA-64CDCD31C91E}"/>
              </a:ext>
            </a:extLst>
          </p:cNvPr>
          <p:cNvSpPr/>
          <p:nvPr/>
        </p:nvSpPr>
        <p:spPr bwMode="ltGray">
          <a:xfrm>
            <a:off x="7966506" y="4810420"/>
            <a:ext cx="3804452"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23" name="Isosceles Triangle 22">
            <a:extLst>
              <a:ext uri="{FF2B5EF4-FFF2-40B4-BE49-F238E27FC236}">
                <a16:creationId xmlns:a16="http://schemas.microsoft.com/office/drawing/2014/main" id="{FD4FD988-6500-5A54-5ED9-BE22A2195376}"/>
              </a:ext>
            </a:extLst>
          </p:cNvPr>
          <p:cNvSpPr/>
          <p:nvPr/>
        </p:nvSpPr>
        <p:spPr bwMode="ltGray">
          <a:xfrm rot="5400000">
            <a:off x="10290548" y="5242243"/>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4" name="TextBox 23">
            <a:extLst>
              <a:ext uri="{FF2B5EF4-FFF2-40B4-BE49-F238E27FC236}">
                <a16:creationId xmlns:a16="http://schemas.microsoft.com/office/drawing/2014/main" id="{CD5409EC-194A-2F32-2A3C-D80967C121DF}"/>
              </a:ext>
            </a:extLst>
          </p:cNvPr>
          <p:cNvSpPr txBox="1"/>
          <p:nvPr/>
        </p:nvSpPr>
        <p:spPr>
          <a:xfrm>
            <a:off x="8116610" y="4929372"/>
            <a:ext cx="2079473" cy="861774"/>
          </a:xfrm>
          <a:prstGeom prst="rect">
            <a:avLst/>
          </a:prstGeom>
          <a:noFill/>
        </p:spPr>
        <p:txBody>
          <a:bodyPr wrap="square" lIns="0" tIns="0" rIns="0" bIns="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962"/>
                </a:solidFill>
                <a:effectLst/>
                <a:uLnTx/>
                <a:uFillTx/>
                <a:latin typeface="Arial" panose="020B0604020202020204" pitchFamily="34" charset="0"/>
                <a:ea typeface="+mn-ea"/>
                <a:cs typeface="Arial" panose="020B0604020202020204" pitchFamily="34" charset="0"/>
              </a:rPr>
              <a:t>Scan the QR code to review program details and help your agents prepare on Info Central.</a:t>
            </a:r>
            <a:endParaRPr kumimoji="0" lang="en-US" sz="1400" b="0" i="0" u="none" strike="noStrike" kern="1200" cap="none" spc="0" normalizeH="0" baseline="0" noProof="0">
              <a:ln>
                <a:noFill/>
              </a:ln>
              <a:solidFill>
                <a:srgbClr val="7FB9FF"/>
              </a:solidFill>
              <a:effectLst/>
              <a:uLnTx/>
              <a:uFillTx/>
              <a:latin typeface="Arial"/>
              <a:ea typeface="+mn-ea"/>
              <a:cs typeface="+mn-cs"/>
            </a:endParaRPr>
          </a:p>
        </p:txBody>
      </p:sp>
      <p:pic>
        <p:nvPicPr>
          <p:cNvPr id="26" name="Picture 25">
            <a:extLst>
              <a:ext uri="{FF2B5EF4-FFF2-40B4-BE49-F238E27FC236}">
                <a16:creationId xmlns:a16="http://schemas.microsoft.com/office/drawing/2014/main" id="{E2C663C7-0255-7168-8E74-AAA7D3D5C7B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0665210" y="4810420"/>
            <a:ext cx="1099679" cy="1099679"/>
          </a:xfrm>
          <a:prstGeom prst="rect">
            <a:avLst/>
          </a:prstGeom>
          <a:ln>
            <a:noFill/>
          </a:ln>
        </p:spPr>
      </p:pic>
      <p:pic>
        <p:nvPicPr>
          <p:cNvPr id="16" name="Picture 15">
            <a:extLst>
              <a:ext uri="{FF2B5EF4-FFF2-40B4-BE49-F238E27FC236}">
                <a16:creationId xmlns:a16="http://schemas.microsoft.com/office/drawing/2014/main" id="{276A13AE-E4DC-45C1-C2EC-8332F50AB946}"/>
              </a:ext>
            </a:extLst>
          </p:cNvPr>
          <p:cNvPicPr>
            <a:picLocks noChangeAspect="1"/>
          </p:cNvPicPr>
          <p:nvPr/>
        </p:nvPicPr>
        <p:blipFill>
          <a:blip r:embed="rId4"/>
          <a:srcRect t="19030" r="9452" b="9578"/>
          <a:stretch>
            <a:fillRect/>
          </a:stretch>
        </p:blipFill>
        <p:spPr>
          <a:xfrm>
            <a:off x="7962636" y="1740008"/>
            <a:ext cx="3769112" cy="1673072"/>
          </a:xfrm>
          <a:prstGeom prst="rect">
            <a:avLst/>
          </a:prstGeom>
        </p:spPr>
      </p:pic>
      <p:cxnSp>
        <p:nvCxnSpPr>
          <p:cNvPr id="14" name="Straight Connector 13">
            <a:extLst>
              <a:ext uri="{FF2B5EF4-FFF2-40B4-BE49-F238E27FC236}">
                <a16:creationId xmlns:a16="http://schemas.microsoft.com/office/drawing/2014/main" id="{0E4BF503-5D4A-22B4-CE04-339A89FD71F6}"/>
              </a:ext>
            </a:extLst>
          </p:cNvPr>
          <p:cNvCxnSpPr/>
          <p:nvPr/>
        </p:nvCxnSpPr>
        <p:spPr>
          <a:xfrm>
            <a:off x="4410635" y="5910098"/>
            <a:ext cx="3356386" cy="0"/>
          </a:xfrm>
          <a:prstGeom prst="line">
            <a:avLst/>
          </a:prstGeom>
          <a:ln>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75D5FC12-464B-A721-4E59-88EC5367B9C7}"/>
              </a:ext>
            </a:extLst>
          </p:cNvPr>
          <p:cNvCxnSpPr/>
          <p:nvPr/>
        </p:nvCxnSpPr>
        <p:spPr>
          <a:xfrm>
            <a:off x="4410635" y="4933408"/>
            <a:ext cx="3356386" cy="0"/>
          </a:xfrm>
          <a:prstGeom prst="line">
            <a:avLst/>
          </a:prstGeom>
          <a:ln>
            <a:solidFill>
              <a:srgbClr val="000A62"/>
            </a:solidFill>
          </a:ln>
        </p:spPr>
        <p:style>
          <a:lnRef idx="2">
            <a:schemeClr val="accent1"/>
          </a:lnRef>
          <a:fillRef idx="0">
            <a:schemeClr val="accent1"/>
          </a:fillRef>
          <a:effectRef idx="1">
            <a:schemeClr val="accent1"/>
          </a:effectRef>
          <a:fontRef idx="minor">
            <a:schemeClr val="tx1"/>
          </a:fontRef>
        </p:style>
      </p:cxnSp>
      <p:pic>
        <p:nvPicPr>
          <p:cNvPr id="12" name="Picture 11" descr="A blue and white logo&#10;&#10;AI-generated content may be incorrect.">
            <a:extLst>
              <a:ext uri="{FF2B5EF4-FFF2-40B4-BE49-F238E27FC236}">
                <a16:creationId xmlns:a16="http://schemas.microsoft.com/office/drawing/2014/main" id="{818CAA7E-8971-F649-E46D-AE7503BF9E3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12393" y="1691956"/>
            <a:ext cx="2966101" cy="2866072"/>
          </a:xfrm>
          <a:prstGeom prst="rect">
            <a:avLst/>
          </a:prstGeom>
        </p:spPr>
      </p:pic>
    </p:spTree>
    <p:extLst>
      <p:ext uri="{BB962C8B-B14F-4D97-AF65-F5344CB8AC3E}">
        <p14:creationId xmlns:p14="http://schemas.microsoft.com/office/powerpoint/2010/main" val="18589486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7FEEB-162C-EE75-B60A-7E7F15BB0526}"/>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228210E2-407D-6223-427E-F68AFDD37EC6}"/>
              </a:ext>
            </a:extLst>
          </p:cNvPr>
          <p:cNvSpPr/>
          <p:nvPr/>
        </p:nvSpPr>
        <p:spPr bwMode="ltGray">
          <a:xfrm>
            <a:off x="0" y="1441279"/>
            <a:ext cx="12192000" cy="4662976"/>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FE6AE87C-3BBE-6F98-3B15-2A7979A20B0F}"/>
              </a:ext>
            </a:extLst>
          </p:cNvPr>
          <p:cNvSpPr>
            <a:spLocks noGrp="1"/>
          </p:cNvSpPr>
          <p:nvPr>
            <p:ph type="title"/>
          </p:nvPr>
        </p:nvSpPr>
        <p:spPr>
          <a:xfrm>
            <a:off x="439946" y="381000"/>
            <a:ext cx="11526276" cy="496033"/>
          </a:xfrm>
        </p:spPr>
        <p:txBody>
          <a:bodyPr/>
          <a:lstStyle/>
          <a:p>
            <a:r>
              <a:rPr lang="en-US">
                <a:solidFill>
                  <a:srgbClr val="000A62"/>
                </a:solidFill>
                <a:latin typeface="+mj-lt"/>
              </a:rPr>
              <a:t>NYL’s Agent Development Program &amp; the Advisor Symposium</a:t>
            </a:r>
          </a:p>
        </p:txBody>
      </p:sp>
      <p:sp>
        <p:nvSpPr>
          <p:cNvPr id="4" name="Text Placeholder 3">
            <a:extLst>
              <a:ext uri="{FF2B5EF4-FFF2-40B4-BE49-F238E27FC236}">
                <a16:creationId xmlns:a16="http://schemas.microsoft.com/office/drawing/2014/main" id="{7CB9DEFD-5E20-4429-0175-03896B743A4F}"/>
              </a:ext>
            </a:extLst>
          </p:cNvPr>
          <p:cNvSpPr>
            <a:spLocks noGrp="1"/>
          </p:cNvSpPr>
          <p:nvPr>
            <p:ph type="body" sz="quarter" idx="12"/>
          </p:nvPr>
        </p:nvSpPr>
        <p:spPr>
          <a:xfrm>
            <a:off x="439946" y="953242"/>
            <a:ext cx="11294854" cy="496033"/>
          </a:xfrm>
        </p:spPr>
        <p:txBody>
          <a:bodyPr/>
          <a:lstStyle/>
          <a:p>
            <a:r>
              <a:rPr lang="en-US" sz="2400"/>
              <a:t>Complementary programs designed to help agents work in the advanced markets.</a:t>
            </a:r>
          </a:p>
        </p:txBody>
      </p:sp>
      <p:sp>
        <p:nvSpPr>
          <p:cNvPr id="11" name="Rectangle 3">
            <a:extLst>
              <a:ext uri="{FF2B5EF4-FFF2-40B4-BE49-F238E27FC236}">
                <a16:creationId xmlns:a16="http://schemas.microsoft.com/office/drawing/2014/main" id="{1EE7234B-10C1-739E-6E8E-6AB688596860}"/>
              </a:ext>
            </a:extLst>
          </p:cNvPr>
          <p:cNvSpPr>
            <a:spLocks noChangeArrowheads="1"/>
          </p:cNvSpPr>
          <p:nvPr/>
        </p:nvSpPr>
        <p:spPr bwMode="auto">
          <a:xfrm>
            <a:off x="880533" y="713954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2"/>
              </a:solidFill>
              <a:effectLst/>
              <a:uLnTx/>
              <a:uFillTx/>
              <a:latin typeface="Arial"/>
              <a:ea typeface="+mn-ea"/>
              <a:cs typeface="+mn-cs"/>
            </a:endParaRPr>
          </a:p>
        </p:txBody>
      </p:sp>
      <p:sp>
        <p:nvSpPr>
          <p:cNvPr id="20" name="TextBox 19">
            <a:extLst>
              <a:ext uri="{FF2B5EF4-FFF2-40B4-BE49-F238E27FC236}">
                <a16:creationId xmlns:a16="http://schemas.microsoft.com/office/drawing/2014/main" id="{1B241E0B-0D47-30B9-195F-75EE09B4B601}"/>
              </a:ext>
            </a:extLst>
          </p:cNvPr>
          <p:cNvSpPr txBox="1"/>
          <p:nvPr/>
        </p:nvSpPr>
        <p:spPr>
          <a:xfrm>
            <a:off x="9470498" y="5846393"/>
            <a:ext cx="2003389" cy="21544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962"/>
                </a:solidFill>
                <a:effectLst/>
                <a:uLnTx/>
                <a:uFillTx/>
                <a:latin typeface="Tahoma"/>
                <a:ea typeface="Aptos" panose="020B0004020202020204" pitchFamily="34" charset="0"/>
                <a:cs typeface="+mn-cs"/>
              </a:rPr>
              <a:t>SMRU </a:t>
            </a:r>
            <a:r>
              <a:rPr kumimoji="0" lang="en-US" sz="800" b="0" i="0" u="none" strike="noStrike" kern="1200" cap="none" spc="0" normalizeH="0" baseline="0" noProof="0">
                <a:ln>
                  <a:noFill/>
                </a:ln>
                <a:solidFill>
                  <a:srgbClr val="000962"/>
                </a:solidFill>
                <a:effectLst/>
                <a:uLnTx/>
                <a:uFillTx/>
                <a:latin typeface="Tahoma" panose="020B0604030504040204" pitchFamily="34" charset="0"/>
                <a:ea typeface="Tahoma" panose="020B0604030504040204" pitchFamily="34" charset="0"/>
                <a:cs typeface="Tahoma" panose="020B0604030504040204" pitchFamily="34" charset="0"/>
              </a:rPr>
              <a:t>8996467.1</a:t>
            </a:r>
            <a:r>
              <a:rPr kumimoji="0" lang="en-US" sz="800" b="0" i="0" u="none" strike="noStrike" kern="1200" cap="none" spc="0" normalizeH="0" baseline="0" noProof="0">
                <a:ln>
                  <a:noFill/>
                </a:ln>
                <a:solidFill>
                  <a:srgbClr val="000962"/>
                </a:solidFill>
                <a:effectLst/>
                <a:uLnTx/>
                <a:uFillTx/>
                <a:latin typeface="Tahoma"/>
                <a:ea typeface="Aptos" panose="020B0004020202020204" pitchFamily="34" charset="0"/>
                <a:cs typeface="+mn-cs"/>
              </a:rPr>
              <a:t> Exp. 10/14/2026</a:t>
            </a:r>
          </a:p>
        </p:txBody>
      </p:sp>
      <p:sp>
        <p:nvSpPr>
          <p:cNvPr id="27" name="Arc 26">
            <a:extLst>
              <a:ext uri="{FF2B5EF4-FFF2-40B4-BE49-F238E27FC236}">
                <a16:creationId xmlns:a16="http://schemas.microsoft.com/office/drawing/2014/main" id="{C44FF210-2630-CE54-5AE4-520FB918DA8D}"/>
              </a:ext>
            </a:extLst>
          </p:cNvPr>
          <p:cNvSpPr/>
          <p:nvPr/>
        </p:nvSpPr>
        <p:spPr>
          <a:xfrm>
            <a:off x="6906136" y="3168446"/>
            <a:ext cx="4643951" cy="2594130"/>
          </a:xfrm>
          <a:prstGeom prst="rect">
            <a:avLst/>
          </a:prstGeom>
          <a:solidFill>
            <a:srgbClr val="0468FF"/>
          </a:solidFill>
          <a:ln w="28575">
            <a:solidFill>
              <a:schemeClr val="bg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Arial"/>
              <a:ea typeface="+mn-ea"/>
              <a:cs typeface="+mn-cs"/>
            </a:endParaRPr>
          </a:p>
        </p:txBody>
      </p:sp>
      <p:sp>
        <p:nvSpPr>
          <p:cNvPr id="30" name="Arrow: Chevron 29">
            <a:extLst>
              <a:ext uri="{FF2B5EF4-FFF2-40B4-BE49-F238E27FC236}">
                <a16:creationId xmlns:a16="http://schemas.microsoft.com/office/drawing/2014/main" id="{0AC8F390-88C6-F780-35A6-6DC958220003}"/>
              </a:ext>
            </a:extLst>
          </p:cNvPr>
          <p:cNvSpPr/>
          <p:nvPr/>
        </p:nvSpPr>
        <p:spPr>
          <a:xfrm>
            <a:off x="6222134" y="3551135"/>
            <a:ext cx="438150" cy="800100"/>
          </a:xfrm>
          <a:prstGeom prst="chevron">
            <a:avLst>
              <a:gd name="adj" fmla="val 50747"/>
            </a:avLst>
          </a:prstGeom>
          <a:solidFill>
            <a:schemeClr val="tx1"/>
          </a:solidFill>
          <a:ln w="635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2"/>
              </a:solidFill>
              <a:effectLst/>
              <a:uLnTx/>
              <a:uFillTx/>
              <a:latin typeface="Arial"/>
              <a:ea typeface="+mn-ea"/>
              <a:cs typeface="+mn-cs"/>
            </a:endParaRPr>
          </a:p>
        </p:txBody>
      </p:sp>
      <p:sp>
        <p:nvSpPr>
          <p:cNvPr id="47" name="TextBox 46">
            <a:extLst>
              <a:ext uri="{FF2B5EF4-FFF2-40B4-BE49-F238E27FC236}">
                <a16:creationId xmlns:a16="http://schemas.microsoft.com/office/drawing/2014/main" id="{30007FFC-5380-CF11-7E1C-6D6E9F7E38DA}"/>
              </a:ext>
            </a:extLst>
          </p:cNvPr>
          <p:cNvSpPr txBox="1"/>
          <p:nvPr/>
        </p:nvSpPr>
        <p:spPr>
          <a:xfrm>
            <a:off x="7078423" y="3330110"/>
            <a:ext cx="4278971" cy="2262158"/>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FFFFFF"/>
                </a:solidFill>
                <a:effectLst/>
                <a:uLnTx/>
                <a:uFillTx/>
                <a:latin typeface="Arial"/>
                <a:ea typeface="+mn-ea"/>
                <a:cs typeface="+mn-cs"/>
              </a:rPr>
              <a:t>Agents host program for their COIs at their own venue. </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FFFFFF"/>
                </a:solidFill>
                <a:effectLst/>
                <a:uLnTx/>
                <a:uFillTx/>
                <a:latin typeface="Arial"/>
                <a:ea typeface="+mn-ea"/>
                <a:cs typeface="+mn-cs"/>
              </a:rPr>
              <a:t>All promotional &amp; program materials are provided.</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FFFFFF"/>
                </a:solidFill>
                <a:effectLst/>
                <a:uLnTx/>
                <a:uFillTx/>
                <a:latin typeface="Arial"/>
                <a:ea typeface="+mn-ea"/>
                <a:cs typeface="+mn-cs"/>
              </a:rPr>
              <a:t>CE credits available for attorneys and CPAs. </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FFFFFF"/>
                </a:solidFill>
                <a:effectLst/>
                <a:uLnTx/>
                <a:uFillTx/>
                <a:latin typeface="Arial"/>
                <a:ea typeface="+mn-ea"/>
                <a:cs typeface="+mn-cs"/>
              </a:rPr>
              <a:t>Watch InfoCentral for more details.</a:t>
            </a:r>
          </a:p>
        </p:txBody>
      </p:sp>
      <p:grpSp>
        <p:nvGrpSpPr>
          <p:cNvPr id="51" name="Group 50">
            <a:extLst>
              <a:ext uri="{FF2B5EF4-FFF2-40B4-BE49-F238E27FC236}">
                <a16:creationId xmlns:a16="http://schemas.microsoft.com/office/drawing/2014/main" id="{F33BCC71-B699-67F5-EB6B-57366B5FFC77}"/>
              </a:ext>
            </a:extLst>
          </p:cNvPr>
          <p:cNvGrpSpPr/>
          <p:nvPr/>
        </p:nvGrpSpPr>
        <p:grpSpPr>
          <a:xfrm>
            <a:off x="626674" y="1530471"/>
            <a:ext cx="4937760" cy="1669560"/>
            <a:chOff x="749686" y="1574573"/>
            <a:chExt cx="4937760" cy="1669560"/>
          </a:xfrm>
        </p:grpSpPr>
        <p:sp>
          <p:nvSpPr>
            <p:cNvPr id="24" name="Text Placeholder 7">
              <a:extLst>
                <a:ext uri="{FF2B5EF4-FFF2-40B4-BE49-F238E27FC236}">
                  <a16:creationId xmlns:a16="http://schemas.microsoft.com/office/drawing/2014/main" id="{6AD0E4C0-6CB8-EE7E-8B8D-1C9C147D54C1}"/>
                </a:ext>
              </a:extLst>
            </p:cNvPr>
            <p:cNvSpPr txBox="1">
              <a:spLocks/>
            </p:cNvSpPr>
            <p:nvPr/>
          </p:nvSpPr>
          <p:spPr>
            <a:xfrm>
              <a:off x="749686" y="2004436"/>
              <a:ext cx="4937760" cy="1239697"/>
            </a:xfrm>
            <a:prstGeom prst="rect">
              <a:avLst/>
            </a:prstGeom>
          </p:spPr>
          <p:txBody>
            <a:bodyPr vert="horz"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00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Internal webinars for agents to learn how advanced strategies work for clients and how to propose the techniques to clients’ other financial advisors (COIs).</a:t>
              </a:r>
            </a:p>
            <a:p>
              <a:pPr marL="0" marR="0" lvl="0" indent="0" algn="ctr"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2000" b="1" i="0" u="none" strike="noStrike" kern="1200" cap="none" spc="0" normalizeH="0" baseline="0" noProof="0">
                  <a:ln>
                    <a:noFill/>
                  </a:ln>
                  <a:solidFill>
                    <a:srgbClr val="0468FF"/>
                  </a:solidFill>
                  <a:effectLst/>
                  <a:uLnTx/>
                  <a:uFillTx/>
                  <a:latin typeface="Arial"/>
                  <a:ea typeface="+mn-ea"/>
                  <a:cs typeface="Arial" panose="020B0604020202020204" pitchFamily="34" charset="0"/>
                </a:rPr>
                <a:t>2026 Topics</a:t>
              </a:r>
            </a:p>
          </p:txBody>
        </p:sp>
        <p:sp>
          <p:nvSpPr>
            <p:cNvPr id="48" name="Text Placeholder 2">
              <a:extLst>
                <a:ext uri="{FF2B5EF4-FFF2-40B4-BE49-F238E27FC236}">
                  <a16:creationId xmlns:a16="http://schemas.microsoft.com/office/drawing/2014/main" id="{624C8B4D-90AF-02CF-12C0-1F95F3D26F83}"/>
                </a:ext>
              </a:extLst>
            </p:cNvPr>
            <p:cNvSpPr txBox="1">
              <a:spLocks/>
            </p:cNvSpPr>
            <p:nvPr/>
          </p:nvSpPr>
          <p:spPr>
            <a:xfrm>
              <a:off x="841125" y="1574573"/>
              <a:ext cx="4672340" cy="369332"/>
            </a:xfrm>
            <a:prstGeom prst="rect">
              <a:avLst/>
            </a:prstGeom>
          </p:spPr>
          <p:txBody>
            <a:bodyPr vert="horz" lIns="0" tIns="0" rIns="0" bIns="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00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1" u="none" strike="noStrike" kern="1200" cap="none" spc="0" normalizeH="0" baseline="0" noProof="0">
                  <a:ln>
                    <a:noFill/>
                  </a:ln>
                  <a:solidFill>
                    <a:srgbClr val="0468FF"/>
                  </a:solidFill>
                  <a:effectLst/>
                  <a:uLnTx/>
                  <a:uFillTx/>
                  <a:latin typeface="Arial" panose="020B0604020202020204" pitchFamily="34" charset="0"/>
                  <a:ea typeface="+mn-ea"/>
                  <a:cs typeface="Arial" panose="020B0604020202020204" pitchFamily="34" charset="0"/>
                </a:rPr>
                <a:t>Agent Development Program</a:t>
              </a:r>
            </a:p>
          </p:txBody>
        </p:sp>
      </p:grpSp>
      <p:grpSp>
        <p:nvGrpSpPr>
          <p:cNvPr id="6" name="Group 5">
            <a:extLst>
              <a:ext uri="{FF2B5EF4-FFF2-40B4-BE49-F238E27FC236}">
                <a16:creationId xmlns:a16="http://schemas.microsoft.com/office/drawing/2014/main" id="{C7939F3A-F0B6-1F74-F765-D0FC33026359}"/>
              </a:ext>
            </a:extLst>
          </p:cNvPr>
          <p:cNvGrpSpPr/>
          <p:nvPr/>
        </p:nvGrpSpPr>
        <p:grpSpPr>
          <a:xfrm>
            <a:off x="6703767" y="1530471"/>
            <a:ext cx="4846320" cy="1401371"/>
            <a:chOff x="6627567" y="1644771"/>
            <a:chExt cx="4846320" cy="1401371"/>
          </a:xfrm>
        </p:grpSpPr>
        <p:sp>
          <p:nvSpPr>
            <p:cNvPr id="49" name="Text Placeholder 13">
              <a:extLst>
                <a:ext uri="{FF2B5EF4-FFF2-40B4-BE49-F238E27FC236}">
                  <a16:creationId xmlns:a16="http://schemas.microsoft.com/office/drawing/2014/main" id="{9974DAD5-D2A4-75D5-2E3A-D2FDC4CA1AC7}"/>
                </a:ext>
              </a:extLst>
            </p:cNvPr>
            <p:cNvSpPr txBox="1">
              <a:spLocks/>
            </p:cNvSpPr>
            <p:nvPr/>
          </p:nvSpPr>
          <p:spPr>
            <a:xfrm>
              <a:off x="7096318" y="1644771"/>
              <a:ext cx="3908818" cy="369332"/>
            </a:xfrm>
            <a:prstGeom prst="rect">
              <a:avLst/>
            </a:prstGeom>
          </p:spPr>
          <p:txBody>
            <a:bodyPr vert="horz"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00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1" u="none" strike="noStrike" kern="1200" cap="none" spc="0" normalizeH="0" baseline="0" noProof="0">
                  <a:ln>
                    <a:noFill/>
                  </a:ln>
                  <a:solidFill>
                    <a:srgbClr val="0468FF"/>
                  </a:solidFill>
                  <a:effectLst/>
                  <a:uLnTx/>
                  <a:uFillTx/>
                  <a:latin typeface="Arial" panose="020B0604020202020204" pitchFamily="34" charset="0"/>
                  <a:ea typeface="+mn-ea"/>
                  <a:cs typeface="Arial" panose="020B0604020202020204" pitchFamily="34" charset="0"/>
                </a:rPr>
                <a:t>The Advisor Symposium</a:t>
              </a:r>
            </a:p>
          </p:txBody>
        </p:sp>
        <p:sp>
          <p:nvSpPr>
            <p:cNvPr id="50" name="Text Placeholder 7">
              <a:extLst>
                <a:ext uri="{FF2B5EF4-FFF2-40B4-BE49-F238E27FC236}">
                  <a16:creationId xmlns:a16="http://schemas.microsoft.com/office/drawing/2014/main" id="{16B6C551-2A15-E715-F589-0814FB649043}"/>
                </a:ext>
              </a:extLst>
            </p:cNvPr>
            <p:cNvSpPr txBox="1">
              <a:spLocks/>
            </p:cNvSpPr>
            <p:nvPr/>
          </p:nvSpPr>
          <p:spPr>
            <a:xfrm>
              <a:off x="6627567" y="1999702"/>
              <a:ext cx="4846320" cy="1046440"/>
            </a:xfrm>
            <a:prstGeom prst="rect">
              <a:avLst/>
            </a:prstGeom>
          </p:spPr>
          <p:txBody>
            <a:bodyPr vert="horz" wrap="square" lIns="91440" tIns="45720" rIns="91440" bIns="45720" rtlCol="0">
              <a:noAutofit/>
            </a:bodyPr>
            <a:lstStyle>
              <a:lvl1pPr marL="0" indent="0" algn="ctr" defTabSz="914400" rtl="0" eaLnBrk="1" latinLnBrk="0" hangingPunct="1">
                <a:lnSpc>
                  <a:spcPct val="100000"/>
                </a:lnSpc>
                <a:spcBef>
                  <a:spcPts val="0"/>
                </a:spcBef>
                <a:spcAft>
                  <a:spcPts val="0"/>
                </a:spcAft>
                <a:buClr>
                  <a:schemeClr val="tx1"/>
                </a:buClr>
                <a:buFont typeface="Arial" panose="020B0604020202020204" pitchFamily="34" charset="0"/>
                <a:buNone/>
                <a:tabLst/>
                <a:defRPr sz="1400" b="0" i="0" kern="1200">
                  <a:solidFill>
                    <a:schemeClr val="tx1"/>
                  </a:solidFill>
                  <a:latin typeface="+mn-lt"/>
                  <a:ea typeface="+mn-ea"/>
                  <a:cs typeface="+mn-cs"/>
                </a:defRPr>
              </a:lvl1pPr>
              <a:lvl2pPr marL="458788" indent="-166688" algn="l" defTabSz="914400" rtl="0" eaLnBrk="1" latinLnBrk="0" hangingPunct="1">
                <a:lnSpc>
                  <a:spcPct val="100000"/>
                </a:lnSpc>
                <a:spcBef>
                  <a:spcPts val="800"/>
                </a:spcBef>
                <a:buClr>
                  <a:schemeClr val="tx1"/>
                </a:buClr>
                <a:buFont typeface="System Font Regular"/>
                <a:buChar char="–"/>
                <a:tabLst/>
                <a:defRPr sz="1500" kern="1200">
                  <a:solidFill>
                    <a:schemeClr val="tx1"/>
                  </a:solidFill>
                  <a:latin typeface="+mn-lt"/>
                  <a:ea typeface="+mn-ea"/>
                  <a:cs typeface="+mn-cs"/>
                </a:defRPr>
              </a:lvl2pPr>
              <a:lvl3pPr marL="742950" indent="-166688" algn="l" defTabSz="914400" rtl="0" eaLnBrk="1" latinLnBrk="0" hangingPunct="1">
                <a:lnSpc>
                  <a:spcPct val="100000"/>
                </a:lnSpc>
                <a:spcBef>
                  <a:spcPts val="500"/>
                </a:spcBef>
                <a:buClr>
                  <a:schemeClr val="tx1"/>
                </a:buClr>
                <a:buFont typeface="Arial" panose="020B0604020202020204" pitchFamily="34" charset="0"/>
                <a:buChar char="•"/>
                <a:tabLst/>
                <a:defRPr sz="1400" kern="1200">
                  <a:solidFill>
                    <a:schemeClr val="tx1"/>
                  </a:solidFill>
                  <a:latin typeface="+mn-lt"/>
                  <a:ea typeface="+mn-ea"/>
                  <a:cs typeface="+mn-cs"/>
                </a:defRPr>
              </a:lvl3pPr>
              <a:lvl4pPr marL="976313" indent="-174625" algn="l" defTabSz="914400" rtl="0" eaLnBrk="1" latinLnBrk="0" hangingPunct="1">
                <a:lnSpc>
                  <a:spcPct val="100000"/>
                </a:lnSpc>
                <a:spcBef>
                  <a:spcPts val="500"/>
                </a:spcBef>
                <a:buClr>
                  <a:schemeClr val="tx1"/>
                </a:buClr>
                <a:buFont typeface="System Font Regular"/>
                <a:buChar char="–"/>
                <a:tabLst/>
                <a:defRPr sz="1400" kern="1200">
                  <a:solidFill>
                    <a:schemeClr val="tx1"/>
                  </a:solidFill>
                  <a:latin typeface="+mn-lt"/>
                  <a:ea typeface="+mn-ea"/>
                  <a:cs typeface="+mn-cs"/>
                </a:defRPr>
              </a:lvl4pPr>
              <a:lvl5pPr marL="1201738" indent="-182563" algn="l" defTabSz="914400" rtl="0" eaLnBrk="1" latinLnBrk="0" hangingPunct="1">
                <a:lnSpc>
                  <a:spcPct val="100000"/>
                </a:lnSpc>
                <a:spcBef>
                  <a:spcPts val="500"/>
                </a:spcBef>
                <a:buClr>
                  <a:schemeClr val="tx1"/>
                </a:buClr>
                <a:buFont typeface="Arial" panose="020B0604020202020204" pitchFamily="34" charset="0"/>
                <a:buChar char="•"/>
                <a:tabLst/>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200"/>
                </a:spcBef>
                <a:spcAft>
                  <a:spcPts val="0"/>
                </a:spcAft>
                <a:buClr>
                  <a:srgbClr val="000962"/>
                </a:buClr>
                <a:buSzTx/>
                <a:buFont typeface="Arial" panose="020B0604020202020204" pitchFamily="34" charset="0"/>
                <a:buNone/>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Three-hour nationwide turnkey program for agents to host as a networking opportunity with their COIs and other </a:t>
              </a:r>
              <a:r>
                <a:rPr kumimoji="0" lang="en-US" sz="16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professionals</a:t>
              </a:r>
              <a:r>
                <a:rPr kumimoji="0" lang="en-US" sz="1600" b="0" i="0" u="none" strike="noStrike" kern="1200" cap="none" spc="0" normalizeH="0" baseline="0" noProof="0">
                  <a:ln>
                    <a:noFill/>
                  </a:ln>
                  <a:solidFill>
                    <a:srgbClr val="000000"/>
                  </a:solidFill>
                  <a:effectLst/>
                  <a:uLnTx/>
                  <a:uFillTx/>
                  <a:latin typeface="Arial"/>
                  <a:ea typeface="+mn-ea"/>
                  <a:cs typeface="+mn-cs"/>
                </a:rPr>
                <a:t> in their community. </a:t>
              </a:r>
            </a:p>
            <a:p>
              <a:pPr marL="0" marR="0" lvl="0" indent="0" algn="ctr" defTabSz="914400" rtl="0" eaLnBrk="1" fontAlgn="auto" latinLnBrk="0" hangingPunct="1">
                <a:lnSpc>
                  <a:spcPct val="100000"/>
                </a:lnSpc>
                <a:spcBef>
                  <a:spcPts val="1200"/>
                </a:spcBef>
                <a:spcAft>
                  <a:spcPts val="0"/>
                </a:spcAft>
                <a:buClr>
                  <a:srgbClr val="000962"/>
                </a:buClr>
                <a:buSzTx/>
                <a:buFont typeface="Arial" panose="020B0604020202020204" pitchFamily="34" charset="0"/>
                <a:buNone/>
                <a:tabLst/>
                <a:defRPr/>
              </a:pPr>
              <a:r>
                <a:rPr kumimoji="0" lang="en-US" sz="2000" b="1" i="0" u="none" strike="noStrike" kern="1200" cap="none" spc="0" normalizeH="0" baseline="0" noProof="0">
                  <a:ln>
                    <a:noFill/>
                  </a:ln>
                  <a:solidFill>
                    <a:srgbClr val="0468FF"/>
                  </a:solidFill>
                  <a:effectLst/>
                  <a:uLnTx/>
                  <a:uFillTx/>
                  <a:latin typeface="Arial"/>
                  <a:ea typeface="+mn-ea"/>
                  <a:cs typeface="Arial" panose="020B0604020202020204" pitchFamily="34" charset="0"/>
                </a:rPr>
                <a:t>Nov. 4 – 2-5 PM Eastern</a:t>
              </a:r>
            </a:p>
          </p:txBody>
        </p:sp>
      </p:grpSp>
      <p:graphicFrame>
        <p:nvGraphicFramePr>
          <p:cNvPr id="52" name="Diagram 51">
            <a:extLst>
              <a:ext uri="{FF2B5EF4-FFF2-40B4-BE49-F238E27FC236}">
                <a16:creationId xmlns:a16="http://schemas.microsoft.com/office/drawing/2014/main" id="{76A3BF82-4DCD-64EE-25F7-CE60402CC89A}"/>
              </a:ext>
            </a:extLst>
          </p:cNvPr>
          <p:cNvGraphicFramePr/>
          <p:nvPr/>
        </p:nvGraphicFramePr>
        <p:xfrm>
          <a:off x="266700" y="2736287"/>
          <a:ext cx="5799683" cy="25912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4">
            <a:extLst>
              <a:ext uri="{FF2B5EF4-FFF2-40B4-BE49-F238E27FC236}">
                <a16:creationId xmlns:a16="http://schemas.microsoft.com/office/drawing/2014/main" id="{83A23290-67C8-6203-8BC2-B2EE7C56B978}"/>
              </a:ext>
            </a:extLst>
          </p:cNvPr>
          <p:cNvSpPr/>
          <p:nvPr/>
        </p:nvSpPr>
        <p:spPr bwMode="ltGray">
          <a:xfrm>
            <a:off x="1102831" y="5034596"/>
            <a:ext cx="4046823" cy="830847"/>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8" name="Isosceles Triangle 7">
            <a:extLst>
              <a:ext uri="{FF2B5EF4-FFF2-40B4-BE49-F238E27FC236}">
                <a16:creationId xmlns:a16="http://schemas.microsoft.com/office/drawing/2014/main" id="{C2BF8686-A497-2F17-EF53-8AF8A8352104}"/>
              </a:ext>
            </a:extLst>
          </p:cNvPr>
          <p:cNvSpPr/>
          <p:nvPr/>
        </p:nvSpPr>
        <p:spPr bwMode="ltGray">
          <a:xfrm rot="5400000">
            <a:off x="4308226" y="5325932"/>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10" name="TextBox 9">
            <a:extLst>
              <a:ext uri="{FF2B5EF4-FFF2-40B4-BE49-F238E27FC236}">
                <a16:creationId xmlns:a16="http://schemas.microsoft.com/office/drawing/2014/main" id="{7841818E-958A-EEB0-E82B-D0D240BDFC1F}"/>
              </a:ext>
            </a:extLst>
          </p:cNvPr>
          <p:cNvSpPr txBox="1"/>
          <p:nvPr/>
        </p:nvSpPr>
        <p:spPr>
          <a:xfrm>
            <a:off x="1286543" y="5197727"/>
            <a:ext cx="2786809" cy="492443"/>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a:ln>
                  <a:noFill/>
                </a:ln>
                <a:solidFill>
                  <a:srgbClr val="000965"/>
                </a:solidFill>
                <a:effectLst/>
                <a:uLnTx/>
                <a:uFillTx/>
                <a:latin typeface="Arial"/>
                <a:ea typeface="+mn-ea"/>
                <a:cs typeface="+mn-cs"/>
              </a:rPr>
              <a:t>Scan the QR code to sign up for the August </a:t>
            </a:r>
            <a:r>
              <a:rPr lang="en-US" sz="1600" b="1">
                <a:solidFill>
                  <a:srgbClr val="000965"/>
                </a:solidFill>
                <a:latin typeface="Arial"/>
              </a:rPr>
              <a:t>5</a:t>
            </a:r>
            <a:r>
              <a:rPr kumimoji="0" lang="en-US" sz="1600" b="1" i="0" u="none" strike="noStrike" kern="1200" cap="none" spc="0" normalizeH="0" baseline="0" noProof="0">
                <a:ln>
                  <a:noFill/>
                </a:ln>
                <a:solidFill>
                  <a:srgbClr val="000965"/>
                </a:solidFill>
                <a:effectLst/>
                <a:uLnTx/>
                <a:uFillTx/>
                <a:latin typeface="Arial"/>
                <a:ea typeface="+mn-ea"/>
                <a:cs typeface="+mn-cs"/>
              </a:rPr>
              <a:t> webinar</a:t>
            </a:r>
            <a:endParaRPr kumimoji="0" lang="en-US" sz="1600" b="1" i="0" u="none" strike="noStrike" kern="1200" cap="none" spc="0" normalizeH="0" baseline="0" noProof="0">
              <a:ln>
                <a:noFill/>
              </a:ln>
              <a:solidFill>
                <a:srgbClr val="7FB9FF"/>
              </a:solidFill>
              <a:effectLst/>
              <a:uLnTx/>
              <a:uFillTx/>
              <a:latin typeface="Arial"/>
              <a:ea typeface="+mn-ea"/>
              <a:cs typeface="+mn-cs"/>
            </a:endParaRPr>
          </a:p>
        </p:txBody>
      </p:sp>
      <p:pic>
        <p:nvPicPr>
          <p:cNvPr id="14" name="Picture 13">
            <a:extLst>
              <a:ext uri="{FF2B5EF4-FFF2-40B4-BE49-F238E27FC236}">
                <a16:creationId xmlns:a16="http://schemas.microsoft.com/office/drawing/2014/main" id="{CCBA2E68-5B2B-AA8A-CDA3-16C79C8662DD}"/>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4741139" y="5034596"/>
            <a:ext cx="823295" cy="823295"/>
          </a:xfrm>
          <a:prstGeom prst="rect">
            <a:avLst/>
          </a:prstGeom>
        </p:spPr>
      </p:pic>
    </p:spTree>
    <p:extLst>
      <p:ext uri="{BB962C8B-B14F-4D97-AF65-F5344CB8AC3E}">
        <p14:creationId xmlns:p14="http://schemas.microsoft.com/office/powerpoint/2010/main" val="29754144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C7CCF-88CF-4831-74B6-A6EA4D9E7739}"/>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1C2FDB41-FF54-C765-F569-9F0F70A27565}"/>
              </a:ext>
            </a:extLst>
          </p:cNvPr>
          <p:cNvSpPr/>
          <p:nvPr/>
        </p:nvSpPr>
        <p:spPr bwMode="ltGray">
          <a:xfrm>
            <a:off x="-8627" y="1390680"/>
            <a:ext cx="12192000" cy="4662976"/>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6A837031-6EB9-2C2B-853C-0F307D50DB7E}"/>
              </a:ext>
            </a:extLst>
          </p:cNvPr>
          <p:cNvSpPr>
            <a:spLocks noGrp="1"/>
          </p:cNvSpPr>
          <p:nvPr>
            <p:ph type="title"/>
          </p:nvPr>
        </p:nvSpPr>
        <p:spPr>
          <a:xfrm>
            <a:off x="439946" y="381000"/>
            <a:ext cx="11526276" cy="496033"/>
          </a:xfrm>
        </p:spPr>
        <p:txBody>
          <a:bodyPr/>
          <a:lstStyle/>
          <a:p>
            <a:r>
              <a:rPr lang="en-US">
                <a:solidFill>
                  <a:srgbClr val="000A62"/>
                </a:solidFill>
                <a:latin typeface="+mj-lt"/>
              </a:rPr>
              <a:t>2026 Advisor Symposium – Venue registration is now open! </a:t>
            </a:r>
          </a:p>
        </p:txBody>
      </p:sp>
      <p:sp>
        <p:nvSpPr>
          <p:cNvPr id="4" name="Text Placeholder 3">
            <a:extLst>
              <a:ext uri="{FF2B5EF4-FFF2-40B4-BE49-F238E27FC236}">
                <a16:creationId xmlns:a16="http://schemas.microsoft.com/office/drawing/2014/main" id="{E6AFAF42-F033-A720-BB8E-996BC02A005B}"/>
              </a:ext>
            </a:extLst>
          </p:cNvPr>
          <p:cNvSpPr>
            <a:spLocks noGrp="1"/>
          </p:cNvSpPr>
          <p:nvPr>
            <p:ph type="body" sz="quarter" idx="12"/>
          </p:nvPr>
        </p:nvSpPr>
        <p:spPr>
          <a:xfrm>
            <a:off x="439946" y="901872"/>
            <a:ext cx="11294854" cy="496033"/>
          </a:xfrm>
        </p:spPr>
        <p:txBody>
          <a:bodyPr/>
          <a:lstStyle/>
          <a:p>
            <a:r>
              <a:rPr lang="en-US" sz="2400" b="1"/>
              <a:t>Register your venue before Aug. 28 to host this year’s event.  </a:t>
            </a:r>
          </a:p>
        </p:txBody>
      </p:sp>
      <p:sp>
        <p:nvSpPr>
          <p:cNvPr id="11" name="Rectangle 3">
            <a:extLst>
              <a:ext uri="{FF2B5EF4-FFF2-40B4-BE49-F238E27FC236}">
                <a16:creationId xmlns:a16="http://schemas.microsoft.com/office/drawing/2014/main" id="{EA41BDE1-A4CC-3CDC-2469-9ACB374C50DD}"/>
              </a:ext>
            </a:extLst>
          </p:cNvPr>
          <p:cNvSpPr>
            <a:spLocks noChangeArrowheads="1"/>
          </p:cNvSpPr>
          <p:nvPr/>
        </p:nvSpPr>
        <p:spPr bwMode="auto">
          <a:xfrm>
            <a:off x="880533" y="713954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2"/>
              </a:solidFill>
              <a:effectLst/>
              <a:uLnTx/>
              <a:uFillTx/>
              <a:latin typeface="Arial"/>
              <a:ea typeface="+mn-ea"/>
              <a:cs typeface="+mn-cs"/>
            </a:endParaRPr>
          </a:p>
        </p:txBody>
      </p:sp>
      <p:sp>
        <p:nvSpPr>
          <p:cNvPr id="14" name="AutoShape 5" descr="Generated image: National webinar recruiting strategies design">
            <a:extLst>
              <a:ext uri="{FF2B5EF4-FFF2-40B4-BE49-F238E27FC236}">
                <a16:creationId xmlns:a16="http://schemas.microsoft.com/office/drawing/2014/main" id="{54071592-25B0-69E9-4C8C-EDE7A0D9906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2"/>
              </a:solidFill>
              <a:effectLst/>
              <a:uLnTx/>
              <a:uFillTx/>
              <a:latin typeface="Arial"/>
              <a:ea typeface="+mn-ea"/>
              <a:cs typeface="+mn-cs"/>
            </a:endParaRPr>
          </a:p>
        </p:txBody>
      </p:sp>
      <p:sp>
        <p:nvSpPr>
          <p:cNvPr id="15" name="Rectangle: Rounded Corners 14">
            <a:extLst>
              <a:ext uri="{FF2B5EF4-FFF2-40B4-BE49-F238E27FC236}">
                <a16:creationId xmlns:a16="http://schemas.microsoft.com/office/drawing/2014/main" id="{0E893F60-744E-E3F9-6A08-297535F27D34}"/>
              </a:ext>
            </a:extLst>
          </p:cNvPr>
          <p:cNvSpPr>
            <a:spLocks/>
          </p:cNvSpPr>
          <p:nvPr/>
        </p:nvSpPr>
        <p:spPr>
          <a:xfrm>
            <a:off x="344074" y="5610451"/>
            <a:ext cx="5808454" cy="344448"/>
          </a:xfrm>
          <a:prstGeom prst="roundRect">
            <a:avLst>
              <a:gd name="adj" fmla="val 9040"/>
            </a:avLst>
          </a:prstGeom>
          <a:solidFill>
            <a:sysClr val="window" lastClr="FFFFFF">
              <a:lumMod val="95000"/>
            </a:sysClr>
          </a:solidFill>
          <a:ln w="19050" cap="flat" cmpd="sng" algn="ctr">
            <a:solidFill>
              <a:srgbClr val="0468FF"/>
            </a:solidFill>
            <a:prstDash val="solid"/>
            <a:miter lim="800000"/>
          </a:ln>
          <a:effectLst/>
        </p:spPr>
        <p:txBody>
          <a:bodyPr rtlCol="0" anchor="ctr"/>
          <a:lstStyle/>
          <a:p>
            <a:pPr marL="0" marR="0" lvl="0" indent="0" algn="ctr" defTabSz="914400" rtl="0" eaLnBrk="1" fontAlgn="auto" latinLnBrk="0" hangingPunct="1">
              <a:lnSpc>
                <a:spcPct val="115000"/>
              </a:lnSpc>
              <a:spcBef>
                <a:spcPts val="0"/>
              </a:spcBef>
              <a:spcAft>
                <a:spcPts val="800"/>
              </a:spcAft>
              <a:buClrTx/>
              <a:buSzTx/>
              <a:buFontTx/>
              <a:buNone/>
              <a:tabLst/>
              <a:defRPr/>
            </a:pPr>
            <a:r>
              <a:rPr kumimoji="0" lang="en-US" sz="1600" b="0" i="0" u="none" strike="noStrike" kern="100" cap="none" spc="0" normalizeH="0" baseline="0" noProof="0">
                <a:ln>
                  <a:noFill/>
                </a:ln>
                <a:solidFill>
                  <a:srgbClr val="000000"/>
                </a:solidFill>
                <a:effectLst/>
                <a:uLnTx/>
                <a:uFillTx/>
                <a:latin typeface="Arial"/>
                <a:ea typeface="Aptos" panose="020B0004020202020204" pitchFamily="34" charset="0"/>
                <a:cs typeface="Times New Roman" panose="02020603050405020304" pitchFamily="18" charset="0"/>
              </a:rPr>
              <a:t>For questions contact: </a:t>
            </a:r>
            <a:r>
              <a:rPr kumimoji="0" lang="en-US" sz="1600" b="0" i="0" u="sng" strike="noStrike" kern="100" cap="none" spc="0" normalizeH="0" baseline="0" noProof="0">
                <a:ln>
                  <a:noFill/>
                </a:ln>
                <a:solidFill>
                  <a:srgbClr val="467886"/>
                </a:solidFill>
                <a:effectLst/>
                <a:uLnTx/>
                <a:uFillTx/>
                <a:latin typeface="Arial"/>
                <a:ea typeface="Aptos" panose="020B0004020202020204" pitchFamily="34" charset="0"/>
                <a:cs typeface="Times New Roman" panose="02020603050405020304" pitchFamily="18" charset="0"/>
                <a:hlinkClick r:id="rId3"/>
              </a:rPr>
              <a:t>AdvisorSymposium@newyorklife.com</a:t>
            </a:r>
            <a:r>
              <a:rPr kumimoji="0" lang="en-US" sz="1600" b="0" i="0" u="none" strike="noStrike" kern="100" cap="none" spc="0" normalizeH="0" baseline="0" noProof="0">
                <a:ln>
                  <a:noFill/>
                </a:ln>
                <a:solidFill>
                  <a:srgbClr val="000000"/>
                </a:solidFill>
                <a:effectLst/>
                <a:uLnTx/>
                <a:uFillTx/>
                <a:latin typeface="Arial"/>
                <a:ea typeface="Aptos" panose="020B0004020202020204" pitchFamily="34" charset="0"/>
                <a:cs typeface="Times New Roman" panose="02020603050405020304" pitchFamily="18" charset="0"/>
                <a:hlinkClick r:id="rId3"/>
              </a:rPr>
              <a:t> </a:t>
            </a:r>
            <a:endParaRPr kumimoji="0" lang="en-US" sz="1600" b="0" i="0" u="none" strike="noStrike" kern="100" cap="none" spc="0" normalizeH="0" baseline="0" noProof="0">
              <a:ln>
                <a:noFill/>
              </a:ln>
              <a:solidFill>
                <a:prstClr val="white"/>
              </a:solidFill>
              <a:effectLst/>
              <a:uLnTx/>
              <a:uFillTx/>
              <a:latin typeface="Arial"/>
              <a:ea typeface="Aptos" panose="020B000402020202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B696B125-9F5F-AE1C-FA23-2F5682344173}"/>
              </a:ext>
            </a:extLst>
          </p:cNvPr>
          <p:cNvSpPr txBox="1">
            <a:spLocks/>
          </p:cNvSpPr>
          <p:nvPr/>
        </p:nvSpPr>
        <p:spPr>
          <a:xfrm>
            <a:off x="439946" y="1595018"/>
            <a:ext cx="5808454" cy="1097880"/>
          </a:xfrm>
          <a:prstGeom prst="rect">
            <a:avLst/>
          </a:prstGeom>
          <a:noFill/>
        </p:spPr>
        <p:txBody>
          <a:bodyPr vert="horz" lIns="0" tIns="0" rIns="0" bIns="0" rtlCol="0" anchor="t" anchorCtr="0">
            <a:noAutofit/>
          </a:bodyPr>
          <a:lstStyle>
            <a:lvl1pPr algn="l" defTabSz="1219170" rtl="0" eaLnBrk="1" latinLnBrk="0" hangingPunct="1">
              <a:lnSpc>
                <a:spcPct val="100000"/>
              </a:lnSpc>
              <a:spcBef>
                <a:spcPct val="0"/>
              </a:spcBef>
              <a:buNone/>
              <a:defRPr sz="4000" kern="1200">
                <a:solidFill>
                  <a:schemeClr val="bg2"/>
                </a:solidFill>
                <a:latin typeface="+mj-lt"/>
                <a:ea typeface="+mj-ea"/>
                <a:cs typeface="+mj-cs"/>
              </a:defRPr>
            </a:lvl1pPr>
          </a:lstStyle>
          <a:p>
            <a:pPr marL="0" marR="0" lvl="0" indent="0" algn="l" defTabSz="1219170" rtl="0" eaLnBrk="1" fontAlgn="auto" latinLnBrk="0" hangingPunct="1">
              <a:lnSpc>
                <a:spcPct val="100000"/>
              </a:lnSpc>
              <a:spcBef>
                <a:spcPts val="0"/>
              </a:spcBef>
              <a:spcAft>
                <a:spcPts val="1200"/>
              </a:spcAft>
              <a:buClrTx/>
              <a:buSzTx/>
              <a:buFontTx/>
              <a:buNone/>
              <a:tabLst/>
              <a:defRPr/>
            </a:pPr>
            <a:r>
              <a:rPr kumimoji="0" lang="en-US" sz="3200" b="1" i="0" u="none" strike="noStrike" kern="1200" cap="none" spc="0" normalizeH="0" baseline="0" noProof="0">
                <a:ln>
                  <a:noFill/>
                </a:ln>
                <a:solidFill>
                  <a:srgbClr val="000962"/>
                </a:solidFill>
                <a:effectLst/>
                <a:uLnTx/>
                <a:uFillTx/>
                <a:latin typeface="Arial"/>
                <a:ea typeface="Calibri" panose="020F0502020204030204" pitchFamily="34" charset="0"/>
                <a:cs typeface="Times New Roman" panose="02020603050405020304" pitchFamily="18" charset="0"/>
              </a:rPr>
              <a:t>Why should agents host the </a:t>
            </a:r>
            <a:br>
              <a:rPr kumimoji="0" lang="en-US" sz="3200" b="1" i="0" u="none" strike="noStrike" kern="1200" cap="none" spc="0" normalizeH="0" baseline="0" noProof="0">
                <a:ln>
                  <a:noFill/>
                </a:ln>
                <a:solidFill>
                  <a:srgbClr val="000962"/>
                </a:solidFill>
                <a:effectLst/>
                <a:uLnTx/>
                <a:uFillTx/>
                <a:latin typeface="Arial"/>
                <a:ea typeface="Calibri" panose="020F0502020204030204" pitchFamily="34" charset="0"/>
                <a:cs typeface="Times New Roman" panose="02020603050405020304" pitchFamily="18" charset="0"/>
              </a:rPr>
            </a:br>
            <a:r>
              <a:rPr kumimoji="0" lang="en-US" sz="3200" b="1" i="0" u="none" strike="noStrike" kern="1200" cap="none" spc="0" normalizeH="0" baseline="0" noProof="0">
                <a:ln>
                  <a:noFill/>
                </a:ln>
                <a:solidFill>
                  <a:srgbClr val="000962"/>
                </a:solidFill>
                <a:effectLst/>
                <a:uLnTx/>
                <a:uFillTx/>
                <a:latin typeface="Arial"/>
                <a:ea typeface="Calibri" panose="020F0502020204030204" pitchFamily="34" charset="0"/>
                <a:cs typeface="Times New Roman" panose="02020603050405020304" pitchFamily="18" charset="0"/>
              </a:rPr>
              <a:t>2026 Advisor Symposium?</a:t>
            </a:r>
            <a:endParaRPr kumimoji="0" lang="en-US" sz="3200" b="1" i="0" u="none" strike="noStrike" kern="1200" cap="none" spc="0" normalizeH="0" baseline="0" noProof="0">
              <a:ln>
                <a:noFill/>
              </a:ln>
              <a:solidFill>
                <a:srgbClr val="000962"/>
              </a:solidFill>
              <a:effectLst/>
              <a:uLnTx/>
              <a:uFillTx/>
              <a:latin typeface="Arial"/>
              <a:ea typeface="+mj-ea"/>
              <a:cs typeface="Times New Roman" panose="02020603050405020304" pitchFamily="18" charset="0"/>
            </a:endParaRPr>
          </a:p>
        </p:txBody>
      </p:sp>
      <p:sp>
        <p:nvSpPr>
          <p:cNvPr id="16" name="Title 1">
            <a:extLst>
              <a:ext uri="{FF2B5EF4-FFF2-40B4-BE49-F238E27FC236}">
                <a16:creationId xmlns:a16="http://schemas.microsoft.com/office/drawing/2014/main" id="{17032E01-221B-B5BF-E05D-FF221C7A4B03}"/>
              </a:ext>
            </a:extLst>
          </p:cNvPr>
          <p:cNvSpPr txBox="1">
            <a:spLocks/>
          </p:cNvSpPr>
          <p:nvPr/>
        </p:nvSpPr>
        <p:spPr>
          <a:xfrm>
            <a:off x="439947" y="2704599"/>
            <a:ext cx="5229616" cy="1819963"/>
          </a:xfrm>
          <a:prstGeom prst="rect">
            <a:avLst/>
          </a:prstGeom>
          <a:noFill/>
        </p:spPr>
        <p:txBody>
          <a:bodyPr vert="horz" lIns="0" tIns="0" rIns="0" bIns="0" rtlCol="0" anchor="t" anchorCtr="0">
            <a:noAutofit/>
          </a:bodyPr>
          <a:lstStyle>
            <a:lvl1pPr algn="l" defTabSz="1219170" rtl="0" eaLnBrk="1" latinLnBrk="0" hangingPunct="1">
              <a:lnSpc>
                <a:spcPct val="100000"/>
              </a:lnSpc>
              <a:spcBef>
                <a:spcPct val="0"/>
              </a:spcBef>
              <a:buNone/>
              <a:defRPr sz="4000" kern="1200">
                <a:solidFill>
                  <a:schemeClr val="bg2"/>
                </a:solidFill>
                <a:latin typeface="+mj-lt"/>
                <a:ea typeface="+mj-ea"/>
                <a:cs typeface="+mj-cs"/>
              </a:defRPr>
            </a:lvl1pPr>
          </a:lstStyle>
          <a:p>
            <a:pPr marL="457200" marR="0" lvl="0" indent="-457200" algn="l" defTabSz="1219170"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en-US" sz="2400" b="1" i="0" u="none" strike="noStrike" kern="1200" cap="none" spc="0" normalizeH="0" baseline="0" noProof="0">
                <a:ln>
                  <a:noFill/>
                </a:ln>
                <a:solidFill>
                  <a:srgbClr val="0468FF"/>
                </a:solidFill>
                <a:effectLst/>
                <a:uLnTx/>
                <a:uFillTx/>
                <a:latin typeface="Arial"/>
                <a:ea typeface="Calibri" panose="020F0502020204030204" pitchFamily="34" charset="0"/>
                <a:cs typeface="Times New Roman" panose="02020603050405020304" pitchFamily="18" charset="0"/>
              </a:rPr>
              <a:t>Build network of COIs and increase referrals.</a:t>
            </a:r>
          </a:p>
          <a:p>
            <a:pPr marL="457200" marR="0" lvl="0" indent="-457200" algn="l" defTabSz="1219170"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en-US" sz="2400" b="1" i="0" u="none" strike="noStrike" kern="1200" cap="none" spc="0" normalizeH="0" baseline="0" noProof="0">
                <a:ln>
                  <a:noFill/>
                </a:ln>
                <a:solidFill>
                  <a:srgbClr val="0468FF"/>
                </a:solidFill>
                <a:effectLst/>
                <a:uLnTx/>
                <a:uFillTx/>
                <a:latin typeface="Arial"/>
                <a:ea typeface="Calibri" panose="020F0502020204030204" pitchFamily="34" charset="0"/>
                <a:cs typeface="Times New Roman" panose="02020603050405020304" pitchFamily="18" charset="0"/>
              </a:rPr>
              <a:t>P</a:t>
            </a:r>
            <a:r>
              <a:rPr kumimoji="0" lang="en-US" sz="2400" b="1" i="0" u="none" strike="noStrike" kern="1200" cap="none" spc="0" normalizeH="0" baseline="0" noProof="0">
                <a:ln>
                  <a:noFill/>
                </a:ln>
                <a:solidFill>
                  <a:srgbClr val="0468FF"/>
                </a:solidFill>
                <a:effectLst/>
                <a:uLnTx/>
                <a:uFillTx/>
                <a:latin typeface="Arial"/>
                <a:ea typeface="+mj-ea"/>
                <a:cs typeface="Times New Roman" panose="02020603050405020304" pitchFamily="18" charset="0"/>
              </a:rPr>
              <a:t>osition themselves as trusted source of industry knowledge. </a:t>
            </a:r>
          </a:p>
        </p:txBody>
      </p:sp>
      <p:sp>
        <p:nvSpPr>
          <p:cNvPr id="18" name="Rectangle: Rounded Corners 17">
            <a:extLst>
              <a:ext uri="{FF2B5EF4-FFF2-40B4-BE49-F238E27FC236}">
                <a16:creationId xmlns:a16="http://schemas.microsoft.com/office/drawing/2014/main" id="{DB351EF6-A270-5554-09E6-6F59046D310A}"/>
              </a:ext>
            </a:extLst>
          </p:cNvPr>
          <p:cNvSpPr/>
          <p:nvPr/>
        </p:nvSpPr>
        <p:spPr>
          <a:xfrm>
            <a:off x="6490698" y="1595018"/>
            <a:ext cx="5371021" cy="4194060"/>
          </a:xfrm>
          <a:prstGeom prst="roundRect">
            <a:avLst>
              <a:gd name="adj" fmla="val 11645"/>
            </a:avLst>
          </a:prstGeom>
          <a:solidFill>
            <a:srgbClr val="000A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7" name="Content Placeholder 2">
            <a:extLst>
              <a:ext uri="{FF2B5EF4-FFF2-40B4-BE49-F238E27FC236}">
                <a16:creationId xmlns:a16="http://schemas.microsoft.com/office/drawing/2014/main" id="{0D296BA6-CD97-3856-D258-EADCB1C5247F}"/>
              </a:ext>
            </a:extLst>
          </p:cNvPr>
          <p:cNvSpPr>
            <a:spLocks noGrp="1"/>
          </p:cNvSpPr>
          <p:nvPr>
            <p:ph idx="1"/>
          </p:nvPr>
        </p:nvSpPr>
        <p:spPr>
          <a:xfrm>
            <a:off x="6717098" y="1864687"/>
            <a:ext cx="4870583" cy="3706058"/>
          </a:xfrm>
        </p:spPr>
        <p:txBody>
          <a:bodyPr/>
          <a:lstStyle/>
          <a:p>
            <a:pPr marL="0" indent="0" algn="ctr">
              <a:spcBef>
                <a:spcPts val="0"/>
              </a:spcBef>
              <a:spcAft>
                <a:spcPts val="1200"/>
              </a:spcAft>
              <a:buClr>
                <a:schemeClr val="bg1"/>
              </a:buClr>
              <a:buNone/>
            </a:pPr>
            <a:r>
              <a:rPr lang="en-US" b="1">
                <a:solidFill>
                  <a:schemeClr val="bg1"/>
                </a:solidFill>
                <a:latin typeface="+mn-lt"/>
                <a:cs typeface="Times New Roman"/>
              </a:rPr>
              <a:t>The 2026 Advisor Symposium will be held on Nov. 4 from 2 - 5 pm Eastern. </a:t>
            </a:r>
          </a:p>
          <a:p>
            <a:pPr marL="569595" lvl="1" indent="-285750">
              <a:spcBef>
                <a:spcPts val="0"/>
              </a:spcBef>
              <a:spcAft>
                <a:spcPts val="600"/>
              </a:spcAft>
              <a:buClr>
                <a:schemeClr val="bg1"/>
              </a:buClr>
              <a:buFont typeface="Wingdings" panose="05000000000000000000" pitchFamily="2" charset="2"/>
              <a:buChar char="§"/>
            </a:pPr>
            <a:r>
              <a:rPr lang="en-US">
                <a:solidFill>
                  <a:schemeClr val="bg1"/>
                </a:solidFill>
                <a:cs typeface="Times New Roman" panose="02020603050405020304" pitchFamily="18" charset="0"/>
              </a:rPr>
              <a:t>Marketing materials, suggested outreach plans, and hosting / CE instructions will be provided for all registered venues.  </a:t>
            </a:r>
          </a:p>
          <a:p>
            <a:pPr marL="569595" lvl="1" indent="-285750">
              <a:spcBef>
                <a:spcPts val="0"/>
              </a:spcBef>
              <a:spcAft>
                <a:spcPts val="600"/>
              </a:spcAft>
              <a:buClr>
                <a:schemeClr val="bg1"/>
              </a:buClr>
              <a:buFont typeface="Wingdings" panose="05000000000000000000" pitchFamily="2" charset="2"/>
              <a:buChar char="§"/>
            </a:pPr>
            <a:r>
              <a:rPr lang="en-US">
                <a:solidFill>
                  <a:schemeClr val="bg1"/>
                </a:solidFill>
                <a:cs typeface="Times New Roman" panose="02020603050405020304" pitchFamily="18" charset="0"/>
              </a:rPr>
              <a:t>CLE, CPE, and American College PRP credits will be offered for qualified attendees.  </a:t>
            </a:r>
          </a:p>
          <a:p>
            <a:pPr marL="569595" lvl="1" indent="-285750">
              <a:spcBef>
                <a:spcPts val="0"/>
              </a:spcBef>
              <a:spcAft>
                <a:spcPts val="600"/>
              </a:spcAft>
              <a:buClr>
                <a:schemeClr val="bg1"/>
              </a:buClr>
              <a:buFont typeface="Wingdings" panose="05000000000000000000" pitchFamily="2" charset="2"/>
              <a:buChar char="§"/>
            </a:pPr>
            <a:r>
              <a:rPr lang="en-US" b="1">
                <a:solidFill>
                  <a:schemeClr val="bg1"/>
                </a:solidFill>
                <a:latin typeface="+mn-lt"/>
                <a:cs typeface="Times New Roman" panose="02020603050405020304" pitchFamily="18" charset="0"/>
              </a:rPr>
              <a:t>Attendee registration begins in  early September.  </a:t>
            </a:r>
          </a:p>
        </p:txBody>
      </p:sp>
      <p:pic>
        <p:nvPicPr>
          <p:cNvPr id="21" name="Picture 20">
            <a:extLst>
              <a:ext uri="{FF2B5EF4-FFF2-40B4-BE49-F238E27FC236}">
                <a16:creationId xmlns:a16="http://schemas.microsoft.com/office/drawing/2014/main" id="{55FF996B-0075-9EDC-45BF-4715CF5A6701}"/>
              </a:ext>
            </a:extLst>
          </p:cNvPr>
          <p:cNvPicPr>
            <a:picLocks noChangeAspect="1"/>
          </p:cNvPicPr>
          <p:nvPr/>
        </p:nvPicPr>
        <p:blipFill>
          <a:blip r:embed="rId4"/>
          <a:stretch>
            <a:fillRect/>
          </a:stretch>
        </p:blipFill>
        <p:spPr>
          <a:xfrm>
            <a:off x="778117" y="4359314"/>
            <a:ext cx="4546626" cy="1097375"/>
          </a:xfrm>
          <a:prstGeom prst="rect">
            <a:avLst/>
          </a:prstGeom>
        </p:spPr>
      </p:pic>
      <p:sp>
        <p:nvSpPr>
          <p:cNvPr id="6" name="TextBox 5">
            <a:extLst>
              <a:ext uri="{FF2B5EF4-FFF2-40B4-BE49-F238E27FC236}">
                <a16:creationId xmlns:a16="http://schemas.microsoft.com/office/drawing/2014/main" id="{5F2553EC-0E31-60D8-B87E-0F7E7BB70014}"/>
              </a:ext>
            </a:extLst>
          </p:cNvPr>
          <p:cNvSpPr txBox="1"/>
          <p:nvPr/>
        </p:nvSpPr>
        <p:spPr>
          <a:xfrm>
            <a:off x="9048750" y="5855739"/>
            <a:ext cx="2686050" cy="123111"/>
          </a:xfrm>
          <a:prstGeom prst="rect">
            <a:avLst/>
          </a:prstGeom>
          <a:noFill/>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SMRU 9035730 Exp 11/4/2026 </a:t>
            </a:r>
          </a:p>
        </p:txBody>
      </p:sp>
      <p:pic>
        <p:nvPicPr>
          <p:cNvPr id="5" name="Picture 4">
            <a:extLst>
              <a:ext uri="{FF2B5EF4-FFF2-40B4-BE49-F238E27FC236}">
                <a16:creationId xmlns:a16="http://schemas.microsoft.com/office/drawing/2014/main" id="{73F7951F-276C-320C-06D8-91094E5DA36F}"/>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4351432" y="4370701"/>
            <a:ext cx="1097280" cy="1097280"/>
          </a:xfrm>
          <a:prstGeom prst="rect">
            <a:avLst/>
          </a:prstGeom>
        </p:spPr>
      </p:pic>
      <p:sp>
        <p:nvSpPr>
          <p:cNvPr id="8" name="TextBox 7">
            <a:extLst>
              <a:ext uri="{FF2B5EF4-FFF2-40B4-BE49-F238E27FC236}">
                <a16:creationId xmlns:a16="http://schemas.microsoft.com/office/drawing/2014/main" id="{A55A32B7-4795-1D1C-371D-9251A1F6C3E9}"/>
              </a:ext>
            </a:extLst>
          </p:cNvPr>
          <p:cNvSpPr txBox="1"/>
          <p:nvPr/>
        </p:nvSpPr>
        <p:spPr>
          <a:xfrm>
            <a:off x="942330" y="4641252"/>
            <a:ext cx="2593512" cy="553998"/>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965"/>
                </a:solidFill>
                <a:effectLst/>
                <a:uLnTx/>
                <a:uFillTx/>
                <a:latin typeface="Arial"/>
                <a:ea typeface="+mn-ea"/>
                <a:cs typeface="+mn-cs"/>
              </a:rPr>
              <a:t>Scan the QR code to register to host the event.</a:t>
            </a:r>
            <a:endParaRPr kumimoji="0" lang="en-US" sz="1800" b="0" i="0" u="none" strike="noStrike" kern="1200" cap="none" spc="0" normalizeH="0" baseline="0" noProof="0">
              <a:ln>
                <a:noFill/>
              </a:ln>
              <a:solidFill>
                <a:srgbClr val="7FB9FF"/>
              </a:solidFill>
              <a:effectLst/>
              <a:uLnTx/>
              <a:uFillTx/>
              <a:latin typeface="Arial"/>
              <a:ea typeface="+mn-ea"/>
              <a:cs typeface="+mn-cs"/>
            </a:endParaRPr>
          </a:p>
        </p:txBody>
      </p:sp>
      <p:sp>
        <p:nvSpPr>
          <p:cNvPr id="12" name="Isosceles Triangle 11">
            <a:extLst>
              <a:ext uri="{FF2B5EF4-FFF2-40B4-BE49-F238E27FC236}">
                <a16:creationId xmlns:a16="http://schemas.microsoft.com/office/drawing/2014/main" id="{56630DFA-CA80-B0C4-8BEF-3931A9005C60}"/>
              </a:ext>
            </a:extLst>
          </p:cNvPr>
          <p:cNvSpPr/>
          <p:nvPr/>
        </p:nvSpPr>
        <p:spPr bwMode="ltGray">
          <a:xfrm rot="5400000">
            <a:off x="3775672" y="4835792"/>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Tree>
    <p:extLst>
      <p:ext uri="{BB962C8B-B14F-4D97-AF65-F5344CB8AC3E}">
        <p14:creationId xmlns:p14="http://schemas.microsoft.com/office/powerpoint/2010/main" val="24061419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C11B3-4BE7-C906-931B-C4F71A651A21}"/>
              </a:ext>
            </a:extLst>
          </p:cNvPr>
          <p:cNvSpPr>
            <a:spLocks noGrp="1"/>
          </p:cNvSpPr>
          <p:nvPr>
            <p:ph type="title"/>
          </p:nvPr>
        </p:nvSpPr>
        <p:spPr/>
        <p:txBody>
          <a:bodyPr/>
          <a:lstStyle/>
          <a:p>
            <a:r>
              <a:rPr lang="en-IN"/>
              <a:t>The 2027 Calendar Program is live on </a:t>
            </a:r>
            <a:br>
              <a:rPr lang="en-IN"/>
            </a:br>
            <a:r>
              <a:rPr lang="en-IN"/>
              <a:t>Marketing on Demand </a:t>
            </a:r>
            <a:endParaRPr lang="en-US"/>
          </a:p>
        </p:txBody>
      </p:sp>
      <p:sp>
        <p:nvSpPr>
          <p:cNvPr id="5" name="Rectangle 4">
            <a:extLst>
              <a:ext uri="{FF2B5EF4-FFF2-40B4-BE49-F238E27FC236}">
                <a16:creationId xmlns:a16="http://schemas.microsoft.com/office/drawing/2014/main" id="{3AA75ED0-8213-0075-FB60-77F853172A69}"/>
              </a:ext>
            </a:extLst>
          </p:cNvPr>
          <p:cNvSpPr/>
          <p:nvPr/>
        </p:nvSpPr>
        <p:spPr bwMode="ltGray">
          <a:xfrm>
            <a:off x="-8627" y="1372337"/>
            <a:ext cx="12192000" cy="411332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pic>
        <p:nvPicPr>
          <p:cNvPr id="6" name="Picture 5">
            <a:extLst>
              <a:ext uri="{FF2B5EF4-FFF2-40B4-BE49-F238E27FC236}">
                <a16:creationId xmlns:a16="http://schemas.microsoft.com/office/drawing/2014/main" id="{D71C2BCC-304E-8AB3-BB4F-122439D63F05}"/>
              </a:ext>
            </a:extLst>
          </p:cNvPr>
          <p:cNvPicPr>
            <a:picLocks noChangeAspect="1"/>
          </p:cNvPicPr>
          <p:nvPr/>
        </p:nvPicPr>
        <p:blipFill>
          <a:blip r:embed="rId3"/>
          <a:stretch>
            <a:fillRect/>
          </a:stretch>
        </p:blipFill>
        <p:spPr>
          <a:xfrm>
            <a:off x="8180681" y="1372337"/>
            <a:ext cx="2800784" cy="4240788"/>
          </a:xfrm>
          <a:prstGeom prst="rect">
            <a:avLst/>
          </a:prstGeom>
        </p:spPr>
      </p:pic>
      <p:sp>
        <p:nvSpPr>
          <p:cNvPr id="8" name="TextBox 7">
            <a:extLst>
              <a:ext uri="{FF2B5EF4-FFF2-40B4-BE49-F238E27FC236}">
                <a16:creationId xmlns:a16="http://schemas.microsoft.com/office/drawing/2014/main" id="{2BDD1F63-D815-04FF-5FAF-2F0C74DFB94A}"/>
              </a:ext>
            </a:extLst>
          </p:cNvPr>
          <p:cNvSpPr txBox="1"/>
          <p:nvPr/>
        </p:nvSpPr>
        <p:spPr>
          <a:xfrm>
            <a:off x="282575" y="1539247"/>
            <a:ext cx="6102350" cy="2759666"/>
          </a:xfrm>
          <a:prstGeom prst="rect">
            <a:avLst/>
          </a:prstGeom>
          <a:noFill/>
        </p:spPr>
        <p:txBody>
          <a:bodyPr wrap="square">
            <a:spAutoFit/>
          </a:bodyPr>
          <a:lstStyle/>
          <a:p>
            <a:pPr marL="304165" indent="-304165">
              <a:buFont typeface="Arial"/>
              <a:buChar char="•"/>
            </a:pPr>
            <a:r>
              <a:rPr lang="en-US" sz="1600">
                <a:solidFill>
                  <a:srgbClr val="000000"/>
                </a:solidFill>
                <a:latin typeface="Arial"/>
                <a:ea typeface="Geneva"/>
                <a:cs typeface="Arial"/>
              </a:rPr>
              <a:t>Keep your brand in front of your clients 365 days a year.</a:t>
            </a:r>
          </a:p>
          <a:p>
            <a:pPr marL="0" indent="0">
              <a:buNone/>
            </a:pPr>
            <a:endParaRPr lang="en-US" sz="1600">
              <a:solidFill>
                <a:srgbClr val="000000"/>
              </a:solidFill>
              <a:latin typeface="Arial"/>
              <a:ea typeface="Geneva"/>
              <a:cs typeface="Arial"/>
            </a:endParaRPr>
          </a:p>
          <a:p>
            <a:pPr marL="304165" indent="-304165">
              <a:buFont typeface="Arial"/>
              <a:buChar char="•"/>
            </a:pPr>
            <a:r>
              <a:rPr lang="en-US" sz="1600">
                <a:solidFill>
                  <a:srgbClr val="000000"/>
                </a:solidFill>
                <a:latin typeface="Arial"/>
                <a:cs typeface="Arial"/>
              </a:rPr>
              <a:t>Printed, personalized calendars your clients hang on their wall, refrigerator, or place on their desk.</a:t>
            </a:r>
          </a:p>
          <a:p>
            <a:pPr marL="304165" indent="-304165">
              <a:buFont typeface="Arial"/>
              <a:buChar char="•"/>
            </a:pPr>
            <a:endParaRPr lang="en-US" sz="1600">
              <a:solidFill>
                <a:srgbClr val="000000"/>
              </a:solidFill>
              <a:latin typeface="Arial"/>
              <a:cs typeface="Arial"/>
            </a:endParaRPr>
          </a:p>
          <a:p>
            <a:pPr marL="304165" indent="-304165">
              <a:buFont typeface="Arial"/>
              <a:buChar char="•"/>
            </a:pPr>
            <a:r>
              <a:rPr lang="en-US" sz="1600">
                <a:solidFill>
                  <a:srgbClr val="000000"/>
                </a:solidFill>
                <a:latin typeface="Arial"/>
                <a:cs typeface="Arial"/>
              </a:rPr>
              <a:t>Available to order on MOD starting Aug 3.</a:t>
            </a:r>
          </a:p>
          <a:p>
            <a:pPr marL="304165" indent="-304165">
              <a:buFont typeface="Arial"/>
              <a:buChar char="•"/>
            </a:pPr>
            <a:endParaRPr lang="en-US" sz="1600">
              <a:solidFill>
                <a:srgbClr val="000000"/>
              </a:solidFill>
              <a:latin typeface="Arial"/>
              <a:cs typeface="Arial"/>
            </a:endParaRPr>
          </a:p>
          <a:p>
            <a:pPr marL="304165" indent="-304165">
              <a:buFont typeface="Arial"/>
              <a:buChar char="•"/>
            </a:pPr>
            <a:r>
              <a:rPr lang="en-US" sz="1600">
                <a:solidFill>
                  <a:srgbClr val="000000"/>
                </a:solidFill>
                <a:latin typeface="Arial"/>
                <a:cs typeface="Arial"/>
              </a:rPr>
              <a:t>For calendars to arrive before the end of 2026, order by:</a:t>
            </a:r>
          </a:p>
          <a:p>
            <a:pPr marL="608886" lvl="1" indent="-304165">
              <a:buFont typeface="Arial"/>
              <a:buChar char="•"/>
            </a:pPr>
            <a:r>
              <a:rPr lang="en-US" sz="1600">
                <a:solidFill>
                  <a:srgbClr val="000000"/>
                </a:solidFill>
                <a:latin typeface="Arial"/>
                <a:cs typeface="Arial"/>
              </a:rPr>
              <a:t>Nov 2 for direct mail calendars</a:t>
            </a:r>
          </a:p>
          <a:p>
            <a:pPr marL="608886" lvl="1" indent="-304165">
              <a:buFont typeface="Arial"/>
              <a:buChar char="•"/>
            </a:pPr>
            <a:r>
              <a:rPr lang="en-US" sz="1600">
                <a:solidFill>
                  <a:srgbClr val="000000"/>
                </a:solidFill>
                <a:latin typeface="Arial"/>
                <a:cs typeface="Arial"/>
              </a:rPr>
              <a:t>Nov 22 for bulk calendars</a:t>
            </a:r>
          </a:p>
          <a:p>
            <a:pPr marL="608886" lvl="1" indent="-304165">
              <a:buFont typeface="Arial"/>
              <a:buChar char="•"/>
            </a:pPr>
            <a:endParaRPr lang="en-US" sz="1333">
              <a:latin typeface="Arial"/>
              <a:cs typeface="Arial"/>
            </a:endParaRPr>
          </a:p>
        </p:txBody>
      </p:sp>
      <p:sp>
        <p:nvSpPr>
          <p:cNvPr id="10" name="Rectangle 9">
            <a:extLst>
              <a:ext uri="{FF2B5EF4-FFF2-40B4-BE49-F238E27FC236}">
                <a16:creationId xmlns:a16="http://schemas.microsoft.com/office/drawing/2014/main" id="{10E69927-E7D7-8A86-F1AB-9F4B29EE1BAB}"/>
              </a:ext>
            </a:extLst>
          </p:cNvPr>
          <p:cNvSpPr/>
          <p:nvPr/>
        </p:nvSpPr>
        <p:spPr bwMode="ltGray">
          <a:xfrm>
            <a:off x="549275" y="4301347"/>
            <a:ext cx="4848225"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Geneva" pitchFamily="-109" charset="-128"/>
              <a:cs typeface="+mn-cs"/>
            </a:endParaRPr>
          </a:p>
        </p:txBody>
      </p:sp>
      <p:pic>
        <p:nvPicPr>
          <p:cNvPr id="9" name="Picture 8">
            <a:extLst>
              <a:ext uri="{FF2B5EF4-FFF2-40B4-BE49-F238E27FC236}">
                <a16:creationId xmlns:a16="http://schemas.microsoft.com/office/drawing/2014/main" id="{4B463EAE-814D-2C2C-B74B-115BB46EF23B}"/>
              </a:ext>
            </a:extLst>
          </p:cNvPr>
          <p:cNvPicPr>
            <a:picLocks noChangeAspect="1"/>
          </p:cNvPicPr>
          <p:nvPr/>
        </p:nvPicPr>
        <p:blipFill>
          <a:blip r:embed="rId4"/>
          <a:stretch>
            <a:fillRect/>
          </a:stretch>
        </p:blipFill>
        <p:spPr>
          <a:xfrm>
            <a:off x="4260417" y="4398804"/>
            <a:ext cx="933883" cy="936889"/>
          </a:xfrm>
          <a:prstGeom prst="rect">
            <a:avLst/>
          </a:prstGeom>
        </p:spPr>
      </p:pic>
      <p:sp>
        <p:nvSpPr>
          <p:cNvPr id="12" name="TextBox 11">
            <a:extLst>
              <a:ext uri="{FF2B5EF4-FFF2-40B4-BE49-F238E27FC236}">
                <a16:creationId xmlns:a16="http://schemas.microsoft.com/office/drawing/2014/main" id="{442FBF74-7766-5B51-2C8B-F08D3698FB19}"/>
              </a:ext>
            </a:extLst>
          </p:cNvPr>
          <p:cNvSpPr txBox="1"/>
          <p:nvPr/>
        </p:nvSpPr>
        <p:spPr>
          <a:xfrm>
            <a:off x="549275" y="4522794"/>
            <a:ext cx="2828925" cy="338554"/>
          </a:xfrm>
          <a:prstGeom prst="rect">
            <a:avLst/>
          </a:prstGeom>
          <a:noFill/>
        </p:spPr>
        <p:txBody>
          <a:bodyPr wrap="square">
            <a:spAutoFit/>
          </a:bodyPr>
          <a:lstStyle/>
          <a:p>
            <a:r>
              <a:rPr lang="en-US" sz="1600">
                <a:latin typeface="Arial"/>
                <a:cs typeface="Arial"/>
              </a:rPr>
              <a:t>Scan to see more </a:t>
            </a:r>
            <a:r>
              <a:rPr lang="en-US" sz="1600" err="1">
                <a:latin typeface="Arial"/>
                <a:cs typeface="Arial"/>
              </a:rPr>
              <a:t>detials</a:t>
            </a:r>
            <a:endParaRPr lang="en-US" sz="1600"/>
          </a:p>
        </p:txBody>
      </p:sp>
      <p:sp>
        <p:nvSpPr>
          <p:cNvPr id="13" name="Isosceles Triangle 12">
            <a:extLst>
              <a:ext uri="{FF2B5EF4-FFF2-40B4-BE49-F238E27FC236}">
                <a16:creationId xmlns:a16="http://schemas.microsoft.com/office/drawing/2014/main" id="{DC7662A6-23CB-5477-FA50-21BF6075E42B}"/>
              </a:ext>
            </a:extLst>
          </p:cNvPr>
          <p:cNvSpPr/>
          <p:nvPr/>
        </p:nvSpPr>
        <p:spPr bwMode="ltGray">
          <a:xfrm rot="5400000">
            <a:off x="3602824" y="4716665"/>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Tree>
    <p:extLst>
      <p:ext uri="{BB962C8B-B14F-4D97-AF65-F5344CB8AC3E}">
        <p14:creationId xmlns:p14="http://schemas.microsoft.com/office/powerpoint/2010/main" val="41878032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CDF94-E87A-75E8-8345-9382FF5FB93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6E0E738-453B-588F-BFA3-05D08D6CD5ED}"/>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5C251835-BEFD-4EAD-1FAE-3C57738EDA0A}"/>
              </a:ext>
            </a:extLst>
          </p:cNvPr>
          <p:cNvSpPr>
            <a:spLocks noGrp="1"/>
          </p:cNvSpPr>
          <p:nvPr>
            <p:ph type="title"/>
          </p:nvPr>
        </p:nvSpPr>
        <p:spPr/>
        <p:txBody>
          <a:bodyPr/>
          <a:lstStyle/>
          <a:p>
            <a:r>
              <a:rPr lang="en-US"/>
              <a:t>Join Our Upcoming WMCP</a:t>
            </a:r>
            <a:r>
              <a:rPr lang="en-US" baseline="30000"/>
              <a:t>®</a:t>
            </a:r>
            <a:r>
              <a:rPr lang="en-US"/>
              <a:t> Study Cohort</a:t>
            </a:r>
          </a:p>
        </p:txBody>
      </p:sp>
      <p:sp>
        <p:nvSpPr>
          <p:cNvPr id="4" name="Text Placeholder 3">
            <a:extLst>
              <a:ext uri="{FF2B5EF4-FFF2-40B4-BE49-F238E27FC236}">
                <a16:creationId xmlns:a16="http://schemas.microsoft.com/office/drawing/2014/main" id="{5B2D5E89-F781-547E-BE26-0E6F2E5A9FE8}"/>
              </a:ext>
            </a:extLst>
          </p:cNvPr>
          <p:cNvSpPr>
            <a:spLocks noGrp="1"/>
          </p:cNvSpPr>
          <p:nvPr>
            <p:ph type="body" sz="quarter" idx="12"/>
          </p:nvPr>
        </p:nvSpPr>
        <p:spPr>
          <a:xfrm>
            <a:off x="439946" y="953242"/>
            <a:ext cx="11294854" cy="496033"/>
          </a:xfrm>
        </p:spPr>
        <p:txBody>
          <a:bodyPr/>
          <a:lstStyle/>
          <a:p>
            <a:r>
              <a:rPr lang="en-US" sz="2200"/>
              <a:t>Study cohorts are free of charge and meet weekly for 1 hour.</a:t>
            </a:r>
          </a:p>
        </p:txBody>
      </p:sp>
      <p:sp>
        <p:nvSpPr>
          <p:cNvPr id="7" name="Rectangle 6">
            <a:extLst>
              <a:ext uri="{FF2B5EF4-FFF2-40B4-BE49-F238E27FC236}">
                <a16:creationId xmlns:a16="http://schemas.microsoft.com/office/drawing/2014/main" id="{B8A6FEC6-0608-BDB3-0793-D574817860AE}"/>
              </a:ext>
            </a:extLst>
          </p:cNvPr>
          <p:cNvSpPr/>
          <p:nvPr/>
        </p:nvSpPr>
        <p:spPr bwMode="ltGray">
          <a:xfrm>
            <a:off x="6156352" y="4820094"/>
            <a:ext cx="5578443"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Geneva" pitchFamily="-109" charset="-128"/>
              <a:cs typeface="+mn-cs"/>
            </a:endParaRPr>
          </a:p>
        </p:txBody>
      </p:sp>
      <p:sp>
        <p:nvSpPr>
          <p:cNvPr id="8" name="Rectangle 7">
            <a:extLst>
              <a:ext uri="{FF2B5EF4-FFF2-40B4-BE49-F238E27FC236}">
                <a16:creationId xmlns:a16="http://schemas.microsoft.com/office/drawing/2014/main" id="{E771D096-6643-074E-0610-C26D275F1FDD}"/>
              </a:ext>
            </a:extLst>
          </p:cNvPr>
          <p:cNvSpPr/>
          <p:nvPr/>
        </p:nvSpPr>
        <p:spPr>
          <a:xfrm>
            <a:off x="6156357" y="1535039"/>
            <a:ext cx="5578443" cy="3189738"/>
          </a:xfrm>
          <a:prstGeom prst="rect">
            <a:avLst/>
          </a:prstGeom>
          <a:solidFill>
            <a:schemeClr val="accent2">
              <a:alpha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 name="Isosceles Triangle 11">
            <a:extLst>
              <a:ext uri="{FF2B5EF4-FFF2-40B4-BE49-F238E27FC236}">
                <a16:creationId xmlns:a16="http://schemas.microsoft.com/office/drawing/2014/main" id="{29597F97-BABB-C44D-7596-305045159CE9}"/>
              </a:ext>
            </a:extLst>
          </p:cNvPr>
          <p:cNvSpPr/>
          <p:nvPr/>
        </p:nvSpPr>
        <p:spPr bwMode="ltGray">
          <a:xfrm rot="5400000">
            <a:off x="10057079" y="5251917"/>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13" name="TextBox 12">
            <a:extLst>
              <a:ext uri="{FF2B5EF4-FFF2-40B4-BE49-F238E27FC236}">
                <a16:creationId xmlns:a16="http://schemas.microsoft.com/office/drawing/2014/main" id="{18F8BF1D-CD01-E969-D665-74D9B502F985}"/>
              </a:ext>
            </a:extLst>
          </p:cNvPr>
          <p:cNvSpPr txBox="1"/>
          <p:nvPr/>
        </p:nvSpPr>
        <p:spPr>
          <a:xfrm>
            <a:off x="6316522" y="4916282"/>
            <a:ext cx="3633256" cy="81560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to reserve your seat.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Q</a:t>
            </a:r>
            <a:r>
              <a:rPr lang="en-US" sz="1600">
                <a:solidFill>
                  <a:srgbClr val="000965"/>
                </a:solidFill>
                <a:latin typeface="Arial"/>
              </a:rPr>
              <a:t>uestions? Send an email to: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rgbClr val="000965"/>
                </a:solidFill>
                <a:latin typeface="Arial"/>
                <a:hlinkClick r:id="rId3">
                  <a:extLst>
                    <a:ext uri="{A12FA001-AC4F-418D-AE19-62706E023703}">
                      <ahyp:hlinkClr xmlns:ahyp="http://schemas.microsoft.com/office/drawing/2018/hyperlinkcolor" val="tx"/>
                    </a:ext>
                  </a:extLst>
                </a:hlinkClick>
              </a:rPr>
              <a:t>NYLIC_University@newyorklife.com</a:t>
            </a:r>
            <a:r>
              <a:rPr lang="en-US" sz="1600">
                <a:solidFill>
                  <a:srgbClr val="000965"/>
                </a:solidFill>
                <a:latin typeface="Arial"/>
              </a:rPr>
              <a:t> </a:t>
            </a:r>
            <a:endParaRPr kumimoji="0" lang="en-US" sz="1600" b="0" i="0" u="none" strike="noStrike" kern="1200" cap="none" spc="0" normalizeH="0" baseline="0" noProof="0">
              <a:ln>
                <a:noFill/>
              </a:ln>
              <a:solidFill>
                <a:srgbClr val="000965"/>
              </a:solidFill>
              <a:effectLst/>
              <a:uLnTx/>
              <a:uFillTx/>
              <a:latin typeface="Arial"/>
              <a:ea typeface="+mn-ea"/>
              <a:cs typeface="+mn-cs"/>
            </a:endParaRPr>
          </a:p>
        </p:txBody>
      </p:sp>
      <p:sp>
        <p:nvSpPr>
          <p:cNvPr id="16" name="TextBox 15">
            <a:extLst>
              <a:ext uri="{FF2B5EF4-FFF2-40B4-BE49-F238E27FC236}">
                <a16:creationId xmlns:a16="http://schemas.microsoft.com/office/drawing/2014/main" id="{36DAF8CB-51C5-92B3-29EF-A6E817329994}"/>
              </a:ext>
            </a:extLst>
          </p:cNvPr>
          <p:cNvSpPr txBox="1"/>
          <p:nvPr/>
        </p:nvSpPr>
        <p:spPr>
          <a:xfrm>
            <a:off x="6167238" y="1541055"/>
            <a:ext cx="5559552" cy="430887"/>
          </a:xfrm>
          <a:prstGeom prst="rect">
            <a:avLst/>
          </a:prstGeom>
          <a:solidFill>
            <a:schemeClr val="tx1"/>
          </a:solidFill>
        </p:spPr>
        <p:txBody>
          <a:bodyPr wrap="square" lIns="182880" tIns="91440" rIns="91440" bIns="9144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a:ln>
                  <a:noFill/>
                </a:ln>
                <a:solidFill>
                  <a:srgbClr val="FFFFFF"/>
                </a:solidFill>
                <a:effectLst/>
                <a:uLnTx/>
                <a:uFillTx/>
                <a:latin typeface="Arial"/>
                <a:ea typeface="+mn-ea"/>
                <a:cs typeface="+mn-cs"/>
              </a:rPr>
              <a:t>WMCP</a:t>
            </a:r>
            <a:r>
              <a:rPr kumimoji="0" lang="en-IN" sz="1600" b="1" i="0" u="none" strike="noStrike" kern="1200" cap="none" spc="0" normalizeH="0" baseline="30000" noProof="0">
                <a:ln>
                  <a:noFill/>
                </a:ln>
                <a:solidFill>
                  <a:srgbClr val="FFFFFF"/>
                </a:solidFill>
                <a:effectLst/>
                <a:uLnTx/>
                <a:uFillTx/>
                <a:latin typeface="Arial"/>
                <a:ea typeface="+mn-ea"/>
                <a:cs typeface="+mn-cs"/>
              </a:rPr>
              <a:t>®</a:t>
            </a:r>
            <a:r>
              <a:rPr kumimoji="0" lang="en-IN" sz="1600" b="1" i="0" u="none" strike="noStrike" kern="1200" cap="none" spc="0" normalizeH="0" baseline="0" noProof="0">
                <a:ln>
                  <a:noFill/>
                </a:ln>
                <a:solidFill>
                  <a:srgbClr val="FFFFFF"/>
                </a:solidFill>
                <a:effectLst/>
                <a:uLnTx/>
                <a:uFillTx/>
                <a:latin typeface="Arial"/>
                <a:ea typeface="+mn-ea"/>
                <a:cs typeface="+mn-cs"/>
              </a:rPr>
              <a:t> Courses</a:t>
            </a:r>
          </a:p>
        </p:txBody>
      </p:sp>
      <p:sp>
        <p:nvSpPr>
          <p:cNvPr id="20" name="TextBox 19">
            <a:extLst>
              <a:ext uri="{FF2B5EF4-FFF2-40B4-BE49-F238E27FC236}">
                <a16:creationId xmlns:a16="http://schemas.microsoft.com/office/drawing/2014/main" id="{73219FA6-A0E1-11D0-E542-7EC15848A56B}"/>
              </a:ext>
            </a:extLst>
          </p:cNvPr>
          <p:cNvSpPr txBox="1"/>
          <p:nvPr/>
        </p:nvSpPr>
        <p:spPr>
          <a:xfrm>
            <a:off x="6316522" y="3648748"/>
            <a:ext cx="1653064" cy="923330"/>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300"/>
              </a:spcBef>
              <a:spcAft>
                <a:spcPts val="0"/>
              </a:spcAft>
              <a:buClrTx/>
              <a:buSzTx/>
              <a:buFontTx/>
              <a:buNone/>
              <a:tabLst/>
              <a:defRPr/>
            </a:pPr>
            <a:r>
              <a:rPr kumimoji="0" lang="en-IN" sz="1200" b="1" i="0" u="none" strike="noStrike" kern="1200" cap="none" spc="0" normalizeH="0" baseline="0" noProof="0">
                <a:ln>
                  <a:noFill/>
                </a:ln>
                <a:solidFill>
                  <a:srgbClr val="000965"/>
                </a:solidFill>
                <a:effectLst/>
                <a:uLnTx/>
                <a:uFillTx/>
                <a:latin typeface="Arial"/>
                <a:ea typeface="+mn-ea"/>
                <a:cs typeface="+mn-cs"/>
              </a:rPr>
              <a:t>Study cohort meets Wednesdays from 4pm-5pm ET for 12 weeks starting September 9</a:t>
            </a:r>
            <a:endParaRPr kumimoji="0" lang="en-IN" sz="1200" b="0" i="0" u="none" strike="noStrike" kern="1200" cap="none" spc="0" normalizeH="0" baseline="0" noProof="0">
              <a:ln>
                <a:noFill/>
              </a:ln>
              <a:solidFill>
                <a:srgbClr val="000965"/>
              </a:solidFill>
              <a:effectLst/>
              <a:uLnTx/>
              <a:uFillTx/>
              <a:latin typeface="Arial"/>
              <a:ea typeface="+mn-ea"/>
              <a:cs typeface="+mn-cs"/>
            </a:endParaRPr>
          </a:p>
        </p:txBody>
      </p:sp>
      <p:sp>
        <p:nvSpPr>
          <p:cNvPr id="10" name="Content Placeholder 2">
            <a:extLst>
              <a:ext uri="{FF2B5EF4-FFF2-40B4-BE49-F238E27FC236}">
                <a16:creationId xmlns:a16="http://schemas.microsoft.com/office/drawing/2014/main" id="{7030D85C-4BC6-2654-DDD3-CC5A7824F31C}"/>
              </a:ext>
            </a:extLst>
          </p:cNvPr>
          <p:cNvSpPr>
            <a:spLocks noGrp="1"/>
          </p:cNvSpPr>
          <p:nvPr>
            <p:ph idx="1"/>
          </p:nvPr>
        </p:nvSpPr>
        <p:spPr>
          <a:xfrm>
            <a:off x="457199" y="2506996"/>
            <a:ext cx="5630423" cy="3376307"/>
          </a:xfrm>
        </p:spPr>
        <p:txBody>
          <a:bodyPr/>
          <a:lstStyle/>
          <a:p>
            <a:pPr marL="0" indent="0">
              <a:lnSpc>
                <a:spcPct val="100000"/>
              </a:lnSpc>
              <a:spcAft>
                <a:spcPts val="600"/>
              </a:spcAft>
              <a:buNone/>
            </a:pPr>
            <a:r>
              <a:rPr lang="en-US"/>
              <a:t>Eagle-affiliated IARs looking to pursue the </a:t>
            </a:r>
            <a:r>
              <a:rPr lang="en-US" b="1"/>
              <a:t>Wealth Management Certified Professional</a:t>
            </a:r>
            <a:r>
              <a:rPr lang="en-US" b="1" baseline="30000"/>
              <a:t>®</a:t>
            </a:r>
            <a:r>
              <a:rPr lang="en-US" b="1"/>
              <a:t> (WMCP</a:t>
            </a:r>
            <a:r>
              <a:rPr lang="en-US" b="1" baseline="30000"/>
              <a:t>®</a:t>
            </a:r>
            <a:r>
              <a:rPr lang="en-US" b="1"/>
              <a:t>) </a:t>
            </a:r>
            <a:r>
              <a:rPr lang="en-US"/>
              <a:t>designation are invited to join one of the upcoming study cohorts.</a:t>
            </a:r>
            <a:r>
              <a:rPr lang="en-US" b="1"/>
              <a:t> </a:t>
            </a:r>
          </a:p>
          <a:p>
            <a:pPr marL="461963">
              <a:lnSpc>
                <a:spcPct val="100000"/>
              </a:lnSpc>
              <a:spcAft>
                <a:spcPts val="600"/>
              </a:spcAft>
            </a:pPr>
            <a:r>
              <a:rPr lang="en-US" sz="1800"/>
              <a:t>Tuition is covered*</a:t>
            </a:r>
          </a:p>
          <a:p>
            <a:pPr marL="461963">
              <a:lnSpc>
                <a:spcPct val="100000"/>
              </a:lnSpc>
              <a:spcAft>
                <a:spcPts val="600"/>
              </a:spcAft>
            </a:pPr>
            <a:r>
              <a:rPr lang="en-US" sz="1800"/>
              <a:t>Earn CE credits**</a:t>
            </a:r>
          </a:p>
          <a:p>
            <a:pPr marL="461963">
              <a:lnSpc>
                <a:spcPct val="100000"/>
              </a:lnSpc>
              <a:spcAft>
                <a:spcPts val="600"/>
              </a:spcAft>
            </a:pPr>
            <a:r>
              <a:rPr lang="en-US" sz="1800"/>
              <a:t>Study alongside your peers***</a:t>
            </a:r>
          </a:p>
          <a:p>
            <a:pPr marL="0" indent="0">
              <a:lnSpc>
                <a:spcPct val="100000"/>
              </a:lnSpc>
              <a:spcAft>
                <a:spcPts val="600"/>
              </a:spcAft>
              <a:buNone/>
            </a:pPr>
            <a:r>
              <a:rPr lang="en-US" sz="1800"/>
              <a:t>Registration closes on </a:t>
            </a:r>
            <a:r>
              <a:rPr lang="en-US" sz="1800" b="1"/>
              <a:t>August 18</a:t>
            </a:r>
            <a:r>
              <a:rPr lang="en-US" sz="1800"/>
              <a:t>. Cohort details and session invitations will be sent </a:t>
            </a:r>
            <a:r>
              <a:rPr lang="en-US" sz="1800" b="1"/>
              <a:t>August 19</a:t>
            </a:r>
            <a:r>
              <a:rPr lang="en-US" sz="1800"/>
              <a:t>.</a:t>
            </a:r>
          </a:p>
          <a:p>
            <a:endParaRPr lang="en-US">
              <a:solidFill>
                <a:srgbClr val="000965"/>
              </a:solidFill>
            </a:endParaRPr>
          </a:p>
          <a:p>
            <a:pPr marL="0" indent="0">
              <a:buNone/>
            </a:pPr>
            <a:endParaRPr lang="en-US">
              <a:solidFill>
                <a:srgbClr val="000965"/>
              </a:solidFill>
            </a:endParaRPr>
          </a:p>
          <a:p>
            <a:pPr marL="0" indent="0">
              <a:buNone/>
            </a:pPr>
            <a:endParaRPr lang="en-US">
              <a:solidFill>
                <a:srgbClr val="000965"/>
              </a:solidFill>
            </a:endParaRPr>
          </a:p>
        </p:txBody>
      </p:sp>
      <p:sp>
        <p:nvSpPr>
          <p:cNvPr id="11" name="Rectangle 10">
            <a:extLst>
              <a:ext uri="{FF2B5EF4-FFF2-40B4-BE49-F238E27FC236}">
                <a16:creationId xmlns:a16="http://schemas.microsoft.com/office/drawing/2014/main" id="{81CE9C2F-4182-C5D3-8DDF-00F5CCC3CDC0}"/>
              </a:ext>
            </a:extLst>
          </p:cNvPr>
          <p:cNvSpPr/>
          <p:nvPr/>
        </p:nvSpPr>
        <p:spPr bwMode="ltGray">
          <a:xfrm>
            <a:off x="457199" y="1535039"/>
            <a:ext cx="5241958" cy="840171"/>
          </a:xfrm>
          <a:prstGeom prst="rect">
            <a:avLst/>
          </a:prstGeom>
          <a:solidFill>
            <a:srgbClr val="0468FF"/>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pic>
        <p:nvPicPr>
          <p:cNvPr id="14" name="Picture 13">
            <a:extLst>
              <a:ext uri="{FF2B5EF4-FFF2-40B4-BE49-F238E27FC236}">
                <a16:creationId xmlns:a16="http://schemas.microsoft.com/office/drawing/2014/main" id="{1508782D-9327-CB50-9B24-13F87FF26CC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6311" y="1700896"/>
            <a:ext cx="508694" cy="508456"/>
          </a:xfrm>
          <a:prstGeom prst="rect">
            <a:avLst/>
          </a:prstGeom>
        </p:spPr>
      </p:pic>
      <p:sp>
        <p:nvSpPr>
          <p:cNvPr id="17" name="TextBox 16">
            <a:extLst>
              <a:ext uri="{FF2B5EF4-FFF2-40B4-BE49-F238E27FC236}">
                <a16:creationId xmlns:a16="http://schemas.microsoft.com/office/drawing/2014/main" id="{D1B8DB43-3B71-9886-B7E5-8625008814EE}"/>
              </a:ext>
            </a:extLst>
          </p:cNvPr>
          <p:cNvSpPr txBox="1"/>
          <p:nvPr/>
        </p:nvSpPr>
        <p:spPr>
          <a:xfrm>
            <a:off x="1504117" y="1678125"/>
            <a:ext cx="4268252" cy="55399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Kick-Off: Tuesday, September 1, 2026</a:t>
            </a:r>
            <a:br>
              <a:rPr kumimoji="0" lang="en-US" sz="1800" b="1" i="0" u="none" strike="noStrike" kern="1200" cap="none" spc="0" normalizeH="0" baseline="0" noProof="0">
                <a:ln>
                  <a:noFill/>
                </a:ln>
                <a:solidFill>
                  <a:srgbClr val="FFFFFF"/>
                </a:solidFill>
                <a:effectLst/>
                <a:uLnTx/>
                <a:uFillTx/>
                <a:latin typeface="Arial"/>
                <a:ea typeface="+mn-ea"/>
                <a:cs typeface="+mn-cs"/>
              </a:rPr>
            </a:br>
            <a:r>
              <a:rPr kumimoji="0" lang="en-US" sz="1800" b="1" i="0" u="none" strike="noStrike" kern="1200" cap="none" spc="0" normalizeH="0" baseline="0" noProof="0">
                <a:ln>
                  <a:noFill/>
                </a:ln>
                <a:solidFill>
                  <a:srgbClr val="FFFFFF"/>
                </a:solidFill>
                <a:effectLst/>
                <a:uLnTx/>
                <a:uFillTx/>
                <a:latin typeface="Arial"/>
                <a:ea typeface="+mn-ea"/>
                <a:cs typeface="+mn-cs"/>
              </a:rPr>
              <a:t>Time: </a:t>
            </a:r>
            <a:r>
              <a:rPr lang="en-US" b="1">
                <a:solidFill>
                  <a:srgbClr val="FFFFFF"/>
                </a:solidFill>
                <a:latin typeface="Arial"/>
              </a:rPr>
              <a:t>4</a:t>
            </a:r>
            <a:r>
              <a:rPr kumimoji="0" lang="en-US" sz="1800" b="1" i="0" u="none" strike="noStrike" kern="1200" cap="none" spc="0" normalizeH="0" baseline="0" noProof="0">
                <a:ln>
                  <a:noFill/>
                </a:ln>
                <a:solidFill>
                  <a:srgbClr val="FFFFFF"/>
                </a:solidFill>
                <a:effectLst/>
                <a:uLnTx/>
                <a:uFillTx/>
                <a:latin typeface="Arial"/>
                <a:ea typeface="+mn-ea"/>
                <a:cs typeface="+mn-cs"/>
              </a:rPr>
              <a:t>:00 p.m. ET</a:t>
            </a:r>
            <a:endParaRPr kumimoji="0" lang="en-US" sz="1800" b="0" i="0" u="none" strike="noStrike" kern="1200" cap="none" spc="0" normalizeH="0" baseline="30000" noProof="0">
              <a:ln>
                <a:noFill/>
              </a:ln>
              <a:solidFill>
                <a:srgbClr val="FFFFFF"/>
              </a:solidFill>
              <a:effectLst/>
              <a:uLnTx/>
              <a:uFillTx/>
              <a:latin typeface="Arial"/>
              <a:ea typeface="+mn-ea"/>
              <a:cs typeface="+mn-cs"/>
            </a:endParaRPr>
          </a:p>
        </p:txBody>
      </p:sp>
      <p:sp>
        <p:nvSpPr>
          <p:cNvPr id="9" name="Rectangle 8">
            <a:extLst>
              <a:ext uri="{FF2B5EF4-FFF2-40B4-BE49-F238E27FC236}">
                <a16:creationId xmlns:a16="http://schemas.microsoft.com/office/drawing/2014/main" id="{6DDF7362-BC2A-B661-0BD1-B7B0F0EB65FD}"/>
              </a:ext>
            </a:extLst>
          </p:cNvPr>
          <p:cNvSpPr/>
          <p:nvPr/>
        </p:nvSpPr>
        <p:spPr>
          <a:xfrm>
            <a:off x="6316522" y="2064249"/>
            <a:ext cx="1645920" cy="146304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spcAft>
                <a:spcPts val="600"/>
              </a:spcAft>
            </a:pPr>
            <a:r>
              <a:rPr lang="en-US" b="1">
                <a:solidFill>
                  <a:srgbClr val="000965"/>
                </a:solidFill>
              </a:rPr>
              <a:t>WMCP 360</a:t>
            </a:r>
          </a:p>
          <a:p>
            <a:pPr algn="ctr">
              <a:spcAft>
                <a:spcPts val="600"/>
              </a:spcAft>
            </a:pPr>
            <a:r>
              <a:rPr lang="en-US">
                <a:solidFill>
                  <a:srgbClr val="000965"/>
                </a:solidFill>
              </a:rPr>
              <a:t>Introduction to Goal-Based Planning</a:t>
            </a:r>
          </a:p>
        </p:txBody>
      </p:sp>
      <p:sp>
        <p:nvSpPr>
          <p:cNvPr id="18" name="Rectangle 17">
            <a:extLst>
              <a:ext uri="{FF2B5EF4-FFF2-40B4-BE49-F238E27FC236}">
                <a16:creationId xmlns:a16="http://schemas.microsoft.com/office/drawing/2014/main" id="{E61FFD7F-95DE-0A23-49A9-97DB35171879}"/>
              </a:ext>
            </a:extLst>
          </p:cNvPr>
          <p:cNvSpPr/>
          <p:nvPr/>
        </p:nvSpPr>
        <p:spPr>
          <a:xfrm>
            <a:off x="8119592" y="2070793"/>
            <a:ext cx="1645920" cy="146304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spcAft>
                <a:spcPts val="600"/>
              </a:spcAft>
            </a:pPr>
            <a:r>
              <a:rPr lang="en-US" b="1">
                <a:solidFill>
                  <a:srgbClr val="000965"/>
                </a:solidFill>
              </a:rPr>
              <a:t>WMCP 361</a:t>
            </a:r>
          </a:p>
          <a:p>
            <a:pPr algn="ctr">
              <a:spcAft>
                <a:spcPts val="600"/>
              </a:spcAft>
            </a:pPr>
            <a:r>
              <a:rPr lang="en-US">
                <a:solidFill>
                  <a:srgbClr val="000965"/>
                </a:solidFill>
              </a:rPr>
              <a:t>Efficient Investment Portfolios</a:t>
            </a:r>
          </a:p>
        </p:txBody>
      </p:sp>
      <p:sp>
        <p:nvSpPr>
          <p:cNvPr id="19" name="Rectangle 18">
            <a:extLst>
              <a:ext uri="{FF2B5EF4-FFF2-40B4-BE49-F238E27FC236}">
                <a16:creationId xmlns:a16="http://schemas.microsoft.com/office/drawing/2014/main" id="{51F0A90D-99D0-D96C-3A27-10430115139F}"/>
              </a:ext>
            </a:extLst>
          </p:cNvPr>
          <p:cNvSpPr/>
          <p:nvPr/>
        </p:nvSpPr>
        <p:spPr>
          <a:xfrm>
            <a:off x="9922663" y="2057706"/>
            <a:ext cx="1645920" cy="146304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spcAft>
                <a:spcPts val="600"/>
              </a:spcAft>
            </a:pPr>
            <a:r>
              <a:rPr lang="en-US" b="1">
                <a:solidFill>
                  <a:srgbClr val="000965"/>
                </a:solidFill>
              </a:rPr>
              <a:t>WMCP 362</a:t>
            </a:r>
          </a:p>
          <a:p>
            <a:pPr algn="ctr">
              <a:spcAft>
                <a:spcPts val="600"/>
              </a:spcAft>
            </a:pPr>
            <a:r>
              <a:rPr lang="en-US">
                <a:solidFill>
                  <a:srgbClr val="000965"/>
                </a:solidFill>
              </a:rPr>
              <a:t>Strategic Wealth Management</a:t>
            </a:r>
          </a:p>
        </p:txBody>
      </p:sp>
      <p:sp>
        <p:nvSpPr>
          <p:cNvPr id="21" name="Rectangle 20">
            <a:extLst>
              <a:ext uri="{FF2B5EF4-FFF2-40B4-BE49-F238E27FC236}">
                <a16:creationId xmlns:a16="http://schemas.microsoft.com/office/drawing/2014/main" id="{77AC721E-DDD1-3424-72D6-E98A3E337CEF}"/>
              </a:ext>
            </a:extLst>
          </p:cNvPr>
          <p:cNvSpPr/>
          <p:nvPr/>
        </p:nvSpPr>
        <p:spPr>
          <a:xfrm>
            <a:off x="1116989" y="6099339"/>
            <a:ext cx="9082700" cy="5986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a:solidFill>
                  <a:srgbClr val="000965"/>
                </a:solidFill>
              </a:rPr>
              <a:t>*There is no upfront cost for New Org Agents. Established Agents are fully reimbursed upon successful course completion. </a:t>
            </a:r>
          </a:p>
          <a:p>
            <a:r>
              <a:rPr lang="en-US" sz="1100">
                <a:solidFill>
                  <a:srgbClr val="000965"/>
                </a:solidFill>
              </a:rPr>
              <a:t>**CE credits vary by state. Please contact The American College at </a:t>
            </a:r>
            <a:r>
              <a:rPr lang="en-US" sz="1100">
                <a:solidFill>
                  <a:srgbClr val="000965"/>
                </a:solidFill>
                <a:hlinkClick r:id="rId5">
                  <a:extLst>
                    <a:ext uri="{A12FA001-AC4F-418D-AE19-62706E023703}">
                      <ahyp:hlinkClr xmlns:ahyp="http://schemas.microsoft.com/office/drawing/2018/hyperlinkcolor" val="tx"/>
                    </a:ext>
                  </a:extLst>
                </a:hlinkClick>
              </a:rPr>
              <a:t>CE@theamericancollege.edu</a:t>
            </a:r>
            <a:r>
              <a:rPr lang="en-US" sz="1100">
                <a:solidFill>
                  <a:srgbClr val="000965"/>
                </a:solidFill>
              </a:rPr>
              <a:t> for state-specific information.</a:t>
            </a:r>
          </a:p>
          <a:p>
            <a:r>
              <a:rPr lang="en-US" sz="1100">
                <a:solidFill>
                  <a:srgbClr val="000965"/>
                </a:solidFill>
              </a:rPr>
              <a:t>***Participation in study cohorts is optional. Our team is happy to assist with American College course registration regardless of your approach. </a:t>
            </a:r>
          </a:p>
        </p:txBody>
      </p:sp>
      <p:sp>
        <p:nvSpPr>
          <p:cNvPr id="22" name="TextBox 21">
            <a:extLst>
              <a:ext uri="{FF2B5EF4-FFF2-40B4-BE49-F238E27FC236}">
                <a16:creationId xmlns:a16="http://schemas.microsoft.com/office/drawing/2014/main" id="{C27C6773-B88F-D278-AF33-383500DAEB2C}"/>
              </a:ext>
            </a:extLst>
          </p:cNvPr>
          <p:cNvSpPr txBox="1"/>
          <p:nvPr/>
        </p:nvSpPr>
        <p:spPr>
          <a:xfrm>
            <a:off x="8188189" y="3658194"/>
            <a:ext cx="1542987" cy="923330"/>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300"/>
              </a:spcBef>
              <a:spcAft>
                <a:spcPts val="0"/>
              </a:spcAft>
              <a:buClrTx/>
              <a:buSzTx/>
              <a:buFontTx/>
              <a:buNone/>
              <a:tabLst/>
              <a:defRPr/>
            </a:pPr>
            <a:r>
              <a:rPr kumimoji="0" lang="en-IN" sz="1200" b="1" i="0" u="none" strike="noStrike" kern="1200" cap="none" spc="0" normalizeH="0" baseline="0" noProof="0">
                <a:ln>
                  <a:noFill/>
                </a:ln>
                <a:solidFill>
                  <a:srgbClr val="000965"/>
                </a:solidFill>
                <a:effectLst/>
                <a:uLnTx/>
                <a:uFillTx/>
                <a:latin typeface="Arial"/>
                <a:ea typeface="+mn-ea"/>
                <a:cs typeface="+mn-cs"/>
              </a:rPr>
              <a:t>Study cohort meets Fridays from 11am-12pm ET for 12 weeks starting September 11</a:t>
            </a:r>
            <a:endParaRPr kumimoji="0" lang="en-IN" sz="1200" b="0" i="0" u="none" strike="noStrike" kern="1200" cap="none" spc="0" normalizeH="0" baseline="0" noProof="0">
              <a:ln>
                <a:noFill/>
              </a:ln>
              <a:solidFill>
                <a:srgbClr val="000965"/>
              </a:solidFill>
              <a:effectLst/>
              <a:uLnTx/>
              <a:uFillTx/>
              <a:latin typeface="Arial"/>
              <a:ea typeface="+mn-ea"/>
              <a:cs typeface="+mn-cs"/>
            </a:endParaRPr>
          </a:p>
        </p:txBody>
      </p:sp>
      <p:sp>
        <p:nvSpPr>
          <p:cNvPr id="23" name="TextBox 22">
            <a:extLst>
              <a:ext uri="{FF2B5EF4-FFF2-40B4-BE49-F238E27FC236}">
                <a16:creationId xmlns:a16="http://schemas.microsoft.com/office/drawing/2014/main" id="{DA3C17B8-CF34-6C31-BA9A-67893919D156}"/>
              </a:ext>
            </a:extLst>
          </p:cNvPr>
          <p:cNvSpPr txBox="1"/>
          <p:nvPr/>
        </p:nvSpPr>
        <p:spPr>
          <a:xfrm>
            <a:off x="9949778" y="3667640"/>
            <a:ext cx="1456674" cy="923330"/>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300"/>
              </a:spcBef>
              <a:spcAft>
                <a:spcPts val="0"/>
              </a:spcAft>
              <a:buClrTx/>
              <a:buSzTx/>
              <a:buFontTx/>
              <a:buNone/>
              <a:tabLst/>
              <a:defRPr/>
            </a:pPr>
            <a:r>
              <a:rPr kumimoji="0" lang="en-IN" sz="1200" b="1" i="0" u="none" strike="noStrike" kern="1200" cap="none" spc="0" normalizeH="0" baseline="0" noProof="0">
                <a:ln>
                  <a:noFill/>
                </a:ln>
                <a:solidFill>
                  <a:srgbClr val="000965"/>
                </a:solidFill>
                <a:effectLst/>
                <a:uLnTx/>
                <a:uFillTx/>
                <a:latin typeface="Arial"/>
                <a:ea typeface="+mn-ea"/>
                <a:cs typeface="+mn-cs"/>
              </a:rPr>
              <a:t>Study cohort meets Tuesdays from 4pm-5pm ET for 12 weeks starting September 8</a:t>
            </a:r>
            <a:endParaRPr kumimoji="0" lang="en-IN" sz="1200" b="0" i="0" u="none" strike="noStrike" kern="1200" cap="none" spc="0" normalizeH="0" baseline="0" noProof="0">
              <a:ln>
                <a:noFill/>
              </a:ln>
              <a:solidFill>
                <a:srgbClr val="000965"/>
              </a:solidFill>
              <a:effectLst/>
              <a:uLnTx/>
              <a:uFillTx/>
              <a:latin typeface="Arial"/>
              <a:ea typeface="+mn-ea"/>
              <a:cs typeface="+mn-cs"/>
            </a:endParaRPr>
          </a:p>
        </p:txBody>
      </p:sp>
      <p:pic>
        <p:nvPicPr>
          <p:cNvPr id="25" name="Picture 24">
            <a:extLst>
              <a:ext uri="{FF2B5EF4-FFF2-40B4-BE49-F238E27FC236}">
                <a16:creationId xmlns:a16="http://schemas.microsoft.com/office/drawing/2014/main" id="{8DF1BC85-95AF-50C4-CA1E-B330FA3B02D6}"/>
              </a:ext>
            </a:extLst>
          </p:cNvPr>
          <p:cNvPicPr>
            <a:picLocks noChangeAspect="1"/>
          </p:cNvPicPr>
          <p:nvPr/>
        </p:nvPicPr>
        <p:blipFill>
          <a:blip r:embed="rId6"/>
          <a:stretch>
            <a:fillRect/>
          </a:stretch>
        </p:blipFill>
        <p:spPr>
          <a:xfrm>
            <a:off x="10629510" y="4822493"/>
            <a:ext cx="1097280" cy="1097280"/>
          </a:xfrm>
          <a:prstGeom prst="rect">
            <a:avLst/>
          </a:prstGeom>
        </p:spPr>
      </p:pic>
    </p:spTree>
    <p:extLst>
      <p:ext uri="{BB962C8B-B14F-4D97-AF65-F5344CB8AC3E}">
        <p14:creationId xmlns:p14="http://schemas.microsoft.com/office/powerpoint/2010/main" val="15088528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1E4DB-6C27-4ED5-5AF2-32287D9610E6}"/>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D8F7A01-314D-376F-162F-033AAEB52B3C}"/>
              </a:ext>
            </a:extLst>
          </p:cNvPr>
          <p:cNvSpPr/>
          <p:nvPr/>
        </p:nvSpPr>
        <p:spPr bwMode="ltGray">
          <a:xfrm>
            <a:off x="0" y="1001553"/>
            <a:ext cx="12192000" cy="5022728"/>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pic>
        <p:nvPicPr>
          <p:cNvPr id="18" name="Picture 17">
            <a:extLst>
              <a:ext uri="{FF2B5EF4-FFF2-40B4-BE49-F238E27FC236}">
                <a16:creationId xmlns:a16="http://schemas.microsoft.com/office/drawing/2014/main" id="{45FAF20F-378D-E9DC-9803-BF3676E72AD5}"/>
              </a:ext>
            </a:extLst>
          </p:cNvPr>
          <p:cNvPicPr>
            <a:picLocks noChangeAspect="1"/>
          </p:cNvPicPr>
          <p:nvPr/>
        </p:nvPicPr>
        <p:blipFill>
          <a:blip r:embed="rId3"/>
          <a:srcRect l="1351" r="50841" b="44539"/>
          <a:stretch>
            <a:fillRect/>
          </a:stretch>
        </p:blipFill>
        <p:spPr>
          <a:xfrm>
            <a:off x="6411074" y="4464490"/>
            <a:ext cx="1946375" cy="1505299"/>
          </a:xfrm>
          <a:prstGeom prst="rect">
            <a:avLst/>
          </a:prstGeom>
        </p:spPr>
      </p:pic>
      <p:sp>
        <p:nvSpPr>
          <p:cNvPr id="34" name="Rectangle 33">
            <a:extLst>
              <a:ext uri="{FF2B5EF4-FFF2-40B4-BE49-F238E27FC236}">
                <a16:creationId xmlns:a16="http://schemas.microsoft.com/office/drawing/2014/main" id="{9D5ADFCD-1559-7910-2DCB-76B71B5E7D14}"/>
              </a:ext>
            </a:extLst>
          </p:cNvPr>
          <p:cNvSpPr/>
          <p:nvPr/>
        </p:nvSpPr>
        <p:spPr bwMode="ltGray">
          <a:xfrm>
            <a:off x="8218842" y="4464490"/>
            <a:ext cx="3267219" cy="1505300"/>
          </a:xfrm>
          <a:prstGeom prst="rect">
            <a:avLst/>
          </a:prstGeom>
          <a:solidFill>
            <a:srgbClr val="A5EFBF"/>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30" name="Rectangle 29">
            <a:extLst>
              <a:ext uri="{FF2B5EF4-FFF2-40B4-BE49-F238E27FC236}">
                <a16:creationId xmlns:a16="http://schemas.microsoft.com/office/drawing/2014/main" id="{FB186B50-D5B6-B4F6-1B06-7AB353630E77}"/>
              </a:ext>
            </a:extLst>
          </p:cNvPr>
          <p:cNvSpPr/>
          <p:nvPr/>
        </p:nvSpPr>
        <p:spPr>
          <a:xfrm>
            <a:off x="667819" y="2503568"/>
            <a:ext cx="5075435" cy="1816122"/>
          </a:xfrm>
          <a:prstGeom prst="rect">
            <a:avLst/>
          </a:prstGeom>
          <a:solidFill>
            <a:srgbClr val="80BAFF">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31" name="Rectangle 30">
            <a:extLst>
              <a:ext uri="{FF2B5EF4-FFF2-40B4-BE49-F238E27FC236}">
                <a16:creationId xmlns:a16="http://schemas.microsoft.com/office/drawing/2014/main" id="{875BD329-5472-547A-53F8-38D1F3401BB3}"/>
              </a:ext>
            </a:extLst>
          </p:cNvPr>
          <p:cNvSpPr/>
          <p:nvPr/>
        </p:nvSpPr>
        <p:spPr>
          <a:xfrm>
            <a:off x="6410626" y="2503568"/>
            <a:ext cx="5168032" cy="1816122"/>
          </a:xfrm>
          <a:prstGeom prst="rect">
            <a:avLst/>
          </a:prstGeom>
          <a:solidFill>
            <a:srgbClr val="80BAFF">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12" name="Rectangle: Rounded Corners 11">
            <a:extLst>
              <a:ext uri="{FF2B5EF4-FFF2-40B4-BE49-F238E27FC236}">
                <a16:creationId xmlns:a16="http://schemas.microsoft.com/office/drawing/2014/main" id="{0B11936D-51B7-F5F2-B8B3-8F958245E6F2}"/>
              </a:ext>
            </a:extLst>
          </p:cNvPr>
          <p:cNvSpPr/>
          <p:nvPr/>
        </p:nvSpPr>
        <p:spPr>
          <a:xfrm>
            <a:off x="421040" y="1064183"/>
            <a:ext cx="5566804" cy="544801"/>
          </a:xfrm>
          <a:prstGeom prst="roundRect">
            <a:avLst>
              <a:gd name="adj" fmla="val 50000"/>
            </a:avLst>
          </a:prstGeom>
          <a:solidFill>
            <a:srgbClr val="046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2" name="Title 1">
            <a:extLst>
              <a:ext uri="{FF2B5EF4-FFF2-40B4-BE49-F238E27FC236}">
                <a16:creationId xmlns:a16="http://schemas.microsoft.com/office/drawing/2014/main" id="{E389FED5-211A-ABA0-BAC4-B39D15D93073}"/>
              </a:ext>
            </a:extLst>
          </p:cNvPr>
          <p:cNvSpPr>
            <a:spLocks noGrp="1"/>
          </p:cNvSpPr>
          <p:nvPr>
            <p:ph type="title"/>
          </p:nvPr>
        </p:nvSpPr>
        <p:spPr/>
        <p:txBody>
          <a:bodyPr/>
          <a:lstStyle/>
          <a:p>
            <a:r>
              <a:rPr lang="en-US" sz="3100"/>
              <a:t>Exclusive Council Perks for EC and PC agents</a:t>
            </a:r>
          </a:p>
        </p:txBody>
      </p:sp>
      <p:sp>
        <p:nvSpPr>
          <p:cNvPr id="3" name="Content Placeholder 2">
            <a:extLst>
              <a:ext uri="{FF2B5EF4-FFF2-40B4-BE49-F238E27FC236}">
                <a16:creationId xmlns:a16="http://schemas.microsoft.com/office/drawing/2014/main" id="{22BF0BA0-DDA5-C6FE-C5A6-6F6593EF3EBA}"/>
              </a:ext>
            </a:extLst>
          </p:cNvPr>
          <p:cNvSpPr>
            <a:spLocks noGrp="1"/>
          </p:cNvSpPr>
          <p:nvPr>
            <p:ph idx="1"/>
          </p:nvPr>
        </p:nvSpPr>
        <p:spPr>
          <a:xfrm>
            <a:off x="667820" y="1736672"/>
            <a:ext cx="5188450" cy="2678525"/>
          </a:xfrm>
        </p:spPr>
        <p:txBody>
          <a:bodyPr/>
          <a:lstStyle/>
          <a:p>
            <a:pPr marL="0" indent="0">
              <a:spcBef>
                <a:spcPts val="0"/>
              </a:spcBef>
              <a:spcAft>
                <a:spcPts val="1600"/>
              </a:spcAft>
              <a:buNone/>
            </a:pPr>
            <a:r>
              <a:rPr lang="en-US" sz="1400">
                <a:solidFill>
                  <a:schemeClr val="accent6">
                    <a:lumMod val="10000"/>
                  </a:schemeClr>
                </a:solidFill>
              </a:rPr>
              <a:t>Exclusive invitation to the Rocky Mountain Crocs</a:t>
            </a:r>
            <a:r>
              <a:rPr lang="en-US" sz="1400" baseline="30000">
                <a:solidFill>
                  <a:schemeClr val="accent6">
                    <a:lumMod val="10000"/>
                  </a:schemeClr>
                </a:solidFill>
              </a:rPr>
              <a:t>™</a:t>
            </a:r>
            <a:r>
              <a:rPr lang="en-US" sz="1400">
                <a:solidFill>
                  <a:schemeClr val="accent6">
                    <a:lumMod val="10000"/>
                  </a:schemeClr>
                </a:solidFill>
              </a:rPr>
              <a:t> Giveaway Experience, featuring a complimentary Crocs bag, NYL </a:t>
            </a:r>
            <a:r>
              <a:rPr lang="en-US" sz="1400" err="1">
                <a:solidFill>
                  <a:schemeClr val="accent6">
                    <a:lumMod val="10000"/>
                  </a:schemeClr>
                </a:solidFill>
              </a:rPr>
              <a:t>Jibbitz</a:t>
            </a:r>
            <a:r>
              <a:rPr lang="en-US" sz="1400" baseline="30000">
                <a:solidFill>
                  <a:schemeClr val="accent6">
                    <a:lumMod val="10000"/>
                  </a:schemeClr>
                </a:solidFill>
              </a:rPr>
              <a:t>™ </a:t>
            </a:r>
            <a:r>
              <a:rPr lang="en-US" sz="1400">
                <a:solidFill>
                  <a:schemeClr val="accent6">
                    <a:lumMod val="10000"/>
                  </a:schemeClr>
                </a:solidFill>
              </a:rPr>
              <a:t>charm and 2 additional charms. </a:t>
            </a:r>
          </a:p>
          <a:p>
            <a:pPr marL="398463">
              <a:spcBef>
                <a:spcPts val="0"/>
              </a:spcBef>
              <a:spcAft>
                <a:spcPts val="600"/>
              </a:spcAft>
              <a:buNone/>
            </a:pPr>
            <a:r>
              <a:rPr lang="en-US" sz="1500" b="1">
                <a:solidFill>
                  <a:schemeClr val="accent6">
                    <a:lumMod val="10000"/>
                  </a:schemeClr>
                </a:solidFill>
              </a:rPr>
              <a:t>Highlights</a:t>
            </a:r>
          </a:p>
          <a:p>
            <a:pPr marL="398463">
              <a:spcBef>
                <a:spcPts val="0"/>
              </a:spcBef>
            </a:pPr>
            <a:r>
              <a:rPr lang="en-US" sz="1400" b="1">
                <a:solidFill>
                  <a:schemeClr val="accent6">
                    <a:lumMod val="10000"/>
                  </a:schemeClr>
                </a:solidFill>
              </a:rPr>
              <a:t>Top 200 </a:t>
            </a:r>
            <a:r>
              <a:rPr lang="en-US" sz="1400">
                <a:solidFill>
                  <a:schemeClr val="accent6">
                    <a:lumMod val="10000"/>
                  </a:schemeClr>
                </a:solidFill>
              </a:rPr>
              <a:t>paid insurance solution cases</a:t>
            </a:r>
            <a:r>
              <a:rPr lang="en-US" sz="1400" baseline="30000">
                <a:solidFill>
                  <a:schemeClr val="accent6">
                    <a:lumMod val="10000"/>
                  </a:schemeClr>
                </a:solidFill>
              </a:rPr>
              <a:t>1 </a:t>
            </a:r>
            <a:r>
              <a:rPr lang="en-US" sz="1400">
                <a:solidFill>
                  <a:schemeClr val="accent6">
                    <a:lumMod val="10000"/>
                  </a:schemeClr>
                </a:solidFill>
              </a:rPr>
              <a:t>leaderboard</a:t>
            </a:r>
            <a:endParaRPr lang="en-US" sz="1400" baseline="30000">
              <a:solidFill>
                <a:schemeClr val="accent6">
                  <a:lumMod val="10000"/>
                </a:schemeClr>
              </a:solidFill>
            </a:endParaRPr>
          </a:p>
          <a:p>
            <a:pPr marL="398463">
              <a:spcBef>
                <a:spcPts val="0"/>
              </a:spcBef>
            </a:pPr>
            <a:r>
              <a:rPr lang="en-US" sz="1400">
                <a:solidFill>
                  <a:schemeClr val="accent6">
                    <a:lumMod val="10000"/>
                  </a:schemeClr>
                </a:solidFill>
              </a:rPr>
              <a:t>Qualification period: </a:t>
            </a:r>
            <a:r>
              <a:rPr lang="en-US" sz="1400" b="1">
                <a:solidFill>
                  <a:schemeClr val="accent6">
                    <a:lumMod val="10000"/>
                  </a:schemeClr>
                </a:solidFill>
              </a:rPr>
              <a:t>July 1 – August 14</a:t>
            </a:r>
          </a:p>
          <a:p>
            <a:pPr marL="398463">
              <a:spcBef>
                <a:spcPts val="0"/>
              </a:spcBef>
            </a:pPr>
            <a:r>
              <a:rPr lang="en-US" sz="1400">
                <a:solidFill>
                  <a:schemeClr val="accent6">
                    <a:lumMod val="10000"/>
                  </a:schemeClr>
                </a:solidFill>
              </a:rPr>
              <a:t>Must attend Executive Council meeting</a:t>
            </a:r>
          </a:p>
          <a:p>
            <a:pPr marL="398463">
              <a:spcBef>
                <a:spcPts val="0"/>
              </a:spcBef>
            </a:pPr>
            <a:r>
              <a:rPr lang="en-US" sz="1400">
                <a:solidFill>
                  <a:schemeClr val="accent6">
                    <a:lumMod val="10000"/>
                  </a:schemeClr>
                </a:solidFill>
              </a:rPr>
              <a:t>Registered guests welcome</a:t>
            </a:r>
          </a:p>
        </p:txBody>
      </p:sp>
      <p:sp>
        <p:nvSpPr>
          <p:cNvPr id="6" name="TextBox 5">
            <a:extLst>
              <a:ext uri="{FF2B5EF4-FFF2-40B4-BE49-F238E27FC236}">
                <a16:creationId xmlns:a16="http://schemas.microsoft.com/office/drawing/2014/main" id="{4739988A-5856-53C0-0DBB-37DED2A6F71D}"/>
              </a:ext>
            </a:extLst>
          </p:cNvPr>
          <p:cNvSpPr txBox="1"/>
          <p:nvPr/>
        </p:nvSpPr>
        <p:spPr>
          <a:xfrm>
            <a:off x="421040" y="179267"/>
            <a:ext cx="2464088"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468FF"/>
                </a:solidFill>
                <a:effectLst/>
                <a:uLnTx/>
                <a:uFillTx/>
                <a:latin typeface="Arial" panose="020B0604020202020204" pitchFamily="34" charset="0"/>
                <a:ea typeface="+mn-ea"/>
                <a:cs typeface="Arial" panose="020B0604020202020204" pitchFamily="34" charset="0"/>
              </a:rPr>
              <a:t>COUNCIL PERKS</a:t>
            </a:r>
          </a:p>
        </p:txBody>
      </p:sp>
      <p:sp>
        <p:nvSpPr>
          <p:cNvPr id="11" name="Content Placeholder 2">
            <a:extLst>
              <a:ext uri="{FF2B5EF4-FFF2-40B4-BE49-F238E27FC236}">
                <a16:creationId xmlns:a16="http://schemas.microsoft.com/office/drawing/2014/main" id="{1428820E-AE16-A47B-2EDA-A14AEEC68334}"/>
              </a:ext>
            </a:extLst>
          </p:cNvPr>
          <p:cNvSpPr txBox="1">
            <a:spLocks/>
          </p:cNvSpPr>
          <p:nvPr/>
        </p:nvSpPr>
        <p:spPr>
          <a:xfrm>
            <a:off x="6411075" y="1736672"/>
            <a:ext cx="5497771" cy="2678525"/>
          </a:xfrm>
          <a:prstGeom prst="rect">
            <a:avLst/>
          </a:prstGeom>
        </p:spPr>
        <p:txBody>
          <a:bodyPr vert="horz" lIns="0" tIns="0" rIns="0" bIns="0" rtlCol="0" anchor="t" anchorCtr="0">
            <a:noAutofit/>
          </a:bodyPr>
          <a:lstStyle>
            <a:lvl1pPr marL="228600" indent="-228600" algn="l" defTabSz="914400" rtl="0" eaLnBrk="1" latinLnBrk="0" hangingPunct="1">
              <a:lnSpc>
                <a:spcPct val="100000"/>
              </a:lnSpc>
              <a:spcBef>
                <a:spcPts val="1000"/>
              </a:spcBef>
              <a:spcAft>
                <a:spcPts val="200"/>
              </a:spcAft>
              <a:buFont typeface="Arial" panose="020B0604020202020204" pitchFamily="34" charset="0"/>
              <a:buChar char="•"/>
              <a:defRPr sz="24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spcAft>
                <a:spcPts val="200"/>
              </a:spcAft>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spcAft>
                <a:spcPts val="200"/>
              </a:spcAft>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spcAft>
                <a:spcPts val="200"/>
              </a:spcAft>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spcAft>
                <a:spcPts val="200"/>
              </a:spcAft>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Enjoy a private shopping event with a retail credit</a:t>
            </a:r>
            <a:r>
              <a:rPr kumimoji="0" lang="en-US" sz="1400" b="0" i="0" u="none" strike="noStrike" kern="1200" cap="none" spc="0" normalizeH="0" baseline="3000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2</a:t>
            </a: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 to spend at select resort boutiques when you qualify for the  President’s Council Beachfront Boutique Experience.</a:t>
            </a:r>
          </a:p>
          <a:p>
            <a:pPr marL="398463"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5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Highlights</a:t>
            </a:r>
            <a:endParaRPr kumimoji="0" lang="en-US" sz="15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endParaRPr>
          </a:p>
          <a:p>
            <a:pPr marL="398463" marR="0" lvl="0" indent="-2286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35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Top 100 </a:t>
            </a:r>
            <a:r>
              <a:rPr kumimoji="0" lang="en-US" sz="135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paid insurance solution premium</a:t>
            </a:r>
            <a:r>
              <a:rPr kumimoji="0" lang="en-US" sz="1350" b="0" i="0" u="none" strike="noStrike" kern="1200" cap="none" spc="0" normalizeH="0" baseline="3000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3 </a:t>
            </a:r>
            <a:r>
              <a:rPr kumimoji="0" lang="en-US" sz="135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leaderboard</a:t>
            </a:r>
            <a:endParaRPr kumimoji="0" lang="en-US" sz="1350" b="0" i="0" u="none" strike="noStrike" kern="1200" cap="none" spc="0" normalizeH="0" baseline="30000" noProof="0">
              <a:ln>
                <a:noFill/>
              </a:ln>
              <a:solidFill>
                <a:srgbClr val="E2DFDD">
                  <a:lumMod val="10000"/>
                </a:srgbClr>
              </a:solidFill>
              <a:effectLst/>
              <a:uLnTx/>
              <a:uFillTx/>
              <a:latin typeface="Arial" panose="020B0604020202020204" pitchFamily="34" charset="0"/>
              <a:ea typeface="+mn-ea"/>
              <a:cs typeface="Arial" panose="020B0604020202020204" pitchFamily="34" charset="0"/>
            </a:endParaRPr>
          </a:p>
          <a:p>
            <a:pPr marL="398463" marR="0" lvl="0" indent="-2286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35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Qualification period: </a:t>
            </a:r>
            <a:r>
              <a:rPr kumimoji="0" lang="en-US" sz="135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July 1 – September 30</a:t>
            </a:r>
          </a:p>
          <a:p>
            <a:pPr marL="398463" marR="0" lvl="0" indent="-2286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35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Must attend President's Council meeting</a:t>
            </a:r>
          </a:p>
          <a:p>
            <a:pPr marL="398463" marR="0" lvl="0" indent="-2286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35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Top 10</a:t>
            </a:r>
            <a:r>
              <a:rPr kumimoji="0" lang="en-US" sz="135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 get a premium Balinese-inspired chickee </a:t>
            </a:r>
            <a:br>
              <a:rPr kumimoji="0" lang="en-US" sz="135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br>
            <a:r>
              <a:rPr kumimoji="0" lang="en-US" sz="135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beach hut rental</a:t>
            </a:r>
          </a:p>
          <a:p>
            <a:pPr marL="398463" marR="0" lvl="0" indent="-2286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35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Registered guests welcome</a:t>
            </a:r>
          </a:p>
        </p:txBody>
      </p:sp>
      <p:sp>
        <p:nvSpPr>
          <p:cNvPr id="13" name="Rectangle: Rounded Corners 12">
            <a:extLst>
              <a:ext uri="{FF2B5EF4-FFF2-40B4-BE49-F238E27FC236}">
                <a16:creationId xmlns:a16="http://schemas.microsoft.com/office/drawing/2014/main" id="{CA610C30-4160-DD45-738A-ADCF4B6B86B5}"/>
              </a:ext>
            </a:extLst>
          </p:cNvPr>
          <p:cNvSpPr/>
          <p:nvPr/>
        </p:nvSpPr>
        <p:spPr>
          <a:xfrm>
            <a:off x="6164942" y="1064183"/>
            <a:ext cx="5566804" cy="544801"/>
          </a:xfrm>
          <a:prstGeom prst="roundRect">
            <a:avLst>
              <a:gd name="adj" fmla="val 50000"/>
            </a:avLst>
          </a:prstGeom>
          <a:solidFill>
            <a:srgbClr val="01635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15" name="TextBox 14">
            <a:extLst>
              <a:ext uri="{FF2B5EF4-FFF2-40B4-BE49-F238E27FC236}">
                <a16:creationId xmlns:a16="http://schemas.microsoft.com/office/drawing/2014/main" id="{E141FA43-7725-440F-C7B6-FA4CBFFD0833}"/>
              </a:ext>
            </a:extLst>
          </p:cNvPr>
          <p:cNvSpPr txBox="1"/>
          <p:nvPr/>
        </p:nvSpPr>
        <p:spPr>
          <a:xfrm>
            <a:off x="667819" y="1182573"/>
            <a:ext cx="5188450"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Georgia" panose="02040502050405020303"/>
                <a:ea typeface="+mn-ea"/>
                <a:cs typeface="+mn-cs"/>
              </a:rPr>
              <a:t>Executive Council Qualifiers</a:t>
            </a:r>
          </a:p>
        </p:txBody>
      </p:sp>
      <p:sp>
        <p:nvSpPr>
          <p:cNvPr id="16" name="TextBox 15">
            <a:extLst>
              <a:ext uri="{FF2B5EF4-FFF2-40B4-BE49-F238E27FC236}">
                <a16:creationId xmlns:a16="http://schemas.microsoft.com/office/drawing/2014/main" id="{BEE9C6C4-5A34-F495-65E1-A49A6D110068}"/>
              </a:ext>
            </a:extLst>
          </p:cNvPr>
          <p:cNvSpPr txBox="1"/>
          <p:nvPr/>
        </p:nvSpPr>
        <p:spPr>
          <a:xfrm>
            <a:off x="6411074" y="1182573"/>
            <a:ext cx="5188549"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Georgia" panose="02040502050405020303"/>
                <a:ea typeface="+mn-ea"/>
                <a:cs typeface="+mn-cs"/>
              </a:rPr>
              <a:t>President’s Council Qualifiers</a:t>
            </a:r>
          </a:p>
        </p:txBody>
      </p:sp>
      <p:pic>
        <p:nvPicPr>
          <p:cNvPr id="17" name="Picture 16">
            <a:extLst>
              <a:ext uri="{FF2B5EF4-FFF2-40B4-BE49-F238E27FC236}">
                <a16:creationId xmlns:a16="http://schemas.microsoft.com/office/drawing/2014/main" id="{5BC65676-C598-A6E0-DC2D-E258986FA406}"/>
              </a:ext>
            </a:extLst>
          </p:cNvPr>
          <p:cNvPicPr>
            <a:picLocks noChangeAspect="1"/>
          </p:cNvPicPr>
          <p:nvPr/>
        </p:nvPicPr>
        <p:blipFill>
          <a:blip r:embed="rId4"/>
          <a:srcRect l="2699" t="19793" r="32782" b="5380"/>
          <a:stretch>
            <a:fillRect/>
          </a:stretch>
        </p:blipFill>
        <p:spPr>
          <a:xfrm>
            <a:off x="667819" y="4464491"/>
            <a:ext cx="1946375" cy="1505299"/>
          </a:xfrm>
          <a:prstGeom prst="rect">
            <a:avLst/>
          </a:prstGeom>
        </p:spPr>
      </p:pic>
      <p:sp>
        <p:nvSpPr>
          <p:cNvPr id="19" name="Rectangle 18">
            <a:extLst>
              <a:ext uri="{FF2B5EF4-FFF2-40B4-BE49-F238E27FC236}">
                <a16:creationId xmlns:a16="http://schemas.microsoft.com/office/drawing/2014/main" id="{2C52357F-ECD8-D25C-C40D-5A618CE648D0}"/>
              </a:ext>
            </a:extLst>
          </p:cNvPr>
          <p:cNvSpPr/>
          <p:nvPr/>
        </p:nvSpPr>
        <p:spPr bwMode="ltGray">
          <a:xfrm>
            <a:off x="2463501" y="4464490"/>
            <a:ext cx="3264408" cy="1505300"/>
          </a:xfrm>
          <a:prstGeom prst="rect">
            <a:avLst/>
          </a:prstGeom>
          <a:solidFill>
            <a:srgbClr val="A5EFBF"/>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pic>
        <p:nvPicPr>
          <p:cNvPr id="21" name="Picture 20">
            <a:extLst>
              <a:ext uri="{FF2B5EF4-FFF2-40B4-BE49-F238E27FC236}">
                <a16:creationId xmlns:a16="http://schemas.microsoft.com/office/drawing/2014/main" id="{850DFC9C-6390-EF91-EA2F-45C12125C509}"/>
              </a:ext>
            </a:extLst>
          </p:cNvPr>
          <p:cNvPicPr>
            <a:picLocks noChangeAspect="1"/>
          </p:cNvPicPr>
          <p:nvPr/>
        </p:nvPicPr>
        <p:blipFill>
          <a:blip r:embed="rId5"/>
          <a:srcRect/>
          <a:stretch/>
        </p:blipFill>
        <p:spPr>
          <a:xfrm>
            <a:off x="4579046" y="4668512"/>
            <a:ext cx="1097256" cy="1097256"/>
          </a:xfrm>
          <a:prstGeom prst="rect">
            <a:avLst/>
          </a:prstGeom>
        </p:spPr>
      </p:pic>
      <p:pic>
        <p:nvPicPr>
          <p:cNvPr id="23" name="Picture 22">
            <a:extLst>
              <a:ext uri="{FF2B5EF4-FFF2-40B4-BE49-F238E27FC236}">
                <a16:creationId xmlns:a16="http://schemas.microsoft.com/office/drawing/2014/main" id="{8090A3EB-2D6A-BB0F-45E7-8B1DBB0664BC}"/>
              </a:ext>
            </a:extLst>
          </p:cNvPr>
          <p:cNvPicPr>
            <a:picLocks noChangeAspect="1"/>
          </p:cNvPicPr>
          <p:nvPr/>
        </p:nvPicPr>
        <p:blipFill>
          <a:blip r:embed="rId6"/>
          <a:srcRect/>
          <a:stretch/>
        </p:blipFill>
        <p:spPr>
          <a:xfrm>
            <a:off x="10309624" y="4668512"/>
            <a:ext cx="1097256" cy="1097256"/>
          </a:xfrm>
          <a:prstGeom prst="rect">
            <a:avLst/>
          </a:prstGeom>
        </p:spPr>
      </p:pic>
      <p:sp>
        <p:nvSpPr>
          <p:cNvPr id="26" name="TextBox 25">
            <a:extLst>
              <a:ext uri="{FF2B5EF4-FFF2-40B4-BE49-F238E27FC236}">
                <a16:creationId xmlns:a16="http://schemas.microsoft.com/office/drawing/2014/main" id="{93E90574-4DE7-AD81-9F15-DB4173203EE6}"/>
              </a:ext>
            </a:extLst>
          </p:cNvPr>
          <p:cNvSpPr txBox="1"/>
          <p:nvPr/>
        </p:nvSpPr>
        <p:spPr>
          <a:xfrm>
            <a:off x="2614194" y="4678531"/>
            <a:ext cx="1421890" cy="107721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965"/>
                </a:solidFill>
                <a:effectLst/>
                <a:uLnTx/>
                <a:uFillTx/>
                <a:latin typeface="Arial"/>
                <a:ea typeface="+mn-ea"/>
                <a:cs typeface="+mn-cs"/>
              </a:rPr>
              <a:t>Scan the QR code for complete Executive Council incentive details on Info Central.</a:t>
            </a:r>
            <a:endParaRPr kumimoji="0" lang="en-US" sz="1400" b="0" i="0" u="none" strike="noStrike" kern="1200" cap="none" spc="0" normalizeH="0" baseline="0" noProof="0">
              <a:ln>
                <a:noFill/>
              </a:ln>
              <a:solidFill>
                <a:srgbClr val="7FB9FF"/>
              </a:solidFill>
              <a:effectLst/>
              <a:uLnTx/>
              <a:uFillTx/>
              <a:latin typeface="Arial"/>
              <a:ea typeface="+mn-ea"/>
              <a:cs typeface="+mn-cs"/>
            </a:endParaRPr>
          </a:p>
        </p:txBody>
      </p:sp>
      <p:sp>
        <p:nvSpPr>
          <p:cNvPr id="28" name="TextBox 27">
            <a:extLst>
              <a:ext uri="{FF2B5EF4-FFF2-40B4-BE49-F238E27FC236}">
                <a16:creationId xmlns:a16="http://schemas.microsoft.com/office/drawing/2014/main" id="{7CEADE8D-3082-4B92-EFFA-B4CA3F4DBF98}"/>
              </a:ext>
            </a:extLst>
          </p:cNvPr>
          <p:cNvSpPr txBox="1"/>
          <p:nvPr/>
        </p:nvSpPr>
        <p:spPr>
          <a:xfrm>
            <a:off x="8367864" y="4678531"/>
            <a:ext cx="1518876" cy="107721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965"/>
                </a:solidFill>
                <a:effectLst/>
                <a:uLnTx/>
                <a:uFillTx/>
                <a:latin typeface="Arial"/>
                <a:ea typeface="+mn-ea"/>
                <a:cs typeface="+mn-cs"/>
              </a:rPr>
              <a:t>Scan the QR </a:t>
            </a:r>
            <a:br>
              <a:rPr kumimoji="0" lang="en-US" sz="1400" b="0" i="0" u="none" strike="noStrike" kern="1200" cap="none" spc="0" normalizeH="0" baseline="0" noProof="0">
                <a:ln>
                  <a:noFill/>
                </a:ln>
                <a:solidFill>
                  <a:srgbClr val="000965"/>
                </a:solidFill>
                <a:effectLst/>
                <a:uLnTx/>
                <a:uFillTx/>
                <a:latin typeface="Arial"/>
                <a:ea typeface="+mn-ea"/>
                <a:cs typeface="+mn-cs"/>
              </a:rPr>
            </a:br>
            <a:r>
              <a:rPr kumimoji="0" lang="en-US" sz="1400" b="0" i="0" u="none" strike="noStrike" kern="1200" cap="none" spc="0" normalizeH="0" baseline="0" noProof="0">
                <a:ln>
                  <a:noFill/>
                </a:ln>
                <a:solidFill>
                  <a:srgbClr val="000965"/>
                </a:solidFill>
                <a:effectLst/>
                <a:uLnTx/>
                <a:uFillTx/>
                <a:latin typeface="Arial"/>
                <a:ea typeface="+mn-ea"/>
                <a:cs typeface="+mn-cs"/>
              </a:rPr>
              <a:t>code for complete President’s Council incentive details on Info Central.</a:t>
            </a:r>
            <a:endParaRPr kumimoji="0" lang="en-US" sz="1400" b="0" i="0" u="none" strike="noStrike" kern="1200" cap="none" spc="0" normalizeH="0" baseline="0" noProof="0">
              <a:ln>
                <a:noFill/>
              </a:ln>
              <a:solidFill>
                <a:srgbClr val="7FB9FF"/>
              </a:solidFill>
              <a:effectLst/>
              <a:uLnTx/>
              <a:uFillTx/>
              <a:latin typeface="Arial"/>
              <a:ea typeface="+mn-ea"/>
              <a:cs typeface="+mn-cs"/>
            </a:endParaRPr>
          </a:p>
        </p:txBody>
      </p:sp>
      <p:sp>
        <p:nvSpPr>
          <p:cNvPr id="33" name="Isosceles Triangle 32">
            <a:extLst>
              <a:ext uri="{FF2B5EF4-FFF2-40B4-BE49-F238E27FC236}">
                <a16:creationId xmlns:a16="http://schemas.microsoft.com/office/drawing/2014/main" id="{5FF28882-728B-C841-6745-F21D2637971C}"/>
              </a:ext>
            </a:extLst>
          </p:cNvPr>
          <p:cNvSpPr/>
          <p:nvPr/>
        </p:nvSpPr>
        <p:spPr bwMode="ltGray">
          <a:xfrm rot="5400000">
            <a:off x="4242450" y="5099124"/>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35" name="Isosceles Triangle 34">
            <a:extLst>
              <a:ext uri="{FF2B5EF4-FFF2-40B4-BE49-F238E27FC236}">
                <a16:creationId xmlns:a16="http://schemas.microsoft.com/office/drawing/2014/main" id="{D76B09AF-3DEA-381C-1F1F-837E67A05DD2}"/>
              </a:ext>
            </a:extLst>
          </p:cNvPr>
          <p:cNvSpPr/>
          <p:nvPr/>
        </p:nvSpPr>
        <p:spPr bwMode="ltGray">
          <a:xfrm rot="5400000">
            <a:off x="9969817" y="5099124"/>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Tree>
    <p:extLst>
      <p:ext uri="{BB962C8B-B14F-4D97-AF65-F5344CB8AC3E}">
        <p14:creationId xmlns:p14="http://schemas.microsoft.com/office/powerpoint/2010/main" val="16250868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4984048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000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327648"/>
            <a:ext cx="12191969" cy="146304"/>
          </a:xfrm>
          <a:prstGeom prst="rect">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1207" y="6323076"/>
            <a:ext cx="5394960" cy="146304"/>
          </a:xfrm>
          <a:prstGeom prst="rect">
            <a:avLst/>
          </a:prstGeom>
          <a:noFill/>
        </p:spPr>
        <p:txBody>
          <a:bodyPr wrap="square" lIns="0" tIns="0" rIns="0" bIns="0">
            <a:spAutoFit/>
          </a:bodyPr>
          <a:lstStyle/>
          <a:p>
            <a:pPr algn="l"/>
            <a:r>
              <a:rPr sz="550" b="0" i="0">
                <a:solidFill>
                  <a:srgbClr val="C7E2FF"/>
                </a:solidFill>
                <a:latin typeface="Arial"/>
              </a:rPr>
              <a:t>Internal use only. For agent use only. Not for use with the public.</a:t>
            </a:r>
          </a:p>
        </p:txBody>
      </p:sp>
      <p:sp>
        <p:nvSpPr>
          <p:cNvPr id="5" name="TextBox 4"/>
          <p:cNvSpPr txBox="1"/>
          <p:nvPr/>
        </p:nvSpPr>
        <p:spPr>
          <a:xfrm>
            <a:off x="10012680" y="6259068"/>
            <a:ext cx="1097280" cy="182880"/>
          </a:xfrm>
          <a:prstGeom prst="rect">
            <a:avLst/>
          </a:prstGeom>
          <a:noFill/>
        </p:spPr>
        <p:txBody>
          <a:bodyPr wrap="square" lIns="0" tIns="0" rIns="0" bIns="0">
            <a:spAutoFit/>
          </a:bodyPr>
          <a:lstStyle/>
          <a:p>
            <a:pPr algn="r"/>
            <a:r>
              <a:rPr sz="850" b="1" i="0">
                <a:solidFill>
                  <a:srgbClr val="C7E2FF"/>
                </a:solidFill>
                <a:latin typeface="Arial"/>
              </a:rPr>
              <a:t>ELEVATE</a:t>
            </a:r>
          </a:p>
        </p:txBody>
      </p:sp>
      <p:sp>
        <p:nvSpPr>
          <p:cNvPr id="6" name="TextBox 5"/>
          <p:cNvSpPr txBox="1"/>
          <p:nvPr/>
        </p:nvSpPr>
        <p:spPr>
          <a:xfrm>
            <a:off x="11192256" y="6268212"/>
            <a:ext cx="502920" cy="164592"/>
          </a:xfrm>
          <a:prstGeom prst="rect">
            <a:avLst/>
          </a:prstGeom>
          <a:noFill/>
        </p:spPr>
        <p:txBody>
          <a:bodyPr wrap="square" lIns="0" tIns="0" rIns="0" bIns="0">
            <a:spAutoFit/>
          </a:bodyPr>
          <a:lstStyle/>
          <a:p>
            <a:pPr algn="l"/>
            <a:r>
              <a:rPr sz="580" b="0" i="0">
                <a:solidFill>
                  <a:srgbClr val="C7E2FF"/>
                </a:solidFill>
                <a:latin typeface="Arial"/>
              </a:rPr>
              <a:t>NEW ORG</a:t>
            </a:r>
          </a:p>
        </p:txBody>
      </p:sp>
      <p:sp>
        <p:nvSpPr>
          <p:cNvPr id="7" name="TextBox 6"/>
          <p:cNvSpPr txBox="1"/>
          <p:nvPr/>
        </p:nvSpPr>
        <p:spPr>
          <a:xfrm>
            <a:off x="1005840" y="1965960"/>
            <a:ext cx="10149840" cy="384048"/>
          </a:xfrm>
          <a:prstGeom prst="rect">
            <a:avLst/>
          </a:prstGeom>
          <a:noFill/>
        </p:spPr>
        <p:txBody>
          <a:bodyPr wrap="square" lIns="36576" tIns="18288" rIns="36576" bIns="18288">
            <a:spAutoFit/>
          </a:bodyPr>
          <a:lstStyle/>
          <a:p>
            <a:pPr algn="ctr"/>
            <a:r>
              <a:rPr sz="1700" b="1" i="0">
                <a:solidFill>
                  <a:srgbClr val="0468FF"/>
                </a:solidFill>
                <a:latin typeface="Arial"/>
              </a:rPr>
              <a:t>THIS WEEK'S TRAINING</a:t>
            </a:r>
          </a:p>
        </p:txBody>
      </p:sp>
      <p:sp>
        <p:nvSpPr>
          <p:cNvPr id="8" name="TextBox 7"/>
          <p:cNvSpPr txBox="1"/>
          <p:nvPr/>
        </p:nvSpPr>
        <p:spPr>
          <a:xfrm>
            <a:off x="1005840" y="2487168"/>
            <a:ext cx="10149840" cy="914400"/>
          </a:xfrm>
          <a:prstGeom prst="rect">
            <a:avLst/>
          </a:prstGeom>
          <a:noFill/>
        </p:spPr>
        <p:txBody>
          <a:bodyPr wrap="square" lIns="36576" tIns="18288" rIns="36576" bIns="18288">
            <a:spAutoFit/>
          </a:bodyPr>
          <a:lstStyle/>
          <a:p>
            <a:pPr algn="ctr"/>
            <a:r>
              <a:rPr sz="5000" b="1" i="0">
                <a:solidFill>
                  <a:srgbClr val="FFFFFF"/>
                </a:solidFill>
                <a:latin typeface="Arial"/>
              </a:rPr>
              <a:t>The $45 Billion Unwind</a:t>
            </a:r>
          </a:p>
        </p:txBody>
      </p:sp>
      <p:sp>
        <p:nvSpPr>
          <p:cNvPr id="9" name="TextBox 8"/>
          <p:cNvSpPr txBox="1"/>
          <p:nvPr/>
        </p:nvSpPr>
        <p:spPr>
          <a:xfrm>
            <a:off x="1005840" y="3520440"/>
            <a:ext cx="10149840" cy="658368"/>
          </a:xfrm>
          <a:prstGeom prst="rect">
            <a:avLst/>
          </a:prstGeom>
          <a:noFill/>
        </p:spPr>
        <p:txBody>
          <a:bodyPr wrap="square" lIns="36576" tIns="18288" rIns="36576" bIns="18288">
            <a:spAutoFit/>
          </a:bodyPr>
          <a:lstStyle/>
          <a:p>
            <a:pPr algn="ctr"/>
            <a:r>
              <a:rPr sz="1900" b="0" i="0">
                <a:solidFill>
                  <a:srgbClr val="C7E2FF"/>
                </a:solidFill>
                <a:latin typeface="Arial"/>
              </a:rPr>
              <a:t>Leverage explains how fast he lost. It does not explain why.</a:t>
            </a:r>
          </a:p>
        </p:txBody>
      </p:sp>
      <p:sp>
        <p:nvSpPr>
          <p:cNvPr id="10" name="TextBox 9"/>
          <p:cNvSpPr txBox="1"/>
          <p:nvPr/>
        </p:nvSpPr>
        <p:spPr>
          <a:xfrm>
            <a:off x="1005840" y="4315968"/>
            <a:ext cx="10149840" cy="292608"/>
          </a:xfrm>
          <a:prstGeom prst="rect">
            <a:avLst/>
          </a:prstGeom>
          <a:noFill/>
        </p:spPr>
        <p:txBody>
          <a:bodyPr wrap="square" lIns="36576" tIns="18288" rIns="36576" bIns="18288">
            <a:spAutoFit/>
          </a:bodyPr>
          <a:lstStyle/>
          <a:p>
            <a:pPr algn="ctr"/>
            <a:r>
              <a:rPr sz="1400" b="0" i="0">
                <a:solidFill>
                  <a:srgbClr val="C7E2FF"/>
                </a:solidFill>
                <a:latin typeface="Arial"/>
              </a:rPr>
              <a:t>30 minute training  |  New Org agents  |  August 3, 2026</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21207" y="6323076"/>
            <a:ext cx="5394960" cy="146304"/>
          </a:xfrm>
          <a:prstGeom prst="rect">
            <a:avLst/>
          </a:prstGeom>
          <a:noFill/>
        </p:spPr>
        <p:txBody>
          <a:bodyPr wrap="square" lIns="0" tIns="0" r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tIns="0" r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tIns="0" r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tIns="18288" rIns="36576" bIns="18288">
            <a:spAutoFit/>
          </a:bodyPr>
          <a:lstStyle/>
          <a:p>
            <a:pPr algn="l"/>
            <a:r>
              <a:rPr sz="3200" b="1" i="0">
                <a:solidFill>
                  <a:srgbClr val="0468FF"/>
                </a:solidFill>
                <a:latin typeface="Arial"/>
              </a:rPr>
              <a:t>Why This Story Matters to You</a:t>
            </a:r>
          </a:p>
        </p:txBody>
      </p:sp>
      <p:sp>
        <p:nvSpPr>
          <p:cNvPr id="9" name="TextBox 8"/>
          <p:cNvSpPr txBox="1"/>
          <p:nvPr/>
        </p:nvSpPr>
        <p:spPr>
          <a:xfrm>
            <a:off x="713232" y="1353312"/>
            <a:ext cx="10881360" cy="310896"/>
          </a:xfrm>
          <a:prstGeom prst="rect">
            <a:avLst/>
          </a:prstGeom>
          <a:noFill/>
        </p:spPr>
        <p:txBody>
          <a:bodyPr wrap="square" lIns="36576" tIns="18288" rIns="36576" bIns="18288">
            <a:spAutoFit/>
          </a:bodyPr>
          <a:lstStyle/>
          <a:p>
            <a:pPr algn="l"/>
            <a:r>
              <a:rPr sz="1600" b="0" i="0">
                <a:solidFill>
                  <a:srgbClr val="000962"/>
                </a:solidFill>
                <a:latin typeface="Arial"/>
              </a:rPr>
              <a:t>Nobody here runs a hedge fund. Every one of us has clients who think like this one did.</a:t>
            </a:r>
          </a:p>
        </p:txBody>
      </p:sp>
      <p:sp>
        <p:nvSpPr>
          <p:cNvPr id="10" name="Rectangle 9"/>
          <p:cNvSpPr/>
          <p:nvPr/>
        </p:nvSpPr>
        <p:spPr>
          <a:xfrm>
            <a:off x="777240" y="1965960"/>
            <a:ext cx="5120640" cy="135331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78408" y="2167128"/>
            <a:ext cx="384048" cy="384048"/>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8" y="2208276"/>
            <a:ext cx="384048" cy="274320"/>
          </a:xfrm>
          <a:prstGeom prst="rect">
            <a:avLst/>
          </a:prstGeom>
          <a:noFill/>
        </p:spPr>
        <p:txBody>
          <a:bodyPr wrap="square" lIns="36576" tIns="18288" rIns="36576" bIns="18288">
            <a:spAutoFit/>
          </a:bodyPr>
          <a:lstStyle/>
          <a:p>
            <a:pPr algn="ctr"/>
            <a:r>
              <a:rPr sz="1400" b="1" i="0">
                <a:solidFill>
                  <a:srgbClr val="FFFFFF"/>
                </a:solidFill>
                <a:latin typeface="Arial"/>
              </a:rPr>
              <a:t>1</a:t>
            </a:r>
          </a:p>
        </p:txBody>
      </p:sp>
      <p:sp>
        <p:nvSpPr>
          <p:cNvPr id="13" name="TextBox 12"/>
          <p:cNvSpPr txBox="1"/>
          <p:nvPr/>
        </p:nvSpPr>
        <p:spPr>
          <a:xfrm>
            <a:off x="1508760" y="2148840"/>
            <a:ext cx="4160520" cy="274320"/>
          </a:xfrm>
          <a:prstGeom prst="rect">
            <a:avLst/>
          </a:prstGeom>
          <a:noFill/>
        </p:spPr>
        <p:txBody>
          <a:bodyPr wrap="square" lIns="36576" tIns="18288" rIns="36576" bIns="18288">
            <a:spAutoFit/>
          </a:bodyPr>
          <a:lstStyle/>
          <a:p>
            <a:pPr algn="l"/>
            <a:r>
              <a:rPr sz="1500" b="1" i="0">
                <a:solidFill>
                  <a:srgbClr val="0468FF"/>
                </a:solidFill>
                <a:latin typeface="Arial"/>
              </a:rPr>
              <a:t>Clients are asking about AI</a:t>
            </a:r>
          </a:p>
        </p:txBody>
      </p:sp>
      <p:sp>
        <p:nvSpPr>
          <p:cNvPr id="14" name="TextBox 13"/>
          <p:cNvSpPr txBox="1"/>
          <p:nvPr/>
        </p:nvSpPr>
        <p:spPr>
          <a:xfrm>
            <a:off x="1508760" y="2496312"/>
            <a:ext cx="4160520" cy="731520"/>
          </a:xfrm>
          <a:prstGeom prst="rect">
            <a:avLst/>
          </a:prstGeom>
          <a:noFill/>
        </p:spPr>
        <p:txBody>
          <a:bodyPr wrap="square" lIns="36576" tIns="18288" rIns="36576" bIns="18288">
            <a:spAutoFit/>
          </a:bodyPr>
          <a:lstStyle/>
          <a:p>
            <a:pPr algn="l">
              <a:lnSpc>
                <a:spcPct val="100000"/>
              </a:lnSpc>
            </a:pPr>
            <a:r>
              <a:rPr sz="1250" b="0" i="0">
                <a:solidFill>
                  <a:srgbClr val="000962"/>
                </a:solidFill>
                <a:latin typeface="Arial"/>
              </a:rPr>
              <a:t>This is the theme driving the market. Clients read headlines and want in. You need a real answer.</a:t>
            </a:r>
          </a:p>
        </p:txBody>
      </p:sp>
      <p:sp>
        <p:nvSpPr>
          <p:cNvPr id="15" name="Rectangle 14"/>
          <p:cNvSpPr/>
          <p:nvPr/>
        </p:nvSpPr>
        <p:spPr>
          <a:xfrm>
            <a:off x="6126479" y="1965960"/>
            <a:ext cx="5120640" cy="135331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27647" y="2167128"/>
            <a:ext cx="384048" cy="384048"/>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27647" y="2208276"/>
            <a:ext cx="384048" cy="274320"/>
          </a:xfrm>
          <a:prstGeom prst="rect">
            <a:avLst/>
          </a:prstGeom>
          <a:noFill/>
        </p:spPr>
        <p:txBody>
          <a:bodyPr wrap="square" lIns="36576" tIns="18288" rIns="36576" bIns="18288">
            <a:spAutoFit/>
          </a:bodyPr>
          <a:lstStyle/>
          <a:p>
            <a:pPr algn="ctr"/>
            <a:r>
              <a:rPr sz="1400" b="1" i="0">
                <a:solidFill>
                  <a:srgbClr val="FFFFFF"/>
                </a:solidFill>
                <a:latin typeface="Arial"/>
              </a:rPr>
              <a:t>2</a:t>
            </a:r>
          </a:p>
        </p:txBody>
      </p:sp>
      <p:sp>
        <p:nvSpPr>
          <p:cNvPr id="18" name="TextBox 17"/>
          <p:cNvSpPr txBox="1"/>
          <p:nvPr/>
        </p:nvSpPr>
        <p:spPr>
          <a:xfrm>
            <a:off x="6857999" y="2148840"/>
            <a:ext cx="4160520" cy="274320"/>
          </a:xfrm>
          <a:prstGeom prst="rect">
            <a:avLst/>
          </a:prstGeom>
          <a:noFill/>
        </p:spPr>
        <p:txBody>
          <a:bodyPr wrap="square" lIns="36576" tIns="18288" rIns="36576" bIns="18288">
            <a:spAutoFit/>
          </a:bodyPr>
          <a:lstStyle/>
          <a:p>
            <a:pPr algn="l"/>
            <a:r>
              <a:rPr sz="1500" b="1" i="0">
                <a:solidFill>
                  <a:srgbClr val="0468FF"/>
                </a:solidFill>
                <a:latin typeface="Arial"/>
              </a:rPr>
              <a:t>Concentration feels like conviction</a:t>
            </a:r>
          </a:p>
        </p:txBody>
      </p:sp>
      <p:sp>
        <p:nvSpPr>
          <p:cNvPr id="19" name="TextBox 18"/>
          <p:cNvSpPr txBox="1"/>
          <p:nvPr/>
        </p:nvSpPr>
        <p:spPr>
          <a:xfrm>
            <a:off x="6857999" y="2496312"/>
            <a:ext cx="4160520" cy="731520"/>
          </a:xfrm>
          <a:prstGeom prst="rect">
            <a:avLst/>
          </a:prstGeom>
          <a:noFill/>
        </p:spPr>
        <p:txBody>
          <a:bodyPr wrap="square" lIns="36576" tIns="18288" rIns="36576" bIns="18288">
            <a:spAutoFit/>
          </a:bodyPr>
          <a:lstStyle/>
          <a:p>
            <a:pPr algn="l">
              <a:lnSpc>
                <a:spcPct val="100000"/>
              </a:lnSpc>
            </a:pPr>
            <a:r>
              <a:rPr sz="1250" b="0" i="0">
                <a:solidFill>
                  <a:srgbClr val="000962"/>
                </a:solidFill>
                <a:latin typeface="Arial"/>
              </a:rPr>
              <a:t>Owning one idea looks smart right up until it does not. Clients confuse the two constantly.</a:t>
            </a:r>
          </a:p>
        </p:txBody>
      </p:sp>
      <p:sp>
        <p:nvSpPr>
          <p:cNvPr id="20" name="Rectangle 19"/>
          <p:cNvSpPr/>
          <p:nvPr/>
        </p:nvSpPr>
        <p:spPr>
          <a:xfrm>
            <a:off x="777240" y="3538728"/>
            <a:ext cx="5120640" cy="135331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78408" y="3739896"/>
            <a:ext cx="384048" cy="384048"/>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8408" y="3781044"/>
            <a:ext cx="384048" cy="274320"/>
          </a:xfrm>
          <a:prstGeom prst="rect">
            <a:avLst/>
          </a:prstGeom>
          <a:noFill/>
        </p:spPr>
        <p:txBody>
          <a:bodyPr wrap="square" lIns="36576" tIns="18288" rIns="36576" bIns="18288">
            <a:spAutoFit/>
          </a:bodyPr>
          <a:lstStyle/>
          <a:p>
            <a:pPr algn="ctr"/>
            <a:r>
              <a:rPr sz="1400" b="1" i="0">
                <a:solidFill>
                  <a:srgbClr val="FFFFFF"/>
                </a:solidFill>
                <a:latin typeface="Arial"/>
              </a:rPr>
              <a:t>3</a:t>
            </a:r>
          </a:p>
        </p:txBody>
      </p:sp>
      <p:sp>
        <p:nvSpPr>
          <p:cNvPr id="23" name="TextBox 22"/>
          <p:cNvSpPr txBox="1"/>
          <p:nvPr/>
        </p:nvSpPr>
        <p:spPr>
          <a:xfrm>
            <a:off x="1508760" y="3721608"/>
            <a:ext cx="4160520" cy="274320"/>
          </a:xfrm>
          <a:prstGeom prst="rect">
            <a:avLst/>
          </a:prstGeom>
          <a:noFill/>
        </p:spPr>
        <p:txBody>
          <a:bodyPr wrap="square" lIns="36576" tIns="18288" rIns="36576" bIns="18288">
            <a:spAutoFit/>
          </a:bodyPr>
          <a:lstStyle/>
          <a:p>
            <a:pPr algn="l"/>
            <a:r>
              <a:rPr sz="1500" b="1" i="0">
                <a:solidFill>
                  <a:srgbClr val="0468FF"/>
                </a:solidFill>
                <a:latin typeface="Arial"/>
              </a:rPr>
              <a:t>Borrowing to invest is spreading</a:t>
            </a:r>
          </a:p>
        </p:txBody>
      </p:sp>
      <p:sp>
        <p:nvSpPr>
          <p:cNvPr id="24" name="TextBox 23"/>
          <p:cNvSpPr txBox="1"/>
          <p:nvPr/>
        </p:nvSpPr>
        <p:spPr>
          <a:xfrm>
            <a:off x="1508760" y="4069080"/>
            <a:ext cx="4160520" cy="731520"/>
          </a:xfrm>
          <a:prstGeom prst="rect">
            <a:avLst/>
          </a:prstGeom>
          <a:noFill/>
        </p:spPr>
        <p:txBody>
          <a:bodyPr wrap="square" lIns="36576" tIns="18288" rIns="36576" bIns="18288">
            <a:spAutoFit/>
          </a:bodyPr>
          <a:lstStyle/>
          <a:p>
            <a:pPr algn="l">
              <a:lnSpc>
                <a:spcPct val="100000"/>
              </a:lnSpc>
            </a:pPr>
            <a:r>
              <a:rPr sz="1250" b="0" i="0">
                <a:solidFill>
                  <a:srgbClr val="000962"/>
                </a:solidFill>
                <a:latin typeface="Arial"/>
              </a:rPr>
              <a:t>Margin, home equity, and policy loans used to chase a hot theme. Clients run smaller versions of this.</a:t>
            </a:r>
          </a:p>
        </p:txBody>
      </p:sp>
      <p:sp>
        <p:nvSpPr>
          <p:cNvPr id="25" name="Rectangle 24"/>
          <p:cNvSpPr/>
          <p:nvPr/>
        </p:nvSpPr>
        <p:spPr>
          <a:xfrm>
            <a:off x="6126479" y="3538728"/>
            <a:ext cx="5120640" cy="135331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327647" y="3739896"/>
            <a:ext cx="384048" cy="384048"/>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27647" y="3781044"/>
            <a:ext cx="384048" cy="274320"/>
          </a:xfrm>
          <a:prstGeom prst="rect">
            <a:avLst/>
          </a:prstGeom>
          <a:noFill/>
        </p:spPr>
        <p:txBody>
          <a:bodyPr wrap="square" lIns="36576" tIns="18288" rIns="36576" bIns="18288">
            <a:spAutoFit/>
          </a:bodyPr>
          <a:lstStyle/>
          <a:p>
            <a:pPr algn="ctr"/>
            <a:r>
              <a:rPr sz="1400" b="1" i="0">
                <a:solidFill>
                  <a:srgbClr val="FFFFFF"/>
                </a:solidFill>
                <a:latin typeface="Arial"/>
              </a:rPr>
              <a:t>4</a:t>
            </a:r>
          </a:p>
        </p:txBody>
      </p:sp>
      <p:sp>
        <p:nvSpPr>
          <p:cNvPr id="28" name="TextBox 27"/>
          <p:cNvSpPr txBox="1"/>
          <p:nvPr/>
        </p:nvSpPr>
        <p:spPr>
          <a:xfrm>
            <a:off x="6857999" y="3721608"/>
            <a:ext cx="4160520" cy="274320"/>
          </a:xfrm>
          <a:prstGeom prst="rect">
            <a:avLst/>
          </a:prstGeom>
          <a:noFill/>
        </p:spPr>
        <p:txBody>
          <a:bodyPr wrap="square" lIns="36576" tIns="18288" rIns="36576" bIns="18288">
            <a:spAutoFit/>
          </a:bodyPr>
          <a:lstStyle/>
          <a:p>
            <a:pPr algn="l"/>
            <a:r>
              <a:rPr sz="1500" b="1" i="0">
                <a:solidFill>
                  <a:srgbClr val="0468FF"/>
                </a:solidFill>
                <a:latin typeface="Arial"/>
              </a:rPr>
              <a:t>A great story is not a good investment</a:t>
            </a:r>
          </a:p>
        </p:txBody>
      </p:sp>
      <p:sp>
        <p:nvSpPr>
          <p:cNvPr id="29" name="TextBox 28"/>
          <p:cNvSpPr txBox="1"/>
          <p:nvPr/>
        </p:nvSpPr>
        <p:spPr>
          <a:xfrm>
            <a:off x="6857999" y="4069080"/>
            <a:ext cx="4160520" cy="731520"/>
          </a:xfrm>
          <a:prstGeom prst="rect">
            <a:avLst/>
          </a:prstGeom>
          <a:noFill/>
        </p:spPr>
        <p:txBody>
          <a:bodyPr wrap="square" lIns="36576" tIns="18288" rIns="36576" bIns="18288">
            <a:spAutoFit/>
          </a:bodyPr>
          <a:lstStyle/>
          <a:p>
            <a:pPr algn="l">
              <a:lnSpc>
                <a:spcPct val="100000"/>
              </a:lnSpc>
            </a:pPr>
            <a:r>
              <a:rPr sz="1250" b="0" i="0">
                <a:solidFill>
                  <a:srgbClr val="000962"/>
                </a:solidFill>
                <a:latin typeface="Arial"/>
              </a:rPr>
              <a:t>He was right that AI is transformative. He was wrong about who gets paid for it. Those are different questions.</a:t>
            </a:r>
          </a:p>
        </p:txBody>
      </p:sp>
      <p:sp>
        <p:nvSpPr>
          <p:cNvPr id="30" name="TextBox 29"/>
          <p:cNvSpPr txBox="1"/>
          <p:nvPr/>
        </p:nvSpPr>
        <p:spPr>
          <a:xfrm>
            <a:off x="777240" y="5138928"/>
            <a:ext cx="10607040" cy="274320"/>
          </a:xfrm>
          <a:prstGeom prst="rect">
            <a:avLst/>
          </a:prstGeom>
          <a:noFill/>
        </p:spPr>
        <p:txBody>
          <a:bodyPr wrap="square" lIns="36576" tIns="18288" rIns="36576" bIns="18288">
            <a:spAutoFit/>
          </a:bodyPr>
          <a:lstStyle/>
          <a:p>
            <a:pPr algn="l"/>
            <a:r>
              <a:rPr sz="1250" b="0" i="1">
                <a:solidFill>
                  <a:srgbClr val="46648C"/>
                </a:solidFill>
                <a:latin typeface="Arial"/>
              </a:rPr>
              <a:t>Run of show: who he is and what he believed, why the trade broke, what history says, and how to use it with clients.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21207" y="6323076"/>
            <a:ext cx="5394960" cy="146304"/>
          </a:xfrm>
          <a:prstGeom prst="rect">
            <a:avLst/>
          </a:prstGeom>
          <a:noFill/>
        </p:spPr>
        <p:txBody>
          <a:bodyPr wrap="square" lIns="0" tIns="0" r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tIns="0" r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tIns="0" r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tIns="18288" rIns="36576" bIns="18288">
            <a:spAutoFit/>
          </a:bodyPr>
          <a:lstStyle/>
          <a:p>
            <a:pPr algn="l"/>
            <a:r>
              <a:rPr sz="3200" b="1" i="0">
                <a:solidFill>
                  <a:srgbClr val="0468FF"/>
                </a:solidFill>
                <a:latin typeface="Arial"/>
              </a:rPr>
              <a:t>Who Is Leopold Aschenbrenner?</a:t>
            </a:r>
          </a:p>
        </p:txBody>
      </p:sp>
      <p:sp>
        <p:nvSpPr>
          <p:cNvPr id="9" name="TextBox 8"/>
          <p:cNvSpPr txBox="1"/>
          <p:nvPr/>
        </p:nvSpPr>
        <p:spPr>
          <a:xfrm>
            <a:off x="713232" y="1353312"/>
            <a:ext cx="10881360" cy="310896"/>
          </a:xfrm>
          <a:prstGeom prst="rect">
            <a:avLst/>
          </a:prstGeom>
          <a:noFill/>
        </p:spPr>
        <p:txBody>
          <a:bodyPr wrap="square" lIns="36576" tIns="18288" rIns="36576" bIns="18288">
            <a:spAutoFit/>
          </a:bodyPr>
          <a:lstStyle/>
          <a:p>
            <a:pPr algn="l"/>
            <a:r>
              <a:rPr sz="1600" b="0" i="0">
                <a:solidFill>
                  <a:srgbClr val="000962"/>
                </a:solidFill>
                <a:latin typeface="Arial"/>
              </a:rPr>
              <a:t>A resume that made people stop asking whether he could manage money.</a:t>
            </a:r>
          </a:p>
        </p:txBody>
      </p:sp>
      <p:sp>
        <p:nvSpPr>
          <p:cNvPr id="10" name="Rectangle 9"/>
          <p:cNvSpPr/>
          <p:nvPr/>
        </p:nvSpPr>
        <p:spPr>
          <a:xfrm>
            <a:off x="822960" y="1920240"/>
            <a:ext cx="3017520" cy="324612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987552" y="2084832"/>
            <a:ext cx="2688336" cy="1764791"/>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87552" y="2711196"/>
            <a:ext cx="2688336" cy="548640"/>
          </a:xfrm>
          <a:prstGeom prst="rect">
            <a:avLst/>
          </a:prstGeom>
          <a:noFill/>
        </p:spPr>
        <p:txBody>
          <a:bodyPr wrap="square" lIns="36576" tIns="18288" rIns="36576" bIns="18288">
            <a:spAutoFit/>
          </a:bodyPr>
          <a:lstStyle/>
          <a:p>
            <a:pPr algn="ctr">
              <a:spcAft>
                <a:spcPts val="200"/>
              </a:spcAft>
            </a:pPr>
            <a:r>
              <a:rPr sz="1100" b="0" i="0">
                <a:solidFill>
                  <a:srgbClr val="46648C"/>
                </a:solidFill>
                <a:latin typeface="Arial"/>
              </a:rPr>
              <a:t>PHOTO</a:t>
            </a:r>
          </a:p>
          <a:p>
            <a:pPr algn="ctr">
              <a:spcAft>
                <a:spcPts val="200"/>
              </a:spcAft>
            </a:pPr>
            <a:r>
              <a:rPr sz="1100" b="0" i="0">
                <a:solidFill>
                  <a:srgbClr val="46648C"/>
                </a:solidFill>
                <a:latin typeface="Arial"/>
              </a:rPr>
              <a:t>Insert image here</a:t>
            </a:r>
          </a:p>
        </p:txBody>
      </p:sp>
      <p:sp>
        <p:nvSpPr>
          <p:cNvPr id="13" name="TextBox 12"/>
          <p:cNvSpPr txBox="1"/>
          <p:nvPr/>
        </p:nvSpPr>
        <p:spPr>
          <a:xfrm>
            <a:off x="1005840" y="3941064"/>
            <a:ext cx="2651760" cy="256032"/>
          </a:xfrm>
          <a:prstGeom prst="rect">
            <a:avLst/>
          </a:prstGeom>
          <a:noFill/>
        </p:spPr>
        <p:txBody>
          <a:bodyPr wrap="square" lIns="36576" tIns="18288" rIns="36576" bIns="18288">
            <a:spAutoFit/>
          </a:bodyPr>
          <a:lstStyle/>
          <a:p>
            <a:pPr algn="l"/>
            <a:r>
              <a:rPr sz="1500" b="1" i="0">
                <a:solidFill>
                  <a:srgbClr val="0468FF"/>
                </a:solidFill>
                <a:latin typeface="Arial"/>
              </a:rPr>
              <a:t>Leopold Aschenbrenner</a:t>
            </a:r>
          </a:p>
        </p:txBody>
      </p:sp>
      <p:sp>
        <p:nvSpPr>
          <p:cNvPr id="14" name="TextBox 13"/>
          <p:cNvSpPr txBox="1"/>
          <p:nvPr/>
        </p:nvSpPr>
        <p:spPr>
          <a:xfrm>
            <a:off x="1005840" y="4233672"/>
            <a:ext cx="2651760" cy="402336"/>
          </a:xfrm>
          <a:prstGeom prst="rect">
            <a:avLst/>
          </a:prstGeom>
          <a:noFill/>
        </p:spPr>
        <p:txBody>
          <a:bodyPr wrap="square" lIns="36576" tIns="18288" rIns="36576" bIns="18288">
            <a:spAutoFit/>
          </a:bodyPr>
          <a:lstStyle/>
          <a:p>
            <a:pPr algn="l">
              <a:lnSpc>
                <a:spcPct val="100000"/>
              </a:lnSpc>
            </a:pPr>
            <a:r>
              <a:rPr sz="1050" b="0" i="0">
                <a:solidFill>
                  <a:srgbClr val="46648C"/>
                </a:solidFill>
                <a:latin typeface="Arial"/>
              </a:rPr>
              <a:t>Founder and CIO, Situational Awareness LP</a:t>
            </a:r>
          </a:p>
        </p:txBody>
      </p:sp>
      <p:sp>
        <p:nvSpPr>
          <p:cNvPr id="15" name="TextBox 14"/>
          <p:cNvSpPr txBox="1"/>
          <p:nvPr/>
        </p:nvSpPr>
        <p:spPr>
          <a:xfrm>
            <a:off x="1005840" y="4690872"/>
            <a:ext cx="2651760" cy="402336"/>
          </a:xfrm>
          <a:prstGeom prst="rect">
            <a:avLst/>
          </a:prstGeom>
          <a:noFill/>
        </p:spPr>
        <p:txBody>
          <a:bodyPr wrap="square" lIns="36576" tIns="18288" rIns="36576" bIns="18288">
            <a:spAutoFit/>
          </a:bodyPr>
          <a:lstStyle/>
          <a:p>
            <a:pPr algn="l">
              <a:lnSpc>
                <a:spcPct val="100000"/>
              </a:lnSpc>
            </a:pPr>
            <a:r>
              <a:rPr sz="1050" b="0" i="0">
                <a:solidFill>
                  <a:srgbClr val="000962"/>
                </a:solidFill>
                <a:latin typeface="Arial"/>
              </a:rPr>
              <a:t>Age 25. Born in Germany.</a:t>
            </a:r>
          </a:p>
        </p:txBody>
      </p:sp>
      <p:sp>
        <p:nvSpPr>
          <p:cNvPr id="16" name="TextBox 15"/>
          <p:cNvSpPr txBox="1"/>
          <p:nvPr/>
        </p:nvSpPr>
        <p:spPr>
          <a:xfrm>
            <a:off x="4206240" y="1965960"/>
            <a:ext cx="7086600" cy="3154680"/>
          </a:xfrm>
          <a:prstGeom prst="rect">
            <a:avLst/>
          </a:prstGeom>
          <a:noFill/>
        </p:spPr>
        <p:txBody>
          <a:bodyPr wrap="square" lIns="36576" tIns="18288" rIns="36576" bIns="18288">
            <a:spAutoFit/>
          </a:bodyPr>
          <a:lstStyle/>
          <a:p>
            <a:pPr algn="l">
              <a:spcAft>
                <a:spcPts val="800"/>
              </a:spcAft>
            </a:pPr>
            <a:r>
              <a:rPr sz="1350" b="0" i="0" dirty="0">
                <a:solidFill>
                  <a:srgbClr val="000962"/>
                </a:solidFill>
                <a:latin typeface="Arial"/>
              </a:rPr>
              <a:t>Graduated valedictorian from Columbia University in 2021 at age 19, with a degree in economics and mathematics-statistics.</a:t>
            </a:r>
          </a:p>
          <a:p>
            <a:pPr algn="l">
              <a:spcAft>
                <a:spcPts val="800"/>
              </a:spcAft>
            </a:pPr>
            <a:r>
              <a:rPr sz="1350" b="0" i="0" dirty="0">
                <a:solidFill>
                  <a:srgbClr val="000962"/>
                </a:solidFill>
                <a:latin typeface="Arial"/>
              </a:rPr>
              <a:t>Co-founded Columbia's effective altruism chapter and did research for Oxford's Global Priorities Institute.</a:t>
            </a:r>
          </a:p>
          <a:p>
            <a:pPr algn="l">
              <a:spcAft>
                <a:spcPts val="800"/>
              </a:spcAft>
            </a:pPr>
            <a:r>
              <a:rPr sz="1350" b="0" i="0" dirty="0">
                <a:solidFill>
                  <a:srgbClr val="000962"/>
                </a:solidFill>
                <a:latin typeface="Arial"/>
              </a:rPr>
              <a:t>Worked at the FTX Future Fund from February to November 2022, resigning shortly before FTX collapsed.</a:t>
            </a:r>
          </a:p>
          <a:p>
            <a:pPr algn="l">
              <a:spcAft>
                <a:spcPts val="800"/>
              </a:spcAft>
            </a:pPr>
            <a:r>
              <a:rPr sz="1350" b="0" i="0" dirty="0">
                <a:solidFill>
                  <a:srgbClr val="000962"/>
                </a:solidFill>
                <a:latin typeface="Arial"/>
              </a:rPr>
              <a:t>Joined OpenAI in 2023 on the Superalignment team, working on how to control AI systems smarter than people.</a:t>
            </a:r>
          </a:p>
          <a:p>
            <a:pPr algn="l">
              <a:spcAft>
                <a:spcPts val="800"/>
              </a:spcAft>
            </a:pPr>
            <a:r>
              <a:rPr sz="1350" b="0" i="0" dirty="0">
                <a:solidFill>
                  <a:srgbClr val="000962"/>
                </a:solidFill>
                <a:latin typeface="Arial"/>
              </a:rPr>
              <a:t>Fired by OpenAI in April 2024 over an alleged information leak, which he disputes. He says it followed a memo warning the board that OpenAI's security against foreign espionage was inadequate.</a:t>
            </a:r>
          </a:p>
          <a:p>
            <a:pPr algn="l">
              <a:spcAft>
                <a:spcPts val="800"/>
              </a:spcAft>
            </a:pPr>
            <a:r>
              <a:rPr sz="1350" b="0" i="0" dirty="0">
                <a:solidFill>
                  <a:srgbClr val="000962"/>
                </a:solidFill>
                <a:latin typeface="Arial"/>
              </a:rPr>
              <a:t>Had never managed outside money before launching the fund two months later.</a:t>
            </a:r>
          </a:p>
        </p:txBody>
      </p:sp>
      <p:pic>
        <p:nvPicPr>
          <p:cNvPr id="17" name="Picture 16">
            <a:extLst>
              <a:ext uri="{FF2B5EF4-FFF2-40B4-BE49-F238E27FC236}">
                <a16:creationId xmlns:a16="http://schemas.microsoft.com/office/drawing/2014/main" id="{F3B5866B-611B-080D-D407-CF8F9D906B82}"/>
              </a:ext>
            </a:extLst>
          </p:cNvPr>
          <p:cNvPicPr>
            <a:picLocks noChangeAspect="1"/>
          </p:cNvPicPr>
          <p:nvPr/>
        </p:nvPicPr>
        <p:blipFill>
          <a:blip r:embed="rId3"/>
          <a:stretch>
            <a:fillRect/>
          </a:stretch>
        </p:blipFill>
        <p:spPr>
          <a:xfrm>
            <a:off x="1479057" y="2080260"/>
            <a:ext cx="1621408" cy="1764792"/>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21207" y="6323076"/>
            <a:ext cx="5394960" cy="146304"/>
          </a:xfrm>
          <a:prstGeom prst="rect">
            <a:avLst/>
          </a:prstGeom>
          <a:noFill/>
        </p:spPr>
        <p:txBody>
          <a:bodyPr wrap="square" lIns="0" tIns="0" r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tIns="0" r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tIns="0" r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tIns="18288" rIns="36576" bIns="18288">
            <a:spAutoFit/>
          </a:bodyPr>
          <a:lstStyle/>
          <a:p>
            <a:pPr algn="l"/>
            <a:r>
              <a:rPr sz="3200" b="1" i="0">
                <a:solidFill>
                  <a:srgbClr val="0468FF"/>
                </a:solidFill>
                <a:latin typeface="Arial"/>
              </a:rPr>
              <a:t>The Manifesto and the Two Convictions</a:t>
            </a:r>
          </a:p>
        </p:txBody>
      </p:sp>
      <p:sp>
        <p:nvSpPr>
          <p:cNvPr id="9" name="TextBox 8"/>
          <p:cNvSpPr txBox="1"/>
          <p:nvPr/>
        </p:nvSpPr>
        <p:spPr>
          <a:xfrm>
            <a:off x="713232" y="1353312"/>
            <a:ext cx="10881360" cy="310896"/>
          </a:xfrm>
          <a:prstGeom prst="rect">
            <a:avLst/>
          </a:prstGeom>
          <a:noFill/>
        </p:spPr>
        <p:txBody>
          <a:bodyPr wrap="square" lIns="36576" tIns="18288" rIns="36576" bIns="18288">
            <a:spAutoFit/>
          </a:bodyPr>
          <a:lstStyle/>
          <a:p>
            <a:pPr algn="l"/>
            <a:r>
              <a:rPr sz="1600" b="0" i="0">
                <a:solidFill>
                  <a:srgbClr val="000962"/>
                </a:solidFill>
                <a:latin typeface="Arial"/>
              </a:rPr>
              <a:t>A 165 page essay in June 2024, then a fund built to express exactly two ideas.</a:t>
            </a:r>
          </a:p>
        </p:txBody>
      </p:sp>
      <p:sp>
        <p:nvSpPr>
          <p:cNvPr id="10" name="Rectangle 9"/>
          <p:cNvSpPr/>
          <p:nvPr/>
        </p:nvSpPr>
        <p:spPr>
          <a:xfrm>
            <a:off x="777240" y="1901952"/>
            <a:ext cx="5074920" cy="292608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87552" y="2066543"/>
            <a:ext cx="4663440" cy="274320"/>
          </a:xfrm>
          <a:prstGeom prst="rect">
            <a:avLst/>
          </a:prstGeom>
          <a:noFill/>
        </p:spPr>
        <p:txBody>
          <a:bodyPr wrap="square" lIns="36576" tIns="18288" rIns="36576" bIns="18288">
            <a:spAutoFit/>
          </a:bodyPr>
          <a:lstStyle/>
          <a:p>
            <a:pPr algn="l"/>
            <a:r>
              <a:rPr sz="1500" b="1" i="0">
                <a:solidFill>
                  <a:srgbClr val="0468FF"/>
                </a:solidFill>
                <a:latin typeface="Arial"/>
              </a:rPr>
              <a:t>Conviction one: buy the build-out</a:t>
            </a:r>
          </a:p>
        </p:txBody>
      </p:sp>
      <p:sp>
        <p:nvSpPr>
          <p:cNvPr id="12" name="TextBox 11"/>
          <p:cNvSpPr txBox="1"/>
          <p:nvPr/>
        </p:nvSpPr>
        <p:spPr>
          <a:xfrm>
            <a:off x="987552" y="2432304"/>
            <a:ext cx="4663440" cy="2240280"/>
          </a:xfrm>
          <a:prstGeom prst="rect">
            <a:avLst/>
          </a:prstGeom>
          <a:noFill/>
        </p:spPr>
        <p:txBody>
          <a:bodyPr wrap="square" lIns="36576" tIns="18288" rIns="36576" bIns="18288">
            <a:spAutoFit/>
          </a:bodyPr>
          <a:lstStyle/>
          <a:p>
            <a:pPr algn="l">
              <a:spcAft>
                <a:spcPts val="900"/>
              </a:spcAft>
            </a:pPr>
            <a:r>
              <a:rPr sz="1250" b="0" i="0">
                <a:solidFill>
                  <a:srgbClr val="000962"/>
                </a:solidFill>
                <a:latin typeface="Arial"/>
              </a:rPr>
              <a:t>The physical build-out of AI was the trade of the decade. Chips, memory, power, data centers, rented compute.</a:t>
            </a:r>
          </a:p>
          <a:p>
            <a:pPr algn="l">
              <a:spcAft>
                <a:spcPts val="900"/>
              </a:spcAft>
            </a:pPr>
            <a:r>
              <a:rPr sz="1250" b="0" i="0">
                <a:solidFill>
                  <a:srgbClr val="000962"/>
                </a:solidFill>
                <a:latin typeface="Arial"/>
              </a:rPr>
              <a:t>The essay argued AI would conduct its own research by 2027, compressing a decade of progress into a year.</a:t>
            </a:r>
          </a:p>
          <a:p>
            <a:pPr algn="l">
              <a:spcAft>
                <a:spcPts val="900"/>
              </a:spcAft>
            </a:pPr>
            <a:r>
              <a:rPr sz="1250" b="0" i="0">
                <a:solidFill>
                  <a:srgbClr val="000962"/>
                </a:solidFill>
                <a:latin typeface="Arial"/>
              </a:rPr>
              <a:t>He urged the United States to treat AI as its next Manhattan Project.</a:t>
            </a:r>
          </a:p>
        </p:txBody>
      </p:sp>
      <p:sp>
        <p:nvSpPr>
          <p:cNvPr id="13" name="Rectangle 12"/>
          <p:cNvSpPr/>
          <p:nvPr/>
        </p:nvSpPr>
        <p:spPr>
          <a:xfrm>
            <a:off x="6336792" y="1901952"/>
            <a:ext cx="5074920" cy="292608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47104" y="2066543"/>
            <a:ext cx="4663440" cy="274320"/>
          </a:xfrm>
          <a:prstGeom prst="rect">
            <a:avLst/>
          </a:prstGeom>
          <a:noFill/>
        </p:spPr>
        <p:txBody>
          <a:bodyPr wrap="square" lIns="36576" tIns="18288" rIns="36576" bIns="18288">
            <a:spAutoFit/>
          </a:bodyPr>
          <a:lstStyle/>
          <a:p>
            <a:pPr algn="l"/>
            <a:r>
              <a:rPr sz="1500" b="1" i="0">
                <a:solidFill>
                  <a:srgbClr val="0468FF"/>
                </a:solidFill>
                <a:latin typeface="Arial"/>
              </a:rPr>
              <a:t>Conviction two: short the software</a:t>
            </a:r>
          </a:p>
        </p:txBody>
      </p:sp>
      <p:sp>
        <p:nvSpPr>
          <p:cNvPr id="15" name="TextBox 14"/>
          <p:cNvSpPr txBox="1"/>
          <p:nvPr/>
        </p:nvSpPr>
        <p:spPr>
          <a:xfrm>
            <a:off x="6547104" y="2432304"/>
            <a:ext cx="4663440" cy="2240280"/>
          </a:xfrm>
          <a:prstGeom prst="rect">
            <a:avLst/>
          </a:prstGeom>
          <a:noFill/>
        </p:spPr>
        <p:txBody>
          <a:bodyPr wrap="square" lIns="36576" tIns="18288" rIns="36576" bIns="18288">
            <a:spAutoFit/>
          </a:bodyPr>
          <a:lstStyle/>
          <a:p>
            <a:pPr algn="l">
              <a:spcAft>
                <a:spcPts val="900"/>
              </a:spcAft>
            </a:pPr>
            <a:r>
              <a:rPr sz="1250" b="0" i="0">
                <a:solidFill>
                  <a:srgbClr val="000962"/>
                </a:solidFill>
                <a:latin typeface="Arial"/>
              </a:rPr>
              <a:t>Application software would not be disrupted by AI. It would be obliterated.</a:t>
            </a:r>
          </a:p>
          <a:p>
            <a:pPr algn="l">
              <a:spcAft>
                <a:spcPts val="900"/>
              </a:spcAft>
            </a:pPr>
            <a:r>
              <a:rPr sz="1250" b="0" i="0">
                <a:solidFill>
                  <a:srgbClr val="000962"/>
                </a:solidFill>
                <a:latin typeface="Arial"/>
              </a:rPr>
              <a:t>On the Dwarkesh Patel podcast in June 2024: "I'm so bearish on the wrapper companies because they're betting on stagnation... We're just going to sonic boom you... Your stuff is not going to matter."</a:t>
            </a:r>
          </a:p>
        </p:txBody>
      </p:sp>
      <p:sp>
        <p:nvSpPr>
          <p:cNvPr id="16" name="TextBox 15"/>
          <p:cNvSpPr txBox="1"/>
          <p:nvPr/>
        </p:nvSpPr>
        <p:spPr>
          <a:xfrm>
            <a:off x="777240" y="4956048"/>
            <a:ext cx="10607040" cy="292608"/>
          </a:xfrm>
          <a:prstGeom prst="rect">
            <a:avLst/>
          </a:prstGeom>
          <a:noFill/>
        </p:spPr>
        <p:txBody>
          <a:bodyPr wrap="square" lIns="36576" tIns="18288" rIns="36576" bIns="18288">
            <a:spAutoFit/>
          </a:bodyPr>
          <a:lstStyle/>
          <a:p>
            <a:pPr algn="l"/>
            <a:r>
              <a:rPr sz="1500" b="1" i="0">
                <a:solidFill>
                  <a:srgbClr val="0468FF"/>
                </a:solidFill>
                <a:latin typeface="Arial"/>
              </a:rPr>
              <a:t>The whole fund in one line: buy the compute, short the things that run on the compute.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21207" y="6323076"/>
            <a:ext cx="5394960" cy="146304"/>
          </a:xfrm>
          <a:prstGeom prst="rect">
            <a:avLst/>
          </a:prstGeom>
          <a:noFill/>
        </p:spPr>
        <p:txBody>
          <a:bodyPr wrap="square" lIns="0" tIns="0" r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tIns="0" r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tIns="0" r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tIns="18288" rIns="36576" bIns="18288">
            <a:spAutoFit/>
          </a:bodyPr>
          <a:lstStyle/>
          <a:p>
            <a:pPr algn="l"/>
            <a:r>
              <a:rPr sz="3200" b="1" i="0">
                <a:solidFill>
                  <a:srgbClr val="0468FF"/>
                </a:solidFill>
                <a:latin typeface="Arial"/>
              </a:rPr>
              <a:t>From Essay to $45 Billion</a:t>
            </a:r>
          </a:p>
        </p:txBody>
      </p:sp>
      <p:sp>
        <p:nvSpPr>
          <p:cNvPr id="9" name="TextBox 8"/>
          <p:cNvSpPr txBox="1"/>
          <p:nvPr/>
        </p:nvSpPr>
        <p:spPr>
          <a:xfrm>
            <a:off x="713232" y="1353312"/>
            <a:ext cx="10881360" cy="310896"/>
          </a:xfrm>
          <a:prstGeom prst="rect">
            <a:avLst/>
          </a:prstGeom>
          <a:noFill/>
        </p:spPr>
        <p:txBody>
          <a:bodyPr wrap="square" lIns="36576" tIns="18288" rIns="36576" bIns="18288">
            <a:spAutoFit/>
          </a:bodyPr>
          <a:lstStyle/>
          <a:p>
            <a:pPr algn="l"/>
            <a:r>
              <a:rPr sz="1600" b="0" i="0">
                <a:solidFill>
                  <a:srgbClr val="000962"/>
                </a:solidFill>
                <a:latin typeface="Arial"/>
              </a:rPr>
              <a:t>Eighteen months from a blog post to the best performing large fund in the world.</a:t>
            </a:r>
          </a:p>
        </p:txBody>
      </p:sp>
      <p:sp>
        <p:nvSpPr>
          <p:cNvPr id="10" name="Rectangle 9"/>
          <p:cNvSpPr/>
          <p:nvPr/>
        </p:nvSpPr>
        <p:spPr>
          <a:xfrm>
            <a:off x="777240" y="2011680"/>
            <a:ext cx="2606040" cy="242316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60120" y="2176272"/>
            <a:ext cx="310896" cy="310896"/>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2208276"/>
            <a:ext cx="310896" cy="237744"/>
          </a:xfrm>
          <a:prstGeom prst="rect">
            <a:avLst/>
          </a:prstGeom>
          <a:noFill/>
        </p:spPr>
        <p:txBody>
          <a:bodyPr wrap="square" lIns="36576" tIns="18288" rIns="36576" bIns="18288">
            <a:spAutoFit/>
          </a:bodyPr>
          <a:lstStyle/>
          <a:p>
            <a:pPr algn="ctr"/>
            <a:r>
              <a:rPr sz="1200" b="1" i="0">
                <a:solidFill>
                  <a:srgbClr val="FFFFFF"/>
                </a:solidFill>
                <a:latin typeface="Arial"/>
              </a:rPr>
              <a:t>1</a:t>
            </a:r>
          </a:p>
        </p:txBody>
      </p:sp>
      <p:sp>
        <p:nvSpPr>
          <p:cNvPr id="13" name="TextBox 12"/>
          <p:cNvSpPr txBox="1"/>
          <p:nvPr/>
        </p:nvSpPr>
        <p:spPr>
          <a:xfrm>
            <a:off x="1380744" y="2194560"/>
            <a:ext cx="1783080" cy="237744"/>
          </a:xfrm>
          <a:prstGeom prst="rect">
            <a:avLst/>
          </a:prstGeom>
          <a:noFill/>
        </p:spPr>
        <p:txBody>
          <a:bodyPr wrap="square" lIns="36576" tIns="18288" rIns="36576" bIns="18288">
            <a:spAutoFit/>
          </a:bodyPr>
          <a:lstStyle/>
          <a:p>
            <a:pPr algn="l"/>
            <a:r>
              <a:rPr sz="1150" b="1" i="0">
                <a:solidFill>
                  <a:srgbClr val="46648C"/>
                </a:solidFill>
                <a:latin typeface="Arial"/>
              </a:rPr>
              <a:t>Late 2024</a:t>
            </a:r>
          </a:p>
        </p:txBody>
      </p:sp>
      <p:sp>
        <p:nvSpPr>
          <p:cNvPr id="14" name="TextBox 13"/>
          <p:cNvSpPr txBox="1"/>
          <p:nvPr/>
        </p:nvSpPr>
        <p:spPr>
          <a:xfrm>
            <a:off x="960120" y="2615184"/>
            <a:ext cx="2240280" cy="566928"/>
          </a:xfrm>
          <a:prstGeom prst="rect">
            <a:avLst/>
          </a:prstGeom>
          <a:noFill/>
        </p:spPr>
        <p:txBody>
          <a:bodyPr wrap="square" lIns="36576" tIns="18288" rIns="36576" bIns="18288">
            <a:spAutoFit/>
          </a:bodyPr>
          <a:lstStyle/>
          <a:p>
            <a:pPr algn="l">
              <a:lnSpc>
                <a:spcPct val="100000"/>
              </a:lnSpc>
            </a:pPr>
            <a:r>
              <a:rPr sz="1700" b="1" i="0">
                <a:solidFill>
                  <a:srgbClr val="0468FF"/>
                </a:solidFill>
                <a:latin typeface="Arial"/>
              </a:rPr>
              <a:t>Fund launches</a:t>
            </a:r>
          </a:p>
        </p:txBody>
      </p:sp>
      <p:sp>
        <p:nvSpPr>
          <p:cNvPr id="15" name="TextBox 14"/>
          <p:cNvSpPr txBox="1"/>
          <p:nvPr/>
        </p:nvSpPr>
        <p:spPr>
          <a:xfrm>
            <a:off x="960120" y="3273552"/>
            <a:ext cx="2240280" cy="1051560"/>
          </a:xfrm>
          <a:prstGeom prst="rect">
            <a:avLst/>
          </a:prstGeom>
          <a:noFill/>
        </p:spPr>
        <p:txBody>
          <a:bodyPr wrap="square" lIns="36576" tIns="18288" rIns="36576" bIns="18288">
            <a:spAutoFit/>
          </a:bodyPr>
          <a:lstStyle/>
          <a:p>
            <a:pPr algn="l">
              <a:lnSpc>
                <a:spcPct val="100000"/>
              </a:lnSpc>
            </a:pPr>
            <a:r>
              <a:rPr sz="1200" b="0" i="0">
                <a:solidFill>
                  <a:srgbClr val="000962"/>
                </a:solidFill>
                <a:latin typeface="Arial"/>
              </a:rPr>
              <a:t>Opens with roughly $225 million from Patrick and John Collison, Nat Friedman and Daniel Gross.</a:t>
            </a:r>
          </a:p>
        </p:txBody>
      </p:sp>
      <p:sp>
        <p:nvSpPr>
          <p:cNvPr id="16" name="Rectangle 15"/>
          <p:cNvSpPr/>
          <p:nvPr/>
        </p:nvSpPr>
        <p:spPr>
          <a:xfrm>
            <a:off x="3566160" y="2011680"/>
            <a:ext cx="2606040" cy="242316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3749039" y="2176272"/>
            <a:ext cx="310896" cy="310896"/>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49039" y="2208276"/>
            <a:ext cx="310896" cy="237744"/>
          </a:xfrm>
          <a:prstGeom prst="rect">
            <a:avLst/>
          </a:prstGeom>
          <a:noFill/>
        </p:spPr>
        <p:txBody>
          <a:bodyPr wrap="square" lIns="36576" tIns="18288" rIns="36576" bIns="18288">
            <a:spAutoFit/>
          </a:bodyPr>
          <a:lstStyle/>
          <a:p>
            <a:pPr algn="ctr"/>
            <a:r>
              <a:rPr sz="1200" b="1" i="0">
                <a:solidFill>
                  <a:srgbClr val="FFFFFF"/>
                </a:solidFill>
                <a:latin typeface="Arial"/>
              </a:rPr>
              <a:t>2</a:t>
            </a:r>
          </a:p>
        </p:txBody>
      </p:sp>
      <p:sp>
        <p:nvSpPr>
          <p:cNvPr id="19" name="TextBox 18"/>
          <p:cNvSpPr txBox="1"/>
          <p:nvPr/>
        </p:nvSpPr>
        <p:spPr>
          <a:xfrm>
            <a:off x="4169663" y="2194560"/>
            <a:ext cx="1783080" cy="237744"/>
          </a:xfrm>
          <a:prstGeom prst="rect">
            <a:avLst/>
          </a:prstGeom>
          <a:noFill/>
        </p:spPr>
        <p:txBody>
          <a:bodyPr wrap="square" lIns="36576" tIns="18288" rIns="36576" bIns="18288">
            <a:spAutoFit/>
          </a:bodyPr>
          <a:lstStyle/>
          <a:p>
            <a:pPr algn="l"/>
            <a:r>
              <a:rPr sz="1150" b="1" i="0">
                <a:solidFill>
                  <a:srgbClr val="46648C"/>
                </a:solidFill>
                <a:latin typeface="Arial"/>
              </a:rPr>
              <a:t>June 2026</a:t>
            </a:r>
          </a:p>
        </p:txBody>
      </p:sp>
      <p:sp>
        <p:nvSpPr>
          <p:cNvPr id="20" name="TextBox 19"/>
          <p:cNvSpPr txBox="1"/>
          <p:nvPr/>
        </p:nvSpPr>
        <p:spPr>
          <a:xfrm>
            <a:off x="3749039" y="2615184"/>
            <a:ext cx="2240280" cy="566928"/>
          </a:xfrm>
          <a:prstGeom prst="rect">
            <a:avLst/>
          </a:prstGeom>
          <a:noFill/>
        </p:spPr>
        <p:txBody>
          <a:bodyPr wrap="square" lIns="36576" tIns="18288" rIns="36576" bIns="18288">
            <a:spAutoFit/>
          </a:bodyPr>
          <a:lstStyle/>
          <a:p>
            <a:pPr algn="l">
              <a:lnSpc>
                <a:spcPct val="100000"/>
              </a:lnSpc>
            </a:pPr>
            <a:r>
              <a:rPr sz="1700" b="1" i="0">
                <a:solidFill>
                  <a:srgbClr val="0468FF"/>
                </a:solidFill>
                <a:latin typeface="Arial"/>
              </a:rPr>
              <a:t>Scale</a:t>
            </a:r>
          </a:p>
        </p:txBody>
      </p:sp>
      <p:sp>
        <p:nvSpPr>
          <p:cNvPr id="21" name="TextBox 20"/>
          <p:cNvSpPr txBox="1"/>
          <p:nvPr/>
        </p:nvSpPr>
        <p:spPr>
          <a:xfrm>
            <a:off x="3749039" y="3273552"/>
            <a:ext cx="2240280" cy="1051560"/>
          </a:xfrm>
          <a:prstGeom prst="rect">
            <a:avLst/>
          </a:prstGeom>
          <a:noFill/>
        </p:spPr>
        <p:txBody>
          <a:bodyPr wrap="square" lIns="36576" tIns="18288" rIns="36576" bIns="18288">
            <a:spAutoFit/>
          </a:bodyPr>
          <a:lstStyle/>
          <a:p>
            <a:pPr algn="l">
              <a:lnSpc>
                <a:spcPct val="100000"/>
              </a:lnSpc>
            </a:pPr>
            <a:r>
              <a:rPr sz="1200" b="0" i="0">
                <a:solidFill>
                  <a:srgbClr val="000962"/>
                </a:solidFill>
                <a:latin typeface="Arial"/>
              </a:rPr>
              <a:t>The Wall Street Journal profiles him. Jane Street is an investor. Assets pass $20 billion.</a:t>
            </a:r>
          </a:p>
        </p:txBody>
      </p:sp>
      <p:sp>
        <p:nvSpPr>
          <p:cNvPr id="22" name="Rectangle 21"/>
          <p:cNvSpPr/>
          <p:nvPr/>
        </p:nvSpPr>
        <p:spPr>
          <a:xfrm>
            <a:off x="6355079" y="2011680"/>
            <a:ext cx="2606040" cy="242316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537959" y="2176272"/>
            <a:ext cx="310896" cy="310896"/>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37959" y="2208276"/>
            <a:ext cx="310896" cy="237744"/>
          </a:xfrm>
          <a:prstGeom prst="rect">
            <a:avLst/>
          </a:prstGeom>
          <a:noFill/>
        </p:spPr>
        <p:txBody>
          <a:bodyPr wrap="square" lIns="36576" tIns="18288" rIns="36576" bIns="18288">
            <a:spAutoFit/>
          </a:bodyPr>
          <a:lstStyle/>
          <a:p>
            <a:pPr algn="ctr"/>
            <a:r>
              <a:rPr sz="1200" b="1" i="0">
                <a:solidFill>
                  <a:srgbClr val="FFFFFF"/>
                </a:solidFill>
                <a:latin typeface="Arial"/>
              </a:rPr>
              <a:t>3</a:t>
            </a:r>
          </a:p>
        </p:txBody>
      </p:sp>
      <p:sp>
        <p:nvSpPr>
          <p:cNvPr id="25" name="TextBox 24"/>
          <p:cNvSpPr txBox="1"/>
          <p:nvPr/>
        </p:nvSpPr>
        <p:spPr>
          <a:xfrm>
            <a:off x="6958583" y="2194560"/>
            <a:ext cx="1783080" cy="237744"/>
          </a:xfrm>
          <a:prstGeom prst="rect">
            <a:avLst/>
          </a:prstGeom>
          <a:noFill/>
        </p:spPr>
        <p:txBody>
          <a:bodyPr wrap="square" lIns="36576" tIns="18288" rIns="36576" bIns="18288">
            <a:spAutoFit/>
          </a:bodyPr>
          <a:lstStyle/>
          <a:p>
            <a:pPr algn="l"/>
            <a:r>
              <a:rPr sz="1150" b="1" i="0">
                <a:solidFill>
                  <a:srgbClr val="46648C"/>
                </a:solidFill>
                <a:latin typeface="Arial"/>
              </a:rPr>
              <a:t>July 24, 2026</a:t>
            </a:r>
          </a:p>
        </p:txBody>
      </p:sp>
      <p:sp>
        <p:nvSpPr>
          <p:cNvPr id="26" name="TextBox 25"/>
          <p:cNvSpPr txBox="1"/>
          <p:nvPr/>
        </p:nvSpPr>
        <p:spPr>
          <a:xfrm>
            <a:off x="6537959" y="2615184"/>
            <a:ext cx="2240280" cy="566928"/>
          </a:xfrm>
          <a:prstGeom prst="rect">
            <a:avLst/>
          </a:prstGeom>
          <a:noFill/>
        </p:spPr>
        <p:txBody>
          <a:bodyPr wrap="square" lIns="36576" tIns="18288" rIns="36576" bIns="18288">
            <a:spAutoFit/>
          </a:bodyPr>
          <a:lstStyle/>
          <a:p>
            <a:pPr algn="l">
              <a:lnSpc>
                <a:spcPct val="100000"/>
              </a:lnSpc>
            </a:pPr>
            <a:r>
              <a:rPr sz="1700" b="1" i="0">
                <a:solidFill>
                  <a:srgbClr val="0468FF"/>
                </a:solidFill>
                <a:latin typeface="Arial"/>
              </a:rPr>
              <a:t>The peak</a:t>
            </a:r>
          </a:p>
        </p:txBody>
      </p:sp>
      <p:sp>
        <p:nvSpPr>
          <p:cNvPr id="27" name="TextBox 26"/>
          <p:cNvSpPr txBox="1"/>
          <p:nvPr/>
        </p:nvSpPr>
        <p:spPr>
          <a:xfrm>
            <a:off x="6537959" y="3273552"/>
            <a:ext cx="2240280" cy="1051560"/>
          </a:xfrm>
          <a:prstGeom prst="rect">
            <a:avLst/>
          </a:prstGeom>
          <a:noFill/>
        </p:spPr>
        <p:txBody>
          <a:bodyPr wrap="square" lIns="36576" tIns="18288" rIns="36576" bIns="18288">
            <a:spAutoFit/>
          </a:bodyPr>
          <a:lstStyle/>
          <a:p>
            <a:pPr algn="l">
              <a:lnSpc>
                <a:spcPct val="100000"/>
              </a:lnSpc>
            </a:pPr>
            <a:r>
              <a:rPr sz="1200" b="0" i="0">
                <a:solidFill>
                  <a:srgbClr val="000962"/>
                </a:solidFill>
                <a:latin typeface="Arial"/>
              </a:rPr>
              <a:t>Investor letter reports 439% net for the first half. Assets near $45 billion.</a:t>
            </a:r>
          </a:p>
        </p:txBody>
      </p:sp>
      <p:sp>
        <p:nvSpPr>
          <p:cNvPr id="28" name="Rectangle 27"/>
          <p:cNvSpPr/>
          <p:nvPr/>
        </p:nvSpPr>
        <p:spPr>
          <a:xfrm>
            <a:off x="9144000" y="2011680"/>
            <a:ext cx="2606040" cy="242316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9326880" y="2176272"/>
            <a:ext cx="310896" cy="310896"/>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326880" y="2208276"/>
            <a:ext cx="310896" cy="237744"/>
          </a:xfrm>
          <a:prstGeom prst="rect">
            <a:avLst/>
          </a:prstGeom>
          <a:noFill/>
        </p:spPr>
        <p:txBody>
          <a:bodyPr wrap="square" lIns="36576" tIns="18288" rIns="36576" bIns="18288">
            <a:spAutoFit/>
          </a:bodyPr>
          <a:lstStyle/>
          <a:p>
            <a:pPr algn="ctr"/>
            <a:r>
              <a:rPr sz="1200" b="1" i="0">
                <a:solidFill>
                  <a:srgbClr val="FFFFFF"/>
                </a:solidFill>
                <a:latin typeface="Arial"/>
              </a:rPr>
              <a:t>4</a:t>
            </a:r>
          </a:p>
        </p:txBody>
      </p:sp>
      <p:sp>
        <p:nvSpPr>
          <p:cNvPr id="31" name="TextBox 30"/>
          <p:cNvSpPr txBox="1"/>
          <p:nvPr/>
        </p:nvSpPr>
        <p:spPr>
          <a:xfrm>
            <a:off x="9747504" y="2194560"/>
            <a:ext cx="1783080" cy="237744"/>
          </a:xfrm>
          <a:prstGeom prst="rect">
            <a:avLst/>
          </a:prstGeom>
          <a:noFill/>
        </p:spPr>
        <p:txBody>
          <a:bodyPr wrap="square" lIns="36576" tIns="18288" rIns="36576" bIns="18288">
            <a:spAutoFit/>
          </a:bodyPr>
          <a:lstStyle/>
          <a:p>
            <a:pPr algn="l"/>
            <a:r>
              <a:rPr sz="1150" b="1" i="0">
                <a:solidFill>
                  <a:srgbClr val="46648C"/>
                </a:solidFill>
                <a:latin typeface="Arial"/>
              </a:rPr>
              <a:t>July 31, 2026</a:t>
            </a:r>
          </a:p>
        </p:txBody>
      </p:sp>
      <p:sp>
        <p:nvSpPr>
          <p:cNvPr id="32" name="TextBox 31"/>
          <p:cNvSpPr txBox="1"/>
          <p:nvPr/>
        </p:nvSpPr>
        <p:spPr>
          <a:xfrm>
            <a:off x="9326880" y="2615184"/>
            <a:ext cx="2240280" cy="566928"/>
          </a:xfrm>
          <a:prstGeom prst="rect">
            <a:avLst/>
          </a:prstGeom>
          <a:noFill/>
        </p:spPr>
        <p:txBody>
          <a:bodyPr wrap="square" lIns="36576" tIns="18288" rIns="36576" bIns="18288">
            <a:spAutoFit/>
          </a:bodyPr>
          <a:lstStyle/>
          <a:p>
            <a:pPr algn="l">
              <a:lnSpc>
                <a:spcPct val="100000"/>
              </a:lnSpc>
            </a:pPr>
            <a:r>
              <a:rPr sz="1700" b="1" i="0">
                <a:solidFill>
                  <a:srgbClr val="0468FF"/>
                </a:solidFill>
                <a:latin typeface="Arial"/>
              </a:rPr>
              <a:t>The floor</a:t>
            </a:r>
          </a:p>
        </p:txBody>
      </p:sp>
      <p:sp>
        <p:nvSpPr>
          <p:cNvPr id="33" name="TextBox 32"/>
          <p:cNvSpPr txBox="1"/>
          <p:nvPr/>
        </p:nvSpPr>
        <p:spPr>
          <a:xfrm>
            <a:off x="9326880" y="3273552"/>
            <a:ext cx="2240280" cy="1051560"/>
          </a:xfrm>
          <a:prstGeom prst="rect">
            <a:avLst/>
          </a:prstGeom>
          <a:noFill/>
        </p:spPr>
        <p:txBody>
          <a:bodyPr wrap="square" lIns="36576" tIns="18288" rIns="36576" bIns="18288">
            <a:spAutoFit/>
          </a:bodyPr>
          <a:lstStyle/>
          <a:p>
            <a:pPr algn="l">
              <a:lnSpc>
                <a:spcPct val="100000"/>
              </a:lnSpc>
            </a:pPr>
            <a:r>
              <a:rPr sz="1200" b="0" i="0">
                <a:solidFill>
                  <a:srgbClr val="000962"/>
                </a:solidFill>
                <a:latin typeface="Arial"/>
              </a:rPr>
              <a:t>Assets near $10 billion. About half of what is left is one illiquid stake in Anthropic.</a:t>
            </a:r>
          </a:p>
        </p:txBody>
      </p:sp>
      <p:sp>
        <p:nvSpPr>
          <p:cNvPr id="34" name="TextBox 33"/>
          <p:cNvSpPr txBox="1"/>
          <p:nvPr/>
        </p:nvSpPr>
        <p:spPr>
          <a:xfrm>
            <a:off x="777240" y="4681728"/>
            <a:ext cx="10515600" cy="292608"/>
          </a:xfrm>
          <a:prstGeom prst="rect">
            <a:avLst/>
          </a:prstGeom>
          <a:noFill/>
        </p:spPr>
        <p:txBody>
          <a:bodyPr wrap="square" lIns="36576" tIns="18288" rIns="36576" bIns="18288">
            <a:spAutoFit/>
          </a:bodyPr>
          <a:lstStyle/>
          <a:p>
            <a:pPr algn="l"/>
            <a:r>
              <a:rPr sz="1500" b="1" i="0">
                <a:solidFill>
                  <a:srgbClr val="0468FF"/>
                </a:solidFill>
                <a:latin typeface="Arial"/>
              </a:rPr>
              <a:t>Up 439% net through June 30. Down about 67% in July. Still up roughly 80% for the year.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21207" y="6323076"/>
            <a:ext cx="5394960" cy="146304"/>
          </a:xfrm>
          <a:prstGeom prst="rect">
            <a:avLst/>
          </a:prstGeom>
          <a:noFill/>
        </p:spPr>
        <p:txBody>
          <a:bodyPr wrap="square" lIns="0" tIns="0" r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tIns="0" r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tIns="0" r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tIns="18288" rIns="36576" bIns="18288">
            <a:spAutoFit/>
          </a:bodyPr>
          <a:lstStyle/>
          <a:p>
            <a:pPr algn="l"/>
            <a:r>
              <a:rPr sz="3200" b="1" i="0">
                <a:solidFill>
                  <a:srgbClr val="0468FF"/>
                </a:solidFill>
                <a:latin typeface="Arial"/>
              </a:rPr>
              <a:t>The Book: What He Actually Owned</a:t>
            </a:r>
          </a:p>
        </p:txBody>
      </p:sp>
      <p:sp>
        <p:nvSpPr>
          <p:cNvPr id="9" name="TextBox 8"/>
          <p:cNvSpPr txBox="1"/>
          <p:nvPr/>
        </p:nvSpPr>
        <p:spPr>
          <a:xfrm>
            <a:off x="713232" y="1353312"/>
            <a:ext cx="10881360" cy="310896"/>
          </a:xfrm>
          <a:prstGeom prst="rect">
            <a:avLst/>
          </a:prstGeom>
          <a:noFill/>
        </p:spPr>
        <p:txBody>
          <a:bodyPr wrap="square" lIns="36576" tIns="18288" rIns="36576" bIns="18288">
            <a:spAutoFit/>
          </a:bodyPr>
          <a:lstStyle/>
          <a:p>
            <a:pPr algn="l"/>
            <a:r>
              <a:rPr sz="1600" b="0" i="0">
                <a:solidFill>
                  <a:srgbClr val="000962"/>
                </a:solidFill>
                <a:latin typeface="Arial"/>
              </a:rPr>
              <a:t>The first quarter filing showed $3.86 billion across just 26 positions.</a:t>
            </a:r>
          </a:p>
        </p:txBody>
      </p:sp>
      <p:sp>
        <p:nvSpPr>
          <p:cNvPr id="10" name="TextBox 9"/>
          <p:cNvSpPr txBox="1"/>
          <p:nvPr/>
        </p:nvSpPr>
        <p:spPr>
          <a:xfrm>
            <a:off x="658368" y="1920240"/>
            <a:ext cx="3291840" cy="237744"/>
          </a:xfrm>
          <a:prstGeom prst="rect">
            <a:avLst/>
          </a:prstGeom>
          <a:noFill/>
        </p:spPr>
        <p:txBody>
          <a:bodyPr wrap="square" lIns="36576" tIns="18288" rIns="36576" bIns="18288">
            <a:spAutoFit/>
          </a:bodyPr>
          <a:lstStyle/>
          <a:p>
            <a:pPr algn="l"/>
            <a:r>
              <a:rPr sz="1200" b="1" i="0">
                <a:solidFill>
                  <a:srgbClr val="0468FF"/>
                </a:solidFill>
                <a:latin typeface="Arial"/>
              </a:rPr>
              <a:t>Position</a:t>
            </a:r>
          </a:p>
        </p:txBody>
      </p:sp>
      <p:sp>
        <p:nvSpPr>
          <p:cNvPr id="11" name="TextBox 10"/>
          <p:cNvSpPr txBox="1"/>
          <p:nvPr/>
        </p:nvSpPr>
        <p:spPr>
          <a:xfrm>
            <a:off x="3950208" y="1920240"/>
            <a:ext cx="3017520" cy="237744"/>
          </a:xfrm>
          <a:prstGeom prst="rect">
            <a:avLst/>
          </a:prstGeom>
          <a:noFill/>
        </p:spPr>
        <p:txBody>
          <a:bodyPr wrap="square" lIns="36576" tIns="18288" rIns="36576" bIns="18288">
            <a:spAutoFit/>
          </a:bodyPr>
          <a:lstStyle/>
          <a:p>
            <a:pPr algn="l"/>
            <a:r>
              <a:rPr sz="1200" b="1" i="0">
                <a:solidFill>
                  <a:srgbClr val="0468FF"/>
                </a:solidFill>
                <a:latin typeface="Arial"/>
              </a:rPr>
              <a:t>Theme</a:t>
            </a:r>
          </a:p>
        </p:txBody>
      </p:sp>
      <p:sp>
        <p:nvSpPr>
          <p:cNvPr id="12" name="TextBox 11"/>
          <p:cNvSpPr txBox="1"/>
          <p:nvPr/>
        </p:nvSpPr>
        <p:spPr>
          <a:xfrm>
            <a:off x="6967728" y="1920240"/>
            <a:ext cx="2148840" cy="237744"/>
          </a:xfrm>
          <a:prstGeom prst="rect">
            <a:avLst/>
          </a:prstGeom>
          <a:noFill/>
        </p:spPr>
        <p:txBody>
          <a:bodyPr wrap="square" lIns="36576" tIns="18288" rIns="36576" bIns="18288">
            <a:spAutoFit/>
          </a:bodyPr>
          <a:lstStyle/>
          <a:p>
            <a:pPr algn="l"/>
            <a:r>
              <a:rPr sz="1200" b="1" i="0">
                <a:solidFill>
                  <a:srgbClr val="0468FF"/>
                </a:solidFill>
                <a:latin typeface="Arial"/>
              </a:rPr>
              <a:t>Share of book</a:t>
            </a:r>
          </a:p>
        </p:txBody>
      </p:sp>
      <p:sp>
        <p:nvSpPr>
          <p:cNvPr id="13" name="TextBox 12"/>
          <p:cNvSpPr txBox="1"/>
          <p:nvPr/>
        </p:nvSpPr>
        <p:spPr>
          <a:xfrm>
            <a:off x="9116568" y="1920240"/>
            <a:ext cx="2377440" cy="237744"/>
          </a:xfrm>
          <a:prstGeom prst="rect">
            <a:avLst/>
          </a:prstGeom>
          <a:noFill/>
        </p:spPr>
        <p:txBody>
          <a:bodyPr wrap="square" lIns="36576" tIns="18288" rIns="36576" bIns="18288">
            <a:spAutoFit/>
          </a:bodyPr>
          <a:lstStyle/>
          <a:p>
            <a:pPr algn="l"/>
            <a:r>
              <a:rPr sz="1200" b="1" i="0">
                <a:solidFill>
                  <a:srgbClr val="0468FF"/>
                </a:solidFill>
                <a:latin typeface="Arial"/>
              </a:rPr>
              <a:t>Share of company owned</a:t>
            </a:r>
          </a:p>
        </p:txBody>
      </p:sp>
      <p:sp>
        <p:nvSpPr>
          <p:cNvPr id="14" name="Rectangle 13"/>
          <p:cNvSpPr/>
          <p:nvPr/>
        </p:nvSpPr>
        <p:spPr>
          <a:xfrm>
            <a:off x="658368" y="2267712"/>
            <a:ext cx="10835640" cy="45720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94944" y="2304288"/>
            <a:ext cx="3218688" cy="384048"/>
          </a:xfrm>
          <a:prstGeom prst="rect">
            <a:avLst/>
          </a:prstGeom>
          <a:noFill/>
        </p:spPr>
        <p:txBody>
          <a:bodyPr wrap="square" lIns="36576" tIns="18288" rIns="36576" bIns="18288" anchor="ctr">
            <a:spAutoFit/>
          </a:bodyPr>
          <a:lstStyle/>
          <a:p>
            <a:pPr algn="l"/>
            <a:r>
              <a:rPr sz="1200" b="0" i="0">
                <a:solidFill>
                  <a:srgbClr val="000962"/>
                </a:solidFill>
                <a:latin typeface="Arial"/>
              </a:rPr>
              <a:t>Bloom Energy (BE)</a:t>
            </a:r>
          </a:p>
        </p:txBody>
      </p:sp>
      <p:sp>
        <p:nvSpPr>
          <p:cNvPr id="16" name="TextBox 15"/>
          <p:cNvSpPr txBox="1"/>
          <p:nvPr/>
        </p:nvSpPr>
        <p:spPr>
          <a:xfrm>
            <a:off x="3986784" y="2304288"/>
            <a:ext cx="2944368" cy="384048"/>
          </a:xfrm>
          <a:prstGeom prst="rect">
            <a:avLst/>
          </a:prstGeom>
          <a:noFill/>
        </p:spPr>
        <p:txBody>
          <a:bodyPr wrap="square" lIns="36576" tIns="18288" rIns="36576" bIns="18288" anchor="ctr">
            <a:spAutoFit/>
          </a:bodyPr>
          <a:lstStyle/>
          <a:p>
            <a:pPr algn="l"/>
            <a:r>
              <a:rPr sz="1200" b="0" i="0">
                <a:solidFill>
                  <a:srgbClr val="000962"/>
                </a:solidFill>
                <a:latin typeface="Arial"/>
              </a:rPr>
              <a:t>Fuel cells for data centers</a:t>
            </a:r>
          </a:p>
        </p:txBody>
      </p:sp>
      <p:sp>
        <p:nvSpPr>
          <p:cNvPr id="17" name="TextBox 16"/>
          <p:cNvSpPr txBox="1"/>
          <p:nvPr/>
        </p:nvSpPr>
        <p:spPr>
          <a:xfrm>
            <a:off x="7004304" y="2304288"/>
            <a:ext cx="2075688" cy="384048"/>
          </a:xfrm>
          <a:prstGeom prst="rect">
            <a:avLst/>
          </a:prstGeom>
          <a:noFill/>
        </p:spPr>
        <p:txBody>
          <a:bodyPr wrap="square" lIns="36576" tIns="18288" rIns="36576" bIns="18288" anchor="ctr">
            <a:spAutoFit/>
          </a:bodyPr>
          <a:lstStyle/>
          <a:p>
            <a:pPr algn="l"/>
            <a:r>
              <a:rPr sz="1200" b="0" i="0">
                <a:solidFill>
                  <a:srgbClr val="000962"/>
                </a:solidFill>
                <a:latin typeface="Arial"/>
              </a:rPr>
              <a:t>22.8%</a:t>
            </a:r>
          </a:p>
        </p:txBody>
      </p:sp>
      <p:sp>
        <p:nvSpPr>
          <p:cNvPr id="18" name="TextBox 17"/>
          <p:cNvSpPr txBox="1"/>
          <p:nvPr/>
        </p:nvSpPr>
        <p:spPr>
          <a:xfrm>
            <a:off x="9153144" y="2304288"/>
            <a:ext cx="2304288" cy="384048"/>
          </a:xfrm>
          <a:prstGeom prst="rect">
            <a:avLst/>
          </a:prstGeom>
          <a:noFill/>
        </p:spPr>
        <p:txBody>
          <a:bodyPr wrap="square" lIns="36576" tIns="18288" rIns="36576" bIns="18288" anchor="ctr">
            <a:spAutoFit/>
          </a:bodyPr>
          <a:lstStyle/>
          <a:p>
            <a:pPr algn="l"/>
            <a:r>
              <a:rPr sz="1200" b="0" i="0">
                <a:solidFill>
                  <a:srgbClr val="000962"/>
                </a:solidFill>
                <a:latin typeface="Arial"/>
              </a:rPr>
              <a:t>2.3%</a:t>
            </a:r>
          </a:p>
        </p:txBody>
      </p:sp>
      <p:sp>
        <p:nvSpPr>
          <p:cNvPr id="19" name="Rectangle 18"/>
          <p:cNvSpPr/>
          <p:nvPr/>
        </p:nvSpPr>
        <p:spPr>
          <a:xfrm>
            <a:off x="658368" y="2761488"/>
            <a:ext cx="10835640" cy="45720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94944" y="2798064"/>
            <a:ext cx="3218688" cy="384048"/>
          </a:xfrm>
          <a:prstGeom prst="rect">
            <a:avLst/>
          </a:prstGeom>
          <a:noFill/>
        </p:spPr>
        <p:txBody>
          <a:bodyPr wrap="square" lIns="36576" tIns="18288" rIns="36576" bIns="18288" anchor="ctr">
            <a:spAutoFit/>
          </a:bodyPr>
          <a:lstStyle/>
          <a:p>
            <a:pPr algn="l"/>
            <a:r>
              <a:rPr sz="1200" b="0" i="0">
                <a:solidFill>
                  <a:srgbClr val="000962"/>
                </a:solidFill>
                <a:latin typeface="Arial"/>
              </a:rPr>
              <a:t>SanDisk (SNDK)</a:t>
            </a:r>
          </a:p>
        </p:txBody>
      </p:sp>
      <p:sp>
        <p:nvSpPr>
          <p:cNvPr id="21" name="TextBox 20"/>
          <p:cNvSpPr txBox="1"/>
          <p:nvPr/>
        </p:nvSpPr>
        <p:spPr>
          <a:xfrm>
            <a:off x="3986784" y="2798064"/>
            <a:ext cx="2944368" cy="384048"/>
          </a:xfrm>
          <a:prstGeom prst="rect">
            <a:avLst/>
          </a:prstGeom>
          <a:noFill/>
        </p:spPr>
        <p:txBody>
          <a:bodyPr wrap="square" lIns="36576" tIns="18288" rIns="36576" bIns="18288" anchor="ctr">
            <a:spAutoFit/>
          </a:bodyPr>
          <a:lstStyle/>
          <a:p>
            <a:pPr algn="l"/>
            <a:r>
              <a:rPr sz="1200" b="0" i="0">
                <a:solidFill>
                  <a:srgbClr val="000962"/>
                </a:solidFill>
                <a:latin typeface="Arial"/>
              </a:rPr>
              <a:t>Storage and memory</a:t>
            </a:r>
          </a:p>
        </p:txBody>
      </p:sp>
      <p:sp>
        <p:nvSpPr>
          <p:cNvPr id="22" name="TextBox 21"/>
          <p:cNvSpPr txBox="1"/>
          <p:nvPr/>
        </p:nvSpPr>
        <p:spPr>
          <a:xfrm>
            <a:off x="7004304" y="2798064"/>
            <a:ext cx="2075688" cy="384048"/>
          </a:xfrm>
          <a:prstGeom prst="rect">
            <a:avLst/>
          </a:prstGeom>
          <a:noFill/>
        </p:spPr>
        <p:txBody>
          <a:bodyPr wrap="square" lIns="36576" tIns="18288" rIns="36576" bIns="18288" anchor="ctr">
            <a:spAutoFit/>
          </a:bodyPr>
          <a:lstStyle/>
          <a:p>
            <a:pPr algn="l"/>
            <a:r>
              <a:rPr sz="1200" b="0" i="0">
                <a:solidFill>
                  <a:srgbClr val="000962"/>
                </a:solidFill>
                <a:latin typeface="Arial"/>
              </a:rPr>
              <a:t>18.8%</a:t>
            </a:r>
          </a:p>
        </p:txBody>
      </p:sp>
      <p:sp>
        <p:nvSpPr>
          <p:cNvPr id="23" name="TextBox 22"/>
          <p:cNvSpPr txBox="1"/>
          <p:nvPr/>
        </p:nvSpPr>
        <p:spPr>
          <a:xfrm>
            <a:off x="9153144" y="2798064"/>
            <a:ext cx="2304288" cy="384048"/>
          </a:xfrm>
          <a:prstGeom prst="rect">
            <a:avLst/>
          </a:prstGeom>
          <a:noFill/>
        </p:spPr>
        <p:txBody>
          <a:bodyPr wrap="square" lIns="36576" tIns="18288" rIns="36576" bIns="18288" anchor="ctr">
            <a:spAutoFit/>
          </a:bodyPr>
          <a:lstStyle/>
          <a:p>
            <a:pPr algn="l"/>
            <a:r>
              <a:rPr sz="1200" b="0" i="0">
                <a:solidFill>
                  <a:srgbClr val="000962"/>
                </a:solidFill>
                <a:latin typeface="Arial"/>
              </a:rPr>
              <a:t>0.8%</a:t>
            </a:r>
          </a:p>
        </p:txBody>
      </p:sp>
      <p:sp>
        <p:nvSpPr>
          <p:cNvPr id="24" name="Rectangle 23"/>
          <p:cNvSpPr/>
          <p:nvPr/>
        </p:nvSpPr>
        <p:spPr>
          <a:xfrm>
            <a:off x="658368" y="3255264"/>
            <a:ext cx="10835640" cy="45720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94944" y="3291840"/>
            <a:ext cx="3218688" cy="384048"/>
          </a:xfrm>
          <a:prstGeom prst="rect">
            <a:avLst/>
          </a:prstGeom>
          <a:noFill/>
        </p:spPr>
        <p:txBody>
          <a:bodyPr wrap="square" lIns="36576" tIns="18288" rIns="36576" bIns="18288" anchor="ctr">
            <a:spAutoFit/>
          </a:bodyPr>
          <a:lstStyle/>
          <a:p>
            <a:pPr algn="l"/>
            <a:r>
              <a:rPr sz="1200" b="0" i="0">
                <a:solidFill>
                  <a:srgbClr val="000962"/>
                </a:solidFill>
                <a:latin typeface="Arial"/>
              </a:rPr>
              <a:t>CoreWeave (CRWV)</a:t>
            </a:r>
          </a:p>
        </p:txBody>
      </p:sp>
      <p:sp>
        <p:nvSpPr>
          <p:cNvPr id="26" name="TextBox 25"/>
          <p:cNvSpPr txBox="1"/>
          <p:nvPr/>
        </p:nvSpPr>
        <p:spPr>
          <a:xfrm>
            <a:off x="3986784" y="3291840"/>
            <a:ext cx="2944368" cy="384048"/>
          </a:xfrm>
          <a:prstGeom prst="rect">
            <a:avLst/>
          </a:prstGeom>
          <a:noFill/>
        </p:spPr>
        <p:txBody>
          <a:bodyPr wrap="square" lIns="36576" tIns="18288" rIns="36576" bIns="18288" anchor="ctr">
            <a:spAutoFit/>
          </a:bodyPr>
          <a:lstStyle/>
          <a:p>
            <a:pPr algn="l"/>
            <a:r>
              <a:rPr sz="1200" b="0" i="0">
                <a:solidFill>
                  <a:srgbClr val="000962"/>
                </a:solidFill>
                <a:latin typeface="Arial"/>
              </a:rPr>
              <a:t>Rented compute</a:t>
            </a:r>
          </a:p>
        </p:txBody>
      </p:sp>
      <p:sp>
        <p:nvSpPr>
          <p:cNvPr id="27" name="TextBox 26"/>
          <p:cNvSpPr txBox="1"/>
          <p:nvPr/>
        </p:nvSpPr>
        <p:spPr>
          <a:xfrm>
            <a:off x="7004304" y="3291840"/>
            <a:ext cx="2075688" cy="384048"/>
          </a:xfrm>
          <a:prstGeom prst="rect">
            <a:avLst/>
          </a:prstGeom>
          <a:noFill/>
        </p:spPr>
        <p:txBody>
          <a:bodyPr wrap="square" lIns="36576" tIns="18288" rIns="36576" bIns="18288" anchor="ctr">
            <a:spAutoFit/>
          </a:bodyPr>
          <a:lstStyle/>
          <a:p>
            <a:pPr algn="l"/>
            <a:r>
              <a:rPr sz="1200" b="0" i="0">
                <a:solidFill>
                  <a:srgbClr val="000962"/>
                </a:solidFill>
                <a:latin typeface="Arial"/>
              </a:rPr>
              <a:t>14.4%</a:t>
            </a:r>
          </a:p>
        </p:txBody>
      </p:sp>
      <p:sp>
        <p:nvSpPr>
          <p:cNvPr id="28" name="TextBox 27"/>
          <p:cNvSpPr txBox="1"/>
          <p:nvPr/>
        </p:nvSpPr>
        <p:spPr>
          <a:xfrm>
            <a:off x="9153144" y="3291840"/>
            <a:ext cx="2304288" cy="384048"/>
          </a:xfrm>
          <a:prstGeom prst="rect">
            <a:avLst/>
          </a:prstGeom>
          <a:noFill/>
        </p:spPr>
        <p:txBody>
          <a:bodyPr wrap="square" lIns="36576" tIns="18288" rIns="36576" bIns="18288" anchor="ctr">
            <a:spAutoFit/>
          </a:bodyPr>
          <a:lstStyle/>
          <a:p>
            <a:pPr algn="l"/>
            <a:r>
              <a:rPr sz="1200" b="0" i="0">
                <a:solidFill>
                  <a:srgbClr val="000962"/>
                </a:solidFill>
                <a:latin typeface="Arial"/>
              </a:rPr>
              <a:t>1.7%</a:t>
            </a:r>
          </a:p>
        </p:txBody>
      </p:sp>
      <p:sp>
        <p:nvSpPr>
          <p:cNvPr id="29" name="Rectangle 28"/>
          <p:cNvSpPr/>
          <p:nvPr/>
        </p:nvSpPr>
        <p:spPr>
          <a:xfrm>
            <a:off x="658368" y="3749039"/>
            <a:ext cx="10835640" cy="45720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94944" y="3785615"/>
            <a:ext cx="3218688" cy="384048"/>
          </a:xfrm>
          <a:prstGeom prst="rect">
            <a:avLst/>
          </a:prstGeom>
          <a:noFill/>
        </p:spPr>
        <p:txBody>
          <a:bodyPr wrap="square" lIns="36576" tIns="18288" rIns="36576" bIns="18288" anchor="ctr">
            <a:spAutoFit/>
          </a:bodyPr>
          <a:lstStyle/>
          <a:p>
            <a:pPr algn="l"/>
            <a:r>
              <a:rPr sz="1200" b="0" i="0">
                <a:solidFill>
                  <a:srgbClr val="000962"/>
                </a:solidFill>
                <a:latin typeface="Arial"/>
              </a:rPr>
              <a:t>IREN (IREN)</a:t>
            </a:r>
          </a:p>
        </p:txBody>
      </p:sp>
      <p:sp>
        <p:nvSpPr>
          <p:cNvPr id="31" name="TextBox 30"/>
          <p:cNvSpPr txBox="1"/>
          <p:nvPr/>
        </p:nvSpPr>
        <p:spPr>
          <a:xfrm>
            <a:off x="3986784" y="3785615"/>
            <a:ext cx="2944368" cy="384048"/>
          </a:xfrm>
          <a:prstGeom prst="rect">
            <a:avLst/>
          </a:prstGeom>
          <a:noFill/>
        </p:spPr>
        <p:txBody>
          <a:bodyPr wrap="square" lIns="36576" tIns="18288" rIns="36576" bIns="18288" anchor="ctr">
            <a:spAutoFit/>
          </a:bodyPr>
          <a:lstStyle/>
          <a:p>
            <a:pPr algn="l"/>
            <a:r>
              <a:rPr sz="1200" b="0" i="0">
                <a:solidFill>
                  <a:srgbClr val="000962"/>
                </a:solidFill>
                <a:latin typeface="Arial"/>
              </a:rPr>
              <a:t>Miner turned data center</a:t>
            </a:r>
          </a:p>
        </p:txBody>
      </p:sp>
      <p:sp>
        <p:nvSpPr>
          <p:cNvPr id="32" name="TextBox 31"/>
          <p:cNvSpPr txBox="1"/>
          <p:nvPr/>
        </p:nvSpPr>
        <p:spPr>
          <a:xfrm>
            <a:off x="7004304" y="3785615"/>
            <a:ext cx="2075688" cy="384048"/>
          </a:xfrm>
          <a:prstGeom prst="rect">
            <a:avLst/>
          </a:prstGeom>
          <a:noFill/>
        </p:spPr>
        <p:txBody>
          <a:bodyPr wrap="square" lIns="36576" tIns="18288" rIns="36576" bIns="18288" anchor="ctr">
            <a:spAutoFit/>
          </a:bodyPr>
          <a:lstStyle/>
          <a:p>
            <a:pPr algn="l"/>
            <a:r>
              <a:rPr sz="1200" b="0" i="0">
                <a:solidFill>
                  <a:srgbClr val="000962"/>
                </a:solidFill>
                <a:latin typeface="Arial"/>
              </a:rPr>
              <a:t>10.4%</a:t>
            </a:r>
          </a:p>
        </p:txBody>
      </p:sp>
      <p:sp>
        <p:nvSpPr>
          <p:cNvPr id="33" name="TextBox 32"/>
          <p:cNvSpPr txBox="1"/>
          <p:nvPr/>
        </p:nvSpPr>
        <p:spPr>
          <a:xfrm>
            <a:off x="9153144" y="3785615"/>
            <a:ext cx="2304288" cy="384048"/>
          </a:xfrm>
          <a:prstGeom prst="rect">
            <a:avLst/>
          </a:prstGeom>
          <a:noFill/>
        </p:spPr>
        <p:txBody>
          <a:bodyPr wrap="square" lIns="36576" tIns="18288" rIns="36576" bIns="18288" anchor="ctr">
            <a:spAutoFit/>
          </a:bodyPr>
          <a:lstStyle/>
          <a:p>
            <a:pPr algn="l"/>
            <a:r>
              <a:rPr sz="1200" b="0" i="0">
                <a:solidFill>
                  <a:srgbClr val="000962"/>
                </a:solidFill>
                <a:latin typeface="Arial"/>
              </a:rPr>
              <a:t>3.5%</a:t>
            </a:r>
          </a:p>
        </p:txBody>
      </p:sp>
      <p:sp>
        <p:nvSpPr>
          <p:cNvPr id="34" name="Rectangle 33"/>
          <p:cNvSpPr/>
          <p:nvPr/>
        </p:nvSpPr>
        <p:spPr>
          <a:xfrm>
            <a:off x="658368" y="4242816"/>
            <a:ext cx="10835640" cy="45720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94944" y="4279392"/>
            <a:ext cx="3218688" cy="384048"/>
          </a:xfrm>
          <a:prstGeom prst="rect">
            <a:avLst/>
          </a:prstGeom>
          <a:noFill/>
        </p:spPr>
        <p:txBody>
          <a:bodyPr wrap="square" lIns="36576" tIns="18288" rIns="36576" bIns="18288" anchor="ctr">
            <a:spAutoFit/>
          </a:bodyPr>
          <a:lstStyle/>
          <a:p>
            <a:pPr algn="l"/>
            <a:r>
              <a:rPr sz="1200" b="0" i="0">
                <a:solidFill>
                  <a:srgbClr val="000962"/>
                </a:solidFill>
                <a:latin typeface="Arial"/>
              </a:rPr>
              <a:t>Core Scientific (CORZ)</a:t>
            </a:r>
          </a:p>
        </p:txBody>
      </p:sp>
      <p:sp>
        <p:nvSpPr>
          <p:cNvPr id="36" name="TextBox 35"/>
          <p:cNvSpPr txBox="1"/>
          <p:nvPr/>
        </p:nvSpPr>
        <p:spPr>
          <a:xfrm>
            <a:off x="3986784" y="4279392"/>
            <a:ext cx="2944368" cy="384048"/>
          </a:xfrm>
          <a:prstGeom prst="rect">
            <a:avLst/>
          </a:prstGeom>
          <a:noFill/>
        </p:spPr>
        <p:txBody>
          <a:bodyPr wrap="square" lIns="36576" tIns="18288" rIns="36576" bIns="18288" anchor="ctr">
            <a:spAutoFit/>
          </a:bodyPr>
          <a:lstStyle/>
          <a:p>
            <a:pPr algn="l"/>
            <a:r>
              <a:rPr sz="1200" b="0" i="0">
                <a:solidFill>
                  <a:srgbClr val="000962"/>
                </a:solidFill>
                <a:latin typeface="Arial"/>
              </a:rPr>
              <a:t>Miner turned data center</a:t>
            </a:r>
          </a:p>
        </p:txBody>
      </p:sp>
      <p:sp>
        <p:nvSpPr>
          <p:cNvPr id="37" name="TextBox 36"/>
          <p:cNvSpPr txBox="1"/>
          <p:nvPr/>
        </p:nvSpPr>
        <p:spPr>
          <a:xfrm>
            <a:off x="7004304" y="4279392"/>
            <a:ext cx="2075688" cy="384048"/>
          </a:xfrm>
          <a:prstGeom prst="rect">
            <a:avLst/>
          </a:prstGeom>
          <a:noFill/>
        </p:spPr>
        <p:txBody>
          <a:bodyPr wrap="square" lIns="36576" tIns="18288" rIns="36576" bIns="18288" anchor="ctr">
            <a:spAutoFit/>
          </a:bodyPr>
          <a:lstStyle/>
          <a:p>
            <a:pPr algn="l"/>
            <a:r>
              <a:rPr sz="1200" b="0" i="0">
                <a:solidFill>
                  <a:srgbClr val="000962"/>
                </a:solidFill>
                <a:latin typeface="Arial"/>
              </a:rPr>
              <a:t>10.1%</a:t>
            </a:r>
          </a:p>
        </p:txBody>
      </p:sp>
      <p:sp>
        <p:nvSpPr>
          <p:cNvPr id="38" name="TextBox 37"/>
          <p:cNvSpPr txBox="1"/>
          <p:nvPr/>
        </p:nvSpPr>
        <p:spPr>
          <a:xfrm>
            <a:off x="9153144" y="4279392"/>
            <a:ext cx="2304288" cy="384048"/>
          </a:xfrm>
          <a:prstGeom prst="rect">
            <a:avLst/>
          </a:prstGeom>
          <a:noFill/>
        </p:spPr>
        <p:txBody>
          <a:bodyPr wrap="square" lIns="36576" tIns="18288" rIns="36576" bIns="18288" anchor="ctr">
            <a:spAutoFit/>
          </a:bodyPr>
          <a:lstStyle/>
          <a:p>
            <a:pPr algn="l"/>
            <a:r>
              <a:rPr sz="1200" b="0" i="0">
                <a:solidFill>
                  <a:srgbClr val="000962"/>
                </a:solidFill>
                <a:latin typeface="Arial"/>
              </a:rPr>
              <a:t>8.2%</a:t>
            </a:r>
          </a:p>
        </p:txBody>
      </p:sp>
      <p:sp>
        <p:nvSpPr>
          <p:cNvPr id="39" name="TextBox 38"/>
          <p:cNvSpPr txBox="1"/>
          <p:nvPr/>
        </p:nvSpPr>
        <p:spPr>
          <a:xfrm>
            <a:off x="658368" y="4681728"/>
            <a:ext cx="10607040" cy="566928"/>
          </a:xfrm>
          <a:prstGeom prst="rect">
            <a:avLst/>
          </a:prstGeom>
          <a:noFill/>
        </p:spPr>
        <p:txBody>
          <a:bodyPr wrap="square" lIns="36576" tIns="18288" rIns="36576" bIns="18288">
            <a:spAutoFit/>
          </a:bodyPr>
          <a:lstStyle/>
          <a:p>
            <a:pPr algn="l"/>
            <a:r>
              <a:rPr sz="1250" b="1" i="0">
                <a:solidFill>
                  <a:srgbClr val="000962"/>
                </a:solidFill>
                <a:latin typeface="Arial"/>
              </a:rPr>
              <a:t>Top five were more than 76% of the disclosed book. </a:t>
            </a:r>
            <a:r>
              <a:rPr sz="1250" b="0" i="0">
                <a:solidFill>
                  <a:srgbClr val="000962"/>
                </a:solidFill>
                <a:latin typeface="Arial"/>
              </a:rPr>
              <a:t>Reporting adds SK Hynix, Micron, Nebius, and the miners Applied Digital, Riot, CleanSpark, Bitfarms and Bitdeer. A 13F does not disclose shorts or swaps, so the visible book was a fraction of the real exposure.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21207" y="6323076"/>
            <a:ext cx="5394960" cy="146304"/>
          </a:xfrm>
          <a:prstGeom prst="rect">
            <a:avLst/>
          </a:prstGeom>
          <a:noFill/>
        </p:spPr>
        <p:txBody>
          <a:bodyPr wrap="square" lIns="0" tIns="0" r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tIns="0" r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tIns="0" r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tIns="18288" rIns="36576" bIns="18288">
            <a:spAutoFit/>
          </a:bodyPr>
          <a:lstStyle/>
          <a:p>
            <a:pPr algn="l"/>
            <a:r>
              <a:rPr sz="3200" b="1" i="0">
                <a:solidFill>
                  <a:srgbClr val="0468FF"/>
                </a:solidFill>
                <a:latin typeface="Arial"/>
              </a:rPr>
              <a:t>The Leverage: Why It Happened So Fast</a:t>
            </a:r>
          </a:p>
        </p:txBody>
      </p:sp>
      <p:sp>
        <p:nvSpPr>
          <p:cNvPr id="9" name="TextBox 8"/>
          <p:cNvSpPr txBox="1"/>
          <p:nvPr/>
        </p:nvSpPr>
        <p:spPr>
          <a:xfrm>
            <a:off x="713232" y="1353312"/>
            <a:ext cx="10881360" cy="310896"/>
          </a:xfrm>
          <a:prstGeom prst="rect">
            <a:avLst/>
          </a:prstGeom>
          <a:noFill/>
        </p:spPr>
        <p:txBody>
          <a:bodyPr wrap="square" lIns="36576" tIns="18288" rIns="36576" bIns="18288">
            <a:spAutoFit/>
          </a:bodyPr>
          <a:lstStyle/>
          <a:p>
            <a:pPr algn="l"/>
            <a:r>
              <a:rPr sz="1600" b="0" i="0">
                <a:solidFill>
                  <a:srgbClr val="000962"/>
                </a:solidFill>
                <a:latin typeface="Arial"/>
              </a:rPr>
              <a:t>Four to one turns a bad month into a terminal one. That is all leverage does.</a:t>
            </a:r>
          </a:p>
        </p:txBody>
      </p:sp>
      <p:sp>
        <p:nvSpPr>
          <p:cNvPr id="10" name="Rectangle 9"/>
          <p:cNvSpPr/>
          <p:nvPr/>
        </p:nvSpPr>
        <p:spPr>
          <a:xfrm>
            <a:off x="777240" y="1920240"/>
            <a:ext cx="5074920" cy="132588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87552" y="2084831"/>
            <a:ext cx="4663440" cy="274320"/>
          </a:xfrm>
          <a:prstGeom prst="rect">
            <a:avLst/>
          </a:prstGeom>
          <a:noFill/>
        </p:spPr>
        <p:txBody>
          <a:bodyPr wrap="square" lIns="36576" tIns="18288" rIns="36576" bIns="18288">
            <a:spAutoFit/>
          </a:bodyPr>
          <a:lstStyle/>
          <a:p>
            <a:pPr algn="l"/>
            <a:r>
              <a:rPr sz="1500" b="1" i="0">
                <a:solidFill>
                  <a:srgbClr val="0468FF"/>
                </a:solidFill>
                <a:latin typeface="Arial"/>
              </a:rPr>
              <a:t>The structure</a:t>
            </a:r>
          </a:p>
        </p:txBody>
      </p:sp>
      <p:sp>
        <p:nvSpPr>
          <p:cNvPr id="12" name="TextBox 11"/>
          <p:cNvSpPr txBox="1"/>
          <p:nvPr/>
        </p:nvSpPr>
        <p:spPr>
          <a:xfrm>
            <a:off x="987552" y="2432304"/>
            <a:ext cx="4663440" cy="731520"/>
          </a:xfrm>
          <a:prstGeom prst="rect">
            <a:avLst/>
          </a:prstGeom>
          <a:noFill/>
        </p:spPr>
        <p:txBody>
          <a:bodyPr wrap="square" lIns="36576" tIns="18288" rIns="36576" bIns="18288">
            <a:spAutoFit/>
          </a:bodyPr>
          <a:lstStyle/>
          <a:p>
            <a:pPr algn="l">
              <a:lnSpc>
                <a:spcPct val="100000"/>
              </a:lnSpc>
            </a:pPr>
            <a:r>
              <a:rPr sz="1250" b="0" i="0">
                <a:solidFill>
                  <a:srgbClr val="000962"/>
                </a:solidFill>
                <a:latin typeface="Arial"/>
              </a:rPr>
              <a:t>Gross exposure reported as high as four times capital. Prime brokers were Goldman Sachs, JPMorgan Chase and Bank of America. They issue the margin calls, and the fund does not get a vote.</a:t>
            </a:r>
          </a:p>
        </p:txBody>
      </p:sp>
      <p:sp>
        <p:nvSpPr>
          <p:cNvPr id="13" name="Rectangle 12"/>
          <p:cNvSpPr/>
          <p:nvPr/>
        </p:nvSpPr>
        <p:spPr>
          <a:xfrm>
            <a:off x="6336792" y="1920240"/>
            <a:ext cx="5074920" cy="132588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47104" y="2084831"/>
            <a:ext cx="4663440" cy="274320"/>
          </a:xfrm>
          <a:prstGeom prst="rect">
            <a:avLst/>
          </a:prstGeom>
          <a:noFill/>
        </p:spPr>
        <p:txBody>
          <a:bodyPr wrap="square" lIns="36576" tIns="18288" rIns="36576" bIns="18288">
            <a:spAutoFit/>
          </a:bodyPr>
          <a:lstStyle/>
          <a:p>
            <a:pPr algn="l"/>
            <a:r>
              <a:rPr sz="1500" b="1" i="0">
                <a:solidFill>
                  <a:srgbClr val="0468FF"/>
                </a:solidFill>
                <a:latin typeface="Arial"/>
              </a:rPr>
              <a:t>The hedge that was not a hedge</a:t>
            </a:r>
          </a:p>
        </p:txBody>
      </p:sp>
      <p:sp>
        <p:nvSpPr>
          <p:cNvPr id="15" name="TextBox 14"/>
          <p:cNvSpPr txBox="1"/>
          <p:nvPr/>
        </p:nvSpPr>
        <p:spPr>
          <a:xfrm>
            <a:off x="6547104" y="2432304"/>
            <a:ext cx="4663440" cy="731520"/>
          </a:xfrm>
          <a:prstGeom prst="rect">
            <a:avLst/>
          </a:prstGeom>
          <a:noFill/>
        </p:spPr>
        <p:txBody>
          <a:bodyPr wrap="square" lIns="36576" tIns="18288" rIns="36576" bIns="18288">
            <a:spAutoFit/>
          </a:bodyPr>
          <a:lstStyle/>
          <a:p>
            <a:pPr algn="l">
              <a:lnSpc>
                <a:spcPct val="100000"/>
              </a:lnSpc>
            </a:pPr>
            <a:r>
              <a:rPr sz="1250" b="0" i="0">
                <a:solidFill>
                  <a:srgbClr val="000962"/>
                </a:solidFill>
                <a:latin typeface="Arial"/>
              </a:rPr>
              <a:t>He held puts on the SMH semiconductor ETF and Nvidia against small, high beta longs. Same underlying bet in different sizes. The longs fell far harder than the hedges.</a:t>
            </a:r>
          </a:p>
        </p:txBody>
      </p:sp>
      <p:sp>
        <p:nvSpPr>
          <p:cNvPr id="16" name="TextBox 15"/>
          <p:cNvSpPr txBox="1"/>
          <p:nvPr/>
        </p:nvSpPr>
        <p:spPr>
          <a:xfrm>
            <a:off x="777240" y="3474720"/>
            <a:ext cx="10607040" cy="292608"/>
          </a:xfrm>
          <a:prstGeom prst="rect">
            <a:avLst/>
          </a:prstGeom>
          <a:noFill/>
        </p:spPr>
        <p:txBody>
          <a:bodyPr wrap="square" lIns="36576" tIns="18288" rIns="36576" bIns="18288">
            <a:spAutoFit/>
          </a:bodyPr>
          <a:lstStyle/>
          <a:p>
            <a:pPr algn="l"/>
            <a:r>
              <a:rPr sz="1700" b="1" i="0">
                <a:solidFill>
                  <a:srgbClr val="0468FF"/>
                </a:solidFill>
                <a:latin typeface="Arial"/>
              </a:rPr>
              <a:t>The arithmetic</a:t>
            </a:r>
          </a:p>
        </p:txBody>
      </p:sp>
      <p:sp>
        <p:nvSpPr>
          <p:cNvPr id="17" name="Rectangle 16"/>
          <p:cNvSpPr/>
          <p:nvPr/>
        </p:nvSpPr>
        <p:spPr>
          <a:xfrm>
            <a:off x="777240" y="3858768"/>
            <a:ext cx="3291840" cy="114300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86968" y="3922776"/>
            <a:ext cx="3072384" cy="182880"/>
          </a:xfrm>
          <a:prstGeom prst="rect">
            <a:avLst/>
          </a:prstGeom>
          <a:noFill/>
        </p:spPr>
        <p:txBody>
          <a:bodyPr wrap="square" lIns="36576" tIns="18288" rIns="36576" bIns="18288">
            <a:spAutoFit/>
          </a:bodyPr>
          <a:lstStyle/>
          <a:p>
            <a:pPr algn="l"/>
            <a:r>
              <a:rPr sz="1050" b="0" i="0">
                <a:solidFill>
                  <a:srgbClr val="46648C"/>
                </a:solidFill>
                <a:latin typeface="Arial"/>
              </a:rPr>
              <a:t>Gross exposure</a:t>
            </a:r>
          </a:p>
        </p:txBody>
      </p:sp>
      <p:sp>
        <p:nvSpPr>
          <p:cNvPr id="19" name="TextBox 18"/>
          <p:cNvSpPr txBox="1"/>
          <p:nvPr/>
        </p:nvSpPr>
        <p:spPr>
          <a:xfrm>
            <a:off x="886968" y="4114800"/>
            <a:ext cx="3072384" cy="310896"/>
          </a:xfrm>
          <a:prstGeom prst="rect">
            <a:avLst/>
          </a:prstGeom>
          <a:noFill/>
        </p:spPr>
        <p:txBody>
          <a:bodyPr wrap="square" lIns="36576" tIns="18288" rIns="36576" bIns="18288">
            <a:spAutoFit/>
          </a:bodyPr>
          <a:lstStyle/>
          <a:p>
            <a:pPr algn="l"/>
            <a:r>
              <a:rPr sz="2200" b="1" i="0">
                <a:solidFill>
                  <a:srgbClr val="0468FF"/>
                </a:solidFill>
                <a:latin typeface="Arial"/>
              </a:rPr>
              <a:t>4x</a:t>
            </a:r>
          </a:p>
        </p:txBody>
      </p:sp>
      <p:sp>
        <p:nvSpPr>
          <p:cNvPr id="20" name="TextBox 19"/>
          <p:cNvSpPr txBox="1"/>
          <p:nvPr/>
        </p:nvSpPr>
        <p:spPr>
          <a:xfrm>
            <a:off x="886968" y="4480559"/>
            <a:ext cx="3072384" cy="448056"/>
          </a:xfrm>
          <a:prstGeom prst="rect">
            <a:avLst/>
          </a:prstGeom>
          <a:noFill/>
        </p:spPr>
        <p:txBody>
          <a:bodyPr wrap="square" lIns="36576" tIns="18288" rIns="36576" bIns="18288">
            <a:spAutoFit/>
          </a:bodyPr>
          <a:lstStyle/>
          <a:p>
            <a:pPr algn="l"/>
            <a:r>
              <a:rPr sz="1100" b="0" i="0">
                <a:solidFill>
                  <a:srgbClr val="000962"/>
                </a:solidFill>
                <a:latin typeface="Arial"/>
              </a:rPr>
              <a:t>Four dollars working per dollar of capital</a:t>
            </a:r>
          </a:p>
        </p:txBody>
      </p:sp>
      <p:sp>
        <p:nvSpPr>
          <p:cNvPr id="21" name="Rectangle 20"/>
          <p:cNvSpPr/>
          <p:nvPr/>
        </p:nvSpPr>
        <p:spPr>
          <a:xfrm>
            <a:off x="4434840" y="3858768"/>
            <a:ext cx="3291840" cy="114300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44568" y="3922776"/>
            <a:ext cx="3072384" cy="182880"/>
          </a:xfrm>
          <a:prstGeom prst="rect">
            <a:avLst/>
          </a:prstGeom>
          <a:noFill/>
        </p:spPr>
        <p:txBody>
          <a:bodyPr wrap="square" lIns="36576" tIns="18288" rIns="36576" bIns="18288">
            <a:spAutoFit/>
          </a:bodyPr>
          <a:lstStyle/>
          <a:p>
            <a:pPr algn="l"/>
            <a:r>
              <a:rPr sz="1050" b="0" i="0">
                <a:solidFill>
                  <a:srgbClr val="46648C"/>
                </a:solidFill>
                <a:latin typeface="Arial"/>
              </a:rPr>
              <a:t>July decline in core longs</a:t>
            </a:r>
          </a:p>
        </p:txBody>
      </p:sp>
      <p:sp>
        <p:nvSpPr>
          <p:cNvPr id="23" name="TextBox 22"/>
          <p:cNvSpPr txBox="1"/>
          <p:nvPr/>
        </p:nvSpPr>
        <p:spPr>
          <a:xfrm>
            <a:off x="4544568" y="4114800"/>
            <a:ext cx="3072384" cy="310896"/>
          </a:xfrm>
          <a:prstGeom prst="rect">
            <a:avLst/>
          </a:prstGeom>
          <a:noFill/>
        </p:spPr>
        <p:txBody>
          <a:bodyPr wrap="square" lIns="36576" tIns="18288" rIns="36576" bIns="18288">
            <a:spAutoFit/>
          </a:bodyPr>
          <a:lstStyle/>
          <a:p>
            <a:pPr algn="l"/>
            <a:r>
              <a:rPr sz="2200" b="1" i="0">
                <a:solidFill>
                  <a:srgbClr val="0468FF"/>
                </a:solidFill>
                <a:latin typeface="Arial"/>
              </a:rPr>
              <a:t>36% to 55%</a:t>
            </a:r>
          </a:p>
        </p:txBody>
      </p:sp>
      <p:sp>
        <p:nvSpPr>
          <p:cNvPr id="24" name="TextBox 23"/>
          <p:cNvSpPr txBox="1"/>
          <p:nvPr/>
        </p:nvSpPr>
        <p:spPr>
          <a:xfrm>
            <a:off x="4544568" y="4480559"/>
            <a:ext cx="3072384" cy="448056"/>
          </a:xfrm>
          <a:prstGeom prst="rect">
            <a:avLst/>
          </a:prstGeom>
          <a:noFill/>
        </p:spPr>
        <p:txBody>
          <a:bodyPr wrap="square" lIns="36576" tIns="18288" rIns="36576" bIns="18288">
            <a:spAutoFit/>
          </a:bodyPr>
          <a:lstStyle/>
          <a:p>
            <a:pPr algn="l"/>
            <a:r>
              <a:rPr sz="1100" b="0" i="0">
                <a:solidFill>
                  <a:srgbClr val="000962"/>
                </a:solidFill>
                <a:latin typeface="Arial"/>
              </a:rPr>
              <a:t>Across the largest holdings</a:t>
            </a:r>
          </a:p>
        </p:txBody>
      </p:sp>
      <p:sp>
        <p:nvSpPr>
          <p:cNvPr id="25" name="Rectangle 24"/>
          <p:cNvSpPr/>
          <p:nvPr/>
        </p:nvSpPr>
        <p:spPr>
          <a:xfrm>
            <a:off x="8092440" y="3858768"/>
            <a:ext cx="3291840" cy="114300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02167" y="3922776"/>
            <a:ext cx="3072384" cy="182880"/>
          </a:xfrm>
          <a:prstGeom prst="rect">
            <a:avLst/>
          </a:prstGeom>
          <a:noFill/>
        </p:spPr>
        <p:txBody>
          <a:bodyPr wrap="square" lIns="36576" tIns="18288" rIns="36576" bIns="18288">
            <a:spAutoFit/>
          </a:bodyPr>
          <a:lstStyle/>
          <a:p>
            <a:pPr algn="l"/>
            <a:r>
              <a:rPr sz="1050" b="0" i="0">
                <a:solidFill>
                  <a:srgbClr val="46648C"/>
                </a:solidFill>
                <a:latin typeface="Arial"/>
              </a:rPr>
              <a:t>Hit to equity</a:t>
            </a:r>
          </a:p>
        </p:txBody>
      </p:sp>
      <p:sp>
        <p:nvSpPr>
          <p:cNvPr id="27" name="TextBox 26"/>
          <p:cNvSpPr txBox="1"/>
          <p:nvPr/>
        </p:nvSpPr>
        <p:spPr>
          <a:xfrm>
            <a:off x="8202167" y="4114800"/>
            <a:ext cx="3072384" cy="310896"/>
          </a:xfrm>
          <a:prstGeom prst="rect">
            <a:avLst/>
          </a:prstGeom>
          <a:noFill/>
        </p:spPr>
        <p:txBody>
          <a:bodyPr wrap="square" lIns="36576" tIns="18288" rIns="36576" bIns="18288">
            <a:spAutoFit/>
          </a:bodyPr>
          <a:lstStyle/>
          <a:p>
            <a:pPr algn="l"/>
            <a:r>
              <a:rPr sz="2200" b="1" i="0">
                <a:solidFill>
                  <a:srgbClr val="0468FF"/>
                </a:solidFill>
                <a:latin typeface="Arial"/>
              </a:rPr>
              <a:t>Well over 100%</a:t>
            </a:r>
          </a:p>
        </p:txBody>
      </p:sp>
      <p:sp>
        <p:nvSpPr>
          <p:cNvPr id="28" name="TextBox 27"/>
          <p:cNvSpPr txBox="1"/>
          <p:nvPr/>
        </p:nvSpPr>
        <p:spPr>
          <a:xfrm>
            <a:off x="8202167" y="4480559"/>
            <a:ext cx="3072384" cy="448056"/>
          </a:xfrm>
          <a:prstGeom prst="rect">
            <a:avLst/>
          </a:prstGeom>
          <a:noFill/>
        </p:spPr>
        <p:txBody>
          <a:bodyPr wrap="square" lIns="36576" tIns="18288" rIns="36576" bIns="18288">
            <a:spAutoFit/>
          </a:bodyPr>
          <a:lstStyle/>
          <a:p>
            <a:pPr algn="l"/>
            <a:r>
              <a:rPr sz="1100" b="0" i="0">
                <a:solidFill>
                  <a:srgbClr val="000962"/>
                </a:solidFill>
                <a:latin typeface="Arial"/>
              </a:rPr>
              <a:t>Before the shorts added to the loss</a:t>
            </a:r>
          </a:p>
        </p:txBody>
      </p:sp>
      <p:sp>
        <p:nvSpPr>
          <p:cNvPr id="29" name="TextBox 28"/>
          <p:cNvSpPr txBox="1"/>
          <p:nvPr/>
        </p:nvSpPr>
        <p:spPr>
          <a:xfrm>
            <a:off x="777240" y="5138928"/>
            <a:ext cx="10607040" cy="274320"/>
          </a:xfrm>
          <a:prstGeom prst="rect">
            <a:avLst/>
          </a:prstGeom>
          <a:noFill/>
        </p:spPr>
        <p:txBody>
          <a:bodyPr wrap="square" lIns="36576" tIns="18288" rIns="36576" bIns="18288">
            <a:spAutoFit/>
          </a:bodyPr>
          <a:lstStyle/>
          <a:p>
            <a:pPr algn="l"/>
            <a:r>
              <a:rPr sz="1350" b="1" i="0">
                <a:solidFill>
                  <a:srgbClr val="0468FF"/>
                </a:solidFill>
                <a:latin typeface="Arial"/>
              </a:rPr>
              <a:t>Leverage decided how fast he found out he was wrong. It did not decide that he was wrong.</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21207" y="6323076"/>
            <a:ext cx="5394960" cy="146304"/>
          </a:xfrm>
          <a:prstGeom prst="rect">
            <a:avLst/>
          </a:prstGeom>
          <a:noFill/>
        </p:spPr>
        <p:txBody>
          <a:bodyPr wrap="square" lIns="0" tIns="0" r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tIns="0" r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tIns="0" r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tIns="18288" rIns="36576" bIns="18288">
            <a:spAutoFit/>
          </a:bodyPr>
          <a:lstStyle/>
          <a:p>
            <a:pPr algn="l"/>
            <a:r>
              <a:rPr sz="3200" b="1" i="0">
                <a:solidFill>
                  <a:srgbClr val="0468FF"/>
                </a:solidFill>
                <a:latin typeface="Arial"/>
              </a:rPr>
              <a:t>Two Letters, Six Days Apart</a:t>
            </a:r>
          </a:p>
        </p:txBody>
      </p:sp>
      <p:sp>
        <p:nvSpPr>
          <p:cNvPr id="9" name="TextBox 8"/>
          <p:cNvSpPr txBox="1"/>
          <p:nvPr/>
        </p:nvSpPr>
        <p:spPr>
          <a:xfrm>
            <a:off x="713232" y="1353312"/>
            <a:ext cx="10881360" cy="310896"/>
          </a:xfrm>
          <a:prstGeom prst="rect">
            <a:avLst/>
          </a:prstGeom>
          <a:noFill/>
        </p:spPr>
        <p:txBody>
          <a:bodyPr wrap="square" lIns="36576" tIns="18288" rIns="36576" bIns="18288">
            <a:spAutoFit/>
          </a:bodyPr>
          <a:lstStyle/>
          <a:p>
            <a:pPr algn="l"/>
            <a:r>
              <a:rPr sz="1600" b="0" i="0">
                <a:solidFill>
                  <a:srgbClr val="000962"/>
                </a:solidFill>
                <a:latin typeface="Arial"/>
              </a:rPr>
              <a:t>The most instructive document in this whole episode.</a:t>
            </a:r>
          </a:p>
        </p:txBody>
      </p:sp>
      <p:sp>
        <p:nvSpPr>
          <p:cNvPr id="10" name="Rectangle 9"/>
          <p:cNvSpPr/>
          <p:nvPr/>
        </p:nvSpPr>
        <p:spPr>
          <a:xfrm>
            <a:off x="777240" y="1901952"/>
            <a:ext cx="5074920" cy="306324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87552" y="2066543"/>
            <a:ext cx="4663440" cy="274320"/>
          </a:xfrm>
          <a:prstGeom prst="rect">
            <a:avLst/>
          </a:prstGeom>
          <a:noFill/>
        </p:spPr>
        <p:txBody>
          <a:bodyPr wrap="square" lIns="36576" tIns="18288" rIns="36576" bIns="18288">
            <a:spAutoFit/>
          </a:bodyPr>
          <a:lstStyle/>
          <a:p>
            <a:pPr algn="l"/>
            <a:r>
              <a:rPr sz="1500" b="1" i="0">
                <a:solidFill>
                  <a:srgbClr val="0468FF"/>
                </a:solidFill>
                <a:latin typeface="Arial"/>
              </a:rPr>
              <a:t>July 24, 2026</a:t>
            </a:r>
          </a:p>
        </p:txBody>
      </p:sp>
      <p:sp>
        <p:nvSpPr>
          <p:cNvPr id="12" name="TextBox 11"/>
          <p:cNvSpPr txBox="1"/>
          <p:nvPr/>
        </p:nvSpPr>
        <p:spPr>
          <a:xfrm>
            <a:off x="987552" y="2432304"/>
            <a:ext cx="4663440" cy="2377440"/>
          </a:xfrm>
          <a:prstGeom prst="rect">
            <a:avLst/>
          </a:prstGeom>
          <a:noFill/>
        </p:spPr>
        <p:txBody>
          <a:bodyPr wrap="square" lIns="36576" tIns="18288" rIns="36576" bIns="18288">
            <a:spAutoFit/>
          </a:bodyPr>
          <a:lstStyle/>
          <a:p>
            <a:pPr algn="l">
              <a:spcAft>
                <a:spcPts val="800"/>
              </a:spcAft>
            </a:pPr>
            <a:r>
              <a:rPr sz="1250" b="0" i="0">
                <a:solidFill>
                  <a:srgbClr val="000962"/>
                </a:solidFill>
                <a:latin typeface="Arial"/>
              </a:rPr>
              <a:t>Reports a 439% net return for the first half of 2026.</a:t>
            </a:r>
          </a:p>
          <a:p>
            <a:pPr algn="l">
              <a:spcAft>
                <a:spcPts val="800"/>
              </a:spcAft>
            </a:pPr>
            <a:r>
              <a:rPr sz="1250" b="0" i="0">
                <a:solidFill>
                  <a:srgbClr val="000962"/>
                </a:solidFill>
                <a:latin typeface="Arial"/>
              </a:rPr>
              <a:t>Calls the selloff in AI stocks one of the best buying opportunities since early 2025.</a:t>
            </a:r>
          </a:p>
          <a:p>
            <a:pPr algn="l">
              <a:spcAft>
                <a:spcPts val="800"/>
              </a:spcAft>
            </a:pPr>
            <a:r>
              <a:rPr sz="1250" b="0" i="0">
                <a:solidFill>
                  <a:srgbClr val="000962"/>
                </a:solidFill>
                <a:latin typeface="Arial"/>
              </a:rPr>
              <a:t>Invites investors to wire more money starting August 1.</a:t>
            </a:r>
          </a:p>
          <a:p>
            <a:pPr algn="l">
              <a:spcAft>
                <a:spcPts val="800"/>
              </a:spcAft>
            </a:pPr>
            <a:r>
              <a:rPr sz="1250" b="0" i="0">
                <a:solidFill>
                  <a:srgbClr val="000962"/>
                </a:solidFill>
                <a:latin typeface="Arial"/>
              </a:rPr>
              <a:t>Postscript: "At times we call out opportunities that seem like a particularly good time to add funds, if you have been waiting for one."</a:t>
            </a:r>
          </a:p>
        </p:txBody>
      </p:sp>
      <p:sp>
        <p:nvSpPr>
          <p:cNvPr id="13" name="Rectangle 12"/>
          <p:cNvSpPr/>
          <p:nvPr/>
        </p:nvSpPr>
        <p:spPr>
          <a:xfrm>
            <a:off x="6336792" y="1901952"/>
            <a:ext cx="5074920" cy="306324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47104" y="2066543"/>
            <a:ext cx="4663440" cy="274320"/>
          </a:xfrm>
          <a:prstGeom prst="rect">
            <a:avLst/>
          </a:prstGeom>
          <a:noFill/>
        </p:spPr>
        <p:txBody>
          <a:bodyPr wrap="square" lIns="36576" tIns="18288" rIns="36576" bIns="18288">
            <a:spAutoFit/>
          </a:bodyPr>
          <a:lstStyle/>
          <a:p>
            <a:pPr algn="l"/>
            <a:r>
              <a:rPr sz="1500" b="1" i="0">
                <a:solidFill>
                  <a:srgbClr val="0468FF"/>
                </a:solidFill>
                <a:latin typeface="Arial"/>
              </a:rPr>
              <a:t>July 30, 2026</a:t>
            </a:r>
          </a:p>
        </p:txBody>
      </p:sp>
      <p:sp>
        <p:nvSpPr>
          <p:cNvPr id="15" name="TextBox 14"/>
          <p:cNvSpPr txBox="1"/>
          <p:nvPr/>
        </p:nvSpPr>
        <p:spPr>
          <a:xfrm>
            <a:off x="6547104" y="2432304"/>
            <a:ext cx="4663440" cy="2377440"/>
          </a:xfrm>
          <a:prstGeom prst="rect">
            <a:avLst/>
          </a:prstGeom>
          <a:noFill/>
        </p:spPr>
        <p:txBody>
          <a:bodyPr wrap="square" lIns="36576" tIns="18288" rIns="36576" bIns="18288">
            <a:spAutoFit/>
          </a:bodyPr>
          <a:lstStyle/>
          <a:p>
            <a:pPr algn="l">
              <a:spcAft>
                <a:spcPts val="800"/>
              </a:spcAft>
            </a:pPr>
            <a:r>
              <a:rPr sz="1250" b="0" i="0">
                <a:solidFill>
                  <a:srgbClr val="000962"/>
                </a:solidFill>
                <a:latin typeface="Arial"/>
              </a:rPr>
              <a:t>Net performance for the month, unaudited: down 67%.</a:t>
            </a:r>
          </a:p>
          <a:p>
            <a:pPr algn="l">
              <a:spcAft>
                <a:spcPts val="800"/>
              </a:spcAft>
            </a:pPr>
            <a:r>
              <a:rPr sz="1250" b="0" i="0">
                <a:solidFill>
                  <a:srgbClr val="000962"/>
                </a:solidFill>
                <a:latin typeface="Arial"/>
              </a:rPr>
              <a:t>Net performance for the year: still up 80%.</a:t>
            </a:r>
          </a:p>
          <a:p>
            <a:pPr algn="l">
              <a:spcAft>
                <a:spcPts val="800"/>
              </a:spcAft>
            </a:pPr>
            <a:r>
              <a:rPr sz="1250" b="0" i="0">
                <a:solidFill>
                  <a:srgbClr val="000962"/>
                </a:solidFill>
                <a:latin typeface="Arial"/>
              </a:rPr>
              <a:t>"We let you down this month."</a:t>
            </a:r>
          </a:p>
          <a:p>
            <a:pPr algn="l">
              <a:spcAft>
                <a:spcPts val="800"/>
              </a:spcAft>
            </a:pPr>
            <a:r>
              <a:rPr sz="1250" b="0" i="0">
                <a:solidFill>
                  <a:srgbClr val="000962"/>
                </a:solidFill>
                <a:latin typeface="Arial"/>
              </a:rPr>
              <a:t>"We came closer to permanent capital impairment than is acceptable to us."</a:t>
            </a:r>
          </a:p>
        </p:txBody>
      </p:sp>
      <p:sp>
        <p:nvSpPr>
          <p:cNvPr id="16" name="TextBox 15"/>
          <p:cNvSpPr txBox="1"/>
          <p:nvPr/>
        </p:nvSpPr>
        <p:spPr>
          <a:xfrm>
            <a:off x="777240" y="5084064"/>
            <a:ext cx="10607040" cy="292608"/>
          </a:xfrm>
          <a:prstGeom prst="rect">
            <a:avLst/>
          </a:prstGeom>
          <a:noFill/>
        </p:spPr>
        <p:txBody>
          <a:bodyPr wrap="square" lIns="36576" tIns="18288" rIns="36576" bIns="18288">
            <a:spAutoFit/>
          </a:bodyPr>
          <a:lstStyle/>
          <a:p>
            <a:pPr algn="l"/>
            <a:r>
              <a:rPr sz="1350" b="1" i="0">
                <a:solidFill>
                  <a:srgbClr val="0468FF"/>
                </a:solidFill>
                <a:latin typeface="Arial"/>
              </a:rPr>
              <a:t>He was asking for more money six days before he lost control of the portfolio. He was not lying. He believed it.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21207" y="6323076"/>
            <a:ext cx="5394960" cy="146304"/>
          </a:xfrm>
          <a:prstGeom prst="rect">
            <a:avLst/>
          </a:prstGeom>
          <a:noFill/>
        </p:spPr>
        <p:txBody>
          <a:bodyPr wrap="square" lIns="0" tIns="0" r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tIns="0" r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tIns="0" r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tIns="18288" rIns="36576" bIns="18288">
            <a:spAutoFit/>
          </a:bodyPr>
          <a:lstStyle/>
          <a:p>
            <a:pPr algn="l"/>
            <a:r>
              <a:rPr sz="3200" b="1" i="0">
                <a:solidFill>
                  <a:srgbClr val="0468FF"/>
                </a:solidFill>
                <a:latin typeface="Arial"/>
              </a:rPr>
              <a:t>This Was Not an AI Crash</a:t>
            </a:r>
          </a:p>
        </p:txBody>
      </p:sp>
      <p:sp>
        <p:nvSpPr>
          <p:cNvPr id="9" name="TextBox 8"/>
          <p:cNvSpPr txBox="1"/>
          <p:nvPr/>
        </p:nvSpPr>
        <p:spPr>
          <a:xfrm>
            <a:off x="713232" y="1353312"/>
            <a:ext cx="10881360" cy="310896"/>
          </a:xfrm>
          <a:prstGeom prst="rect">
            <a:avLst/>
          </a:prstGeom>
          <a:noFill/>
        </p:spPr>
        <p:txBody>
          <a:bodyPr wrap="square" lIns="36576" tIns="18288" rIns="36576" bIns="18288">
            <a:spAutoFit/>
          </a:bodyPr>
          <a:lstStyle/>
          <a:p>
            <a:pPr algn="l"/>
            <a:r>
              <a:rPr sz="1600" b="0" i="0">
                <a:solidFill>
                  <a:srgbClr val="000962"/>
                </a:solidFill>
                <a:latin typeface="Arial"/>
              </a:rPr>
              <a:t>The market rotated out of exactly what he owned and into exactly what he was short.</a:t>
            </a:r>
          </a:p>
        </p:txBody>
      </p:sp>
      <p:sp>
        <p:nvSpPr>
          <p:cNvPr id="10" name="TextBox 9"/>
          <p:cNvSpPr txBox="1"/>
          <p:nvPr/>
        </p:nvSpPr>
        <p:spPr>
          <a:xfrm>
            <a:off x="731520" y="1847088"/>
            <a:ext cx="5120640" cy="256032"/>
          </a:xfrm>
          <a:prstGeom prst="rect">
            <a:avLst/>
          </a:prstGeom>
          <a:noFill/>
        </p:spPr>
        <p:txBody>
          <a:bodyPr wrap="square" lIns="36576" tIns="18288" rIns="36576" bIns="18288">
            <a:spAutoFit/>
          </a:bodyPr>
          <a:lstStyle/>
          <a:p>
            <a:pPr algn="l"/>
            <a:r>
              <a:rPr sz="1350" b="1" i="0">
                <a:solidFill>
                  <a:srgbClr val="0468FF"/>
                </a:solidFill>
                <a:latin typeface="Arial"/>
              </a:rPr>
              <a:t>What he was long (June 30 to July 29)</a:t>
            </a:r>
          </a:p>
        </p:txBody>
      </p:sp>
      <p:sp>
        <p:nvSpPr>
          <p:cNvPr id="11" name="Rectangle 10"/>
          <p:cNvSpPr/>
          <p:nvPr/>
        </p:nvSpPr>
        <p:spPr>
          <a:xfrm>
            <a:off x="731520" y="2194560"/>
            <a:ext cx="5120640" cy="38404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6112" y="2221991"/>
            <a:ext cx="3291840" cy="329184"/>
          </a:xfrm>
          <a:prstGeom prst="rect">
            <a:avLst/>
          </a:prstGeom>
          <a:noFill/>
        </p:spPr>
        <p:txBody>
          <a:bodyPr wrap="square" lIns="36576" tIns="18288" rIns="36576" bIns="18288" anchor="ctr">
            <a:spAutoFit/>
          </a:bodyPr>
          <a:lstStyle/>
          <a:p>
            <a:pPr algn="l"/>
            <a:r>
              <a:rPr sz="1250" b="0" i="0">
                <a:solidFill>
                  <a:srgbClr val="000962"/>
                </a:solidFill>
                <a:latin typeface="Arial"/>
              </a:rPr>
              <a:t>SanDisk</a:t>
            </a:r>
          </a:p>
        </p:txBody>
      </p:sp>
      <p:sp>
        <p:nvSpPr>
          <p:cNvPr id="13" name="TextBox 12"/>
          <p:cNvSpPr txBox="1"/>
          <p:nvPr/>
        </p:nvSpPr>
        <p:spPr>
          <a:xfrm>
            <a:off x="4114800" y="2221991"/>
            <a:ext cx="1572768" cy="329184"/>
          </a:xfrm>
          <a:prstGeom prst="rect">
            <a:avLst/>
          </a:prstGeom>
          <a:noFill/>
        </p:spPr>
        <p:txBody>
          <a:bodyPr wrap="square" lIns="36576" tIns="18288" rIns="36576" bIns="18288" anchor="ctr">
            <a:spAutoFit/>
          </a:bodyPr>
          <a:lstStyle/>
          <a:p>
            <a:pPr algn="r"/>
            <a:r>
              <a:rPr sz="1300" b="1" i="0">
                <a:solidFill>
                  <a:srgbClr val="0468FF"/>
                </a:solidFill>
                <a:latin typeface="Arial"/>
              </a:rPr>
              <a:t>-55.3%</a:t>
            </a:r>
          </a:p>
        </p:txBody>
      </p:sp>
      <p:sp>
        <p:nvSpPr>
          <p:cNvPr id="14" name="Rectangle 13"/>
          <p:cNvSpPr/>
          <p:nvPr/>
        </p:nvSpPr>
        <p:spPr>
          <a:xfrm>
            <a:off x="731520" y="2615184"/>
            <a:ext cx="5120640" cy="38404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96112" y="2642615"/>
            <a:ext cx="3291840" cy="329184"/>
          </a:xfrm>
          <a:prstGeom prst="rect">
            <a:avLst/>
          </a:prstGeom>
          <a:noFill/>
        </p:spPr>
        <p:txBody>
          <a:bodyPr wrap="square" lIns="36576" tIns="18288" rIns="36576" bIns="18288" anchor="ctr">
            <a:spAutoFit/>
          </a:bodyPr>
          <a:lstStyle/>
          <a:p>
            <a:pPr algn="l"/>
            <a:r>
              <a:rPr sz="1250" b="0" i="0">
                <a:solidFill>
                  <a:srgbClr val="000962"/>
                </a:solidFill>
                <a:latin typeface="Arial"/>
              </a:rPr>
              <a:t>Nebius</a:t>
            </a:r>
          </a:p>
        </p:txBody>
      </p:sp>
      <p:sp>
        <p:nvSpPr>
          <p:cNvPr id="16" name="TextBox 15"/>
          <p:cNvSpPr txBox="1"/>
          <p:nvPr/>
        </p:nvSpPr>
        <p:spPr>
          <a:xfrm>
            <a:off x="4114800" y="2642615"/>
            <a:ext cx="1572768" cy="329184"/>
          </a:xfrm>
          <a:prstGeom prst="rect">
            <a:avLst/>
          </a:prstGeom>
          <a:noFill/>
        </p:spPr>
        <p:txBody>
          <a:bodyPr wrap="square" lIns="36576" tIns="18288" rIns="36576" bIns="18288" anchor="ctr">
            <a:spAutoFit/>
          </a:bodyPr>
          <a:lstStyle/>
          <a:p>
            <a:pPr algn="r"/>
            <a:r>
              <a:rPr sz="1300" b="1" i="0">
                <a:solidFill>
                  <a:srgbClr val="0468FF"/>
                </a:solidFill>
                <a:latin typeface="Arial"/>
              </a:rPr>
              <a:t>-46.3%</a:t>
            </a:r>
          </a:p>
        </p:txBody>
      </p:sp>
      <p:sp>
        <p:nvSpPr>
          <p:cNvPr id="17" name="Rectangle 16"/>
          <p:cNvSpPr/>
          <p:nvPr/>
        </p:nvSpPr>
        <p:spPr>
          <a:xfrm>
            <a:off x="731520" y="3035808"/>
            <a:ext cx="5120640" cy="38404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96112" y="3063239"/>
            <a:ext cx="3291840" cy="329184"/>
          </a:xfrm>
          <a:prstGeom prst="rect">
            <a:avLst/>
          </a:prstGeom>
          <a:noFill/>
        </p:spPr>
        <p:txBody>
          <a:bodyPr wrap="square" lIns="36576" tIns="18288" rIns="36576" bIns="18288" anchor="ctr">
            <a:spAutoFit/>
          </a:bodyPr>
          <a:lstStyle/>
          <a:p>
            <a:pPr algn="l"/>
            <a:r>
              <a:rPr sz="1250" b="0" i="0">
                <a:solidFill>
                  <a:srgbClr val="000962"/>
                </a:solidFill>
                <a:latin typeface="Arial"/>
              </a:rPr>
              <a:t>Bloom Energy</a:t>
            </a:r>
          </a:p>
        </p:txBody>
      </p:sp>
      <p:sp>
        <p:nvSpPr>
          <p:cNvPr id="19" name="TextBox 18"/>
          <p:cNvSpPr txBox="1"/>
          <p:nvPr/>
        </p:nvSpPr>
        <p:spPr>
          <a:xfrm>
            <a:off x="4114800" y="3063239"/>
            <a:ext cx="1572768" cy="329184"/>
          </a:xfrm>
          <a:prstGeom prst="rect">
            <a:avLst/>
          </a:prstGeom>
          <a:noFill/>
        </p:spPr>
        <p:txBody>
          <a:bodyPr wrap="square" lIns="36576" tIns="18288" rIns="36576" bIns="18288" anchor="ctr">
            <a:spAutoFit/>
          </a:bodyPr>
          <a:lstStyle/>
          <a:p>
            <a:pPr algn="r"/>
            <a:r>
              <a:rPr sz="1300" b="1" i="0">
                <a:solidFill>
                  <a:srgbClr val="0468FF"/>
                </a:solidFill>
                <a:latin typeface="Arial"/>
              </a:rPr>
              <a:t>-45.9%</a:t>
            </a:r>
          </a:p>
        </p:txBody>
      </p:sp>
      <p:sp>
        <p:nvSpPr>
          <p:cNvPr id="20" name="Rectangle 19"/>
          <p:cNvSpPr/>
          <p:nvPr/>
        </p:nvSpPr>
        <p:spPr>
          <a:xfrm>
            <a:off x="731520" y="3456432"/>
            <a:ext cx="5120640" cy="38404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96112" y="3483863"/>
            <a:ext cx="3291840" cy="329184"/>
          </a:xfrm>
          <a:prstGeom prst="rect">
            <a:avLst/>
          </a:prstGeom>
          <a:noFill/>
        </p:spPr>
        <p:txBody>
          <a:bodyPr wrap="square" lIns="36576" tIns="18288" rIns="36576" bIns="18288" anchor="ctr">
            <a:spAutoFit/>
          </a:bodyPr>
          <a:lstStyle/>
          <a:p>
            <a:pPr algn="l"/>
            <a:r>
              <a:rPr sz="1250" b="0" i="0">
                <a:solidFill>
                  <a:srgbClr val="000962"/>
                </a:solidFill>
                <a:latin typeface="Arial"/>
              </a:rPr>
              <a:t>CoreWeave</a:t>
            </a:r>
          </a:p>
        </p:txBody>
      </p:sp>
      <p:sp>
        <p:nvSpPr>
          <p:cNvPr id="22" name="TextBox 21"/>
          <p:cNvSpPr txBox="1"/>
          <p:nvPr/>
        </p:nvSpPr>
        <p:spPr>
          <a:xfrm>
            <a:off x="4114800" y="3483863"/>
            <a:ext cx="1572768" cy="329184"/>
          </a:xfrm>
          <a:prstGeom prst="rect">
            <a:avLst/>
          </a:prstGeom>
          <a:noFill/>
        </p:spPr>
        <p:txBody>
          <a:bodyPr wrap="square" lIns="36576" tIns="18288" rIns="36576" bIns="18288" anchor="ctr">
            <a:spAutoFit/>
          </a:bodyPr>
          <a:lstStyle/>
          <a:p>
            <a:pPr algn="r"/>
            <a:r>
              <a:rPr sz="1300" b="1" i="0">
                <a:solidFill>
                  <a:srgbClr val="0468FF"/>
                </a:solidFill>
                <a:latin typeface="Arial"/>
              </a:rPr>
              <a:t>-38.9%</a:t>
            </a:r>
          </a:p>
        </p:txBody>
      </p:sp>
      <p:sp>
        <p:nvSpPr>
          <p:cNvPr id="23" name="Rectangle 22"/>
          <p:cNvSpPr/>
          <p:nvPr/>
        </p:nvSpPr>
        <p:spPr>
          <a:xfrm>
            <a:off x="731520" y="3877056"/>
            <a:ext cx="5120640" cy="38404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6112" y="3904488"/>
            <a:ext cx="3291840" cy="329184"/>
          </a:xfrm>
          <a:prstGeom prst="rect">
            <a:avLst/>
          </a:prstGeom>
          <a:noFill/>
        </p:spPr>
        <p:txBody>
          <a:bodyPr wrap="square" lIns="36576" tIns="18288" rIns="36576" bIns="18288" anchor="ctr">
            <a:spAutoFit/>
          </a:bodyPr>
          <a:lstStyle/>
          <a:p>
            <a:pPr algn="l"/>
            <a:r>
              <a:rPr sz="1250" b="0" i="0">
                <a:solidFill>
                  <a:srgbClr val="000962"/>
                </a:solidFill>
                <a:latin typeface="Arial"/>
              </a:rPr>
              <a:t>Micron</a:t>
            </a:r>
          </a:p>
        </p:txBody>
      </p:sp>
      <p:sp>
        <p:nvSpPr>
          <p:cNvPr id="25" name="TextBox 24"/>
          <p:cNvSpPr txBox="1"/>
          <p:nvPr/>
        </p:nvSpPr>
        <p:spPr>
          <a:xfrm>
            <a:off x="4114800" y="3904488"/>
            <a:ext cx="1572768" cy="329184"/>
          </a:xfrm>
          <a:prstGeom prst="rect">
            <a:avLst/>
          </a:prstGeom>
          <a:noFill/>
        </p:spPr>
        <p:txBody>
          <a:bodyPr wrap="square" lIns="36576" tIns="18288" rIns="36576" bIns="18288" anchor="ctr">
            <a:spAutoFit/>
          </a:bodyPr>
          <a:lstStyle/>
          <a:p>
            <a:pPr algn="r"/>
            <a:r>
              <a:rPr sz="1300" b="1" i="0">
                <a:solidFill>
                  <a:srgbClr val="0468FF"/>
                </a:solidFill>
                <a:latin typeface="Arial"/>
              </a:rPr>
              <a:t>-36.0%</a:t>
            </a:r>
          </a:p>
        </p:txBody>
      </p:sp>
      <p:sp>
        <p:nvSpPr>
          <p:cNvPr id="26" name="Rectangle 25"/>
          <p:cNvSpPr/>
          <p:nvPr/>
        </p:nvSpPr>
        <p:spPr>
          <a:xfrm>
            <a:off x="731520" y="4297680"/>
            <a:ext cx="5120640" cy="38404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96112" y="4325112"/>
            <a:ext cx="3291840" cy="329184"/>
          </a:xfrm>
          <a:prstGeom prst="rect">
            <a:avLst/>
          </a:prstGeom>
          <a:noFill/>
        </p:spPr>
        <p:txBody>
          <a:bodyPr wrap="square" lIns="36576" tIns="18288" rIns="36576" bIns="18288" anchor="ctr">
            <a:spAutoFit/>
          </a:bodyPr>
          <a:lstStyle/>
          <a:p>
            <a:pPr algn="l"/>
            <a:r>
              <a:rPr sz="1250" b="0" i="0">
                <a:solidFill>
                  <a:srgbClr val="000962"/>
                </a:solidFill>
                <a:latin typeface="Arial"/>
              </a:rPr>
              <a:t>IREN</a:t>
            </a:r>
          </a:p>
        </p:txBody>
      </p:sp>
      <p:sp>
        <p:nvSpPr>
          <p:cNvPr id="28" name="TextBox 27"/>
          <p:cNvSpPr txBox="1"/>
          <p:nvPr/>
        </p:nvSpPr>
        <p:spPr>
          <a:xfrm>
            <a:off x="4114800" y="4325112"/>
            <a:ext cx="1572768" cy="329184"/>
          </a:xfrm>
          <a:prstGeom prst="rect">
            <a:avLst/>
          </a:prstGeom>
          <a:noFill/>
        </p:spPr>
        <p:txBody>
          <a:bodyPr wrap="square" lIns="36576" tIns="18288" rIns="36576" bIns="18288" anchor="ctr">
            <a:spAutoFit/>
          </a:bodyPr>
          <a:lstStyle/>
          <a:p>
            <a:pPr algn="r"/>
            <a:r>
              <a:rPr sz="1300" b="1" i="0">
                <a:solidFill>
                  <a:srgbClr val="0468FF"/>
                </a:solidFill>
                <a:latin typeface="Arial"/>
              </a:rPr>
              <a:t>-35.9%</a:t>
            </a:r>
          </a:p>
        </p:txBody>
      </p:sp>
      <p:sp>
        <p:nvSpPr>
          <p:cNvPr id="29" name="TextBox 28"/>
          <p:cNvSpPr txBox="1"/>
          <p:nvPr/>
        </p:nvSpPr>
        <p:spPr>
          <a:xfrm>
            <a:off x="6336792" y="1847088"/>
            <a:ext cx="5074920" cy="256032"/>
          </a:xfrm>
          <a:prstGeom prst="rect">
            <a:avLst/>
          </a:prstGeom>
          <a:noFill/>
        </p:spPr>
        <p:txBody>
          <a:bodyPr wrap="square" lIns="36576" tIns="18288" rIns="36576" bIns="18288">
            <a:spAutoFit/>
          </a:bodyPr>
          <a:lstStyle/>
          <a:p>
            <a:pPr algn="l"/>
            <a:r>
              <a:rPr sz="1350" b="1" i="0">
                <a:solidFill>
                  <a:srgbClr val="0468FF"/>
                </a:solidFill>
                <a:latin typeface="Arial"/>
              </a:rPr>
              <a:t>What he was short (same 20 sessions)</a:t>
            </a:r>
          </a:p>
        </p:txBody>
      </p:sp>
      <p:sp>
        <p:nvSpPr>
          <p:cNvPr id="30" name="Rectangle 29"/>
          <p:cNvSpPr/>
          <p:nvPr/>
        </p:nvSpPr>
        <p:spPr>
          <a:xfrm>
            <a:off x="6336792" y="2194560"/>
            <a:ext cx="5074920" cy="38404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501384" y="2221991"/>
            <a:ext cx="3246120" cy="329184"/>
          </a:xfrm>
          <a:prstGeom prst="rect">
            <a:avLst/>
          </a:prstGeom>
          <a:noFill/>
        </p:spPr>
        <p:txBody>
          <a:bodyPr wrap="square" lIns="36576" tIns="18288" rIns="36576" bIns="18288" anchor="ctr">
            <a:spAutoFit/>
          </a:bodyPr>
          <a:lstStyle/>
          <a:p>
            <a:pPr algn="l"/>
            <a:r>
              <a:rPr sz="1250" b="0" i="0">
                <a:solidFill>
                  <a:srgbClr val="000962"/>
                </a:solidFill>
                <a:latin typeface="Arial"/>
              </a:rPr>
              <a:t>Workday</a:t>
            </a:r>
          </a:p>
        </p:txBody>
      </p:sp>
      <p:sp>
        <p:nvSpPr>
          <p:cNvPr id="32" name="TextBox 31"/>
          <p:cNvSpPr txBox="1"/>
          <p:nvPr/>
        </p:nvSpPr>
        <p:spPr>
          <a:xfrm>
            <a:off x="9674352" y="2221991"/>
            <a:ext cx="1572768" cy="329184"/>
          </a:xfrm>
          <a:prstGeom prst="rect">
            <a:avLst/>
          </a:prstGeom>
          <a:noFill/>
        </p:spPr>
        <p:txBody>
          <a:bodyPr wrap="square" lIns="36576" tIns="18288" rIns="36576" bIns="18288" anchor="ctr">
            <a:spAutoFit/>
          </a:bodyPr>
          <a:lstStyle/>
          <a:p>
            <a:pPr algn="r"/>
            <a:r>
              <a:rPr sz="1300" b="1" i="0">
                <a:solidFill>
                  <a:srgbClr val="0468FF"/>
                </a:solidFill>
                <a:latin typeface="Arial"/>
              </a:rPr>
              <a:t>+37.2%</a:t>
            </a:r>
          </a:p>
        </p:txBody>
      </p:sp>
      <p:sp>
        <p:nvSpPr>
          <p:cNvPr id="33" name="Rectangle 32"/>
          <p:cNvSpPr/>
          <p:nvPr/>
        </p:nvSpPr>
        <p:spPr>
          <a:xfrm>
            <a:off x="6336792" y="2615184"/>
            <a:ext cx="5074920" cy="38404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501384" y="2642615"/>
            <a:ext cx="3246120" cy="329184"/>
          </a:xfrm>
          <a:prstGeom prst="rect">
            <a:avLst/>
          </a:prstGeom>
          <a:noFill/>
        </p:spPr>
        <p:txBody>
          <a:bodyPr wrap="square" lIns="36576" tIns="18288" rIns="36576" bIns="18288" anchor="ctr">
            <a:spAutoFit/>
          </a:bodyPr>
          <a:lstStyle/>
          <a:p>
            <a:pPr algn="l"/>
            <a:r>
              <a:rPr sz="1250" b="0" i="0">
                <a:solidFill>
                  <a:srgbClr val="000962"/>
                </a:solidFill>
                <a:latin typeface="Arial"/>
              </a:rPr>
              <a:t>Adobe</a:t>
            </a:r>
          </a:p>
        </p:txBody>
      </p:sp>
      <p:sp>
        <p:nvSpPr>
          <p:cNvPr id="35" name="TextBox 34"/>
          <p:cNvSpPr txBox="1"/>
          <p:nvPr/>
        </p:nvSpPr>
        <p:spPr>
          <a:xfrm>
            <a:off x="9674352" y="2642615"/>
            <a:ext cx="1572768" cy="329184"/>
          </a:xfrm>
          <a:prstGeom prst="rect">
            <a:avLst/>
          </a:prstGeom>
          <a:noFill/>
        </p:spPr>
        <p:txBody>
          <a:bodyPr wrap="square" lIns="36576" tIns="18288" rIns="36576" bIns="18288" anchor="ctr">
            <a:spAutoFit/>
          </a:bodyPr>
          <a:lstStyle/>
          <a:p>
            <a:pPr algn="r"/>
            <a:r>
              <a:rPr sz="1300" b="1" i="0">
                <a:solidFill>
                  <a:srgbClr val="0468FF"/>
                </a:solidFill>
                <a:latin typeface="Arial"/>
              </a:rPr>
              <a:t>+28.5%</a:t>
            </a:r>
          </a:p>
        </p:txBody>
      </p:sp>
      <p:sp>
        <p:nvSpPr>
          <p:cNvPr id="36" name="Rectangle 35"/>
          <p:cNvSpPr/>
          <p:nvPr/>
        </p:nvSpPr>
        <p:spPr>
          <a:xfrm>
            <a:off x="6336792" y="3035808"/>
            <a:ext cx="5074920" cy="38404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501384" y="3063239"/>
            <a:ext cx="3246120" cy="329184"/>
          </a:xfrm>
          <a:prstGeom prst="rect">
            <a:avLst/>
          </a:prstGeom>
          <a:noFill/>
        </p:spPr>
        <p:txBody>
          <a:bodyPr wrap="square" lIns="36576" tIns="18288" rIns="36576" bIns="18288" anchor="ctr">
            <a:spAutoFit/>
          </a:bodyPr>
          <a:lstStyle/>
          <a:p>
            <a:pPr algn="l"/>
            <a:r>
              <a:rPr sz="1250" b="0" i="0">
                <a:solidFill>
                  <a:srgbClr val="000962"/>
                </a:solidFill>
                <a:latin typeface="Arial"/>
              </a:rPr>
              <a:t>Intuit</a:t>
            </a:r>
          </a:p>
        </p:txBody>
      </p:sp>
      <p:sp>
        <p:nvSpPr>
          <p:cNvPr id="38" name="TextBox 37"/>
          <p:cNvSpPr txBox="1"/>
          <p:nvPr/>
        </p:nvSpPr>
        <p:spPr>
          <a:xfrm>
            <a:off x="9674352" y="3063239"/>
            <a:ext cx="1572768" cy="329184"/>
          </a:xfrm>
          <a:prstGeom prst="rect">
            <a:avLst/>
          </a:prstGeom>
          <a:noFill/>
        </p:spPr>
        <p:txBody>
          <a:bodyPr wrap="square" lIns="36576" tIns="18288" rIns="36576" bIns="18288" anchor="ctr">
            <a:spAutoFit/>
          </a:bodyPr>
          <a:lstStyle/>
          <a:p>
            <a:pPr algn="r"/>
            <a:r>
              <a:rPr sz="1300" b="1" i="0">
                <a:solidFill>
                  <a:srgbClr val="0468FF"/>
                </a:solidFill>
                <a:latin typeface="Arial"/>
              </a:rPr>
              <a:t>+27.6%</a:t>
            </a:r>
          </a:p>
        </p:txBody>
      </p:sp>
      <p:sp>
        <p:nvSpPr>
          <p:cNvPr id="39" name="Rectangle 38"/>
          <p:cNvSpPr/>
          <p:nvPr/>
        </p:nvSpPr>
        <p:spPr>
          <a:xfrm>
            <a:off x="6336792" y="3456432"/>
            <a:ext cx="5074920" cy="38404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501384" y="3483863"/>
            <a:ext cx="3246120" cy="329184"/>
          </a:xfrm>
          <a:prstGeom prst="rect">
            <a:avLst/>
          </a:prstGeom>
          <a:noFill/>
        </p:spPr>
        <p:txBody>
          <a:bodyPr wrap="square" lIns="36576" tIns="18288" rIns="36576" bIns="18288" anchor="ctr">
            <a:spAutoFit/>
          </a:bodyPr>
          <a:lstStyle/>
          <a:p>
            <a:pPr algn="l"/>
            <a:r>
              <a:rPr sz="1250" b="0" i="0">
                <a:solidFill>
                  <a:srgbClr val="000962"/>
                </a:solidFill>
                <a:latin typeface="Arial"/>
              </a:rPr>
              <a:t>Salesforce</a:t>
            </a:r>
          </a:p>
        </p:txBody>
      </p:sp>
      <p:sp>
        <p:nvSpPr>
          <p:cNvPr id="41" name="TextBox 40"/>
          <p:cNvSpPr txBox="1"/>
          <p:nvPr/>
        </p:nvSpPr>
        <p:spPr>
          <a:xfrm>
            <a:off x="9674352" y="3483863"/>
            <a:ext cx="1572768" cy="329184"/>
          </a:xfrm>
          <a:prstGeom prst="rect">
            <a:avLst/>
          </a:prstGeom>
          <a:noFill/>
        </p:spPr>
        <p:txBody>
          <a:bodyPr wrap="square" lIns="36576" tIns="18288" rIns="36576" bIns="18288" anchor="ctr">
            <a:spAutoFit/>
          </a:bodyPr>
          <a:lstStyle/>
          <a:p>
            <a:pPr algn="r"/>
            <a:r>
              <a:rPr sz="1300" b="1" i="0">
                <a:solidFill>
                  <a:srgbClr val="0468FF"/>
                </a:solidFill>
                <a:latin typeface="Arial"/>
              </a:rPr>
              <a:t>+20.3%</a:t>
            </a:r>
          </a:p>
        </p:txBody>
      </p:sp>
      <p:sp>
        <p:nvSpPr>
          <p:cNvPr id="42" name="Rectangle 41"/>
          <p:cNvSpPr/>
          <p:nvPr/>
        </p:nvSpPr>
        <p:spPr>
          <a:xfrm>
            <a:off x="6336792" y="3877056"/>
            <a:ext cx="5074920" cy="38404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501384" y="3904488"/>
            <a:ext cx="3246120" cy="329184"/>
          </a:xfrm>
          <a:prstGeom prst="rect">
            <a:avLst/>
          </a:prstGeom>
          <a:noFill/>
        </p:spPr>
        <p:txBody>
          <a:bodyPr wrap="square" lIns="36576" tIns="18288" rIns="36576" bIns="18288" anchor="ctr">
            <a:spAutoFit/>
          </a:bodyPr>
          <a:lstStyle/>
          <a:p>
            <a:pPr algn="l"/>
            <a:r>
              <a:rPr sz="1250" b="0" i="0">
                <a:solidFill>
                  <a:srgbClr val="000962"/>
                </a:solidFill>
                <a:latin typeface="Arial"/>
              </a:rPr>
              <a:t>Veeva Systems</a:t>
            </a:r>
          </a:p>
        </p:txBody>
      </p:sp>
      <p:sp>
        <p:nvSpPr>
          <p:cNvPr id="44" name="TextBox 43"/>
          <p:cNvSpPr txBox="1"/>
          <p:nvPr/>
        </p:nvSpPr>
        <p:spPr>
          <a:xfrm>
            <a:off x="9674352" y="3904488"/>
            <a:ext cx="1572768" cy="329184"/>
          </a:xfrm>
          <a:prstGeom prst="rect">
            <a:avLst/>
          </a:prstGeom>
          <a:noFill/>
        </p:spPr>
        <p:txBody>
          <a:bodyPr wrap="square" lIns="36576" tIns="18288" rIns="36576" bIns="18288" anchor="ctr">
            <a:spAutoFit/>
          </a:bodyPr>
          <a:lstStyle/>
          <a:p>
            <a:pPr algn="r"/>
            <a:r>
              <a:rPr sz="1300" b="1" i="0">
                <a:solidFill>
                  <a:srgbClr val="0468FF"/>
                </a:solidFill>
                <a:latin typeface="Arial"/>
              </a:rPr>
              <a:t>+17.2%</a:t>
            </a:r>
          </a:p>
        </p:txBody>
      </p:sp>
      <p:sp>
        <p:nvSpPr>
          <p:cNvPr id="45" name="Rectangle 44"/>
          <p:cNvSpPr/>
          <p:nvPr/>
        </p:nvSpPr>
        <p:spPr>
          <a:xfrm>
            <a:off x="6336792" y="4297680"/>
            <a:ext cx="5074920" cy="38404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501384" y="4325112"/>
            <a:ext cx="3246120" cy="329184"/>
          </a:xfrm>
          <a:prstGeom prst="rect">
            <a:avLst/>
          </a:prstGeom>
          <a:noFill/>
        </p:spPr>
        <p:txBody>
          <a:bodyPr wrap="square" lIns="36576" tIns="18288" rIns="36576" bIns="18288" anchor="ctr">
            <a:spAutoFit/>
          </a:bodyPr>
          <a:lstStyle/>
          <a:p>
            <a:pPr algn="l"/>
            <a:r>
              <a:rPr sz="1250" b="0" i="0">
                <a:solidFill>
                  <a:srgbClr val="000962"/>
                </a:solidFill>
                <a:latin typeface="Arial"/>
              </a:rPr>
              <a:t>Nasdaq 100 (QQQ)</a:t>
            </a:r>
          </a:p>
        </p:txBody>
      </p:sp>
      <p:sp>
        <p:nvSpPr>
          <p:cNvPr id="47" name="TextBox 46"/>
          <p:cNvSpPr txBox="1"/>
          <p:nvPr/>
        </p:nvSpPr>
        <p:spPr>
          <a:xfrm>
            <a:off x="9674352" y="4325112"/>
            <a:ext cx="1572768" cy="329184"/>
          </a:xfrm>
          <a:prstGeom prst="rect">
            <a:avLst/>
          </a:prstGeom>
          <a:noFill/>
        </p:spPr>
        <p:txBody>
          <a:bodyPr wrap="square" lIns="36576" tIns="18288" rIns="36576" bIns="18288" anchor="ctr">
            <a:spAutoFit/>
          </a:bodyPr>
          <a:lstStyle/>
          <a:p>
            <a:pPr algn="r"/>
            <a:r>
              <a:rPr sz="1300" b="1" i="0">
                <a:solidFill>
                  <a:srgbClr val="0468FF"/>
                </a:solidFill>
                <a:latin typeface="Arial"/>
              </a:rPr>
              <a:t>-10.1%</a:t>
            </a:r>
          </a:p>
        </p:txBody>
      </p:sp>
      <p:sp>
        <p:nvSpPr>
          <p:cNvPr id="48" name="TextBox 47"/>
          <p:cNvSpPr txBox="1"/>
          <p:nvPr/>
        </p:nvSpPr>
        <p:spPr>
          <a:xfrm>
            <a:off x="731520" y="4828032"/>
            <a:ext cx="10680192" cy="548640"/>
          </a:xfrm>
          <a:prstGeom prst="rect">
            <a:avLst/>
          </a:prstGeom>
          <a:noFill/>
        </p:spPr>
        <p:txBody>
          <a:bodyPr wrap="square" lIns="36576" tIns="18288" rIns="36576" bIns="18288">
            <a:spAutoFit/>
          </a:bodyPr>
          <a:lstStyle/>
          <a:p>
            <a:pPr algn="l"/>
            <a:r>
              <a:rPr sz="1250" b="0" i="0">
                <a:solidFill>
                  <a:srgbClr val="000962"/>
                </a:solidFill>
                <a:latin typeface="Arial"/>
              </a:rPr>
              <a:t>The S&amp;P 500 fell only 2.3% and stayed near its record. Nvidia fell 5.0% and finished July higher. </a:t>
            </a:r>
            <a:r>
              <a:rPr sz="1250" b="1" i="0">
                <a:solidFill>
                  <a:srgbClr val="000962"/>
                </a:solidFill>
                <a:latin typeface="Arial"/>
              </a:rPr>
              <a:t>A crash in AI would have taken Nvidia with it. This was a rotation out of the leveraged, capital-hungry end of AI and into the profitable, asset-light end.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21207" y="6323076"/>
            <a:ext cx="5394960" cy="146304"/>
          </a:xfrm>
          <a:prstGeom prst="rect">
            <a:avLst/>
          </a:prstGeom>
          <a:noFill/>
        </p:spPr>
        <p:txBody>
          <a:bodyPr wrap="square" lIns="0" tIns="0" r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tIns="0" r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tIns="0" r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tIns="18288" rIns="36576" bIns="18288">
            <a:spAutoFit/>
          </a:bodyPr>
          <a:lstStyle/>
          <a:p>
            <a:pPr algn="l"/>
            <a:r>
              <a:rPr sz="3200" b="1" i="0">
                <a:solidFill>
                  <a:srgbClr val="0468FF"/>
                </a:solidFill>
                <a:latin typeface="Arial"/>
              </a:rPr>
              <a:t>Why the Software Thesis Was Wrong</a:t>
            </a:r>
          </a:p>
        </p:txBody>
      </p:sp>
      <p:sp>
        <p:nvSpPr>
          <p:cNvPr id="9" name="TextBox 8"/>
          <p:cNvSpPr txBox="1"/>
          <p:nvPr/>
        </p:nvSpPr>
        <p:spPr>
          <a:xfrm>
            <a:off x="713232" y="1353312"/>
            <a:ext cx="10881360" cy="310896"/>
          </a:xfrm>
          <a:prstGeom prst="rect">
            <a:avLst/>
          </a:prstGeom>
          <a:noFill/>
        </p:spPr>
        <p:txBody>
          <a:bodyPr wrap="square" lIns="36576" tIns="18288" rIns="36576" bIns="18288">
            <a:spAutoFit/>
          </a:bodyPr>
          <a:lstStyle/>
          <a:p>
            <a:pPr algn="l"/>
            <a:r>
              <a:rPr sz="1600" b="0" i="0">
                <a:solidFill>
                  <a:srgbClr val="000962"/>
                </a:solidFill>
                <a:latin typeface="Arial"/>
              </a:rPr>
              <a:t>He thought software sells the work. It sells the rails the work runs on.</a:t>
            </a:r>
          </a:p>
        </p:txBody>
      </p:sp>
      <p:sp>
        <p:nvSpPr>
          <p:cNvPr id="10" name="Rectangle 9"/>
          <p:cNvSpPr/>
          <p:nvPr/>
        </p:nvSpPr>
        <p:spPr>
          <a:xfrm>
            <a:off x="777240" y="1920240"/>
            <a:ext cx="10607040" cy="102412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87552" y="2103120"/>
            <a:ext cx="365760" cy="365760"/>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87552" y="2144268"/>
            <a:ext cx="365760" cy="274320"/>
          </a:xfrm>
          <a:prstGeom prst="rect">
            <a:avLst/>
          </a:prstGeom>
          <a:noFill/>
        </p:spPr>
        <p:txBody>
          <a:bodyPr wrap="square" lIns="36576" tIns="18288" rIns="36576" bIns="18288">
            <a:spAutoFit/>
          </a:bodyPr>
          <a:lstStyle/>
          <a:p>
            <a:pPr algn="ctr"/>
            <a:r>
              <a:rPr sz="1300" b="1" i="0">
                <a:solidFill>
                  <a:srgbClr val="FFFFFF"/>
                </a:solidFill>
                <a:latin typeface="Arial"/>
              </a:rPr>
              <a:t>1</a:t>
            </a:r>
          </a:p>
        </p:txBody>
      </p:sp>
      <p:sp>
        <p:nvSpPr>
          <p:cNvPr id="13" name="TextBox 12"/>
          <p:cNvSpPr txBox="1"/>
          <p:nvPr/>
        </p:nvSpPr>
        <p:spPr>
          <a:xfrm>
            <a:off x="1499616" y="2048256"/>
            <a:ext cx="2697480" cy="822960"/>
          </a:xfrm>
          <a:prstGeom prst="rect">
            <a:avLst/>
          </a:prstGeom>
          <a:noFill/>
        </p:spPr>
        <p:txBody>
          <a:bodyPr wrap="square" lIns="36576" tIns="18288" rIns="36576" bIns="18288">
            <a:spAutoFit/>
          </a:bodyPr>
          <a:lstStyle/>
          <a:p>
            <a:pPr algn="l">
              <a:lnSpc>
                <a:spcPct val="100000"/>
              </a:lnSpc>
            </a:pPr>
            <a:r>
              <a:rPr sz="1400" b="1" i="0">
                <a:solidFill>
                  <a:srgbClr val="0468FF"/>
                </a:solidFill>
                <a:latin typeface="Arial"/>
              </a:rPr>
              <a:t>The price is trivial</a:t>
            </a:r>
          </a:p>
        </p:txBody>
      </p:sp>
      <p:sp>
        <p:nvSpPr>
          <p:cNvPr id="14" name="TextBox 13"/>
          <p:cNvSpPr txBox="1"/>
          <p:nvPr/>
        </p:nvSpPr>
        <p:spPr>
          <a:xfrm>
            <a:off x="4297680" y="2029968"/>
            <a:ext cx="6903720" cy="841248"/>
          </a:xfrm>
          <a:prstGeom prst="rect">
            <a:avLst/>
          </a:prstGeom>
          <a:noFill/>
        </p:spPr>
        <p:txBody>
          <a:bodyPr wrap="square" lIns="36576" tIns="18288" rIns="36576" bIns="18288">
            <a:spAutoFit/>
          </a:bodyPr>
          <a:lstStyle/>
          <a:p>
            <a:pPr algn="l">
              <a:lnSpc>
                <a:spcPct val="100000"/>
              </a:lnSpc>
            </a:pPr>
            <a:r>
              <a:rPr sz="1150" b="0" i="0">
                <a:solidFill>
                  <a:srgbClr val="000962"/>
                </a:solidFill>
                <a:latin typeface="Arial"/>
              </a:rPr>
              <a:t>A Microsoft 365 E5 seat with Copilot runs about $1,080 a year against a knowledge worker costing $75,000 to $120,000. Roughly 1% of the person using it. Veeva runs 1% to 5% of a pharma rep's cost. Nobody rips out a system to save that.</a:t>
            </a:r>
          </a:p>
        </p:txBody>
      </p:sp>
      <p:sp>
        <p:nvSpPr>
          <p:cNvPr id="15" name="Rectangle 14"/>
          <p:cNvSpPr/>
          <p:nvPr/>
        </p:nvSpPr>
        <p:spPr>
          <a:xfrm>
            <a:off x="777240" y="3017520"/>
            <a:ext cx="10607040" cy="102412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987552" y="3200400"/>
            <a:ext cx="365760" cy="365760"/>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87552" y="3241548"/>
            <a:ext cx="365760" cy="274320"/>
          </a:xfrm>
          <a:prstGeom prst="rect">
            <a:avLst/>
          </a:prstGeom>
          <a:noFill/>
        </p:spPr>
        <p:txBody>
          <a:bodyPr wrap="square" lIns="36576" tIns="18288" rIns="36576" bIns="18288">
            <a:spAutoFit/>
          </a:bodyPr>
          <a:lstStyle/>
          <a:p>
            <a:pPr algn="ctr"/>
            <a:r>
              <a:rPr sz="1300" b="1" i="0">
                <a:solidFill>
                  <a:srgbClr val="FFFFFF"/>
                </a:solidFill>
                <a:latin typeface="Arial"/>
              </a:rPr>
              <a:t>2</a:t>
            </a:r>
          </a:p>
        </p:txBody>
      </p:sp>
      <p:sp>
        <p:nvSpPr>
          <p:cNvPr id="18" name="TextBox 17"/>
          <p:cNvSpPr txBox="1"/>
          <p:nvPr/>
        </p:nvSpPr>
        <p:spPr>
          <a:xfrm>
            <a:off x="1499616" y="3145536"/>
            <a:ext cx="2697480" cy="822960"/>
          </a:xfrm>
          <a:prstGeom prst="rect">
            <a:avLst/>
          </a:prstGeom>
          <a:noFill/>
        </p:spPr>
        <p:txBody>
          <a:bodyPr wrap="square" lIns="36576" tIns="18288" rIns="36576" bIns="18288">
            <a:spAutoFit/>
          </a:bodyPr>
          <a:lstStyle/>
          <a:p>
            <a:pPr algn="l">
              <a:lnSpc>
                <a:spcPct val="100000"/>
              </a:lnSpc>
            </a:pPr>
            <a:r>
              <a:rPr sz="1400" b="1" i="0">
                <a:solidFill>
                  <a:srgbClr val="0468FF"/>
                </a:solidFill>
                <a:latin typeface="Arial"/>
              </a:rPr>
              <a:t>The record is the product</a:t>
            </a:r>
          </a:p>
        </p:txBody>
      </p:sp>
      <p:sp>
        <p:nvSpPr>
          <p:cNvPr id="19" name="TextBox 18"/>
          <p:cNvSpPr txBox="1"/>
          <p:nvPr/>
        </p:nvSpPr>
        <p:spPr>
          <a:xfrm>
            <a:off x="4297680" y="3127248"/>
            <a:ext cx="6903720" cy="841248"/>
          </a:xfrm>
          <a:prstGeom prst="rect">
            <a:avLst/>
          </a:prstGeom>
          <a:noFill/>
        </p:spPr>
        <p:txBody>
          <a:bodyPr wrap="square" lIns="36576" tIns="18288" rIns="36576" bIns="18288">
            <a:spAutoFit/>
          </a:bodyPr>
          <a:lstStyle/>
          <a:p>
            <a:pPr algn="l">
              <a:lnSpc>
                <a:spcPct val="100000"/>
              </a:lnSpc>
            </a:pPr>
            <a:r>
              <a:rPr sz="1150" b="0" i="0">
                <a:solidFill>
                  <a:srgbClr val="000962"/>
                </a:solidFill>
                <a:latin typeface="Arial"/>
              </a:rPr>
              <a:t>Veeva's systems are validated under FDA rules for electronic records. Nineteen of the top 20 biopharma companies use them. When an inspector arrives, that audit trail is the company's defense. A model that writes good code cannot replace a decade of validated records.</a:t>
            </a:r>
          </a:p>
        </p:txBody>
      </p:sp>
      <p:sp>
        <p:nvSpPr>
          <p:cNvPr id="20" name="Rectangle 19"/>
          <p:cNvSpPr/>
          <p:nvPr/>
        </p:nvSpPr>
        <p:spPr>
          <a:xfrm>
            <a:off x="777240" y="4114800"/>
            <a:ext cx="10607040" cy="102412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87552" y="4297680"/>
            <a:ext cx="365760" cy="365760"/>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87552" y="4338828"/>
            <a:ext cx="365760" cy="274320"/>
          </a:xfrm>
          <a:prstGeom prst="rect">
            <a:avLst/>
          </a:prstGeom>
          <a:noFill/>
        </p:spPr>
        <p:txBody>
          <a:bodyPr wrap="square" lIns="36576" tIns="18288" rIns="36576" bIns="18288">
            <a:spAutoFit/>
          </a:bodyPr>
          <a:lstStyle/>
          <a:p>
            <a:pPr algn="ctr"/>
            <a:r>
              <a:rPr sz="1300" b="1" i="0">
                <a:solidFill>
                  <a:srgbClr val="FFFFFF"/>
                </a:solidFill>
                <a:latin typeface="Arial"/>
              </a:rPr>
              <a:t>3</a:t>
            </a:r>
          </a:p>
        </p:txBody>
      </p:sp>
      <p:sp>
        <p:nvSpPr>
          <p:cNvPr id="23" name="TextBox 22"/>
          <p:cNvSpPr txBox="1"/>
          <p:nvPr/>
        </p:nvSpPr>
        <p:spPr>
          <a:xfrm>
            <a:off x="1499616" y="4242816"/>
            <a:ext cx="2697480" cy="822960"/>
          </a:xfrm>
          <a:prstGeom prst="rect">
            <a:avLst/>
          </a:prstGeom>
          <a:noFill/>
        </p:spPr>
        <p:txBody>
          <a:bodyPr wrap="square" lIns="36576" tIns="18288" rIns="36576" bIns="18288">
            <a:spAutoFit/>
          </a:bodyPr>
          <a:lstStyle/>
          <a:p>
            <a:pPr algn="l">
              <a:lnSpc>
                <a:spcPct val="100000"/>
              </a:lnSpc>
            </a:pPr>
            <a:r>
              <a:rPr sz="1400" b="1" i="0">
                <a:solidFill>
                  <a:srgbClr val="0468FF"/>
                </a:solidFill>
                <a:latin typeface="Arial"/>
              </a:rPr>
              <a:t>Leaving almost always fails</a:t>
            </a:r>
          </a:p>
        </p:txBody>
      </p:sp>
      <p:sp>
        <p:nvSpPr>
          <p:cNvPr id="24" name="TextBox 23"/>
          <p:cNvSpPr txBox="1"/>
          <p:nvPr/>
        </p:nvSpPr>
        <p:spPr>
          <a:xfrm>
            <a:off x="4297680" y="4224528"/>
            <a:ext cx="6903720" cy="841248"/>
          </a:xfrm>
          <a:prstGeom prst="rect">
            <a:avLst/>
          </a:prstGeom>
          <a:noFill/>
        </p:spPr>
        <p:txBody>
          <a:bodyPr wrap="square" lIns="36576" tIns="18288" rIns="36576" bIns="18288">
            <a:spAutoFit/>
          </a:bodyPr>
          <a:lstStyle/>
          <a:p>
            <a:pPr algn="l">
              <a:lnSpc>
                <a:spcPct val="100000"/>
              </a:lnSpc>
            </a:pPr>
            <a:r>
              <a:rPr sz="1150" b="0" i="0">
                <a:solidFill>
                  <a:srgbClr val="000962"/>
                </a:solidFill>
                <a:latin typeface="Arial"/>
              </a:rPr>
              <a:t>Panorama Consulting puts average cost overruns on enterprise system replacements at 189%. Gartner projects more than 70% of recent ERP initiatives will fall short of their original goals by 2027. This was true long before AI.</a:t>
            </a:r>
          </a:p>
        </p:txBody>
      </p:sp>
      <p:sp>
        <p:nvSpPr>
          <p:cNvPr id="25" name="TextBox 24"/>
          <p:cNvSpPr txBox="1"/>
          <p:nvPr/>
        </p:nvSpPr>
        <p:spPr>
          <a:xfrm>
            <a:off x="777240" y="5138928"/>
            <a:ext cx="10607040" cy="274320"/>
          </a:xfrm>
          <a:prstGeom prst="rect">
            <a:avLst/>
          </a:prstGeom>
          <a:noFill/>
        </p:spPr>
        <p:txBody>
          <a:bodyPr wrap="square" lIns="36576" tIns="18288" rIns="36576" bIns="18288">
            <a:spAutoFit/>
          </a:bodyPr>
          <a:lstStyle/>
          <a:p>
            <a:pPr algn="l"/>
            <a:r>
              <a:rPr sz="1300" b="1" i="0">
                <a:solidFill>
                  <a:srgbClr val="0468FF"/>
                </a:solidFill>
                <a:latin typeface="Arial"/>
              </a:rPr>
              <a:t>These companies are not selling labor. They are selling the rails labor runs on, at a price nobody bothers to fight over.</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21207" y="6323076"/>
            <a:ext cx="5394960" cy="146304"/>
          </a:xfrm>
          <a:prstGeom prst="rect">
            <a:avLst/>
          </a:prstGeom>
          <a:noFill/>
        </p:spPr>
        <p:txBody>
          <a:bodyPr wrap="square" lIns="0" tIns="0" r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tIns="0" r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tIns="0" r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tIns="18288" rIns="36576" bIns="18288">
            <a:spAutoFit/>
          </a:bodyPr>
          <a:lstStyle/>
          <a:p>
            <a:pPr algn="l"/>
            <a:r>
              <a:rPr sz="3200" b="1" i="0">
                <a:solidFill>
                  <a:srgbClr val="0468FF"/>
                </a:solidFill>
                <a:latin typeface="Arial"/>
              </a:rPr>
              <a:t>The Incumbents Are Selling AI, Not Being Eaten By It</a:t>
            </a:r>
          </a:p>
        </p:txBody>
      </p:sp>
      <p:sp>
        <p:nvSpPr>
          <p:cNvPr id="9" name="TextBox 8"/>
          <p:cNvSpPr txBox="1"/>
          <p:nvPr/>
        </p:nvSpPr>
        <p:spPr>
          <a:xfrm>
            <a:off x="713232" y="1353312"/>
            <a:ext cx="10881360" cy="310896"/>
          </a:xfrm>
          <a:prstGeom prst="rect">
            <a:avLst/>
          </a:prstGeom>
          <a:noFill/>
        </p:spPr>
        <p:txBody>
          <a:bodyPr wrap="square" lIns="36576" tIns="18288" rIns="36576" bIns="18288">
            <a:spAutoFit/>
          </a:bodyPr>
          <a:lstStyle/>
          <a:p>
            <a:pPr algn="l"/>
            <a:r>
              <a:rPr sz="1600" b="0" i="0">
                <a:solidFill>
                  <a:srgbClr val="000962"/>
                </a:solidFill>
                <a:latin typeface="Arial"/>
              </a:rPr>
              <a:t>The upsell landed on top of a subscription the customer cannot cancel.</a:t>
            </a:r>
          </a:p>
        </p:txBody>
      </p:sp>
      <p:sp>
        <p:nvSpPr>
          <p:cNvPr id="10" name="Rectangle 9"/>
          <p:cNvSpPr/>
          <p:nvPr/>
        </p:nvSpPr>
        <p:spPr>
          <a:xfrm>
            <a:off x="777240" y="1920240"/>
            <a:ext cx="3337560" cy="123444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6968" y="1984248"/>
            <a:ext cx="3118104" cy="182880"/>
          </a:xfrm>
          <a:prstGeom prst="rect">
            <a:avLst/>
          </a:prstGeom>
          <a:noFill/>
        </p:spPr>
        <p:txBody>
          <a:bodyPr wrap="square" lIns="36576" tIns="18288" rIns="36576" bIns="18288">
            <a:spAutoFit/>
          </a:bodyPr>
          <a:lstStyle/>
          <a:p>
            <a:pPr algn="l"/>
            <a:r>
              <a:rPr sz="1050" b="0" i="0">
                <a:solidFill>
                  <a:srgbClr val="46648C"/>
                </a:solidFill>
                <a:latin typeface="Arial"/>
              </a:rPr>
              <a:t>Microsoft Copilot</a:t>
            </a:r>
          </a:p>
        </p:txBody>
      </p:sp>
      <p:sp>
        <p:nvSpPr>
          <p:cNvPr id="12" name="TextBox 11"/>
          <p:cNvSpPr txBox="1"/>
          <p:nvPr/>
        </p:nvSpPr>
        <p:spPr>
          <a:xfrm>
            <a:off x="886968" y="2176272"/>
            <a:ext cx="3118104" cy="310896"/>
          </a:xfrm>
          <a:prstGeom prst="rect">
            <a:avLst/>
          </a:prstGeom>
          <a:noFill/>
        </p:spPr>
        <p:txBody>
          <a:bodyPr wrap="square" lIns="36576" tIns="18288" rIns="36576" bIns="18288">
            <a:spAutoFit/>
          </a:bodyPr>
          <a:lstStyle/>
          <a:p>
            <a:pPr algn="l"/>
            <a:r>
              <a:rPr sz="2000" b="1" i="0">
                <a:solidFill>
                  <a:srgbClr val="0468FF"/>
                </a:solidFill>
                <a:latin typeface="Arial"/>
              </a:rPr>
              <a:t>30M seats</a:t>
            </a:r>
          </a:p>
        </p:txBody>
      </p:sp>
      <p:sp>
        <p:nvSpPr>
          <p:cNvPr id="13" name="TextBox 12"/>
          <p:cNvSpPr txBox="1"/>
          <p:nvPr/>
        </p:nvSpPr>
        <p:spPr>
          <a:xfrm>
            <a:off x="886968" y="2542032"/>
            <a:ext cx="3118104" cy="539496"/>
          </a:xfrm>
          <a:prstGeom prst="rect">
            <a:avLst/>
          </a:prstGeom>
          <a:noFill/>
        </p:spPr>
        <p:txBody>
          <a:bodyPr wrap="square" lIns="36576" tIns="18288" rIns="36576" bIns="18288">
            <a:spAutoFit/>
          </a:bodyPr>
          <a:lstStyle/>
          <a:p>
            <a:pPr algn="l"/>
            <a:r>
              <a:rPr sz="1100" b="0" i="0">
                <a:solidFill>
                  <a:srgbClr val="000962"/>
                </a:solidFill>
                <a:latin typeface="Arial"/>
              </a:rPr>
              <a:t>Paid seats in the June quarter, doubled from 15M in January</a:t>
            </a:r>
          </a:p>
        </p:txBody>
      </p:sp>
      <p:sp>
        <p:nvSpPr>
          <p:cNvPr id="14" name="Rectangle 13"/>
          <p:cNvSpPr/>
          <p:nvPr/>
        </p:nvSpPr>
        <p:spPr>
          <a:xfrm>
            <a:off x="4416552" y="1920240"/>
            <a:ext cx="3337560" cy="123444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26280" y="1984248"/>
            <a:ext cx="3118104" cy="182880"/>
          </a:xfrm>
          <a:prstGeom prst="rect">
            <a:avLst/>
          </a:prstGeom>
          <a:noFill/>
        </p:spPr>
        <p:txBody>
          <a:bodyPr wrap="square" lIns="36576" tIns="18288" rIns="36576" bIns="18288">
            <a:spAutoFit/>
          </a:bodyPr>
          <a:lstStyle/>
          <a:p>
            <a:pPr algn="l"/>
            <a:r>
              <a:rPr sz="1050" b="0" i="0">
                <a:solidFill>
                  <a:srgbClr val="46648C"/>
                </a:solidFill>
                <a:latin typeface="Arial"/>
              </a:rPr>
              <a:t>Microsoft contracted backlog</a:t>
            </a:r>
          </a:p>
        </p:txBody>
      </p:sp>
      <p:sp>
        <p:nvSpPr>
          <p:cNvPr id="16" name="TextBox 15"/>
          <p:cNvSpPr txBox="1"/>
          <p:nvPr/>
        </p:nvSpPr>
        <p:spPr>
          <a:xfrm>
            <a:off x="4526280" y="2176272"/>
            <a:ext cx="3118104" cy="310896"/>
          </a:xfrm>
          <a:prstGeom prst="rect">
            <a:avLst/>
          </a:prstGeom>
          <a:noFill/>
        </p:spPr>
        <p:txBody>
          <a:bodyPr wrap="square" lIns="36576" tIns="18288" rIns="36576" bIns="18288">
            <a:spAutoFit/>
          </a:bodyPr>
          <a:lstStyle/>
          <a:p>
            <a:pPr algn="l"/>
            <a:r>
              <a:rPr sz="2000" b="1" i="0">
                <a:solidFill>
                  <a:srgbClr val="0468FF"/>
                </a:solidFill>
                <a:latin typeface="Arial"/>
              </a:rPr>
              <a:t>$678B</a:t>
            </a:r>
          </a:p>
        </p:txBody>
      </p:sp>
      <p:sp>
        <p:nvSpPr>
          <p:cNvPr id="17" name="TextBox 16"/>
          <p:cNvSpPr txBox="1"/>
          <p:nvPr/>
        </p:nvSpPr>
        <p:spPr>
          <a:xfrm>
            <a:off x="4526280" y="2542032"/>
            <a:ext cx="3118104" cy="539496"/>
          </a:xfrm>
          <a:prstGeom prst="rect">
            <a:avLst/>
          </a:prstGeom>
          <a:noFill/>
        </p:spPr>
        <p:txBody>
          <a:bodyPr wrap="square" lIns="36576" tIns="18288" rIns="36576" bIns="18288">
            <a:spAutoFit/>
          </a:bodyPr>
          <a:lstStyle/>
          <a:p>
            <a:pPr algn="l"/>
            <a:r>
              <a:rPr sz="1100" b="0" i="0">
                <a:solidFill>
                  <a:srgbClr val="000962"/>
                </a:solidFill>
                <a:latin typeface="Arial"/>
              </a:rPr>
              <a:t>Commercial remaining performance obligation, up 84% year over year</a:t>
            </a:r>
          </a:p>
        </p:txBody>
      </p:sp>
      <p:sp>
        <p:nvSpPr>
          <p:cNvPr id="18" name="Rectangle 17"/>
          <p:cNvSpPr/>
          <p:nvPr/>
        </p:nvSpPr>
        <p:spPr>
          <a:xfrm>
            <a:off x="8055864" y="1920240"/>
            <a:ext cx="3337560" cy="123444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165592" y="1984248"/>
            <a:ext cx="3118104" cy="182880"/>
          </a:xfrm>
          <a:prstGeom prst="rect">
            <a:avLst/>
          </a:prstGeom>
          <a:noFill/>
        </p:spPr>
        <p:txBody>
          <a:bodyPr wrap="square" lIns="36576" tIns="18288" rIns="36576" bIns="18288">
            <a:spAutoFit/>
          </a:bodyPr>
          <a:lstStyle/>
          <a:p>
            <a:pPr algn="l"/>
            <a:r>
              <a:rPr sz="1050" b="0" i="0">
                <a:solidFill>
                  <a:srgbClr val="46648C"/>
                </a:solidFill>
                <a:latin typeface="Arial"/>
              </a:rPr>
              <a:t>Salesforce Agentforce</a:t>
            </a:r>
          </a:p>
        </p:txBody>
      </p:sp>
      <p:sp>
        <p:nvSpPr>
          <p:cNvPr id="20" name="TextBox 19"/>
          <p:cNvSpPr txBox="1"/>
          <p:nvPr/>
        </p:nvSpPr>
        <p:spPr>
          <a:xfrm>
            <a:off x="8165592" y="2176272"/>
            <a:ext cx="3118104" cy="310896"/>
          </a:xfrm>
          <a:prstGeom prst="rect">
            <a:avLst/>
          </a:prstGeom>
          <a:noFill/>
        </p:spPr>
        <p:txBody>
          <a:bodyPr wrap="square" lIns="36576" tIns="18288" rIns="36576" bIns="18288">
            <a:spAutoFit/>
          </a:bodyPr>
          <a:lstStyle/>
          <a:p>
            <a:pPr algn="l"/>
            <a:r>
              <a:rPr sz="2000" b="1" i="0">
                <a:solidFill>
                  <a:srgbClr val="0468FF"/>
                </a:solidFill>
                <a:latin typeface="Arial"/>
              </a:rPr>
              <a:t>$1.2B</a:t>
            </a:r>
          </a:p>
        </p:txBody>
      </p:sp>
      <p:sp>
        <p:nvSpPr>
          <p:cNvPr id="21" name="TextBox 20"/>
          <p:cNvSpPr txBox="1"/>
          <p:nvPr/>
        </p:nvSpPr>
        <p:spPr>
          <a:xfrm>
            <a:off x="8165592" y="2542032"/>
            <a:ext cx="3118104" cy="539496"/>
          </a:xfrm>
          <a:prstGeom prst="rect">
            <a:avLst/>
          </a:prstGeom>
          <a:noFill/>
        </p:spPr>
        <p:txBody>
          <a:bodyPr wrap="square" lIns="36576" tIns="18288" rIns="36576" bIns="18288">
            <a:spAutoFit/>
          </a:bodyPr>
          <a:lstStyle/>
          <a:p>
            <a:pPr algn="l"/>
            <a:r>
              <a:rPr sz="1100" b="0" i="0">
                <a:solidFill>
                  <a:srgbClr val="000962"/>
                </a:solidFill>
                <a:latin typeface="Arial"/>
              </a:rPr>
              <a:t>Annual recurring revenue by April, up 205%</a:t>
            </a:r>
          </a:p>
        </p:txBody>
      </p:sp>
      <p:sp>
        <p:nvSpPr>
          <p:cNvPr id="22" name="TextBox 21"/>
          <p:cNvSpPr txBox="1"/>
          <p:nvPr/>
        </p:nvSpPr>
        <p:spPr>
          <a:xfrm>
            <a:off x="777240" y="3383280"/>
            <a:ext cx="10607040" cy="274320"/>
          </a:xfrm>
          <a:prstGeom prst="rect">
            <a:avLst/>
          </a:prstGeom>
          <a:noFill/>
        </p:spPr>
        <p:txBody>
          <a:bodyPr wrap="square" lIns="36576" tIns="18288" rIns="36576" bIns="18288">
            <a:spAutoFit/>
          </a:bodyPr>
          <a:lstStyle/>
          <a:p>
            <a:pPr algn="l"/>
            <a:r>
              <a:rPr sz="1500" b="1" i="0">
                <a:solidFill>
                  <a:srgbClr val="0468FF"/>
                </a:solidFill>
                <a:latin typeface="Arial"/>
              </a:rPr>
              <a:t>And the cash economics are the opposite of the build-out</a:t>
            </a:r>
          </a:p>
        </p:txBody>
      </p:sp>
      <p:sp>
        <p:nvSpPr>
          <p:cNvPr id="23" name="TextBox 22"/>
          <p:cNvSpPr txBox="1"/>
          <p:nvPr/>
        </p:nvSpPr>
        <p:spPr>
          <a:xfrm>
            <a:off x="777240" y="3712463"/>
            <a:ext cx="2377440" cy="237744"/>
          </a:xfrm>
          <a:prstGeom prst="rect">
            <a:avLst/>
          </a:prstGeom>
          <a:noFill/>
        </p:spPr>
        <p:txBody>
          <a:bodyPr wrap="square" lIns="36576" tIns="18288" rIns="36576" bIns="18288">
            <a:spAutoFit/>
          </a:bodyPr>
          <a:lstStyle/>
          <a:p>
            <a:pPr algn="l"/>
            <a:r>
              <a:rPr sz="1150" b="1" i="0">
                <a:solidFill>
                  <a:srgbClr val="0468FF"/>
                </a:solidFill>
                <a:latin typeface="Arial"/>
              </a:rPr>
              <a:t>Company</a:t>
            </a:r>
          </a:p>
        </p:txBody>
      </p:sp>
      <p:sp>
        <p:nvSpPr>
          <p:cNvPr id="24" name="TextBox 23"/>
          <p:cNvSpPr txBox="1"/>
          <p:nvPr/>
        </p:nvSpPr>
        <p:spPr>
          <a:xfrm>
            <a:off x="3154680" y="3712463"/>
            <a:ext cx="2148840" cy="237744"/>
          </a:xfrm>
          <a:prstGeom prst="rect">
            <a:avLst/>
          </a:prstGeom>
          <a:noFill/>
        </p:spPr>
        <p:txBody>
          <a:bodyPr wrap="square" lIns="36576" tIns="18288" rIns="36576" bIns="18288">
            <a:spAutoFit/>
          </a:bodyPr>
          <a:lstStyle/>
          <a:p>
            <a:pPr algn="l"/>
            <a:r>
              <a:rPr sz="1150" b="1" i="0">
                <a:solidFill>
                  <a:srgbClr val="0468FF"/>
                </a:solidFill>
                <a:latin typeface="Arial"/>
              </a:rPr>
              <a:t>Revenue</a:t>
            </a:r>
          </a:p>
        </p:txBody>
      </p:sp>
      <p:sp>
        <p:nvSpPr>
          <p:cNvPr id="25" name="TextBox 24"/>
          <p:cNvSpPr txBox="1"/>
          <p:nvPr/>
        </p:nvSpPr>
        <p:spPr>
          <a:xfrm>
            <a:off x="5303520" y="3712463"/>
            <a:ext cx="2148840" cy="237744"/>
          </a:xfrm>
          <a:prstGeom prst="rect">
            <a:avLst/>
          </a:prstGeom>
          <a:noFill/>
        </p:spPr>
        <p:txBody>
          <a:bodyPr wrap="square" lIns="36576" tIns="18288" rIns="36576" bIns="18288">
            <a:spAutoFit/>
          </a:bodyPr>
          <a:lstStyle/>
          <a:p>
            <a:pPr algn="l"/>
            <a:r>
              <a:rPr sz="1150" b="1" i="0">
                <a:solidFill>
                  <a:srgbClr val="0468FF"/>
                </a:solidFill>
                <a:latin typeface="Arial"/>
              </a:rPr>
              <a:t>Free cash flow</a:t>
            </a:r>
          </a:p>
        </p:txBody>
      </p:sp>
      <p:sp>
        <p:nvSpPr>
          <p:cNvPr id="26" name="TextBox 25"/>
          <p:cNvSpPr txBox="1"/>
          <p:nvPr/>
        </p:nvSpPr>
        <p:spPr>
          <a:xfrm>
            <a:off x="7452360" y="3712463"/>
            <a:ext cx="2148840" cy="237744"/>
          </a:xfrm>
          <a:prstGeom prst="rect">
            <a:avLst/>
          </a:prstGeom>
          <a:noFill/>
        </p:spPr>
        <p:txBody>
          <a:bodyPr wrap="square" lIns="36576" tIns="18288" rIns="36576" bIns="18288">
            <a:spAutoFit/>
          </a:bodyPr>
          <a:lstStyle/>
          <a:p>
            <a:pPr algn="l"/>
            <a:r>
              <a:rPr sz="1150" b="1" i="0">
                <a:solidFill>
                  <a:srgbClr val="0468FF"/>
                </a:solidFill>
                <a:latin typeface="Arial"/>
              </a:rPr>
              <a:t>Capex as % of revenue</a:t>
            </a:r>
          </a:p>
        </p:txBody>
      </p:sp>
      <p:sp>
        <p:nvSpPr>
          <p:cNvPr id="27" name="TextBox 26"/>
          <p:cNvSpPr txBox="1"/>
          <p:nvPr/>
        </p:nvSpPr>
        <p:spPr>
          <a:xfrm>
            <a:off x="9601200" y="3712463"/>
            <a:ext cx="1783080" cy="237744"/>
          </a:xfrm>
          <a:prstGeom prst="rect">
            <a:avLst/>
          </a:prstGeom>
          <a:noFill/>
        </p:spPr>
        <p:txBody>
          <a:bodyPr wrap="square" lIns="36576" tIns="18288" rIns="36576" bIns="18288">
            <a:spAutoFit/>
          </a:bodyPr>
          <a:lstStyle/>
          <a:p>
            <a:pPr algn="l"/>
            <a:r>
              <a:rPr sz="1150" b="1" i="0">
                <a:solidFill>
                  <a:srgbClr val="0468FF"/>
                </a:solidFill>
                <a:latin typeface="Arial"/>
              </a:rPr>
              <a:t>Trailing P/E</a:t>
            </a:r>
          </a:p>
        </p:txBody>
      </p:sp>
      <p:sp>
        <p:nvSpPr>
          <p:cNvPr id="28" name="Rectangle 27"/>
          <p:cNvSpPr/>
          <p:nvPr/>
        </p:nvSpPr>
        <p:spPr>
          <a:xfrm>
            <a:off x="777240" y="4059935"/>
            <a:ext cx="10607040" cy="38404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13816" y="4096511"/>
            <a:ext cx="2304288" cy="310896"/>
          </a:xfrm>
          <a:prstGeom prst="rect">
            <a:avLst/>
          </a:prstGeom>
          <a:noFill/>
        </p:spPr>
        <p:txBody>
          <a:bodyPr wrap="square" lIns="36576" tIns="18288" rIns="36576" bIns="18288" anchor="ctr">
            <a:spAutoFit/>
          </a:bodyPr>
          <a:lstStyle/>
          <a:p>
            <a:pPr algn="l"/>
            <a:r>
              <a:rPr sz="1150" b="0" i="0">
                <a:solidFill>
                  <a:srgbClr val="000962"/>
                </a:solidFill>
                <a:latin typeface="Arial"/>
              </a:rPr>
              <a:t>Adobe</a:t>
            </a:r>
          </a:p>
        </p:txBody>
      </p:sp>
      <p:sp>
        <p:nvSpPr>
          <p:cNvPr id="30" name="TextBox 29"/>
          <p:cNvSpPr txBox="1"/>
          <p:nvPr/>
        </p:nvSpPr>
        <p:spPr>
          <a:xfrm>
            <a:off x="3191256" y="4096511"/>
            <a:ext cx="2075688" cy="310896"/>
          </a:xfrm>
          <a:prstGeom prst="rect">
            <a:avLst/>
          </a:prstGeom>
          <a:noFill/>
        </p:spPr>
        <p:txBody>
          <a:bodyPr wrap="square" lIns="36576" tIns="18288" rIns="36576" bIns="18288" anchor="ctr">
            <a:spAutoFit/>
          </a:bodyPr>
          <a:lstStyle/>
          <a:p>
            <a:pPr algn="l"/>
            <a:r>
              <a:rPr sz="1150" b="0" i="0">
                <a:solidFill>
                  <a:srgbClr val="000962"/>
                </a:solidFill>
                <a:latin typeface="Arial"/>
              </a:rPr>
              <a:t>$23.8B</a:t>
            </a:r>
          </a:p>
        </p:txBody>
      </p:sp>
      <p:sp>
        <p:nvSpPr>
          <p:cNvPr id="31" name="TextBox 30"/>
          <p:cNvSpPr txBox="1"/>
          <p:nvPr/>
        </p:nvSpPr>
        <p:spPr>
          <a:xfrm>
            <a:off x="5340096" y="4096511"/>
            <a:ext cx="2075688" cy="310896"/>
          </a:xfrm>
          <a:prstGeom prst="rect">
            <a:avLst/>
          </a:prstGeom>
          <a:noFill/>
        </p:spPr>
        <p:txBody>
          <a:bodyPr wrap="square" lIns="36576" tIns="18288" rIns="36576" bIns="18288" anchor="ctr">
            <a:spAutoFit/>
          </a:bodyPr>
          <a:lstStyle/>
          <a:p>
            <a:pPr algn="l"/>
            <a:r>
              <a:rPr sz="1150" b="0" i="0">
                <a:solidFill>
                  <a:srgbClr val="000962"/>
                </a:solidFill>
                <a:latin typeface="Arial"/>
              </a:rPr>
              <a:t>$9.85B</a:t>
            </a:r>
          </a:p>
        </p:txBody>
      </p:sp>
      <p:sp>
        <p:nvSpPr>
          <p:cNvPr id="32" name="TextBox 31"/>
          <p:cNvSpPr txBox="1"/>
          <p:nvPr/>
        </p:nvSpPr>
        <p:spPr>
          <a:xfrm>
            <a:off x="7488936" y="4096511"/>
            <a:ext cx="2075688" cy="310896"/>
          </a:xfrm>
          <a:prstGeom prst="rect">
            <a:avLst/>
          </a:prstGeom>
          <a:noFill/>
        </p:spPr>
        <p:txBody>
          <a:bodyPr wrap="square" lIns="36576" tIns="18288" rIns="36576" bIns="18288" anchor="ctr">
            <a:spAutoFit/>
          </a:bodyPr>
          <a:lstStyle/>
          <a:p>
            <a:pPr algn="l"/>
            <a:r>
              <a:rPr sz="1150" b="0" i="0">
                <a:solidFill>
                  <a:srgbClr val="000962"/>
                </a:solidFill>
                <a:latin typeface="Arial"/>
              </a:rPr>
              <a:t>0.75%</a:t>
            </a:r>
          </a:p>
        </p:txBody>
      </p:sp>
      <p:sp>
        <p:nvSpPr>
          <p:cNvPr id="33" name="TextBox 32"/>
          <p:cNvSpPr txBox="1"/>
          <p:nvPr/>
        </p:nvSpPr>
        <p:spPr>
          <a:xfrm>
            <a:off x="9637776" y="4096511"/>
            <a:ext cx="1709928" cy="310896"/>
          </a:xfrm>
          <a:prstGeom prst="rect">
            <a:avLst/>
          </a:prstGeom>
          <a:noFill/>
        </p:spPr>
        <p:txBody>
          <a:bodyPr wrap="square" lIns="36576" tIns="18288" rIns="36576" bIns="18288" anchor="ctr">
            <a:spAutoFit/>
          </a:bodyPr>
          <a:lstStyle/>
          <a:p>
            <a:pPr algn="l"/>
            <a:r>
              <a:rPr sz="1150" b="0" i="0">
                <a:solidFill>
                  <a:srgbClr val="000962"/>
                </a:solidFill>
                <a:latin typeface="Arial"/>
              </a:rPr>
              <a:t>About 11x</a:t>
            </a:r>
          </a:p>
        </p:txBody>
      </p:sp>
      <p:sp>
        <p:nvSpPr>
          <p:cNvPr id="34" name="Rectangle 33"/>
          <p:cNvSpPr/>
          <p:nvPr/>
        </p:nvSpPr>
        <p:spPr>
          <a:xfrm>
            <a:off x="777240" y="4480559"/>
            <a:ext cx="10607040" cy="38404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13816" y="4517136"/>
            <a:ext cx="2304288" cy="310896"/>
          </a:xfrm>
          <a:prstGeom prst="rect">
            <a:avLst/>
          </a:prstGeom>
          <a:noFill/>
        </p:spPr>
        <p:txBody>
          <a:bodyPr wrap="square" lIns="36576" tIns="18288" rIns="36576" bIns="18288" anchor="ctr">
            <a:spAutoFit/>
          </a:bodyPr>
          <a:lstStyle/>
          <a:p>
            <a:pPr algn="l"/>
            <a:r>
              <a:rPr sz="1150" b="0" i="0">
                <a:solidFill>
                  <a:srgbClr val="000962"/>
                </a:solidFill>
                <a:latin typeface="Arial"/>
              </a:rPr>
              <a:t>Salesforce</a:t>
            </a:r>
          </a:p>
        </p:txBody>
      </p:sp>
      <p:sp>
        <p:nvSpPr>
          <p:cNvPr id="36" name="TextBox 35"/>
          <p:cNvSpPr txBox="1"/>
          <p:nvPr/>
        </p:nvSpPr>
        <p:spPr>
          <a:xfrm>
            <a:off x="3191256" y="4517136"/>
            <a:ext cx="2075688" cy="310896"/>
          </a:xfrm>
          <a:prstGeom prst="rect">
            <a:avLst/>
          </a:prstGeom>
          <a:noFill/>
        </p:spPr>
        <p:txBody>
          <a:bodyPr wrap="square" lIns="36576" tIns="18288" rIns="36576" bIns="18288" anchor="ctr">
            <a:spAutoFit/>
          </a:bodyPr>
          <a:lstStyle/>
          <a:p>
            <a:pPr algn="l"/>
            <a:r>
              <a:rPr sz="1150" b="0" i="0">
                <a:solidFill>
                  <a:srgbClr val="000962"/>
                </a:solidFill>
                <a:latin typeface="Arial"/>
              </a:rPr>
              <a:t>$41.5B</a:t>
            </a:r>
          </a:p>
        </p:txBody>
      </p:sp>
      <p:sp>
        <p:nvSpPr>
          <p:cNvPr id="37" name="TextBox 36"/>
          <p:cNvSpPr txBox="1"/>
          <p:nvPr/>
        </p:nvSpPr>
        <p:spPr>
          <a:xfrm>
            <a:off x="5340096" y="4517136"/>
            <a:ext cx="2075688" cy="310896"/>
          </a:xfrm>
          <a:prstGeom prst="rect">
            <a:avLst/>
          </a:prstGeom>
          <a:noFill/>
        </p:spPr>
        <p:txBody>
          <a:bodyPr wrap="square" lIns="36576" tIns="18288" rIns="36576" bIns="18288" anchor="ctr">
            <a:spAutoFit/>
          </a:bodyPr>
          <a:lstStyle/>
          <a:p>
            <a:pPr algn="l"/>
            <a:r>
              <a:rPr sz="1150" b="0" i="0">
                <a:solidFill>
                  <a:srgbClr val="000962"/>
                </a:solidFill>
                <a:latin typeface="Arial"/>
              </a:rPr>
              <a:t>About $14.4B</a:t>
            </a:r>
          </a:p>
        </p:txBody>
      </p:sp>
      <p:sp>
        <p:nvSpPr>
          <p:cNvPr id="38" name="TextBox 37"/>
          <p:cNvSpPr txBox="1"/>
          <p:nvPr/>
        </p:nvSpPr>
        <p:spPr>
          <a:xfrm>
            <a:off x="7488936" y="4517136"/>
            <a:ext cx="2075688" cy="310896"/>
          </a:xfrm>
          <a:prstGeom prst="rect">
            <a:avLst/>
          </a:prstGeom>
          <a:noFill/>
        </p:spPr>
        <p:txBody>
          <a:bodyPr wrap="square" lIns="36576" tIns="18288" rIns="36576" bIns="18288" anchor="ctr">
            <a:spAutoFit/>
          </a:bodyPr>
          <a:lstStyle/>
          <a:p>
            <a:pPr algn="l"/>
            <a:r>
              <a:rPr sz="1150" b="0" i="0">
                <a:solidFill>
                  <a:srgbClr val="000962"/>
                </a:solidFill>
                <a:latin typeface="Arial"/>
              </a:rPr>
              <a:t>About 1.4%</a:t>
            </a:r>
          </a:p>
        </p:txBody>
      </p:sp>
      <p:sp>
        <p:nvSpPr>
          <p:cNvPr id="39" name="TextBox 38"/>
          <p:cNvSpPr txBox="1"/>
          <p:nvPr/>
        </p:nvSpPr>
        <p:spPr>
          <a:xfrm>
            <a:off x="9637776" y="4517136"/>
            <a:ext cx="1709928" cy="310896"/>
          </a:xfrm>
          <a:prstGeom prst="rect">
            <a:avLst/>
          </a:prstGeom>
          <a:noFill/>
        </p:spPr>
        <p:txBody>
          <a:bodyPr wrap="square" lIns="36576" tIns="18288" rIns="36576" bIns="18288" anchor="ctr">
            <a:spAutoFit/>
          </a:bodyPr>
          <a:lstStyle/>
          <a:p>
            <a:pPr algn="l"/>
            <a:r>
              <a:rPr sz="1150" b="0" i="0">
                <a:solidFill>
                  <a:srgbClr val="000962"/>
                </a:solidFill>
                <a:latin typeface="Arial"/>
              </a:rPr>
              <a:t>About 13x</a:t>
            </a:r>
          </a:p>
        </p:txBody>
      </p:sp>
      <p:sp>
        <p:nvSpPr>
          <p:cNvPr id="40" name="Rectangle 39"/>
          <p:cNvSpPr/>
          <p:nvPr/>
        </p:nvSpPr>
        <p:spPr>
          <a:xfrm>
            <a:off x="777240" y="4901183"/>
            <a:ext cx="10607040" cy="38404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13816" y="4937759"/>
            <a:ext cx="2304288" cy="310896"/>
          </a:xfrm>
          <a:prstGeom prst="rect">
            <a:avLst/>
          </a:prstGeom>
          <a:noFill/>
        </p:spPr>
        <p:txBody>
          <a:bodyPr wrap="square" lIns="36576" tIns="18288" rIns="36576" bIns="18288" anchor="ctr">
            <a:spAutoFit/>
          </a:bodyPr>
          <a:lstStyle/>
          <a:p>
            <a:pPr algn="l"/>
            <a:r>
              <a:rPr sz="1150" b="0" i="0">
                <a:solidFill>
                  <a:srgbClr val="000962"/>
                </a:solidFill>
                <a:latin typeface="Arial"/>
              </a:rPr>
              <a:t>Intuit</a:t>
            </a:r>
          </a:p>
        </p:txBody>
      </p:sp>
      <p:sp>
        <p:nvSpPr>
          <p:cNvPr id="42" name="TextBox 41"/>
          <p:cNvSpPr txBox="1"/>
          <p:nvPr/>
        </p:nvSpPr>
        <p:spPr>
          <a:xfrm>
            <a:off x="3191256" y="4937759"/>
            <a:ext cx="2075688" cy="310896"/>
          </a:xfrm>
          <a:prstGeom prst="rect">
            <a:avLst/>
          </a:prstGeom>
          <a:noFill/>
        </p:spPr>
        <p:txBody>
          <a:bodyPr wrap="square" lIns="36576" tIns="18288" rIns="36576" bIns="18288" anchor="ctr">
            <a:spAutoFit/>
          </a:bodyPr>
          <a:lstStyle/>
          <a:p>
            <a:pPr algn="l"/>
            <a:r>
              <a:rPr sz="1150" b="0" i="0">
                <a:solidFill>
                  <a:srgbClr val="000962"/>
                </a:solidFill>
                <a:latin typeface="Arial"/>
              </a:rPr>
              <a:t>$18.8B</a:t>
            </a:r>
          </a:p>
        </p:txBody>
      </p:sp>
      <p:sp>
        <p:nvSpPr>
          <p:cNvPr id="43" name="TextBox 42"/>
          <p:cNvSpPr txBox="1"/>
          <p:nvPr/>
        </p:nvSpPr>
        <p:spPr>
          <a:xfrm>
            <a:off x="5340096" y="4937759"/>
            <a:ext cx="2075688" cy="310896"/>
          </a:xfrm>
          <a:prstGeom prst="rect">
            <a:avLst/>
          </a:prstGeom>
          <a:noFill/>
        </p:spPr>
        <p:txBody>
          <a:bodyPr wrap="square" lIns="36576" tIns="18288" rIns="36576" bIns="18288" anchor="ctr">
            <a:spAutoFit/>
          </a:bodyPr>
          <a:lstStyle/>
          <a:p>
            <a:pPr algn="l"/>
            <a:r>
              <a:rPr sz="1150" b="0" i="0">
                <a:solidFill>
                  <a:srgbClr val="000962"/>
                </a:solidFill>
                <a:latin typeface="Arial"/>
              </a:rPr>
              <a:t>About $6.1B</a:t>
            </a:r>
          </a:p>
        </p:txBody>
      </p:sp>
      <p:sp>
        <p:nvSpPr>
          <p:cNvPr id="44" name="TextBox 43"/>
          <p:cNvSpPr txBox="1"/>
          <p:nvPr/>
        </p:nvSpPr>
        <p:spPr>
          <a:xfrm>
            <a:off x="7488936" y="4937759"/>
            <a:ext cx="2075688" cy="310896"/>
          </a:xfrm>
          <a:prstGeom prst="rect">
            <a:avLst/>
          </a:prstGeom>
          <a:noFill/>
        </p:spPr>
        <p:txBody>
          <a:bodyPr wrap="square" lIns="36576" tIns="18288" rIns="36576" bIns="18288" anchor="ctr">
            <a:spAutoFit/>
          </a:bodyPr>
          <a:lstStyle/>
          <a:p>
            <a:pPr algn="l"/>
            <a:r>
              <a:rPr sz="1150" b="0" i="0">
                <a:solidFill>
                  <a:srgbClr val="000962"/>
                </a:solidFill>
                <a:latin typeface="Arial"/>
              </a:rPr>
              <a:t>0.7%</a:t>
            </a:r>
          </a:p>
        </p:txBody>
      </p:sp>
      <p:sp>
        <p:nvSpPr>
          <p:cNvPr id="45" name="TextBox 44"/>
          <p:cNvSpPr txBox="1"/>
          <p:nvPr/>
        </p:nvSpPr>
        <p:spPr>
          <a:xfrm>
            <a:off x="9637776" y="4937759"/>
            <a:ext cx="1709928" cy="310896"/>
          </a:xfrm>
          <a:prstGeom prst="rect">
            <a:avLst/>
          </a:prstGeom>
          <a:noFill/>
        </p:spPr>
        <p:txBody>
          <a:bodyPr wrap="square" lIns="36576" tIns="18288" rIns="36576" bIns="18288" anchor="ctr">
            <a:spAutoFit/>
          </a:bodyPr>
          <a:lstStyle/>
          <a:p>
            <a:pPr algn="l"/>
            <a:r>
              <a:rPr sz="1150" b="0" i="0">
                <a:solidFill>
                  <a:srgbClr val="000962"/>
                </a:solidFill>
                <a:latin typeface="Arial"/>
              </a:rPr>
              <a:t>About 14x</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21207" y="6323076"/>
            <a:ext cx="5394960" cy="146304"/>
          </a:xfrm>
          <a:prstGeom prst="rect">
            <a:avLst/>
          </a:prstGeom>
          <a:noFill/>
        </p:spPr>
        <p:txBody>
          <a:bodyPr wrap="square" lIns="0" tIns="0" r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tIns="0" r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tIns="0" r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tIns="18288" rIns="36576" bIns="18288">
            <a:spAutoFit/>
          </a:bodyPr>
          <a:lstStyle/>
          <a:p>
            <a:pPr algn="l"/>
            <a:r>
              <a:rPr sz="3200" b="1" i="0">
                <a:solidFill>
                  <a:srgbClr val="0468FF"/>
                </a:solidFill>
                <a:latin typeface="Arial"/>
              </a:rPr>
              <a:t>Who Actually Pays for the Build-Out?</a:t>
            </a:r>
          </a:p>
        </p:txBody>
      </p:sp>
      <p:sp>
        <p:nvSpPr>
          <p:cNvPr id="9" name="TextBox 8"/>
          <p:cNvSpPr txBox="1"/>
          <p:nvPr/>
        </p:nvSpPr>
        <p:spPr>
          <a:xfrm>
            <a:off x="713232" y="1353312"/>
            <a:ext cx="10881360" cy="310896"/>
          </a:xfrm>
          <a:prstGeom prst="rect">
            <a:avLst/>
          </a:prstGeom>
          <a:noFill/>
        </p:spPr>
        <p:txBody>
          <a:bodyPr wrap="square" lIns="36576" tIns="18288" rIns="36576" bIns="18288">
            <a:spAutoFit/>
          </a:bodyPr>
          <a:lstStyle/>
          <a:p>
            <a:pPr algn="l"/>
            <a:r>
              <a:rPr sz="1600" b="0" i="0">
                <a:solidFill>
                  <a:srgbClr val="000962"/>
                </a:solidFill>
                <a:latin typeface="Arial"/>
              </a:rPr>
              <a:t>A transformative technology and a profitable one are not the same thing.</a:t>
            </a:r>
          </a:p>
        </p:txBody>
      </p:sp>
      <p:sp>
        <p:nvSpPr>
          <p:cNvPr id="10" name="TextBox 9"/>
          <p:cNvSpPr txBox="1"/>
          <p:nvPr/>
        </p:nvSpPr>
        <p:spPr>
          <a:xfrm>
            <a:off x="777240" y="1920240"/>
            <a:ext cx="6675120" cy="3108960"/>
          </a:xfrm>
          <a:prstGeom prst="rect">
            <a:avLst/>
          </a:prstGeom>
          <a:noFill/>
        </p:spPr>
        <p:txBody>
          <a:bodyPr wrap="square" lIns="36576" tIns="18288" rIns="36576" bIns="18288">
            <a:spAutoFit/>
          </a:bodyPr>
          <a:lstStyle/>
          <a:p>
            <a:pPr algn="l">
              <a:spcAft>
                <a:spcPts val="900"/>
              </a:spcAft>
            </a:pPr>
            <a:r>
              <a:rPr sz="1300" b="0" i="0">
                <a:solidFill>
                  <a:srgbClr val="000962"/>
                </a:solidFill>
                <a:latin typeface="Arial"/>
              </a:rPr>
              <a:t>Amazon spent $131.8 billion of capital expenditure in 2025 against $139.5 billion of operating cash flow, and guides to $220 billion for 2026.</a:t>
            </a:r>
          </a:p>
          <a:p>
            <a:pPr algn="l">
              <a:spcAft>
                <a:spcPts val="900"/>
              </a:spcAft>
            </a:pPr>
            <a:r>
              <a:rPr sz="1300" b="0" i="0">
                <a:solidFill>
                  <a:srgbClr val="000962"/>
                </a:solidFill>
                <a:latin typeface="Arial"/>
              </a:rPr>
              <a:t>Alphabet guides to $195 to $205 billion this year. Meta guides to $125 to $145 billion. Moody's projects hyperscaler capital spending near $1 trillion in 2027, funded partly by debt.</a:t>
            </a:r>
          </a:p>
          <a:p>
            <a:pPr algn="l">
              <a:spcAft>
                <a:spcPts val="900"/>
              </a:spcAft>
            </a:pPr>
            <a:r>
              <a:rPr sz="1300" b="0" i="0">
                <a:solidFill>
                  <a:srgbClr val="000962"/>
                </a:solidFill>
                <a:latin typeface="Arial"/>
              </a:rPr>
              <a:t>Microsoft's free cash flow fell to $67.0 billion from $74.1 billion even as revenue grew by a third, because capital expenditure went from 18% to 35% of revenue.</a:t>
            </a:r>
          </a:p>
          <a:p>
            <a:pPr algn="l">
              <a:spcAft>
                <a:spcPts val="900"/>
              </a:spcAft>
            </a:pPr>
            <a:r>
              <a:rPr sz="1300" b="0" i="0">
                <a:solidFill>
                  <a:srgbClr val="000962"/>
                </a:solidFill>
                <a:latin typeface="Arial"/>
              </a:rPr>
              <a:t>Several hyperscalers extended assumed server useful lives, which raised reported profit without raising cash. Amazon went the other way in 2025, shortening the life of some servers and citing the pace of AI development. That cost it about $1.0 billion of net income.</a:t>
            </a:r>
          </a:p>
        </p:txBody>
      </p:sp>
      <p:sp>
        <p:nvSpPr>
          <p:cNvPr id="11" name="Rectangle 10"/>
          <p:cNvSpPr/>
          <p:nvPr/>
        </p:nvSpPr>
        <p:spPr>
          <a:xfrm>
            <a:off x="7818120" y="1901952"/>
            <a:ext cx="3566160" cy="310896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28431" y="2066543"/>
            <a:ext cx="3154680" cy="274320"/>
          </a:xfrm>
          <a:prstGeom prst="rect">
            <a:avLst/>
          </a:prstGeom>
          <a:noFill/>
        </p:spPr>
        <p:txBody>
          <a:bodyPr wrap="square" lIns="36576" tIns="18288" rIns="36576" bIns="18288">
            <a:spAutoFit/>
          </a:bodyPr>
          <a:lstStyle/>
          <a:p>
            <a:pPr algn="l"/>
            <a:r>
              <a:rPr sz="1500" b="1" i="0">
                <a:solidFill>
                  <a:srgbClr val="0468FF"/>
                </a:solidFill>
                <a:latin typeface="Arial"/>
              </a:rPr>
              <a:t>The revenue gap</a:t>
            </a:r>
          </a:p>
        </p:txBody>
      </p:sp>
      <p:sp>
        <p:nvSpPr>
          <p:cNvPr id="13" name="TextBox 12"/>
          <p:cNvSpPr txBox="1"/>
          <p:nvPr/>
        </p:nvSpPr>
        <p:spPr>
          <a:xfrm>
            <a:off x="8028431" y="2432304"/>
            <a:ext cx="3154680" cy="2423160"/>
          </a:xfrm>
          <a:prstGeom prst="rect">
            <a:avLst/>
          </a:prstGeom>
          <a:noFill/>
        </p:spPr>
        <p:txBody>
          <a:bodyPr wrap="square" lIns="36576" tIns="18288" rIns="36576" bIns="18288">
            <a:spAutoFit/>
          </a:bodyPr>
          <a:lstStyle/>
          <a:p>
            <a:pPr algn="l">
              <a:spcAft>
                <a:spcPts val="900"/>
              </a:spcAft>
            </a:pPr>
            <a:r>
              <a:rPr sz="1200" b="0" i="0">
                <a:solidFill>
                  <a:srgbClr val="000962"/>
                </a:solidFill>
                <a:latin typeface="Arial"/>
              </a:rPr>
              <a:t>Bain estimates roughly $2 trillion of annual AI revenue is needed by 2030, and calculates the industry still comes up about $800 billion short.</a:t>
            </a:r>
          </a:p>
          <a:p>
            <a:pPr algn="l">
              <a:spcAft>
                <a:spcPts val="900"/>
              </a:spcAft>
            </a:pPr>
            <a:r>
              <a:rPr sz="1200" b="0" i="0">
                <a:solidFill>
                  <a:srgbClr val="000962"/>
                </a:solidFill>
                <a:latin typeface="Arial"/>
              </a:rPr>
              <a:t>Sequoia's David Cahn puts the gap near $840 billion.</a:t>
            </a:r>
          </a:p>
          <a:p>
            <a:pPr algn="l">
              <a:spcAft>
                <a:spcPts val="900"/>
              </a:spcAft>
            </a:pPr>
            <a:r>
              <a:rPr sz="1200" b="0" i="0">
                <a:solidFill>
                  <a:srgbClr val="000962"/>
                </a:solidFill>
                <a:latin typeface="Arial"/>
              </a:rPr>
              <a:t>OpenAI's 2025 revenue was $13.1 billion against a $20.9 billion operating loss. Anthropic's was $10 billion.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21207" y="6323076"/>
            <a:ext cx="5394960" cy="146304"/>
          </a:xfrm>
          <a:prstGeom prst="rect">
            <a:avLst/>
          </a:prstGeom>
          <a:noFill/>
        </p:spPr>
        <p:txBody>
          <a:bodyPr wrap="square" lIns="0" tIns="0" r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tIns="0" r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tIns="0" r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tIns="18288" rIns="36576" bIns="18288">
            <a:spAutoFit/>
          </a:bodyPr>
          <a:lstStyle/>
          <a:p>
            <a:pPr algn="l"/>
            <a:r>
              <a:rPr sz="3200" b="1" i="0">
                <a:solidFill>
                  <a:srgbClr val="0468FF"/>
                </a:solidFill>
                <a:latin typeface="Arial"/>
              </a:rPr>
              <a:t>1873: America Built the Railroads and Lost the Money</a:t>
            </a:r>
          </a:p>
        </p:txBody>
      </p:sp>
      <p:sp>
        <p:nvSpPr>
          <p:cNvPr id="9" name="TextBox 8"/>
          <p:cNvSpPr txBox="1"/>
          <p:nvPr/>
        </p:nvSpPr>
        <p:spPr>
          <a:xfrm>
            <a:off x="713232" y="1353312"/>
            <a:ext cx="10881360" cy="310896"/>
          </a:xfrm>
          <a:prstGeom prst="rect">
            <a:avLst/>
          </a:prstGeom>
          <a:noFill/>
        </p:spPr>
        <p:txBody>
          <a:bodyPr wrap="square" lIns="36576" tIns="18288" rIns="36576" bIns="18288">
            <a:spAutoFit/>
          </a:bodyPr>
          <a:lstStyle/>
          <a:p>
            <a:pPr algn="l"/>
            <a:r>
              <a:rPr sz="1600" b="0" i="0">
                <a:solidFill>
                  <a:srgbClr val="000962"/>
                </a:solidFill>
                <a:latin typeface="Arial"/>
              </a:rPr>
              <a:t>Every argument you hear about AI today was made about rail, and it was correct.</a:t>
            </a:r>
          </a:p>
        </p:txBody>
      </p:sp>
      <p:sp>
        <p:nvSpPr>
          <p:cNvPr id="10" name="TextBox 9"/>
          <p:cNvSpPr txBox="1"/>
          <p:nvPr/>
        </p:nvSpPr>
        <p:spPr>
          <a:xfrm>
            <a:off x="777240" y="1920240"/>
            <a:ext cx="6675120" cy="3108960"/>
          </a:xfrm>
          <a:prstGeom prst="rect">
            <a:avLst/>
          </a:prstGeom>
          <a:noFill/>
        </p:spPr>
        <p:txBody>
          <a:bodyPr wrap="square" lIns="36576" tIns="18288" rIns="36576" bIns="18288">
            <a:spAutoFit/>
          </a:bodyPr>
          <a:lstStyle/>
          <a:p>
            <a:pPr algn="l">
              <a:spcAft>
                <a:spcPts val="900"/>
              </a:spcAft>
            </a:pPr>
            <a:r>
              <a:rPr sz="1300" b="0" i="0">
                <a:solidFill>
                  <a:srgbClr val="000962"/>
                </a:solidFill>
                <a:latin typeface="Arial"/>
              </a:rPr>
              <a:t>Track mileage went from 35,085 miles in 1865 to 74,096 by 1875. Railroad capital reached roughly $4.5 billion when the entire banking system's capital was $720 million.</a:t>
            </a:r>
          </a:p>
          <a:p>
            <a:pPr algn="l">
              <a:spcAft>
                <a:spcPts val="900"/>
              </a:spcAft>
            </a:pPr>
            <a:r>
              <a:rPr sz="1300" b="0" i="0">
                <a:solidFill>
                  <a:srgbClr val="000962"/>
                </a:solidFill>
                <a:latin typeface="Arial"/>
              </a:rPr>
              <a:t>In January 1870, 87% of all shares traded on the New York Stock Exchange were railroad shares. European capital came for the yield.</a:t>
            </a:r>
          </a:p>
          <a:p>
            <a:pPr algn="l">
              <a:spcAft>
                <a:spcPts val="900"/>
              </a:spcAft>
            </a:pPr>
            <a:r>
              <a:rPr sz="1300" b="0" i="0">
                <a:solidFill>
                  <a:srgbClr val="000962"/>
                </a:solidFill>
                <a:latin typeface="Arial"/>
              </a:rPr>
              <a:t>Jay Cooke &amp; Co. failed on September 18, 1873. The New York Stock Exchange closed for ten days, the first closure in its history.</a:t>
            </a:r>
          </a:p>
          <a:p>
            <a:pPr algn="l">
              <a:spcAft>
                <a:spcPts val="900"/>
              </a:spcAft>
            </a:pPr>
            <a:r>
              <a:rPr sz="1300" b="0" i="0">
                <a:solidFill>
                  <a:srgbClr val="000962"/>
                </a:solidFill>
                <a:latin typeface="Arial"/>
              </a:rPr>
              <a:t>By 1876, 134 railroads had defaulted on $500 million of bonds. By 1877, 20% of American track mileage was in receivership.</a:t>
            </a:r>
          </a:p>
        </p:txBody>
      </p:sp>
      <p:sp>
        <p:nvSpPr>
          <p:cNvPr id="11" name="Rectangle 10"/>
          <p:cNvSpPr/>
          <p:nvPr/>
        </p:nvSpPr>
        <p:spPr>
          <a:xfrm>
            <a:off x="7818120" y="1901952"/>
            <a:ext cx="3566160" cy="310896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28431" y="2066543"/>
            <a:ext cx="3154680" cy="274320"/>
          </a:xfrm>
          <a:prstGeom prst="rect">
            <a:avLst/>
          </a:prstGeom>
          <a:noFill/>
        </p:spPr>
        <p:txBody>
          <a:bodyPr wrap="square" lIns="36576" tIns="18288" rIns="36576" bIns="18288">
            <a:spAutoFit/>
          </a:bodyPr>
          <a:lstStyle/>
          <a:p>
            <a:pPr algn="l"/>
            <a:r>
              <a:rPr sz="1500" b="1" i="0">
                <a:solidFill>
                  <a:srgbClr val="0468FF"/>
                </a:solidFill>
                <a:latin typeface="Arial"/>
              </a:rPr>
              <a:t>The railroads worked</a:t>
            </a:r>
          </a:p>
        </p:txBody>
      </p:sp>
      <p:sp>
        <p:nvSpPr>
          <p:cNvPr id="13" name="TextBox 12"/>
          <p:cNvSpPr txBox="1"/>
          <p:nvPr/>
        </p:nvSpPr>
        <p:spPr>
          <a:xfrm>
            <a:off x="8028431" y="2432304"/>
            <a:ext cx="3154680" cy="2423160"/>
          </a:xfrm>
          <a:prstGeom prst="rect">
            <a:avLst/>
          </a:prstGeom>
          <a:noFill/>
        </p:spPr>
        <p:txBody>
          <a:bodyPr wrap="square" lIns="36576" tIns="18288" rIns="36576" bIns="18288">
            <a:spAutoFit/>
          </a:bodyPr>
          <a:lstStyle/>
          <a:p>
            <a:pPr algn="l">
              <a:spcAft>
                <a:spcPts val="900"/>
              </a:spcAft>
            </a:pPr>
            <a:r>
              <a:rPr sz="1200" b="0" i="0">
                <a:solidFill>
                  <a:srgbClr val="000962"/>
                </a:solidFill>
                <a:latin typeface="Arial"/>
              </a:rPr>
              <a:t>The technology delivered everything promised. It transformed the country.</a:t>
            </a:r>
          </a:p>
          <a:p>
            <a:pPr algn="l">
              <a:spcAft>
                <a:spcPts val="900"/>
              </a:spcAft>
            </a:pPr>
            <a:r>
              <a:rPr sz="1200" b="0" i="0">
                <a:solidFill>
                  <a:srgbClr val="000962"/>
                </a:solidFill>
                <a:latin typeface="Arial"/>
              </a:rPr>
              <a:t>And then competition took the returns. Revenue per ton-mile fell from 1.88 cents in 1870 to 0.73 cents in 1900, a decline of about 61%.</a:t>
            </a:r>
          </a:p>
          <a:p>
            <a:pPr algn="l">
              <a:spcAft>
                <a:spcPts val="900"/>
              </a:spcAft>
            </a:pPr>
            <a:r>
              <a:rPr sz="1200" b="0" i="0">
                <a:solidFill>
                  <a:srgbClr val="000962"/>
                </a:solidFill>
                <a:latin typeface="Arial"/>
              </a:rPr>
              <a:t>Every new mile made the network more valuable to America and less valuable to the men who paid for it.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21207" y="6323076"/>
            <a:ext cx="5394960" cy="146304"/>
          </a:xfrm>
          <a:prstGeom prst="rect">
            <a:avLst/>
          </a:prstGeom>
          <a:noFill/>
        </p:spPr>
        <p:txBody>
          <a:bodyPr wrap="square" lIns="0" tIns="0" r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tIns="0" r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tIns="0" r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tIns="18288" rIns="36576" bIns="18288">
            <a:spAutoFit/>
          </a:bodyPr>
          <a:lstStyle/>
          <a:p>
            <a:pPr algn="l"/>
            <a:r>
              <a:rPr sz="3200" b="1" i="0">
                <a:solidFill>
                  <a:srgbClr val="0468FF"/>
                </a:solidFill>
                <a:latin typeface="Arial"/>
              </a:rPr>
              <a:t>Who Got Paid: The Toll Booths</a:t>
            </a:r>
          </a:p>
        </p:txBody>
      </p:sp>
      <p:sp>
        <p:nvSpPr>
          <p:cNvPr id="9" name="TextBox 8"/>
          <p:cNvSpPr txBox="1"/>
          <p:nvPr/>
        </p:nvSpPr>
        <p:spPr>
          <a:xfrm>
            <a:off x="713232" y="1353312"/>
            <a:ext cx="10881360" cy="310896"/>
          </a:xfrm>
          <a:prstGeom prst="rect">
            <a:avLst/>
          </a:prstGeom>
          <a:noFill/>
        </p:spPr>
        <p:txBody>
          <a:bodyPr wrap="square" lIns="36576" tIns="18288" rIns="36576" bIns="18288">
            <a:spAutoFit/>
          </a:bodyPr>
          <a:lstStyle/>
          <a:p>
            <a:pPr algn="l"/>
            <a:r>
              <a:rPr sz="1600" b="0" i="0">
                <a:solidFill>
                  <a:srgbClr val="000962"/>
                </a:solidFill>
                <a:latin typeface="Arial"/>
              </a:rPr>
              <a:t>In every build-out, the money is made by the businesses riding on somebody else's capital.</a:t>
            </a:r>
          </a:p>
        </p:txBody>
      </p:sp>
      <p:sp>
        <p:nvSpPr>
          <p:cNvPr id="10" name="Rectangle 9"/>
          <p:cNvSpPr/>
          <p:nvPr/>
        </p:nvSpPr>
        <p:spPr>
          <a:xfrm>
            <a:off x="777240" y="1920240"/>
            <a:ext cx="10607040" cy="102412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87552" y="2066544"/>
            <a:ext cx="2743200" cy="274320"/>
          </a:xfrm>
          <a:prstGeom prst="rect">
            <a:avLst/>
          </a:prstGeom>
          <a:noFill/>
        </p:spPr>
        <p:txBody>
          <a:bodyPr wrap="square" lIns="36576" tIns="18288" rIns="36576" bIns="18288">
            <a:spAutoFit/>
          </a:bodyPr>
          <a:lstStyle/>
          <a:p>
            <a:pPr algn="l"/>
            <a:r>
              <a:rPr sz="1500" b="1" i="0">
                <a:solidFill>
                  <a:srgbClr val="0468FF"/>
                </a:solidFill>
                <a:latin typeface="Arial"/>
              </a:rPr>
              <a:t>Adams Express</a:t>
            </a:r>
          </a:p>
        </p:txBody>
      </p:sp>
      <p:sp>
        <p:nvSpPr>
          <p:cNvPr id="12" name="TextBox 11"/>
          <p:cNvSpPr txBox="1"/>
          <p:nvPr/>
        </p:nvSpPr>
        <p:spPr>
          <a:xfrm>
            <a:off x="987552" y="2395728"/>
            <a:ext cx="2743200" cy="256032"/>
          </a:xfrm>
          <a:prstGeom prst="rect">
            <a:avLst/>
          </a:prstGeom>
          <a:noFill/>
        </p:spPr>
        <p:txBody>
          <a:bodyPr wrap="square" lIns="36576" tIns="18288" rIns="36576" bIns="18288">
            <a:spAutoFit/>
          </a:bodyPr>
          <a:lstStyle/>
          <a:p>
            <a:pPr algn="l"/>
            <a:r>
              <a:rPr sz="1150" b="0" i="0">
                <a:solidFill>
                  <a:srgbClr val="46648C"/>
                </a:solidFill>
                <a:latin typeface="Arial"/>
              </a:rPr>
              <a:t>1854 onward</a:t>
            </a:r>
          </a:p>
        </p:txBody>
      </p:sp>
      <p:sp>
        <p:nvSpPr>
          <p:cNvPr id="13" name="TextBox 12"/>
          <p:cNvSpPr txBox="1"/>
          <p:nvPr/>
        </p:nvSpPr>
        <p:spPr>
          <a:xfrm>
            <a:off x="3931920" y="2029968"/>
            <a:ext cx="7269480" cy="841248"/>
          </a:xfrm>
          <a:prstGeom prst="rect">
            <a:avLst/>
          </a:prstGeom>
          <a:noFill/>
        </p:spPr>
        <p:txBody>
          <a:bodyPr wrap="square" lIns="36576" tIns="18288" rIns="36576" bIns="18288">
            <a:spAutoFit/>
          </a:bodyPr>
          <a:lstStyle/>
          <a:p>
            <a:pPr algn="l">
              <a:lnSpc>
                <a:spcPct val="100000"/>
              </a:lnSpc>
            </a:pPr>
            <a:r>
              <a:rPr sz="1150" b="0" i="0">
                <a:solidFill>
                  <a:srgbClr val="000962"/>
                </a:solidFill>
                <a:latin typeface="Arial"/>
              </a:rPr>
              <a:t>Never owned a mile of track. Bought space on other men's trains. Paid an unbroken $8 per share dividend from 1869 forward, straight through the depression that bankrupted a fifth of the railroads. It became a closed-end fund in 1929 and is still listed today.</a:t>
            </a:r>
          </a:p>
        </p:txBody>
      </p:sp>
      <p:sp>
        <p:nvSpPr>
          <p:cNvPr id="14" name="Rectangle 13"/>
          <p:cNvSpPr/>
          <p:nvPr/>
        </p:nvSpPr>
        <p:spPr>
          <a:xfrm>
            <a:off x="777240" y="3017520"/>
            <a:ext cx="10607040" cy="102412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87552" y="3163824"/>
            <a:ext cx="2743200" cy="274320"/>
          </a:xfrm>
          <a:prstGeom prst="rect">
            <a:avLst/>
          </a:prstGeom>
          <a:noFill/>
        </p:spPr>
        <p:txBody>
          <a:bodyPr wrap="square" lIns="36576" tIns="18288" rIns="36576" bIns="18288">
            <a:spAutoFit/>
          </a:bodyPr>
          <a:lstStyle/>
          <a:p>
            <a:pPr algn="l"/>
            <a:r>
              <a:rPr sz="1500" b="1" i="0">
                <a:solidFill>
                  <a:srgbClr val="0468FF"/>
                </a:solidFill>
                <a:latin typeface="Arial"/>
              </a:rPr>
              <a:t>Pullman</a:t>
            </a:r>
          </a:p>
        </p:txBody>
      </p:sp>
      <p:sp>
        <p:nvSpPr>
          <p:cNvPr id="16" name="TextBox 15"/>
          <p:cNvSpPr txBox="1"/>
          <p:nvPr/>
        </p:nvSpPr>
        <p:spPr>
          <a:xfrm>
            <a:off x="987552" y="3493008"/>
            <a:ext cx="2743200" cy="256032"/>
          </a:xfrm>
          <a:prstGeom prst="rect">
            <a:avLst/>
          </a:prstGeom>
          <a:noFill/>
        </p:spPr>
        <p:txBody>
          <a:bodyPr wrap="square" lIns="36576" tIns="18288" rIns="36576" bIns="18288">
            <a:spAutoFit/>
          </a:bodyPr>
          <a:lstStyle/>
          <a:p>
            <a:pPr algn="l"/>
            <a:r>
              <a:rPr sz="1150" b="0" i="0">
                <a:solidFill>
                  <a:srgbClr val="46648C"/>
                </a:solidFill>
                <a:latin typeface="Arial"/>
              </a:rPr>
              <a:t>1867 onward</a:t>
            </a:r>
          </a:p>
        </p:txBody>
      </p:sp>
      <p:sp>
        <p:nvSpPr>
          <p:cNvPr id="17" name="TextBox 16"/>
          <p:cNvSpPr txBox="1"/>
          <p:nvPr/>
        </p:nvSpPr>
        <p:spPr>
          <a:xfrm>
            <a:off x="3931920" y="3127248"/>
            <a:ext cx="7269480" cy="841248"/>
          </a:xfrm>
          <a:prstGeom prst="rect">
            <a:avLst/>
          </a:prstGeom>
          <a:noFill/>
        </p:spPr>
        <p:txBody>
          <a:bodyPr wrap="square" lIns="36576" tIns="18288" rIns="36576" bIns="18288">
            <a:spAutoFit/>
          </a:bodyPr>
          <a:lstStyle/>
          <a:p>
            <a:pPr algn="l">
              <a:lnSpc>
                <a:spcPct val="100000"/>
              </a:lnSpc>
            </a:pPr>
            <a:r>
              <a:rPr sz="1150" b="0" i="0">
                <a:solidFill>
                  <a:srgbClr val="000962"/>
                </a:solidFill>
                <a:latin typeface="Arial"/>
              </a:rPr>
              <a:t>Never owned track either. Owned the sleeping cars and leased them to the railroads. $1 million of starting capital, dividends of 8% to 12% for decades, and roughly $1 million a year of profit on a network that cost other people billions.</a:t>
            </a:r>
          </a:p>
        </p:txBody>
      </p:sp>
      <p:sp>
        <p:nvSpPr>
          <p:cNvPr id="18" name="Rectangle 17"/>
          <p:cNvSpPr/>
          <p:nvPr/>
        </p:nvSpPr>
        <p:spPr>
          <a:xfrm>
            <a:off x="777240" y="4114800"/>
            <a:ext cx="10607040" cy="102412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87552" y="4261104"/>
            <a:ext cx="2743200" cy="274320"/>
          </a:xfrm>
          <a:prstGeom prst="rect">
            <a:avLst/>
          </a:prstGeom>
          <a:noFill/>
        </p:spPr>
        <p:txBody>
          <a:bodyPr wrap="square" lIns="36576" tIns="18288" rIns="36576" bIns="18288">
            <a:spAutoFit/>
          </a:bodyPr>
          <a:lstStyle/>
          <a:p>
            <a:pPr algn="l"/>
            <a:r>
              <a:rPr sz="1500" b="1" i="0">
                <a:solidFill>
                  <a:srgbClr val="0468FF"/>
                </a:solidFill>
                <a:latin typeface="Arial"/>
              </a:rPr>
              <a:t>The fiber era</a:t>
            </a:r>
          </a:p>
        </p:txBody>
      </p:sp>
      <p:sp>
        <p:nvSpPr>
          <p:cNvPr id="20" name="TextBox 19"/>
          <p:cNvSpPr txBox="1"/>
          <p:nvPr/>
        </p:nvSpPr>
        <p:spPr>
          <a:xfrm>
            <a:off x="987552" y="4590288"/>
            <a:ext cx="2743200" cy="256032"/>
          </a:xfrm>
          <a:prstGeom prst="rect">
            <a:avLst/>
          </a:prstGeom>
          <a:noFill/>
        </p:spPr>
        <p:txBody>
          <a:bodyPr wrap="square" lIns="36576" tIns="18288" rIns="36576" bIns="18288">
            <a:spAutoFit/>
          </a:bodyPr>
          <a:lstStyle/>
          <a:p>
            <a:pPr algn="l"/>
            <a:r>
              <a:rPr sz="1150" b="0" i="0">
                <a:solidFill>
                  <a:srgbClr val="46648C"/>
                </a:solidFill>
                <a:latin typeface="Arial"/>
              </a:rPr>
              <a:t>1996 to 2002</a:t>
            </a:r>
          </a:p>
        </p:txBody>
      </p:sp>
      <p:sp>
        <p:nvSpPr>
          <p:cNvPr id="21" name="TextBox 20"/>
          <p:cNvSpPr txBox="1"/>
          <p:nvPr/>
        </p:nvSpPr>
        <p:spPr>
          <a:xfrm>
            <a:off x="3931920" y="4224528"/>
            <a:ext cx="7269480" cy="841248"/>
          </a:xfrm>
          <a:prstGeom prst="rect">
            <a:avLst/>
          </a:prstGeom>
          <a:noFill/>
        </p:spPr>
        <p:txBody>
          <a:bodyPr wrap="square" lIns="36576" tIns="18288" rIns="36576" bIns="18288">
            <a:spAutoFit/>
          </a:bodyPr>
          <a:lstStyle/>
          <a:p>
            <a:pPr algn="l">
              <a:lnSpc>
                <a:spcPct val="100000"/>
              </a:lnSpc>
            </a:pPr>
            <a:r>
              <a:rPr sz="1150" b="0" i="0">
                <a:solidFill>
                  <a:srgbClr val="000962"/>
                </a:solidFill>
                <a:latin typeface="Arial"/>
              </a:rPr>
              <a:t>Carriers poured more than $500 billion into networks. By the early 2000s no more than 2% of North American long-haul capacity was in use. Global Crossing's assets sold for about 1.25 cents on the dollar. Google, Amazon and Netflix built the businesses on top of bandwidth somebody else went bankrupt providing.</a:t>
            </a:r>
          </a:p>
        </p:txBody>
      </p:sp>
      <p:sp>
        <p:nvSpPr>
          <p:cNvPr id="22" name="TextBox 21"/>
          <p:cNvSpPr txBox="1"/>
          <p:nvPr/>
        </p:nvSpPr>
        <p:spPr>
          <a:xfrm>
            <a:off x="777240" y="5138928"/>
            <a:ext cx="10607040" cy="274320"/>
          </a:xfrm>
          <a:prstGeom prst="rect">
            <a:avLst/>
          </a:prstGeom>
          <a:noFill/>
        </p:spPr>
        <p:txBody>
          <a:bodyPr wrap="square" lIns="36576" tIns="18288" rIns="36576" bIns="18288">
            <a:spAutoFit/>
          </a:bodyPr>
          <a:lstStyle/>
          <a:p>
            <a:pPr algn="l"/>
            <a:r>
              <a:rPr sz="1350" b="1" i="0">
                <a:solidFill>
                  <a:srgbClr val="0468FF"/>
                </a:solidFill>
                <a:latin typeface="Arial"/>
              </a:rPr>
              <a:t>The builders take the risk. The businesses that own the customer, the data or the standard take the profit.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21207" y="6323076"/>
            <a:ext cx="5394960" cy="146304"/>
          </a:xfrm>
          <a:prstGeom prst="rect">
            <a:avLst/>
          </a:prstGeom>
          <a:noFill/>
        </p:spPr>
        <p:txBody>
          <a:bodyPr wrap="square" lIns="0" tIns="0" r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tIns="0" r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tIns="0" r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tIns="18288" rIns="36576" bIns="18288">
            <a:spAutoFit/>
          </a:bodyPr>
          <a:lstStyle/>
          <a:p>
            <a:pPr algn="l"/>
            <a:r>
              <a:rPr sz="3200" b="1" i="0">
                <a:solidFill>
                  <a:srgbClr val="0468FF"/>
                </a:solidFill>
                <a:latin typeface="Arial"/>
              </a:rPr>
              <a:t>Ken Griffin and Citadel: The Buyer's Playbook</a:t>
            </a:r>
          </a:p>
        </p:txBody>
      </p:sp>
      <p:sp>
        <p:nvSpPr>
          <p:cNvPr id="9" name="TextBox 8"/>
          <p:cNvSpPr txBox="1"/>
          <p:nvPr/>
        </p:nvSpPr>
        <p:spPr>
          <a:xfrm>
            <a:off x="713232" y="1353312"/>
            <a:ext cx="10881360" cy="310896"/>
          </a:xfrm>
          <a:prstGeom prst="rect">
            <a:avLst/>
          </a:prstGeom>
          <a:noFill/>
        </p:spPr>
        <p:txBody>
          <a:bodyPr wrap="square" lIns="36576" tIns="18288" rIns="36576" bIns="18288">
            <a:spAutoFit/>
          </a:bodyPr>
          <a:lstStyle/>
          <a:p>
            <a:pPr algn="l"/>
            <a:r>
              <a:rPr sz="1600" b="0" i="0">
                <a:solidFill>
                  <a:srgbClr val="000962"/>
                </a:solidFill>
                <a:latin typeface="Arial"/>
              </a:rPr>
              <a:t>Millennium and Jane Street also bid. Citadel won the roughly $16 billion book.</a:t>
            </a:r>
          </a:p>
        </p:txBody>
      </p:sp>
      <p:sp>
        <p:nvSpPr>
          <p:cNvPr id="10" name="Rectangle 9"/>
          <p:cNvSpPr/>
          <p:nvPr/>
        </p:nvSpPr>
        <p:spPr>
          <a:xfrm>
            <a:off x="822960" y="1920240"/>
            <a:ext cx="2606040" cy="315468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987552" y="2084832"/>
            <a:ext cx="2276856" cy="167335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87552" y="2665476"/>
            <a:ext cx="2276856" cy="548640"/>
          </a:xfrm>
          <a:prstGeom prst="rect">
            <a:avLst/>
          </a:prstGeom>
          <a:noFill/>
        </p:spPr>
        <p:txBody>
          <a:bodyPr wrap="square" lIns="36576" tIns="18288" rIns="36576" bIns="18288">
            <a:spAutoFit/>
          </a:bodyPr>
          <a:lstStyle/>
          <a:p>
            <a:pPr algn="ctr">
              <a:spcAft>
                <a:spcPts val="200"/>
              </a:spcAft>
            </a:pPr>
            <a:r>
              <a:rPr sz="1100" b="0" i="0" dirty="0">
                <a:solidFill>
                  <a:srgbClr val="46648C"/>
                </a:solidFill>
                <a:latin typeface="Arial"/>
              </a:rPr>
              <a:t>PHOTO</a:t>
            </a:r>
          </a:p>
          <a:p>
            <a:pPr algn="ctr">
              <a:spcAft>
                <a:spcPts val="200"/>
              </a:spcAft>
            </a:pPr>
            <a:r>
              <a:rPr sz="1100" b="0" i="0" dirty="0">
                <a:solidFill>
                  <a:srgbClr val="46648C"/>
                </a:solidFill>
                <a:latin typeface="Arial"/>
              </a:rPr>
              <a:t>Insert image here</a:t>
            </a:r>
          </a:p>
        </p:txBody>
      </p:sp>
      <p:sp>
        <p:nvSpPr>
          <p:cNvPr id="13" name="TextBox 12"/>
          <p:cNvSpPr txBox="1"/>
          <p:nvPr/>
        </p:nvSpPr>
        <p:spPr>
          <a:xfrm>
            <a:off x="1005840" y="3849624"/>
            <a:ext cx="2240280" cy="256032"/>
          </a:xfrm>
          <a:prstGeom prst="rect">
            <a:avLst/>
          </a:prstGeom>
          <a:noFill/>
        </p:spPr>
        <p:txBody>
          <a:bodyPr wrap="square" lIns="36576" tIns="18288" rIns="36576" bIns="18288">
            <a:spAutoFit/>
          </a:bodyPr>
          <a:lstStyle/>
          <a:p>
            <a:pPr algn="l"/>
            <a:r>
              <a:rPr sz="1500" b="1" i="0">
                <a:solidFill>
                  <a:srgbClr val="0468FF"/>
                </a:solidFill>
                <a:latin typeface="Arial"/>
              </a:rPr>
              <a:t>Kenneth C. Griffin</a:t>
            </a:r>
          </a:p>
        </p:txBody>
      </p:sp>
      <p:sp>
        <p:nvSpPr>
          <p:cNvPr id="14" name="TextBox 13"/>
          <p:cNvSpPr txBox="1"/>
          <p:nvPr/>
        </p:nvSpPr>
        <p:spPr>
          <a:xfrm>
            <a:off x="1005840" y="4142232"/>
            <a:ext cx="2240280" cy="402336"/>
          </a:xfrm>
          <a:prstGeom prst="rect">
            <a:avLst/>
          </a:prstGeom>
          <a:noFill/>
        </p:spPr>
        <p:txBody>
          <a:bodyPr wrap="square" lIns="36576" tIns="18288" rIns="36576" bIns="18288">
            <a:spAutoFit/>
          </a:bodyPr>
          <a:lstStyle/>
          <a:p>
            <a:pPr algn="l">
              <a:lnSpc>
                <a:spcPct val="100000"/>
              </a:lnSpc>
            </a:pPr>
            <a:r>
              <a:rPr sz="1050" b="0" i="0">
                <a:solidFill>
                  <a:srgbClr val="46648C"/>
                </a:solidFill>
                <a:latin typeface="Arial"/>
              </a:rPr>
              <a:t>Founder and CEO, Citadel</a:t>
            </a:r>
          </a:p>
        </p:txBody>
      </p:sp>
      <p:sp>
        <p:nvSpPr>
          <p:cNvPr id="15" name="TextBox 14"/>
          <p:cNvSpPr txBox="1"/>
          <p:nvPr/>
        </p:nvSpPr>
        <p:spPr>
          <a:xfrm>
            <a:off x="1005840" y="4599432"/>
            <a:ext cx="2240280" cy="402336"/>
          </a:xfrm>
          <a:prstGeom prst="rect">
            <a:avLst/>
          </a:prstGeom>
          <a:noFill/>
        </p:spPr>
        <p:txBody>
          <a:bodyPr wrap="square" lIns="36576" tIns="18288" rIns="36576" bIns="18288">
            <a:spAutoFit/>
          </a:bodyPr>
          <a:lstStyle/>
          <a:p>
            <a:pPr algn="l">
              <a:lnSpc>
                <a:spcPct val="100000"/>
              </a:lnSpc>
            </a:pPr>
            <a:r>
              <a:rPr sz="1050" b="0" i="0">
                <a:solidFill>
                  <a:srgbClr val="000962"/>
                </a:solidFill>
                <a:latin typeface="Arial"/>
              </a:rPr>
              <a:t>Started trading from a Harvard dorm in 1987.</a:t>
            </a:r>
          </a:p>
        </p:txBody>
      </p:sp>
      <p:sp>
        <p:nvSpPr>
          <p:cNvPr id="16" name="TextBox 15"/>
          <p:cNvSpPr txBox="1"/>
          <p:nvPr/>
        </p:nvSpPr>
        <p:spPr>
          <a:xfrm>
            <a:off x="3794760" y="1938528"/>
            <a:ext cx="960120" cy="237744"/>
          </a:xfrm>
          <a:prstGeom prst="rect">
            <a:avLst/>
          </a:prstGeom>
          <a:noFill/>
        </p:spPr>
        <p:txBody>
          <a:bodyPr wrap="square" lIns="36576" tIns="18288" rIns="36576" bIns="18288">
            <a:spAutoFit/>
          </a:bodyPr>
          <a:lstStyle/>
          <a:p>
            <a:pPr algn="l"/>
            <a:r>
              <a:rPr sz="1100" b="1" i="0">
                <a:solidFill>
                  <a:srgbClr val="0468FF"/>
                </a:solidFill>
                <a:latin typeface="Arial"/>
              </a:rPr>
              <a:t>Year</a:t>
            </a:r>
          </a:p>
        </p:txBody>
      </p:sp>
      <p:sp>
        <p:nvSpPr>
          <p:cNvPr id="17" name="TextBox 16"/>
          <p:cNvSpPr txBox="1"/>
          <p:nvPr/>
        </p:nvSpPr>
        <p:spPr>
          <a:xfrm>
            <a:off x="4754880" y="1938528"/>
            <a:ext cx="2331720" cy="237744"/>
          </a:xfrm>
          <a:prstGeom prst="rect">
            <a:avLst/>
          </a:prstGeom>
          <a:noFill/>
        </p:spPr>
        <p:txBody>
          <a:bodyPr wrap="square" lIns="36576" tIns="18288" rIns="36576" bIns="18288">
            <a:spAutoFit/>
          </a:bodyPr>
          <a:lstStyle/>
          <a:p>
            <a:pPr algn="l"/>
            <a:r>
              <a:rPr sz="1100" b="1" i="0">
                <a:solidFill>
                  <a:srgbClr val="0468FF"/>
                </a:solidFill>
                <a:latin typeface="Arial"/>
              </a:rPr>
              <a:t>Firm</a:t>
            </a:r>
          </a:p>
        </p:txBody>
      </p:sp>
      <p:sp>
        <p:nvSpPr>
          <p:cNvPr id="18" name="TextBox 17"/>
          <p:cNvSpPr txBox="1"/>
          <p:nvPr/>
        </p:nvSpPr>
        <p:spPr>
          <a:xfrm>
            <a:off x="7086600" y="1938528"/>
            <a:ext cx="4343400" cy="237744"/>
          </a:xfrm>
          <a:prstGeom prst="rect">
            <a:avLst/>
          </a:prstGeom>
          <a:noFill/>
        </p:spPr>
        <p:txBody>
          <a:bodyPr wrap="square" lIns="36576" tIns="18288" rIns="36576" bIns="18288">
            <a:spAutoFit/>
          </a:bodyPr>
          <a:lstStyle/>
          <a:p>
            <a:pPr algn="l"/>
            <a:r>
              <a:rPr sz="1100" b="1" i="0">
                <a:solidFill>
                  <a:srgbClr val="0468FF"/>
                </a:solidFill>
                <a:latin typeface="Arial"/>
              </a:rPr>
              <a:t>What Citadel did</a:t>
            </a:r>
          </a:p>
        </p:txBody>
      </p:sp>
      <p:sp>
        <p:nvSpPr>
          <p:cNvPr id="19" name="Rectangle 18"/>
          <p:cNvSpPr/>
          <p:nvPr/>
        </p:nvSpPr>
        <p:spPr>
          <a:xfrm>
            <a:off x="3794760" y="2286000"/>
            <a:ext cx="7635240" cy="53035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831336" y="2322576"/>
            <a:ext cx="886968" cy="457199"/>
          </a:xfrm>
          <a:prstGeom prst="rect">
            <a:avLst/>
          </a:prstGeom>
          <a:noFill/>
        </p:spPr>
        <p:txBody>
          <a:bodyPr wrap="square" lIns="36576" tIns="18288" rIns="36576" bIns="18288" anchor="ctr">
            <a:spAutoFit/>
          </a:bodyPr>
          <a:lstStyle/>
          <a:p>
            <a:pPr algn="l"/>
            <a:r>
              <a:rPr sz="1050" b="0" i="0">
                <a:solidFill>
                  <a:srgbClr val="000962"/>
                </a:solidFill>
                <a:latin typeface="Arial"/>
              </a:rPr>
              <a:t>2001</a:t>
            </a:r>
          </a:p>
        </p:txBody>
      </p:sp>
      <p:sp>
        <p:nvSpPr>
          <p:cNvPr id="21" name="TextBox 20"/>
          <p:cNvSpPr txBox="1"/>
          <p:nvPr/>
        </p:nvSpPr>
        <p:spPr>
          <a:xfrm>
            <a:off x="4791456" y="2322576"/>
            <a:ext cx="2258568" cy="457199"/>
          </a:xfrm>
          <a:prstGeom prst="rect">
            <a:avLst/>
          </a:prstGeom>
          <a:noFill/>
        </p:spPr>
        <p:txBody>
          <a:bodyPr wrap="square" lIns="36576" tIns="18288" rIns="36576" bIns="18288" anchor="ctr">
            <a:spAutoFit/>
          </a:bodyPr>
          <a:lstStyle/>
          <a:p>
            <a:pPr algn="l"/>
            <a:r>
              <a:rPr sz="1050" b="0" i="0">
                <a:solidFill>
                  <a:srgbClr val="000962"/>
                </a:solidFill>
                <a:latin typeface="Arial"/>
              </a:rPr>
              <a:t>Enron</a:t>
            </a:r>
          </a:p>
        </p:txBody>
      </p:sp>
      <p:sp>
        <p:nvSpPr>
          <p:cNvPr id="22" name="TextBox 21"/>
          <p:cNvSpPr txBox="1"/>
          <p:nvPr/>
        </p:nvSpPr>
        <p:spPr>
          <a:xfrm>
            <a:off x="7123176" y="2322576"/>
            <a:ext cx="4270248" cy="457199"/>
          </a:xfrm>
          <a:prstGeom prst="rect">
            <a:avLst/>
          </a:prstGeom>
          <a:noFill/>
        </p:spPr>
        <p:txBody>
          <a:bodyPr wrap="square" lIns="36576" tIns="18288" rIns="36576" bIns="18288" anchor="ctr">
            <a:spAutoFit/>
          </a:bodyPr>
          <a:lstStyle/>
          <a:p>
            <a:pPr algn="l"/>
            <a:r>
              <a:rPr sz="1050" b="0" i="0">
                <a:solidFill>
                  <a:srgbClr val="000962"/>
                </a:solidFill>
                <a:latin typeface="Arial"/>
              </a:rPr>
              <a:t>Hired its energy traders, quants and meteorologists the day after the collapse.</a:t>
            </a:r>
          </a:p>
        </p:txBody>
      </p:sp>
      <p:sp>
        <p:nvSpPr>
          <p:cNvPr id="23" name="Rectangle 22"/>
          <p:cNvSpPr/>
          <p:nvPr/>
        </p:nvSpPr>
        <p:spPr>
          <a:xfrm>
            <a:off x="3794760" y="2852928"/>
            <a:ext cx="7635240" cy="53035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831336" y="2889504"/>
            <a:ext cx="886968" cy="457199"/>
          </a:xfrm>
          <a:prstGeom prst="rect">
            <a:avLst/>
          </a:prstGeom>
          <a:noFill/>
        </p:spPr>
        <p:txBody>
          <a:bodyPr wrap="square" lIns="36576" tIns="18288" rIns="36576" bIns="18288" anchor="ctr">
            <a:spAutoFit/>
          </a:bodyPr>
          <a:lstStyle/>
          <a:p>
            <a:pPr algn="l"/>
            <a:r>
              <a:rPr sz="1050" b="0" i="0">
                <a:solidFill>
                  <a:srgbClr val="000962"/>
                </a:solidFill>
                <a:latin typeface="Arial"/>
              </a:rPr>
              <a:t>2006</a:t>
            </a:r>
          </a:p>
        </p:txBody>
      </p:sp>
      <p:sp>
        <p:nvSpPr>
          <p:cNvPr id="25" name="TextBox 24"/>
          <p:cNvSpPr txBox="1"/>
          <p:nvPr/>
        </p:nvSpPr>
        <p:spPr>
          <a:xfrm>
            <a:off x="4791456" y="2889504"/>
            <a:ext cx="2258568" cy="457199"/>
          </a:xfrm>
          <a:prstGeom prst="rect">
            <a:avLst/>
          </a:prstGeom>
          <a:noFill/>
        </p:spPr>
        <p:txBody>
          <a:bodyPr wrap="square" lIns="36576" tIns="18288" rIns="36576" bIns="18288" anchor="ctr">
            <a:spAutoFit/>
          </a:bodyPr>
          <a:lstStyle/>
          <a:p>
            <a:pPr algn="l"/>
            <a:r>
              <a:rPr sz="1050" b="0" i="0">
                <a:solidFill>
                  <a:srgbClr val="000962"/>
                </a:solidFill>
                <a:latin typeface="Arial"/>
              </a:rPr>
              <a:t>Amaranth</a:t>
            </a:r>
          </a:p>
        </p:txBody>
      </p:sp>
      <p:sp>
        <p:nvSpPr>
          <p:cNvPr id="26" name="TextBox 25"/>
          <p:cNvSpPr txBox="1"/>
          <p:nvPr/>
        </p:nvSpPr>
        <p:spPr>
          <a:xfrm>
            <a:off x="7123176" y="2889504"/>
            <a:ext cx="4270248" cy="457199"/>
          </a:xfrm>
          <a:prstGeom prst="rect">
            <a:avLst/>
          </a:prstGeom>
          <a:noFill/>
        </p:spPr>
        <p:txBody>
          <a:bodyPr wrap="square" lIns="36576" tIns="18288" rIns="36576" bIns="18288" anchor="ctr">
            <a:spAutoFit/>
          </a:bodyPr>
          <a:lstStyle/>
          <a:p>
            <a:pPr algn="l"/>
            <a:r>
              <a:rPr sz="1050" b="0" i="0">
                <a:solidFill>
                  <a:srgbClr val="000962"/>
                </a:solidFill>
                <a:latin typeface="Arial"/>
              </a:rPr>
              <a:t>Amaranth lost about $6 billion on natural gas. Citadel and JPMorgan bought the energy book at a discount.</a:t>
            </a:r>
          </a:p>
        </p:txBody>
      </p:sp>
      <p:sp>
        <p:nvSpPr>
          <p:cNvPr id="27" name="Rectangle 26"/>
          <p:cNvSpPr/>
          <p:nvPr/>
        </p:nvSpPr>
        <p:spPr>
          <a:xfrm>
            <a:off x="3794760" y="3419856"/>
            <a:ext cx="7635240" cy="53035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831336" y="3456432"/>
            <a:ext cx="886968" cy="457199"/>
          </a:xfrm>
          <a:prstGeom prst="rect">
            <a:avLst/>
          </a:prstGeom>
          <a:noFill/>
        </p:spPr>
        <p:txBody>
          <a:bodyPr wrap="square" lIns="36576" tIns="18288" rIns="36576" bIns="18288" anchor="ctr">
            <a:spAutoFit/>
          </a:bodyPr>
          <a:lstStyle/>
          <a:p>
            <a:pPr algn="l"/>
            <a:r>
              <a:rPr sz="1050" b="0" i="0">
                <a:solidFill>
                  <a:srgbClr val="000962"/>
                </a:solidFill>
                <a:latin typeface="Arial"/>
              </a:rPr>
              <a:t>2007</a:t>
            </a:r>
          </a:p>
        </p:txBody>
      </p:sp>
      <p:sp>
        <p:nvSpPr>
          <p:cNvPr id="29" name="TextBox 28"/>
          <p:cNvSpPr txBox="1"/>
          <p:nvPr/>
        </p:nvSpPr>
        <p:spPr>
          <a:xfrm>
            <a:off x="4791456" y="3456432"/>
            <a:ext cx="2258568" cy="457199"/>
          </a:xfrm>
          <a:prstGeom prst="rect">
            <a:avLst/>
          </a:prstGeom>
          <a:noFill/>
        </p:spPr>
        <p:txBody>
          <a:bodyPr wrap="square" lIns="36576" tIns="18288" rIns="36576" bIns="18288" anchor="ctr">
            <a:spAutoFit/>
          </a:bodyPr>
          <a:lstStyle/>
          <a:p>
            <a:pPr algn="l"/>
            <a:r>
              <a:rPr sz="1050" b="0" i="0">
                <a:solidFill>
                  <a:srgbClr val="000962"/>
                </a:solidFill>
                <a:latin typeface="Arial"/>
              </a:rPr>
              <a:t>Sowood</a:t>
            </a:r>
          </a:p>
        </p:txBody>
      </p:sp>
      <p:sp>
        <p:nvSpPr>
          <p:cNvPr id="30" name="TextBox 29"/>
          <p:cNvSpPr txBox="1"/>
          <p:nvPr/>
        </p:nvSpPr>
        <p:spPr>
          <a:xfrm>
            <a:off x="7123176" y="3456432"/>
            <a:ext cx="4270248" cy="457199"/>
          </a:xfrm>
          <a:prstGeom prst="rect">
            <a:avLst/>
          </a:prstGeom>
          <a:noFill/>
        </p:spPr>
        <p:txBody>
          <a:bodyPr wrap="square" lIns="36576" tIns="18288" rIns="36576" bIns="18288" anchor="ctr">
            <a:spAutoFit/>
          </a:bodyPr>
          <a:lstStyle/>
          <a:p>
            <a:pPr algn="l"/>
            <a:r>
              <a:rPr sz="1050" b="0" i="0">
                <a:solidFill>
                  <a:srgbClr val="000962"/>
                </a:solidFill>
                <a:latin typeface="Arial"/>
              </a:rPr>
              <a:t>Assembled a team overnight and delivered an offer at 3:30 in the morning.</a:t>
            </a:r>
          </a:p>
        </p:txBody>
      </p:sp>
      <p:sp>
        <p:nvSpPr>
          <p:cNvPr id="31" name="Rectangle 30"/>
          <p:cNvSpPr/>
          <p:nvPr/>
        </p:nvSpPr>
        <p:spPr>
          <a:xfrm>
            <a:off x="3794760" y="3986784"/>
            <a:ext cx="7635240" cy="53035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831336" y="4023360"/>
            <a:ext cx="886968" cy="457199"/>
          </a:xfrm>
          <a:prstGeom prst="rect">
            <a:avLst/>
          </a:prstGeom>
          <a:noFill/>
        </p:spPr>
        <p:txBody>
          <a:bodyPr wrap="square" lIns="36576" tIns="18288" rIns="36576" bIns="18288" anchor="ctr">
            <a:spAutoFit/>
          </a:bodyPr>
          <a:lstStyle/>
          <a:p>
            <a:pPr algn="l"/>
            <a:r>
              <a:rPr sz="1050" b="0" i="0">
                <a:solidFill>
                  <a:srgbClr val="000962"/>
                </a:solidFill>
                <a:latin typeface="Arial"/>
              </a:rPr>
              <a:t>2021</a:t>
            </a:r>
          </a:p>
        </p:txBody>
      </p:sp>
      <p:sp>
        <p:nvSpPr>
          <p:cNvPr id="33" name="TextBox 32"/>
          <p:cNvSpPr txBox="1"/>
          <p:nvPr/>
        </p:nvSpPr>
        <p:spPr>
          <a:xfrm>
            <a:off x="4791456" y="4023360"/>
            <a:ext cx="2258568" cy="457199"/>
          </a:xfrm>
          <a:prstGeom prst="rect">
            <a:avLst/>
          </a:prstGeom>
          <a:noFill/>
        </p:spPr>
        <p:txBody>
          <a:bodyPr wrap="square" lIns="36576" tIns="18288" rIns="36576" bIns="18288" anchor="ctr">
            <a:spAutoFit/>
          </a:bodyPr>
          <a:lstStyle/>
          <a:p>
            <a:pPr algn="l"/>
            <a:r>
              <a:rPr sz="1050" b="0" i="0">
                <a:solidFill>
                  <a:srgbClr val="000962"/>
                </a:solidFill>
                <a:latin typeface="Arial"/>
              </a:rPr>
              <a:t>Melvin</a:t>
            </a:r>
          </a:p>
        </p:txBody>
      </p:sp>
      <p:sp>
        <p:nvSpPr>
          <p:cNvPr id="34" name="TextBox 33"/>
          <p:cNvSpPr txBox="1"/>
          <p:nvPr/>
        </p:nvSpPr>
        <p:spPr>
          <a:xfrm>
            <a:off x="7123176" y="4023360"/>
            <a:ext cx="4270248" cy="457199"/>
          </a:xfrm>
          <a:prstGeom prst="rect">
            <a:avLst/>
          </a:prstGeom>
          <a:noFill/>
        </p:spPr>
        <p:txBody>
          <a:bodyPr wrap="square" lIns="36576" tIns="18288" rIns="36576" bIns="18288" anchor="ctr">
            <a:spAutoFit/>
          </a:bodyPr>
          <a:lstStyle/>
          <a:p>
            <a:pPr algn="l"/>
            <a:r>
              <a:rPr sz="1050" b="0" i="0">
                <a:solidFill>
                  <a:srgbClr val="000962"/>
                </a:solidFill>
                <a:latin typeface="Arial"/>
              </a:rPr>
              <a:t>A rescue, not a purchase. Citadel and Point72 put in $2.75 billion. Melvin still shut down in 2022.</a:t>
            </a:r>
          </a:p>
        </p:txBody>
      </p:sp>
      <p:sp>
        <p:nvSpPr>
          <p:cNvPr id="35" name="Rectangle 34"/>
          <p:cNvSpPr/>
          <p:nvPr/>
        </p:nvSpPr>
        <p:spPr>
          <a:xfrm>
            <a:off x="3794760" y="4553712"/>
            <a:ext cx="7635240" cy="53035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831336" y="4590288"/>
            <a:ext cx="886968" cy="457199"/>
          </a:xfrm>
          <a:prstGeom prst="rect">
            <a:avLst/>
          </a:prstGeom>
          <a:noFill/>
        </p:spPr>
        <p:txBody>
          <a:bodyPr wrap="square" lIns="36576" tIns="18288" rIns="36576" bIns="18288" anchor="ctr">
            <a:spAutoFit/>
          </a:bodyPr>
          <a:lstStyle/>
          <a:p>
            <a:pPr algn="l"/>
            <a:r>
              <a:rPr sz="1050" b="0" i="0">
                <a:solidFill>
                  <a:srgbClr val="000962"/>
                </a:solidFill>
                <a:latin typeface="Arial"/>
              </a:rPr>
              <a:t>2026</a:t>
            </a:r>
          </a:p>
        </p:txBody>
      </p:sp>
      <p:sp>
        <p:nvSpPr>
          <p:cNvPr id="37" name="TextBox 36"/>
          <p:cNvSpPr txBox="1"/>
          <p:nvPr/>
        </p:nvSpPr>
        <p:spPr>
          <a:xfrm>
            <a:off x="4791456" y="4590288"/>
            <a:ext cx="2258568" cy="457199"/>
          </a:xfrm>
          <a:prstGeom prst="rect">
            <a:avLst/>
          </a:prstGeom>
          <a:noFill/>
        </p:spPr>
        <p:txBody>
          <a:bodyPr wrap="square" lIns="36576" tIns="18288" rIns="36576" bIns="18288" anchor="ctr">
            <a:spAutoFit/>
          </a:bodyPr>
          <a:lstStyle/>
          <a:p>
            <a:pPr algn="l"/>
            <a:r>
              <a:rPr sz="1050" b="0" i="0">
                <a:solidFill>
                  <a:srgbClr val="000962"/>
                </a:solidFill>
                <a:latin typeface="Arial"/>
              </a:rPr>
              <a:t>Situational Awareness</a:t>
            </a:r>
          </a:p>
        </p:txBody>
      </p:sp>
      <p:sp>
        <p:nvSpPr>
          <p:cNvPr id="38" name="TextBox 37"/>
          <p:cNvSpPr txBox="1"/>
          <p:nvPr/>
        </p:nvSpPr>
        <p:spPr>
          <a:xfrm>
            <a:off x="7123176" y="4590288"/>
            <a:ext cx="4270248" cy="457199"/>
          </a:xfrm>
          <a:prstGeom prst="rect">
            <a:avLst/>
          </a:prstGeom>
          <a:noFill/>
        </p:spPr>
        <p:txBody>
          <a:bodyPr wrap="square" lIns="36576" tIns="18288" rIns="36576" bIns="18288" anchor="ctr">
            <a:spAutoFit/>
          </a:bodyPr>
          <a:lstStyle/>
          <a:p>
            <a:pPr algn="l"/>
            <a:r>
              <a:rPr sz="1050" b="0" i="0">
                <a:solidFill>
                  <a:srgbClr val="000962"/>
                </a:solidFill>
                <a:latin typeface="Arial"/>
              </a:rPr>
              <a:t>Bought the entire public book, longs and shorts, in one block trade.</a:t>
            </a:r>
          </a:p>
        </p:txBody>
      </p:sp>
      <p:pic>
        <p:nvPicPr>
          <p:cNvPr id="39" name="Picture 38">
            <a:extLst>
              <a:ext uri="{FF2B5EF4-FFF2-40B4-BE49-F238E27FC236}">
                <a16:creationId xmlns:a16="http://schemas.microsoft.com/office/drawing/2014/main" id="{F4C73ECF-2DD0-489A-CEDD-E6DF49414C1C}"/>
              </a:ext>
            </a:extLst>
          </p:cNvPr>
          <p:cNvPicPr>
            <a:picLocks noChangeAspect="1"/>
          </p:cNvPicPr>
          <p:nvPr/>
        </p:nvPicPr>
        <p:blipFill>
          <a:blip r:embed="rId3"/>
          <a:stretch>
            <a:fillRect/>
          </a:stretch>
        </p:blipFill>
        <p:spPr>
          <a:xfrm>
            <a:off x="987552" y="2084832"/>
            <a:ext cx="2311893" cy="1644816"/>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21207" y="6323076"/>
            <a:ext cx="5394960" cy="146304"/>
          </a:xfrm>
          <a:prstGeom prst="rect">
            <a:avLst/>
          </a:prstGeom>
          <a:noFill/>
        </p:spPr>
        <p:txBody>
          <a:bodyPr wrap="square" lIns="0" tIns="0" r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tIns="0" r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tIns="0" r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tIns="18288" rIns="36576" bIns="18288">
            <a:spAutoFit/>
          </a:bodyPr>
          <a:lstStyle/>
          <a:p>
            <a:pPr algn="l"/>
            <a:r>
              <a:rPr sz="3200" b="1" i="0">
                <a:solidFill>
                  <a:srgbClr val="0468FF"/>
                </a:solidFill>
                <a:latin typeface="Arial"/>
              </a:rPr>
              <a:t>Did Griffin Push the Fund Over the Edge?</a:t>
            </a:r>
          </a:p>
        </p:txBody>
      </p:sp>
      <p:sp>
        <p:nvSpPr>
          <p:cNvPr id="9" name="TextBox 8"/>
          <p:cNvSpPr txBox="1"/>
          <p:nvPr/>
        </p:nvSpPr>
        <p:spPr>
          <a:xfrm>
            <a:off x="713232" y="1353312"/>
            <a:ext cx="10881360" cy="310896"/>
          </a:xfrm>
          <a:prstGeom prst="rect">
            <a:avLst/>
          </a:prstGeom>
          <a:noFill/>
        </p:spPr>
        <p:txBody>
          <a:bodyPr wrap="square" lIns="36576" tIns="18288" rIns="36576" bIns="18288">
            <a:spAutoFit/>
          </a:bodyPr>
          <a:lstStyle/>
          <a:p>
            <a:pPr algn="l"/>
            <a:r>
              <a:rPr sz="1600" b="0" i="0">
                <a:solidFill>
                  <a:srgbClr val="000962"/>
                </a:solidFill>
                <a:latin typeface="Arial"/>
              </a:rPr>
              <a:t>The rumor is circulating. Here is what the evidence actually supports.</a:t>
            </a:r>
          </a:p>
        </p:txBody>
      </p:sp>
      <p:sp>
        <p:nvSpPr>
          <p:cNvPr id="10" name="Rectangle 9"/>
          <p:cNvSpPr/>
          <p:nvPr/>
        </p:nvSpPr>
        <p:spPr>
          <a:xfrm>
            <a:off x="777240" y="1901952"/>
            <a:ext cx="5074920" cy="310896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87552" y="2066543"/>
            <a:ext cx="4663440" cy="274320"/>
          </a:xfrm>
          <a:prstGeom prst="rect">
            <a:avLst/>
          </a:prstGeom>
          <a:noFill/>
        </p:spPr>
        <p:txBody>
          <a:bodyPr wrap="square" lIns="36576" tIns="18288" rIns="36576" bIns="18288">
            <a:spAutoFit/>
          </a:bodyPr>
          <a:lstStyle/>
          <a:p>
            <a:pPr algn="l"/>
            <a:r>
              <a:rPr sz="1500" b="1" i="0">
                <a:solidFill>
                  <a:srgbClr val="0468FF"/>
                </a:solidFill>
                <a:latin typeface="Arial"/>
              </a:rPr>
              <a:t>What is being claimed</a:t>
            </a:r>
          </a:p>
        </p:txBody>
      </p:sp>
      <p:sp>
        <p:nvSpPr>
          <p:cNvPr id="12" name="TextBox 11"/>
          <p:cNvSpPr txBox="1"/>
          <p:nvPr/>
        </p:nvSpPr>
        <p:spPr>
          <a:xfrm>
            <a:off x="987552" y="2432304"/>
            <a:ext cx="4663440" cy="2423160"/>
          </a:xfrm>
          <a:prstGeom prst="rect">
            <a:avLst/>
          </a:prstGeom>
          <a:noFill/>
        </p:spPr>
        <p:txBody>
          <a:bodyPr wrap="square" lIns="36576" tIns="18288" rIns="36576" bIns="18288">
            <a:spAutoFit/>
          </a:bodyPr>
          <a:lstStyle/>
          <a:p>
            <a:pPr algn="l">
              <a:spcAft>
                <a:spcPts val="900"/>
              </a:spcAft>
            </a:pPr>
            <a:r>
              <a:rPr sz="1250" b="0" i="0">
                <a:solidFill>
                  <a:srgbClr val="000962"/>
                </a:solidFill>
                <a:latin typeface="Arial"/>
              </a:rPr>
              <a:t>That Citadel, or people close to it, helped spread the story of the fund's distress in order to buy the book cheaper.</a:t>
            </a:r>
          </a:p>
          <a:p>
            <a:pPr algn="l">
              <a:spcAft>
                <a:spcPts val="900"/>
              </a:spcAft>
            </a:pPr>
            <a:r>
              <a:rPr sz="1250" b="0" i="0">
                <a:solidFill>
                  <a:srgbClr val="000962"/>
                </a:solidFill>
                <a:latin typeface="Arial"/>
              </a:rPr>
              <a:t>The claim spread mostly through memes on X noting Griffin's reputation for pouncing when rivals stumble.</a:t>
            </a:r>
          </a:p>
          <a:p>
            <a:pPr algn="l">
              <a:spcAft>
                <a:spcPts val="900"/>
              </a:spcAft>
            </a:pPr>
            <a:r>
              <a:rPr sz="1250" b="0" i="0">
                <a:solidFill>
                  <a:srgbClr val="000962"/>
                </a:solidFill>
                <a:latin typeface="Arial"/>
              </a:rPr>
              <a:t>It echoes the 2021 theory that Griffin pressured Robinhood to restrict GameStop buying to protect Melvin Capital.</a:t>
            </a:r>
          </a:p>
        </p:txBody>
      </p:sp>
      <p:sp>
        <p:nvSpPr>
          <p:cNvPr id="13" name="Rectangle 12"/>
          <p:cNvSpPr/>
          <p:nvPr/>
        </p:nvSpPr>
        <p:spPr>
          <a:xfrm>
            <a:off x="6336792" y="1901952"/>
            <a:ext cx="5074920" cy="310896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47104" y="2066543"/>
            <a:ext cx="4663440" cy="274320"/>
          </a:xfrm>
          <a:prstGeom prst="rect">
            <a:avLst/>
          </a:prstGeom>
          <a:noFill/>
        </p:spPr>
        <p:txBody>
          <a:bodyPr wrap="square" lIns="36576" tIns="18288" rIns="36576" bIns="18288">
            <a:spAutoFit/>
          </a:bodyPr>
          <a:lstStyle/>
          <a:p>
            <a:pPr algn="l"/>
            <a:r>
              <a:rPr sz="1500" b="1" i="0">
                <a:solidFill>
                  <a:srgbClr val="0468FF"/>
                </a:solidFill>
                <a:latin typeface="Arial"/>
              </a:rPr>
              <a:t>What the record shows</a:t>
            </a:r>
          </a:p>
        </p:txBody>
      </p:sp>
      <p:sp>
        <p:nvSpPr>
          <p:cNvPr id="15" name="TextBox 14"/>
          <p:cNvSpPr txBox="1"/>
          <p:nvPr/>
        </p:nvSpPr>
        <p:spPr>
          <a:xfrm>
            <a:off x="6547104" y="2432304"/>
            <a:ext cx="4663440" cy="2423160"/>
          </a:xfrm>
          <a:prstGeom prst="rect">
            <a:avLst/>
          </a:prstGeom>
          <a:noFill/>
        </p:spPr>
        <p:txBody>
          <a:bodyPr wrap="square" lIns="36576" tIns="18288" rIns="36576" bIns="18288">
            <a:spAutoFit/>
          </a:bodyPr>
          <a:lstStyle/>
          <a:p>
            <a:pPr algn="l">
              <a:spcAft>
                <a:spcPts val="800"/>
              </a:spcAft>
            </a:pPr>
            <a:r>
              <a:rPr sz="1250" b="0" i="0">
                <a:solidFill>
                  <a:srgbClr val="000962"/>
                </a:solidFill>
                <a:latin typeface="Arial"/>
              </a:rPr>
              <a:t>No reporting from CNBC, the Wall Street Journal, Bloomberg or the FT alleges Citadel caused or accelerated the collapse.</a:t>
            </a:r>
          </a:p>
          <a:p>
            <a:pPr algn="l">
              <a:spcAft>
                <a:spcPts val="800"/>
              </a:spcAft>
            </a:pPr>
            <a:r>
              <a:rPr sz="1250" b="0" i="0">
                <a:solidFill>
                  <a:srgbClr val="000962"/>
                </a:solidFill>
                <a:latin typeface="Arial"/>
              </a:rPr>
              <a:t>The margin calls came from the prime brokers, Goldman Sachs, JPMorgan and Bank of America. Citadel was not the lender.</a:t>
            </a:r>
          </a:p>
          <a:p>
            <a:pPr algn="l">
              <a:spcAft>
                <a:spcPts val="800"/>
              </a:spcAft>
            </a:pPr>
            <a:r>
              <a:rPr sz="1250" b="0" i="0">
                <a:solidFill>
                  <a:srgbClr val="000962"/>
                </a:solidFill>
                <a:latin typeface="Arial"/>
              </a:rPr>
              <a:t>On GameStop, Griffin testified under oath that Citadel did not direct Robinhood's restrictions. Those came from clearinghouse collateral demands, and later reviews found no evidence of collusion.</a:t>
            </a:r>
          </a:p>
          <a:p>
            <a:pPr algn="l">
              <a:spcAft>
                <a:spcPts val="800"/>
              </a:spcAft>
            </a:pPr>
            <a:r>
              <a:rPr sz="1250" b="0" i="0">
                <a:solidFill>
                  <a:srgbClr val="000962"/>
                </a:solidFill>
                <a:latin typeface="Arial"/>
              </a:rPr>
              <a:t>Verdict: unsupported. Do not repeat it to clients as fact.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21207" y="6323076"/>
            <a:ext cx="5394960" cy="146304"/>
          </a:xfrm>
          <a:prstGeom prst="rect">
            <a:avLst/>
          </a:prstGeom>
          <a:noFill/>
        </p:spPr>
        <p:txBody>
          <a:bodyPr wrap="square" lIns="0" tIns="0" r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tIns="0" r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tIns="0" r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tIns="18288" rIns="36576" bIns="18288">
            <a:spAutoFit/>
          </a:bodyPr>
          <a:lstStyle/>
          <a:p>
            <a:pPr algn="l"/>
            <a:r>
              <a:rPr sz="3200" b="1" i="0">
                <a:solidFill>
                  <a:srgbClr val="0468FF"/>
                </a:solidFill>
                <a:latin typeface="Arial"/>
              </a:rPr>
              <a:t>What to Take From This, and What to Do</a:t>
            </a:r>
          </a:p>
        </p:txBody>
      </p:sp>
      <p:sp>
        <p:nvSpPr>
          <p:cNvPr id="9" name="TextBox 8"/>
          <p:cNvSpPr txBox="1"/>
          <p:nvPr/>
        </p:nvSpPr>
        <p:spPr>
          <a:xfrm>
            <a:off x="713232" y="1353312"/>
            <a:ext cx="10881360" cy="310896"/>
          </a:xfrm>
          <a:prstGeom prst="rect">
            <a:avLst/>
          </a:prstGeom>
          <a:noFill/>
        </p:spPr>
        <p:txBody>
          <a:bodyPr wrap="square" lIns="36576" tIns="18288" rIns="36576" bIns="18288">
            <a:spAutoFit/>
          </a:bodyPr>
          <a:lstStyle/>
          <a:p>
            <a:pPr algn="l"/>
            <a:r>
              <a:rPr sz="1600" b="0" i="0">
                <a:solidFill>
                  <a:srgbClr val="000962"/>
                </a:solidFill>
                <a:latin typeface="Arial"/>
              </a:rPr>
              <a:t>Six lessons, and three conversations to book before Wednesday.</a:t>
            </a:r>
          </a:p>
        </p:txBody>
      </p:sp>
      <p:sp>
        <p:nvSpPr>
          <p:cNvPr id="10" name="Rectangle 9"/>
          <p:cNvSpPr/>
          <p:nvPr/>
        </p:nvSpPr>
        <p:spPr>
          <a:xfrm>
            <a:off x="777240" y="1901952"/>
            <a:ext cx="5212080" cy="89611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41832" y="2029968"/>
            <a:ext cx="310896" cy="310896"/>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41832" y="2061972"/>
            <a:ext cx="310896" cy="237744"/>
          </a:xfrm>
          <a:prstGeom prst="rect">
            <a:avLst/>
          </a:prstGeom>
          <a:noFill/>
        </p:spPr>
        <p:txBody>
          <a:bodyPr wrap="square" lIns="36576" tIns="18288" rIns="36576" bIns="18288">
            <a:spAutoFit/>
          </a:bodyPr>
          <a:lstStyle/>
          <a:p>
            <a:pPr algn="ctr"/>
            <a:r>
              <a:rPr sz="1200" b="1" i="0">
                <a:solidFill>
                  <a:srgbClr val="FFFFFF"/>
                </a:solidFill>
                <a:latin typeface="Arial"/>
              </a:rPr>
              <a:t>1</a:t>
            </a:r>
          </a:p>
        </p:txBody>
      </p:sp>
      <p:sp>
        <p:nvSpPr>
          <p:cNvPr id="13" name="TextBox 12"/>
          <p:cNvSpPr txBox="1"/>
          <p:nvPr/>
        </p:nvSpPr>
        <p:spPr>
          <a:xfrm>
            <a:off x="1344168" y="1975104"/>
            <a:ext cx="4480560" cy="384048"/>
          </a:xfrm>
          <a:prstGeom prst="rect">
            <a:avLst/>
          </a:prstGeom>
          <a:noFill/>
        </p:spPr>
        <p:txBody>
          <a:bodyPr wrap="square" lIns="36576" tIns="18288" rIns="36576" bIns="18288">
            <a:spAutoFit/>
          </a:bodyPr>
          <a:lstStyle/>
          <a:p>
            <a:pPr algn="l">
              <a:lnSpc>
                <a:spcPct val="100000"/>
              </a:lnSpc>
            </a:pPr>
            <a:r>
              <a:rPr sz="1250" b="1" i="0">
                <a:solidFill>
                  <a:srgbClr val="0468FF"/>
                </a:solidFill>
                <a:latin typeface="Arial"/>
              </a:rPr>
              <a:t>Right about the trend, wrong about the investment</a:t>
            </a:r>
          </a:p>
        </p:txBody>
      </p:sp>
      <p:sp>
        <p:nvSpPr>
          <p:cNvPr id="14" name="TextBox 13"/>
          <p:cNvSpPr txBox="1"/>
          <p:nvPr/>
        </p:nvSpPr>
        <p:spPr>
          <a:xfrm>
            <a:off x="1344168" y="2377440"/>
            <a:ext cx="4480560" cy="365760"/>
          </a:xfrm>
          <a:prstGeom prst="rect">
            <a:avLst/>
          </a:prstGeom>
          <a:noFill/>
        </p:spPr>
        <p:txBody>
          <a:bodyPr wrap="square" lIns="36576" tIns="18288" rIns="36576" bIns="18288">
            <a:spAutoFit/>
          </a:bodyPr>
          <a:lstStyle/>
          <a:p>
            <a:pPr algn="l">
              <a:lnSpc>
                <a:spcPct val="100000"/>
              </a:lnSpc>
            </a:pPr>
            <a:r>
              <a:rPr sz="1050" b="0" i="0">
                <a:solidFill>
                  <a:srgbClr val="000962"/>
                </a:solidFill>
                <a:latin typeface="Arial"/>
              </a:rPr>
              <a:t>He called the AI build-out correctly and still lost $30 billion. The question is always who gets paid.</a:t>
            </a:r>
          </a:p>
        </p:txBody>
      </p:sp>
      <p:sp>
        <p:nvSpPr>
          <p:cNvPr id="15" name="Rectangle 14"/>
          <p:cNvSpPr/>
          <p:nvPr/>
        </p:nvSpPr>
        <p:spPr>
          <a:xfrm>
            <a:off x="777240" y="2871216"/>
            <a:ext cx="5212080" cy="89611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941832" y="2999232"/>
            <a:ext cx="310896" cy="310896"/>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41832" y="3031236"/>
            <a:ext cx="310896" cy="237744"/>
          </a:xfrm>
          <a:prstGeom prst="rect">
            <a:avLst/>
          </a:prstGeom>
          <a:noFill/>
        </p:spPr>
        <p:txBody>
          <a:bodyPr wrap="square" lIns="36576" tIns="18288" rIns="36576" bIns="18288">
            <a:spAutoFit/>
          </a:bodyPr>
          <a:lstStyle/>
          <a:p>
            <a:pPr algn="ctr"/>
            <a:r>
              <a:rPr sz="1200" b="1" i="0">
                <a:solidFill>
                  <a:srgbClr val="FFFFFF"/>
                </a:solidFill>
                <a:latin typeface="Arial"/>
              </a:rPr>
              <a:t>2</a:t>
            </a:r>
          </a:p>
        </p:txBody>
      </p:sp>
      <p:sp>
        <p:nvSpPr>
          <p:cNvPr id="18" name="TextBox 17"/>
          <p:cNvSpPr txBox="1"/>
          <p:nvPr/>
        </p:nvSpPr>
        <p:spPr>
          <a:xfrm>
            <a:off x="1344168" y="2944368"/>
            <a:ext cx="4480560" cy="384048"/>
          </a:xfrm>
          <a:prstGeom prst="rect">
            <a:avLst/>
          </a:prstGeom>
          <a:noFill/>
        </p:spPr>
        <p:txBody>
          <a:bodyPr wrap="square" lIns="36576" tIns="18288" rIns="36576" bIns="18288">
            <a:spAutoFit/>
          </a:bodyPr>
          <a:lstStyle/>
          <a:p>
            <a:pPr algn="l">
              <a:lnSpc>
                <a:spcPct val="100000"/>
              </a:lnSpc>
            </a:pPr>
            <a:r>
              <a:rPr sz="1250" b="1" i="0">
                <a:solidFill>
                  <a:srgbClr val="0468FF"/>
                </a:solidFill>
                <a:latin typeface="Arial"/>
              </a:rPr>
              <a:t>Leverage decides how fast, not whether</a:t>
            </a:r>
          </a:p>
        </p:txBody>
      </p:sp>
      <p:sp>
        <p:nvSpPr>
          <p:cNvPr id="19" name="TextBox 18"/>
          <p:cNvSpPr txBox="1"/>
          <p:nvPr/>
        </p:nvSpPr>
        <p:spPr>
          <a:xfrm>
            <a:off x="1344168" y="3346704"/>
            <a:ext cx="4480560" cy="365760"/>
          </a:xfrm>
          <a:prstGeom prst="rect">
            <a:avLst/>
          </a:prstGeom>
          <a:noFill/>
        </p:spPr>
        <p:txBody>
          <a:bodyPr wrap="square" lIns="36576" tIns="18288" rIns="36576" bIns="18288">
            <a:spAutoFit/>
          </a:bodyPr>
          <a:lstStyle/>
          <a:p>
            <a:pPr algn="l">
              <a:lnSpc>
                <a:spcPct val="100000"/>
              </a:lnSpc>
            </a:pPr>
            <a:r>
              <a:rPr sz="1050" b="0" i="0">
                <a:solidFill>
                  <a:srgbClr val="000962"/>
                </a:solidFill>
                <a:latin typeface="Arial"/>
              </a:rPr>
              <a:t>Borrowed money removed his ability to wait. With no leverage he has a bad month instead of a catastrophe.</a:t>
            </a:r>
          </a:p>
        </p:txBody>
      </p:sp>
      <p:sp>
        <p:nvSpPr>
          <p:cNvPr id="20" name="Rectangle 19"/>
          <p:cNvSpPr/>
          <p:nvPr/>
        </p:nvSpPr>
        <p:spPr>
          <a:xfrm>
            <a:off x="777240" y="3840480"/>
            <a:ext cx="5212080" cy="89611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41832" y="3968496"/>
            <a:ext cx="310896" cy="310896"/>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41832" y="4000500"/>
            <a:ext cx="310896" cy="237744"/>
          </a:xfrm>
          <a:prstGeom prst="rect">
            <a:avLst/>
          </a:prstGeom>
          <a:noFill/>
        </p:spPr>
        <p:txBody>
          <a:bodyPr wrap="square" lIns="36576" tIns="18288" rIns="36576" bIns="18288">
            <a:spAutoFit/>
          </a:bodyPr>
          <a:lstStyle/>
          <a:p>
            <a:pPr algn="ctr"/>
            <a:r>
              <a:rPr sz="1200" b="1" i="0">
                <a:solidFill>
                  <a:srgbClr val="FFFFFF"/>
                </a:solidFill>
                <a:latin typeface="Arial"/>
              </a:rPr>
              <a:t>3</a:t>
            </a:r>
          </a:p>
        </p:txBody>
      </p:sp>
      <p:sp>
        <p:nvSpPr>
          <p:cNvPr id="23" name="TextBox 22"/>
          <p:cNvSpPr txBox="1"/>
          <p:nvPr/>
        </p:nvSpPr>
        <p:spPr>
          <a:xfrm>
            <a:off x="1344168" y="3913632"/>
            <a:ext cx="4480560" cy="384048"/>
          </a:xfrm>
          <a:prstGeom prst="rect">
            <a:avLst/>
          </a:prstGeom>
          <a:noFill/>
        </p:spPr>
        <p:txBody>
          <a:bodyPr wrap="square" lIns="36576" tIns="18288" rIns="36576" bIns="18288">
            <a:spAutoFit/>
          </a:bodyPr>
          <a:lstStyle/>
          <a:p>
            <a:pPr algn="l">
              <a:lnSpc>
                <a:spcPct val="100000"/>
              </a:lnSpc>
            </a:pPr>
            <a:r>
              <a:rPr sz="1250" b="1" i="0">
                <a:solidFill>
                  <a:srgbClr val="0468FF"/>
                </a:solidFill>
                <a:latin typeface="Arial"/>
              </a:rPr>
              <a:t>Concentration is not conviction</a:t>
            </a:r>
          </a:p>
        </p:txBody>
      </p:sp>
      <p:sp>
        <p:nvSpPr>
          <p:cNvPr id="24" name="TextBox 23"/>
          <p:cNvSpPr txBox="1"/>
          <p:nvPr/>
        </p:nvSpPr>
        <p:spPr>
          <a:xfrm>
            <a:off x="1344168" y="4315968"/>
            <a:ext cx="4480560" cy="365760"/>
          </a:xfrm>
          <a:prstGeom prst="rect">
            <a:avLst/>
          </a:prstGeom>
          <a:noFill/>
        </p:spPr>
        <p:txBody>
          <a:bodyPr wrap="square" lIns="36576" tIns="18288" rIns="36576" bIns="18288">
            <a:spAutoFit/>
          </a:bodyPr>
          <a:lstStyle/>
          <a:p>
            <a:pPr algn="l">
              <a:lnSpc>
                <a:spcPct val="100000"/>
              </a:lnSpc>
            </a:pPr>
            <a:r>
              <a:rPr sz="1050" b="0" i="0">
                <a:solidFill>
                  <a:srgbClr val="000962"/>
                </a:solidFill>
                <a:latin typeface="Arial"/>
              </a:rPr>
              <a:t>Seventy six percent in five names that all moved together. Six days before the end he was asking for more money.</a:t>
            </a:r>
          </a:p>
        </p:txBody>
      </p:sp>
      <p:sp>
        <p:nvSpPr>
          <p:cNvPr id="25" name="Rectangle 24"/>
          <p:cNvSpPr/>
          <p:nvPr/>
        </p:nvSpPr>
        <p:spPr>
          <a:xfrm>
            <a:off x="6172200" y="1901952"/>
            <a:ext cx="5212080" cy="89611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336792" y="2029968"/>
            <a:ext cx="310896" cy="310896"/>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36792" y="2061972"/>
            <a:ext cx="310896" cy="237744"/>
          </a:xfrm>
          <a:prstGeom prst="rect">
            <a:avLst/>
          </a:prstGeom>
          <a:noFill/>
        </p:spPr>
        <p:txBody>
          <a:bodyPr wrap="square" lIns="36576" tIns="18288" rIns="36576" bIns="18288">
            <a:spAutoFit/>
          </a:bodyPr>
          <a:lstStyle/>
          <a:p>
            <a:pPr algn="ctr"/>
            <a:r>
              <a:rPr sz="1200" b="1" i="0">
                <a:solidFill>
                  <a:srgbClr val="FFFFFF"/>
                </a:solidFill>
                <a:latin typeface="Arial"/>
              </a:rPr>
              <a:t>4</a:t>
            </a:r>
          </a:p>
        </p:txBody>
      </p:sp>
      <p:sp>
        <p:nvSpPr>
          <p:cNvPr id="28" name="TextBox 27"/>
          <p:cNvSpPr txBox="1"/>
          <p:nvPr/>
        </p:nvSpPr>
        <p:spPr>
          <a:xfrm>
            <a:off x="6739128" y="1975104"/>
            <a:ext cx="4480560" cy="384048"/>
          </a:xfrm>
          <a:prstGeom prst="rect">
            <a:avLst/>
          </a:prstGeom>
          <a:noFill/>
        </p:spPr>
        <p:txBody>
          <a:bodyPr wrap="square" lIns="36576" tIns="18288" rIns="36576" bIns="18288">
            <a:spAutoFit/>
          </a:bodyPr>
          <a:lstStyle/>
          <a:p>
            <a:pPr algn="l">
              <a:lnSpc>
                <a:spcPct val="100000"/>
              </a:lnSpc>
            </a:pPr>
            <a:r>
              <a:rPr sz="1250" b="1" i="0">
                <a:solidFill>
                  <a:srgbClr val="0468FF"/>
                </a:solidFill>
                <a:latin typeface="Arial"/>
              </a:rPr>
              <a:t>The toll booth beats the track</a:t>
            </a:r>
          </a:p>
        </p:txBody>
      </p:sp>
      <p:sp>
        <p:nvSpPr>
          <p:cNvPr id="29" name="TextBox 28"/>
          <p:cNvSpPr txBox="1"/>
          <p:nvPr/>
        </p:nvSpPr>
        <p:spPr>
          <a:xfrm>
            <a:off x="6739128" y="2377440"/>
            <a:ext cx="4480560" cy="365760"/>
          </a:xfrm>
          <a:prstGeom prst="rect">
            <a:avLst/>
          </a:prstGeom>
          <a:noFill/>
        </p:spPr>
        <p:txBody>
          <a:bodyPr wrap="square" lIns="36576" tIns="18288" rIns="36576" bIns="18288">
            <a:spAutoFit/>
          </a:bodyPr>
          <a:lstStyle/>
          <a:p>
            <a:pPr algn="l">
              <a:lnSpc>
                <a:spcPct val="100000"/>
              </a:lnSpc>
            </a:pPr>
            <a:r>
              <a:rPr sz="1050" b="0" i="0">
                <a:solidFill>
                  <a:srgbClr val="000962"/>
                </a:solidFill>
                <a:latin typeface="Arial"/>
              </a:rPr>
              <a:t>1873, 2002, and now. The businesses that ride on the network keep the profit.</a:t>
            </a:r>
          </a:p>
        </p:txBody>
      </p:sp>
      <p:sp>
        <p:nvSpPr>
          <p:cNvPr id="30" name="Rectangle 29"/>
          <p:cNvSpPr/>
          <p:nvPr/>
        </p:nvSpPr>
        <p:spPr>
          <a:xfrm>
            <a:off x="6172200" y="2871216"/>
            <a:ext cx="5212080" cy="89611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6336792" y="2999232"/>
            <a:ext cx="310896" cy="310896"/>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36792" y="3031236"/>
            <a:ext cx="310896" cy="237744"/>
          </a:xfrm>
          <a:prstGeom prst="rect">
            <a:avLst/>
          </a:prstGeom>
          <a:noFill/>
        </p:spPr>
        <p:txBody>
          <a:bodyPr wrap="square" lIns="36576" tIns="18288" rIns="36576" bIns="18288">
            <a:spAutoFit/>
          </a:bodyPr>
          <a:lstStyle/>
          <a:p>
            <a:pPr algn="ctr"/>
            <a:r>
              <a:rPr sz="1200" b="1" i="0">
                <a:solidFill>
                  <a:srgbClr val="FFFFFF"/>
                </a:solidFill>
                <a:latin typeface="Arial"/>
              </a:rPr>
              <a:t>5</a:t>
            </a:r>
          </a:p>
        </p:txBody>
      </p:sp>
      <p:sp>
        <p:nvSpPr>
          <p:cNvPr id="33" name="TextBox 32"/>
          <p:cNvSpPr txBox="1"/>
          <p:nvPr/>
        </p:nvSpPr>
        <p:spPr>
          <a:xfrm>
            <a:off x="6739128" y="2944368"/>
            <a:ext cx="4480560" cy="384048"/>
          </a:xfrm>
          <a:prstGeom prst="rect">
            <a:avLst/>
          </a:prstGeom>
          <a:noFill/>
        </p:spPr>
        <p:txBody>
          <a:bodyPr wrap="square" lIns="36576" tIns="18288" rIns="36576" bIns="18288">
            <a:spAutoFit/>
          </a:bodyPr>
          <a:lstStyle/>
          <a:p>
            <a:pPr algn="l">
              <a:lnSpc>
                <a:spcPct val="100000"/>
              </a:lnSpc>
            </a:pPr>
            <a:r>
              <a:rPr sz="1250" b="1" i="0">
                <a:solidFill>
                  <a:srgbClr val="0468FF"/>
                </a:solidFill>
                <a:latin typeface="Arial"/>
              </a:rPr>
              <a:t>A hedge that shares your risk is not a hedge</a:t>
            </a:r>
          </a:p>
        </p:txBody>
      </p:sp>
      <p:sp>
        <p:nvSpPr>
          <p:cNvPr id="34" name="TextBox 33"/>
          <p:cNvSpPr txBox="1"/>
          <p:nvPr/>
        </p:nvSpPr>
        <p:spPr>
          <a:xfrm>
            <a:off x="6739128" y="3346704"/>
            <a:ext cx="4480560" cy="365760"/>
          </a:xfrm>
          <a:prstGeom prst="rect">
            <a:avLst/>
          </a:prstGeom>
          <a:noFill/>
        </p:spPr>
        <p:txBody>
          <a:bodyPr wrap="square" lIns="36576" tIns="18288" rIns="36576" bIns="18288">
            <a:spAutoFit/>
          </a:bodyPr>
          <a:lstStyle/>
          <a:p>
            <a:pPr algn="l">
              <a:lnSpc>
                <a:spcPct val="100000"/>
              </a:lnSpc>
            </a:pPr>
            <a:r>
              <a:rPr sz="1050" b="0" i="0">
                <a:solidFill>
                  <a:srgbClr val="000962"/>
                </a:solidFill>
                <a:latin typeface="Arial"/>
              </a:rPr>
              <a:t>Puts on big semiconductors did not protect small high beta names. Both were the same bet.</a:t>
            </a:r>
          </a:p>
        </p:txBody>
      </p:sp>
      <p:sp>
        <p:nvSpPr>
          <p:cNvPr id="35" name="Rectangle 34"/>
          <p:cNvSpPr/>
          <p:nvPr/>
        </p:nvSpPr>
        <p:spPr>
          <a:xfrm>
            <a:off x="6172200" y="3840480"/>
            <a:ext cx="5212080" cy="89611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6336792" y="3968496"/>
            <a:ext cx="310896" cy="310896"/>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36792" y="4000500"/>
            <a:ext cx="310896" cy="237744"/>
          </a:xfrm>
          <a:prstGeom prst="rect">
            <a:avLst/>
          </a:prstGeom>
          <a:noFill/>
        </p:spPr>
        <p:txBody>
          <a:bodyPr wrap="square" lIns="36576" tIns="18288" rIns="36576" bIns="18288">
            <a:spAutoFit/>
          </a:bodyPr>
          <a:lstStyle/>
          <a:p>
            <a:pPr algn="ctr"/>
            <a:r>
              <a:rPr sz="1200" b="1" i="0">
                <a:solidFill>
                  <a:srgbClr val="FFFFFF"/>
                </a:solidFill>
                <a:latin typeface="Arial"/>
              </a:rPr>
              <a:t>6</a:t>
            </a:r>
          </a:p>
        </p:txBody>
      </p:sp>
      <p:sp>
        <p:nvSpPr>
          <p:cNvPr id="38" name="TextBox 37"/>
          <p:cNvSpPr txBox="1"/>
          <p:nvPr/>
        </p:nvSpPr>
        <p:spPr>
          <a:xfrm>
            <a:off x="6739128" y="3913632"/>
            <a:ext cx="4480560" cy="384048"/>
          </a:xfrm>
          <a:prstGeom prst="rect">
            <a:avLst/>
          </a:prstGeom>
          <a:noFill/>
        </p:spPr>
        <p:txBody>
          <a:bodyPr wrap="square" lIns="36576" tIns="18288" rIns="36576" bIns="18288">
            <a:spAutoFit/>
          </a:bodyPr>
          <a:lstStyle/>
          <a:p>
            <a:pPr algn="l">
              <a:lnSpc>
                <a:spcPct val="100000"/>
              </a:lnSpc>
            </a:pPr>
            <a:r>
              <a:rPr sz="1250" b="1" i="0">
                <a:solidFill>
                  <a:srgbClr val="0468FF"/>
                </a:solidFill>
                <a:latin typeface="Arial"/>
              </a:rPr>
              <a:t>Forced selling sets prices, and then it stops</a:t>
            </a:r>
          </a:p>
        </p:txBody>
      </p:sp>
      <p:sp>
        <p:nvSpPr>
          <p:cNvPr id="39" name="TextBox 38"/>
          <p:cNvSpPr txBox="1"/>
          <p:nvPr/>
        </p:nvSpPr>
        <p:spPr>
          <a:xfrm>
            <a:off x="6739128" y="4315968"/>
            <a:ext cx="4480560" cy="365760"/>
          </a:xfrm>
          <a:prstGeom prst="rect">
            <a:avLst/>
          </a:prstGeom>
          <a:noFill/>
        </p:spPr>
        <p:txBody>
          <a:bodyPr wrap="square" lIns="36576" tIns="18288" rIns="36576" bIns="18288">
            <a:spAutoFit/>
          </a:bodyPr>
          <a:lstStyle/>
          <a:p>
            <a:pPr algn="l">
              <a:lnSpc>
                <a:spcPct val="100000"/>
              </a:lnSpc>
            </a:pPr>
            <a:r>
              <a:rPr sz="1050" b="0" i="0">
                <a:solidFill>
                  <a:srgbClr val="000962"/>
                </a:solidFill>
                <a:latin typeface="Arial"/>
              </a:rPr>
              <a:t>His holdings jumped 18% to 28% the day he finished selling. Panic on the way down locks in the loss.</a:t>
            </a:r>
          </a:p>
        </p:txBody>
      </p:sp>
      <p:sp>
        <p:nvSpPr>
          <p:cNvPr id="40" name="TextBox 39"/>
          <p:cNvSpPr txBox="1"/>
          <p:nvPr/>
        </p:nvSpPr>
        <p:spPr>
          <a:xfrm>
            <a:off x="777240" y="4882896"/>
            <a:ext cx="10607040" cy="274320"/>
          </a:xfrm>
          <a:prstGeom prst="rect">
            <a:avLst/>
          </a:prstGeom>
          <a:noFill/>
        </p:spPr>
        <p:txBody>
          <a:bodyPr wrap="square" lIns="36576" tIns="18288" rIns="36576" bIns="18288">
            <a:spAutoFit/>
          </a:bodyPr>
          <a:lstStyle/>
          <a:p>
            <a:pPr algn="l"/>
            <a:r>
              <a:rPr sz="1300" b="1" i="0">
                <a:solidFill>
                  <a:srgbClr val="0468FF"/>
                </a:solidFill>
                <a:latin typeface="Arial"/>
              </a:rPr>
              <a:t>Next 72 hours: find three clients concentrated in one stock or sector, find anyone borrowing to invest, and book a review with each.</a:t>
            </a:r>
          </a:p>
        </p:txBody>
      </p:sp>
      <p:sp>
        <p:nvSpPr>
          <p:cNvPr id="41" name="TextBox 40"/>
          <p:cNvSpPr txBox="1"/>
          <p:nvPr/>
        </p:nvSpPr>
        <p:spPr>
          <a:xfrm>
            <a:off x="777240" y="5157216"/>
            <a:ext cx="10607040" cy="219456"/>
          </a:xfrm>
          <a:prstGeom prst="rect">
            <a:avLst/>
          </a:prstGeom>
          <a:noFill/>
        </p:spPr>
        <p:txBody>
          <a:bodyPr wrap="square" lIns="36576" tIns="18288" rIns="36576" bIns="18288">
            <a:spAutoFit/>
          </a:bodyPr>
          <a:lstStyle/>
          <a:p>
            <a:pPr algn="l"/>
            <a:r>
              <a:rPr sz="900" b="0" i="0">
                <a:solidFill>
                  <a:srgbClr val="46648C"/>
                </a:solidFill>
                <a:latin typeface="Arial"/>
              </a:rPr>
              <a:t>Internal training only. Not investment advice and not a recommendation on any security. Sources: CNBC, WSJ, Bloomberg, FT, Porter Stansberry, SpotGamma, Yardeni Research, Bain, Moody's, NYLIM.</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NYL LIGHT BACKGROUND 16&quot;9" val="f6b4XTqc"/>
  <p:tag name="ARTICULATE_DESIGN_ID_1_NYL LIGHT BACKGROUND 16-9" val="BFT0Q3hc"/>
  <p:tag name="ARTICULATE_DESIGN_ID_ELEVATE LIGHT BLUE BACKGROUND 16-9" val="56JHHY8a"/>
  <p:tag name="ARTICULATE_PROJECT_OPEN" val="0"/>
  <p:tag name="ARTICULATE_SLIDE_COUNT" val="34"/>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Light Blue">
  <a:themeElements>
    <a:clrScheme name="NPS">
      <a:dk1>
        <a:srgbClr val="000962"/>
      </a:dk1>
      <a:lt1>
        <a:srgbClr val="FFFFFF"/>
      </a:lt1>
      <a:dk2>
        <a:srgbClr val="000962"/>
      </a:dk2>
      <a:lt2>
        <a:srgbClr val="7FB9FF"/>
      </a:lt2>
      <a:accent1>
        <a:srgbClr val="000962"/>
      </a:accent1>
      <a:accent2>
        <a:srgbClr val="0468FF"/>
      </a:accent2>
      <a:accent3>
        <a:srgbClr val="A4EFBE"/>
      </a:accent3>
      <a:accent4>
        <a:srgbClr val="006254"/>
      </a:accent4>
      <a:accent5>
        <a:srgbClr val="4C1673"/>
      </a:accent5>
      <a:accent6>
        <a:srgbClr val="E2DFDD"/>
      </a:accent6>
      <a:hlink>
        <a:srgbClr val="467886"/>
      </a:hlink>
      <a:folHlink>
        <a:srgbClr val="96607D"/>
      </a:folHlink>
    </a:clrScheme>
    <a:fontScheme name="Custom 1">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anchor="ctr">
        <a:spAutoFit/>
      </a:bodyPr>
      <a:lstStyle>
        <a:defPPr algn="l">
          <a:defRPr sz="2000" dirty="0">
            <a:latin typeface="+mn-lt"/>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90EC192880CC940BEF50116D54B7C59" ma:contentTypeVersion="15" ma:contentTypeDescription="Create a new document." ma:contentTypeScope="" ma:versionID="e8df92539cb93a60d1f9d35c7ad8f2fc">
  <xsd:schema xmlns:xsd="http://www.w3.org/2001/XMLSchema" xmlns:xs="http://www.w3.org/2001/XMLSchema" xmlns:p="http://schemas.microsoft.com/office/2006/metadata/properties" xmlns:ns2="f7187551-dcd2-4df2-b465-e591e26c4685" xmlns:ns3="879a6a9b-e6a8-4c41-957b-9fddf8c68e29" targetNamespace="http://schemas.microsoft.com/office/2006/metadata/properties" ma:root="true" ma:fieldsID="afa368176db26a36f7bfda52c19dfe8d" ns2:_="" ns3:_="">
    <xsd:import namespace="f7187551-dcd2-4df2-b465-e591e26c4685"/>
    <xsd:import namespace="879a6a9b-e6a8-4c41-957b-9fddf8c68e2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7187551-dcd2-4df2-b465-e591e26c46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2829bdbf-11ca-4188-ad5e-419b837c316a"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79a6a9b-e6a8-4c41-957b-9fddf8c68e2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5d170b91-55c6-426c-83c3-f69fcd712e6d}" ma:internalName="TaxCatchAll" ma:showField="CatchAllData" ma:web="879a6a9b-e6a8-4c41-957b-9fddf8c68e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879a6a9b-e6a8-4c41-957b-9fddf8c68e29">
      <UserInfo>
        <DisplayName>Ferguson, Michael S. (Mike)</DisplayName>
        <AccountId>25</AccountId>
        <AccountType/>
      </UserInfo>
      <UserInfo>
        <DisplayName>Cirrincione, Deborah (Debbie)</DisplayName>
        <AccountId>147</AccountId>
        <AccountType/>
      </UserInfo>
      <UserInfo>
        <DisplayName>Gulisano, James F. (Jamie)</DisplayName>
        <AccountId>28</AccountId>
        <AccountType/>
      </UserInfo>
      <UserInfo>
        <DisplayName>Mariutto, Jennifer M.</DisplayName>
        <AccountId>16</AccountId>
        <AccountType/>
      </UserInfo>
    </SharedWithUsers>
    <lcf76f155ced4ddcb4097134ff3c332f xmlns="f7187551-dcd2-4df2-b465-e591e26c4685">
      <Terms xmlns="http://schemas.microsoft.com/office/infopath/2007/PartnerControls"/>
    </lcf76f155ced4ddcb4097134ff3c332f>
    <TaxCatchAll xmlns="879a6a9b-e6a8-4c41-957b-9fddf8c68e29" xsi:nil="true"/>
  </documentManagement>
</p:properties>
</file>

<file path=customXml/itemProps1.xml><?xml version="1.0" encoding="utf-8"?>
<ds:datastoreItem xmlns:ds="http://schemas.openxmlformats.org/officeDocument/2006/customXml" ds:itemID="{EF327CDC-FC1B-45F8-B39E-D812521109CB}">
  <ds:schemaRefs>
    <ds:schemaRef ds:uri="http://schemas.microsoft.com/sharepoint/v3/contenttype/forms"/>
  </ds:schemaRefs>
</ds:datastoreItem>
</file>

<file path=customXml/itemProps2.xml><?xml version="1.0" encoding="utf-8"?>
<ds:datastoreItem xmlns:ds="http://schemas.openxmlformats.org/officeDocument/2006/customXml" ds:itemID="{5C882790-F36F-440D-B2D7-14A4448B34F5}">
  <ds:schemaRefs>
    <ds:schemaRef ds:uri="879a6a9b-e6a8-4c41-957b-9fddf8c68e29"/>
    <ds:schemaRef ds:uri="f7187551-dcd2-4df2-b465-e591e26c468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C258A8F-586B-499B-90F0-AA26C728EB82}">
  <ds:schemaRefs>
    <ds:schemaRef ds:uri="879a6a9b-e6a8-4c41-957b-9fddf8c68e29"/>
    <ds:schemaRef ds:uri="f7187551-dcd2-4df2-b465-e591e26c468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5</TotalTime>
  <Words>15469</Words>
  <Application>Microsoft Office PowerPoint</Application>
  <PresentationFormat>Widescreen</PresentationFormat>
  <Paragraphs>1225</Paragraphs>
  <Slides>46</Slides>
  <Notes>45</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46</vt:i4>
      </vt:variant>
    </vt:vector>
  </HeadingPairs>
  <TitlesOfParts>
    <vt:vector size="61" baseType="lpstr">
      <vt:lpstr>Alda Pro</vt:lpstr>
      <vt:lpstr>Aptos</vt:lpstr>
      <vt:lpstr>Arial</vt:lpstr>
      <vt:lpstr>Arial,Sans-Serif</vt:lpstr>
      <vt:lpstr>Calibri</vt:lpstr>
      <vt:lpstr>Courier New</vt:lpstr>
      <vt:lpstr>Effra</vt:lpstr>
      <vt:lpstr>Effra Medium</vt:lpstr>
      <vt:lpstr>Effra Pro</vt:lpstr>
      <vt:lpstr>Georgia</vt:lpstr>
      <vt:lpstr>System Font Regular</vt:lpstr>
      <vt:lpstr>Tahoma</vt:lpstr>
      <vt:lpstr>Times New Roman</vt:lpstr>
      <vt:lpstr>Wingdings</vt:lpstr>
      <vt:lpstr>1_Light Blue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New Org:  What’s important week of  August 3</vt:lpstr>
      <vt:lpstr>Target Markets Upcoming Webinars</vt:lpstr>
      <vt:lpstr>Don’t miss this month’s Motivation Monday!</vt:lpstr>
      <vt:lpstr>Explore what’s new with SVUL Accumulator II</vt:lpstr>
      <vt:lpstr>Back by popular demand: Bobby Samuelson</vt:lpstr>
      <vt:lpstr> New Agent Educational call </vt:lpstr>
      <vt:lpstr>ChatGPT Advantage: Agent insights series</vt:lpstr>
      <vt:lpstr>Awards Your Way</vt:lpstr>
      <vt:lpstr>Now available on Hearsay/Yext New IDI email &amp; social media campaigns</vt:lpstr>
      <vt:lpstr>Annuity Insights: Women and Wealth Podcast Series</vt:lpstr>
      <vt:lpstr>Estab:  What’s important week of  August 3</vt:lpstr>
      <vt:lpstr>Chairman’s Circle returns for 2H 2026</vt:lpstr>
      <vt:lpstr>NYL’s Agent Development Program &amp; the Advisor Symposium</vt:lpstr>
      <vt:lpstr>2026 Advisor Symposium – Venue registration is now open! </vt:lpstr>
      <vt:lpstr>The 2027 Calendar Program is live on  Marketing on Demand </vt:lpstr>
      <vt:lpstr>Join Our Upcoming WMCP® Study Cohort</vt:lpstr>
      <vt:lpstr>Exclusive Council Perks for EC and PC agents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Mariutto, Jennifer M.</dc:creator>
  <cp:lastModifiedBy>Dave Guilford</cp:lastModifiedBy>
  <cp:revision>17</cp:revision>
  <cp:lastPrinted>2026-05-27T22:34:09Z</cp:lastPrinted>
  <dcterms:created xsi:type="dcterms:W3CDTF">2022-07-12T13:52:57Z</dcterms:created>
  <dcterms:modified xsi:type="dcterms:W3CDTF">2026-08-02T20:02:44Z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0x010100A90EC192880CC940BEF50116D54B7C59</vt:lpwstr>
  </property>
  <property fmtid="{D5CDD505-2E9C-101B-9397-08002B2CF9AE}" pid="3" name="MediaServiceImageTags">
    <vt:lpwstr/>
  </property>
  <property fmtid="{D5CDD505-2E9C-101B-9397-08002B2CF9AE}" pid="4" name="ArticulateGUID">
    <vt:lpwstr>93C0923A-4E14-470D-A1D5-300874841ADD</vt:lpwstr>
  </property>
  <property fmtid="{D5CDD505-2E9C-101B-9397-08002B2CF9AE}" pid="5" name="ArticulatePath">
    <vt:lpwstr>https://newyorklife-my.sharepoint.com/personal/ssubramani07_newyorklife_com/Documents/Desktop/Agency Comms/New Org Slides/New Org and manager slide deck/NewOrgSlides_for_Management_Update</vt:lpwstr>
  </property>
  <property fmtid="{D5CDD505-2E9C-101B-9397-08002B2CF9AE}" pid="6" name="MSIP_Label_8f0b5d98-aa4b-42ad-b5be-1e75bbcbb7d7_ActionId">
    <vt:lpwstr>4c43cdb1-80ab-4e5b-baad-d5201017abba</vt:lpwstr>
  </property>
  <property fmtid="{D5CDD505-2E9C-101B-9397-08002B2CF9AE}" pid="7" name="MSIP_Label_8f0b5d98-aa4b-42ad-b5be-1e75bbcbb7d7_SiteId">
    <vt:lpwstr>a651e8f0-93d2-41c2-88b6-e8c5a1ad2375</vt:lpwstr>
  </property>
  <property fmtid="{D5CDD505-2E9C-101B-9397-08002B2CF9AE}" pid="8" name="MSIP_Label_8f0b5d98-aa4b-42ad-b5be-1e75bbcbb7d7_Method">
    <vt:lpwstr>Standard</vt:lpwstr>
  </property>
  <property fmtid="{D5CDD505-2E9C-101B-9397-08002B2CF9AE}" pid="9" name="MSIP_Label_8f0b5d98-aa4b-42ad-b5be-1e75bbcbb7d7_Name">
    <vt:lpwstr>Internal-pilot</vt:lpwstr>
  </property>
  <property fmtid="{D5CDD505-2E9C-101B-9397-08002B2CF9AE}" pid="10" name="MSIP_Label_8f0b5d98-aa4b-42ad-b5be-1e75bbcbb7d7_ContentBits">
    <vt:lpwstr>0</vt:lpwstr>
  </property>
  <property fmtid="{D5CDD505-2E9C-101B-9397-08002B2CF9AE}" pid="11" name="MSIP_Label_8f0b5d98-aa4b-42ad-b5be-1e75bbcbb7d7_Enabled">
    <vt:lpwstr>true</vt:lpwstr>
  </property>
  <property fmtid="{D5CDD505-2E9C-101B-9397-08002B2CF9AE}" pid="12" name="MSIP_Label_8f0b5d98-aa4b-42ad-b5be-1e75bbcbb7d7_Tag">
    <vt:lpwstr>10, 3, 0, 2</vt:lpwstr>
  </property>
  <property fmtid="{D5CDD505-2E9C-101B-9397-08002B2CF9AE}" pid="13" name="MSIP_Label_8f0b5d98-aa4b-42ad-b5be-1e75bbcbb7d7_SetDate">
    <vt:lpwstr>2025-07-31T18:26:42Z</vt:lpwstr>
  </property>
</Properties>
</file>