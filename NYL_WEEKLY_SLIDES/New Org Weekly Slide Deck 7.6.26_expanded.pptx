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handoutMasters/handoutMaster1.xml" ContentType="application/vnd.openxmlformats-officedocument.presentationml.handoutMaster+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856" r:id="rId4"/>
    <p:sldMasterId id="2147486133" r:id="rId5"/>
    <p:sldMasterId id="2147486165" r:id="rId6"/>
  </p:sldMasterIdLst>
  <p:notesMasterIdLst>
    <p:notesMasterId r:id="rId22"/>
  </p:notesMasterIdLst>
  <p:handoutMasterIdLst>
    <p:handoutMasterId r:id="rId23"/>
  </p:handoutMasterIdLst>
  <p:sldIdLst>
    <p:sldId id="388" r:id="rId7"/>
    <p:sldId id="2147483647" r:id="rId31"/>
    <p:sldId id="257" r:id="rId32"/>
    <p:sldId id="258" r:id="rId33"/>
    <p:sldId id="261" r:id="rId34"/>
    <p:sldId id="264" r:id="rId35"/>
    <p:sldId id="265" r:id="rId36"/>
    <p:sldId id="266" r:id="rId37"/>
    <p:sldId id="267" r:id="rId38"/>
    <p:sldId id="268" r:id="rId39"/>
    <p:sldId id="276" r:id="rId8"/>
    <p:sldId id="256" r:id="rId9"/>
    <p:sldId id="259" r:id="rId10"/>
    <p:sldId id="337" r:id="rId11"/>
    <p:sldId id="422" r:id="rId12"/>
    <p:sldId id="340" r:id="rId13"/>
    <p:sldId id="429" r:id="rId14"/>
    <p:sldId id="260" r:id="rId15"/>
    <p:sldId id="440" r:id="rId16"/>
    <p:sldId id="2147483646" r:id="rId17"/>
    <p:sldId id="262" r:id="rId18"/>
    <p:sldId id="263" r:id="rId19"/>
    <p:sldId id="2147483645" r:id="rId20"/>
    <p:sldId id="269" r:id="rId40"/>
    <p:sldId id="270" r:id="rId41"/>
    <p:sldId id="271" r:id="rId42"/>
    <p:sldId id="272" r:id="rId43"/>
    <p:sldId id="273" r:id="rId44"/>
    <p:sldId id="274" r:id="rId45"/>
    <p:sldId id="275" r:id="rId46"/>
    <p:sldId id="277" r:id="rId47"/>
    <p:sldId id="278" r:id="rId48"/>
    <p:sldId id="279" r:id="rId49"/>
    <p:sldId id="280" r:id="rId50"/>
    <p:sldId id="281" r:id="rId51"/>
    <p:sldId id="282" r:id="rId52"/>
    <p:sldId id="319" r:id="rId21"/>
  </p:sldIdLst>
  <p:sldSz cx="12192000" cy="6858000"/>
  <p:notesSz cx="7102475" cy="9388475"/>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5B82AEEB-27C9-4347-8BF2-F4521B8C3795}">
          <p14:sldIdLst>
            <p14:sldId id="388"/>
          </p14:sldIdLst>
        </p14:section>
        <p14:section name="Content" id="{7F40F47A-1A74-41D4-A581-0833D369880F}">
          <p14:sldIdLst>
            <p14:sldId id="276"/>
            <p14:sldId id="256"/>
            <p14:sldId id="259"/>
            <p14:sldId id="337"/>
            <p14:sldId id="422"/>
            <p14:sldId id="340"/>
            <p14:sldId id="429"/>
            <p14:sldId id="260"/>
            <p14:sldId id="440"/>
            <p14:sldId id="2147483646"/>
            <p14:sldId id="262"/>
            <p14:sldId id="263"/>
            <p14:sldId id="2147483645"/>
            <p14:sldId id="319"/>
          </p14:sldIdLst>
        </p14:section>
      </p14:sectionLst>
    </p:ext>
    <p:ext uri="{EFAFB233-063F-42B5-8137-9DF3F51BA10A}">
      <p15:sldGuideLst xmlns:p15="http://schemas.microsoft.com/office/powerpoint/2012/main">
        <p15:guide id="1" pos="1248" userDrawn="1">
          <p15:clr>
            <a:srgbClr val="A4A3A4"/>
          </p15:clr>
        </p15:guide>
        <p15:guide id="2" orient="horz" pos="237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C88B104-0603-DB14-FB19-8B061BAFB446}" name="Cirrincione, Deborah (Debbie)" initials="DC" userId="S::DCIRRINCI@newyorklife.com::208aada5-06cf-41ed-b292-2a173ac4d61d" providerId="AD"/>
  <p188:author id="{E6325B11-2B13-A17C-AE9E-D23D2ADBA2C1}" name="Scanlan, Dawn M." initials="SD" userId="S::dhamon@newyorklife.com::12c7cd20-34bf-4117-b7b9-e4f7d0c77492" providerId="AD"/>
  <p188:author id="{03F8FB18-B39D-0050-A8EB-A1A2407ED5D9}" name="Oliveira, Maile M." initials="OM" userId="S::mmbrown@newyorklife.com::64802ba7-84bf-436a-b409-1db34b4cff98" providerId="AD"/>
  <p188:author id="{AB61541C-3827-2330-99F1-4B1E43CD5285}" name="Matzko, Donna J." initials="" userId="S::DMATZKO@newyorklife.com::a0ae713f-cc26-46c7-b8b9-c2ba1a6c18be" providerId="AD"/>
  <p188:author id="{A2B39C1C-877D-7914-D47E-BFD3482E12A9}" name="Murphy, Karen A." initials="KM" userId="S::kamurphy@newyorklife.com::e908a998-6e67-445b-bceb-e3f9243fa633" providerId="AD"/>
  <p188:author id="{27656B1E-4F6E-DB6E-9EE4-2BF187666295}" name="Chambers, Maryann" initials="CM" userId="S::mchambers02@newyorklife.com::859f9a9e-0f02-4620-8509-0bbdd26e0cb9" providerId="AD"/>
  <p188:author id="{0512EF21-C40B-D3CF-1B69-C0088690A08D}" name="Roughan, Sarah" initials="SR" userId="S::SROUGHAN@newyorklife.com::8091c5e4-3c9e-4ce8-a969-a2efd2174472" providerId="AD"/>
  <p188:author id="{61F13D22-0E0E-EE5D-D595-8ADB3788527F}" name="Cattan, Lauren E." initials="" userId="S::lecattan@newyorklife.com::ddd6e1fa-c82a-41c8-9d29-262da4981243" providerId="AD"/>
  <p188:author id="{D388B223-0728-409D-78CA-D25481D8D6FC}" name="Getaz, Marjorie V." initials="GV" userId="S::mgetaz@newyorklife.com::ea5e04bc-0316-4f07-ac82-b5c547970c0d" providerId="AD"/>
  <p188:author id="{D8734834-E2EB-99E0-93D8-641F24B0AD46}" name="Falvo, Christopher (Chris)" initials="FC" userId="S::cfalvo@newyorklife.com::ad72e406-7e4b-4df6-bc2b-fdbd41892401" providerId="AD"/>
  <p188:author id="{1D1EE235-820B-D8C7-6AA2-316059E7D001}" name="Rose-Curley, Kelly R." initials="RCKR" userId="S::krosecurley@newyorklife.com::35c7f804-a584-4833-8966-5d1db731baab" providerId="AD"/>
  <p188:author id="{50BFF837-3C3A-0E2C-0ED1-FB27565BFCDC}" name="Mariutto, Jennifer M." initials="MM" userId="S::jiannibel@newyorklife.com::c1f1ff73-0556-4c3e-b648-cf17dbe126d2" providerId="AD"/>
  <p188:author id="{EEDAC642-367D-31E6-1752-92D684194A65}" name="Hourihan, Karla M." initials="KH" userId="S::KSUNDSTRO@newyorklife.com::595e3252-aeba-4609-af9d-4f36f617beb2" providerId="AD"/>
  <p188:author id="{F55A2946-8F83-058E-720D-40DF22326A19}" name="Bueti, Grazia (Grace)" initials="B(" userId="S::gbueti@newyorklife.com::c20da38d-4933-4cf1-8bc7-708859dc483f" providerId="AD"/>
  <p188:author id="{5DDDD84C-5F01-C273-2A72-188E082B6E60}" name="Schwartz, Deborah A." initials="DS" userId="S::daschwartz@newyorklife.com::f76e2373-eaaf-4e13-b974-65290e356216" providerId="AD"/>
  <p188:author id="{0E703F4D-9169-B7B3-CD1E-EB37DC168934}" name="Ura, Edit" initials="UE" userId="S::eura@newyorklife.com::a6f2eeb4-940e-4b7f-893a-1553909b3f48" providerId="AD"/>
  <p188:author id="{BA2DDC52-7CE2-0A0C-F0C4-5916F422448A}" name="Bulk, Andrew H. (Hunter)" initials="AB" userId="S::abulk@newyorklife.com::9ca1aaf4-2bdd-45d0-8ed4-7c68d5a17e49" providerId="AD"/>
  <p188:author id="{9C713C55-CBBA-9A64-B8F3-87D958DADF30}" name="Crimmins, Sheila A." initials="CS" userId="S::scrimmins@newyorklife.com::bf709f57-f968-48e4-ba64-4008d5d65a86" providerId="AD"/>
  <p188:author id="{2F65DD55-5C00-7671-AA59-1964AADD4DB0}" name="Bean, Darla L." initials="" userId="S::DBEAN@newyorklife.com::1cdda7fb-ded0-4ae6-9a0b-8ecf3341de13" providerId="AD"/>
  <p188:author id="{0A64D957-4C8C-1539-6B98-92C68A0D1D4A}" name="Kuzma, Matthew P." initials="" userId="S::mkuzma@newyorklife.com::e3edd6ba-4461-45fe-afc9-84ff9b2b1683" providerId="AD"/>
  <p188:author id="{98F39958-7A0C-819B-092A-654262FBFA68}" name="Nabors, Lisa (Lisa Renee)" initials="" userId="S::lnabors@newyorklife.com::2428def2-c02b-428d-91d0-cc587022f317" providerId="AD"/>
  <p188:author id="{047C695E-CC98-0A8A-B34A-0ECA6D510BB4}" name="Brown, Traci" initials="BT" userId="S::tbrown02@newyorklife.com::dbff7f98-554c-4297-ba8f-c5886a4da67b" providerId="AD"/>
  <p188:author id="{B6F96364-211C-8C43-AE38-CDEBEB04EC9F}" name="Mitra, Debapriya" initials="DM" userId="S::dmitra@newyorklife.com::21b21f98-a826-4455-9c9d-cb7d150c14fb" providerId="AD"/>
  <p188:author id="{C1456E67-7030-936D-33B0-32CE3A81C3D8}" name="Macchia, John" initials="" userId="S::jmacchia01@newyorklife.com::1f860ba1-b7e6-45b3-ba8f-232cf36abb01" providerId="AD"/>
  <p188:author id="{C8928A67-B20B-D87E-5540-087A347196AA}" name="Gilrein, Sean" initials="SG" userId="S::SGILREIN@newyorklife.com::8345e0ee-d86a-4f4d-938c-9dbb6e7c199d" providerId="AD"/>
  <p188:author id="{60874968-7C58-CE39-5BBD-0D797E532F25}" name="Cirrincione, Deborah (Debbie)" initials="dc" userId="Cirrincione, Deborah (Debbie)" providerId="None"/>
  <p188:author id="{7A0C5C6A-4A62-41D9-4F3E-3F1EBCA67392}" name="Klink, Edward E." initials="" userId="S::eeklink@newyorklife.com::d55b7f20-6b1a-488e-bc4e-45dcf68636ce" providerId="AD"/>
  <p188:author id="{9929BA6B-C613-F00B-8D48-206035D02269}" name="Gomes, Ligiane M. (Ligi)" initials="" userId="S::lgomes@newyorklife.com::2f659f96-c90e-4564-93aa-b062b87100ea" providerId="AD"/>
  <p188:author id="{83CD0270-DF0C-A16E-33B4-C536F7B4706C}" name="Essig, Daniel (Danny)" initials="DE" userId="S::DESSIG@newyorklife.com::f32510c9-2efe-4bb9-aa71-daecbbe6a660" providerId="AD"/>
  <p188:author id="{3A22EB70-5E1C-70AC-9010-295C37A89265}" name="Fidz, Anna M." initials="" userId="S::afidz@newyorklife.com::403b62f2-a980-47af-8223-793a05db5331" providerId="AD"/>
  <p188:author id="{4F22687A-C5BE-8C0B-B553-3927C7BEA320}" name="Cook, Erin E." initials="EC" userId="S::eedowney@newyorklife.com::4ccbf6e1-c364-4b3c-a7a8-4026f8918c02" providerId="AD"/>
  <p188:author id="{49D67B7C-B5F7-6980-A774-191BA199960A}" name="Armstrong-Walker, Diana L." initials="DA" userId="S::dlarmstrongw@newyorklife.com::d378a642-fb86-4375-bb7b-45919c3cc48f" providerId="AD"/>
  <p188:author id="{C91B6384-E527-0C03-4389-92D94BB2B7CF}" name="McGuirk, Sheehan M." initials="MS" userId="S::smmcguirk@newyorklife.com::79890cd6-8da1-4f61-9db7-93e67eab352f" providerId="AD"/>
  <p188:author id="{DC977B89-0EAF-5F3D-1266-F0CEED641F58}" name="Gassaway, Debra (Debbie)" initials="" userId="S::dgassaway@newyorklife.com::811452f0-8070-42fd-a663-809a5b3624d3" providerId="AD"/>
  <p188:author id="{5E10B28E-48F4-BFAA-3974-64ECAB236F61}" name="Crimmins, Sheila A." initials="" userId="S::SCRIMMINS@newyorklife.com::bf709f57-f968-48e4-ba64-4008d5d65a86" providerId="AD"/>
  <p188:author id="{BE250D9C-0FC2-4FB7-F358-F4665534E3A1}" name="Shortall, Matthew" initials="SM" userId="S::mshortall@newyorklife.com::d61067b8-2dcf-49a2-837a-c6ef30972e27" providerId="AD"/>
  <p188:author id="{4FE8B29C-AF9E-63CB-0734-2F82018A51EB}" name="Liftman, Stephanie M." initials="" userId="S::smschneider@newyorklife.com::efc14625-f729-4af2-9e74-6b90b22b429d" providerId="AD"/>
  <p188:author id="{0C2A559E-9C6C-0970-3F23-A3AA10F90442}" name="Amendola, Anthony J." initials="AA" userId="S::aamendola@newyorklife.com::8d9d6dd4-fd66-429c-9e35-a7518ede12fb" providerId="AD"/>
  <p188:author id="{670EE99F-FA4B-F0B4-EAEC-1FF4C6FC0808}" name="Niehoff, Elizabeth H. (Liz)" initials="" userId="S::ehniehoff@newyorklife.com::2ad97e79-e416-461d-82b2-97d0b67ac1b1" providerId="AD"/>
  <p188:author id="{8A7325A0-1279-11C4-F94B-A403B22E1209}" name="Belo, Rose Marie" initials="" userId="S::rbelo@newyorklife.com::5312c633-4b08-4e98-985d-c547bb9a124f" providerId="AD"/>
  <p188:author id="{D8E169A0-C7FF-473C-B3AD-1168C85C0385}" name="Laramee, Elaine R." initials="" userId="S::ELARAMEE@newyorklife.com::ed7f34df-5a18-4770-8d58-27343b68b770" providerId="AD"/>
  <p188:author id="{8AA8C5A0-FBF5-2187-E641-BE707A338C8E}" name="Gilrein, Sean" initials="GS" userId="S::sgilrein@newyorklife.com::8345e0ee-d86a-4f4d-938c-9dbb6e7c199d" providerId="AD"/>
  <p188:author id="{E03D09A5-F491-365F-185C-D85A4EE8EFAA}" name="Ruggeri, Renee M." initials="RR" userId="S::rmruggeri@newyorklife.com::8c8a01f5-9c3d-41b4-80e7-fc45fe604ed3" providerId="AD"/>
  <p188:author id="{3DF8EDA6-F86C-B98A-543E-360DCC21BB87}" name="Bean, Darla L." initials="BD" userId="S::dbean@newyorklife.com::1cdda7fb-ded0-4ae6-9a0b-8ecf3341de13" providerId="AD"/>
  <p188:author id="{C9110DAB-FD2B-50BE-50C7-7AD79071ACD7}" name="Petruccelli, Michael R. (Mike)" initials="" userId="S::mpetruccelli@newyorklife.com::6782a3d9-3f74-4bdf-838d-3b731992a725" providerId="AD"/>
  <p188:author id="{44669BAB-D232-6235-700B-B5070BD4784F}" name="Aligaen, Rina M." initials="" userId="S::rmaligaen@newyorklife.com::4d14e425-8ff4-45db-ab59-805e6bbc9a26" providerId="AD"/>
  <p188:author id="{E6EB99AD-729A-A869-0A78-480BA10A9DDD}" name="Weiser, Donna" initials="" userId="S::dweiser@newyorklife.com::8c69d483-485e-4e52-bf1a-586a7cc2347f" providerId="AD"/>
  <p188:author id="{BDA5E4AD-99DB-EE25-F4CE-ADFC14485082}" name="Antoniello, Christopher (Chris)" initials="" userId="S::cantoniello@newyorklife.com::712220fb-5d91-4258-9539-9653d43a755a" providerId="AD"/>
  <p188:author id="{C1B340AF-8CAB-C24A-19FE-71E0B22B6927}" name="Hill-Ries, Lisa N." initials="HL" userId="S::lnhillries@newyorklife.com::ab99e0e4-2b3a-4625-b0e9-1b0cffed9825" providerId="AD"/>
  <p188:author id="{AA45C8AF-5EAE-ED19-6D1B-21528F2279DA}" name="Rubin, Kathleen M. (Kathy)" initials="" userId="S::KRUBIN@newyorklife.com::12ebbc21-f07a-48bc-a611-e3954683d7c0" providerId="AD"/>
  <p188:author id="{80A621B0-98DD-DB02-6DA8-A0C392D002CD}" name="Rubin, Kathleen M. (Kathy)" initials="R(" userId="S::krubin@newyorklife.com::12ebbc21-f07a-48bc-a611-e3954683d7c0" providerId="AD"/>
  <p188:author id="{1D5EECB4-62E1-82F7-98F7-2ABE559C17BD}" name="Hase, Melanie L. (Melli)" initials="MH" userId="S::mlhase@newyorklife.com::97460e0e-4c90-446b-b934-aa22cb2ed870" providerId="AD"/>
  <p188:author id="{252F77B8-3706-DFAE-3C76-A25A02541A7F}" name="Laramee, Elaine R." initials="LE" userId="S::elaramee@newyorklife.com::ed7f34df-5a18-4770-8d58-27343b68b770" providerId="AD"/>
  <p188:author id="{899231BF-295E-7C78-33C6-B9E4F60BE1EF}" name="Parker-Magyar, Alexander V." initials="" userId="S::avparkermagy@newyorklife.com::b2a07cd5-f592-4539-94aa-2a41e6a238e9" providerId="AD"/>
  <p188:author id="{EEF746C8-7549-9BD7-F3D3-EFB000BA5F6C}" name="Holbert, Michelle E. (Shelley)" initials="MH" userId="S::mholbert@newyorklife.com::23f080fe-79e7-4e1e-86a3-fde953166fbf" providerId="AD"/>
  <p188:author id="{24BA49C8-92E0-50E2-A4FA-9651F8610C6E}" name="Roughan, Sarah" initials="RS" userId="S::sroughan@newyorklife.com::8091c5e4-3c9e-4ce8-a969-a2efd2174472" providerId="AD"/>
  <p188:author id="{05C777CA-1AA9-7018-66C4-30CABF602BD9}" name="Brown, Peggy W." initials="BP" userId="S::pwbrown@newyorklife.com::1aecf54a-6bf6-4592-8b93-f373f4acaca2" providerId="AD"/>
  <p188:author id="{23AF9CCA-78FA-50A7-D504-0D454CD01A46}" name="Curtin, Lauren A." initials="" userId="S::lgilmore@newyorklife.com::6f6c4c81-7c45-40a8-b3f5-7e6ddd073395" providerId="AD"/>
  <p188:author id="{4820F8CA-0D7D-75D3-F9C2-5A9B9094B06F}" name="Lombardi, Ronald" initials="" userId="S::rlombardi@newyorklife.com::90020542-9349-4a1c-98f6-ac728adb002c" providerId="AD"/>
  <p188:author id="{EB8FBDCB-B405-9C57-DD28-EC16DFE1FEA5}" name="Falvo, Christopher (Chris)" initials="CF" userId="S::CFALVO@newyorklife.com::ad72e406-7e4b-4df6-bc2b-fdbd41892401" providerId="AD"/>
  <p188:author id="{F01B96D6-87F5-F019-5EB5-4F939888460F}" name="Mariutto, Jennifer M." initials="JM" userId="S::JIANNIBEL@newyorklife.com::c1f1ff73-0556-4c3e-b648-cf17dbe126d2" providerId="AD"/>
  <p188:author id="{68B046DB-94B6-1D44-553A-1D134A7BA8DC}" name="Essig, Daniel (Danny)" initials="ED" userId="S::dessig@newyorklife.com::f32510c9-2efe-4bb9-aa71-daecbbe6a660" providerId="AD"/>
  <p188:author id="{0C2CE8DF-280C-8473-CC3F-0CAA48B56FE8}" name="Gulisano, James F. (Jamie)" initials="" userId="S::JGULISANO@newyorklife.com::9c98f369-4b8b-4fec-acab-a272b9024458" providerId="AD"/>
  <p188:author id="{181863E0-D98D-3C17-17AD-016BAEF37155}" name="Ferguson, Michael S. (Mike)" initials="F(" userId="S::mferguson01@newyorklife.com::3572e4fa-3fa2-48c8-b0ce-39fda1969879" providerId="AD"/>
  <p188:author id="{C0B5DBE0-FF85-AE3E-4531-56962B7CF052}" name="Mcdermott, Patrick B." initials="" userId="S::PMCDERMOT@newyorklife.com::abc56b72-56a0-49c6-bee4-46c6d1d4f69d" providerId="AD"/>
  <p188:author id="{DA07D0E3-359E-887B-A92C-C1E38B730533}" name="Cirrincione, Deborah (Debbie)" initials="CD" userId="S::dcirrinci@newyorklife.com::208aada5-06cf-41ed-b292-2a173ac4d61d" providerId="AD"/>
  <p188:author id="{CF15BEE4-1643-3CCA-D837-251CF4390522}" name="Rowland, Njeri C." initials="NR" userId="S::nrowland@newyorklife.com::7526444e-40cd-4685-9189-6a7ffe474f76" providerId="AD"/>
  <p188:author id="{73371CE5-7D96-BD6C-078D-B3A6D6FAA8B9}" name="Bednarz, Christine A." initials="BCA" userId="S::cabednarz@newyorklife.com::8da3e2fc-0a9f-4d26-abe3-9a25ded5506f" providerId="AD"/>
  <p188:author id="{9D80C2EB-5545-7878-D0C2-C959B1F1ADB7}" name="Ferguson, Michael S. (Mike)" initials="MF" userId="S::MFERGUSON01@newyorklife.com::3572e4fa-3fa2-48c8-b0ce-39fda1969879" providerId="AD"/>
  <p188:author id="{81825AEE-7DF5-D32C-1742-6673EC338428}" name="Hourihan, Karla M." initials="HK" userId="S::ksundstro@newyorklife.com::595e3252-aeba-4609-af9d-4f36f617beb2" providerId="AD"/>
  <p188:author id="{4B87E1EF-0466-3982-449B-38629DF1EE7F}" name="Forand, Patrick W." initials="FP" userId="S::pforand@newyorklife.com::151abf93-ee6a-4408-8c4a-0fc8c7dedff4" providerId="AD"/>
  <p188:author id="{233E4CFA-658D-8295-4ADF-C95E00CF94E1}" name="Csillag, Carmen" initials="" userId="S::ccsillag@newyorklife.com::5bab7689-479a-4c08-9af9-59f51916266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A62"/>
    <a:srgbClr val="0042E8"/>
    <a:srgbClr val="000000"/>
    <a:srgbClr val="E82CC4"/>
    <a:srgbClr val="0A3C53"/>
    <a:srgbClr val="66A7FF"/>
    <a:srgbClr val="7FE9A5"/>
    <a:srgbClr val="0468FF"/>
    <a:srgbClr val="A5CAF4"/>
    <a:srgbClr val="A4C9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770" autoAdjust="0"/>
  </p:normalViewPr>
  <p:slideViewPr>
    <p:cSldViewPr snapToGrid="0">
      <p:cViewPr>
        <p:scale>
          <a:sx n="70" d="100"/>
          <a:sy n="70" d="100"/>
        </p:scale>
        <p:origin x="2118" y="840"/>
      </p:cViewPr>
      <p:guideLst>
        <p:guide pos="1248"/>
        <p:guide orient="horz" pos="237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xml"/><Relationship Id="rId8" Type="http://schemas.openxmlformats.org/officeDocument/2006/relationships/slide" Target="slides/slide11.xml"/><Relationship Id="rId9" Type="http://schemas.openxmlformats.org/officeDocument/2006/relationships/slide" Target="slides/slide12.xml"/><Relationship Id="rId10" Type="http://schemas.openxmlformats.org/officeDocument/2006/relationships/slide" Target="slides/slide13.xml"/><Relationship Id="rId11" Type="http://schemas.openxmlformats.org/officeDocument/2006/relationships/slide" Target="slides/slide14.xml"/><Relationship Id="rId12" Type="http://schemas.openxmlformats.org/officeDocument/2006/relationships/slide" Target="slides/slide15.xml"/><Relationship Id="rId13" Type="http://schemas.openxmlformats.org/officeDocument/2006/relationships/slide" Target="slides/slide16.xml"/><Relationship Id="rId14" Type="http://schemas.openxmlformats.org/officeDocument/2006/relationships/slide" Target="slides/slide17.xml"/><Relationship Id="rId15" Type="http://schemas.openxmlformats.org/officeDocument/2006/relationships/slide" Target="slides/slide18.xml"/><Relationship Id="rId16" Type="http://schemas.openxmlformats.org/officeDocument/2006/relationships/slide" Target="slides/slide19.xml"/><Relationship Id="rId17" Type="http://schemas.openxmlformats.org/officeDocument/2006/relationships/slide" Target="slides/slide20.xml"/><Relationship Id="rId18" Type="http://schemas.openxmlformats.org/officeDocument/2006/relationships/slide" Target="slides/slide21.xml"/><Relationship Id="rId19" Type="http://schemas.openxmlformats.org/officeDocument/2006/relationships/slide" Target="slides/slide22.xml"/><Relationship Id="rId20" Type="http://schemas.openxmlformats.org/officeDocument/2006/relationships/slide" Target="slides/slide23.xml"/><Relationship Id="rId21" Type="http://schemas.openxmlformats.org/officeDocument/2006/relationships/slide" Target="slides/slide37.xml"/><Relationship Id="rId22" Type="http://schemas.openxmlformats.org/officeDocument/2006/relationships/notesMaster" Target="notesMasters/notesMaster1.xml"/><Relationship Id="rId23" Type="http://schemas.openxmlformats.org/officeDocument/2006/relationships/handoutMaster" Target="handoutMasters/handoutMaster1.xml"/><Relationship Id="rId24" Type="http://schemas.openxmlformats.org/officeDocument/2006/relationships/tags" Target="tags/tag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8/10/relationships/authors" Target="authors.xml"/><Relationship Id="rId31" Type="http://schemas.openxmlformats.org/officeDocument/2006/relationships/slide" Target="slides/slide2.xml"/><Relationship Id="rId32" Type="http://schemas.openxmlformats.org/officeDocument/2006/relationships/slide" Target="slides/slide3.xml"/><Relationship Id="rId33" Type="http://schemas.openxmlformats.org/officeDocument/2006/relationships/slide" Target="slides/slide4.xml"/><Relationship Id="rId34" Type="http://schemas.openxmlformats.org/officeDocument/2006/relationships/slide" Target="slides/slide5.xml"/><Relationship Id="rId35" Type="http://schemas.openxmlformats.org/officeDocument/2006/relationships/slide" Target="slides/slide6.xml"/><Relationship Id="rId36" Type="http://schemas.openxmlformats.org/officeDocument/2006/relationships/slide" Target="slides/slide7.xml"/><Relationship Id="rId37" Type="http://schemas.openxmlformats.org/officeDocument/2006/relationships/slide" Target="slides/slide8.xml"/><Relationship Id="rId38" Type="http://schemas.openxmlformats.org/officeDocument/2006/relationships/slide" Target="slides/slide9.xml"/><Relationship Id="rId39" Type="http://schemas.openxmlformats.org/officeDocument/2006/relationships/slide" Target="slides/slide10.xml"/><Relationship Id="rId40" Type="http://schemas.openxmlformats.org/officeDocument/2006/relationships/slide" Target="slides/slide24.xml"/><Relationship Id="rId41" Type="http://schemas.openxmlformats.org/officeDocument/2006/relationships/slide" Target="slides/slide25.xml"/><Relationship Id="rId42" Type="http://schemas.openxmlformats.org/officeDocument/2006/relationships/slide" Target="slides/slide26.xml"/><Relationship Id="rId43" Type="http://schemas.openxmlformats.org/officeDocument/2006/relationships/slide" Target="slides/slide27.xml"/><Relationship Id="rId44" Type="http://schemas.openxmlformats.org/officeDocument/2006/relationships/slide" Target="slides/slide28.xml"/><Relationship Id="rId45" Type="http://schemas.openxmlformats.org/officeDocument/2006/relationships/slide" Target="slides/slide29.xml"/><Relationship Id="rId46" Type="http://schemas.openxmlformats.org/officeDocument/2006/relationships/slide" Target="slides/slide30.xml"/><Relationship Id="rId47" Type="http://schemas.openxmlformats.org/officeDocument/2006/relationships/slide" Target="slides/slide31.xml"/><Relationship Id="rId48" Type="http://schemas.openxmlformats.org/officeDocument/2006/relationships/slide" Target="slides/slide32.xml"/><Relationship Id="rId49" Type="http://schemas.openxmlformats.org/officeDocument/2006/relationships/slide" Target="slides/slide33.xml"/><Relationship Id="rId50" Type="http://schemas.openxmlformats.org/officeDocument/2006/relationships/slide" Target="slides/slide34.xml"/><Relationship Id="rId51" Type="http://schemas.openxmlformats.org/officeDocument/2006/relationships/slide" Target="slides/slide35.xml"/><Relationship Id="rId52" Type="http://schemas.openxmlformats.org/officeDocument/2006/relationships/slide" Target="slides/slide3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eti, Grazia (Grace)" userId="c20da38d-4933-4cf1-8bc7-708859dc483f" providerId="ADAL" clId="{7E691470-409E-4843-8F6C-EEFF9EF1D650}"/>
    <pc:docChg chg="delSld delMainMaster modSection">
      <pc:chgData name="Bueti, Grazia (Grace)" userId="c20da38d-4933-4cf1-8bc7-708859dc483f" providerId="ADAL" clId="{7E691470-409E-4843-8F6C-EEFF9EF1D650}" dt="2026-07-01T19:31:03.588" v="0" actId="47"/>
      <pc:docMkLst>
        <pc:docMk/>
      </pc:docMkLst>
      <pc:sldChg chg="del">
        <pc:chgData name="Bueti, Grazia (Grace)" userId="c20da38d-4933-4cf1-8bc7-708859dc483f" providerId="ADAL" clId="{7E691470-409E-4843-8F6C-EEFF9EF1D650}" dt="2026-07-01T19:31:03.588" v="0" actId="47"/>
        <pc:sldMkLst>
          <pc:docMk/>
          <pc:sldMk cId="2714751834" sldId="257"/>
        </pc:sldMkLst>
      </pc:sldChg>
      <pc:sldChg chg="del">
        <pc:chgData name="Bueti, Grazia (Grace)" userId="c20da38d-4933-4cf1-8bc7-708859dc483f" providerId="ADAL" clId="{7E691470-409E-4843-8F6C-EEFF9EF1D650}" dt="2026-07-01T19:31:03.588" v="0" actId="47"/>
        <pc:sldMkLst>
          <pc:docMk/>
          <pc:sldMk cId="2041169404" sldId="258"/>
        </pc:sldMkLst>
      </pc:sldChg>
      <pc:sldChg chg="del">
        <pc:chgData name="Bueti, Grazia (Grace)" userId="c20da38d-4933-4cf1-8bc7-708859dc483f" providerId="ADAL" clId="{7E691470-409E-4843-8F6C-EEFF9EF1D650}" dt="2026-07-01T19:31:03.588" v="0" actId="47"/>
        <pc:sldMkLst>
          <pc:docMk/>
          <pc:sldMk cId="3443914314" sldId="261"/>
        </pc:sldMkLst>
      </pc:sldChg>
      <pc:sldChg chg="del">
        <pc:chgData name="Bueti, Grazia (Grace)" userId="c20da38d-4933-4cf1-8bc7-708859dc483f" providerId="ADAL" clId="{7E691470-409E-4843-8F6C-EEFF9EF1D650}" dt="2026-07-01T19:31:03.588" v="0" actId="47"/>
        <pc:sldMkLst>
          <pc:docMk/>
          <pc:sldMk cId="2466822959" sldId="289"/>
        </pc:sldMkLst>
      </pc:sldChg>
      <pc:sldChg chg="del">
        <pc:chgData name="Bueti, Grazia (Grace)" userId="c20da38d-4933-4cf1-8bc7-708859dc483f" providerId="ADAL" clId="{7E691470-409E-4843-8F6C-EEFF9EF1D650}" dt="2026-07-01T19:31:03.588" v="0" actId="47"/>
        <pc:sldMkLst>
          <pc:docMk/>
          <pc:sldMk cId="4117038282" sldId="320"/>
        </pc:sldMkLst>
      </pc:sldChg>
      <pc:sldChg chg="del">
        <pc:chgData name="Bueti, Grazia (Grace)" userId="c20da38d-4933-4cf1-8bc7-708859dc483f" providerId="ADAL" clId="{7E691470-409E-4843-8F6C-EEFF9EF1D650}" dt="2026-07-01T19:31:03.588" v="0" actId="47"/>
        <pc:sldMkLst>
          <pc:docMk/>
          <pc:sldMk cId="1858948692" sldId="427"/>
        </pc:sldMkLst>
      </pc:sldChg>
      <pc:sldChg chg="del">
        <pc:chgData name="Bueti, Grazia (Grace)" userId="c20da38d-4933-4cf1-8bc7-708859dc483f" providerId="ADAL" clId="{7E691470-409E-4843-8F6C-EEFF9EF1D650}" dt="2026-07-01T19:31:03.588" v="0" actId="47"/>
        <pc:sldMkLst>
          <pc:docMk/>
          <pc:sldMk cId="2200106593" sldId="439"/>
        </pc:sldMkLst>
      </pc:sldChg>
      <pc:sldChg chg="del">
        <pc:chgData name="Bueti, Grazia (Grace)" userId="c20da38d-4933-4cf1-8bc7-708859dc483f" providerId="ADAL" clId="{7E691470-409E-4843-8F6C-EEFF9EF1D650}" dt="2026-07-01T19:31:03.588" v="0" actId="47"/>
        <pc:sldMkLst>
          <pc:docMk/>
          <pc:sldMk cId="716843133" sldId="2147483647"/>
        </pc:sldMkLst>
      </pc:sldChg>
      <pc:sldMasterChg chg="delSldLayout">
        <pc:chgData name="Bueti, Grazia (Grace)" userId="c20da38d-4933-4cf1-8bc7-708859dc483f" providerId="ADAL" clId="{7E691470-409E-4843-8F6C-EEFF9EF1D650}" dt="2026-07-01T19:31:03.588" v="0" actId="47"/>
        <pc:sldMasterMkLst>
          <pc:docMk/>
          <pc:sldMasterMk cId="3754868560" sldId="2147485856"/>
        </pc:sldMasterMkLst>
        <pc:sldLayoutChg chg="del">
          <pc:chgData name="Bueti, Grazia (Grace)" userId="c20da38d-4933-4cf1-8bc7-708859dc483f" providerId="ADAL" clId="{7E691470-409E-4843-8F6C-EEFF9EF1D650}" dt="2026-07-01T19:31:03.588" v="0" actId="47"/>
          <pc:sldLayoutMkLst>
            <pc:docMk/>
            <pc:sldMasterMk cId="3754868560" sldId="2147485856"/>
            <pc:sldLayoutMk cId="4046872504" sldId="2147486073"/>
          </pc:sldLayoutMkLst>
        </pc:sldLayoutChg>
      </pc:sldMasterChg>
      <pc:sldMasterChg chg="del delSldLayout">
        <pc:chgData name="Bueti, Grazia (Grace)" userId="c20da38d-4933-4cf1-8bc7-708859dc483f" providerId="ADAL" clId="{7E691470-409E-4843-8F6C-EEFF9EF1D650}" dt="2026-07-01T19:31:03.588" v="0" actId="47"/>
        <pc:sldMasterMkLst>
          <pc:docMk/>
          <pc:sldMasterMk cId="2123173314" sldId="2147486096"/>
        </pc:sldMasterMkLst>
        <pc:sldLayoutChg chg="del">
          <pc:chgData name="Bueti, Grazia (Grace)" userId="c20da38d-4933-4cf1-8bc7-708859dc483f" providerId="ADAL" clId="{7E691470-409E-4843-8F6C-EEFF9EF1D650}" dt="2026-07-01T19:31:03.588" v="0" actId="47"/>
          <pc:sldLayoutMkLst>
            <pc:docMk/>
            <pc:sldMasterMk cId="2123173314" sldId="2147486096"/>
            <pc:sldLayoutMk cId="3776440974" sldId="2147486097"/>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2410959290" sldId="2147486098"/>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2333932338" sldId="2147486099"/>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1752767276" sldId="2147486100"/>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1596196484" sldId="2147486101"/>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4281082772" sldId="2147486102"/>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3910709499" sldId="2147486103"/>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2905070561" sldId="2147486104"/>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2076259421" sldId="2147486105"/>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3034323750" sldId="2147486106"/>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2655340046" sldId="2147486107"/>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2069211590" sldId="2147486108"/>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3370583667" sldId="2147486109"/>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2132725804" sldId="2147486110"/>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3269290423" sldId="2147486111"/>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1728066828" sldId="2147486112"/>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1189114991" sldId="2147486113"/>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1944321414" sldId="2147486114"/>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3995043121" sldId="2147486115"/>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2445523980" sldId="2147486116"/>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1828766809" sldId="2147486117"/>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3409248102" sldId="2147486118"/>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2003393349" sldId="2147486119"/>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1523029102" sldId="2147486120"/>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4151777753" sldId="2147486121"/>
          </pc:sldLayoutMkLst>
        </pc:sldLayoutChg>
        <pc:sldLayoutChg chg="del">
          <pc:chgData name="Bueti, Grazia (Grace)" userId="c20da38d-4933-4cf1-8bc7-708859dc483f" providerId="ADAL" clId="{7E691470-409E-4843-8F6C-EEFF9EF1D650}" dt="2026-07-01T19:31:03.588" v="0" actId="47"/>
          <pc:sldLayoutMkLst>
            <pc:docMk/>
            <pc:sldMasterMk cId="2123173314" sldId="2147486096"/>
            <pc:sldLayoutMk cId="1890238453" sldId="214748612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39839A-6710-2204-4CDA-C3A65EC879F4}"/>
              </a:ext>
            </a:extLst>
          </p:cNvPr>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a:extLst>
              <a:ext uri="{FF2B5EF4-FFF2-40B4-BE49-F238E27FC236}">
                <a16:creationId xmlns:a16="http://schemas.microsoft.com/office/drawing/2014/main" id="{E99578DC-03E8-1058-6D53-36643595872A}"/>
              </a:ext>
            </a:extLst>
          </p:cNvPr>
          <p:cNvSpPr>
            <a:spLocks noGrp="1"/>
          </p:cNvSpPr>
          <p:nvPr>
            <p:ph type="dt" sz="quarter" idx="1"/>
          </p:nvPr>
        </p:nvSpPr>
        <p:spPr>
          <a:xfrm>
            <a:off x="4023092" y="0"/>
            <a:ext cx="3077739" cy="471054"/>
          </a:xfrm>
          <a:prstGeom prst="rect">
            <a:avLst/>
          </a:prstGeom>
        </p:spPr>
        <p:txBody>
          <a:bodyPr vert="horz" lIns="94229" tIns="47114" rIns="94229" bIns="47114" rtlCol="0"/>
          <a:lstStyle>
            <a:lvl1pPr algn="r">
              <a:defRPr sz="1200"/>
            </a:lvl1pPr>
          </a:lstStyle>
          <a:p>
            <a:fld id="{E7A4511B-ADED-4F45-B3F1-92161E2FB2AD}" type="datetimeFigureOut">
              <a:rPr lang="en-US" smtClean="0"/>
              <a:t>7/1/2026</a:t>
            </a:fld>
            <a:endParaRPr lang="en-US"/>
          </a:p>
        </p:txBody>
      </p:sp>
      <p:sp>
        <p:nvSpPr>
          <p:cNvPr id="4" name="Footer Placeholder 3">
            <a:extLst>
              <a:ext uri="{FF2B5EF4-FFF2-40B4-BE49-F238E27FC236}">
                <a16:creationId xmlns:a16="http://schemas.microsoft.com/office/drawing/2014/main" id="{D79651AB-85DF-CC16-069D-ADF98F769CC6}"/>
              </a:ext>
            </a:extLst>
          </p:cNvPr>
          <p:cNvSpPr>
            <a:spLocks noGrp="1"/>
          </p:cNvSpPr>
          <p:nvPr>
            <p:ph type="ftr" sz="quarter" idx="2"/>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D9EB7D0-D96F-0021-E271-E06D345388B0}"/>
              </a:ext>
            </a:extLst>
          </p:cNvPr>
          <p:cNvSpPr>
            <a:spLocks noGrp="1"/>
          </p:cNvSpPr>
          <p:nvPr>
            <p:ph type="sldNum" sz="quarter" idx="3"/>
          </p:nvPr>
        </p:nvSpPr>
        <p:spPr>
          <a:xfrm>
            <a:off x="4023092" y="8917422"/>
            <a:ext cx="3077739" cy="471053"/>
          </a:xfrm>
          <a:prstGeom prst="rect">
            <a:avLst/>
          </a:prstGeom>
        </p:spPr>
        <p:txBody>
          <a:bodyPr vert="horz" lIns="94229" tIns="47114" rIns="94229" bIns="47114" rtlCol="0" anchor="b"/>
          <a:lstStyle>
            <a:lvl1pPr algn="r">
              <a:defRPr sz="1200"/>
            </a:lvl1pPr>
          </a:lstStyle>
          <a:p>
            <a:fld id="{8F3748A2-8B31-4D5F-8B5A-39B51195A439}" type="slidenum">
              <a:rPr lang="en-US" smtClean="0"/>
              <a:t>‹#›</a:t>
            </a:fld>
            <a:endParaRPr lang="en-US"/>
          </a:p>
        </p:txBody>
      </p:sp>
    </p:spTree>
    <p:extLst>
      <p:ext uri="{BB962C8B-B14F-4D97-AF65-F5344CB8AC3E}">
        <p14:creationId xmlns:p14="http://schemas.microsoft.com/office/powerpoint/2010/main" val="23305770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957" userDrawn="1">
          <p15:clr>
            <a:srgbClr val="F26B43"/>
          </p15:clr>
        </p15:guide>
        <p15:guide id="2" pos="2237"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EA976E3E-BBA1-487D-B81E-A53C96360150}" type="datetimeFigureOut">
              <a:t>7/1/2026</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B8F2EEE2-46E2-47E5-8287-018A51779D44}" type="slidenum">
              <a:t>‹#›</a:t>
            </a:fld>
            <a:endParaRPr lang="en-US"/>
          </a:p>
        </p:txBody>
      </p:sp>
    </p:spTree>
    <p:extLst>
      <p:ext uri="{BB962C8B-B14F-4D97-AF65-F5344CB8AC3E}">
        <p14:creationId xmlns:p14="http://schemas.microsoft.com/office/powerpoint/2010/main" val="2113819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 Id="rId3" Type="http://schemas.openxmlformats.org/officeDocument/2006/relationships/hyperlink" Target="mailto:anna_m_fidz@newyorklife.com" TargetMode="External"/><Relationship Id="rId4" Type="http://schemas.openxmlformats.org/officeDocument/2006/relationships/hyperlink" Target="mailto:nylsecproduct@newyorklife.com"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8F2EEE2-46E2-47E5-8287-018A51779D44}" type="slidenum">
              <a:rPr lang="en-US" smtClean="0"/>
              <a:t>1</a:t>
            </a:fld>
            <a:endParaRPr lang="en-US"/>
          </a:p>
        </p:txBody>
      </p:sp>
    </p:spTree>
    <p:extLst>
      <p:ext uri="{BB962C8B-B14F-4D97-AF65-F5344CB8AC3E}">
        <p14:creationId xmlns:p14="http://schemas.microsoft.com/office/powerpoint/2010/main" val="992921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2289">
              <a:defRPr/>
            </a:pPr>
            <a:r>
              <a:rPr lang="en-US" b="1"/>
              <a:t>New Org Section: </a:t>
            </a:r>
            <a:r>
              <a:rPr lang="en-US"/>
              <a:t>For SPs and Partners presenting to </a:t>
            </a:r>
            <a:r>
              <a:rPr lang="en-US" b="1"/>
              <a:t>New Org agents</a:t>
            </a:r>
            <a:r>
              <a:rPr lang="en-US"/>
              <a:t>. These slides are visible to EPs and MPs.</a:t>
            </a:r>
            <a:endParaRPr lang="en-US" b="1"/>
          </a:p>
          <a:p>
            <a:endParaRPr lang="en-US"/>
          </a:p>
        </p:txBody>
      </p:sp>
      <p:sp>
        <p:nvSpPr>
          <p:cNvPr id="4" name="Slide Number Placeholder 3"/>
          <p:cNvSpPr>
            <a:spLocks noGrp="1"/>
          </p:cNvSpPr>
          <p:nvPr>
            <p:ph type="sldNum" sz="quarter" idx="5"/>
          </p:nvPr>
        </p:nvSpPr>
        <p:spPr/>
        <p:txBody>
          <a:bodyPr/>
          <a:lstStyle/>
          <a:p>
            <a:fld id="{B8F2EEE2-46E2-47E5-8287-018A51779D44}" type="slidenum">
              <a:rPr lang="en-US" smtClean="0"/>
              <a:t>2</a:t>
            </a:fld>
            <a:endParaRPr lang="en-US"/>
          </a:p>
        </p:txBody>
      </p:sp>
    </p:spTree>
    <p:extLst>
      <p:ext uri="{BB962C8B-B14F-4D97-AF65-F5344CB8AC3E}">
        <p14:creationId xmlns:p14="http://schemas.microsoft.com/office/powerpoint/2010/main" val="39826634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E0C87-021D-4750-4984-F992D75559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C7E39-6261-68F4-08FB-D72D933522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6B33CF-0D30-B3EB-811C-80A255560FE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ea typeface="Calibri"/>
                <a:cs typeface="Arial" panose="020B0604020202020204" pitchFamily="34" charset="0"/>
              </a:rPr>
              <a:t>Start 3Q with Timely Reasons to Connect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Arial" panose="020B0604020202020204" pitchFamily="34" charset="0"/>
                <a:ea typeface="Calibri"/>
                <a:cs typeface="Arial" panose="020B0604020202020204" pitchFamily="34" charset="0"/>
              </a:rPr>
              <a:t>This </a:t>
            </a:r>
            <a:r>
              <a:rPr lang="en-US" b="1" dirty="0">
                <a:latin typeface="Arial" panose="020B0604020202020204" pitchFamily="34" charset="0"/>
                <a:ea typeface="Calibri"/>
                <a:cs typeface="Arial" panose="020B0604020202020204" pitchFamily="34" charset="0"/>
              </a:rPr>
              <a:t>national PLAN webinar</a:t>
            </a:r>
            <a:r>
              <a:rPr lang="en-US" b="0" dirty="0">
                <a:latin typeface="Arial" panose="020B0604020202020204" pitchFamily="34" charset="0"/>
                <a:ea typeface="Calibri"/>
                <a:cs typeface="Arial" panose="020B0604020202020204" pitchFamily="34" charset="0"/>
              </a:rPr>
              <a:t> is designed to help agents build momentum early in the third quarter through purposeful activity and relevant reasons to connect with clients. Attendees will gain practical strategies, timely updates and valuable resources that can support client outreach and meaningful conversations.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Arial" panose="020B0604020202020204" pitchFamily="34" charset="0"/>
                <a:ea typeface="Calibri"/>
                <a:cs typeface="Arial" panose="020B0604020202020204" pitchFamily="34" charset="0"/>
              </a:rPr>
              <a:t>The session will highlight ideas for identifying opportunities, increasing 3Q activity, important DCA updates and positioning strategies, and leveraging available resources in client discussions. Agents will also receive important updates and actionable next steps to help maintain momentum and support a strong start to the quarter.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ea typeface="Calibri"/>
                <a:cs typeface="Arial" panose="020B0604020202020204" pitchFamily="34" charset="0"/>
              </a:rPr>
              <a:t>Contact:</a:t>
            </a:r>
            <a:r>
              <a:rPr lang="en-US" dirty="0">
                <a:latin typeface="Arial" panose="020B0604020202020204" pitchFamily="34" charset="0"/>
                <a:ea typeface="Calibri"/>
                <a:cs typeface="Arial" panose="020B0604020202020204" pitchFamily="34" charset="0"/>
              </a:rPr>
              <a:t> PLAN@newyorklife.com</a:t>
            </a:r>
            <a:endParaRPr lang="en-US"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latin typeface="Arial" panose="020B0604020202020204" pitchFamily="34" charset="0"/>
                <a:cs typeface="Arial" panose="020B0604020202020204" pitchFamily="34" charset="0"/>
              </a:rPr>
              <a:t>Registration link: </a:t>
            </a:r>
            <a:r>
              <a:rPr lang="en-US" b="0" dirty="0">
                <a:latin typeface="Arial" panose="020B0604020202020204" pitchFamily="34" charset="0"/>
                <a:cs typeface="Arial" panose="020B0604020202020204" pitchFamily="34" charset="0"/>
              </a:rPr>
              <a:t>https://nylife.zoom.us/webinar/register/WN_orBUFdlRQqCo8q-UoIxNBA</a:t>
            </a:r>
            <a:endParaRPr lang="en-US" b="0" dirty="0"/>
          </a:p>
        </p:txBody>
      </p:sp>
      <p:sp>
        <p:nvSpPr>
          <p:cNvPr id="4" name="Slide Number Placeholder 3">
            <a:extLst>
              <a:ext uri="{FF2B5EF4-FFF2-40B4-BE49-F238E27FC236}">
                <a16:creationId xmlns:a16="http://schemas.microsoft.com/office/drawing/2014/main" id="{2F006A23-F104-CA10-9BB6-EF769F4682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2684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latin typeface="Arial" panose="020B0604020202020204" pitchFamily="34" charset="0"/>
                <a:cs typeface="Arial" panose="020B0604020202020204" pitchFamily="34" charset="0"/>
              </a:rPr>
              <a:t>Contact:</a:t>
            </a:r>
            <a:r>
              <a:rPr lang="en-US">
                <a:latin typeface="Arial" panose="020B0604020202020204" pitchFamily="34" charset="0"/>
                <a:cs typeface="Arial" panose="020B0604020202020204" pitchFamily="34" charset="0"/>
              </a:rPr>
              <a:t> PLAN@newyorklife.com</a:t>
            </a:r>
          </a:p>
          <a:p>
            <a:endParaRPr lang="en-US">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Info Central Page:</a:t>
            </a:r>
            <a:r>
              <a:rPr lang="en-US">
                <a:latin typeface="Arial" panose="020B0604020202020204" pitchFamily="34" charset="0"/>
                <a:cs typeface="Arial" panose="020B0604020202020204" pitchFamily="34" charset="0"/>
              </a:rPr>
              <a:t> https://www.today.newyorklife.com/agencyportal/s/article/July-Growth-Bonus</a:t>
            </a:r>
          </a:p>
          <a:p>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baseline="30000">
                <a:solidFill>
                  <a:schemeClr val="tx1"/>
                </a:solidFill>
                <a:effectLst/>
                <a:latin typeface="Arial" panose="020B0604020202020204" pitchFamily="34" charset="0"/>
                <a:ea typeface="+mn-ea"/>
                <a:cs typeface="Arial" panose="020B0604020202020204" pitchFamily="34" charset="0"/>
              </a:rPr>
              <a:t>1</a:t>
            </a:r>
            <a:r>
              <a:rPr lang="en-US" sz="1200" kern="1200">
                <a:solidFill>
                  <a:schemeClr val="tx1"/>
                </a:solidFill>
                <a:effectLst/>
                <a:latin typeface="Arial" panose="020B0604020202020204" pitchFamily="34" charset="0"/>
                <a:ea typeface="+mn-ea"/>
                <a:cs typeface="Arial" panose="020B0604020202020204" pitchFamily="34" charset="0"/>
              </a:rPr>
              <a:t> Includes Life (EWL 3:1) </a:t>
            </a:r>
            <a:r>
              <a:rPr lang="en-US" sz="1200" kern="1200" err="1">
                <a:solidFill>
                  <a:schemeClr val="tx1"/>
                </a:solidFill>
                <a:effectLst/>
                <a:latin typeface="Arial" panose="020B0604020202020204" pitchFamily="34" charset="0"/>
                <a:ea typeface="+mn-ea"/>
                <a:cs typeface="Arial" panose="020B0604020202020204" pitchFamily="34" charset="0"/>
              </a:rPr>
              <a:t>LTCi</a:t>
            </a:r>
            <a:r>
              <a:rPr lang="en-US" sz="1200" kern="1200">
                <a:solidFill>
                  <a:schemeClr val="tx1"/>
                </a:solidFill>
                <a:effectLst/>
                <a:latin typeface="Arial" panose="020B0604020202020204" pitchFamily="34" charset="0"/>
                <a:ea typeface="+mn-ea"/>
                <a:cs typeface="Arial" panose="020B0604020202020204" pitchFamily="34" charset="0"/>
              </a:rPr>
              <a:t>, and DI. Excludes VUL/Market Wealth Plus, Annuity and COLI/BOLI products, DIOP and Group Insurance cases. </a:t>
            </a:r>
            <a:r>
              <a:rPr lang="en-US" sz="1200" kern="1200" err="1">
                <a:solidFill>
                  <a:schemeClr val="tx1"/>
                </a:solidFill>
                <a:effectLst/>
                <a:latin typeface="Arial" panose="020B0604020202020204" pitchFamily="34" charset="0"/>
                <a:ea typeface="+mn-ea"/>
                <a:cs typeface="Arial" panose="020B0604020202020204" pitchFamily="34" charset="0"/>
              </a:rPr>
              <a:t>LTCi</a:t>
            </a:r>
            <a:r>
              <a:rPr lang="en-US" sz="1200" kern="1200">
                <a:solidFill>
                  <a:schemeClr val="tx1"/>
                </a:solidFill>
                <a:effectLst/>
                <a:latin typeface="Arial" panose="020B0604020202020204" pitchFamily="34" charset="0"/>
                <a:ea typeface="+mn-ea"/>
                <a:cs typeface="Arial" panose="020B0604020202020204" pitchFamily="34" charset="0"/>
              </a:rPr>
              <a:t> excluded in Delaware State.</a:t>
            </a:r>
          </a:p>
          <a:p>
            <a:r>
              <a:rPr lang="en-US" b="1">
                <a:latin typeface="Arial" panose="020B0604020202020204" pitchFamily="34" charset="0"/>
                <a:cs typeface="Arial" panose="020B0604020202020204" pitchFamily="34" charset="0"/>
              </a:rPr>
              <a:t>=============================================================</a:t>
            </a:r>
          </a:p>
          <a:p>
            <a:endParaRPr lang="en-US" b="1">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Executive Council Rocky Mountain Crocs™ Giveaway Experience – Open to 2026 Executive Council agent qualifiers.</a:t>
            </a:r>
          </a:p>
          <a:p>
            <a:endParaRPr lang="en-US">
              <a:latin typeface="Arial" panose="020B0604020202020204" pitchFamily="34" charset="0"/>
              <a:cs typeface="Arial" panose="020B0604020202020204" pitchFamily="34" charset="0"/>
            </a:endParaRPr>
          </a:p>
          <a:p>
            <a:r>
              <a:rPr lang="en-US" sz="1200" kern="1200">
                <a:solidFill>
                  <a:schemeClr val="tx1"/>
                </a:solidFill>
                <a:effectLst/>
                <a:latin typeface="Arial" panose="020B0604020202020204" pitchFamily="34" charset="0"/>
                <a:ea typeface="+mn-ea"/>
                <a:cs typeface="Arial" panose="020B0604020202020204" pitchFamily="34" charset="0"/>
              </a:rPr>
              <a:t>Compete with your Executive Council peers from July 1 through August 14. </a:t>
            </a:r>
          </a:p>
          <a:p>
            <a:endParaRPr lang="en-US" sz="1200" kern="1200">
              <a:solidFill>
                <a:schemeClr val="tx1"/>
              </a:solidFill>
              <a:effectLst/>
              <a:latin typeface="Arial" panose="020B0604020202020204" pitchFamily="34" charset="0"/>
              <a:ea typeface="+mn-ea"/>
              <a:cs typeface="Arial" panose="020B0604020202020204" pitchFamily="34" charset="0"/>
            </a:endParaRPr>
          </a:p>
          <a:p>
            <a:pPr marL="171450" indent="-171450">
              <a:buFont typeface="Arial" panose="020B0604020202020204" pitchFamily="34" charset="0"/>
              <a:buChar char="•"/>
            </a:pPr>
            <a:r>
              <a:rPr lang="en-US" sz="1200" kern="1200">
                <a:solidFill>
                  <a:schemeClr val="tx1"/>
                </a:solidFill>
                <a:effectLst/>
                <a:latin typeface="Arial" panose="020B0604020202020204" pitchFamily="34" charset="0"/>
                <a:ea typeface="+mn-ea"/>
                <a:cs typeface="Arial" panose="020B0604020202020204" pitchFamily="34" charset="0"/>
              </a:rPr>
              <a:t>Agents who finish in the </a:t>
            </a:r>
            <a:r>
              <a:rPr lang="en-US" sz="1200" b="1" kern="1200">
                <a:solidFill>
                  <a:schemeClr val="tx1"/>
                </a:solidFill>
                <a:effectLst/>
                <a:latin typeface="Arial" panose="020B0604020202020204" pitchFamily="34" charset="0"/>
                <a:ea typeface="+mn-ea"/>
                <a:cs typeface="Arial" panose="020B0604020202020204" pitchFamily="34" charset="0"/>
              </a:rPr>
              <a:t>top 200</a:t>
            </a:r>
            <a:r>
              <a:rPr lang="en-US" sz="1200" kern="1200">
                <a:solidFill>
                  <a:schemeClr val="tx1"/>
                </a:solidFill>
                <a:effectLst/>
                <a:latin typeface="Arial" panose="020B0604020202020204" pitchFamily="34" charset="0"/>
                <a:ea typeface="+mn-ea"/>
                <a:cs typeface="Arial" panose="020B0604020202020204" pitchFamily="34" charset="0"/>
              </a:rPr>
              <a:t> on the paid insurance solution cases leaderboard will qualify for an exclusive invitation for themselves and their registered guests to the Rocky Mountain Crocs Giveaway Experience at the Executive Council Meeting on Tuesday, August 25 in Denver, Colorado</a:t>
            </a:r>
          </a:p>
          <a:p>
            <a:pPr marL="171450" indent="-171450">
              <a:buFont typeface="Arial" panose="020B0604020202020204" pitchFamily="34" charset="0"/>
              <a:buChar char="•"/>
            </a:pPr>
            <a:r>
              <a:rPr lang="en-US" sz="1200" kern="1200">
                <a:solidFill>
                  <a:schemeClr val="tx1"/>
                </a:solidFill>
                <a:effectLst/>
                <a:latin typeface="Arial" panose="020B0604020202020204" pitchFamily="34" charset="0"/>
                <a:ea typeface="+mn-ea"/>
                <a:cs typeface="Arial" panose="020B0604020202020204" pitchFamily="34" charset="0"/>
              </a:rPr>
              <a:t>Incentive-eligible solutions Include: Life (EWL 3:1) </a:t>
            </a:r>
            <a:r>
              <a:rPr lang="en-US" sz="1200" kern="1200" err="1">
                <a:solidFill>
                  <a:schemeClr val="tx1"/>
                </a:solidFill>
                <a:effectLst/>
                <a:latin typeface="Arial" panose="020B0604020202020204" pitchFamily="34" charset="0"/>
                <a:ea typeface="+mn-ea"/>
                <a:cs typeface="Arial" panose="020B0604020202020204" pitchFamily="34" charset="0"/>
              </a:rPr>
              <a:t>LTCi</a:t>
            </a:r>
            <a:r>
              <a:rPr lang="en-US" sz="1200" kern="1200">
                <a:solidFill>
                  <a:schemeClr val="tx1"/>
                </a:solidFill>
                <a:effectLst/>
                <a:latin typeface="Arial" panose="020B0604020202020204" pitchFamily="34" charset="0"/>
                <a:ea typeface="+mn-ea"/>
                <a:cs typeface="Arial" panose="020B0604020202020204" pitchFamily="34" charset="0"/>
              </a:rPr>
              <a:t>, and DI cases paid between July 1 and August 14.</a:t>
            </a:r>
          </a:p>
          <a:p>
            <a:pPr marL="628650" lvl="1" indent="-171450">
              <a:buFont typeface="Arial" panose="020B0604020202020204" pitchFamily="34" charset="0"/>
              <a:buChar char="•"/>
            </a:pPr>
            <a:r>
              <a:rPr lang="en-US" sz="1200" kern="1200">
                <a:solidFill>
                  <a:schemeClr val="tx1"/>
                </a:solidFill>
                <a:effectLst/>
                <a:latin typeface="Arial" panose="020B0604020202020204" pitchFamily="34" charset="0"/>
                <a:ea typeface="+mn-ea"/>
                <a:cs typeface="Arial" panose="020B0604020202020204" pitchFamily="34" charset="0"/>
              </a:rPr>
              <a:t>Excludes: annuities, VUL/Market Wealth Plus and DIOP. </a:t>
            </a:r>
            <a:r>
              <a:rPr lang="en-US" sz="1200" kern="1200" err="1">
                <a:solidFill>
                  <a:schemeClr val="tx1"/>
                </a:solidFill>
                <a:effectLst/>
                <a:latin typeface="Arial" panose="020B0604020202020204" pitchFamily="34" charset="0"/>
                <a:ea typeface="+mn-ea"/>
                <a:cs typeface="Arial" panose="020B0604020202020204" pitchFamily="34" charset="0"/>
              </a:rPr>
              <a:t>LTCi</a:t>
            </a:r>
            <a:r>
              <a:rPr lang="en-US" sz="1200" kern="1200">
                <a:solidFill>
                  <a:schemeClr val="tx1"/>
                </a:solidFill>
                <a:effectLst/>
                <a:latin typeface="Arial" panose="020B0604020202020204" pitchFamily="34" charset="0"/>
                <a:ea typeface="+mn-ea"/>
                <a:cs typeface="Arial" panose="020B0604020202020204" pitchFamily="34" charset="0"/>
              </a:rPr>
              <a:t> excluded in Delaware State.</a:t>
            </a:r>
          </a:p>
          <a:p>
            <a:endParaRPr lang="en-US" sz="1200" kern="1200">
              <a:solidFill>
                <a:schemeClr val="tx1"/>
              </a:solidFill>
              <a:effectLst/>
              <a:latin typeface="Arial" panose="020B0604020202020204" pitchFamily="34" charset="0"/>
              <a:ea typeface="+mn-ea"/>
              <a:cs typeface="Arial" panose="020B0604020202020204" pitchFamily="34" charset="0"/>
            </a:endParaRPr>
          </a:p>
          <a:p>
            <a:r>
              <a:rPr lang="en-US" sz="1200" kern="1200">
                <a:solidFill>
                  <a:schemeClr val="tx1"/>
                </a:solidFill>
                <a:effectLst/>
                <a:latin typeface="Arial" panose="020B0604020202020204" pitchFamily="34" charset="0"/>
                <a:ea typeface="+mn-ea"/>
                <a:cs typeface="Arial" panose="020B0604020202020204" pitchFamily="34" charset="0"/>
              </a:rPr>
              <a:t>The experience encompasses your choice of one complimentary Crocs bag, either a tote or backpack, a custom New York Life </a:t>
            </a:r>
            <a:r>
              <a:rPr lang="en-US" sz="1200" kern="1200" err="1">
                <a:solidFill>
                  <a:schemeClr val="tx1"/>
                </a:solidFill>
                <a:effectLst/>
                <a:latin typeface="Arial" panose="020B0604020202020204" pitchFamily="34" charset="0"/>
                <a:ea typeface="+mn-ea"/>
                <a:cs typeface="Arial" panose="020B0604020202020204" pitchFamily="34" charset="0"/>
              </a:rPr>
              <a:t>Jibbitz</a:t>
            </a:r>
            <a:r>
              <a:rPr lang="en-US" sz="1200" kern="1200">
                <a:solidFill>
                  <a:schemeClr val="tx1"/>
                </a:solidFill>
                <a:effectLst/>
                <a:latin typeface="Arial" panose="020B0604020202020204" pitchFamily="34" charset="0"/>
                <a:ea typeface="+mn-ea"/>
                <a:cs typeface="Arial" panose="020B0604020202020204" pitchFamily="34" charset="0"/>
              </a:rPr>
              <a:t> charm, and two additional charms selected from the </a:t>
            </a:r>
            <a:r>
              <a:rPr lang="en-US" sz="1200" kern="1200" err="1">
                <a:solidFill>
                  <a:schemeClr val="tx1"/>
                </a:solidFill>
                <a:effectLst/>
                <a:latin typeface="Arial" panose="020B0604020202020204" pitchFamily="34" charset="0"/>
                <a:ea typeface="+mn-ea"/>
                <a:cs typeface="Arial" panose="020B0604020202020204" pitchFamily="34" charset="0"/>
              </a:rPr>
              <a:t>Jibbitz</a:t>
            </a:r>
            <a:r>
              <a:rPr lang="en-US" sz="1200" kern="1200">
                <a:solidFill>
                  <a:schemeClr val="tx1"/>
                </a:solidFill>
                <a:effectLst/>
                <a:latin typeface="Arial" panose="020B0604020202020204" pitchFamily="34" charset="0"/>
                <a:ea typeface="+mn-ea"/>
                <a:cs typeface="Arial" panose="020B0604020202020204" pitchFamily="34" charset="0"/>
              </a:rPr>
              <a:t> Bar. Registered guest are invited to participate in the experience.</a:t>
            </a:r>
          </a:p>
          <a:p>
            <a:endParaRPr lang="en-US" sz="1200" kern="1200">
              <a:solidFill>
                <a:schemeClr val="tx1"/>
              </a:solidFill>
              <a:effectLst/>
              <a:latin typeface="Arial" panose="020B0604020202020204" pitchFamily="34" charset="0"/>
              <a:ea typeface="+mn-ea"/>
              <a:cs typeface="Arial" panose="020B0604020202020204" pitchFamily="34" charset="0"/>
            </a:endParaRPr>
          </a:p>
          <a:p>
            <a:r>
              <a:rPr lang="en-US" sz="1200" kern="1200">
                <a:solidFill>
                  <a:schemeClr val="tx1"/>
                </a:solidFill>
                <a:effectLst/>
                <a:latin typeface="Arial" panose="020B0604020202020204" pitchFamily="34" charset="0"/>
                <a:ea typeface="+mn-ea"/>
                <a:cs typeface="Arial" panose="020B0604020202020204" pitchFamily="34" charset="0"/>
              </a:rPr>
              <a:t>Qualifying agents must attend the Executive Council Meeting to patriciate.</a:t>
            </a:r>
          </a:p>
          <a:p>
            <a:endParaRPr lang="en-US" sz="1200" kern="1200">
              <a:solidFill>
                <a:schemeClr val="tx1"/>
              </a:solidFill>
              <a:effectLst/>
              <a:latin typeface="Arial" panose="020B0604020202020204" pitchFamily="34" charset="0"/>
              <a:ea typeface="+mn-ea"/>
              <a:cs typeface="Arial" panose="020B0604020202020204" pitchFamily="34" charset="0"/>
            </a:endParaRPr>
          </a:p>
          <a:p>
            <a:r>
              <a:rPr lang="en-US" b="1">
                <a:latin typeface="Arial" panose="020B0604020202020204" pitchFamily="34" charset="0"/>
                <a:cs typeface="Arial" panose="020B0604020202020204" pitchFamily="34" charset="0"/>
              </a:rPr>
              <a:t>Contact:</a:t>
            </a:r>
            <a:r>
              <a:rPr lang="en-US">
                <a:latin typeface="Arial" panose="020B0604020202020204" pitchFamily="34" charset="0"/>
                <a:cs typeface="Arial" panose="020B0604020202020204" pitchFamily="34" charset="0"/>
              </a:rPr>
              <a:t> PLAN@newyorklife.com</a:t>
            </a:r>
          </a:p>
          <a:p>
            <a:endParaRPr lang="en-US">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Info Central Page:</a:t>
            </a:r>
            <a:r>
              <a:rPr lang="en-US">
                <a:latin typeface="Arial" panose="020B0604020202020204" pitchFamily="34" charset="0"/>
                <a:cs typeface="Arial" panose="020B0604020202020204" pitchFamily="34" charset="0"/>
              </a:rPr>
              <a:t> https://www.today.newyorklife.com/agencyportal/s/article/Council-Perks-Executive-Council-Rocky-Mountain-Crocs-Giveaway-Experience</a:t>
            </a:r>
          </a:p>
          <a:p>
            <a:endParaRPr lang="en-US" sz="12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61211B-354B-4A5F-BC13-DB9175AC324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124415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30000">
                <a:solidFill>
                  <a:schemeClr val="tx1"/>
                </a:solidFill>
                <a:effectLst/>
                <a:latin typeface="Arial" panose="020B0604020202020204" pitchFamily="34" charset="0"/>
                <a:ea typeface="+mn-ea"/>
                <a:cs typeface="Arial" panose="020B0604020202020204" pitchFamily="34" charset="0"/>
              </a:rPr>
              <a:t>1</a:t>
            </a:r>
            <a:r>
              <a:rPr lang="en-US" sz="1200" kern="1200">
                <a:solidFill>
                  <a:schemeClr val="tx1"/>
                </a:solidFill>
                <a:effectLst/>
                <a:latin typeface="Arial" panose="020B0604020202020204" pitchFamily="34" charset="0"/>
                <a:ea typeface="+mn-ea"/>
                <a:cs typeface="Arial" panose="020B0604020202020204" pitchFamily="34" charset="0"/>
              </a:rPr>
              <a:t> Includes Life, </a:t>
            </a:r>
            <a:r>
              <a:rPr lang="en-US" sz="1200" kern="1200" err="1">
                <a:solidFill>
                  <a:schemeClr val="tx1"/>
                </a:solidFill>
                <a:effectLst/>
                <a:latin typeface="Arial" panose="020B0604020202020204" pitchFamily="34" charset="0"/>
                <a:ea typeface="+mn-ea"/>
                <a:cs typeface="Arial" panose="020B0604020202020204" pitchFamily="34" charset="0"/>
              </a:rPr>
              <a:t>LTCi</a:t>
            </a:r>
            <a:r>
              <a:rPr lang="en-US" sz="1200" kern="1200">
                <a:solidFill>
                  <a:schemeClr val="tx1"/>
                </a:solidFill>
                <a:effectLst/>
                <a:latin typeface="Arial" panose="020B0604020202020204" pitchFamily="34" charset="0"/>
                <a:ea typeface="+mn-ea"/>
                <a:cs typeface="Arial" panose="020B0604020202020204" pitchFamily="34" charset="0"/>
              </a:rPr>
              <a:t>, and DI. Recurring base premium and riders are calculated at 100%; OPP and single premium policies are calculated at 10%. Excludes premium from Annuity and COLI/BOLI products, DIOP and Group Insurance cases and LTC in DE state.</a:t>
            </a:r>
          </a:p>
          <a:p>
            <a:r>
              <a:rPr lang="en-US" sz="1200" kern="1200" baseline="30000">
                <a:solidFill>
                  <a:schemeClr val="tx1"/>
                </a:solidFill>
                <a:effectLst/>
                <a:latin typeface="Arial" panose="020B0604020202020204" pitchFamily="34" charset="0"/>
                <a:ea typeface="+mn-ea"/>
                <a:cs typeface="Arial" panose="020B0604020202020204" pitchFamily="34" charset="0"/>
              </a:rPr>
              <a:t>2 </a:t>
            </a:r>
            <a:r>
              <a:rPr lang="en-US" sz="1200" kern="1200">
                <a:solidFill>
                  <a:schemeClr val="tx1"/>
                </a:solidFill>
                <a:effectLst/>
                <a:latin typeface="Arial" panose="020B0604020202020204" pitchFamily="34" charset="0"/>
                <a:ea typeface="+mn-ea"/>
                <a:cs typeface="Arial" panose="020B0604020202020204" pitchFamily="34" charset="0"/>
              </a:rPr>
              <a:t>$300 retail credit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Arial" panose="020B0604020202020204" pitchFamily="34" charset="0"/>
                <a:ea typeface="+mn-ea"/>
                <a:cs typeface="Arial" panose="020B0604020202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Arial" panose="020B0604020202020204" pitchFamily="34" charset="0"/>
                <a:ea typeface="+mn-ea"/>
                <a:cs typeface="Arial" panose="020B0604020202020204" pitchFamily="34" charset="0"/>
              </a:rPr>
              <a:t>President's Council Beachfront Boutique Experience – Open to 2026 President’s Council agent qualifiers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rial" panose="020B0604020202020204" pitchFamily="34" charset="0"/>
                <a:ea typeface="+mn-ea"/>
                <a:cs typeface="Arial" panose="020B0604020202020204" pitchFamily="34" charset="0"/>
              </a:rPr>
              <a:t>Compete with your President’s Council peers during the Third Quarter of 2026 (July 1 – September 30)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effectLst/>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a:solidFill>
                  <a:schemeClr val="tx1"/>
                </a:solidFill>
                <a:effectLst/>
                <a:latin typeface="Arial" panose="020B0604020202020204" pitchFamily="34" charset="0"/>
                <a:ea typeface="+mn-ea"/>
                <a:cs typeface="Arial" panose="020B0604020202020204" pitchFamily="34" charset="0"/>
              </a:rPr>
              <a:t>Agents who finish in the 100 on the 3Q paid insurance solution </a:t>
            </a:r>
            <a:r>
              <a:rPr lang="en-US" sz="1200" b="0">
                <a:solidFill>
                  <a:schemeClr val="bg1"/>
                </a:solidFill>
                <a:latin typeface="Arial" panose="020B0604020202020204" pitchFamily="34" charset="0"/>
                <a:cs typeface="Arial" panose="020B0604020202020204" pitchFamily="34" charset="0"/>
              </a:rPr>
              <a:t>premium leaderboard will qualify to receive a retail credit to spend at a private New York Life shopping event at the President’s Council meeting on October 6 &amp; 7.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chemeClr val="bg1"/>
                </a:solidFill>
                <a:latin typeface="Arial" panose="020B0604020202020204" pitchFamily="34" charset="0"/>
                <a:cs typeface="Arial" panose="020B0604020202020204" pitchFamily="34" charset="0"/>
              </a:rPr>
              <a:t>The top 10 will also qualify for a premium chickee hut rental on October 7!</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Arial" panose="020B0604020202020204" pitchFamily="34" charset="0"/>
                <a:cs typeface="Arial" panose="020B0604020202020204" pitchFamily="34" charset="0"/>
              </a:rPr>
              <a:t>Includes Life, </a:t>
            </a:r>
            <a:r>
              <a:rPr lang="en-US" sz="1200" err="1">
                <a:latin typeface="Arial" panose="020B0604020202020204" pitchFamily="34" charset="0"/>
                <a:cs typeface="Arial" panose="020B0604020202020204" pitchFamily="34" charset="0"/>
              </a:rPr>
              <a:t>LTCi</a:t>
            </a:r>
            <a:r>
              <a:rPr lang="en-US" sz="1200">
                <a:latin typeface="Arial" panose="020B0604020202020204" pitchFamily="34" charset="0"/>
                <a:cs typeface="Arial" panose="020B0604020202020204" pitchFamily="34" charset="0"/>
              </a:rPr>
              <a:t>, and DI. Recurring base premium and riders are calculated at 100%; OPP and single premium policies are calculated at 10%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Arial" panose="020B0604020202020204" pitchFamily="34" charset="0"/>
                <a:cs typeface="Arial" panose="020B0604020202020204" pitchFamily="34" charset="0"/>
              </a:rPr>
              <a:t>Excludes premium from Annuity and COLI/BOLI products, DIOP and Group Insurance cases and LTC in DE state.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a:solidFill>
                  <a:schemeClr val="tx1"/>
                </a:solidFill>
                <a:effectLst/>
                <a:latin typeface="Arial" panose="020B0604020202020204" pitchFamily="34" charset="0"/>
                <a:ea typeface="+mn-ea"/>
                <a:cs typeface="Arial" panose="020B0604020202020204" pitchFamily="34" charset="0"/>
              </a:rPr>
              <a:t>Agents must be </a:t>
            </a:r>
            <a:r>
              <a:rPr lang="en-US" sz="1200" b="0" kern="1200" err="1">
                <a:solidFill>
                  <a:schemeClr val="tx1"/>
                </a:solidFill>
                <a:effectLst/>
                <a:latin typeface="Arial" panose="020B0604020202020204" pitchFamily="34" charset="0"/>
                <a:ea typeface="+mn-ea"/>
                <a:cs typeface="Arial" panose="020B0604020202020204" pitchFamily="34" charset="0"/>
              </a:rPr>
              <a:t>prorata</a:t>
            </a:r>
            <a:r>
              <a:rPr lang="en-US" sz="1200" b="0" kern="1200">
                <a:solidFill>
                  <a:schemeClr val="tx1"/>
                </a:solidFill>
                <a:effectLst/>
                <a:latin typeface="Arial" panose="020B0604020202020204" pitchFamily="34" charset="0"/>
                <a:ea typeface="+mn-ea"/>
                <a:cs typeface="Arial" panose="020B0604020202020204" pitchFamily="34" charset="0"/>
              </a:rPr>
              <a:t> proactive by September 30.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rial" panose="020B0604020202020204" pitchFamily="34" charset="0"/>
                <a:ea typeface="+mn-ea"/>
                <a:cs typeface="Arial" panose="020B0604020202020204" pitchFamily="34" charset="0"/>
              </a:rPr>
              <a:t>The experience encompasses an elevated retail shopping event with a $300 retail credit,  complete with refreshments and private access to the resort's premier ladies and gentlemen’s boutiques, </a:t>
            </a:r>
            <a:r>
              <a:rPr lang="en-US" sz="1200" b="1" kern="1200">
                <a:solidFill>
                  <a:schemeClr val="tx1"/>
                </a:solidFill>
                <a:effectLst/>
                <a:latin typeface="Arial" panose="020B0604020202020204" pitchFamily="34" charset="0"/>
                <a:ea typeface="+mn-ea"/>
                <a:cs typeface="Arial" panose="020B0604020202020204" pitchFamily="34" charset="0"/>
              </a:rPr>
              <a:t>Sweet Waters</a:t>
            </a:r>
            <a:r>
              <a:rPr lang="en-US" sz="1200" kern="1200">
                <a:solidFill>
                  <a:schemeClr val="tx1"/>
                </a:solidFill>
                <a:effectLst/>
                <a:latin typeface="Arial" panose="020B0604020202020204" pitchFamily="34" charset="0"/>
                <a:ea typeface="+mn-ea"/>
                <a:cs typeface="Arial" panose="020B0604020202020204" pitchFamily="34" charset="0"/>
              </a:rPr>
              <a:t> and </a:t>
            </a:r>
            <a:r>
              <a:rPr lang="en-US" sz="1200" b="1" kern="1200">
                <a:solidFill>
                  <a:schemeClr val="tx1"/>
                </a:solidFill>
                <a:effectLst/>
                <a:latin typeface="Arial" panose="020B0604020202020204" pitchFamily="34" charset="0"/>
                <a:ea typeface="+mn-ea"/>
                <a:cs typeface="Arial" panose="020B0604020202020204" pitchFamily="34" charset="0"/>
              </a:rPr>
              <a:t>Cross Winds</a:t>
            </a:r>
            <a:r>
              <a:rPr lang="en-US" sz="1200" kern="1200">
                <a:solidFill>
                  <a:schemeClr val="tx1"/>
                </a:solidFill>
                <a:effectLst/>
                <a:latin typeface="Arial" panose="020B0604020202020204" pitchFamily="34" charset="0"/>
                <a:ea typeface="+mn-ea"/>
                <a:cs typeface="Arial" panose="020B0604020202020204" pitchFamily="34" charset="0"/>
              </a:rPr>
              <a:t>. Browse stylish women's apparel, swimwear, and accessories from brands such as </a:t>
            </a:r>
            <a:r>
              <a:rPr lang="en-US" sz="1200" b="1" kern="1200">
                <a:solidFill>
                  <a:schemeClr val="tx1"/>
                </a:solidFill>
                <a:effectLst/>
                <a:latin typeface="Arial" panose="020B0604020202020204" pitchFamily="34" charset="0"/>
                <a:ea typeface="+mn-ea"/>
                <a:cs typeface="Arial" panose="020B0604020202020204" pitchFamily="34" charset="0"/>
              </a:rPr>
              <a:t>Lilly Pulitzer</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lululemon</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Versace</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and Gucci</a:t>
            </a:r>
            <a:r>
              <a:rPr lang="en-US" sz="1200" kern="1200">
                <a:solidFill>
                  <a:schemeClr val="tx1"/>
                </a:solidFill>
                <a:effectLst/>
                <a:latin typeface="Arial" panose="020B0604020202020204" pitchFamily="34" charset="0"/>
                <a:ea typeface="+mn-ea"/>
                <a:cs typeface="Arial" panose="020B0604020202020204" pitchFamily="34" charset="0"/>
              </a:rPr>
              <a:t>®, or explore the latest men's fashion and accessories from designers including </a:t>
            </a:r>
            <a:r>
              <a:rPr lang="en-US" sz="1200" b="1" kern="1200">
                <a:solidFill>
                  <a:schemeClr val="tx1"/>
                </a:solidFill>
                <a:effectLst/>
                <a:latin typeface="Arial" panose="020B0604020202020204" pitchFamily="34" charset="0"/>
                <a:ea typeface="+mn-ea"/>
                <a:cs typeface="Arial" panose="020B0604020202020204" pitchFamily="34" charset="0"/>
              </a:rPr>
              <a:t>BUGATCHI</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Tommy Bahama</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Maui Jim</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Ray-Ban</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and lululemon</a:t>
            </a:r>
            <a:r>
              <a:rPr lang="en-US" sz="1200" kern="1200">
                <a:solidFill>
                  <a:schemeClr val="tx1"/>
                </a:solidFill>
                <a:effectLst/>
                <a:latin typeface="Arial" panose="020B0604020202020204" pitchFamily="34" charset="0"/>
                <a:ea typeface="+mn-ea"/>
                <a:cs typeface="Arial" panose="020B0604020202020204" pitchFamily="34" charset="0"/>
              </a:rPr>
              <a:t>®. Personal shoppers will also be available to help agents make the most of their experience.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rial" panose="020B0604020202020204" pitchFamily="34" charset="0"/>
                <a:ea typeface="+mn-ea"/>
                <a:cs typeface="Arial" panose="020B0604020202020204" pitchFamily="34" charset="0"/>
              </a:rPr>
              <a:t>The top 10 leaderboard agents will also qualify for a premium chickee hut rental on the JW Marriott’s breathtaking beach on Wednesday, October 7. This Balinese-inspired shaded retreat accommodates up to six guests and is ideally located between the beach and pool. Rental includes a queen daybed, chairs, and towel service.</a:t>
            </a:r>
          </a:p>
          <a:p>
            <a:endParaRPr lang="en-US" sz="1200" kern="1200">
              <a:solidFill>
                <a:schemeClr val="tx1"/>
              </a:solidFill>
              <a:effectLst/>
              <a:latin typeface="Arial" panose="020B0604020202020204" pitchFamily="34" charset="0"/>
              <a:ea typeface="+mn-ea"/>
              <a:cs typeface="Arial" panose="020B0604020202020204" pitchFamily="34" charset="0"/>
            </a:endParaRPr>
          </a:p>
          <a:p>
            <a:r>
              <a:rPr lang="en-US" sz="1200" kern="1200">
                <a:solidFill>
                  <a:schemeClr val="tx1"/>
                </a:solidFill>
                <a:effectLst/>
                <a:latin typeface="Arial" panose="020B0604020202020204" pitchFamily="34" charset="0"/>
                <a:ea typeface="+mn-ea"/>
                <a:cs typeface="Arial" panose="020B0604020202020204" pitchFamily="34" charset="0"/>
              </a:rPr>
              <a:t>Qualifying agents must attend the President’s Council Meeting to receive the retail credit and chickee hut rental.</a:t>
            </a:r>
          </a:p>
          <a:p>
            <a:endParaRPr lang="en-US" sz="1200" kern="1200">
              <a:solidFill>
                <a:schemeClr val="tx1"/>
              </a:solidFill>
              <a:effectLst/>
              <a:latin typeface="Arial" panose="020B0604020202020204" pitchFamily="34" charset="0"/>
              <a:ea typeface="+mn-ea"/>
              <a:cs typeface="Arial" panose="020B0604020202020204" pitchFamily="34" charset="0"/>
            </a:endParaRPr>
          </a:p>
          <a:p>
            <a:r>
              <a:rPr lang="en-US" b="1">
                <a:latin typeface="Arial" panose="020B0604020202020204" pitchFamily="34" charset="0"/>
                <a:cs typeface="Arial" panose="020B0604020202020204" pitchFamily="34" charset="0"/>
              </a:rPr>
              <a:t>Contact:</a:t>
            </a:r>
            <a:r>
              <a:rPr lang="en-US">
                <a:latin typeface="Arial" panose="020B0604020202020204" pitchFamily="34" charset="0"/>
                <a:cs typeface="Arial" panose="020B0604020202020204" pitchFamily="34" charset="0"/>
              </a:rPr>
              <a:t> PLAN@newyorklife.com</a:t>
            </a:r>
          </a:p>
          <a:p>
            <a:endParaRPr lang="en-US">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Info Central Page:</a:t>
            </a:r>
            <a:r>
              <a:rPr lang="en-US">
                <a:latin typeface="Arial" panose="020B0604020202020204" pitchFamily="34" charset="0"/>
                <a:cs typeface="Arial" panose="020B0604020202020204" pitchFamily="34" charset="0"/>
              </a:rPr>
              <a:t> https://www.today.newyorklife.com/agencyportal/s/article/Council-Perks-President-s-Council-Beachfront-Boutique-Experience</a:t>
            </a:r>
          </a:p>
          <a:p>
            <a:endParaRPr lang="en-US">
              <a:latin typeface="Arial" panose="020B0604020202020204" pitchFamily="34" charset="0"/>
              <a:cs typeface="Arial" panose="020B0604020202020204" pitchFamily="34" charset="0"/>
            </a:endParaRPr>
          </a:p>
          <a:p>
            <a:endParaRPr lang="en-US" sz="1200" kern="1200">
              <a:solidFill>
                <a:schemeClr val="tx1"/>
              </a:solidFill>
              <a:effectLst/>
              <a:latin typeface="Arial" panose="020B0604020202020204" pitchFamily="34" charset="0"/>
              <a:ea typeface="+mn-ea"/>
              <a:cs typeface="Arial" panose="020B0604020202020204" pitchFamily="34" charset="0"/>
            </a:endParaRPr>
          </a:p>
          <a:p>
            <a:endParaRPr lang="en-US" sz="1200" kern="1200">
              <a:solidFill>
                <a:schemeClr val="tx1"/>
              </a:solidFill>
              <a:effectLst/>
              <a:latin typeface="Arial" panose="020B0604020202020204" pitchFamily="34" charset="0"/>
              <a:ea typeface="+mn-ea"/>
              <a:cs typeface="Arial" panose="020B0604020202020204" pitchFamily="34" charset="0"/>
            </a:endParaRPr>
          </a:p>
          <a:p>
            <a:endParaRPr lang="en-US" sz="1200" kern="1200">
              <a:solidFill>
                <a:schemeClr val="tx1"/>
              </a:solidFill>
              <a:effectLst/>
              <a:latin typeface="Arial" panose="020B0604020202020204" pitchFamily="34" charset="0"/>
              <a:ea typeface="+mn-ea"/>
              <a:cs typeface="Arial" panose="020B0604020202020204" pitchFamily="34" charset="0"/>
            </a:endParaRPr>
          </a:p>
          <a:p>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61211B-354B-4A5F-BC13-DB9175AC324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52940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latin typeface="Arial" panose="020B0604020202020204" pitchFamily="34" charset="0"/>
                <a:cs typeface="Arial" panose="020B0604020202020204" pitchFamily="34" charset="0"/>
              </a:rPr>
              <a:t>Contact: </a:t>
            </a:r>
            <a:r>
              <a:rPr lang="en-US">
                <a:latin typeface="Arial" panose="020B0604020202020204" pitchFamily="34" charset="0"/>
                <a:cs typeface="Arial" panose="020B0604020202020204" pitchFamily="34" charset="0"/>
              </a:rPr>
              <a:t>PLAN@newyorklife.com</a:t>
            </a:r>
          </a:p>
          <a:p>
            <a:endParaRPr lang="en-US">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Info Central Page: </a:t>
            </a:r>
            <a:r>
              <a:rPr lang="en-US">
                <a:latin typeface="Arial" panose="020B0604020202020204" pitchFamily="34" charset="0"/>
                <a:cs typeface="Arial" panose="020B0604020202020204" pitchFamily="34" charset="0"/>
              </a:rPr>
              <a:t>https://www.today.newyorklife.com/agencyportal/s/article/Awards-Your-Way</a:t>
            </a:r>
          </a:p>
          <a:p>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E815E9C-585E-44A1-B44A-2D99FF74EE6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347560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a:latin typeface="Arial" panose="020B0604020202020204" pitchFamily="34" charset="0"/>
                <a:cs typeface="Arial" panose="020B0604020202020204" pitchFamily="34" charset="0"/>
              </a:rPr>
              <a:t>Cash bonuses are credited as part of the L&amp;A Expense Allowance Plan (EAP) and subject to Conditional Check. In some instances, cash bonuses may be withheld when an agent has reached the maximum legal allowance under the Conditional Check formula. For more information, see Life and Annuity Expense Allowance Plan on Info Central. </a:t>
            </a:r>
          </a:p>
          <a:p>
            <a:r>
              <a:rPr lang="en-US" sz="1000">
                <a:latin typeface="Arial" panose="020B0604020202020204" pitchFamily="34" charset="0"/>
                <a:cs typeface="Arial" panose="020B0604020202020204" pitchFamily="34" charset="0"/>
              </a:rPr>
              <a:t>TAS agents on the Allowance Builder XP TAS Plan in GOs located in AZ, CA, IL, IA, MT, NV, NH, ND, and SD who are not eligible to enroll in EAP may be eligible for a cash bonus as a one-time payment through TAS, subject to TAS limits. </a:t>
            </a:r>
          </a:p>
          <a:p>
            <a:endParaRPr lang="en-US" sz="1000">
              <a:latin typeface="Arial" panose="020B0604020202020204" pitchFamily="34" charset="0"/>
              <a:cs typeface="Arial" panose="020B0604020202020204" pitchFamily="34" charset="0"/>
            </a:endParaRPr>
          </a:p>
          <a:p>
            <a:endParaRPr lang="en-US" sz="1000">
              <a:latin typeface="Arial" panose="020B0604020202020204" pitchFamily="34" charset="0"/>
              <a:cs typeface="Arial" panose="020B0604020202020204" pitchFamily="34" charset="0"/>
            </a:endParaRPr>
          </a:p>
          <a:p>
            <a:r>
              <a:rPr lang="en-US" sz="1000" b="1">
                <a:latin typeface="Arial" panose="020B0604020202020204" pitchFamily="34" charset="0"/>
                <a:cs typeface="Arial" panose="020B0604020202020204" pitchFamily="34" charset="0"/>
              </a:rPr>
              <a:t>Contact:</a:t>
            </a:r>
            <a:r>
              <a:rPr lang="en-US" sz="1000">
                <a:latin typeface="Arial" panose="020B0604020202020204" pitchFamily="34" charset="0"/>
                <a:cs typeface="Arial" panose="020B0604020202020204" pitchFamily="34" charset="0"/>
              </a:rPr>
              <a:t> PLAN@newyorklife.com</a:t>
            </a:r>
          </a:p>
          <a:p>
            <a:endParaRPr lang="en-US" sz="1000">
              <a:latin typeface="Arial" panose="020B0604020202020204" pitchFamily="34" charset="0"/>
              <a:cs typeface="Arial" panose="020B0604020202020204" pitchFamily="34" charset="0"/>
            </a:endParaRPr>
          </a:p>
          <a:p>
            <a:r>
              <a:rPr lang="en-US" sz="1000" b="1">
                <a:latin typeface="Arial" panose="020B0604020202020204" pitchFamily="34" charset="0"/>
                <a:cs typeface="Arial" panose="020B0604020202020204" pitchFamily="34" charset="0"/>
              </a:rPr>
              <a:t>Info Central Page:</a:t>
            </a:r>
            <a:r>
              <a:rPr lang="en-US" sz="1000">
                <a:latin typeface="Arial" panose="020B0604020202020204" pitchFamily="34" charset="0"/>
                <a:cs typeface="Arial" panose="020B0604020202020204" pitchFamily="34" charset="0"/>
              </a:rPr>
              <a:t> https://www.today.newyorklife.com/agencyportal/s/article/EWL-Momentum-Maker</a:t>
            </a:r>
          </a:p>
          <a:p>
            <a:endParaRPr lang="en-US" sz="1000">
              <a:latin typeface="Arial" panose="020B0604020202020204" pitchFamily="34" charset="0"/>
              <a:cs typeface="Arial" panose="020B0604020202020204" pitchFamily="34" charset="0"/>
            </a:endParaRPr>
          </a:p>
          <a:p>
            <a:endParaRPr lang="en-US" sz="100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61211B-354B-4A5F-BC13-DB9175AC324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958047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Arial" panose="020B0604020202020204" pitchFamily="34" charset="0"/>
                <a:cs typeface="Arial" panose="020B0604020202020204" pitchFamily="34" charset="0"/>
              </a:rPr>
              <a:t>3Q 2026 Registered Rep </a:t>
            </a:r>
            <a:r>
              <a:rPr lang="en-US" b="1" err="1">
                <a:latin typeface="Arial" panose="020B0604020202020204" pitchFamily="34" charset="0"/>
                <a:cs typeface="Arial" panose="020B0604020202020204" pitchFamily="34" charset="0"/>
              </a:rPr>
              <a:t>MasterClass</a:t>
            </a:r>
            <a:r>
              <a:rPr lang="en-US" b="1">
                <a:latin typeface="Arial" panose="020B0604020202020204" pitchFamily="34" charset="0"/>
                <a:cs typeface="Arial" panose="020B0604020202020204" pitchFamily="34" charset="0"/>
              </a:rPr>
              <a:t> </a:t>
            </a:r>
          </a:p>
          <a:p>
            <a:endParaRPr lang="en-US" b="1">
              <a:latin typeface="Arial" panose="020B0604020202020204" pitchFamily="34" charset="0"/>
              <a:cs typeface="Arial" panose="020B0604020202020204" pitchFamily="34" charset="0"/>
            </a:endParaRPr>
          </a:p>
          <a:p>
            <a:r>
              <a:rPr lang="en-US" b="0">
                <a:latin typeface="Arial" panose="020B0604020202020204" pitchFamily="34" charset="0"/>
                <a:cs typeface="Arial" panose="020B0604020202020204" pitchFamily="34" charset="0"/>
              </a:rPr>
              <a:t>Starting Tuesday July 14 at 3pm EST running for 10 weeks</a:t>
            </a:r>
          </a:p>
          <a:p>
            <a:endParaRPr lang="en-US" b="1">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Contact: </a:t>
            </a:r>
            <a:r>
              <a:rPr lang="en-US" b="0">
                <a:latin typeface="Arial" panose="020B0604020202020204" pitchFamily="34" charset="0"/>
                <a:cs typeface="Arial" panose="020B0604020202020204" pitchFamily="34" charset="0"/>
              </a:rPr>
              <a:t>PLAN@newyorklife.com</a:t>
            </a:r>
          </a:p>
          <a:p>
            <a:endParaRPr lang="en-US" b="1">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Registration link: </a:t>
            </a:r>
            <a:r>
              <a:rPr lang="en-US">
                <a:latin typeface="Arial" panose="020B0604020202020204" pitchFamily="34" charset="0"/>
                <a:cs typeface="Arial" panose="020B0604020202020204" pitchFamily="34" charset="0"/>
              </a:rPr>
              <a:t>https://nylife.zoom.us/webinar/register/WN_Wm0kOIhQTUG-ZypKnrJrVQ#/registration</a:t>
            </a:r>
          </a:p>
          <a:p>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6239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Arial" panose="020B0604020202020204" pitchFamily="34" charset="0"/>
                <a:cs typeface="Arial" panose="020B0604020202020204" pitchFamily="34" charset="0"/>
              </a:rPr>
              <a:t>3Q Life Fundamentals Series</a:t>
            </a:r>
          </a:p>
          <a:p>
            <a:endParaRPr lang="en-US" b="1">
              <a:latin typeface="Arial" panose="020B0604020202020204" pitchFamily="34" charset="0"/>
              <a:cs typeface="Arial" panose="020B0604020202020204" pitchFamily="34" charset="0"/>
            </a:endParaRPr>
          </a:p>
          <a:p>
            <a:r>
              <a:rPr lang="en-US">
                <a:latin typeface="Arial" panose="020B0604020202020204" pitchFamily="34" charset="0"/>
                <a:cs typeface="Arial" panose="020B0604020202020204" pitchFamily="34" charset="0"/>
              </a:rPr>
              <a:t>The 3Q Life Fundamentals Series is a seven-session program designed to build confidence and strengthen foundational life insurance knowledge. Sessions are held every </a:t>
            </a:r>
            <a:r>
              <a:rPr lang="en-US" b="1">
                <a:latin typeface="Arial" panose="020B0604020202020204" pitchFamily="34" charset="0"/>
                <a:cs typeface="Arial" panose="020B0604020202020204" pitchFamily="34" charset="0"/>
              </a:rPr>
              <a:t>Tuesday at 1:00 PM ET </a:t>
            </a:r>
            <a:r>
              <a:rPr lang="en-US">
                <a:latin typeface="Arial" panose="020B0604020202020204" pitchFamily="34" charset="0"/>
                <a:cs typeface="Arial" panose="020B0604020202020204" pitchFamily="34" charset="0"/>
              </a:rPr>
              <a:t>and cover key product concepts, sales strategies, and practical applications across the life insurance portfolio.</a:t>
            </a:r>
          </a:p>
          <a:p>
            <a:endParaRPr lang="en-US">
              <a:latin typeface="Arial" panose="020B0604020202020204" pitchFamily="34" charset="0"/>
              <a:cs typeface="Arial" panose="020B0604020202020204" pitchFamily="34" charset="0"/>
            </a:endParaRPr>
          </a:p>
          <a:p>
            <a:r>
              <a:rPr lang="en-US">
                <a:latin typeface="Arial" panose="020B0604020202020204" pitchFamily="34" charset="0"/>
                <a:cs typeface="Arial" panose="020B0604020202020204" pitchFamily="34" charset="0"/>
              </a:rPr>
              <a:t>Led by product experts, the series is open to agents and managers looking to expand their product expertise and enhance client conversations. Each session is 60 minutes, and registration is available through the QR code.</a:t>
            </a:r>
          </a:p>
          <a:p>
            <a:endParaRPr lang="en-US">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Registration link: </a:t>
            </a:r>
            <a:r>
              <a:rPr lang="en-US">
                <a:latin typeface="Arial" panose="020B0604020202020204" pitchFamily="34" charset="0"/>
                <a:cs typeface="Arial" panose="020B0604020202020204" pitchFamily="34" charset="0"/>
              </a:rPr>
              <a:t>https://nylife.zoom.us/webinar/register/WN_4__InmH2QIqT5801tAJuKg</a:t>
            </a:r>
          </a:p>
          <a:p>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62397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9AF62-4C01-6225-9E63-076FA34C02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ABD9A9-B96A-FDC3-DD6A-1D8CFA76111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EA5C67A-0C05-F2EF-138D-FF9795384BC3}"/>
              </a:ext>
            </a:extLst>
          </p:cNvPr>
          <p:cNvSpPr>
            <a:spLocks noGrp="1"/>
          </p:cNvSpPr>
          <p:nvPr>
            <p:ph type="body" idx="1"/>
          </p:nvPr>
        </p:nvSpPr>
        <p:spPr/>
        <p:txBody>
          <a:bodyPr/>
          <a:lstStyle/>
          <a:p>
            <a:r>
              <a:rPr lang="en-US" sz="1200" b="1" i="0" kern="1200">
                <a:solidFill>
                  <a:schemeClr val="tx1"/>
                </a:solidFill>
                <a:effectLst/>
                <a:latin typeface="+mn-lt"/>
                <a:ea typeface="+mn-ea"/>
                <a:cs typeface="+mn-cs"/>
              </a:rPr>
              <a:t>Chinese Market Monthly SIE Study Group Sessions</a:t>
            </a:r>
          </a:p>
          <a:p>
            <a:r>
              <a:rPr lang="en-US" sz="1200" kern="1200">
                <a:solidFill>
                  <a:schemeClr val="tx1"/>
                </a:solidFill>
                <a:effectLst/>
                <a:latin typeface="+mn-lt"/>
                <a:ea typeface="+mn-ea"/>
                <a:cs typeface="+mn-cs"/>
              </a:rPr>
              <a:t>(for New Org, </a:t>
            </a:r>
            <a:r>
              <a:rPr lang="en-US" sz="1200" kern="1200" err="1">
                <a:solidFill>
                  <a:schemeClr val="tx1"/>
                </a:solidFill>
                <a:effectLst/>
                <a:latin typeface="+mn-lt"/>
                <a:ea typeface="+mn-ea"/>
                <a:cs typeface="+mn-cs"/>
              </a:rPr>
              <a:t>Estab</a:t>
            </a:r>
            <a:r>
              <a:rPr lang="en-US" sz="1200" kern="1200">
                <a:solidFill>
                  <a:schemeClr val="tx1"/>
                </a:solidFill>
                <a:effectLst/>
                <a:latin typeface="+mn-lt"/>
                <a:ea typeface="+mn-ea"/>
                <a:cs typeface="+mn-cs"/>
              </a:rPr>
              <a:t> and Second Line Managers)</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Chinese Market will conduct a series of SIE tutorial sessions based on STC study material. All sessions will be conducted primarily in Mandarin Chinese and English. </a:t>
            </a:r>
          </a:p>
          <a:p>
            <a:endParaRPr lang="en-US" sz="1200" b="1"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t>Contact: </a:t>
            </a:r>
            <a:r>
              <a:rPr lang="en-US" sz="1200" kern="1200">
                <a:solidFill>
                  <a:schemeClr val="tx1"/>
                </a:solidFill>
                <a:effectLst/>
                <a:latin typeface="+mn-lt"/>
                <a:ea typeface="Geneva" charset="0"/>
                <a:cs typeface="Geneva" charset="0"/>
              </a:rPr>
              <a:t>targetmarkets@newyorklife.com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Geneva" charset="0"/>
                <a:cs typeface="+mn-cs"/>
              </a:rPr>
              <a:t>Register: </a:t>
            </a:r>
            <a:r>
              <a:rPr lang="en-US" sz="1200" b="0" i="0" kern="1200">
                <a:solidFill>
                  <a:schemeClr val="tx1"/>
                </a:solidFill>
                <a:effectLst/>
                <a:latin typeface="+mn-lt"/>
                <a:ea typeface="Geneva" charset="0"/>
                <a:cs typeface="+mn-cs"/>
              </a:rPr>
              <a:t>https://nylife.zoom.us/meeting/register/a4UI1WqPQOKCBm1JCZqQoA</a:t>
            </a:r>
            <a:endParaRPr lang="en-US"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a:ea typeface="Calibri"/>
                <a:cs typeface="Calibri"/>
              </a:rPr>
              <a:t>Submitted by: John Macchia</a:t>
            </a:r>
          </a:p>
        </p:txBody>
      </p:sp>
      <p:sp>
        <p:nvSpPr>
          <p:cNvPr id="4" name="Slide Number Placeholder 3">
            <a:extLst>
              <a:ext uri="{FF2B5EF4-FFF2-40B4-BE49-F238E27FC236}">
                <a16:creationId xmlns:a16="http://schemas.microsoft.com/office/drawing/2014/main" id="{F26BD2AB-ADF2-D960-CEE5-71A14777A9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F9CFDD-3617-F247-94E7-B6D03232F67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3533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B1E7F-F44E-6E9F-0796-F335E29CCB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130E04-514A-4FF5-01BF-68F9FC9EE9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7E25CE-4525-FF5A-2F98-D9F0E8B4A207}"/>
              </a:ext>
            </a:extLst>
          </p:cNvPr>
          <p:cNvSpPr>
            <a:spLocks noGrp="1"/>
          </p:cNvSpPr>
          <p:nvPr>
            <p:ph type="body" idx="1"/>
          </p:nvPr>
        </p:nvSpPr>
        <p:spPr/>
        <p:txBody>
          <a:bodyPr/>
          <a:lstStyle/>
          <a:p>
            <a:r>
              <a:rPr lang="en-US" b="1"/>
              <a:t>NYLIFE Securities Essentials webinar: “Introduction to </a:t>
            </a:r>
            <a:r>
              <a:rPr lang="en-US" b="1" err="1"/>
              <a:t>Wealthscape</a:t>
            </a:r>
            <a:r>
              <a:rPr lang="en-US" b="1"/>
              <a:t>”</a:t>
            </a:r>
            <a:endParaRPr lang="en-US">
              <a:solidFill>
                <a:srgbClr val="444444"/>
              </a:solidFill>
            </a:endParaRPr>
          </a:p>
          <a:p>
            <a:pPr>
              <a:lnSpc>
                <a:spcPct val="90000"/>
              </a:lnSpc>
              <a:spcBef>
                <a:spcPts val="1000"/>
              </a:spcBef>
            </a:pPr>
            <a:endParaRPr lang="en-US">
              <a:solidFill>
                <a:srgbClr val="444444"/>
              </a:solidFill>
            </a:endParaRPr>
          </a:p>
          <a:p>
            <a:pPr>
              <a:lnSpc>
                <a:spcPct val="90000"/>
              </a:lnSpc>
              <a:spcBef>
                <a:spcPts val="1000"/>
              </a:spcBef>
            </a:pPr>
            <a:r>
              <a:rPr lang="en-US">
                <a:solidFill>
                  <a:srgbClr val="000962"/>
                </a:solidFill>
              </a:rPr>
              <a:t>Join Product experts to earn how to navigate </a:t>
            </a:r>
            <a:r>
              <a:rPr lang="en-US" err="1">
                <a:solidFill>
                  <a:srgbClr val="000962"/>
                </a:solidFill>
              </a:rPr>
              <a:t>Wealthscape's</a:t>
            </a:r>
            <a:r>
              <a:rPr lang="en-US">
                <a:solidFill>
                  <a:srgbClr val="000962"/>
                </a:solidFill>
              </a:rPr>
              <a:t> basic features and tools to effectively service your clients’ brokerage accounts.   </a:t>
            </a:r>
            <a:endParaRPr lang="en-US">
              <a:solidFill>
                <a:srgbClr val="444444"/>
              </a:solidFill>
            </a:endParaRPr>
          </a:p>
          <a:p>
            <a:endParaRPr lang="en-US">
              <a:solidFill>
                <a:srgbClr val="444444"/>
              </a:solidFill>
            </a:endParaRPr>
          </a:p>
          <a:p>
            <a:r>
              <a:rPr lang="en-US">
                <a:solidFill>
                  <a:srgbClr val="ED7D31"/>
                </a:solidFill>
              </a:rPr>
              <a:t>All agents welcome and webinar replay included.</a:t>
            </a:r>
            <a:endParaRPr lang="en-US">
              <a:solidFill>
                <a:srgbClr val="444444"/>
              </a:solidFill>
            </a:endParaRPr>
          </a:p>
          <a:p>
            <a:endParaRPr lang="en-US">
              <a:solidFill>
                <a:srgbClr val="444444"/>
              </a:solidFill>
            </a:endParaRPr>
          </a:p>
          <a:p>
            <a:r>
              <a:rPr lang="en-US" b="1"/>
              <a:t>Wed., July 15th, 2-3pm ET</a:t>
            </a:r>
            <a:endParaRPr lang="en-US">
              <a:solidFill>
                <a:srgbClr val="444444"/>
              </a:solidFill>
            </a:endParaRPr>
          </a:p>
          <a:p>
            <a:endParaRPr lang="en-US">
              <a:solidFill>
                <a:srgbClr val="444444"/>
              </a:solidFill>
            </a:endParaRPr>
          </a:p>
          <a:p>
            <a:r>
              <a:rPr lang="en-US" b="1"/>
              <a:t>Register Here:</a:t>
            </a:r>
            <a:endParaRPr lang="en-US">
              <a:solidFill>
                <a:srgbClr val="444444"/>
              </a:solidFill>
            </a:endParaRPr>
          </a:p>
          <a:p>
            <a:endParaRPr lang="en-US">
              <a:solidFill>
                <a:srgbClr val="444444"/>
              </a:solidFill>
            </a:endParaRPr>
          </a:p>
          <a:p>
            <a:r>
              <a:rPr lang="en-US" b="1"/>
              <a:t>Contact:</a:t>
            </a:r>
            <a:r>
              <a:rPr lang="en-US"/>
              <a:t> </a:t>
            </a:r>
            <a:r>
              <a:rPr lang="en-US">
                <a:hlinkClick r:id="rId3"/>
              </a:rPr>
              <a:t>anna_m_fidz@newyorklife.com</a:t>
            </a:r>
            <a:r>
              <a:rPr lang="en-US"/>
              <a:t> or </a:t>
            </a:r>
            <a:r>
              <a:rPr lang="en-US">
                <a:hlinkClick r:id="rId4"/>
              </a:rPr>
              <a:t>nylsecproduct@newyorklife.com</a:t>
            </a:r>
            <a:endParaRPr lang="en-US">
              <a:solidFill>
                <a:srgbClr val="444444"/>
              </a:solidFill>
            </a:endParaRPr>
          </a:p>
          <a:p>
            <a:endParaRPr lang="en-US">
              <a:solidFill>
                <a:srgbClr val="444444"/>
              </a:solidFill>
            </a:endParaRPr>
          </a:p>
          <a:p>
            <a:r>
              <a:rPr lang="en-US" b="1"/>
              <a:t>SMRU: </a:t>
            </a:r>
            <a:r>
              <a:rPr lang="en-US"/>
              <a:t>8706133.1 One time Use Only.</a:t>
            </a:r>
          </a:p>
        </p:txBody>
      </p:sp>
      <p:sp>
        <p:nvSpPr>
          <p:cNvPr id="4" name="Slide Number Placeholder 3">
            <a:extLst>
              <a:ext uri="{FF2B5EF4-FFF2-40B4-BE49-F238E27FC236}">
                <a16:creationId xmlns:a16="http://schemas.microsoft.com/office/drawing/2014/main" id="{B1E0D089-9A6B-4B0E-406D-59E8E336639D}"/>
              </a:ext>
            </a:extLst>
          </p:cNvPr>
          <p:cNvSpPr>
            <a:spLocks noGrp="1"/>
          </p:cNvSpPr>
          <p:nvPr>
            <p:ph type="sldNum" sz="quarter" idx="5"/>
          </p:nvPr>
        </p:nvSpPr>
        <p:spPr/>
        <p:txBody>
          <a:bodyPr/>
          <a:lstStyle/>
          <a:p>
            <a:fld id="{B8F2EEE2-46E2-47E5-8287-018A51779D44}" type="slidenum">
              <a:rPr lang="en-US" smtClean="0"/>
              <a:t>12</a:t>
            </a:fld>
            <a:endParaRPr lang="en-US"/>
          </a:p>
        </p:txBody>
      </p:sp>
    </p:spTree>
    <p:extLst>
      <p:ext uri="{BB962C8B-B14F-4D97-AF65-F5344CB8AC3E}">
        <p14:creationId xmlns:p14="http://schemas.microsoft.com/office/powerpoint/2010/main" val="35067424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58C90-4203-71BB-E023-5FAE60EEB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0C93C0-AE19-6659-0223-47F3CE998C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ABF70F-1E57-714C-957A-2CE29954CED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Your name and email address </a:t>
            </a:r>
            <a:br>
              <a:rPr lang="en-US"/>
            </a:br>
            <a:r>
              <a:rPr lang="en-US"/>
              <a:t>1-2 sentences about the slide. </a:t>
            </a:r>
            <a:br>
              <a:rPr lang="en-US"/>
            </a:br>
            <a:r>
              <a:rPr lang="en-US"/>
              <a:t>Hyperlinks </a:t>
            </a:r>
          </a:p>
          <a:p>
            <a:endParaRPr lang="en-US"/>
          </a:p>
        </p:txBody>
      </p:sp>
      <p:sp>
        <p:nvSpPr>
          <p:cNvPr id="4" name="Slide Number Placeholder 3">
            <a:extLst>
              <a:ext uri="{FF2B5EF4-FFF2-40B4-BE49-F238E27FC236}">
                <a16:creationId xmlns:a16="http://schemas.microsoft.com/office/drawing/2014/main" id="{A4E75D4F-45CF-864A-CD34-80C0BAEE971C}"/>
              </a:ext>
            </a:extLst>
          </p:cNvPr>
          <p:cNvSpPr>
            <a:spLocks noGrp="1"/>
          </p:cNvSpPr>
          <p:nvPr>
            <p:ph type="sldNum" sz="quarter" idx="5"/>
          </p:nvPr>
        </p:nvSpPr>
        <p:spPr/>
        <p:txBody>
          <a:bodyPr/>
          <a:lstStyle/>
          <a:p>
            <a:fld id="{B8F2EEE2-46E2-47E5-8287-018A51779D44}" type="slidenum">
              <a:rPr lang="en-US" smtClean="0"/>
              <a:t>13</a:t>
            </a:fld>
            <a:endParaRPr lang="en-US"/>
          </a:p>
        </p:txBody>
      </p:sp>
    </p:spTree>
    <p:extLst>
      <p:ext uri="{BB962C8B-B14F-4D97-AF65-F5344CB8AC3E}">
        <p14:creationId xmlns:p14="http://schemas.microsoft.com/office/powerpoint/2010/main" val="34215564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D96A0-8A42-81B0-5EE4-4F58A45C08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69E41-A2FB-DEF3-593A-5497415895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DD6178-2414-8992-7FD9-C2CA97CB4FB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Contact: </a:t>
            </a:r>
            <a:r>
              <a:rPr lang="en-US"/>
              <a:t>Debbie Gassaway debra_Gassaway@newyorklife.com</a:t>
            </a:r>
            <a:br>
              <a:rPr lang="en-US"/>
            </a:br>
            <a:r>
              <a:rPr lang="en-US" b="1"/>
              <a:t>Message: </a:t>
            </a:r>
            <a:r>
              <a:rPr lang="en-US"/>
              <a:t>Last chance to promote the Golden Futures Awards program.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a:t>Deadline</a:t>
            </a:r>
            <a:r>
              <a:rPr lang="en-US"/>
              <a:t> 7/31/26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a:t>Info Central</a:t>
            </a:r>
            <a:r>
              <a:rPr lang="en-US"/>
              <a:t>: https://www.today.newyorklife.com/agencyportal/s/sales-and-marketing/marketing-and-branding/local-event-marketing</a:t>
            </a:r>
          </a:p>
        </p:txBody>
      </p:sp>
      <p:sp>
        <p:nvSpPr>
          <p:cNvPr id="4" name="Slide Number Placeholder 3">
            <a:extLst>
              <a:ext uri="{FF2B5EF4-FFF2-40B4-BE49-F238E27FC236}">
                <a16:creationId xmlns:a16="http://schemas.microsoft.com/office/drawing/2014/main" id="{B050A807-6C36-4113-C3FD-0AC0B7207450}"/>
              </a:ext>
            </a:extLst>
          </p:cNvPr>
          <p:cNvSpPr>
            <a:spLocks noGrp="1"/>
          </p:cNvSpPr>
          <p:nvPr>
            <p:ph type="sldNum" sz="quarter" idx="5"/>
          </p:nvPr>
        </p:nvSpPr>
        <p:spPr/>
        <p:txBody>
          <a:bodyPr/>
          <a:lstStyle/>
          <a:p>
            <a:fld id="{B8F2EEE2-46E2-47E5-8287-018A51779D44}" type="slidenum">
              <a:rPr lang="en-US" smtClean="0"/>
              <a:t>14</a:t>
            </a:fld>
            <a:endParaRPr lang="en-US"/>
          </a:p>
        </p:txBody>
      </p:sp>
    </p:spTree>
    <p:extLst>
      <p:ext uri="{BB962C8B-B14F-4D97-AF65-F5344CB8AC3E}">
        <p14:creationId xmlns:p14="http://schemas.microsoft.com/office/powerpoint/2010/main" val="532382790"/>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This is a reusable placeholder. Before the meeting, duplicate this slide as needed and replace the bracketed text with this week's honorees - names, lifecase counts, bonuses earned, and council credit milestones. Recognition is the cheapest retention tool we have; be specific and be generous. Delete any unused rows.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frame. The holiday-shortened week ended Thursday with the Dow at a record close and a surprisingly weak June jobs report. Markets were closed Friday, July 3 for Independence Day. This week attention shifts to the Fed: Wednesday's minutes are the first from a meeting run by new Chair Kevin Warsh. Keep this section to 8-10 minutes total.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numbers left to right, then hit the Plain English box. Key story: the week started with a tech relief rally (Nasdaq +2.07% Monday alone), the Nasdaq just wrapped its strongest quarter since 2020, and then Thursday flipped the script - a weak jobs report sent the Dow to a record while chip names sold off hard. Emphasize the breadth problem: small caps declined while the Dow set records. That concentration is the honest caveat to an otherwise good week. Weekly figures are computed from daily closes reported by TheStreet and CNBC; markets were closed Friday, July 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Plain-English version for the room: hiring slowed a lot in June. Strangely, stocks liked that, because slower hiring makes the Fed less likely to raise rates. Slower jobs plus high prices is exactly why planning beats predicting. The counterintuitive move is the teaching moment: bad jobs news, record Dow close. Explain the mechanism - this market has been worried about rate HIKES because inflation is running hot on energy costs, so a soft labor print reduces that pressure. Do not oversell one month of data; 57,000 is one soft reading, not a recession call. Source: Labor Department June employment report released Thursday, July 2; reaction per TheStreet and Kiplinger.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Nike as a client-education story: headline EPS of $0.72 versus a $0.13 estimate looks like a monster beat, but the bulk came from an expected recovery of IEEPA tariffs - an accounting benefit worth about 52 cents and roughly 900 basis points of gross margin. Underlying revenue fell 1% and Greater China fell 12%. Lesson for clients and new agents alike: one number never tells the story. Source: Nike FY26 Q4 release and CNBC, June 30.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Wednesday is the event. Chair Warsh scrapped forward guidance and skipped the dot plot, so the June meeting minutes are the market's best window into how the committee is weighing energy-driven inflation against a cooling labor market. Thursday's jobless claims get extra attention after the weak June payrolls number - claims are the fastest early warning if hiring weakness turns into firing. Friday has no noteworthy releases. Source: Kiplinger weekly economic calendar.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Early July is the calm before earnings season. Delta on Friday is the marquee report: consensus is around $1.43 EPS, down sharply from $2.10 a year ago, with management guiding to low-teens revenue growth and a 6-8% operating margin against roughly $4.30/gallon fuel. The stock is up about 47% in three months, so expectations are elevated. Dates marked * are tentative and should be confirmed. The real Q2 test starts the following week when the big banks report. Sources: Barchart, Seeking Alpha, company IR pages.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macro regime slide. Key differences from the past decade: the fear is rate hikes, not cuts, because energy costs have kept inflation above target; and the new chair has deliberately removed the market's usual signals (forward guidance, his dot-plot participation). That is why the minutes matter more than usual. Where possible, anchor language to NYLIM's published views: the June Macro Pulse ('Diplomacy Wavers; Tech Delivers') frames geopolitics as a daily headwind with tech earnings doing the lifting, and the June 28 GMS Weekly Macro Pulse pushes back on private-credit alarm. Sources: nylim.com/insights; Kiplinger Fed coverage.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as a script. Calm and direct. Clients do not need index trivia; they need to know what happened, what to watch, and why their plan does not need to be rebuilt around one week of headlines. If a client pushes on the weak jobs number, acknowledge it honestly - one soft month is worth watching, not panicking over - and pivot to what protection and guarantees are for. Keep the tone of a trusted advisor: warm, unhurried, specific.</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slide - announce the shift from market update to training. Setup line: 'Every one of you is one relationship away from a referral pipeline that outproduces any seminar or cold list. Today we build it.' This session draws on practice-management research from Kitces, Hartford Funds, Horsesmouth, and Orion, plus the video resource shared in the topic folder (youtu.be/9saPh9tF0TE). Approximately 30 minutes: 12 content slides, about 2 minutes each, plus discussion.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math: most advisors chase transactions (a seminar, a call night) while top advisors build referral assets. Ask the room: 'Who here has ever gotten a client from a CPA? How did it happen?' Let one or two answer - it was almost never cold. Key point: the trust a client places in their CPA transfers to you at introduction, which is why COI referrals close faster and stick longer than any other source.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about differentiation through behavior, not marketing. Emphasize the reputational risk a COI takes when referring: a CPA who sends a client to a bad advisor damages a 15-year client relationship. That is why they default to no. Everything in the next ten slides is designed to lower that perceived risk. Discussion question: 'What would it take for YOU to refer your best client to someone?'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Tailor the approach by profession. CPAs think in risk and accuracy; show them process. Attorneys think in execution; show them completed work - an insurance policy that funds a buy-sell agreement is their document brought to life. Practical tip from the research: target professionals who are actively building their practices (younger partners, new solo shops) rather than established names who already have advisor relationships locked 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highest-percentage play in the entire strategy, straight from the Kitces research: deepen relationships with the CPAs of your EXISTING clients, where a natural introduction already exists. Homework assignment starts here: everyone lists their top 20 clients this week and captures COI names for each. Role-play the verbatim script with the room - it is a service statement, not a sales ask, which is why clients say yes.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a live example. The call is short, professional, and entirely about the client. This does two things: it demonstrates competence (you coordinate; most advisors don't) and it gives the COI a risk-free sample of working with you. Warn the room: the moment you pivot to 'so, do you ever refer clients out?' in call one, you have become every other advisor who ever bought them coffee.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trust is actually built. The one-page decision summary is a differentiator almost nobody uses - it takes ten minutes and permanently changes how the CPA sees you. Compliance note: get client authorization before sharing any client information with their other advisors, and keep summaries factual. The joint review meeting also deepens YOUR client relationship - clients love seeing their advisors coordinate.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Reciprocity is the engine of this whole system. Practical exercise: ask each agent to name one client or prospect in the last 90 days who needed a will, a trust, or tax help - that was a referral they could have given. Establish the habit: every referral you send gets a warm email introduction and a one-week follow-up. Track what you give; you will be surprised how quickly it comes back.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research consistently shows referral relationships stall when the protocol is fuzzy. The ideal-client profile matters most: COIs refer when a specific client situation triggers a specific memory of you. 'Business owner, succession, call Dave' is a trigger; 'financial guy I had lunch with' is not. The loop-closing report-back is the most skipped step and the most important - it reassures the COI their reputation survived the handoff.</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each line aloud in pairs for five minutes. The middle script is the only 'ask' in the entire system, and note when it happens: after value has been demonstrated through a shared client, never before. The phrase 'the way you saw me treat [shared client]' is the trust anchor - it converts your track record into their confidence. Encourage agents to rewrite each line in their own words tonight; borrowed language sounds borrowed.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is an unfair advantage hiding in plain sight. CPAs live a brutal seasonal cycle; respecting it signals you understand their world (see slide 3). Concrete instruction: book COI meetings for July and August NOW. Also flag October 15 (extension deadline) as a mini tax season to avoid. For attorneys, tie outreach to the estate-review cycle - propose being the funding-execution partner for year-end planning that gets drafted in Q4.</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Role-play these three in pairs, then bring the best answers to the group. The underlying message in all three responses: low pressure, specific niche, demonstrated track record. Never argue with a COI's caution - it is the same caution that will protect YOUR referrals to them. If an objection is really a no, thank them and keep them on the useful-material list; timing changes, and practices change hands.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commitment, not inspiration. Go around the room: each agent names ONE client whose CPA they will identify this week. Managers: add a COI-meetings column to the activity board and review it weekly for the rest of July. Revisit results at the first August standup. Sources for this session: Kitces.com on CPA referrals, Hartford Funds practice management, Horsesmouth, Orion Advisor, and the video resource in the topic folder.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svg"/><Relationship Id="rId3"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6.sv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6.svg"/><Relationship Id="rId4"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6.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7BBB44ED-3F55-29A4-DD1E-8FC01AD0F44D}"/>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lvl1pPr>
              <a:defRPr>
                <a:latin typeface="+mj-lt"/>
              </a:defRPr>
            </a:lvl1pPr>
          </a:lstStyle>
          <a:p>
            <a:r>
              <a:rPr lang="en-US"/>
              <a:t>Click to edit Master title style</a:t>
            </a:r>
          </a:p>
        </p:txBody>
      </p:sp>
    </p:spTree>
    <p:extLst>
      <p:ext uri="{BB962C8B-B14F-4D97-AF65-F5344CB8AC3E}">
        <p14:creationId xmlns:p14="http://schemas.microsoft.com/office/powerpoint/2010/main" val="20919069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 -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46671-891F-05B5-E76C-0E97C7654478}"/>
              </a:ext>
            </a:extLst>
          </p:cNvPr>
          <p:cNvSpPr>
            <a:spLocks noGrp="1"/>
          </p:cNvSpPr>
          <p:nvPr>
            <p:ph type="title" hasCustomPrompt="1"/>
          </p:nvPr>
        </p:nvSpPr>
        <p:spPr>
          <a:xfrm>
            <a:off x="439946" y="381000"/>
            <a:ext cx="11294854" cy="496033"/>
          </a:xfrm>
        </p:spPr>
        <p:txBody>
          <a:bodyPr wrap="square">
            <a:noAutofit/>
          </a:bodyPr>
          <a:lstStyle>
            <a:lvl1pPr>
              <a:spcBef>
                <a:spcPts val="800"/>
              </a:spcBef>
              <a:defRPr sz="3200">
                <a:solidFill>
                  <a:schemeClr val="tx1"/>
                </a:solidFill>
              </a:defRPr>
            </a:lvl1pPr>
          </a:lstStyle>
          <a:p>
            <a:r>
              <a:rPr lang="en-US"/>
              <a:t>Main heading</a:t>
            </a:r>
          </a:p>
        </p:txBody>
      </p:sp>
      <p:sp>
        <p:nvSpPr>
          <p:cNvPr id="3" name="Content Placeholder 2">
            <a:extLst>
              <a:ext uri="{FF2B5EF4-FFF2-40B4-BE49-F238E27FC236}">
                <a16:creationId xmlns:a16="http://schemas.microsoft.com/office/drawing/2014/main" id="{6C62AF48-D0E9-35B2-E289-CB02A3E2F065}"/>
              </a:ext>
            </a:extLst>
          </p:cNvPr>
          <p:cNvSpPr>
            <a:spLocks noGrp="1"/>
          </p:cNvSpPr>
          <p:nvPr>
            <p:ph idx="1"/>
          </p:nvPr>
        </p:nvSpPr>
        <p:spPr>
          <a:xfrm>
            <a:off x="457200" y="1714500"/>
            <a:ext cx="11277600" cy="4114800"/>
          </a:xfrm>
          <a:prstGeom prst="rect">
            <a:avLst/>
          </a:prstGeom>
        </p:spPr>
        <p:txBody>
          <a:bodyPr/>
          <a:lstStyle>
            <a:lvl1pPr>
              <a:lnSpc>
                <a:spcPct val="120000"/>
              </a:lnSpc>
              <a:spcBef>
                <a:spcPts val="600"/>
              </a:spcBef>
              <a:defRPr sz="2000">
                <a:solidFill>
                  <a:srgbClr val="000000"/>
                </a:solidFill>
              </a:defRPr>
            </a:lvl1pPr>
            <a:lvl2pPr marL="685800" indent="-228600">
              <a:lnSpc>
                <a:spcPct val="120000"/>
              </a:lnSpc>
              <a:spcBef>
                <a:spcPts val="600"/>
              </a:spcBef>
              <a:buFont typeface="System Font Regular"/>
              <a:buChar char="⎼"/>
              <a:defRPr sz="1800">
                <a:solidFill>
                  <a:srgbClr val="000000"/>
                </a:solidFill>
              </a:defRPr>
            </a:lvl2pPr>
            <a:lvl3pPr>
              <a:lnSpc>
                <a:spcPct val="120000"/>
              </a:lnSpc>
              <a:spcBef>
                <a:spcPts val="600"/>
              </a:spcBef>
              <a:defRPr sz="1600">
                <a:solidFill>
                  <a:srgbClr val="000000"/>
                </a:solidFill>
              </a:defRPr>
            </a:lvl3pPr>
            <a:lvl4pPr marL="1600200" indent="-228600">
              <a:lnSpc>
                <a:spcPct val="120000"/>
              </a:lnSpc>
              <a:spcBef>
                <a:spcPts val="600"/>
              </a:spcBef>
              <a:buFont typeface="System Font Regular"/>
              <a:buChar char="⎼"/>
              <a:defRPr sz="1400">
                <a:solidFill>
                  <a:srgbClr val="000000"/>
                </a:solidFill>
              </a:defRPr>
            </a:lvl4pPr>
            <a:lvl5pPr>
              <a:lnSpc>
                <a:spcPct val="120000"/>
              </a:lnSpc>
              <a:spcBef>
                <a:spcPts val="600"/>
              </a:spcBef>
              <a:defRPr sz="1400">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9D31BAC0-BC8B-E413-6089-9DD81A14F6B4}"/>
              </a:ext>
            </a:extLst>
          </p:cNvPr>
          <p:cNvSpPr>
            <a:spLocks noGrp="1"/>
          </p:cNvSpPr>
          <p:nvPr>
            <p:ph type="body" sz="quarter" idx="12" hasCustomPrompt="1"/>
          </p:nvPr>
        </p:nvSpPr>
        <p:spPr>
          <a:xfrm>
            <a:off x="439946" y="953242"/>
            <a:ext cx="11294854" cy="496033"/>
          </a:xfrm>
          <a:prstGeom prst="rect">
            <a:avLst/>
          </a:prstGeom>
        </p:spPr>
        <p:txBody>
          <a:bodyPr wrap="square">
            <a:noAutofit/>
          </a:bodyPr>
          <a:lstStyle>
            <a:lvl1pPr marL="0" indent="0">
              <a:lnSpc>
                <a:spcPct val="110000"/>
              </a:lnSpc>
              <a:spcBef>
                <a:spcPts val="800"/>
              </a:spcBef>
              <a:spcAft>
                <a:spcPts val="0"/>
              </a:spcAft>
              <a:buNone/>
              <a:defRPr sz="2200" spc="0">
                <a:solidFill>
                  <a:schemeClr val="tx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subheading or intro line</a:t>
            </a:r>
          </a:p>
        </p:txBody>
      </p:sp>
    </p:spTree>
    <p:extLst>
      <p:ext uri="{BB962C8B-B14F-4D97-AF65-F5344CB8AC3E}">
        <p14:creationId xmlns:p14="http://schemas.microsoft.com/office/powerpoint/2010/main" val="1693236738"/>
      </p:ext>
    </p:extLst>
  </p:cSld>
  <p:clrMapOvr>
    <a:masterClrMapping/>
  </p:clrMapOvr>
  <p:extLst>
    <p:ext uri="{DCECCB84-F9BA-43D5-87BE-67443E8EF086}">
      <p15:sldGuideLst xmlns:p15="http://schemas.microsoft.com/office/powerpoint/2012/main">
        <p15:guide id="1" orient="horz" pos="1080">
          <p15:clr>
            <a:srgbClr val="A4A3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609806" y="1488141"/>
            <a:ext cx="5038854" cy="4233390"/>
          </a:xfrm>
        </p:spPr>
        <p:txBody>
          <a:bodyPr lIns="0" anchor="t" anchorCtr="0"/>
          <a:lstStyle>
            <a:lvl1pPr algn="l">
              <a:defRPr sz="4400"/>
            </a:lvl1pPr>
          </a:lstStyle>
          <a:p>
            <a:endParaRPr lang="en-US"/>
          </a:p>
        </p:txBody>
      </p:sp>
      <p:pic>
        <p:nvPicPr>
          <p:cNvPr id="3" name="Picture 2" descr="A blue and grey square&#10;&#10;AI-generated content may be incorrect.">
            <a:extLst>
              <a:ext uri="{FF2B5EF4-FFF2-40B4-BE49-F238E27FC236}">
                <a16:creationId xmlns:a16="http://schemas.microsoft.com/office/drawing/2014/main" id="{CDBA8C77-70CA-13DB-6585-126480192E47}"/>
              </a:ext>
            </a:extLst>
          </p:cNvPr>
          <p:cNvPicPr>
            <a:picLocks noChangeAspect="1"/>
          </p:cNvPicPr>
          <p:nvPr userDrawn="1"/>
        </p:nvPicPr>
        <p:blipFill>
          <a:blip r:embed="rId2">
            <a:alphaModFix amt="70000"/>
          </a:blip>
          <a:stretch>
            <a:fillRect/>
          </a:stretch>
        </p:blipFill>
        <p:spPr>
          <a:xfrm>
            <a:off x="0" y="616857"/>
            <a:ext cx="6265333" cy="6241143"/>
          </a:xfrm>
          <a:prstGeom prst="rect">
            <a:avLst/>
          </a:prstGeom>
        </p:spPr>
      </p:pic>
      <p:sp>
        <p:nvSpPr>
          <p:cNvPr id="4" name="TextBox 3">
            <a:extLst>
              <a:ext uri="{FF2B5EF4-FFF2-40B4-BE49-F238E27FC236}">
                <a16:creationId xmlns:a16="http://schemas.microsoft.com/office/drawing/2014/main" id="{324A4B02-5F61-61C6-B6B7-D67C131CE9A7}"/>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3823583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78766" y="2485075"/>
            <a:ext cx="10834468" cy="943925"/>
          </a:xfrm>
        </p:spPr>
        <p:txBody>
          <a:bodyPr lIns="0" anchor="t" anchorCtr="0"/>
          <a:lstStyle>
            <a:lvl1pPr algn="ctr">
              <a:defRPr sz="5000"/>
            </a:lvl1pPr>
          </a:lstStyle>
          <a:p>
            <a:endParaRPr lang="en-US"/>
          </a:p>
        </p:txBody>
      </p:sp>
    </p:spTree>
    <p:extLst>
      <p:ext uri="{BB962C8B-B14F-4D97-AF65-F5344CB8AC3E}">
        <p14:creationId xmlns:p14="http://schemas.microsoft.com/office/powerpoint/2010/main" val="34005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COL TEXT A">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marL="0" indent="0">
              <a:buNone/>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8" name="Title 7">
            <a:extLst>
              <a:ext uri="{FF2B5EF4-FFF2-40B4-BE49-F238E27FC236}">
                <a16:creationId xmlns:a16="http://schemas.microsoft.com/office/drawing/2014/main" id="{55693EF2-8722-D131-EA6A-161C518F1622}"/>
              </a:ext>
            </a:extLst>
          </p:cNvPr>
          <p:cNvSpPr>
            <a:spLocks noGrp="1"/>
          </p:cNvSpPr>
          <p:nvPr>
            <p:ph type="title"/>
          </p:nvPr>
        </p:nvSpPr>
        <p:spPr>
          <a:xfrm>
            <a:off x="6665369" y="493776"/>
            <a:ext cx="4754880" cy="1219201"/>
          </a:xfrm>
        </p:spPr>
        <p:txBody>
          <a:bodyPr/>
          <a:lstStyle/>
          <a:p>
            <a:endParaRPr lang="en-US"/>
          </a:p>
        </p:txBody>
      </p:sp>
    </p:spTree>
    <p:extLst>
      <p:ext uri="{BB962C8B-B14F-4D97-AF65-F5344CB8AC3E}">
        <p14:creationId xmlns:p14="http://schemas.microsoft.com/office/powerpoint/2010/main" val="34049539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COL TEXT 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5" name="Title 4">
            <a:extLst>
              <a:ext uri="{FF2B5EF4-FFF2-40B4-BE49-F238E27FC236}">
                <a16:creationId xmlns:a16="http://schemas.microsoft.com/office/drawing/2014/main" id="{2D529423-01B6-FD0F-9F4A-0764671527B0}"/>
              </a:ext>
            </a:extLst>
          </p:cNvPr>
          <p:cNvSpPr>
            <a:spLocks noGrp="1"/>
          </p:cNvSpPr>
          <p:nvPr>
            <p:ph type="title"/>
          </p:nvPr>
        </p:nvSpPr>
        <p:spPr>
          <a:xfrm>
            <a:off x="6665369" y="493776"/>
            <a:ext cx="4754880" cy="1219200"/>
          </a:xfrm>
        </p:spPr>
        <p:txBody>
          <a:bodyPr/>
          <a:lstStyle/>
          <a:p>
            <a:endParaRPr lang="en-US"/>
          </a:p>
        </p:txBody>
      </p:sp>
    </p:spTree>
    <p:extLst>
      <p:ext uri="{BB962C8B-B14F-4D97-AF65-F5344CB8AC3E}">
        <p14:creationId xmlns:p14="http://schemas.microsoft.com/office/powerpoint/2010/main" val="391920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57200" y="493776"/>
            <a:ext cx="5029200" cy="2487168"/>
          </a:xfrm>
        </p:spPr>
        <p:txBody>
          <a:bodyPr/>
          <a:lstStyle>
            <a:lvl1pPr>
              <a:defRPr sz="3600">
                <a:solidFill>
                  <a:srgbClr val="000A62"/>
                </a:solidFill>
              </a:defRPr>
            </a:lvl1pPr>
          </a:lstStyle>
          <a:p>
            <a:endParaRPr lang="en-US"/>
          </a:p>
        </p:txBody>
      </p:sp>
    </p:spTree>
    <p:extLst>
      <p:ext uri="{BB962C8B-B14F-4D97-AF65-F5344CB8AC3E}">
        <p14:creationId xmlns:p14="http://schemas.microsoft.com/office/powerpoint/2010/main" val="999082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pic>
        <p:nvPicPr>
          <p:cNvPr id="2" name="Graphic 1">
            <a:extLst>
              <a:ext uri="{FF2B5EF4-FFF2-40B4-BE49-F238E27FC236}">
                <a16:creationId xmlns:a16="http://schemas.microsoft.com/office/drawing/2014/main" id="{8F53EAEA-39FB-5B87-7263-2C114FEFF040}"/>
              </a:ext>
            </a:extLst>
          </p:cNvPr>
          <p:cNvPicPr>
            <a:picLocks noChangeAspect="1"/>
          </p:cNvPicPr>
          <p:nvPr userDrawn="1"/>
        </p:nvPicPr>
        <p:blipFill>
          <a:blip r:embed="rId3"/>
          <a:srcRect/>
          <a:stretch/>
        </p:blipFill>
        <p:spPr>
          <a:xfrm>
            <a:off x="4856245" y="2183735"/>
            <a:ext cx="2479509" cy="2490530"/>
          </a:xfrm>
          <a:prstGeom prst="rect">
            <a:avLst/>
          </a:prstGeom>
          <a:effectLst/>
        </p:spPr>
      </p:pic>
      <p:sp>
        <p:nvSpPr>
          <p:cNvPr id="3" name="TextBox 2">
            <a:extLst>
              <a:ext uri="{FF2B5EF4-FFF2-40B4-BE49-F238E27FC236}">
                <a16:creationId xmlns:a16="http://schemas.microsoft.com/office/drawing/2014/main" id="{B6733DA5-7CEB-156D-B682-AC4F46921F76}"/>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1069983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1_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pic>
        <p:nvPicPr>
          <p:cNvPr id="4" name="Picture 3" descr="A blue and black logo&#10;&#10;AI-generated content may be incorrect.">
            <a:extLst>
              <a:ext uri="{FF2B5EF4-FFF2-40B4-BE49-F238E27FC236}">
                <a16:creationId xmlns:a16="http://schemas.microsoft.com/office/drawing/2014/main" id="{998306C0-7B5B-AB98-EC2E-C89EC1D1A8F9}"/>
              </a:ext>
            </a:extLst>
          </p:cNvPr>
          <p:cNvPicPr>
            <a:picLocks noChangeAspect="1"/>
          </p:cNvPicPr>
          <p:nvPr userDrawn="1"/>
        </p:nvPicPr>
        <p:blipFill>
          <a:blip r:embed="rId3"/>
          <a:stretch>
            <a:fillRect/>
          </a:stretch>
        </p:blipFill>
        <p:spPr>
          <a:xfrm>
            <a:off x="2919977" y="2624326"/>
            <a:ext cx="6352045" cy="1609347"/>
          </a:xfrm>
          <a:prstGeom prst="rect">
            <a:avLst/>
          </a:prstGeom>
        </p:spPr>
      </p:pic>
      <p:sp>
        <p:nvSpPr>
          <p:cNvPr id="2" name="TextBox 1">
            <a:extLst>
              <a:ext uri="{FF2B5EF4-FFF2-40B4-BE49-F238E27FC236}">
                <a16:creationId xmlns:a16="http://schemas.microsoft.com/office/drawing/2014/main" id="{16E22BEF-0925-1E3B-D20F-77CDF40128C3}"/>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811780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09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Content Light Blue">
    <p:bg>
      <p:bgPr>
        <a:solidFill>
          <a:srgbClr val="B2D4E4">
            <a:alpha val="6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711748"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0">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83399"/>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6" y="6574485"/>
            <a:ext cx="4889500" cy="138499"/>
          </a:xfrm>
          <a:prstGeom prst="rect">
            <a:avLst/>
          </a:prstGeom>
          <a:noFill/>
        </p:spPr>
        <p:txBody>
          <a:bodyPr wrap="square" lIns="0" tIns="0" rIns="0" bIns="0" rtlCol="0">
            <a:spAutoFit/>
          </a:bodyPr>
          <a:lstStyle/>
          <a:p>
            <a:pPr algn="r"/>
            <a:r>
              <a:rPr lang="en-US" sz="900">
                <a:solidFill>
                  <a:srgbClr val="0A3C53"/>
                </a:solidFill>
                <a:latin typeface="Effra Pro" panose="020B0603020203020204" pitchFamily="34" charset="0"/>
              </a:rPr>
              <a:t>For internal use only. Not to be used with the public.</a:t>
            </a:r>
          </a:p>
        </p:txBody>
      </p:sp>
      <p:pic>
        <p:nvPicPr>
          <p:cNvPr id="7" name="Picture 6">
            <a:extLst>
              <a:ext uri="{FF2B5EF4-FFF2-40B4-BE49-F238E27FC236}">
                <a16:creationId xmlns:a16="http://schemas.microsoft.com/office/drawing/2014/main" id="{E67FCA87-8478-5E28-4661-20EA3D9955E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455563" y="6192317"/>
            <a:ext cx="1343086" cy="226210"/>
          </a:xfrm>
          <a:prstGeom prst="rect">
            <a:avLst/>
          </a:prstGeom>
        </p:spPr>
      </p:pic>
    </p:spTree>
    <p:extLst>
      <p:ext uri="{BB962C8B-B14F-4D97-AF65-F5344CB8AC3E}">
        <p14:creationId xmlns:p14="http://schemas.microsoft.com/office/powerpoint/2010/main" val="2007329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F15485F8-9E68-60E9-6BC9-9B7F6C1A3D7F}"/>
              </a:ext>
            </a:extLst>
          </p:cNvPr>
          <p:cNvSpPr>
            <a:spLocks noGrp="1"/>
          </p:cNvSpPr>
          <p:nvPr>
            <p:ph type="body" sz="quarter" idx="13" hasCustomPrompt="1"/>
          </p:nvPr>
        </p:nvSpPr>
        <p:spPr>
          <a:xfrm>
            <a:off x="393350" y="850392"/>
            <a:ext cx="11405302" cy="558800"/>
          </a:xfrm>
          <a:prstGeom prst="rect">
            <a:avLst/>
          </a:prstGeom>
        </p:spPr>
        <p:txBody>
          <a:bodyPr lIns="0" tIns="0" rIns="0" bIns="0"/>
          <a:lstStyle>
            <a:lvl1pPr marL="0" indent="0">
              <a:buFontTx/>
              <a:buNone/>
              <a:defRPr sz="2800">
                <a:solidFill>
                  <a:srgbClr val="2E86AF"/>
                </a:solidFill>
                <a:latin typeface="Effra Pro" panose="020B0603020203020204" pitchFamily="34" charset="0"/>
              </a:defRPr>
            </a:lvl1pPr>
          </a:lstStyle>
          <a:p>
            <a:pPr lvl="0"/>
            <a:r>
              <a:rPr lang="en-US"/>
              <a:t>Sub headline (Effra Pro font size 28)</a:t>
            </a:r>
          </a:p>
        </p:txBody>
      </p:sp>
      <p:sp>
        <p:nvSpPr>
          <p:cNvPr id="9" name="Text Placeholder 4">
            <a:extLst>
              <a:ext uri="{FF2B5EF4-FFF2-40B4-BE49-F238E27FC236}">
                <a16:creationId xmlns:a16="http://schemas.microsoft.com/office/drawing/2014/main" id="{D1702492-ECB9-C99D-17F0-C5C3BE0BBEB3}"/>
              </a:ext>
            </a:extLst>
          </p:cNvPr>
          <p:cNvSpPr>
            <a:spLocks noGrp="1"/>
          </p:cNvSpPr>
          <p:nvPr>
            <p:ph type="body" sz="quarter" idx="14"/>
          </p:nvPr>
        </p:nvSpPr>
        <p:spPr>
          <a:xfrm>
            <a:off x="393349" y="1560513"/>
            <a:ext cx="5938478" cy="2761230"/>
          </a:xfrm>
          <a:prstGeom prst="rect">
            <a:avLst/>
          </a:prstGeom>
        </p:spPr>
        <p:txBody>
          <a:bodyPr/>
          <a:lstStyle>
            <a:lvl1pPr>
              <a:defRPr sz="2000">
                <a:solidFill>
                  <a:schemeClr val="bg2"/>
                </a:solidFill>
              </a:defRPr>
            </a:lvl1pPr>
            <a:lvl2pPr>
              <a:defRPr sz="2000">
                <a:solidFill>
                  <a:schemeClr val="bg2"/>
                </a:solidFill>
              </a:defRPr>
            </a:lvl2pPr>
            <a:lvl3pPr>
              <a:defRPr sz="1800">
                <a:solidFill>
                  <a:schemeClr val="bg2"/>
                </a:solidFill>
              </a:defRPr>
            </a:lvl3pPr>
            <a:lvl4pPr>
              <a:defRPr sz="1600">
                <a:solidFill>
                  <a:schemeClr val="bg2"/>
                </a:solidFill>
              </a:defRPr>
            </a:lvl4pPr>
            <a:lvl5pP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a:extLst>
              <a:ext uri="{FF2B5EF4-FFF2-40B4-BE49-F238E27FC236}">
                <a16:creationId xmlns:a16="http://schemas.microsoft.com/office/drawing/2014/main" id="{068AFAD1-74BD-2231-701D-CCA497B9D0AC}"/>
              </a:ext>
            </a:extLst>
          </p:cNvPr>
          <p:cNvSpPr>
            <a:spLocks noGrp="1"/>
          </p:cNvSpPr>
          <p:nvPr>
            <p:ph type="title" hasCustomPrompt="1"/>
          </p:nvPr>
        </p:nvSpPr>
        <p:spPr>
          <a:xfrm>
            <a:off x="393349" y="181536"/>
            <a:ext cx="11392252" cy="682752"/>
          </a:xfrm>
          <a:prstGeom prst="rect">
            <a:avLst/>
          </a:prstGeom>
        </p:spPr>
        <p:txBody>
          <a:bodyPr lIns="0" tIns="0" rIns="0" bIns="0"/>
          <a:lstStyle>
            <a:lvl1pPr>
              <a:defRPr sz="3200"/>
            </a:lvl1pPr>
          </a:lstStyle>
          <a:p>
            <a:r>
              <a:rPr lang="en-US"/>
              <a:t>Main headline 6 words or less (Alda Pro font size 32) </a:t>
            </a:r>
          </a:p>
        </p:txBody>
      </p:sp>
    </p:spTree>
    <p:extLst>
      <p:ext uri="{BB962C8B-B14F-4D97-AF65-F5344CB8AC3E}">
        <p14:creationId xmlns:p14="http://schemas.microsoft.com/office/powerpoint/2010/main" val="30952267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flip="none" rotWithShape="1">
          <a:gsLst>
            <a:gs pos="50000">
              <a:srgbClr val="80BAFF"/>
            </a:gs>
            <a:gs pos="20000">
              <a:srgbClr val="A9D4FF"/>
            </a:gs>
          </a:gsLst>
          <a:lin ang="54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421041" y="1554480"/>
            <a:ext cx="11118687" cy="4247212"/>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68011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a:xfrm>
            <a:off x="421041" y="493777"/>
            <a:ext cx="11310707" cy="544802"/>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421041" y="1862652"/>
            <a:ext cx="11310706" cy="4119486"/>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595E3170-2F17-5F40-7220-F26FEAC353E1}"/>
              </a:ext>
            </a:extLst>
          </p:cNvPr>
          <p:cNvSpPr>
            <a:spLocks noGrp="1"/>
          </p:cNvSpPr>
          <p:nvPr>
            <p:ph sz="quarter" idx="11"/>
          </p:nvPr>
        </p:nvSpPr>
        <p:spPr>
          <a:xfrm>
            <a:off x="421042" y="1178214"/>
            <a:ext cx="11310706" cy="544803"/>
          </a:xfrm>
        </p:spPr>
        <p:txBody>
          <a:bodyPr/>
          <a:lstStyle>
            <a:lvl1pPr marL="0" indent="0">
              <a:buFontTx/>
              <a:buNone/>
              <a:defRPr sz="2400" b="0">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11539230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a:xfrm>
            <a:off x="421041" y="493777"/>
            <a:ext cx="11310707" cy="544802"/>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421041" y="1862652"/>
            <a:ext cx="6227185" cy="4119486"/>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595E3170-2F17-5F40-7220-F26FEAC353E1}"/>
              </a:ext>
            </a:extLst>
          </p:cNvPr>
          <p:cNvSpPr>
            <a:spLocks noGrp="1"/>
          </p:cNvSpPr>
          <p:nvPr>
            <p:ph sz="quarter" idx="11"/>
          </p:nvPr>
        </p:nvSpPr>
        <p:spPr>
          <a:xfrm>
            <a:off x="421042" y="1178214"/>
            <a:ext cx="11310706" cy="544803"/>
          </a:xfrm>
        </p:spPr>
        <p:txBody>
          <a:bodyPr/>
          <a:lstStyle>
            <a:lvl1pPr marL="0" indent="0">
              <a:buFontTx/>
              <a:buNone/>
              <a:defRPr sz="2400" b="0">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5" name="Picture Placeholder 6">
            <a:extLst>
              <a:ext uri="{FF2B5EF4-FFF2-40B4-BE49-F238E27FC236}">
                <a16:creationId xmlns:a16="http://schemas.microsoft.com/office/drawing/2014/main" id="{F3E6C896-7B66-FFF3-FB62-5A0427DB2BE3}"/>
              </a:ext>
            </a:extLst>
          </p:cNvPr>
          <p:cNvSpPr>
            <a:spLocks noGrp="1"/>
          </p:cNvSpPr>
          <p:nvPr>
            <p:ph type="pic" sz="quarter" idx="28"/>
          </p:nvPr>
        </p:nvSpPr>
        <p:spPr>
          <a:xfrm>
            <a:off x="7013986" y="1862651"/>
            <a:ext cx="4717762" cy="4119485"/>
          </a:xfrm>
          <a:solidFill>
            <a:srgbClr val="A5EFBF">
              <a:alpha val="49821"/>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Tree>
    <p:extLst>
      <p:ext uri="{BB962C8B-B14F-4D97-AF65-F5344CB8AC3E}">
        <p14:creationId xmlns:p14="http://schemas.microsoft.com/office/powerpoint/2010/main" val="26875338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2_Custom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a:xfrm>
            <a:off x="421041" y="493777"/>
            <a:ext cx="11349918" cy="544802"/>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Tree>
    <p:extLst>
      <p:ext uri="{BB962C8B-B14F-4D97-AF65-F5344CB8AC3E}">
        <p14:creationId xmlns:p14="http://schemas.microsoft.com/office/powerpoint/2010/main" val="10612367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620C4-4478-382D-05FF-85794C8C0CCC}"/>
              </a:ext>
            </a:extLst>
          </p:cNvPr>
          <p:cNvSpPr>
            <a:spLocks noGrp="1"/>
          </p:cNvSpPr>
          <p:nvPr>
            <p:ph type="title"/>
          </p:nvPr>
        </p:nvSpPr>
        <p:spPr>
          <a:xfrm>
            <a:off x="421041" y="2112264"/>
            <a:ext cx="11310707" cy="1316736"/>
          </a:xfrm>
        </p:spPr>
        <p:txBody>
          <a:bodyPr lIns="0" anchor="t" anchorCtr="0"/>
          <a:lstStyle>
            <a:lvl1pPr>
              <a:defRPr sz="3600"/>
            </a:lvl1pPr>
          </a:lstStyle>
          <a:p>
            <a:endParaRPr lang="en-US"/>
          </a:p>
        </p:txBody>
      </p:sp>
      <p:sp>
        <p:nvSpPr>
          <p:cNvPr id="7" name="Slide Number Placeholder 6">
            <a:extLst>
              <a:ext uri="{FF2B5EF4-FFF2-40B4-BE49-F238E27FC236}">
                <a16:creationId xmlns:a16="http://schemas.microsoft.com/office/drawing/2014/main" id="{C78F216D-F511-3806-58E4-70B64425F9AC}"/>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5" name="Picture Placeholder 4">
            <a:extLst>
              <a:ext uri="{FF2B5EF4-FFF2-40B4-BE49-F238E27FC236}">
                <a16:creationId xmlns:a16="http://schemas.microsoft.com/office/drawing/2014/main" id="{122546D2-6DCC-4B92-4F74-EEFCF41484C3}"/>
              </a:ext>
            </a:extLst>
          </p:cNvPr>
          <p:cNvSpPr>
            <a:spLocks noGrp="1"/>
          </p:cNvSpPr>
          <p:nvPr>
            <p:ph type="pic" sz="quarter" idx="11"/>
          </p:nvPr>
        </p:nvSpPr>
        <p:spPr>
          <a:xfrm>
            <a:off x="0" y="3429001"/>
            <a:ext cx="12192000" cy="3429000"/>
          </a:xfrm>
          <a:solidFill>
            <a:srgbClr val="A5EFBF">
              <a:alpha val="50104"/>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Rectangle 2">
            <a:extLst>
              <a:ext uri="{FF2B5EF4-FFF2-40B4-BE49-F238E27FC236}">
                <a16:creationId xmlns:a16="http://schemas.microsoft.com/office/drawing/2014/main" id="{5F0A83BD-EA1F-5017-6CEE-A40FC06D4ED6}"/>
              </a:ext>
            </a:extLst>
          </p:cNvPr>
          <p:cNvSpPr/>
          <p:nvPr userDrawn="1"/>
        </p:nvSpPr>
        <p:spPr>
          <a:xfrm>
            <a:off x="0" y="260645"/>
            <a:ext cx="12192000" cy="590019"/>
          </a:xfrm>
          <a:prstGeom prst="rect">
            <a:avLst/>
          </a:prstGeom>
          <a:solidFill>
            <a:schemeClr val="bg1">
              <a:alpha val="5979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874045E6-C8A5-8E48-4B01-744857D6A01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1041" y="372774"/>
            <a:ext cx="365760" cy="365760"/>
          </a:xfrm>
          <a:prstGeom prst="rect">
            <a:avLst/>
          </a:prstGeom>
          <a:effectLst/>
        </p:spPr>
      </p:pic>
      <p:sp>
        <p:nvSpPr>
          <p:cNvPr id="6" name="Slide Number Placeholder 5">
            <a:extLst>
              <a:ext uri="{FF2B5EF4-FFF2-40B4-BE49-F238E27FC236}">
                <a16:creationId xmlns:a16="http://schemas.microsoft.com/office/drawing/2014/main" id="{BE2371F3-74FC-356C-C3B5-554AFEE46143}"/>
              </a:ext>
            </a:extLst>
          </p:cNvPr>
          <p:cNvSpPr txBox="1">
            <a:spLocks/>
          </p:cNvSpPr>
          <p:nvPr userDrawn="1"/>
        </p:nvSpPr>
        <p:spPr>
          <a:xfrm>
            <a:off x="11590192" y="6232230"/>
            <a:ext cx="430079" cy="365125"/>
          </a:xfrm>
          <a:prstGeom prst="rect">
            <a:avLst/>
          </a:prstGeom>
        </p:spPr>
        <p:txBody>
          <a:bodyPr vert="horz" lIns="0" tIns="0" rIns="0" bIns="0" rtlCol="0" anchor="ctr" anchorCtr="0">
            <a:noAutofit/>
          </a:bodyPr>
          <a:lstStyle>
            <a:defPPr>
              <a:defRPr lang="en-US"/>
            </a:defPPr>
            <a:lvl1pPr marL="0" algn="r" defTabSz="914400" rtl="0" eaLnBrk="1" latinLnBrk="0" hangingPunct="1">
              <a:defRPr sz="800" kern="1200">
                <a:solidFill>
                  <a:srgbClr val="000A62"/>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1371F83-EA4D-3B47-99B9-95D90583DC1D}" type="slidenum">
              <a:rPr lang="en-US" smtClean="0"/>
              <a:pPr/>
              <a:t>‹#›</a:t>
            </a:fld>
            <a:endParaRPr lang="en-US"/>
          </a:p>
        </p:txBody>
      </p:sp>
      <p:pic>
        <p:nvPicPr>
          <p:cNvPr id="8" name="Picture 7" descr="A blue and black logo&#10;&#10;AI-generated content may be incorrect.">
            <a:extLst>
              <a:ext uri="{FF2B5EF4-FFF2-40B4-BE49-F238E27FC236}">
                <a16:creationId xmlns:a16="http://schemas.microsoft.com/office/drawing/2014/main" id="{80845217-587B-A060-7CB9-E345665DF5E4}"/>
              </a:ext>
            </a:extLst>
          </p:cNvPr>
          <p:cNvPicPr>
            <a:picLocks noChangeAspect="1"/>
          </p:cNvPicPr>
          <p:nvPr userDrawn="1"/>
        </p:nvPicPr>
        <p:blipFill>
          <a:blip r:embed="rId3"/>
          <a:stretch>
            <a:fillRect/>
          </a:stretch>
        </p:blipFill>
        <p:spPr>
          <a:xfrm>
            <a:off x="10649018" y="418494"/>
            <a:ext cx="1082730" cy="274320"/>
          </a:xfrm>
          <a:prstGeom prst="rect">
            <a:avLst/>
          </a:prstGeom>
        </p:spPr>
      </p:pic>
    </p:spTree>
    <p:extLst>
      <p:ext uri="{BB962C8B-B14F-4D97-AF65-F5344CB8AC3E}">
        <p14:creationId xmlns:p14="http://schemas.microsoft.com/office/powerpoint/2010/main" val="1725068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pic>
        <p:nvPicPr>
          <p:cNvPr id="4" name="Picture 3" descr="A blue and grey square&#10;&#10;AI-generated content may be incorrect.">
            <a:extLst>
              <a:ext uri="{FF2B5EF4-FFF2-40B4-BE49-F238E27FC236}">
                <a16:creationId xmlns:a16="http://schemas.microsoft.com/office/drawing/2014/main" id="{A45A496B-8688-1C88-8157-65704DD5C56E}"/>
              </a:ext>
            </a:extLst>
          </p:cNvPr>
          <p:cNvPicPr>
            <a:picLocks noChangeAspect="1"/>
          </p:cNvPicPr>
          <p:nvPr userDrawn="1"/>
        </p:nvPicPr>
        <p:blipFill>
          <a:blip r:embed="rId2">
            <a:alphaModFix amt="20000"/>
          </a:blip>
          <a:stretch>
            <a:fillRect/>
          </a:stretch>
        </p:blipFill>
        <p:spPr>
          <a:xfrm>
            <a:off x="0" y="616856"/>
            <a:ext cx="6265333" cy="6241143"/>
          </a:xfrm>
          <a:prstGeom prst="rect">
            <a:avLst/>
          </a:prstGeom>
        </p:spPr>
      </p:pic>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421041" y="2226833"/>
            <a:ext cx="5231052" cy="3494697"/>
          </a:xfrm>
        </p:spPr>
        <p:txBody>
          <a:bodyPr lIns="0" anchor="t" anchorCtr="0"/>
          <a:lstStyle>
            <a:lvl1pPr algn="l">
              <a:defRPr sz="3600"/>
            </a:lvl1pPr>
          </a:lstStyle>
          <a:p>
            <a:endParaRPr lang="en-US"/>
          </a:p>
        </p:txBody>
      </p:sp>
      <p:sp>
        <p:nvSpPr>
          <p:cNvPr id="3" name="Rectangle 2">
            <a:extLst>
              <a:ext uri="{FF2B5EF4-FFF2-40B4-BE49-F238E27FC236}">
                <a16:creationId xmlns:a16="http://schemas.microsoft.com/office/drawing/2014/main" id="{EA7CC410-7E59-D0D1-24AA-F2A7D7F90721}"/>
              </a:ext>
            </a:extLst>
          </p:cNvPr>
          <p:cNvSpPr/>
          <p:nvPr userDrawn="1"/>
        </p:nvSpPr>
        <p:spPr>
          <a:xfrm>
            <a:off x="0" y="6119783"/>
            <a:ext cx="12192000" cy="590019"/>
          </a:xfrm>
          <a:prstGeom prst="rect">
            <a:avLst/>
          </a:prstGeom>
          <a:solidFill>
            <a:schemeClr val="bg1">
              <a:alpha val="5979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46F51BD7-01B2-6816-2200-76CA08A3A35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21041" y="6231595"/>
            <a:ext cx="365760" cy="365760"/>
          </a:xfrm>
          <a:prstGeom prst="rect">
            <a:avLst/>
          </a:prstGeom>
          <a:effectLst/>
        </p:spPr>
      </p:pic>
      <p:sp>
        <p:nvSpPr>
          <p:cNvPr id="6" name="Slide Number Placeholder 5">
            <a:extLst>
              <a:ext uri="{FF2B5EF4-FFF2-40B4-BE49-F238E27FC236}">
                <a16:creationId xmlns:a16="http://schemas.microsoft.com/office/drawing/2014/main" id="{BB0C9B92-1175-00F8-933D-C77BF2556C5D}"/>
              </a:ext>
            </a:extLst>
          </p:cNvPr>
          <p:cNvSpPr>
            <a:spLocks noGrp="1"/>
          </p:cNvSpPr>
          <p:nvPr>
            <p:ph type="sldNum" sz="quarter" idx="4"/>
          </p:nvPr>
        </p:nvSpPr>
        <p:spPr>
          <a:xfrm>
            <a:off x="11731748" y="6232230"/>
            <a:ext cx="288523" cy="365125"/>
          </a:xfrm>
          <a:prstGeom prst="rect">
            <a:avLst/>
          </a:prstGeom>
        </p:spPr>
        <p:txBody>
          <a:bodyPr vert="horz" lIns="0" tIns="0" rIns="0" bIns="0" rtlCol="0" anchor="ctr" anchorCtr="0">
            <a:noAutofit/>
          </a:bodyPr>
          <a:lstStyle>
            <a:lvl1pPr algn="r">
              <a:defRPr sz="800">
                <a:solidFill>
                  <a:srgbClr val="000A62"/>
                </a:solidFill>
                <a:latin typeface="Arial" panose="020B0604020202020204" pitchFamily="34" charset="0"/>
                <a:cs typeface="Arial" panose="020B0604020202020204" pitchFamily="34" charset="0"/>
              </a:defRPr>
            </a:lvl1pPr>
          </a:lstStyle>
          <a:p>
            <a:fld id="{A1371F83-EA4D-3B47-99B9-95D90583DC1D}" type="slidenum">
              <a:rPr lang="en-US" smtClean="0"/>
              <a:pPr/>
              <a:t>‹#›</a:t>
            </a:fld>
            <a:endParaRPr lang="en-US" sz="800"/>
          </a:p>
        </p:txBody>
      </p:sp>
      <p:pic>
        <p:nvPicPr>
          <p:cNvPr id="8" name="Picture 7" descr="A blue and black logo&#10;&#10;AI-generated content may be incorrect.">
            <a:extLst>
              <a:ext uri="{FF2B5EF4-FFF2-40B4-BE49-F238E27FC236}">
                <a16:creationId xmlns:a16="http://schemas.microsoft.com/office/drawing/2014/main" id="{3EAEFD7F-7EBC-AE96-0954-ED1288FEF9BA}"/>
              </a:ext>
            </a:extLst>
          </p:cNvPr>
          <p:cNvPicPr>
            <a:picLocks noChangeAspect="1"/>
          </p:cNvPicPr>
          <p:nvPr userDrawn="1"/>
        </p:nvPicPr>
        <p:blipFill>
          <a:blip r:embed="rId4"/>
          <a:stretch>
            <a:fillRect/>
          </a:stretch>
        </p:blipFill>
        <p:spPr>
          <a:xfrm>
            <a:off x="10649018" y="6277632"/>
            <a:ext cx="1082730" cy="274320"/>
          </a:xfrm>
          <a:prstGeom prst="rect">
            <a:avLst/>
          </a:prstGeom>
        </p:spPr>
      </p:pic>
    </p:spTree>
    <p:extLst>
      <p:ext uri="{BB962C8B-B14F-4D97-AF65-F5344CB8AC3E}">
        <p14:creationId xmlns:p14="http://schemas.microsoft.com/office/powerpoint/2010/main" val="15913049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402110" y="2485075"/>
            <a:ext cx="11329638" cy="943925"/>
          </a:xfrm>
        </p:spPr>
        <p:txBody>
          <a:bodyPr lIns="0" anchor="t" anchorCtr="0"/>
          <a:lstStyle>
            <a:lvl1pPr algn="ctr">
              <a:defRPr sz="50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28709317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p:nvPr>
        </p:nvSpPr>
        <p:spPr>
          <a:xfrm>
            <a:off x="805574"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p:nvPr>
        </p:nvSpPr>
        <p:spPr>
          <a:xfrm>
            <a:off x="3592749"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9" name="Text Placeholder 13">
            <a:extLst>
              <a:ext uri="{FF2B5EF4-FFF2-40B4-BE49-F238E27FC236}">
                <a16:creationId xmlns:a16="http://schemas.microsoft.com/office/drawing/2014/main" id="{3A5DBFD9-96F8-94D0-529B-2B5E24342EA7}"/>
              </a:ext>
            </a:extLst>
          </p:cNvPr>
          <p:cNvSpPr>
            <a:spLocks noGrp="1"/>
          </p:cNvSpPr>
          <p:nvPr>
            <p:ph type="body" sz="quarter" idx="20"/>
          </p:nvPr>
        </p:nvSpPr>
        <p:spPr>
          <a:xfrm>
            <a:off x="6379925"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21" name="Text Placeholder 13">
            <a:extLst>
              <a:ext uri="{FF2B5EF4-FFF2-40B4-BE49-F238E27FC236}">
                <a16:creationId xmlns:a16="http://schemas.microsoft.com/office/drawing/2014/main" id="{A71A8F6A-A550-86DB-BEF7-D9A808A01C43}"/>
              </a:ext>
            </a:extLst>
          </p:cNvPr>
          <p:cNvSpPr>
            <a:spLocks noGrp="1"/>
          </p:cNvSpPr>
          <p:nvPr>
            <p:ph type="body" sz="quarter" idx="22"/>
          </p:nvPr>
        </p:nvSpPr>
        <p:spPr>
          <a:xfrm>
            <a:off x="9166867"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8" name="Text Placeholder 13">
            <a:extLst>
              <a:ext uri="{FF2B5EF4-FFF2-40B4-BE49-F238E27FC236}">
                <a16:creationId xmlns:a16="http://schemas.microsoft.com/office/drawing/2014/main" id="{6D94F9F4-274D-B690-9371-0E5B46109201}"/>
              </a:ext>
            </a:extLst>
          </p:cNvPr>
          <p:cNvSpPr>
            <a:spLocks noGrp="1"/>
          </p:cNvSpPr>
          <p:nvPr>
            <p:ph type="body" sz="quarter" idx="23"/>
          </p:nvPr>
        </p:nvSpPr>
        <p:spPr>
          <a:xfrm>
            <a:off x="805574"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9" name="Text Placeholder 13">
            <a:extLst>
              <a:ext uri="{FF2B5EF4-FFF2-40B4-BE49-F238E27FC236}">
                <a16:creationId xmlns:a16="http://schemas.microsoft.com/office/drawing/2014/main" id="{E6E582D6-6481-778E-C4B6-82C6FC97D280}"/>
              </a:ext>
            </a:extLst>
          </p:cNvPr>
          <p:cNvSpPr>
            <a:spLocks noGrp="1"/>
          </p:cNvSpPr>
          <p:nvPr>
            <p:ph type="body" sz="quarter" idx="24"/>
          </p:nvPr>
        </p:nvSpPr>
        <p:spPr>
          <a:xfrm>
            <a:off x="3592749"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0" name="Text Placeholder 13">
            <a:extLst>
              <a:ext uri="{FF2B5EF4-FFF2-40B4-BE49-F238E27FC236}">
                <a16:creationId xmlns:a16="http://schemas.microsoft.com/office/drawing/2014/main" id="{94058031-53F3-4D10-D0AF-0FE4EB33A3E6}"/>
              </a:ext>
            </a:extLst>
          </p:cNvPr>
          <p:cNvSpPr>
            <a:spLocks noGrp="1"/>
          </p:cNvSpPr>
          <p:nvPr>
            <p:ph type="body" sz="quarter" idx="25"/>
          </p:nvPr>
        </p:nvSpPr>
        <p:spPr>
          <a:xfrm>
            <a:off x="6379925" y="2889936"/>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1" name="Text Placeholder 13">
            <a:extLst>
              <a:ext uri="{FF2B5EF4-FFF2-40B4-BE49-F238E27FC236}">
                <a16:creationId xmlns:a16="http://schemas.microsoft.com/office/drawing/2014/main" id="{99BE3125-69F9-1FA8-98C5-37BFCFE5524E}"/>
              </a:ext>
            </a:extLst>
          </p:cNvPr>
          <p:cNvSpPr>
            <a:spLocks noGrp="1"/>
          </p:cNvSpPr>
          <p:nvPr>
            <p:ph type="body" sz="quarter" idx="26"/>
          </p:nvPr>
        </p:nvSpPr>
        <p:spPr>
          <a:xfrm>
            <a:off x="9166867"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4" name="Title 3">
            <a:extLst>
              <a:ext uri="{FF2B5EF4-FFF2-40B4-BE49-F238E27FC236}">
                <a16:creationId xmlns:a16="http://schemas.microsoft.com/office/drawing/2014/main" id="{860EC2BC-0ECF-2B5F-26DD-296C059C2687}"/>
              </a:ext>
            </a:extLst>
          </p:cNvPr>
          <p:cNvSpPr>
            <a:spLocks noGrp="1"/>
          </p:cNvSpPr>
          <p:nvPr>
            <p:ph type="title"/>
          </p:nvPr>
        </p:nvSpPr>
        <p:spPr>
          <a:xfrm>
            <a:off x="402110" y="493776"/>
            <a:ext cx="11329638" cy="804672"/>
          </a:xfrm>
        </p:spPr>
        <p:txBody>
          <a:bodyPr/>
          <a:lstStyle/>
          <a:p>
            <a:endParaRPr lang="en-US"/>
          </a:p>
        </p:txBody>
      </p:sp>
    </p:spTree>
    <p:extLst>
      <p:ext uri="{BB962C8B-B14F-4D97-AF65-F5344CB8AC3E}">
        <p14:creationId xmlns:p14="http://schemas.microsoft.com/office/powerpoint/2010/main" val="13563014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COL TEXT A">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marL="0" indent="0">
              <a:buNone/>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8" name="Title 7">
            <a:extLst>
              <a:ext uri="{FF2B5EF4-FFF2-40B4-BE49-F238E27FC236}">
                <a16:creationId xmlns:a16="http://schemas.microsoft.com/office/drawing/2014/main" id="{55693EF2-8722-D131-EA6A-161C518F1622}"/>
              </a:ext>
            </a:extLst>
          </p:cNvPr>
          <p:cNvSpPr>
            <a:spLocks noGrp="1"/>
          </p:cNvSpPr>
          <p:nvPr>
            <p:ph type="title"/>
          </p:nvPr>
        </p:nvSpPr>
        <p:spPr>
          <a:xfrm>
            <a:off x="6665369" y="493776"/>
            <a:ext cx="4754880" cy="1219201"/>
          </a:xfrm>
        </p:spPr>
        <p:txBody>
          <a:bodyPr/>
          <a:lstStyle/>
          <a:p>
            <a:endParaRPr lang="en-US"/>
          </a:p>
        </p:txBody>
      </p:sp>
    </p:spTree>
    <p:extLst>
      <p:ext uri="{BB962C8B-B14F-4D97-AF65-F5344CB8AC3E}">
        <p14:creationId xmlns:p14="http://schemas.microsoft.com/office/powerpoint/2010/main" val="34175743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COL TEXT B">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5" name="Title 4">
            <a:extLst>
              <a:ext uri="{FF2B5EF4-FFF2-40B4-BE49-F238E27FC236}">
                <a16:creationId xmlns:a16="http://schemas.microsoft.com/office/drawing/2014/main" id="{2D529423-01B6-FD0F-9F4A-0764671527B0}"/>
              </a:ext>
            </a:extLst>
          </p:cNvPr>
          <p:cNvSpPr>
            <a:spLocks noGrp="1"/>
          </p:cNvSpPr>
          <p:nvPr>
            <p:ph type="title"/>
          </p:nvPr>
        </p:nvSpPr>
        <p:spPr>
          <a:xfrm>
            <a:off x="6665369" y="493776"/>
            <a:ext cx="4754880" cy="1219200"/>
          </a:xfrm>
        </p:spPr>
        <p:txBody>
          <a:bodyPr/>
          <a:lstStyle/>
          <a:p>
            <a:endParaRPr lang="en-US"/>
          </a:p>
        </p:txBody>
      </p:sp>
    </p:spTree>
    <p:extLst>
      <p:ext uri="{BB962C8B-B14F-4D97-AF65-F5344CB8AC3E}">
        <p14:creationId xmlns:p14="http://schemas.microsoft.com/office/powerpoint/2010/main" val="4499031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COL TEXT">
    <p:bg>
      <p:bgPr>
        <a:gradFill flip="none" rotWithShape="1">
          <a:gsLst>
            <a:gs pos="83000">
              <a:srgbClr val="8FC3FF"/>
            </a:gs>
            <a:gs pos="100000">
              <a:srgbClr val="80BAFF"/>
            </a:gs>
            <a:gs pos="26000">
              <a:srgbClr val="A9D4FF"/>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402110" y="1341484"/>
            <a:ext cx="1132963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946683" y="1651477"/>
            <a:ext cx="4892040" cy="365760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352672" y="1651477"/>
            <a:ext cx="4892644" cy="365760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cxnSp>
        <p:nvCxnSpPr>
          <p:cNvPr id="3" name="Straight Connector 2">
            <a:extLst>
              <a:ext uri="{FF2B5EF4-FFF2-40B4-BE49-F238E27FC236}">
                <a16:creationId xmlns:a16="http://schemas.microsoft.com/office/drawing/2014/main" id="{27CD526F-4567-7702-B3D6-894A2BD0D911}"/>
              </a:ext>
            </a:extLst>
          </p:cNvPr>
          <p:cNvCxnSpPr>
            <a:cxnSpLocks/>
          </p:cNvCxnSpPr>
          <p:nvPr userDrawn="1"/>
        </p:nvCxnSpPr>
        <p:spPr>
          <a:xfrm>
            <a:off x="6096000" y="1651477"/>
            <a:ext cx="0" cy="3657600"/>
          </a:xfrm>
          <a:prstGeom prst="line">
            <a:avLst/>
          </a:prstGeom>
          <a:ln>
            <a:solidFill>
              <a:schemeClr val="bg1">
                <a:alpha val="75403"/>
              </a:schemeClr>
            </a:solidFill>
          </a:ln>
        </p:spPr>
        <p:style>
          <a:lnRef idx="2">
            <a:schemeClr val="accent1"/>
          </a:lnRef>
          <a:fillRef idx="0">
            <a:schemeClr val="accent1"/>
          </a:fillRef>
          <a:effectRef idx="1">
            <a:schemeClr val="accent1"/>
          </a:effectRef>
          <a:fontRef idx="minor">
            <a:schemeClr val="tx1"/>
          </a:fontRef>
        </p:style>
      </p:cxnSp>
      <p:sp>
        <p:nvSpPr>
          <p:cNvPr id="5" name="Title 4">
            <a:extLst>
              <a:ext uri="{FF2B5EF4-FFF2-40B4-BE49-F238E27FC236}">
                <a16:creationId xmlns:a16="http://schemas.microsoft.com/office/drawing/2014/main" id="{B132B79D-72D9-6412-E927-80F98D2ADD81}"/>
              </a:ext>
            </a:extLst>
          </p:cNvPr>
          <p:cNvSpPr>
            <a:spLocks noGrp="1"/>
          </p:cNvSpPr>
          <p:nvPr>
            <p:ph type="title"/>
          </p:nvPr>
        </p:nvSpPr>
        <p:spPr>
          <a:xfrm>
            <a:off x="402110" y="492029"/>
            <a:ext cx="11329638" cy="804672"/>
          </a:xfrm>
        </p:spPr>
        <p:txBody>
          <a:bodyPr/>
          <a:lstStyle/>
          <a:p>
            <a:endParaRPr lang="en-US"/>
          </a:p>
        </p:txBody>
      </p:sp>
    </p:spTree>
    <p:extLst>
      <p:ext uri="{BB962C8B-B14F-4D97-AF65-F5344CB8AC3E}">
        <p14:creationId xmlns:p14="http://schemas.microsoft.com/office/powerpoint/2010/main" val="30723777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COL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4312920" y="1346081"/>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8165588" y="1346081"/>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402110" y="1342420"/>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584990"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4495800"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8348468"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 name="Title 1">
            <a:extLst>
              <a:ext uri="{FF2B5EF4-FFF2-40B4-BE49-F238E27FC236}">
                <a16:creationId xmlns:a16="http://schemas.microsoft.com/office/drawing/2014/main" id="{3B21EAA1-25DB-EC70-28BC-970F59ABF417}"/>
              </a:ext>
            </a:extLst>
          </p:cNvPr>
          <p:cNvSpPr>
            <a:spLocks noGrp="1"/>
          </p:cNvSpPr>
          <p:nvPr>
            <p:ph type="title"/>
          </p:nvPr>
        </p:nvSpPr>
        <p:spPr>
          <a:xfrm>
            <a:off x="402110" y="492029"/>
            <a:ext cx="11329638" cy="804672"/>
          </a:xfrm>
        </p:spPr>
        <p:txBody>
          <a:bodyPr/>
          <a:lstStyle/>
          <a:p>
            <a:endParaRPr lang="en-US"/>
          </a:p>
        </p:txBody>
      </p:sp>
    </p:spTree>
    <p:extLst>
      <p:ext uri="{BB962C8B-B14F-4D97-AF65-F5344CB8AC3E}">
        <p14:creationId xmlns:p14="http://schemas.microsoft.com/office/powerpoint/2010/main" val="30970333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COL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3264819"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6140400"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30EBCB-CFCE-201F-955D-E252D246E802}"/>
              </a:ext>
            </a:extLst>
          </p:cNvPr>
          <p:cNvSpPr/>
          <p:nvPr userDrawn="1"/>
        </p:nvSpPr>
        <p:spPr>
          <a:xfrm>
            <a:off x="9015980"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389238"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512111"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3391060"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270011"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1" name="Text Placeholder 13">
            <a:extLst>
              <a:ext uri="{FF2B5EF4-FFF2-40B4-BE49-F238E27FC236}">
                <a16:creationId xmlns:a16="http://schemas.microsoft.com/office/drawing/2014/main" id="{C2DFA204-BAD7-7D75-D24E-452D9A532AD5}"/>
              </a:ext>
            </a:extLst>
          </p:cNvPr>
          <p:cNvSpPr>
            <a:spLocks noGrp="1"/>
          </p:cNvSpPr>
          <p:nvPr>
            <p:ph type="body" sz="quarter" idx="18"/>
          </p:nvPr>
        </p:nvSpPr>
        <p:spPr>
          <a:xfrm>
            <a:off x="9138853"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2" name="Text Placeholder 15">
            <a:extLst>
              <a:ext uri="{FF2B5EF4-FFF2-40B4-BE49-F238E27FC236}">
                <a16:creationId xmlns:a16="http://schemas.microsoft.com/office/drawing/2014/main" id="{7ADFF41F-5C73-70FE-F753-E671F31D67A0}"/>
              </a:ext>
            </a:extLst>
          </p:cNvPr>
          <p:cNvSpPr>
            <a:spLocks noGrp="1"/>
          </p:cNvSpPr>
          <p:nvPr>
            <p:ph type="body" sz="quarter" idx="11"/>
          </p:nvPr>
        </p:nvSpPr>
        <p:spPr>
          <a:xfrm>
            <a:off x="3391060"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
        <p:nvSpPr>
          <p:cNvPr id="13" name="Text Placeholder 15">
            <a:extLst>
              <a:ext uri="{FF2B5EF4-FFF2-40B4-BE49-F238E27FC236}">
                <a16:creationId xmlns:a16="http://schemas.microsoft.com/office/drawing/2014/main" id="{3BDE4155-1874-CB5D-1ED7-788DA6ACCC68}"/>
              </a:ext>
            </a:extLst>
          </p:cNvPr>
          <p:cNvSpPr>
            <a:spLocks noGrp="1"/>
          </p:cNvSpPr>
          <p:nvPr>
            <p:ph type="body" sz="quarter" idx="12"/>
          </p:nvPr>
        </p:nvSpPr>
        <p:spPr>
          <a:xfrm>
            <a:off x="6270011"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
        <p:nvSpPr>
          <p:cNvPr id="15" name="Text Placeholder 15">
            <a:extLst>
              <a:ext uri="{FF2B5EF4-FFF2-40B4-BE49-F238E27FC236}">
                <a16:creationId xmlns:a16="http://schemas.microsoft.com/office/drawing/2014/main" id="{9C60B4CB-06A4-CB4C-1C9A-05528D708689}"/>
              </a:ext>
            </a:extLst>
          </p:cNvPr>
          <p:cNvSpPr>
            <a:spLocks noGrp="1"/>
          </p:cNvSpPr>
          <p:nvPr>
            <p:ph type="body" sz="quarter" idx="13"/>
          </p:nvPr>
        </p:nvSpPr>
        <p:spPr>
          <a:xfrm>
            <a:off x="512111" y="493776"/>
            <a:ext cx="2468880" cy="738803"/>
          </a:xfrm>
        </p:spPr>
        <p:txBody>
          <a:bodyPr/>
          <a:lstStyle>
            <a:lvl1pPr marL="0" indent="0">
              <a:lnSpc>
                <a:spcPct val="100000"/>
              </a:lnSpc>
              <a:spcBef>
                <a:spcPts val="0"/>
              </a:spcBef>
              <a:buNone/>
              <a:defRPr sz="2400" b="0">
                <a:latin typeface="+mj-lt"/>
              </a:defRPr>
            </a:lvl1pPr>
          </a:lstStyle>
          <a:p>
            <a:pPr lvl="0"/>
            <a:endParaRPr lang="en-US"/>
          </a:p>
        </p:txBody>
      </p:sp>
      <p:sp>
        <p:nvSpPr>
          <p:cNvPr id="16" name="Text Placeholder 15">
            <a:extLst>
              <a:ext uri="{FF2B5EF4-FFF2-40B4-BE49-F238E27FC236}">
                <a16:creationId xmlns:a16="http://schemas.microsoft.com/office/drawing/2014/main" id="{DC1FFA80-C1C7-7395-7E6C-0CE39D3D9B2E}"/>
              </a:ext>
            </a:extLst>
          </p:cNvPr>
          <p:cNvSpPr>
            <a:spLocks noGrp="1"/>
          </p:cNvSpPr>
          <p:nvPr>
            <p:ph type="body" sz="quarter" idx="19"/>
          </p:nvPr>
        </p:nvSpPr>
        <p:spPr>
          <a:xfrm>
            <a:off x="9138853"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Tree>
    <p:extLst>
      <p:ext uri="{BB962C8B-B14F-4D97-AF65-F5344CB8AC3E}">
        <p14:creationId xmlns:p14="http://schemas.microsoft.com/office/powerpoint/2010/main" val="24607537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COL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402110" y="1342419"/>
            <a:ext cx="411480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584991" y="1580164"/>
            <a:ext cx="374903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5158440" y="1342419"/>
            <a:ext cx="6382113" cy="4297680"/>
          </a:xfrm>
        </p:spPr>
        <p:txBody>
          <a:bodyPr/>
          <a:lstStyle/>
          <a:p>
            <a:endParaRPr lang="en-US"/>
          </a:p>
        </p:txBody>
      </p:sp>
      <p:sp>
        <p:nvSpPr>
          <p:cNvPr id="2" name="Title 1">
            <a:extLst>
              <a:ext uri="{FF2B5EF4-FFF2-40B4-BE49-F238E27FC236}">
                <a16:creationId xmlns:a16="http://schemas.microsoft.com/office/drawing/2014/main" id="{41C34C18-9CF5-12C3-5CCD-69AF7F33FF20}"/>
              </a:ext>
            </a:extLst>
          </p:cNvPr>
          <p:cNvSpPr>
            <a:spLocks noGrp="1"/>
          </p:cNvSpPr>
          <p:nvPr>
            <p:ph type="title"/>
          </p:nvPr>
        </p:nvSpPr>
        <p:spPr>
          <a:xfrm>
            <a:off x="402110" y="492028"/>
            <a:ext cx="11329638" cy="804672"/>
          </a:xfrm>
        </p:spPr>
        <p:txBody>
          <a:bodyPr/>
          <a:lstStyle/>
          <a:p>
            <a:endParaRPr lang="en-US"/>
          </a:p>
        </p:txBody>
      </p:sp>
    </p:spTree>
    <p:extLst>
      <p:ext uri="{BB962C8B-B14F-4D97-AF65-F5344CB8AC3E}">
        <p14:creationId xmlns:p14="http://schemas.microsoft.com/office/powerpoint/2010/main" val="20240338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CHAR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4296664" y="640080"/>
            <a:ext cx="6714837" cy="4573487"/>
          </a:xfrm>
        </p:spPr>
        <p:txBody>
          <a:bodyPr/>
          <a:lstStyle/>
          <a:p>
            <a:endParaRPr lang="en-US"/>
          </a:p>
        </p:txBody>
      </p:sp>
    </p:spTree>
    <p:extLst>
      <p:ext uri="{BB962C8B-B14F-4D97-AF65-F5344CB8AC3E}">
        <p14:creationId xmlns:p14="http://schemas.microsoft.com/office/powerpoint/2010/main" val="21672042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CHART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402110" y="1344167"/>
            <a:ext cx="5415599" cy="429768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2" name="Rectangle 21">
            <a:extLst>
              <a:ext uri="{FF2B5EF4-FFF2-40B4-BE49-F238E27FC236}">
                <a16:creationId xmlns:a16="http://schemas.microsoft.com/office/drawing/2014/main" id="{86B6F805-150A-A1F2-BDDF-F0ECD943C483}"/>
              </a:ext>
            </a:extLst>
          </p:cNvPr>
          <p:cNvSpPr/>
          <p:nvPr userDrawn="1"/>
        </p:nvSpPr>
        <p:spPr>
          <a:xfrm>
            <a:off x="6316149" y="1344167"/>
            <a:ext cx="5415599" cy="429768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6500204" y="1580168"/>
            <a:ext cx="5047488" cy="3794760"/>
          </a:xfrm>
        </p:spPr>
        <p:txBody>
          <a:bodyPr/>
          <a:lstStyle/>
          <a:p>
            <a:endParaRPr lang="en-US"/>
          </a:p>
        </p:txBody>
      </p:sp>
      <p:sp>
        <p:nvSpPr>
          <p:cNvPr id="2" name="Chart Placeholder 25">
            <a:extLst>
              <a:ext uri="{FF2B5EF4-FFF2-40B4-BE49-F238E27FC236}">
                <a16:creationId xmlns:a16="http://schemas.microsoft.com/office/drawing/2014/main" id="{61C651FA-1AC0-20FA-C672-4990AB30FD96}"/>
              </a:ext>
            </a:extLst>
          </p:cNvPr>
          <p:cNvSpPr>
            <a:spLocks noGrp="1"/>
          </p:cNvSpPr>
          <p:nvPr>
            <p:ph type="chart" sz="quarter" idx="19"/>
          </p:nvPr>
        </p:nvSpPr>
        <p:spPr>
          <a:xfrm>
            <a:off x="586165" y="1580168"/>
            <a:ext cx="5047488" cy="3794760"/>
          </a:xfrm>
        </p:spPr>
        <p:txBody>
          <a:bodyPr/>
          <a:lstStyle/>
          <a:p>
            <a:endParaRPr lang="en-US"/>
          </a:p>
        </p:txBody>
      </p:sp>
      <p:sp>
        <p:nvSpPr>
          <p:cNvPr id="3" name="Title 2">
            <a:extLst>
              <a:ext uri="{FF2B5EF4-FFF2-40B4-BE49-F238E27FC236}">
                <a16:creationId xmlns:a16="http://schemas.microsoft.com/office/drawing/2014/main" id="{AC5761DD-9774-F1E8-E80A-2C2D06D1756E}"/>
              </a:ext>
            </a:extLst>
          </p:cNvPr>
          <p:cNvSpPr>
            <a:spLocks noGrp="1"/>
          </p:cNvSpPr>
          <p:nvPr>
            <p:ph type="title"/>
          </p:nvPr>
        </p:nvSpPr>
        <p:spPr>
          <a:xfrm>
            <a:off x="402110" y="492033"/>
            <a:ext cx="11329638" cy="804672"/>
          </a:xfrm>
        </p:spPr>
        <p:txBody>
          <a:bodyPr/>
          <a:lstStyle/>
          <a:p>
            <a:endParaRPr lang="en-US"/>
          </a:p>
        </p:txBody>
      </p:sp>
    </p:spTree>
    <p:extLst>
      <p:ext uri="{BB962C8B-B14F-4D97-AF65-F5344CB8AC3E}">
        <p14:creationId xmlns:p14="http://schemas.microsoft.com/office/powerpoint/2010/main" val="3262714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pic>
        <p:nvPicPr>
          <p:cNvPr id="2" name="Picture 1" descr="A blue and grey square&#10;&#10;AI-generated content may be incorrect.">
            <a:extLst>
              <a:ext uri="{FF2B5EF4-FFF2-40B4-BE49-F238E27FC236}">
                <a16:creationId xmlns:a16="http://schemas.microsoft.com/office/drawing/2014/main" id="{AB7E120C-7643-AF2C-5BAE-6690BF438C6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02110" y="493776"/>
            <a:ext cx="5084290" cy="2487168"/>
          </a:xfrm>
        </p:spPr>
        <p:txBody>
          <a:bodyPr/>
          <a:lstStyle>
            <a:lvl1pPr>
              <a:defRPr sz="3600">
                <a:solidFill>
                  <a:srgbClr val="000A62"/>
                </a:solidFill>
              </a:defRPr>
            </a:lvl1pPr>
          </a:lstStyle>
          <a:p>
            <a:endParaRPr lang="en-US"/>
          </a:p>
        </p:txBody>
      </p:sp>
    </p:spTree>
    <p:extLst>
      <p:ext uri="{BB962C8B-B14F-4D97-AF65-F5344CB8AC3E}">
        <p14:creationId xmlns:p14="http://schemas.microsoft.com/office/powerpoint/2010/main" val="33825215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1_SECTION">
    <p:spTree>
      <p:nvGrpSpPr>
        <p:cNvPr id="1" name=""/>
        <p:cNvGrpSpPr/>
        <p:nvPr/>
      </p:nvGrpSpPr>
      <p:grpSpPr>
        <a:xfrm>
          <a:off x="0" y="0"/>
          <a:ext cx="0" cy="0"/>
          <a:chOff x="0" y="0"/>
          <a:chExt cx="0" cy="0"/>
        </a:xfrm>
      </p:grpSpPr>
      <p:pic>
        <p:nvPicPr>
          <p:cNvPr id="2" name="Picture 1" descr="A blue and grey square&#10;&#10;AI-generated content may be incorrect.">
            <a:extLst>
              <a:ext uri="{FF2B5EF4-FFF2-40B4-BE49-F238E27FC236}">
                <a16:creationId xmlns:a16="http://schemas.microsoft.com/office/drawing/2014/main" id="{AB7E120C-7643-AF2C-5BAE-6690BF438C6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0" y="3429000"/>
            <a:ext cx="12192000" cy="3429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02110" y="2280621"/>
            <a:ext cx="11188082" cy="1042318"/>
          </a:xfrm>
        </p:spPr>
        <p:txBody>
          <a:bodyPr/>
          <a:lstStyle>
            <a:lvl1pPr>
              <a:defRPr sz="3600"/>
            </a:lvl1pPr>
          </a:lstStyle>
          <a:p>
            <a:endParaRPr lang="en-US"/>
          </a:p>
        </p:txBody>
      </p:sp>
      <p:pic>
        <p:nvPicPr>
          <p:cNvPr id="9" name="Graphic 8">
            <a:extLst>
              <a:ext uri="{FF2B5EF4-FFF2-40B4-BE49-F238E27FC236}">
                <a16:creationId xmlns:a16="http://schemas.microsoft.com/office/drawing/2014/main" id="{7A6D5DA3-EFC1-742C-A22F-4583CA13D7F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2110" y="457200"/>
            <a:ext cx="868683" cy="868683"/>
          </a:xfrm>
          <a:prstGeom prst="rect">
            <a:avLst/>
          </a:prstGeom>
        </p:spPr>
      </p:pic>
      <p:pic>
        <p:nvPicPr>
          <p:cNvPr id="15" name="Picture 14" descr="A blue and black logo&#10;&#10;AI-generated content may be incorrect.">
            <a:extLst>
              <a:ext uri="{FF2B5EF4-FFF2-40B4-BE49-F238E27FC236}">
                <a16:creationId xmlns:a16="http://schemas.microsoft.com/office/drawing/2014/main" id="{EF0F2233-C1DA-DC3C-977B-89CAB353B3AA}"/>
              </a:ext>
            </a:extLst>
          </p:cNvPr>
          <p:cNvPicPr>
            <a:picLocks noChangeAspect="1"/>
          </p:cNvPicPr>
          <p:nvPr userDrawn="1"/>
        </p:nvPicPr>
        <p:blipFill>
          <a:blip r:embed="rId4"/>
          <a:stretch>
            <a:fillRect/>
          </a:stretch>
        </p:blipFill>
        <p:spPr>
          <a:xfrm>
            <a:off x="10415751" y="457200"/>
            <a:ext cx="1315997" cy="333421"/>
          </a:xfrm>
          <a:prstGeom prst="rect">
            <a:avLst/>
          </a:prstGeom>
        </p:spPr>
      </p:pic>
    </p:spTree>
    <p:extLst>
      <p:ext uri="{BB962C8B-B14F-4D97-AF65-F5344CB8AC3E}">
        <p14:creationId xmlns:p14="http://schemas.microsoft.com/office/powerpoint/2010/main" val="27641277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IGHLIGHTS">
    <p:spTree>
      <p:nvGrpSpPr>
        <p:cNvPr id="1" name=""/>
        <p:cNvGrpSpPr/>
        <p:nvPr/>
      </p:nvGrpSpPr>
      <p:grpSpPr>
        <a:xfrm>
          <a:off x="0" y="0"/>
          <a:ext cx="0" cy="0"/>
          <a:chOff x="0" y="0"/>
          <a:chExt cx="0" cy="0"/>
        </a:xfrm>
      </p:grpSpPr>
      <p:pic>
        <p:nvPicPr>
          <p:cNvPr id="2" name="Picture 1" descr="A blue and grey square&#10;&#10;AI-generated content may be incorrect.">
            <a:extLst>
              <a:ext uri="{FF2B5EF4-FFF2-40B4-BE49-F238E27FC236}">
                <a16:creationId xmlns:a16="http://schemas.microsoft.com/office/drawing/2014/main" id="{524E236F-CC73-E2D0-C020-8D995727944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p:nvPr>
        </p:nvSpPr>
        <p:spPr>
          <a:xfrm>
            <a:off x="864973" y="1960256"/>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p:nvPr>
        </p:nvSpPr>
        <p:spPr>
          <a:xfrm>
            <a:off x="864973" y="3643093"/>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8" name="Text Placeholder 13">
            <a:extLst>
              <a:ext uri="{FF2B5EF4-FFF2-40B4-BE49-F238E27FC236}">
                <a16:creationId xmlns:a16="http://schemas.microsoft.com/office/drawing/2014/main" id="{6D94F9F4-274D-B690-9371-0E5B46109201}"/>
              </a:ext>
            </a:extLst>
          </p:cNvPr>
          <p:cNvSpPr>
            <a:spLocks noGrp="1"/>
          </p:cNvSpPr>
          <p:nvPr>
            <p:ph type="body" sz="quarter" idx="23"/>
          </p:nvPr>
        </p:nvSpPr>
        <p:spPr>
          <a:xfrm>
            <a:off x="864973" y="2799164"/>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9" name="Text Placeholder 13">
            <a:extLst>
              <a:ext uri="{FF2B5EF4-FFF2-40B4-BE49-F238E27FC236}">
                <a16:creationId xmlns:a16="http://schemas.microsoft.com/office/drawing/2014/main" id="{E6E582D6-6481-778E-C4B6-82C6FC97D280}"/>
              </a:ext>
            </a:extLst>
          </p:cNvPr>
          <p:cNvSpPr>
            <a:spLocks noGrp="1"/>
          </p:cNvSpPr>
          <p:nvPr>
            <p:ph type="body" sz="quarter" idx="24"/>
          </p:nvPr>
        </p:nvSpPr>
        <p:spPr>
          <a:xfrm>
            <a:off x="864973" y="4482001"/>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7" name="Picture Placeholder 6">
            <a:extLst>
              <a:ext uri="{FF2B5EF4-FFF2-40B4-BE49-F238E27FC236}">
                <a16:creationId xmlns:a16="http://schemas.microsoft.com/office/drawing/2014/main" id="{3B5274B7-679A-8613-5BC3-023EF3052A36}"/>
              </a:ext>
            </a:extLst>
          </p:cNvPr>
          <p:cNvSpPr>
            <a:spLocks noGrp="1"/>
          </p:cNvSpPr>
          <p:nvPr>
            <p:ph type="pic" sz="quarter" idx="28"/>
          </p:nvPr>
        </p:nvSpPr>
        <p:spPr>
          <a:xfrm>
            <a:off x="6270625" y="1517515"/>
            <a:ext cx="5143500" cy="3657600"/>
          </a:xfrm>
          <a:solidFill>
            <a:srgbClr val="A5EFBF">
              <a:alpha val="49821"/>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4" name="Title 3">
            <a:extLst>
              <a:ext uri="{FF2B5EF4-FFF2-40B4-BE49-F238E27FC236}">
                <a16:creationId xmlns:a16="http://schemas.microsoft.com/office/drawing/2014/main" id="{E059A8AE-FA6A-9E41-D199-5D700F8750AF}"/>
              </a:ext>
            </a:extLst>
          </p:cNvPr>
          <p:cNvSpPr>
            <a:spLocks noGrp="1"/>
          </p:cNvSpPr>
          <p:nvPr>
            <p:ph type="title"/>
          </p:nvPr>
        </p:nvSpPr>
        <p:spPr>
          <a:xfrm>
            <a:off x="402110" y="492028"/>
            <a:ext cx="11329638" cy="804672"/>
          </a:xfrm>
        </p:spPr>
        <p:txBody>
          <a:bodyPr/>
          <a:lstStyle/>
          <a:p>
            <a:endParaRPr lang="en-US"/>
          </a:p>
        </p:txBody>
      </p:sp>
    </p:spTree>
    <p:extLst>
      <p:ext uri="{BB962C8B-B14F-4D97-AF65-F5344CB8AC3E}">
        <p14:creationId xmlns:p14="http://schemas.microsoft.com/office/powerpoint/2010/main" val="175920214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COL MIXE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49224" y="1346073"/>
            <a:ext cx="5843016"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50392" y="1580163"/>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3" name="Picture Placeholder 4">
            <a:extLst>
              <a:ext uri="{FF2B5EF4-FFF2-40B4-BE49-F238E27FC236}">
                <a16:creationId xmlns:a16="http://schemas.microsoft.com/office/drawing/2014/main" id="{73CE8AA2-1ED4-00D8-F3A4-6E085E753FE3}"/>
              </a:ext>
            </a:extLst>
          </p:cNvPr>
          <p:cNvSpPr>
            <a:spLocks noGrp="1"/>
          </p:cNvSpPr>
          <p:nvPr>
            <p:ph type="pic" sz="quarter" idx="16"/>
          </p:nvPr>
        </p:nvSpPr>
        <p:spPr>
          <a:xfrm>
            <a:off x="6492240" y="1342236"/>
            <a:ext cx="5047488" cy="4297680"/>
          </a:xfrm>
          <a:solidFill>
            <a:srgbClr val="A5EFBF">
              <a:alpha val="50016"/>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24" name="Text Placeholder 13">
            <a:extLst>
              <a:ext uri="{FF2B5EF4-FFF2-40B4-BE49-F238E27FC236}">
                <a16:creationId xmlns:a16="http://schemas.microsoft.com/office/drawing/2014/main" id="{77249610-5178-9FDD-8DC2-AAD1391462B3}"/>
              </a:ext>
            </a:extLst>
          </p:cNvPr>
          <p:cNvSpPr>
            <a:spLocks noGrp="1"/>
          </p:cNvSpPr>
          <p:nvPr>
            <p:ph type="body" sz="quarter" idx="17"/>
          </p:nvPr>
        </p:nvSpPr>
        <p:spPr>
          <a:xfrm>
            <a:off x="3776472" y="1580163"/>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3" name="Title 2">
            <a:extLst>
              <a:ext uri="{FF2B5EF4-FFF2-40B4-BE49-F238E27FC236}">
                <a16:creationId xmlns:a16="http://schemas.microsoft.com/office/drawing/2014/main" id="{DD52571E-88FD-10EE-A2C6-754293C0DC78}"/>
              </a:ext>
            </a:extLst>
          </p:cNvPr>
          <p:cNvSpPr>
            <a:spLocks noGrp="1"/>
          </p:cNvSpPr>
          <p:nvPr>
            <p:ph type="title"/>
          </p:nvPr>
        </p:nvSpPr>
        <p:spPr>
          <a:xfrm>
            <a:off x="402110" y="492027"/>
            <a:ext cx="11329638" cy="804672"/>
          </a:xfrm>
        </p:spPr>
        <p:txBody>
          <a:bodyPr/>
          <a:lstStyle/>
          <a:p>
            <a:endParaRPr lang="en-US"/>
          </a:p>
        </p:txBody>
      </p:sp>
      <p:cxnSp>
        <p:nvCxnSpPr>
          <p:cNvPr id="5" name="Straight Connector 4">
            <a:extLst>
              <a:ext uri="{FF2B5EF4-FFF2-40B4-BE49-F238E27FC236}">
                <a16:creationId xmlns:a16="http://schemas.microsoft.com/office/drawing/2014/main" id="{E6BB2486-B7E2-2B4A-1796-A7E1717418CE}"/>
              </a:ext>
            </a:extLst>
          </p:cNvPr>
          <p:cNvCxnSpPr>
            <a:cxnSpLocks/>
          </p:cNvCxnSpPr>
          <p:nvPr userDrawn="1"/>
        </p:nvCxnSpPr>
        <p:spPr>
          <a:xfrm>
            <a:off x="3549289" y="1580163"/>
            <a:ext cx="0" cy="3749039"/>
          </a:xfrm>
          <a:prstGeom prst="line">
            <a:avLst/>
          </a:prstGeom>
          <a:ln>
            <a:solidFill>
              <a:schemeClr val="bg1">
                <a:alpha val="75096"/>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9335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COL MIX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4315968"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7973568"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649224"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60C0E5AE-E763-B624-A79D-1CCA08C94A64}"/>
              </a:ext>
            </a:extLst>
          </p:cNvPr>
          <p:cNvSpPr>
            <a:spLocks noGrp="1"/>
          </p:cNvSpPr>
          <p:nvPr>
            <p:ph type="pic" sz="quarter" idx="11"/>
          </p:nvPr>
        </p:nvSpPr>
        <p:spPr>
          <a:xfrm>
            <a:off x="832104"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Picture Placeholder 4">
            <a:extLst>
              <a:ext uri="{FF2B5EF4-FFF2-40B4-BE49-F238E27FC236}">
                <a16:creationId xmlns:a16="http://schemas.microsoft.com/office/drawing/2014/main" id="{2AB57776-502D-C872-42C9-3E3CE4333A21}"/>
              </a:ext>
            </a:extLst>
          </p:cNvPr>
          <p:cNvSpPr>
            <a:spLocks noGrp="1"/>
          </p:cNvSpPr>
          <p:nvPr>
            <p:ph type="pic" sz="quarter" idx="12"/>
          </p:nvPr>
        </p:nvSpPr>
        <p:spPr>
          <a:xfrm>
            <a:off x="4495800"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8C8E3307-DCC6-156B-3901-30E8E5F97F42}"/>
              </a:ext>
            </a:extLst>
          </p:cNvPr>
          <p:cNvSpPr>
            <a:spLocks noGrp="1"/>
          </p:cNvSpPr>
          <p:nvPr>
            <p:ph type="pic" sz="quarter" idx="13"/>
          </p:nvPr>
        </p:nvSpPr>
        <p:spPr>
          <a:xfrm>
            <a:off x="8156448"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32104"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4495800"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8156448"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7" name="Title 6">
            <a:extLst>
              <a:ext uri="{FF2B5EF4-FFF2-40B4-BE49-F238E27FC236}">
                <a16:creationId xmlns:a16="http://schemas.microsoft.com/office/drawing/2014/main" id="{84689C92-8851-0117-5163-F217DA8C9D35}"/>
              </a:ext>
            </a:extLst>
          </p:cNvPr>
          <p:cNvSpPr>
            <a:spLocks noGrp="1"/>
          </p:cNvSpPr>
          <p:nvPr>
            <p:ph type="title"/>
          </p:nvPr>
        </p:nvSpPr>
        <p:spPr>
          <a:xfrm>
            <a:off x="402110" y="492028"/>
            <a:ext cx="11329638" cy="804672"/>
          </a:xfrm>
        </p:spPr>
        <p:txBody>
          <a:bodyPr/>
          <a:lstStyle/>
          <a:p>
            <a:endParaRPr lang="en-US"/>
          </a:p>
        </p:txBody>
      </p:sp>
    </p:spTree>
    <p:extLst>
      <p:ext uri="{BB962C8B-B14F-4D97-AF65-F5344CB8AC3E}">
        <p14:creationId xmlns:p14="http://schemas.microsoft.com/office/powerpoint/2010/main" val="344231739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COL MIX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3306928"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6211746"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30EBCB-CFCE-201F-955D-E252D246E802}"/>
              </a:ext>
            </a:extLst>
          </p:cNvPr>
          <p:cNvSpPr/>
          <p:nvPr userDrawn="1"/>
        </p:nvSpPr>
        <p:spPr>
          <a:xfrm>
            <a:off x="9116564"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402110"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60C0E5AE-E763-B624-A79D-1CCA08C94A64}"/>
              </a:ext>
            </a:extLst>
          </p:cNvPr>
          <p:cNvSpPr>
            <a:spLocks noGrp="1"/>
          </p:cNvSpPr>
          <p:nvPr>
            <p:ph type="pic" sz="quarter" idx="11"/>
          </p:nvPr>
        </p:nvSpPr>
        <p:spPr>
          <a:xfrm>
            <a:off x="566702"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Picture Placeholder 4">
            <a:extLst>
              <a:ext uri="{FF2B5EF4-FFF2-40B4-BE49-F238E27FC236}">
                <a16:creationId xmlns:a16="http://schemas.microsoft.com/office/drawing/2014/main" id="{2AB57776-502D-C872-42C9-3E3CE4333A21}"/>
              </a:ext>
            </a:extLst>
          </p:cNvPr>
          <p:cNvSpPr>
            <a:spLocks noGrp="1"/>
          </p:cNvSpPr>
          <p:nvPr>
            <p:ph type="pic" sz="quarter" idx="12"/>
          </p:nvPr>
        </p:nvSpPr>
        <p:spPr>
          <a:xfrm>
            <a:off x="3478485"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8C8E3307-DCC6-156B-3901-30E8E5F97F42}"/>
              </a:ext>
            </a:extLst>
          </p:cNvPr>
          <p:cNvSpPr>
            <a:spLocks noGrp="1"/>
          </p:cNvSpPr>
          <p:nvPr>
            <p:ph type="pic" sz="quarter" idx="13"/>
          </p:nvPr>
        </p:nvSpPr>
        <p:spPr>
          <a:xfrm>
            <a:off x="6358308"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7" name="Picture Placeholder 4">
            <a:extLst>
              <a:ext uri="{FF2B5EF4-FFF2-40B4-BE49-F238E27FC236}">
                <a16:creationId xmlns:a16="http://schemas.microsoft.com/office/drawing/2014/main" id="{2297C1E0-0407-DD10-8E51-CDCC6D0EB569}"/>
              </a:ext>
            </a:extLst>
          </p:cNvPr>
          <p:cNvSpPr>
            <a:spLocks noGrp="1"/>
          </p:cNvSpPr>
          <p:nvPr>
            <p:ph type="pic" sz="quarter" idx="14"/>
          </p:nvPr>
        </p:nvSpPr>
        <p:spPr>
          <a:xfrm>
            <a:off x="9281156"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566702"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3478485"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358308"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1" name="Text Placeholder 13">
            <a:extLst>
              <a:ext uri="{FF2B5EF4-FFF2-40B4-BE49-F238E27FC236}">
                <a16:creationId xmlns:a16="http://schemas.microsoft.com/office/drawing/2014/main" id="{C2DFA204-BAD7-7D75-D24E-452D9A532AD5}"/>
              </a:ext>
            </a:extLst>
          </p:cNvPr>
          <p:cNvSpPr>
            <a:spLocks noGrp="1"/>
          </p:cNvSpPr>
          <p:nvPr>
            <p:ph type="body" sz="quarter" idx="18"/>
          </p:nvPr>
        </p:nvSpPr>
        <p:spPr>
          <a:xfrm>
            <a:off x="9281156"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2" name="Title 11">
            <a:extLst>
              <a:ext uri="{FF2B5EF4-FFF2-40B4-BE49-F238E27FC236}">
                <a16:creationId xmlns:a16="http://schemas.microsoft.com/office/drawing/2014/main" id="{4997C2CC-41A2-BC8E-5F1C-6E00E82B39D8}"/>
              </a:ext>
            </a:extLst>
          </p:cNvPr>
          <p:cNvSpPr>
            <a:spLocks noGrp="1"/>
          </p:cNvSpPr>
          <p:nvPr>
            <p:ph type="title"/>
          </p:nvPr>
        </p:nvSpPr>
        <p:spPr>
          <a:xfrm>
            <a:off x="402110" y="492028"/>
            <a:ext cx="11329638" cy="804672"/>
          </a:xfrm>
        </p:spPr>
        <p:txBody>
          <a:bodyPr/>
          <a:lstStyle/>
          <a:p>
            <a:endParaRPr lang="en-US"/>
          </a:p>
        </p:txBody>
      </p:sp>
    </p:spTree>
    <p:extLst>
      <p:ext uri="{BB962C8B-B14F-4D97-AF65-F5344CB8AC3E}">
        <p14:creationId xmlns:p14="http://schemas.microsoft.com/office/powerpoint/2010/main" val="313885533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ROFILE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C96B32D9-F8CD-542A-2195-7D4080183F9E}"/>
              </a:ext>
            </a:extLst>
          </p:cNvPr>
          <p:cNvSpPr>
            <a:spLocks noGrp="1"/>
          </p:cNvSpPr>
          <p:nvPr>
            <p:ph type="pic" sz="quarter" idx="11"/>
          </p:nvPr>
        </p:nvSpPr>
        <p:spPr>
          <a:xfrm>
            <a:off x="1315442"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4" name="Picture Placeholder 4">
            <a:extLst>
              <a:ext uri="{FF2B5EF4-FFF2-40B4-BE49-F238E27FC236}">
                <a16:creationId xmlns:a16="http://schemas.microsoft.com/office/drawing/2014/main" id="{7004F6B9-BCB9-ED24-F5EE-BBBA9CECD9F8}"/>
              </a:ext>
            </a:extLst>
          </p:cNvPr>
          <p:cNvSpPr>
            <a:spLocks noGrp="1"/>
          </p:cNvSpPr>
          <p:nvPr>
            <p:ph type="pic" sz="quarter" idx="12"/>
          </p:nvPr>
        </p:nvSpPr>
        <p:spPr>
          <a:xfrm>
            <a:off x="3897379"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3B4A5297-598E-E3C8-0A95-51540BC3D260}"/>
              </a:ext>
            </a:extLst>
          </p:cNvPr>
          <p:cNvSpPr>
            <a:spLocks noGrp="1"/>
          </p:cNvSpPr>
          <p:nvPr>
            <p:ph type="pic" sz="quarter" idx="13"/>
          </p:nvPr>
        </p:nvSpPr>
        <p:spPr>
          <a:xfrm>
            <a:off x="6479316"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7" name="Picture Placeholder 4">
            <a:extLst>
              <a:ext uri="{FF2B5EF4-FFF2-40B4-BE49-F238E27FC236}">
                <a16:creationId xmlns:a16="http://schemas.microsoft.com/office/drawing/2014/main" id="{E7B78071-5E94-8078-4AD2-0AE8834DEAB9}"/>
              </a:ext>
            </a:extLst>
          </p:cNvPr>
          <p:cNvSpPr>
            <a:spLocks noGrp="1"/>
          </p:cNvSpPr>
          <p:nvPr>
            <p:ph type="pic" sz="quarter" idx="14"/>
          </p:nvPr>
        </p:nvSpPr>
        <p:spPr>
          <a:xfrm>
            <a:off x="9061254"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A0A893A3-72C6-A8CF-AB7E-ED43F26A18DB}"/>
              </a:ext>
            </a:extLst>
          </p:cNvPr>
          <p:cNvSpPr>
            <a:spLocks noGrp="1"/>
          </p:cNvSpPr>
          <p:nvPr>
            <p:ph type="body" sz="quarter" idx="15" hasCustomPrompt="1"/>
          </p:nvPr>
        </p:nvSpPr>
        <p:spPr>
          <a:xfrm>
            <a:off x="852727"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hasCustomPrompt="1"/>
          </p:nvPr>
        </p:nvSpPr>
        <p:spPr>
          <a:xfrm>
            <a:off x="852727"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16" name="Text Placeholder 13">
            <a:extLst>
              <a:ext uri="{FF2B5EF4-FFF2-40B4-BE49-F238E27FC236}">
                <a16:creationId xmlns:a16="http://schemas.microsoft.com/office/drawing/2014/main" id="{58854FFC-2A65-06A1-12DD-C2777EFB103C}"/>
              </a:ext>
            </a:extLst>
          </p:cNvPr>
          <p:cNvSpPr>
            <a:spLocks noGrp="1"/>
          </p:cNvSpPr>
          <p:nvPr>
            <p:ph type="body" sz="quarter" idx="17" hasCustomPrompt="1"/>
          </p:nvPr>
        </p:nvSpPr>
        <p:spPr>
          <a:xfrm>
            <a:off x="3434664"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hasCustomPrompt="1"/>
          </p:nvPr>
        </p:nvSpPr>
        <p:spPr>
          <a:xfrm>
            <a:off x="3434664"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18" name="Text Placeholder 13">
            <a:extLst>
              <a:ext uri="{FF2B5EF4-FFF2-40B4-BE49-F238E27FC236}">
                <a16:creationId xmlns:a16="http://schemas.microsoft.com/office/drawing/2014/main" id="{42F73FA2-C232-05D4-4B8C-ACE371E4B843}"/>
              </a:ext>
            </a:extLst>
          </p:cNvPr>
          <p:cNvSpPr>
            <a:spLocks noGrp="1"/>
          </p:cNvSpPr>
          <p:nvPr>
            <p:ph type="body" sz="quarter" idx="19" hasCustomPrompt="1"/>
          </p:nvPr>
        </p:nvSpPr>
        <p:spPr>
          <a:xfrm>
            <a:off x="6016601"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9" name="Text Placeholder 13">
            <a:extLst>
              <a:ext uri="{FF2B5EF4-FFF2-40B4-BE49-F238E27FC236}">
                <a16:creationId xmlns:a16="http://schemas.microsoft.com/office/drawing/2014/main" id="{3A5DBFD9-96F8-94D0-529B-2B5E24342EA7}"/>
              </a:ext>
            </a:extLst>
          </p:cNvPr>
          <p:cNvSpPr>
            <a:spLocks noGrp="1"/>
          </p:cNvSpPr>
          <p:nvPr>
            <p:ph type="body" sz="quarter" idx="20" hasCustomPrompt="1"/>
          </p:nvPr>
        </p:nvSpPr>
        <p:spPr>
          <a:xfrm>
            <a:off x="6016601"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20" name="Text Placeholder 13">
            <a:extLst>
              <a:ext uri="{FF2B5EF4-FFF2-40B4-BE49-F238E27FC236}">
                <a16:creationId xmlns:a16="http://schemas.microsoft.com/office/drawing/2014/main" id="{6DBE7ACC-CAA4-1F8B-5784-8A7C4DB08D46}"/>
              </a:ext>
            </a:extLst>
          </p:cNvPr>
          <p:cNvSpPr>
            <a:spLocks noGrp="1"/>
          </p:cNvSpPr>
          <p:nvPr>
            <p:ph type="body" sz="quarter" idx="21" hasCustomPrompt="1"/>
          </p:nvPr>
        </p:nvSpPr>
        <p:spPr>
          <a:xfrm>
            <a:off x="8598539"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21" name="Text Placeholder 13">
            <a:extLst>
              <a:ext uri="{FF2B5EF4-FFF2-40B4-BE49-F238E27FC236}">
                <a16:creationId xmlns:a16="http://schemas.microsoft.com/office/drawing/2014/main" id="{A71A8F6A-A550-86DB-BEF7-D9A808A01C43}"/>
              </a:ext>
            </a:extLst>
          </p:cNvPr>
          <p:cNvSpPr>
            <a:spLocks noGrp="1"/>
          </p:cNvSpPr>
          <p:nvPr>
            <p:ph type="body" sz="quarter" idx="22" hasCustomPrompt="1"/>
          </p:nvPr>
        </p:nvSpPr>
        <p:spPr>
          <a:xfrm>
            <a:off x="8598539"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Tree>
    <p:extLst>
      <p:ext uri="{BB962C8B-B14F-4D97-AF65-F5344CB8AC3E}">
        <p14:creationId xmlns:p14="http://schemas.microsoft.com/office/powerpoint/2010/main" val="36096860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FULL PIC">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C54E264-2E68-0859-A429-BDAC7C8826B9}"/>
              </a:ext>
            </a:extLst>
          </p:cNvPr>
          <p:cNvSpPr>
            <a:spLocks noGrp="1"/>
          </p:cNvSpPr>
          <p:nvPr>
            <p:ph type="pic" idx="1"/>
          </p:nvPr>
        </p:nvSpPr>
        <p:spPr>
          <a:xfrm>
            <a:off x="0" y="0"/>
            <a:ext cx="12191999" cy="6858000"/>
          </a:xfrm>
          <a:solidFill>
            <a:srgbClr val="A5EFBF">
              <a:alpha val="49884"/>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7" name="Slide Number Placeholder 6">
            <a:extLst>
              <a:ext uri="{FF2B5EF4-FFF2-40B4-BE49-F238E27FC236}">
                <a16:creationId xmlns:a16="http://schemas.microsoft.com/office/drawing/2014/main" id="{5CEA0256-834D-1158-7BFE-3BB66AB3ACD8}"/>
              </a:ext>
            </a:extLst>
          </p:cNvPr>
          <p:cNvSpPr>
            <a:spLocks noGrp="1"/>
          </p:cNvSpPr>
          <p:nvPr>
            <p:ph type="sldNum" sz="quarter" idx="12"/>
          </p:nvPr>
        </p:nvSpPr>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40997503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2" name="Graphic 1">
            <a:extLst>
              <a:ext uri="{FF2B5EF4-FFF2-40B4-BE49-F238E27FC236}">
                <a16:creationId xmlns:a16="http://schemas.microsoft.com/office/drawing/2014/main" id="{8F53EAEA-39FB-5B87-7263-2C114FEFF040}"/>
              </a:ext>
            </a:extLst>
          </p:cNvPr>
          <p:cNvPicPr>
            <a:picLocks noChangeAspect="1"/>
          </p:cNvPicPr>
          <p:nvPr userDrawn="1"/>
        </p:nvPicPr>
        <p:blipFill>
          <a:blip r:embed="rId3"/>
          <a:srcRect/>
          <a:stretch/>
        </p:blipFill>
        <p:spPr>
          <a:xfrm>
            <a:off x="4856245" y="2183735"/>
            <a:ext cx="2479509" cy="2490530"/>
          </a:xfrm>
          <a:prstGeom prst="rect">
            <a:avLst/>
          </a:prstGeom>
          <a:effectLst/>
        </p:spPr>
      </p:pic>
    </p:spTree>
    <p:extLst>
      <p:ext uri="{BB962C8B-B14F-4D97-AF65-F5344CB8AC3E}">
        <p14:creationId xmlns:p14="http://schemas.microsoft.com/office/powerpoint/2010/main" val="270574246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blank" preserve="1">
  <p:cSld name="1_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4" name="Picture 3" descr="A blue and black logo&#10;&#10;AI-generated content may be incorrect.">
            <a:extLst>
              <a:ext uri="{FF2B5EF4-FFF2-40B4-BE49-F238E27FC236}">
                <a16:creationId xmlns:a16="http://schemas.microsoft.com/office/drawing/2014/main" id="{998306C0-7B5B-AB98-EC2E-C89EC1D1A8F9}"/>
              </a:ext>
            </a:extLst>
          </p:cNvPr>
          <p:cNvPicPr>
            <a:picLocks noChangeAspect="1"/>
          </p:cNvPicPr>
          <p:nvPr userDrawn="1"/>
        </p:nvPicPr>
        <p:blipFill>
          <a:blip r:embed="rId3"/>
          <a:stretch>
            <a:fillRect/>
          </a:stretch>
        </p:blipFill>
        <p:spPr>
          <a:xfrm>
            <a:off x="2919977" y="2624326"/>
            <a:ext cx="6352045" cy="1609347"/>
          </a:xfrm>
          <a:prstGeom prst="rect">
            <a:avLst/>
          </a:prstGeom>
        </p:spPr>
      </p:pic>
    </p:spTree>
    <p:extLst>
      <p:ext uri="{BB962C8B-B14F-4D97-AF65-F5344CB8AC3E}">
        <p14:creationId xmlns:p14="http://schemas.microsoft.com/office/powerpoint/2010/main" val="96392834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FD5C82-2B6A-9AA6-4865-DCCB468D4BC5}"/>
              </a:ext>
            </a:extLst>
          </p:cNvPr>
          <p:cNvSpPr>
            <a:spLocks noGrp="1"/>
          </p:cNvSpPr>
          <p:nvPr>
            <p:ph type="sldNum" sz="quarter" idx="10"/>
          </p:nvPr>
        </p:nvSpPr>
        <p:spPr/>
        <p:txBody>
          <a:bodyPr/>
          <a:lstStyle/>
          <a:p>
            <a:fld id="{A1371F83-EA4D-3B47-99B9-95D90583DC1D}" type="slidenum">
              <a:rPr lang="en-US" smtClean="0"/>
              <a:pPr/>
              <a:t>‹#›</a:t>
            </a:fld>
            <a:endParaRPr lang="en-US"/>
          </a:p>
        </p:txBody>
      </p:sp>
    </p:spTree>
    <p:extLst>
      <p:ext uri="{BB962C8B-B14F-4D97-AF65-F5344CB8AC3E}">
        <p14:creationId xmlns:p14="http://schemas.microsoft.com/office/powerpoint/2010/main" val="27539797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over No Imag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F75F61-2287-D7E7-AD82-03153BB900E0}"/>
              </a:ext>
            </a:extLst>
          </p:cNvPr>
          <p:cNvPicPr>
            <a:picLocks noChangeAspect="1"/>
          </p:cNvPicPr>
          <p:nvPr userDrawn="1"/>
        </p:nvPicPr>
        <p:blipFill>
          <a:blip r:embed="rId2"/>
          <a:srcRect/>
          <a:stretch/>
        </p:blipFill>
        <p:spPr>
          <a:xfrm>
            <a:off x="458530" y="462713"/>
            <a:ext cx="11274939" cy="5932574"/>
          </a:xfrm>
          <a:prstGeom prst="rect">
            <a:avLst/>
          </a:prstGeom>
        </p:spPr>
      </p:pic>
      <p:pic>
        <p:nvPicPr>
          <p:cNvPr id="19" name="Graphic 18">
            <a:extLst>
              <a:ext uri="{FF2B5EF4-FFF2-40B4-BE49-F238E27FC236}">
                <a16:creationId xmlns:a16="http://schemas.microsoft.com/office/drawing/2014/main" id="{1DFD2D1D-3ADB-0050-2627-4DDDD1607E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7200" y="457200"/>
            <a:ext cx="868683" cy="868683"/>
          </a:xfrm>
          <a:prstGeom prst="rect">
            <a:avLst/>
          </a:prstGeom>
        </p:spPr>
      </p:pic>
      <p:sp>
        <p:nvSpPr>
          <p:cNvPr id="3" name="Content Placeholder 2">
            <a:extLst>
              <a:ext uri="{FF2B5EF4-FFF2-40B4-BE49-F238E27FC236}">
                <a16:creationId xmlns:a16="http://schemas.microsoft.com/office/drawing/2014/main" id="{3FA7034E-0EB8-678B-611F-573F36D3C2CD}"/>
              </a:ext>
            </a:extLst>
          </p:cNvPr>
          <p:cNvSpPr>
            <a:spLocks noGrp="1"/>
          </p:cNvSpPr>
          <p:nvPr>
            <p:ph idx="14" hasCustomPrompt="1"/>
          </p:nvPr>
        </p:nvSpPr>
        <p:spPr>
          <a:xfrm>
            <a:off x="5300132" y="4408061"/>
            <a:ext cx="5969000" cy="364204"/>
          </a:xfrm>
          <a:prstGeom prst="rect">
            <a:avLst/>
          </a:prstGeom>
        </p:spPr>
        <p:txBody>
          <a:bodyPr lIns="0" tIns="0" rIns="0" bIns="0" anchor="b" anchorCtr="0"/>
          <a:lstStyle>
            <a:lvl1pPr marL="0" indent="0">
              <a:lnSpc>
                <a:spcPct val="120000"/>
              </a:lnSpc>
              <a:spcBef>
                <a:spcPts val="600"/>
              </a:spcBef>
              <a:buNone/>
              <a:defRPr sz="1600">
                <a:solidFill>
                  <a:schemeClr val="tx1"/>
                </a:solidFill>
                <a:latin typeface="+mj-lt"/>
              </a:defRPr>
            </a:lvl1pPr>
            <a:lvl2pPr marL="457200" indent="0">
              <a:lnSpc>
                <a:spcPct val="120000"/>
              </a:lnSpc>
              <a:spcBef>
                <a:spcPts val="600"/>
              </a:spcBef>
              <a:buFont typeface="Arial" panose="020B0604020202020204" pitchFamily="34" charset="0"/>
              <a:buNone/>
              <a:defRPr sz="1800">
                <a:solidFill>
                  <a:schemeClr val="accent3"/>
                </a:solidFill>
              </a:defRPr>
            </a:lvl2pPr>
            <a:lvl3pPr marL="914400" indent="0">
              <a:lnSpc>
                <a:spcPct val="120000"/>
              </a:lnSpc>
              <a:spcBef>
                <a:spcPts val="600"/>
              </a:spcBef>
              <a:buNone/>
              <a:defRPr sz="1600"/>
            </a:lvl3pPr>
            <a:lvl4pPr marL="1371600" indent="0">
              <a:lnSpc>
                <a:spcPct val="120000"/>
              </a:lnSpc>
              <a:spcBef>
                <a:spcPts val="600"/>
              </a:spcBef>
              <a:buNone/>
              <a:defRPr sz="1400"/>
            </a:lvl4pPr>
            <a:lvl5pPr marL="1828800" indent="0">
              <a:lnSpc>
                <a:spcPct val="120000"/>
              </a:lnSpc>
              <a:spcBef>
                <a:spcPts val="600"/>
              </a:spcBef>
              <a:buNone/>
              <a:defRPr sz="1400"/>
            </a:lvl5pPr>
          </a:lstStyle>
          <a:p>
            <a:pPr lvl="0"/>
            <a:r>
              <a:rPr lang="en-US"/>
              <a:t>Optional Subheading</a:t>
            </a:r>
          </a:p>
        </p:txBody>
      </p:sp>
      <p:sp>
        <p:nvSpPr>
          <p:cNvPr id="4" name="Title 1">
            <a:extLst>
              <a:ext uri="{FF2B5EF4-FFF2-40B4-BE49-F238E27FC236}">
                <a16:creationId xmlns:a16="http://schemas.microsoft.com/office/drawing/2014/main" id="{3B14B21E-98B1-E57D-4A00-0F38F24ADDC0}"/>
              </a:ext>
            </a:extLst>
          </p:cNvPr>
          <p:cNvSpPr>
            <a:spLocks noGrp="1"/>
          </p:cNvSpPr>
          <p:nvPr>
            <p:ph type="title" hasCustomPrompt="1"/>
          </p:nvPr>
        </p:nvSpPr>
        <p:spPr>
          <a:xfrm>
            <a:off x="5300132" y="2870648"/>
            <a:ext cx="5969000" cy="1354217"/>
          </a:xfrm>
          <a:prstGeom prst="rect">
            <a:avLst/>
          </a:prstGeom>
        </p:spPr>
        <p:txBody>
          <a:bodyPr lIns="0" tIns="0" rIns="0" bIns="0" anchor="b" anchorCtr="0"/>
          <a:lstStyle>
            <a:lvl1pPr marL="0" indent="0">
              <a:lnSpc>
                <a:spcPct val="100000"/>
              </a:lnSpc>
              <a:tabLst>
                <a:tab pos="2225675" algn="l"/>
              </a:tabLst>
              <a:defRPr sz="4400">
                <a:solidFill>
                  <a:schemeClr val="tx1"/>
                </a:solidFill>
              </a:defRPr>
            </a:lvl1pPr>
          </a:lstStyle>
          <a:p>
            <a:r>
              <a:rPr lang="en-US"/>
              <a:t>Presentation</a:t>
            </a:r>
            <a:br>
              <a:rPr lang="en-US"/>
            </a:br>
            <a:r>
              <a:rPr lang="en-US"/>
              <a:t>Heading</a:t>
            </a:r>
          </a:p>
        </p:txBody>
      </p:sp>
      <p:sp>
        <p:nvSpPr>
          <p:cNvPr id="5" name="Content Placeholder 2">
            <a:extLst>
              <a:ext uri="{FF2B5EF4-FFF2-40B4-BE49-F238E27FC236}">
                <a16:creationId xmlns:a16="http://schemas.microsoft.com/office/drawing/2014/main" id="{8E86221C-59C6-093A-D248-6D5255DF9984}"/>
              </a:ext>
            </a:extLst>
          </p:cNvPr>
          <p:cNvSpPr>
            <a:spLocks noGrp="1"/>
          </p:cNvSpPr>
          <p:nvPr>
            <p:ph idx="15" hasCustomPrompt="1"/>
          </p:nvPr>
        </p:nvSpPr>
        <p:spPr>
          <a:xfrm>
            <a:off x="5300132" y="4878902"/>
            <a:ext cx="5969000" cy="158763"/>
          </a:xfrm>
          <a:prstGeom prst="rect">
            <a:avLst/>
          </a:prstGeom>
        </p:spPr>
        <p:txBody>
          <a:bodyPr lIns="0" tIns="0" rIns="0" bIns="0" anchor="b" anchorCtr="0"/>
          <a:lstStyle>
            <a:lvl1pPr marL="0" indent="0">
              <a:lnSpc>
                <a:spcPct val="120000"/>
              </a:lnSpc>
              <a:spcBef>
                <a:spcPts val="600"/>
              </a:spcBef>
              <a:buNone/>
              <a:defRPr sz="1050">
                <a:solidFill>
                  <a:schemeClr val="tx1"/>
                </a:solidFill>
              </a:defRPr>
            </a:lvl1pPr>
            <a:lvl2pPr marL="457200" indent="0">
              <a:lnSpc>
                <a:spcPct val="120000"/>
              </a:lnSpc>
              <a:spcBef>
                <a:spcPts val="600"/>
              </a:spcBef>
              <a:buFont typeface="Arial" panose="020B0604020202020204" pitchFamily="34" charset="0"/>
              <a:buNone/>
              <a:defRPr sz="1800">
                <a:solidFill>
                  <a:schemeClr val="accent3"/>
                </a:solidFill>
              </a:defRPr>
            </a:lvl2pPr>
            <a:lvl3pPr marL="914400" indent="0">
              <a:lnSpc>
                <a:spcPct val="120000"/>
              </a:lnSpc>
              <a:spcBef>
                <a:spcPts val="600"/>
              </a:spcBef>
              <a:buNone/>
              <a:defRPr sz="1600"/>
            </a:lvl3pPr>
            <a:lvl4pPr marL="1371600" indent="0">
              <a:lnSpc>
                <a:spcPct val="120000"/>
              </a:lnSpc>
              <a:spcBef>
                <a:spcPts val="600"/>
              </a:spcBef>
              <a:buNone/>
              <a:defRPr sz="1400"/>
            </a:lvl4pPr>
            <a:lvl5pPr marL="1828800" indent="0">
              <a:lnSpc>
                <a:spcPct val="120000"/>
              </a:lnSpc>
              <a:spcBef>
                <a:spcPts val="600"/>
              </a:spcBef>
              <a:buNone/>
              <a:defRPr sz="1400"/>
            </a:lvl5pPr>
          </a:lstStyle>
          <a:p>
            <a:pPr lvl="0"/>
            <a:r>
              <a:rPr lang="en-US"/>
              <a:t>Date</a:t>
            </a:r>
          </a:p>
        </p:txBody>
      </p:sp>
    </p:spTree>
    <p:extLst>
      <p:ext uri="{BB962C8B-B14F-4D97-AF65-F5344CB8AC3E}">
        <p14:creationId xmlns:p14="http://schemas.microsoft.com/office/powerpoint/2010/main" val="1826603208"/>
      </p:ext>
    </p:extLst>
  </p:cSld>
  <p:clrMapOvr>
    <a:masterClrMapping/>
  </p:clrMapOvr>
  <p:extLst>
    <p:ext uri="{DCECCB84-F9BA-43D5-87BE-67443E8EF086}">
      <p15:sldGuideLst xmlns:p15="http://schemas.microsoft.com/office/powerpoint/2012/main">
        <p15:guide id="1" pos="3360">
          <p15:clr>
            <a:srgbClr val="A4A3A4"/>
          </p15:clr>
        </p15:guide>
        <p15:guide id="2" pos="7104">
          <p15:clr>
            <a:srgbClr val="A4A3A4"/>
          </p15:clr>
        </p15:guide>
        <p15:guide id="3" orient="horz" pos="1344">
          <p15:clr>
            <a:srgbClr val="A4A3A4"/>
          </p15:clr>
        </p15:guide>
        <p15:guide id="4" orient="horz" pos="3744">
          <p15:clr>
            <a:srgbClr val="A4A3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Blank">
    <p:bg>
      <p:bgPr>
        <a:gradFill>
          <a:gsLst>
            <a:gs pos="83000">
              <a:srgbClr val="8FC3FF"/>
            </a:gs>
            <a:gs pos="100000">
              <a:srgbClr val="80BAFF"/>
            </a:gs>
            <a:gs pos="26000">
              <a:srgbClr val="A9D4FF"/>
            </a:gs>
          </a:gsLst>
          <a:path path="circle">
            <a:fillToRect l="50000" t="50000" r="50000" b="50000"/>
          </a:path>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210081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Blank">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027319"/>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40801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46671-891F-05B5-E76C-0E97C7654478}"/>
              </a:ext>
            </a:extLst>
          </p:cNvPr>
          <p:cNvSpPr>
            <a:spLocks noGrp="1"/>
          </p:cNvSpPr>
          <p:nvPr>
            <p:ph type="title" hasCustomPrompt="1"/>
          </p:nvPr>
        </p:nvSpPr>
        <p:spPr>
          <a:xfrm>
            <a:off x="439946" y="381000"/>
            <a:ext cx="11294854" cy="496033"/>
          </a:xfrm>
        </p:spPr>
        <p:txBody>
          <a:bodyPr wrap="square">
            <a:noAutofit/>
          </a:bodyPr>
          <a:lstStyle>
            <a:lvl1pPr>
              <a:spcBef>
                <a:spcPts val="800"/>
              </a:spcBef>
              <a:defRPr sz="3200">
                <a:solidFill>
                  <a:schemeClr val="tx1"/>
                </a:solidFill>
              </a:defRPr>
            </a:lvl1pPr>
          </a:lstStyle>
          <a:p>
            <a:r>
              <a:rPr lang="en-US"/>
              <a:t>Main heading</a:t>
            </a:r>
          </a:p>
        </p:txBody>
      </p:sp>
      <p:sp>
        <p:nvSpPr>
          <p:cNvPr id="3" name="Content Placeholder 2">
            <a:extLst>
              <a:ext uri="{FF2B5EF4-FFF2-40B4-BE49-F238E27FC236}">
                <a16:creationId xmlns:a16="http://schemas.microsoft.com/office/drawing/2014/main" id="{6C62AF48-D0E9-35B2-E289-CB02A3E2F065}"/>
              </a:ext>
            </a:extLst>
          </p:cNvPr>
          <p:cNvSpPr>
            <a:spLocks noGrp="1"/>
          </p:cNvSpPr>
          <p:nvPr>
            <p:ph idx="1"/>
          </p:nvPr>
        </p:nvSpPr>
        <p:spPr>
          <a:xfrm>
            <a:off x="457200" y="1714500"/>
            <a:ext cx="11277600" cy="4114800"/>
          </a:xfrm>
          <a:prstGeom prst="rect">
            <a:avLst/>
          </a:prstGeom>
        </p:spPr>
        <p:txBody>
          <a:bodyPr/>
          <a:lstStyle>
            <a:lvl1pPr>
              <a:lnSpc>
                <a:spcPct val="120000"/>
              </a:lnSpc>
              <a:spcBef>
                <a:spcPts val="600"/>
              </a:spcBef>
              <a:defRPr sz="2000">
                <a:solidFill>
                  <a:srgbClr val="000000"/>
                </a:solidFill>
              </a:defRPr>
            </a:lvl1pPr>
            <a:lvl2pPr marL="685800" indent="-228600">
              <a:lnSpc>
                <a:spcPct val="120000"/>
              </a:lnSpc>
              <a:spcBef>
                <a:spcPts val="600"/>
              </a:spcBef>
              <a:buFont typeface="System Font Regular"/>
              <a:buChar char="⎼"/>
              <a:defRPr sz="1800">
                <a:solidFill>
                  <a:srgbClr val="000000"/>
                </a:solidFill>
              </a:defRPr>
            </a:lvl2pPr>
            <a:lvl3pPr>
              <a:lnSpc>
                <a:spcPct val="120000"/>
              </a:lnSpc>
              <a:spcBef>
                <a:spcPts val="600"/>
              </a:spcBef>
              <a:defRPr sz="1600">
                <a:solidFill>
                  <a:srgbClr val="000000"/>
                </a:solidFill>
              </a:defRPr>
            </a:lvl3pPr>
            <a:lvl4pPr marL="1600200" indent="-228600">
              <a:lnSpc>
                <a:spcPct val="120000"/>
              </a:lnSpc>
              <a:spcBef>
                <a:spcPts val="600"/>
              </a:spcBef>
              <a:buFont typeface="System Font Regular"/>
              <a:buChar char="⎼"/>
              <a:defRPr sz="1400">
                <a:solidFill>
                  <a:srgbClr val="000000"/>
                </a:solidFill>
              </a:defRPr>
            </a:lvl4pPr>
            <a:lvl5pPr>
              <a:lnSpc>
                <a:spcPct val="120000"/>
              </a:lnSpc>
              <a:spcBef>
                <a:spcPts val="600"/>
              </a:spcBef>
              <a:defRPr sz="1400">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9D31BAC0-BC8B-E413-6089-9DD81A14F6B4}"/>
              </a:ext>
            </a:extLst>
          </p:cNvPr>
          <p:cNvSpPr>
            <a:spLocks noGrp="1"/>
          </p:cNvSpPr>
          <p:nvPr>
            <p:ph type="body" sz="quarter" idx="12" hasCustomPrompt="1"/>
          </p:nvPr>
        </p:nvSpPr>
        <p:spPr>
          <a:xfrm>
            <a:off x="439946" y="953242"/>
            <a:ext cx="11294854" cy="496033"/>
          </a:xfrm>
          <a:prstGeom prst="rect">
            <a:avLst/>
          </a:prstGeom>
        </p:spPr>
        <p:txBody>
          <a:bodyPr wrap="square">
            <a:noAutofit/>
          </a:bodyPr>
          <a:lstStyle>
            <a:lvl1pPr marL="0" indent="0">
              <a:lnSpc>
                <a:spcPct val="110000"/>
              </a:lnSpc>
              <a:spcBef>
                <a:spcPts val="800"/>
              </a:spcBef>
              <a:spcAft>
                <a:spcPts val="0"/>
              </a:spcAft>
              <a:buNone/>
              <a:defRPr sz="2200" spc="0">
                <a:solidFill>
                  <a:schemeClr val="tx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subheading or intro line</a:t>
            </a:r>
          </a:p>
        </p:txBody>
      </p:sp>
    </p:spTree>
    <p:extLst>
      <p:ext uri="{BB962C8B-B14F-4D97-AF65-F5344CB8AC3E}">
        <p14:creationId xmlns:p14="http://schemas.microsoft.com/office/powerpoint/2010/main" val="1660493126"/>
      </p:ext>
    </p:extLst>
  </p:cSld>
  <p:clrMapOvr>
    <a:masterClrMapping/>
  </p:clrMapOvr>
  <p:extLst>
    <p:ext uri="{DCECCB84-F9BA-43D5-87BE-67443E8EF086}">
      <p15:sldGuideLst xmlns:p15="http://schemas.microsoft.com/office/powerpoint/2012/main">
        <p15:guide id="1" orient="horz" pos="1080">
          <p15:clr>
            <a:srgbClr val="A4A3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609806" y="1488141"/>
            <a:ext cx="5038854" cy="4233390"/>
          </a:xfrm>
        </p:spPr>
        <p:txBody>
          <a:bodyPr lIns="0" anchor="t" anchorCtr="0"/>
          <a:lstStyle>
            <a:lvl1pPr algn="l">
              <a:defRPr sz="44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pic>
        <p:nvPicPr>
          <p:cNvPr id="3" name="Picture 2" descr="A blue and grey square&#10;&#10;AI-generated content may be incorrect.">
            <a:extLst>
              <a:ext uri="{FF2B5EF4-FFF2-40B4-BE49-F238E27FC236}">
                <a16:creationId xmlns:a16="http://schemas.microsoft.com/office/drawing/2014/main" id="{CDBA8C77-70CA-13DB-6585-126480192E47}"/>
              </a:ext>
            </a:extLst>
          </p:cNvPr>
          <p:cNvPicPr>
            <a:picLocks noChangeAspect="1"/>
          </p:cNvPicPr>
          <p:nvPr userDrawn="1"/>
        </p:nvPicPr>
        <p:blipFill>
          <a:blip r:embed="rId2">
            <a:alphaModFix amt="70000"/>
          </a:blip>
          <a:stretch>
            <a:fillRect/>
          </a:stretch>
        </p:blipFill>
        <p:spPr>
          <a:xfrm>
            <a:off x="0" y="616857"/>
            <a:ext cx="6265333" cy="6241143"/>
          </a:xfrm>
          <a:prstGeom prst="rect">
            <a:avLst/>
          </a:prstGeom>
        </p:spPr>
      </p:pic>
    </p:spTree>
    <p:extLst>
      <p:ext uri="{BB962C8B-B14F-4D97-AF65-F5344CB8AC3E}">
        <p14:creationId xmlns:p14="http://schemas.microsoft.com/office/powerpoint/2010/main" val="416644047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78766" y="2485075"/>
            <a:ext cx="10834468" cy="943925"/>
          </a:xfrm>
        </p:spPr>
        <p:txBody>
          <a:bodyPr lIns="0" anchor="t" anchorCtr="0"/>
          <a:lstStyle>
            <a:lvl1pPr algn="ctr">
              <a:defRPr sz="50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241930868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COL TEXT A">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marL="0" indent="0">
              <a:buNone/>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8" name="Title 7">
            <a:extLst>
              <a:ext uri="{FF2B5EF4-FFF2-40B4-BE49-F238E27FC236}">
                <a16:creationId xmlns:a16="http://schemas.microsoft.com/office/drawing/2014/main" id="{55693EF2-8722-D131-EA6A-161C518F1622}"/>
              </a:ext>
            </a:extLst>
          </p:cNvPr>
          <p:cNvSpPr>
            <a:spLocks noGrp="1"/>
          </p:cNvSpPr>
          <p:nvPr>
            <p:ph type="title"/>
          </p:nvPr>
        </p:nvSpPr>
        <p:spPr>
          <a:xfrm>
            <a:off x="6665369" y="493776"/>
            <a:ext cx="4754880" cy="1219201"/>
          </a:xfrm>
        </p:spPr>
        <p:txBody>
          <a:bodyPr/>
          <a:lstStyle/>
          <a:p>
            <a:endParaRPr lang="en-US"/>
          </a:p>
        </p:txBody>
      </p:sp>
    </p:spTree>
    <p:extLst>
      <p:ext uri="{BB962C8B-B14F-4D97-AF65-F5344CB8AC3E}">
        <p14:creationId xmlns:p14="http://schemas.microsoft.com/office/powerpoint/2010/main" val="6288483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COL TEXT B">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5" name="Title 4">
            <a:extLst>
              <a:ext uri="{FF2B5EF4-FFF2-40B4-BE49-F238E27FC236}">
                <a16:creationId xmlns:a16="http://schemas.microsoft.com/office/drawing/2014/main" id="{2D529423-01B6-FD0F-9F4A-0764671527B0}"/>
              </a:ext>
            </a:extLst>
          </p:cNvPr>
          <p:cNvSpPr>
            <a:spLocks noGrp="1"/>
          </p:cNvSpPr>
          <p:nvPr>
            <p:ph type="title"/>
          </p:nvPr>
        </p:nvSpPr>
        <p:spPr>
          <a:xfrm>
            <a:off x="6665369" y="493776"/>
            <a:ext cx="4754880" cy="1219200"/>
          </a:xfrm>
        </p:spPr>
        <p:txBody>
          <a:bodyPr/>
          <a:lstStyle/>
          <a:p>
            <a:endParaRPr lang="en-US"/>
          </a:p>
        </p:txBody>
      </p:sp>
    </p:spTree>
    <p:extLst>
      <p:ext uri="{BB962C8B-B14F-4D97-AF65-F5344CB8AC3E}">
        <p14:creationId xmlns:p14="http://schemas.microsoft.com/office/powerpoint/2010/main" val="17830449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57200" y="493776"/>
            <a:ext cx="5029200" cy="2487168"/>
          </a:xfrm>
        </p:spPr>
        <p:txBody>
          <a:bodyPr/>
          <a:lstStyle>
            <a:lvl1pPr>
              <a:defRPr sz="3600">
                <a:solidFill>
                  <a:srgbClr val="000A62"/>
                </a:solidFill>
              </a:defRPr>
            </a:lvl1pPr>
          </a:lstStyle>
          <a:p>
            <a:endParaRPr lang="en-US"/>
          </a:p>
        </p:txBody>
      </p:sp>
    </p:spTree>
    <p:extLst>
      <p:ext uri="{BB962C8B-B14F-4D97-AF65-F5344CB8AC3E}">
        <p14:creationId xmlns:p14="http://schemas.microsoft.com/office/powerpoint/2010/main" val="18483051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pic>
        <p:nvPicPr>
          <p:cNvPr id="2" name="Graphic 1">
            <a:extLst>
              <a:ext uri="{FF2B5EF4-FFF2-40B4-BE49-F238E27FC236}">
                <a16:creationId xmlns:a16="http://schemas.microsoft.com/office/drawing/2014/main" id="{8F53EAEA-39FB-5B87-7263-2C114FEFF040}"/>
              </a:ext>
            </a:extLst>
          </p:cNvPr>
          <p:cNvPicPr>
            <a:picLocks noChangeAspect="1"/>
          </p:cNvPicPr>
          <p:nvPr userDrawn="1"/>
        </p:nvPicPr>
        <p:blipFill>
          <a:blip r:embed="rId3"/>
          <a:srcRect/>
          <a:stretch/>
        </p:blipFill>
        <p:spPr>
          <a:xfrm>
            <a:off x="4856245" y="2183735"/>
            <a:ext cx="2479509" cy="2490530"/>
          </a:xfrm>
          <a:prstGeom prst="rect">
            <a:avLst/>
          </a:prstGeom>
          <a:effectLst/>
        </p:spPr>
      </p:pic>
    </p:spTree>
    <p:extLst>
      <p:ext uri="{BB962C8B-B14F-4D97-AF65-F5344CB8AC3E}">
        <p14:creationId xmlns:p14="http://schemas.microsoft.com/office/powerpoint/2010/main" val="26685877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blank" preserve="1">
  <p:cSld name="1_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pic>
        <p:nvPicPr>
          <p:cNvPr id="4" name="Picture 3" descr="A blue and black logo&#10;&#10;AI-generated content may be incorrect.">
            <a:extLst>
              <a:ext uri="{FF2B5EF4-FFF2-40B4-BE49-F238E27FC236}">
                <a16:creationId xmlns:a16="http://schemas.microsoft.com/office/drawing/2014/main" id="{998306C0-7B5B-AB98-EC2E-C89EC1D1A8F9}"/>
              </a:ext>
            </a:extLst>
          </p:cNvPr>
          <p:cNvPicPr>
            <a:picLocks noChangeAspect="1"/>
          </p:cNvPicPr>
          <p:nvPr userDrawn="1"/>
        </p:nvPicPr>
        <p:blipFill>
          <a:blip r:embed="rId3"/>
          <a:stretch>
            <a:fillRect/>
          </a:stretch>
        </p:blipFill>
        <p:spPr>
          <a:xfrm>
            <a:off x="2919977" y="2624326"/>
            <a:ext cx="6352045" cy="1609347"/>
          </a:xfrm>
          <a:prstGeom prst="rect">
            <a:avLst/>
          </a:prstGeom>
        </p:spPr>
      </p:pic>
    </p:spTree>
    <p:extLst>
      <p:ext uri="{BB962C8B-B14F-4D97-AF65-F5344CB8AC3E}">
        <p14:creationId xmlns:p14="http://schemas.microsoft.com/office/powerpoint/2010/main" val="29624398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FD5C82-2B6A-9AA6-4865-DCCB468D4BC5}"/>
              </a:ext>
            </a:extLst>
          </p:cNvPr>
          <p:cNvSpPr>
            <a:spLocks noGrp="1"/>
          </p:cNvSpPr>
          <p:nvPr>
            <p:ph type="sldNum" sz="quarter" idx="10"/>
          </p:nvPr>
        </p:nvSpPr>
        <p:spPr>
          <a:xfrm>
            <a:off x="11650342" y="6232230"/>
            <a:ext cx="430079" cy="365125"/>
          </a:xfrm>
          <a:prstGeom prst="rect">
            <a:avLst/>
          </a:prstGeom>
        </p:spPr>
        <p:txBody>
          <a:bodyPr/>
          <a:lstStyle/>
          <a:p>
            <a:fld id="{A1371F83-EA4D-3B47-99B9-95D90583DC1D}" type="slidenum">
              <a:rPr lang="en-US" smtClean="0"/>
              <a:pPr/>
              <a:t>‹#›</a:t>
            </a:fld>
            <a:endParaRPr lang="en-US"/>
          </a:p>
        </p:txBody>
      </p:sp>
    </p:spTree>
    <p:extLst>
      <p:ext uri="{BB962C8B-B14F-4D97-AF65-F5344CB8AC3E}">
        <p14:creationId xmlns:p14="http://schemas.microsoft.com/office/powerpoint/2010/main" val="39182721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5" Type="http://schemas.openxmlformats.org/officeDocument/2006/relationships/image" Target="../media/image2.emf"/><Relationship Id="rId16"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slideLayout" Target="../slideLayouts/slideLayout26.xml"/><Relationship Id="rId15" Type="http://schemas.openxmlformats.org/officeDocument/2006/relationships/slideLayout" Target="../slideLayouts/slideLayout27.xml"/><Relationship Id="rId16" Type="http://schemas.openxmlformats.org/officeDocument/2006/relationships/slideLayout" Target="../slideLayouts/slideLayout28.xml"/><Relationship Id="rId17" Type="http://schemas.openxmlformats.org/officeDocument/2006/relationships/slideLayout" Target="../slideLayouts/slideLayout29.xml"/><Relationship Id="rId18" Type="http://schemas.openxmlformats.org/officeDocument/2006/relationships/slideLayout" Target="../slideLayouts/slideLayout30.xml"/><Relationship Id="rId19" Type="http://schemas.openxmlformats.org/officeDocument/2006/relationships/slideLayout" Target="../slideLayouts/slideLayout31.xml"/><Relationship Id="rId20" Type="http://schemas.openxmlformats.org/officeDocument/2006/relationships/slideLayout" Target="../slideLayouts/slideLayout32.xml"/><Relationship Id="rId21" Type="http://schemas.openxmlformats.org/officeDocument/2006/relationships/slideLayout" Target="../slideLayouts/slideLayout33.xml"/><Relationship Id="rId22" Type="http://schemas.openxmlformats.org/officeDocument/2006/relationships/slideLayout" Target="../slideLayouts/slideLayout34.xml"/><Relationship Id="rId23" Type="http://schemas.openxmlformats.org/officeDocument/2006/relationships/slideLayout" Target="../slideLayouts/slideLayout35.xml"/><Relationship Id="rId24" Type="http://schemas.openxmlformats.org/officeDocument/2006/relationships/slideLayout" Target="../slideLayouts/slideLayout36.xml"/><Relationship Id="rId25" Type="http://schemas.openxmlformats.org/officeDocument/2006/relationships/slideLayout" Target="../slideLayouts/slideLayout37.xml"/><Relationship Id="rId26" Type="http://schemas.openxmlformats.org/officeDocument/2006/relationships/slideLayout" Target="../slideLayouts/slideLayout38.xml"/><Relationship Id="rId27" Type="http://schemas.openxmlformats.org/officeDocument/2006/relationships/slideLayout" Target="../slideLayouts/slideLayout39.xml"/><Relationship Id="rId28" Type="http://schemas.openxmlformats.org/officeDocument/2006/relationships/slideLayout" Target="../slideLayouts/slideLayout40.xml"/><Relationship Id="rId29" Type="http://schemas.openxmlformats.org/officeDocument/2006/relationships/slideLayout" Target="../slideLayouts/slideLayout41.xml"/><Relationship Id="rId30" Type="http://schemas.openxmlformats.org/officeDocument/2006/relationships/slideLayout" Target="../slideLayouts/slideLayout42.xml"/><Relationship Id="rId31" Type="http://schemas.openxmlformats.org/officeDocument/2006/relationships/slideLayout" Target="../slideLayouts/slideLayout43.xml"/><Relationship Id="rId32" Type="http://schemas.openxmlformats.org/officeDocument/2006/relationships/theme" Target="../theme/theme2.xml"/><Relationship Id="rId33" Type="http://schemas.openxmlformats.org/officeDocument/2006/relationships/image" Target="../media/image4.png"/><Relationship Id="rId34" Type="http://schemas.openxmlformats.org/officeDocument/2006/relationships/image" Target="../media/image6.svg"/><Relationship Id="rId35" Type="http://schemas.openxmlformats.org/officeDocument/2006/relationships/image" Target="../media/image2.emf"/><Relationship Id="rId36"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 Id="rId9" Type="http://schemas.openxmlformats.org/officeDocument/2006/relationships/slideLayout" Target="../slideLayouts/slideLayout52.xml"/><Relationship Id="rId10" Type="http://schemas.openxmlformats.org/officeDocument/2006/relationships/theme" Target="../theme/theme3.xml"/><Relationship Id="rId11" Type="http://schemas.openxmlformats.org/officeDocument/2006/relationships/image" Target="../media/image2.emf"/><Relationship Id="rId12" Type="http://schemas.openxmlformats.org/officeDocument/2006/relationships/image" Target="../media/image6.svg"/><Relationship Id="rId13"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3000">
              <a:srgbClr val="73ACED"/>
            </a:gs>
            <a:gs pos="100000">
              <a:srgbClr val="699DD8"/>
            </a:gs>
            <a:gs pos="26000">
              <a:srgbClr val="9AC8FF"/>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627F9DBD-C578-1BC4-D502-322F3D2B8C73}"/>
              </a:ext>
            </a:extLst>
          </p:cNvPr>
          <p:cNvPicPr>
            <a:picLocks noChangeAspect="1"/>
          </p:cNvPicPr>
          <p:nvPr/>
        </p:nvPicPr>
        <p:blipFill>
          <a:blip r:embed="rId14"/>
          <a:srcRect/>
          <a:stretch/>
        </p:blipFill>
        <p:spPr>
          <a:xfrm>
            <a:off x="457200" y="6186192"/>
            <a:ext cx="455176" cy="457200"/>
          </a:xfrm>
          <a:prstGeom prst="rect">
            <a:avLst/>
          </a:prstGeom>
          <a:effectLst/>
        </p:spPr>
      </p:pic>
      <p:grpSp>
        <p:nvGrpSpPr>
          <p:cNvPr id="71" name="Cut Out" hidden="1">
            <a:extLst>
              <a:ext uri="{FF2B5EF4-FFF2-40B4-BE49-F238E27FC236}">
                <a16:creationId xmlns:a16="http://schemas.microsoft.com/office/drawing/2014/main" id="{645A4865-68ED-9412-B75A-3F8ACB57FB6E}"/>
              </a:ext>
            </a:extLst>
          </p:cNvPr>
          <p:cNvGrpSpPr/>
          <p:nvPr userDrawn="1"/>
        </p:nvGrpSpPr>
        <p:grpSpPr>
          <a:xfrm>
            <a:off x="-247316" y="391974"/>
            <a:ext cx="5968819" cy="6782282"/>
            <a:chOff x="-247316" y="391974"/>
            <a:chExt cx="5968819" cy="6782282"/>
          </a:xfrm>
        </p:grpSpPr>
        <p:sp>
          <p:nvSpPr>
            <p:cNvPr id="64" name="Freeform 63">
              <a:extLst>
                <a:ext uri="{FF2B5EF4-FFF2-40B4-BE49-F238E27FC236}">
                  <a16:creationId xmlns:a16="http://schemas.microsoft.com/office/drawing/2014/main" id="{6AAF9C22-8F00-F0CC-F430-DDD56142D83E}"/>
                </a:ext>
              </a:extLst>
            </p:cNvPr>
            <p:cNvSpPr/>
            <p:nvPr userDrawn="1"/>
          </p:nvSpPr>
          <p:spPr>
            <a:xfrm rot="20700000">
              <a:off x="4501782" y="391974"/>
              <a:ext cx="1219721" cy="6782282"/>
            </a:xfrm>
            <a:custGeom>
              <a:avLst/>
              <a:gdLst>
                <a:gd name="connsiteX0" fmla="*/ 1219721 w 1219721"/>
                <a:gd name="connsiteY0" fmla="*/ 0 h 6782282"/>
                <a:gd name="connsiteX1" fmla="*/ 1219720 w 1219721"/>
                <a:gd name="connsiteY1" fmla="*/ 6782282 h 6782282"/>
                <a:gd name="connsiteX2" fmla="*/ 0 w 1219721"/>
                <a:gd name="connsiteY2" fmla="*/ 6455459 h 6782282"/>
                <a:gd name="connsiteX3" fmla="*/ 0 w 1219721"/>
                <a:gd name="connsiteY3" fmla="*/ 1216910 h 6782282"/>
                <a:gd name="connsiteX4" fmla="*/ 1216910 w 1219721"/>
                <a:gd name="connsiteY4" fmla="*/ 0 h 6782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721" h="6782282">
                  <a:moveTo>
                    <a:pt x="1219721" y="0"/>
                  </a:moveTo>
                  <a:lnTo>
                    <a:pt x="1219720" y="6782282"/>
                  </a:lnTo>
                  <a:lnTo>
                    <a:pt x="0" y="6455459"/>
                  </a:lnTo>
                  <a:lnTo>
                    <a:pt x="0" y="1216910"/>
                  </a:lnTo>
                  <a:lnTo>
                    <a:pt x="121691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66">
              <a:extLst>
                <a:ext uri="{FF2B5EF4-FFF2-40B4-BE49-F238E27FC236}">
                  <a16:creationId xmlns:a16="http://schemas.microsoft.com/office/drawing/2014/main" id="{07F2DA9D-A2E1-6623-5534-DE193CE69237}"/>
                </a:ext>
              </a:extLst>
            </p:cNvPr>
            <p:cNvSpPr/>
            <p:nvPr userDrawn="1"/>
          </p:nvSpPr>
          <p:spPr>
            <a:xfrm rot="20700000">
              <a:off x="3086241" y="2413806"/>
              <a:ext cx="1219717" cy="4725406"/>
            </a:xfrm>
            <a:custGeom>
              <a:avLst/>
              <a:gdLst>
                <a:gd name="connsiteX0" fmla="*/ 1219717 w 1219717"/>
                <a:gd name="connsiteY0" fmla="*/ 0 h 4725406"/>
                <a:gd name="connsiteX1" fmla="*/ 1219717 w 1219717"/>
                <a:gd name="connsiteY1" fmla="*/ 4725406 h 4725406"/>
                <a:gd name="connsiteX2" fmla="*/ 0 w 1219717"/>
                <a:gd name="connsiteY2" fmla="*/ 4398584 h 4725406"/>
                <a:gd name="connsiteX3" fmla="*/ 0 w 1219717"/>
                <a:gd name="connsiteY3" fmla="*/ 1219718 h 4725406"/>
              </a:gdLst>
              <a:ahLst/>
              <a:cxnLst>
                <a:cxn ang="0">
                  <a:pos x="connsiteX0" y="connsiteY0"/>
                </a:cxn>
                <a:cxn ang="0">
                  <a:pos x="connsiteX1" y="connsiteY1"/>
                </a:cxn>
                <a:cxn ang="0">
                  <a:pos x="connsiteX2" y="connsiteY2"/>
                </a:cxn>
                <a:cxn ang="0">
                  <a:pos x="connsiteX3" y="connsiteY3"/>
                </a:cxn>
              </a:cxnLst>
              <a:rect l="l" t="t" r="r" b="b"/>
              <a:pathLst>
                <a:path w="1219717" h="4725406">
                  <a:moveTo>
                    <a:pt x="1219717" y="0"/>
                  </a:moveTo>
                  <a:lnTo>
                    <a:pt x="1219717" y="4725406"/>
                  </a:lnTo>
                  <a:lnTo>
                    <a:pt x="0" y="4398584"/>
                  </a:lnTo>
                  <a:lnTo>
                    <a:pt x="0" y="1219718"/>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69">
              <a:extLst>
                <a:ext uri="{FF2B5EF4-FFF2-40B4-BE49-F238E27FC236}">
                  <a16:creationId xmlns:a16="http://schemas.microsoft.com/office/drawing/2014/main" id="{507EE6BD-3353-5291-18D0-AE718EEBDDB9}"/>
                </a:ext>
              </a:extLst>
            </p:cNvPr>
            <p:cNvSpPr/>
            <p:nvPr userDrawn="1"/>
          </p:nvSpPr>
          <p:spPr>
            <a:xfrm rot="20700000">
              <a:off x="1675953" y="4431391"/>
              <a:ext cx="1219720" cy="2672853"/>
            </a:xfrm>
            <a:custGeom>
              <a:avLst/>
              <a:gdLst>
                <a:gd name="connsiteX0" fmla="*/ 1219720 w 1219720"/>
                <a:gd name="connsiteY0" fmla="*/ 0 h 2672853"/>
                <a:gd name="connsiteX1" fmla="*/ 1219720 w 1219720"/>
                <a:gd name="connsiteY1" fmla="*/ 2672853 h 2672853"/>
                <a:gd name="connsiteX2" fmla="*/ 0 w 1219720"/>
                <a:gd name="connsiteY2" fmla="*/ 2346030 h 2672853"/>
                <a:gd name="connsiteX3" fmla="*/ 0 w 1219720"/>
                <a:gd name="connsiteY3" fmla="*/ 1219720 h 2672853"/>
              </a:gdLst>
              <a:ahLst/>
              <a:cxnLst>
                <a:cxn ang="0">
                  <a:pos x="connsiteX0" y="connsiteY0"/>
                </a:cxn>
                <a:cxn ang="0">
                  <a:pos x="connsiteX1" y="connsiteY1"/>
                </a:cxn>
                <a:cxn ang="0">
                  <a:pos x="connsiteX2" y="connsiteY2"/>
                </a:cxn>
                <a:cxn ang="0">
                  <a:pos x="connsiteX3" y="connsiteY3"/>
                </a:cxn>
              </a:cxnLst>
              <a:rect l="l" t="t" r="r" b="b"/>
              <a:pathLst>
                <a:path w="1219720" h="2672853">
                  <a:moveTo>
                    <a:pt x="1219720" y="0"/>
                  </a:moveTo>
                  <a:lnTo>
                    <a:pt x="1219720" y="2672853"/>
                  </a:lnTo>
                  <a:lnTo>
                    <a:pt x="0" y="2346030"/>
                  </a:lnTo>
                  <a:lnTo>
                    <a:pt x="0" y="121972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56">
              <a:extLst>
                <a:ext uri="{FF2B5EF4-FFF2-40B4-BE49-F238E27FC236}">
                  <a16:creationId xmlns:a16="http://schemas.microsoft.com/office/drawing/2014/main" id="{7868CEA2-789D-E697-16FE-ACD6F7B6F760}"/>
                </a:ext>
              </a:extLst>
            </p:cNvPr>
            <p:cNvSpPr/>
            <p:nvPr userDrawn="1"/>
          </p:nvSpPr>
          <p:spPr>
            <a:xfrm rot="20700000">
              <a:off x="-247316" y="1017576"/>
              <a:ext cx="5315676" cy="1216909"/>
            </a:xfrm>
            <a:custGeom>
              <a:avLst/>
              <a:gdLst>
                <a:gd name="connsiteX0" fmla="*/ 5315676 w 5315676"/>
                <a:gd name="connsiteY0" fmla="*/ 0 h 1216909"/>
                <a:gd name="connsiteX1" fmla="*/ 4098766 w 5315676"/>
                <a:gd name="connsiteY1" fmla="*/ 1216909 h 1216909"/>
                <a:gd name="connsiteX2" fmla="*/ 4098766 w 5315676"/>
                <a:gd name="connsiteY2" fmla="*/ 1214099 h 1216909"/>
                <a:gd name="connsiteX3" fmla="*/ 0 w 5315676"/>
                <a:gd name="connsiteY3" fmla="*/ 1214099 h 1216909"/>
                <a:gd name="connsiteX4" fmla="*/ 325317 w 5315676"/>
                <a:gd name="connsiteY4" fmla="*/ 0 h 121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5676" h="1216909">
                  <a:moveTo>
                    <a:pt x="5315676" y="0"/>
                  </a:moveTo>
                  <a:lnTo>
                    <a:pt x="4098766" y="1216909"/>
                  </a:lnTo>
                  <a:lnTo>
                    <a:pt x="4098766" y="1214099"/>
                  </a:lnTo>
                  <a:lnTo>
                    <a:pt x="0" y="1214099"/>
                  </a:lnTo>
                  <a:lnTo>
                    <a:pt x="325317"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A355C7A9-C0A5-8D5F-EB91-F99F6596BF4C}"/>
                </a:ext>
              </a:extLst>
            </p:cNvPr>
            <p:cNvSpPr/>
            <p:nvPr userDrawn="1"/>
          </p:nvSpPr>
          <p:spPr>
            <a:xfrm rot="20700000">
              <a:off x="-226351" y="2847108"/>
              <a:ext cx="4127824" cy="1222528"/>
            </a:xfrm>
            <a:custGeom>
              <a:avLst/>
              <a:gdLst>
                <a:gd name="connsiteX0" fmla="*/ 4127824 w 4127824"/>
                <a:gd name="connsiteY0" fmla="*/ 0 h 1222528"/>
                <a:gd name="connsiteX1" fmla="*/ 4127824 w 4127824"/>
                <a:gd name="connsiteY1" fmla="*/ 2811 h 1222528"/>
                <a:gd name="connsiteX2" fmla="*/ 2908106 w 4127824"/>
                <a:gd name="connsiteY2" fmla="*/ 1222528 h 1222528"/>
                <a:gd name="connsiteX3" fmla="*/ 2908106 w 4127824"/>
                <a:gd name="connsiteY3" fmla="*/ 1214099 h 1222528"/>
                <a:gd name="connsiteX4" fmla="*/ 0 w 4127824"/>
                <a:gd name="connsiteY4" fmla="*/ 1214099 h 1222528"/>
                <a:gd name="connsiteX5" fmla="*/ 325317 w 4127824"/>
                <a:gd name="connsiteY5" fmla="*/ 0 h 122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824" h="1222528">
                  <a:moveTo>
                    <a:pt x="4127824" y="0"/>
                  </a:moveTo>
                  <a:lnTo>
                    <a:pt x="4127824" y="2811"/>
                  </a:lnTo>
                  <a:lnTo>
                    <a:pt x="2908106" y="1222528"/>
                  </a:lnTo>
                  <a:lnTo>
                    <a:pt x="2908106" y="1214099"/>
                  </a:lnTo>
                  <a:lnTo>
                    <a:pt x="0" y="1214099"/>
                  </a:lnTo>
                  <a:lnTo>
                    <a:pt x="325317"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1568EE0E-6087-7F47-4FC1-A508563439ED}"/>
                </a:ext>
              </a:extLst>
            </p:cNvPr>
            <p:cNvSpPr/>
            <p:nvPr userDrawn="1"/>
          </p:nvSpPr>
          <p:spPr>
            <a:xfrm rot="20700000">
              <a:off x="-206161" y="4676366"/>
              <a:ext cx="2942781" cy="1222530"/>
            </a:xfrm>
            <a:custGeom>
              <a:avLst/>
              <a:gdLst>
                <a:gd name="connsiteX0" fmla="*/ 2942781 w 2942781"/>
                <a:gd name="connsiteY0" fmla="*/ 0 h 1222530"/>
                <a:gd name="connsiteX1" fmla="*/ 2942781 w 2942781"/>
                <a:gd name="connsiteY1" fmla="*/ 2811 h 1222530"/>
                <a:gd name="connsiteX2" fmla="*/ 1723060 w 2942781"/>
                <a:gd name="connsiteY2" fmla="*/ 1222530 h 1222530"/>
                <a:gd name="connsiteX3" fmla="*/ 1723060 w 2942781"/>
                <a:gd name="connsiteY3" fmla="*/ 1214099 h 1222530"/>
                <a:gd name="connsiteX4" fmla="*/ 0 w 2942781"/>
                <a:gd name="connsiteY4" fmla="*/ 1214098 h 1222530"/>
                <a:gd name="connsiteX5" fmla="*/ 325316 w 2942781"/>
                <a:gd name="connsiteY5" fmla="*/ 0 h 122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2781" h="1222530">
                  <a:moveTo>
                    <a:pt x="2942781" y="0"/>
                  </a:moveTo>
                  <a:lnTo>
                    <a:pt x="2942781" y="2811"/>
                  </a:lnTo>
                  <a:lnTo>
                    <a:pt x="1723060" y="1222530"/>
                  </a:lnTo>
                  <a:lnTo>
                    <a:pt x="1723060" y="1214099"/>
                  </a:lnTo>
                  <a:lnTo>
                    <a:pt x="0" y="1214098"/>
                  </a:lnTo>
                  <a:lnTo>
                    <a:pt x="325316"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94D09C11-7276-B67A-A1A1-4C875D1ABA68}"/>
              </a:ext>
            </a:extLst>
          </p:cNvPr>
          <p:cNvSpPr>
            <a:spLocks noGrp="1"/>
          </p:cNvSpPr>
          <p:nvPr userDrawn="1">
            <p:ph type="title"/>
          </p:nvPr>
        </p:nvSpPr>
        <p:spPr>
          <a:xfrm>
            <a:off x="457200" y="493776"/>
            <a:ext cx="11275835" cy="804672"/>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64A7CC43-E171-1153-2B75-F702D7B914A8}"/>
              </a:ext>
            </a:extLst>
          </p:cNvPr>
          <p:cNvSpPr>
            <a:spLocks noGrp="1"/>
          </p:cNvSpPr>
          <p:nvPr userDrawn="1">
            <p:ph type="body" idx="1"/>
          </p:nvPr>
        </p:nvSpPr>
        <p:spPr>
          <a:xfrm>
            <a:off x="457201" y="1554480"/>
            <a:ext cx="11275834" cy="4247212"/>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hidden="1">
            <a:extLst>
              <a:ext uri="{FF2B5EF4-FFF2-40B4-BE49-F238E27FC236}">
                <a16:creationId xmlns:a16="http://schemas.microsoft.com/office/drawing/2014/main" id="{0BF76C95-9667-2357-762F-B7B15D7BA3E7}"/>
              </a:ext>
            </a:extLst>
          </p:cNvPr>
          <p:cNvPicPr>
            <a:picLocks noChangeAspect="1"/>
          </p:cNvPicPr>
          <p:nvPr userDrawn="1"/>
        </p:nvPicPr>
        <p:blipFill>
          <a:blip r:embed="rId15"/>
          <a:stretch>
            <a:fillRect/>
          </a:stretch>
        </p:blipFill>
        <p:spPr>
          <a:xfrm>
            <a:off x="199931" y="-813939"/>
            <a:ext cx="2208828" cy="563207"/>
          </a:xfrm>
          <a:prstGeom prst="rect">
            <a:avLst/>
          </a:prstGeom>
        </p:spPr>
      </p:pic>
      <p:grpSp>
        <p:nvGrpSpPr>
          <p:cNvPr id="38" name="Full Size" hidden="1">
            <a:extLst>
              <a:ext uri="{FF2B5EF4-FFF2-40B4-BE49-F238E27FC236}">
                <a16:creationId xmlns:a16="http://schemas.microsoft.com/office/drawing/2014/main" id="{CBF5D916-2559-D87A-6071-0827F3911641}"/>
              </a:ext>
            </a:extLst>
          </p:cNvPr>
          <p:cNvGrpSpPr/>
          <p:nvPr userDrawn="1"/>
        </p:nvGrpSpPr>
        <p:grpSpPr>
          <a:xfrm rot="-19800000">
            <a:off x="-13122649" y="-4850920"/>
            <a:ext cx="20342655" cy="21641432"/>
            <a:chOff x="-289533" y="-2834540"/>
            <a:chExt cx="9192657" cy="9779562"/>
          </a:xfrm>
        </p:grpSpPr>
        <p:sp>
          <p:nvSpPr>
            <p:cNvPr id="39" name="Freeform 38">
              <a:extLst>
                <a:ext uri="{FF2B5EF4-FFF2-40B4-BE49-F238E27FC236}">
                  <a16:creationId xmlns:a16="http://schemas.microsoft.com/office/drawing/2014/main" id="{09460502-8A0D-F9D8-E3FC-D3C35053B797}"/>
                </a:ext>
              </a:extLst>
            </p:cNvPr>
            <p:cNvSpPr/>
            <p:nvPr userDrawn="1"/>
          </p:nvSpPr>
          <p:spPr>
            <a:xfrm rot="18900000">
              <a:off x="8351944" y="-2834540"/>
              <a:ext cx="551180" cy="7708900"/>
            </a:xfrm>
            <a:custGeom>
              <a:avLst/>
              <a:gdLst>
                <a:gd name="connsiteX0" fmla="*/ 551180 w 551180"/>
                <a:gd name="connsiteY0" fmla="*/ 0 h 7708900"/>
                <a:gd name="connsiteX1" fmla="*/ 551180 w 551180"/>
                <a:gd name="connsiteY1" fmla="*/ 7708900 h 7708900"/>
                <a:gd name="connsiteX2" fmla="*/ 0 w 551180"/>
                <a:gd name="connsiteY2" fmla="*/ 7708900 h 7708900"/>
                <a:gd name="connsiteX3" fmla="*/ 0 w 551180"/>
                <a:gd name="connsiteY3" fmla="*/ 549910 h 7708900"/>
                <a:gd name="connsiteX4" fmla="*/ 549910 w 551180"/>
                <a:gd name="connsiteY4" fmla="*/ 0 h 7708900"/>
                <a:gd name="connsiteX5" fmla="*/ 551180 w 551180"/>
                <a:gd name="connsiteY5" fmla="*/ 0 h 770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180" h="7708900">
                  <a:moveTo>
                    <a:pt x="551180" y="0"/>
                  </a:moveTo>
                  <a:lnTo>
                    <a:pt x="551180" y="7708900"/>
                  </a:lnTo>
                  <a:lnTo>
                    <a:pt x="0" y="7708900"/>
                  </a:lnTo>
                  <a:lnTo>
                    <a:pt x="0" y="549910"/>
                  </a:lnTo>
                  <a:lnTo>
                    <a:pt x="549910" y="0"/>
                  </a:lnTo>
                  <a:lnTo>
                    <a:pt x="55118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5626CB4-BBEE-998F-0B0A-69DF05DFB1D9}"/>
                </a:ext>
              </a:extLst>
            </p:cNvPr>
            <p:cNvSpPr/>
            <p:nvPr userDrawn="1"/>
          </p:nvSpPr>
          <p:spPr>
            <a:xfrm rot="18900000">
              <a:off x="8350599" y="-1797133"/>
              <a:ext cx="551179" cy="7707629"/>
            </a:xfrm>
            <a:custGeom>
              <a:avLst/>
              <a:gdLst>
                <a:gd name="connsiteX0" fmla="*/ 551179 w 551179"/>
                <a:gd name="connsiteY0" fmla="*/ 0 h 7707629"/>
                <a:gd name="connsiteX1" fmla="*/ 551179 w 551179"/>
                <a:gd name="connsiteY1" fmla="*/ 7707629 h 7707629"/>
                <a:gd name="connsiteX2" fmla="*/ 0 w 551179"/>
                <a:gd name="connsiteY2" fmla="*/ 7707629 h 7707629"/>
                <a:gd name="connsiteX3" fmla="*/ 0 w 551179"/>
                <a:gd name="connsiteY3" fmla="*/ 551179 h 7707629"/>
                <a:gd name="connsiteX4" fmla="*/ 551179 w 551179"/>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79" h="7707629">
                  <a:moveTo>
                    <a:pt x="551179" y="0"/>
                  </a:moveTo>
                  <a:lnTo>
                    <a:pt x="551179" y="7707629"/>
                  </a:lnTo>
                  <a:lnTo>
                    <a:pt x="0" y="7707629"/>
                  </a:lnTo>
                  <a:lnTo>
                    <a:pt x="0" y="551179"/>
                  </a:lnTo>
                  <a:lnTo>
                    <a:pt x="551179" y="0"/>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0">
              <a:extLst>
                <a:ext uri="{FF2B5EF4-FFF2-40B4-BE49-F238E27FC236}">
                  <a16:creationId xmlns:a16="http://schemas.microsoft.com/office/drawing/2014/main" id="{6C2146AF-D932-DAFB-A40A-398827AB05D0}"/>
                </a:ext>
              </a:extLst>
            </p:cNvPr>
            <p:cNvSpPr/>
            <p:nvPr userDrawn="1"/>
          </p:nvSpPr>
          <p:spPr>
            <a:xfrm rot="18900000">
              <a:off x="8350597" y="-762607"/>
              <a:ext cx="551180" cy="7707629"/>
            </a:xfrm>
            <a:custGeom>
              <a:avLst/>
              <a:gdLst>
                <a:gd name="connsiteX0" fmla="*/ 551180 w 551180"/>
                <a:gd name="connsiteY0" fmla="*/ 0 h 7707629"/>
                <a:gd name="connsiteX1" fmla="*/ 551180 w 551180"/>
                <a:gd name="connsiteY1" fmla="*/ 7707629 h 7707629"/>
                <a:gd name="connsiteX2" fmla="*/ 0 w 551180"/>
                <a:gd name="connsiteY2" fmla="*/ 7707629 h 7707629"/>
                <a:gd name="connsiteX3" fmla="*/ 0 w 551180"/>
                <a:gd name="connsiteY3" fmla="*/ 551180 h 7707629"/>
                <a:gd name="connsiteX4" fmla="*/ 551180 w 551180"/>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80" h="7707629">
                  <a:moveTo>
                    <a:pt x="551180" y="0"/>
                  </a:moveTo>
                  <a:lnTo>
                    <a:pt x="551180" y="7707629"/>
                  </a:lnTo>
                  <a:lnTo>
                    <a:pt x="0" y="7707629"/>
                  </a:lnTo>
                  <a:lnTo>
                    <a:pt x="0" y="551180"/>
                  </a:lnTo>
                  <a:lnTo>
                    <a:pt x="551180" y="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F07F8016-2972-8815-07A3-91499D9D4BAE}"/>
                </a:ext>
              </a:extLst>
            </p:cNvPr>
            <p:cNvSpPr/>
            <p:nvPr userDrawn="1"/>
          </p:nvSpPr>
          <p:spPr>
            <a:xfrm rot="18900000">
              <a:off x="-288451" y="744955"/>
              <a:ext cx="7707630" cy="549910"/>
            </a:xfrm>
            <a:custGeom>
              <a:avLst/>
              <a:gdLst>
                <a:gd name="connsiteX0" fmla="*/ 7707630 w 7707630"/>
                <a:gd name="connsiteY0" fmla="*/ 0 h 549910"/>
                <a:gd name="connsiteX1" fmla="*/ 7157720 w 7707630"/>
                <a:gd name="connsiteY1" fmla="*/ 549910 h 549910"/>
                <a:gd name="connsiteX2" fmla="*/ 7157720 w 7707630"/>
                <a:gd name="connsiteY2" fmla="*/ 548640 h 549910"/>
                <a:gd name="connsiteX3" fmla="*/ 0 w 7707630"/>
                <a:gd name="connsiteY3" fmla="*/ 548640 h 549910"/>
                <a:gd name="connsiteX4" fmla="*/ 0 w 7707630"/>
                <a:gd name="connsiteY4" fmla="*/ 0 h 549910"/>
                <a:gd name="connsiteX5" fmla="*/ 7707630 w 7707630"/>
                <a:gd name="connsiteY5" fmla="*/ 0 h 54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630" h="549910">
                  <a:moveTo>
                    <a:pt x="7707630" y="0"/>
                  </a:moveTo>
                  <a:lnTo>
                    <a:pt x="7157720" y="549910"/>
                  </a:lnTo>
                  <a:lnTo>
                    <a:pt x="7157720" y="548640"/>
                  </a:lnTo>
                  <a:lnTo>
                    <a:pt x="0" y="548640"/>
                  </a:lnTo>
                  <a:lnTo>
                    <a:pt x="0" y="0"/>
                  </a:lnTo>
                  <a:lnTo>
                    <a:pt x="7707630"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2">
              <a:extLst>
                <a:ext uri="{FF2B5EF4-FFF2-40B4-BE49-F238E27FC236}">
                  <a16:creationId xmlns:a16="http://schemas.microsoft.com/office/drawing/2014/main" id="{82852362-83F5-9AD4-AD9F-53F2E0292D33}"/>
                </a:ext>
              </a:extLst>
            </p:cNvPr>
            <p:cNvSpPr/>
            <p:nvPr userDrawn="1"/>
          </p:nvSpPr>
          <p:spPr>
            <a:xfrm rot="18900000">
              <a:off x="-289533" y="1780457"/>
              <a:ext cx="7708899" cy="552449"/>
            </a:xfrm>
            <a:custGeom>
              <a:avLst/>
              <a:gdLst>
                <a:gd name="connsiteX0" fmla="*/ 7708899 w 7708899"/>
                <a:gd name="connsiteY0" fmla="*/ 0 h 552449"/>
                <a:gd name="connsiteX1" fmla="*/ 7708899 w 7708899"/>
                <a:gd name="connsiteY1" fmla="*/ 1270 h 552449"/>
                <a:gd name="connsiteX2" fmla="*/ 7157720 w 7708899"/>
                <a:gd name="connsiteY2" fmla="*/ 552449 h 552449"/>
                <a:gd name="connsiteX3" fmla="*/ 7157720 w 7708899"/>
                <a:gd name="connsiteY3" fmla="*/ 548640 h 552449"/>
                <a:gd name="connsiteX4" fmla="*/ 0 w 7708899"/>
                <a:gd name="connsiteY4" fmla="*/ 548640 h 552449"/>
                <a:gd name="connsiteX5" fmla="*/ 0 w 7708899"/>
                <a:gd name="connsiteY5" fmla="*/ 0 h 552449"/>
                <a:gd name="connsiteX6" fmla="*/ 7708899 w 7708899"/>
                <a:gd name="connsiteY6" fmla="*/ 0 h 552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49">
                  <a:moveTo>
                    <a:pt x="7708899" y="0"/>
                  </a:moveTo>
                  <a:lnTo>
                    <a:pt x="7708899" y="1270"/>
                  </a:lnTo>
                  <a:lnTo>
                    <a:pt x="7157720" y="552449"/>
                  </a:lnTo>
                  <a:lnTo>
                    <a:pt x="7157720" y="548640"/>
                  </a:lnTo>
                  <a:lnTo>
                    <a:pt x="0" y="548640"/>
                  </a:lnTo>
                  <a:lnTo>
                    <a:pt x="0" y="0"/>
                  </a:lnTo>
                  <a:lnTo>
                    <a:pt x="7708899"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3">
              <a:extLst>
                <a:ext uri="{FF2B5EF4-FFF2-40B4-BE49-F238E27FC236}">
                  <a16:creationId xmlns:a16="http://schemas.microsoft.com/office/drawing/2014/main" id="{E7216B24-9E3B-FE57-A75D-569327BB05D9}"/>
                </a:ext>
              </a:extLst>
            </p:cNvPr>
            <p:cNvSpPr/>
            <p:nvPr userDrawn="1"/>
          </p:nvSpPr>
          <p:spPr>
            <a:xfrm rot="18900000">
              <a:off x="-289533" y="2814982"/>
              <a:ext cx="7708899" cy="552450"/>
            </a:xfrm>
            <a:custGeom>
              <a:avLst/>
              <a:gdLst>
                <a:gd name="connsiteX0" fmla="*/ 7708899 w 7708899"/>
                <a:gd name="connsiteY0" fmla="*/ 0 h 552450"/>
                <a:gd name="connsiteX1" fmla="*/ 7708899 w 7708899"/>
                <a:gd name="connsiteY1" fmla="*/ 1270 h 552450"/>
                <a:gd name="connsiteX2" fmla="*/ 7157719 w 7708899"/>
                <a:gd name="connsiteY2" fmla="*/ 552450 h 552450"/>
                <a:gd name="connsiteX3" fmla="*/ 7157719 w 7708899"/>
                <a:gd name="connsiteY3" fmla="*/ 548640 h 552450"/>
                <a:gd name="connsiteX4" fmla="*/ 0 w 7708899"/>
                <a:gd name="connsiteY4" fmla="*/ 548640 h 552450"/>
                <a:gd name="connsiteX5" fmla="*/ 0 w 7708899"/>
                <a:gd name="connsiteY5" fmla="*/ 0 h 552450"/>
                <a:gd name="connsiteX6" fmla="*/ 7708899 w 7708899"/>
                <a:gd name="connsiteY6" fmla="*/ 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50">
                  <a:moveTo>
                    <a:pt x="7708899" y="0"/>
                  </a:moveTo>
                  <a:lnTo>
                    <a:pt x="7708899" y="1270"/>
                  </a:lnTo>
                  <a:lnTo>
                    <a:pt x="7157719" y="552450"/>
                  </a:lnTo>
                  <a:lnTo>
                    <a:pt x="7157719" y="548640"/>
                  </a:lnTo>
                  <a:lnTo>
                    <a:pt x="0" y="548640"/>
                  </a:lnTo>
                  <a:lnTo>
                    <a:pt x="0" y="0"/>
                  </a:lnTo>
                  <a:lnTo>
                    <a:pt x="7708899"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0" name="Rectangle 9">
            <a:extLst>
              <a:ext uri="{FF2B5EF4-FFF2-40B4-BE49-F238E27FC236}">
                <a16:creationId xmlns:a16="http://schemas.microsoft.com/office/drawing/2014/main" id="{F3B603B8-6657-DBEA-8218-6D5AF03436ED}"/>
              </a:ext>
            </a:extLst>
          </p:cNvPr>
          <p:cNvSpPr/>
          <p:nvPr userDrawn="1"/>
        </p:nvSpPr>
        <p:spPr>
          <a:xfrm>
            <a:off x="0" y="6128899"/>
            <a:ext cx="12192000" cy="559648"/>
          </a:xfrm>
          <a:prstGeom prst="rect">
            <a:avLst/>
          </a:prstGeom>
          <a:gradFill flip="none" rotWithShape="1">
            <a:gsLst>
              <a:gs pos="96000">
                <a:schemeClr val="bg1">
                  <a:alpha val="50000"/>
                </a:schemeClr>
              </a:gs>
              <a:gs pos="25000">
                <a:schemeClr val="bg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blue and black logo&#10;&#10;AI-generated content may be incorrect.">
            <a:extLst>
              <a:ext uri="{FF2B5EF4-FFF2-40B4-BE49-F238E27FC236}">
                <a16:creationId xmlns:a16="http://schemas.microsoft.com/office/drawing/2014/main" id="{16D4158C-5B8E-5DB6-2358-80EF43FEA6C9}"/>
              </a:ext>
            </a:extLst>
          </p:cNvPr>
          <p:cNvPicPr>
            <a:picLocks noChangeAspect="1"/>
          </p:cNvPicPr>
          <p:nvPr userDrawn="1"/>
        </p:nvPicPr>
        <p:blipFill>
          <a:blip r:embed="rId16"/>
          <a:stretch>
            <a:fillRect/>
          </a:stretch>
        </p:blipFill>
        <p:spPr>
          <a:xfrm>
            <a:off x="10064218" y="6251684"/>
            <a:ext cx="1239653" cy="314078"/>
          </a:xfrm>
          <a:prstGeom prst="rect">
            <a:avLst/>
          </a:prstGeom>
        </p:spPr>
      </p:pic>
      <p:sp>
        <p:nvSpPr>
          <p:cNvPr id="4" name="TextBox 3">
            <a:extLst>
              <a:ext uri="{FF2B5EF4-FFF2-40B4-BE49-F238E27FC236}">
                <a16:creationId xmlns:a16="http://schemas.microsoft.com/office/drawing/2014/main" id="{9C1E0DA9-3015-34A0-4456-518524F4A5A9}"/>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3754868560"/>
      </p:ext>
    </p:extLst>
  </p:cSld>
  <p:clrMap bg1="lt1" tx1="dk1" bg2="lt2" tx2="dk2" accent1="accent1" accent2="accent2" accent3="accent3" accent4="accent4" accent5="accent5" accent6="accent6" hlink="hlink" folHlink="folHlink"/>
  <p:sldLayoutIdLst>
    <p:sldLayoutId id="2147485857" r:id="rId1"/>
    <p:sldLayoutId id="2147486010" r:id="rId2"/>
    <p:sldLayoutId id="2147485862" r:id="rId3"/>
    <p:sldLayoutId id="2147485863" r:id="rId4"/>
    <p:sldLayoutId id="2147485865" r:id="rId5"/>
    <p:sldLayoutId id="2147485866" r:id="rId6"/>
    <p:sldLayoutId id="2147485873" r:id="rId7"/>
    <p:sldLayoutId id="2147485881" r:id="rId8"/>
    <p:sldLayoutId id="2147485882" r:id="rId9"/>
    <p:sldLayoutId id="2147485883" r:id="rId10"/>
    <p:sldLayoutId id="2147486060" r:id="rId11"/>
    <p:sldLayoutId id="2147486095" r:id="rId12"/>
  </p:sldLayoutIdLst>
  <p:hf hdr="0" ftr="0" dt="0"/>
  <p:txStyles>
    <p:titleStyle>
      <a:lvl1pPr algn="l" defTabSz="914400" rtl="0" eaLnBrk="1" latinLnBrk="0" hangingPunct="1">
        <a:lnSpc>
          <a:spcPct val="90000"/>
        </a:lnSpc>
        <a:spcBef>
          <a:spcPct val="0"/>
        </a:spcBef>
        <a:buNone/>
        <a:defRPr sz="3200" kern="1200">
          <a:solidFill>
            <a:srgbClr val="000A6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00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16">
          <p15:clr>
            <a:srgbClr val="F26B43"/>
          </p15:clr>
        </p15:guide>
        <p15:guide id="2" pos="396">
          <p15:clr>
            <a:srgbClr val="F26B43"/>
          </p15:clr>
        </p15:guide>
        <p15:guide id="3" pos="7287">
          <p15:clr>
            <a:srgbClr val="F26B43"/>
          </p15:clr>
        </p15:guide>
        <p15:guide id="4" orient="horz" pos="375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8000">
              <a:srgbClr val="80BAFF"/>
            </a:gs>
            <a:gs pos="25000">
              <a:srgbClr val="A9D4FF"/>
            </a:gs>
          </a:gsLst>
          <a:lin ang="5400000" scaled="0"/>
          <a:tileRect/>
        </a:gradFill>
        <a:effectLst/>
      </p:bgPr>
    </p:bg>
    <p:spTree>
      <p:nvGrpSpPr>
        <p:cNvPr id="1" name=""/>
        <p:cNvGrpSpPr/>
        <p:nvPr/>
      </p:nvGrpSpPr>
      <p:grpSpPr>
        <a:xfrm>
          <a:off x="0" y="0"/>
          <a:ext cx="0" cy="0"/>
          <a:chOff x="0" y="0"/>
          <a:chExt cx="0" cy="0"/>
        </a:xfrm>
      </p:grpSpPr>
      <p:pic>
        <p:nvPicPr>
          <p:cNvPr id="8" name="Picture 7" descr="A blue and grey square&#10;&#10;AI-generated content may be incorrect.">
            <a:extLst>
              <a:ext uri="{FF2B5EF4-FFF2-40B4-BE49-F238E27FC236}">
                <a16:creationId xmlns:a16="http://schemas.microsoft.com/office/drawing/2014/main" id="{1BAEFFD2-ADD9-0474-2C25-1F659BFAB753}"/>
              </a:ext>
            </a:extLst>
          </p:cNvPr>
          <p:cNvPicPr>
            <a:picLocks noChangeAspect="1"/>
          </p:cNvPicPr>
          <p:nvPr userDrawn="1"/>
        </p:nvPicPr>
        <p:blipFill>
          <a:blip r:embed="rId33">
            <a:alphaModFix amt="20000"/>
          </a:blip>
          <a:stretch>
            <a:fillRect/>
          </a:stretch>
        </p:blipFill>
        <p:spPr>
          <a:xfrm>
            <a:off x="0" y="616856"/>
            <a:ext cx="6265333" cy="6241143"/>
          </a:xfrm>
          <a:prstGeom prst="rect">
            <a:avLst/>
          </a:prstGeom>
        </p:spPr>
      </p:pic>
      <p:sp>
        <p:nvSpPr>
          <p:cNvPr id="9" name="Rectangle 8">
            <a:extLst>
              <a:ext uri="{FF2B5EF4-FFF2-40B4-BE49-F238E27FC236}">
                <a16:creationId xmlns:a16="http://schemas.microsoft.com/office/drawing/2014/main" id="{FC7AA6F5-31A9-7FB9-F6A6-7406C891135F}"/>
              </a:ext>
            </a:extLst>
          </p:cNvPr>
          <p:cNvSpPr/>
          <p:nvPr userDrawn="1"/>
        </p:nvSpPr>
        <p:spPr>
          <a:xfrm>
            <a:off x="0" y="6119783"/>
            <a:ext cx="12192000" cy="590019"/>
          </a:xfrm>
          <a:prstGeom prst="rect">
            <a:avLst/>
          </a:prstGeom>
          <a:solidFill>
            <a:schemeClr val="bg1">
              <a:alpha val="5979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D6E1EB6D-4C6D-F8AF-9DF9-BFB90AC7B602}"/>
              </a:ext>
            </a:extLst>
          </p:cNvPr>
          <p:cNvPicPr>
            <a:picLocks noChangeAspect="1"/>
          </p:cNvPicPr>
          <p:nvPr userDrawn="1"/>
        </p:nvPicPr>
        <p:blipFill>
          <a:blip>
            <a:extLst>
              <a:ext uri="{96DAC541-7B7A-43D3-8B79-37D633B846F1}">
                <asvg:svgBlip xmlns:asvg="http://schemas.microsoft.com/office/drawing/2016/SVG/main" r:embed="rId34"/>
              </a:ext>
            </a:extLst>
          </a:blip>
          <a:stretch>
            <a:fillRect/>
          </a:stretch>
        </p:blipFill>
        <p:spPr>
          <a:xfrm>
            <a:off x="402110" y="6231912"/>
            <a:ext cx="365760" cy="365760"/>
          </a:xfrm>
          <a:prstGeom prst="rect">
            <a:avLst/>
          </a:prstGeom>
          <a:effectLst/>
        </p:spPr>
      </p:pic>
      <p:grpSp>
        <p:nvGrpSpPr>
          <p:cNvPr id="71" name="Cut Out" hidden="1">
            <a:extLst>
              <a:ext uri="{FF2B5EF4-FFF2-40B4-BE49-F238E27FC236}">
                <a16:creationId xmlns:a16="http://schemas.microsoft.com/office/drawing/2014/main" id="{645A4865-68ED-9412-B75A-3F8ACB57FB6E}"/>
              </a:ext>
            </a:extLst>
          </p:cNvPr>
          <p:cNvGrpSpPr/>
          <p:nvPr userDrawn="1"/>
        </p:nvGrpSpPr>
        <p:grpSpPr>
          <a:xfrm>
            <a:off x="-247316" y="391974"/>
            <a:ext cx="5968819" cy="6782282"/>
            <a:chOff x="-247316" y="391974"/>
            <a:chExt cx="5968819" cy="6782282"/>
          </a:xfrm>
        </p:grpSpPr>
        <p:sp>
          <p:nvSpPr>
            <p:cNvPr id="64" name="Freeform 63">
              <a:extLst>
                <a:ext uri="{FF2B5EF4-FFF2-40B4-BE49-F238E27FC236}">
                  <a16:creationId xmlns:a16="http://schemas.microsoft.com/office/drawing/2014/main" id="{6AAF9C22-8F00-F0CC-F430-DDD56142D83E}"/>
                </a:ext>
              </a:extLst>
            </p:cNvPr>
            <p:cNvSpPr/>
            <p:nvPr userDrawn="1"/>
          </p:nvSpPr>
          <p:spPr>
            <a:xfrm rot="20700000">
              <a:off x="4501782" y="391974"/>
              <a:ext cx="1219721" cy="6782282"/>
            </a:xfrm>
            <a:custGeom>
              <a:avLst/>
              <a:gdLst>
                <a:gd name="connsiteX0" fmla="*/ 1219721 w 1219721"/>
                <a:gd name="connsiteY0" fmla="*/ 0 h 6782282"/>
                <a:gd name="connsiteX1" fmla="*/ 1219720 w 1219721"/>
                <a:gd name="connsiteY1" fmla="*/ 6782282 h 6782282"/>
                <a:gd name="connsiteX2" fmla="*/ 0 w 1219721"/>
                <a:gd name="connsiteY2" fmla="*/ 6455459 h 6782282"/>
                <a:gd name="connsiteX3" fmla="*/ 0 w 1219721"/>
                <a:gd name="connsiteY3" fmla="*/ 1216910 h 6782282"/>
                <a:gd name="connsiteX4" fmla="*/ 1216910 w 1219721"/>
                <a:gd name="connsiteY4" fmla="*/ 0 h 6782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721" h="6782282">
                  <a:moveTo>
                    <a:pt x="1219721" y="0"/>
                  </a:moveTo>
                  <a:lnTo>
                    <a:pt x="1219720" y="6782282"/>
                  </a:lnTo>
                  <a:lnTo>
                    <a:pt x="0" y="6455459"/>
                  </a:lnTo>
                  <a:lnTo>
                    <a:pt x="0" y="1216910"/>
                  </a:lnTo>
                  <a:lnTo>
                    <a:pt x="121691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66">
              <a:extLst>
                <a:ext uri="{FF2B5EF4-FFF2-40B4-BE49-F238E27FC236}">
                  <a16:creationId xmlns:a16="http://schemas.microsoft.com/office/drawing/2014/main" id="{07F2DA9D-A2E1-6623-5534-DE193CE69237}"/>
                </a:ext>
              </a:extLst>
            </p:cNvPr>
            <p:cNvSpPr/>
            <p:nvPr userDrawn="1"/>
          </p:nvSpPr>
          <p:spPr>
            <a:xfrm rot="20700000">
              <a:off x="3086241" y="2413806"/>
              <a:ext cx="1219717" cy="4725406"/>
            </a:xfrm>
            <a:custGeom>
              <a:avLst/>
              <a:gdLst>
                <a:gd name="connsiteX0" fmla="*/ 1219717 w 1219717"/>
                <a:gd name="connsiteY0" fmla="*/ 0 h 4725406"/>
                <a:gd name="connsiteX1" fmla="*/ 1219717 w 1219717"/>
                <a:gd name="connsiteY1" fmla="*/ 4725406 h 4725406"/>
                <a:gd name="connsiteX2" fmla="*/ 0 w 1219717"/>
                <a:gd name="connsiteY2" fmla="*/ 4398584 h 4725406"/>
                <a:gd name="connsiteX3" fmla="*/ 0 w 1219717"/>
                <a:gd name="connsiteY3" fmla="*/ 1219718 h 4725406"/>
              </a:gdLst>
              <a:ahLst/>
              <a:cxnLst>
                <a:cxn ang="0">
                  <a:pos x="connsiteX0" y="connsiteY0"/>
                </a:cxn>
                <a:cxn ang="0">
                  <a:pos x="connsiteX1" y="connsiteY1"/>
                </a:cxn>
                <a:cxn ang="0">
                  <a:pos x="connsiteX2" y="connsiteY2"/>
                </a:cxn>
                <a:cxn ang="0">
                  <a:pos x="connsiteX3" y="connsiteY3"/>
                </a:cxn>
              </a:cxnLst>
              <a:rect l="l" t="t" r="r" b="b"/>
              <a:pathLst>
                <a:path w="1219717" h="4725406">
                  <a:moveTo>
                    <a:pt x="1219717" y="0"/>
                  </a:moveTo>
                  <a:lnTo>
                    <a:pt x="1219717" y="4725406"/>
                  </a:lnTo>
                  <a:lnTo>
                    <a:pt x="0" y="4398584"/>
                  </a:lnTo>
                  <a:lnTo>
                    <a:pt x="0" y="1219718"/>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69">
              <a:extLst>
                <a:ext uri="{FF2B5EF4-FFF2-40B4-BE49-F238E27FC236}">
                  <a16:creationId xmlns:a16="http://schemas.microsoft.com/office/drawing/2014/main" id="{507EE6BD-3353-5291-18D0-AE718EEBDDB9}"/>
                </a:ext>
              </a:extLst>
            </p:cNvPr>
            <p:cNvSpPr/>
            <p:nvPr userDrawn="1"/>
          </p:nvSpPr>
          <p:spPr>
            <a:xfrm rot="20700000">
              <a:off x="1675953" y="4431391"/>
              <a:ext cx="1219720" cy="2672853"/>
            </a:xfrm>
            <a:custGeom>
              <a:avLst/>
              <a:gdLst>
                <a:gd name="connsiteX0" fmla="*/ 1219720 w 1219720"/>
                <a:gd name="connsiteY0" fmla="*/ 0 h 2672853"/>
                <a:gd name="connsiteX1" fmla="*/ 1219720 w 1219720"/>
                <a:gd name="connsiteY1" fmla="*/ 2672853 h 2672853"/>
                <a:gd name="connsiteX2" fmla="*/ 0 w 1219720"/>
                <a:gd name="connsiteY2" fmla="*/ 2346030 h 2672853"/>
                <a:gd name="connsiteX3" fmla="*/ 0 w 1219720"/>
                <a:gd name="connsiteY3" fmla="*/ 1219720 h 2672853"/>
              </a:gdLst>
              <a:ahLst/>
              <a:cxnLst>
                <a:cxn ang="0">
                  <a:pos x="connsiteX0" y="connsiteY0"/>
                </a:cxn>
                <a:cxn ang="0">
                  <a:pos x="connsiteX1" y="connsiteY1"/>
                </a:cxn>
                <a:cxn ang="0">
                  <a:pos x="connsiteX2" y="connsiteY2"/>
                </a:cxn>
                <a:cxn ang="0">
                  <a:pos x="connsiteX3" y="connsiteY3"/>
                </a:cxn>
              </a:cxnLst>
              <a:rect l="l" t="t" r="r" b="b"/>
              <a:pathLst>
                <a:path w="1219720" h="2672853">
                  <a:moveTo>
                    <a:pt x="1219720" y="0"/>
                  </a:moveTo>
                  <a:lnTo>
                    <a:pt x="1219720" y="2672853"/>
                  </a:lnTo>
                  <a:lnTo>
                    <a:pt x="0" y="2346030"/>
                  </a:lnTo>
                  <a:lnTo>
                    <a:pt x="0" y="121972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56">
              <a:extLst>
                <a:ext uri="{FF2B5EF4-FFF2-40B4-BE49-F238E27FC236}">
                  <a16:creationId xmlns:a16="http://schemas.microsoft.com/office/drawing/2014/main" id="{7868CEA2-789D-E697-16FE-ACD6F7B6F760}"/>
                </a:ext>
              </a:extLst>
            </p:cNvPr>
            <p:cNvSpPr/>
            <p:nvPr userDrawn="1"/>
          </p:nvSpPr>
          <p:spPr>
            <a:xfrm rot="20700000">
              <a:off x="-247316" y="1017576"/>
              <a:ext cx="5315676" cy="1216909"/>
            </a:xfrm>
            <a:custGeom>
              <a:avLst/>
              <a:gdLst>
                <a:gd name="connsiteX0" fmla="*/ 5315676 w 5315676"/>
                <a:gd name="connsiteY0" fmla="*/ 0 h 1216909"/>
                <a:gd name="connsiteX1" fmla="*/ 4098766 w 5315676"/>
                <a:gd name="connsiteY1" fmla="*/ 1216909 h 1216909"/>
                <a:gd name="connsiteX2" fmla="*/ 4098766 w 5315676"/>
                <a:gd name="connsiteY2" fmla="*/ 1214099 h 1216909"/>
                <a:gd name="connsiteX3" fmla="*/ 0 w 5315676"/>
                <a:gd name="connsiteY3" fmla="*/ 1214099 h 1216909"/>
                <a:gd name="connsiteX4" fmla="*/ 325317 w 5315676"/>
                <a:gd name="connsiteY4" fmla="*/ 0 h 121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5676" h="1216909">
                  <a:moveTo>
                    <a:pt x="5315676" y="0"/>
                  </a:moveTo>
                  <a:lnTo>
                    <a:pt x="4098766" y="1216909"/>
                  </a:lnTo>
                  <a:lnTo>
                    <a:pt x="4098766" y="1214099"/>
                  </a:lnTo>
                  <a:lnTo>
                    <a:pt x="0" y="1214099"/>
                  </a:lnTo>
                  <a:lnTo>
                    <a:pt x="325317"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A355C7A9-C0A5-8D5F-EB91-F99F6596BF4C}"/>
                </a:ext>
              </a:extLst>
            </p:cNvPr>
            <p:cNvSpPr/>
            <p:nvPr userDrawn="1"/>
          </p:nvSpPr>
          <p:spPr>
            <a:xfrm rot="20700000">
              <a:off x="-226351" y="2847108"/>
              <a:ext cx="4127824" cy="1222528"/>
            </a:xfrm>
            <a:custGeom>
              <a:avLst/>
              <a:gdLst>
                <a:gd name="connsiteX0" fmla="*/ 4127824 w 4127824"/>
                <a:gd name="connsiteY0" fmla="*/ 0 h 1222528"/>
                <a:gd name="connsiteX1" fmla="*/ 4127824 w 4127824"/>
                <a:gd name="connsiteY1" fmla="*/ 2811 h 1222528"/>
                <a:gd name="connsiteX2" fmla="*/ 2908106 w 4127824"/>
                <a:gd name="connsiteY2" fmla="*/ 1222528 h 1222528"/>
                <a:gd name="connsiteX3" fmla="*/ 2908106 w 4127824"/>
                <a:gd name="connsiteY3" fmla="*/ 1214099 h 1222528"/>
                <a:gd name="connsiteX4" fmla="*/ 0 w 4127824"/>
                <a:gd name="connsiteY4" fmla="*/ 1214099 h 1222528"/>
                <a:gd name="connsiteX5" fmla="*/ 325317 w 4127824"/>
                <a:gd name="connsiteY5" fmla="*/ 0 h 122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824" h="1222528">
                  <a:moveTo>
                    <a:pt x="4127824" y="0"/>
                  </a:moveTo>
                  <a:lnTo>
                    <a:pt x="4127824" y="2811"/>
                  </a:lnTo>
                  <a:lnTo>
                    <a:pt x="2908106" y="1222528"/>
                  </a:lnTo>
                  <a:lnTo>
                    <a:pt x="2908106" y="1214099"/>
                  </a:lnTo>
                  <a:lnTo>
                    <a:pt x="0" y="1214099"/>
                  </a:lnTo>
                  <a:lnTo>
                    <a:pt x="325317"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1568EE0E-6087-7F47-4FC1-A508563439ED}"/>
                </a:ext>
              </a:extLst>
            </p:cNvPr>
            <p:cNvSpPr/>
            <p:nvPr userDrawn="1"/>
          </p:nvSpPr>
          <p:spPr>
            <a:xfrm rot="20700000">
              <a:off x="-206161" y="4676366"/>
              <a:ext cx="2942781" cy="1222530"/>
            </a:xfrm>
            <a:custGeom>
              <a:avLst/>
              <a:gdLst>
                <a:gd name="connsiteX0" fmla="*/ 2942781 w 2942781"/>
                <a:gd name="connsiteY0" fmla="*/ 0 h 1222530"/>
                <a:gd name="connsiteX1" fmla="*/ 2942781 w 2942781"/>
                <a:gd name="connsiteY1" fmla="*/ 2811 h 1222530"/>
                <a:gd name="connsiteX2" fmla="*/ 1723060 w 2942781"/>
                <a:gd name="connsiteY2" fmla="*/ 1222530 h 1222530"/>
                <a:gd name="connsiteX3" fmla="*/ 1723060 w 2942781"/>
                <a:gd name="connsiteY3" fmla="*/ 1214099 h 1222530"/>
                <a:gd name="connsiteX4" fmla="*/ 0 w 2942781"/>
                <a:gd name="connsiteY4" fmla="*/ 1214098 h 1222530"/>
                <a:gd name="connsiteX5" fmla="*/ 325316 w 2942781"/>
                <a:gd name="connsiteY5" fmla="*/ 0 h 122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2781" h="1222530">
                  <a:moveTo>
                    <a:pt x="2942781" y="0"/>
                  </a:moveTo>
                  <a:lnTo>
                    <a:pt x="2942781" y="2811"/>
                  </a:lnTo>
                  <a:lnTo>
                    <a:pt x="1723060" y="1222530"/>
                  </a:lnTo>
                  <a:lnTo>
                    <a:pt x="1723060" y="1214099"/>
                  </a:lnTo>
                  <a:lnTo>
                    <a:pt x="0" y="1214098"/>
                  </a:lnTo>
                  <a:lnTo>
                    <a:pt x="325316"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94D09C11-7276-B67A-A1A1-4C875D1ABA68}"/>
              </a:ext>
            </a:extLst>
          </p:cNvPr>
          <p:cNvSpPr>
            <a:spLocks noGrp="1"/>
          </p:cNvSpPr>
          <p:nvPr userDrawn="1">
            <p:ph type="title"/>
          </p:nvPr>
        </p:nvSpPr>
        <p:spPr>
          <a:xfrm>
            <a:off x="421041" y="493776"/>
            <a:ext cx="11310707" cy="804672"/>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64A7CC43-E171-1153-2B75-F702D7B914A8}"/>
              </a:ext>
            </a:extLst>
          </p:cNvPr>
          <p:cNvSpPr>
            <a:spLocks noGrp="1"/>
          </p:cNvSpPr>
          <p:nvPr userDrawn="1">
            <p:ph type="body" idx="1"/>
          </p:nvPr>
        </p:nvSpPr>
        <p:spPr>
          <a:xfrm>
            <a:off x="421041" y="1554480"/>
            <a:ext cx="11310707" cy="4247212"/>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C25DD03-798E-DA9C-D9CE-8905DBA17BC8}"/>
              </a:ext>
            </a:extLst>
          </p:cNvPr>
          <p:cNvSpPr>
            <a:spLocks noGrp="1"/>
          </p:cNvSpPr>
          <p:nvPr userDrawn="1">
            <p:ph type="sldNum" sz="quarter" idx="4"/>
          </p:nvPr>
        </p:nvSpPr>
        <p:spPr>
          <a:xfrm>
            <a:off x="11731748" y="6232230"/>
            <a:ext cx="288523" cy="365125"/>
          </a:xfrm>
          <a:prstGeom prst="rect">
            <a:avLst/>
          </a:prstGeom>
        </p:spPr>
        <p:txBody>
          <a:bodyPr vert="horz" lIns="0" tIns="0" rIns="0" bIns="0" rtlCol="0" anchor="ctr" anchorCtr="0">
            <a:noAutofit/>
          </a:bodyPr>
          <a:lstStyle>
            <a:lvl1pPr algn="r">
              <a:defRPr sz="800">
                <a:solidFill>
                  <a:srgbClr val="000A62"/>
                </a:solidFill>
                <a:latin typeface="Arial" panose="020B0604020202020204" pitchFamily="34" charset="0"/>
                <a:cs typeface="Arial" panose="020B0604020202020204" pitchFamily="34" charset="0"/>
              </a:defRPr>
            </a:lvl1pPr>
          </a:lstStyle>
          <a:p>
            <a:fld id="{A1371F83-EA4D-3B47-99B9-95D90583DC1D}" type="slidenum">
              <a:rPr lang="en-US" smtClean="0"/>
              <a:pPr/>
              <a:t>‹#›</a:t>
            </a:fld>
            <a:endParaRPr lang="en-US" sz="800"/>
          </a:p>
        </p:txBody>
      </p:sp>
      <p:pic>
        <p:nvPicPr>
          <p:cNvPr id="7" name="Picture 6" hidden="1">
            <a:extLst>
              <a:ext uri="{FF2B5EF4-FFF2-40B4-BE49-F238E27FC236}">
                <a16:creationId xmlns:a16="http://schemas.microsoft.com/office/drawing/2014/main" id="{0BF76C95-9667-2357-762F-B7B15D7BA3E7}"/>
              </a:ext>
            </a:extLst>
          </p:cNvPr>
          <p:cNvPicPr>
            <a:picLocks noChangeAspect="1"/>
          </p:cNvPicPr>
          <p:nvPr userDrawn="1"/>
        </p:nvPicPr>
        <p:blipFill>
          <a:blip r:embed="rId35"/>
          <a:stretch>
            <a:fillRect/>
          </a:stretch>
        </p:blipFill>
        <p:spPr>
          <a:xfrm>
            <a:off x="199931" y="-813939"/>
            <a:ext cx="2208828" cy="563207"/>
          </a:xfrm>
          <a:prstGeom prst="rect">
            <a:avLst/>
          </a:prstGeom>
        </p:spPr>
      </p:pic>
      <p:grpSp>
        <p:nvGrpSpPr>
          <p:cNvPr id="38" name="Full Size" hidden="1">
            <a:extLst>
              <a:ext uri="{FF2B5EF4-FFF2-40B4-BE49-F238E27FC236}">
                <a16:creationId xmlns:a16="http://schemas.microsoft.com/office/drawing/2014/main" id="{CBF5D916-2559-D87A-6071-0827F3911641}"/>
              </a:ext>
            </a:extLst>
          </p:cNvPr>
          <p:cNvGrpSpPr/>
          <p:nvPr userDrawn="1"/>
        </p:nvGrpSpPr>
        <p:grpSpPr>
          <a:xfrm rot="-19800000">
            <a:off x="-13122649" y="-4850920"/>
            <a:ext cx="20342655" cy="21641432"/>
            <a:chOff x="-289533" y="-2834540"/>
            <a:chExt cx="9192657" cy="9779562"/>
          </a:xfrm>
        </p:grpSpPr>
        <p:sp>
          <p:nvSpPr>
            <p:cNvPr id="39" name="Freeform 38">
              <a:extLst>
                <a:ext uri="{FF2B5EF4-FFF2-40B4-BE49-F238E27FC236}">
                  <a16:creationId xmlns:a16="http://schemas.microsoft.com/office/drawing/2014/main" id="{09460502-8A0D-F9D8-E3FC-D3C35053B797}"/>
                </a:ext>
              </a:extLst>
            </p:cNvPr>
            <p:cNvSpPr/>
            <p:nvPr userDrawn="1"/>
          </p:nvSpPr>
          <p:spPr>
            <a:xfrm rot="18900000">
              <a:off x="8351944" y="-2834540"/>
              <a:ext cx="551180" cy="7708900"/>
            </a:xfrm>
            <a:custGeom>
              <a:avLst/>
              <a:gdLst>
                <a:gd name="connsiteX0" fmla="*/ 551180 w 551180"/>
                <a:gd name="connsiteY0" fmla="*/ 0 h 7708900"/>
                <a:gd name="connsiteX1" fmla="*/ 551180 w 551180"/>
                <a:gd name="connsiteY1" fmla="*/ 7708900 h 7708900"/>
                <a:gd name="connsiteX2" fmla="*/ 0 w 551180"/>
                <a:gd name="connsiteY2" fmla="*/ 7708900 h 7708900"/>
                <a:gd name="connsiteX3" fmla="*/ 0 w 551180"/>
                <a:gd name="connsiteY3" fmla="*/ 549910 h 7708900"/>
                <a:gd name="connsiteX4" fmla="*/ 549910 w 551180"/>
                <a:gd name="connsiteY4" fmla="*/ 0 h 7708900"/>
                <a:gd name="connsiteX5" fmla="*/ 551180 w 551180"/>
                <a:gd name="connsiteY5" fmla="*/ 0 h 770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180" h="7708900">
                  <a:moveTo>
                    <a:pt x="551180" y="0"/>
                  </a:moveTo>
                  <a:lnTo>
                    <a:pt x="551180" y="7708900"/>
                  </a:lnTo>
                  <a:lnTo>
                    <a:pt x="0" y="7708900"/>
                  </a:lnTo>
                  <a:lnTo>
                    <a:pt x="0" y="549910"/>
                  </a:lnTo>
                  <a:lnTo>
                    <a:pt x="549910" y="0"/>
                  </a:lnTo>
                  <a:lnTo>
                    <a:pt x="55118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5626CB4-BBEE-998F-0B0A-69DF05DFB1D9}"/>
                </a:ext>
              </a:extLst>
            </p:cNvPr>
            <p:cNvSpPr/>
            <p:nvPr userDrawn="1"/>
          </p:nvSpPr>
          <p:spPr>
            <a:xfrm rot="18900000">
              <a:off x="8350599" y="-1797133"/>
              <a:ext cx="551179" cy="7707629"/>
            </a:xfrm>
            <a:custGeom>
              <a:avLst/>
              <a:gdLst>
                <a:gd name="connsiteX0" fmla="*/ 551179 w 551179"/>
                <a:gd name="connsiteY0" fmla="*/ 0 h 7707629"/>
                <a:gd name="connsiteX1" fmla="*/ 551179 w 551179"/>
                <a:gd name="connsiteY1" fmla="*/ 7707629 h 7707629"/>
                <a:gd name="connsiteX2" fmla="*/ 0 w 551179"/>
                <a:gd name="connsiteY2" fmla="*/ 7707629 h 7707629"/>
                <a:gd name="connsiteX3" fmla="*/ 0 w 551179"/>
                <a:gd name="connsiteY3" fmla="*/ 551179 h 7707629"/>
                <a:gd name="connsiteX4" fmla="*/ 551179 w 551179"/>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79" h="7707629">
                  <a:moveTo>
                    <a:pt x="551179" y="0"/>
                  </a:moveTo>
                  <a:lnTo>
                    <a:pt x="551179" y="7707629"/>
                  </a:lnTo>
                  <a:lnTo>
                    <a:pt x="0" y="7707629"/>
                  </a:lnTo>
                  <a:lnTo>
                    <a:pt x="0" y="551179"/>
                  </a:lnTo>
                  <a:lnTo>
                    <a:pt x="551179" y="0"/>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0">
              <a:extLst>
                <a:ext uri="{FF2B5EF4-FFF2-40B4-BE49-F238E27FC236}">
                  <a16:creationId xmlns:a16="http://schemas.microsoft.com/office/drawing/2014/main" id="{6C2146AF-D932-DAFB-A40A-398827AB05D0}"/>
                </a:ext>
              </a:extLst>
            </p:cNvPr>
            <p:cNvSpPr/>
            <p:nvPr userDrawn="1"/>
          </p:nvSpPr>
          <p:spPr>
            <a:xfrm rot="18900000">
              <a:off x="8350597" y="-762607"/>
              <a:ext cx="551180" cy="7707629"/>
            </a:xfrm>
            <a:custGeom>
              <a:avLst/>
              <a:gdLst>
                <a:gd name="connsiteX0" fmla="*/ 551180 w 551180"/>
                <a:gd name="connsiteY0" fmla="*/ 0 h 7707629"/>
                <a:gd name="connsiteX1" fmla="*/ 551180 w 551180"/>
                <a:gd name="connsiteY1" fmla="*/ 7707629 h 7707629"/>
                <a:gd name="connsiteX2" fmla="*/ 0 w 551180"/>
                <a:gd name="connsiteY2" fmla="*/ 7707629 h 7707629"/>
                <a:gd name="connsiteX3" fmla="*/ 0 w 551180"/>
                <a:gd name="connsiteY3" fmla="*/ 551180 h 7707629"/>
                <a:gd name="connsiteX4" fmla="*/ 551180 w 551180"/>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80" h="7707629">
                  <a:moveTo>
                    <a:pt x="551180" y="0"/>
                  </a:moveTo>
                  <a:lnTo>
                    <a:pt x="551180" y="7707629"/>
                  </a:lnTo>
                  <a:lnTo>
                    <a:pt x="0" y="7707629"/>
                  </a:lnTo>
                  <a:lnTo>
                    <a:pt x="0" y="551180"/>
                  </a:lnTo>
                  <a:lnTo>
                    <a:pt x="551180" y="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F07F8016-2972-8815-07A3-91499D9D4BAE}"/>
                </a:ext>
              </a:extLst>
            </p:cNvPr>
            <p:cNvSpPr/>
            <p:nvPr userDrawn="1"/>
          </p:nvSpPr>
          <p:spPr>
            <a:xfrm rot="18900000">
              <a:off x="-288451" y="744955"/>
              <a:ext cx="7707630" cy="549910"/>
            </a:xfrm>
            <a:custGeom>
              <a:avLst/>
              <a:gdLst>
                <a:gd name="connsiteX0" fmla="*/ 7707630 w 7707630"/>
                <a:gd name="connsiteY0" fmla="*/ 0 h 549910"/>
                <a:gd name="connsiteX1" fmla="*/ 7157720 w 7707630"/>
                <a:gd name="connsiteY1" fmla="*/ 549910 h 549910"/>
                <a:gd name="connsiteX2" fmla="*/ 7157720 w 7707630"/>
                <a:gd name="connsiteY2" fmla="*/ 548640 h 549910"/>
                <a:gd name="connsiteX3" fmla="*/ 0 w 7707630"/>
                <a:gd name="connsiteY3" fmla="*/ 548640 h 549910"/>
                <a:gd name="connsiteX4" fmla="*/ 0 w 7707630"/>
                <a:gd name="connsiteY4" fmla="*/ 0 h 549910"/>
                <a:gd name="connsiteX5" fmla="*/ 7707630 w 7707630"/>
                <a:gd name="connsiteY5" fmla="*/ 0 h 54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630" h="549910">
                  <a:moveTo>
                    <a:pt x="7707630" y="0"/>
                  </a:moveTo>
                  <a:lnTo>
                    <a:pt x="7157720" y="549910"/>
                  </a:lnTo>
                  <a:lnTo>
                    <a:pt x="7157720" y="548640"/>
                  </a:lnTo>
                  <a:lnTo>
                    <a:pt x="0" y="548640"/>
                  </a:lnTo>
                  <a:lnTo>
                    <a:pt x="0" y="0"/>
                  </a:lnTo>
                  <a:lnTo>
                    <a:pt x="7707630"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2">
              <a:extLst>
                <a:ext uri="{FF2B5EF4-FFF2-40B4-BE49-F238E27FC236}">
                  <a16:creationId xmlns:a16="http://schemas.microsoft.com/office/drawing/2014/main" id="{82852362-83F5-9AD4-AD9F-53F2E0292D33}"/>
                </a:ext>
              </a:extLst>
            </p:cNvPr>
            <p:cNvSpPr/>
            <p:nvPr userDrawn="1"/>
          </p:nvSpPr>
          <p:spPr>
            <a:xfrm rot="18900000">
              <a:off x="-289533" y="1780457"/>
              <a:ext cx="7708899" cy="552449"/>
            </a:xfrm>
            <a:custGeom>
              <a:avLst/>
              <a:gdLst>
                <a:gd name="connsiteX0" fmla="*/ 7708899 w 7708899"/>
                <a:gd name="connsiteY0" fmla="*/ 0 h 552449"/>
                <a:gd name="connsiteX1" fmla="*/ 7708899 w 7708899"/>
                <a:gd name="connsiteY1" fmla="*/ 1270 h 552449"/>
                <a:gd name="connsiteX2" fmla="*/ 7157720 w 7708899"/>
                <a:gd name="connsiteY2" fmla="*/ 552449 h 552449"/>
                <a:gd name="connsiteX3" fmla="*/ 7157720 w 7708899"/>
                <a:gd name="connsiteY3" fmla="*/ 548640 h 552449"/>
                <a:gd name="connsiteX4" fmla="*/ 0 w 7708899"/>
                <a:gd name="connsiteY4" fmla="*/ 548640 h 552449"/>
                <a:gd name="connsiteX5" fmla="*/ 0 w 7708899"/>
                <a:gd name="connsiteY5" fmla="*/ 0 h 552449"/>
                <a:gd name="connsiteX6" fmla="*/ 7708899 w 7708899"/>
                <a:gd name="connsiteY6" fmla="*/ 0 h 552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49">
                  <a:moveTo>
                    <a:pt x="7708899" y="0"/>
                  </a:moveTo>
                  <a:lnTo>
                    <a:pt x="7708899" y="1270"/>
                  </a:lnTo>
                  <a:lnTo>
                    <a:pt x="7157720" y="552449"/>
                  </a:lnTo>
                  <a:lnTo>
                    <a:pt x="7157720" y="548640"/>
                  </a:lnTo>
                  <a:lnTo>
                    <a:pt x="0" y="548640"/>
                  </a:lnTo>
                  <a:lnTo>
                    <a:pt x="0" y="0"/>
                  </a:lnTo>
                  <a:lnTo>
                    <a:pt x="7708899"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3">
              <a:extLst>
                <a:ext uri="{FF2B5EF4-FFF2-40B4-BE49-F238E27FC236}">
                  <a16:creationId xmlns:a16="http://schemas.microsoft.com/office/drawing/2014/main" id="{E7216B24-9E3B-FE57-A75D-569327BB05D9}"/>
                </a:ext>
              </a:extLst>
            </p:cNvPr>
            <p:cNvSpPr/>
            <p:nvPr userDrawn="1"/>
          </p:nvSpPr>
          <p:spPr>
            <a:xfrm rot="18900000">
              <a:off x="-289533" y="2814982"/>
              <a:ext cx="7708899" cy="552450"/>
            </a:xfrm>
            <a:custGeom>
              <a:avLst/>
              <a:gdLst>
                <a:gd name="connsiteX0" fmla="*/ 7708899 w 7708899"/>
                <a:gd name="connsiteY0" fmla="*/ 0 h 552450"/>
                <a:gd name="connsiteX1" fmla="*/ 7708899 w 7708899"/>
                <a:gd name="connsiteY1" fmla="*/ 1270 h 552450"/>
                <a:gd name="connsiteX2" fmla="*/ 7157719 w 7708899"/>
                <a:gd name="connsiteY2" fmla="*/ 552450 h 552450"/>
                <a:gd name="connsiteX3" fmla="*/ 7157719 w 7708899"/>
                <a:gd name="connsiteY3" fmla="*/ 548640 h 552450"/>
                <a:gd name="connsiteX4" fmla="*/ 0 w 7708899"/>
                <a:gd name="connsiteY4" fmla="*/ 548640 h 552450"/>
                <a:gd name="connsiteX5" fmla="*/ 0 w 7708899"/>
                <a:gd name="connsiteY5" fmla="*/ 0 h 552450"/>
                <a:gd name="connsiteX6" fmla="*/ 7708899 w 7708899"/>
                <a:gd name="connsiteY6" fmla="*/ 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50">
                  <a:moveTo>
                    <a:pt x="7708899" y="0"/>
                  </a:moveTo>
                  <a:lnTo>
                    <a:pt x="7708899" y="1270"/>
                  </a:lnTo>
                  <a:lnTo>
                    <a:pt x="7157719" y="552450"/>
                  </a:lnTo>
                  <a:lnTo>
                    <a:pt x="7157719" y="548640"/>
                  </a:lnTo>
                  <a:lnTo>
                    <a:pt x="0" y="548640"/>
                  </a:lnTo>
                  <a:lnTo>
                    <a:pt x="0" y="0"/>
                  </a:lnTo>
                  <a:lnTo>
                    <a:pt x="7708899"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5" name="Picture 4" descr="A blue and black logo&#10;&#10;AI-generated content may be incorrect.">
            <a:extLst>
              <a:ext uri="{FF2B5EF4-FFF2-40B4-BE49-F238E27FC236}">
                <a16:creationId xmlns:a16="http://schemas.microsoft.com/office/drawing/2014/main" id="{F237A442-77B1-39AF-2F30-661CC1C646CD}"/>
              </a:ext>
            </a:extLst>
          </p:cNvPr>
          <p:cNvPicPr>
            <a:picLocks noChangeAspect="1"/>
          </p:cNvPicPr>
          <p:nvPr userDrawn="1"/>
        </p:nvPicPr>
        <p:blipFill>
          <a:blip r:embed="rId36"/>
          <a:stretch>
            <a:fillRect/>
          </a:stretch>
        </p:blipFill>
        <p:spPr>
          <a:xfrm>
            <a:off x="10649018" y="6277632"/>
            <a:ext cx="1082730" cy="274320"/>
          </a:xfrm>
          <a:prstGeom prst="rect">
            <a:avLst/>
          </a:prstGeom>
        </p:spPr>
      </p:pic>
    </p:spTree>
    <p:extLst>
      <p:ext uri="{BB962C8B-B14F-4D97-AF65-F5344CB8AC3E}">
        <p14:creationId xmlns:p14="http://schemas.microsoft.com/office/powerpoint/2010/main" val="2441195467"/>
      </p:ext>
    </p:extLst>
  </p:cSld>
  <p:clrMap bg1="lt1" tx1="dk1" bg2="lt2" tx2="dk2" accent1="accent1" accent2="accent2" accent3="accent3" accent4="accent4" accent5="accent5" accent6="accent6" hlink="hlink" folHlink="folHlink"/>
  <p:sldLayoutIdLst>
    <p:sldLayoutId id="2147486134" r:id="rId1"/>
    <p:sldLayoutId id="2147486135" r:id="rId2"/>
    <p:sldLayoutId id="2147486136" r:id="rId3"/>
    <p:sldLayoutId id="2147486137" r:id="rId4"/>
    <p:sldLayoutId id="2147486138" r:id="rId5"/>
    <p:sldLayoutId id="2147486139" r:id="rId6"/>
    <p:sldLayoutId id="2147486140" r:id="rId7"/>
    <p:sldLayoutId id="2147486141" r:id="rId8"/>
    <p:sldLayoutId id="2147486142" r:id="rId9"/>
    <p:sldLayoutId id="2147486143" r:id="rId10"/>
    <p:sldLayoutId id="2147486144" r:id="rId11"/>
    <p:sldLayoutId id="2147486145" r:id="rId12"/>
    <p:sldLayoutId id="2147486146" r:id="rId13"/>
    <p:sldLayoutId id="2147486147" r:id="rId14"/>
    <p:sldLayoutId id="2147486148" r:id="rId15"/>
    <p:sldLayoutId id="2147486149" r:id="rId16"/>
    <p:sldLayoutId id="2147486150" r:id="rId17"/>
    <p:sldLayoutId id="2147486151" r:id="rId18"/>
    <p:sldLayoutId id="2147486152" r:id="rId19"/>
    <p:sldLayoutId id="2147486153" r:id="rId20"/>
    <p:sldLayoutId id="2147486154" r:id="rId21"/>
    <p:sldLayoutId id="2147486155" r:id="rId22"/>
    <p:sldLayoutId id="2147486156" r:id="rId23"/>
    <p:sldLayoutId id="2147486157" r:id="rId24"/>
    <p:sldLayoutId id="2147486158" r:id="rId25"/>
    <p:sldLayoutId id="2147486159" r:id="rId26"/>
    <p:sldLayoutId id="2147486160" r:id="rId27"/>
    <p:sldLayoutId id="2147486161" r:id="rId28"/>
    <p:sldLayoutId id="2147486162" r:id="rId29"/>
    <p:sldLayoutId id="2147486163" r:id="rId30"/>
    <p:sldLayoutId id="2147486164" r:id="rId31"/>
  </p:sldLayoutIdLst>
  <p:txStyles>
    <p:titleStyle>
      <a:lvl1pPr algn="l" defTabSz="914400" rtl="0" eaLnBrk="1" latinLnBrk="0" hangingPunct="1">
        <a:lnSpc>
          <a:spcPct val="90000"/>
        </a:lnSpc>
        <a:spcBef>
          <a:spcPct val="0"/>
        </a:spcBef>
        <a:buNone/>
        <a:defRPr sz="3200" kern="1200">
          <a:solidFill>
            <a:srgbClr val="000A6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3000">
              <a:srgbClr val="73ACED"/>
            </a:gs>
            <a:gs pos="100000">
              <a:srgbClr val="699DD8"/>
            </a:gs>
            <a:gs pos="26000">
              <a:srgbClr val="9AC8FF"/>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1" name="Cut Out" hidden="1">
            <a:extLst>
              <a:ext uri="{FF2B5EF4-FFF2-40B4-BE49-F238E27FC236}">
                <a16:creationId xmlns:a16="http://schemas.microsoft.com/office/drawing/2014/main" id="{645A4865-68ED-9412-B75A-3F8ACB57FB6E}"/>
              </a:ext>
            </a:extLst>
          </p:cNvPr>
          <p:cNvGrpSpPr/>
          <p:nvPr userDrawn="1"/>
        </p:nvGrpSpPr>
        <p:grpSpPr>
          <a:xfrm>
            <a:off x="-247316" y="391974"/>
            <a:ext cx="5968819" cy="6782282"/>
            <a:chOff x="-247316" y="391974"/>
            <a:chExt cx="5968819" cy="6782282"/>
          </a:xfrm>
        </p:grpSpPr>
        <p:sp>
          <p:nvSpPr>
            <p:cNvPr id="64" name="Freeform 63">
              <a:extLst>
                <a:ext uri="{FF2B5EF4-FFF2-40B4-BE49-F238E27FC236}">
                  <a16:creationId xmlns:a16="http://schemas.microsoft.com/office/drawing/2014/main" id="{6AAF9C22-8F00-F0CC-F430-DDD56142D83E}"/>
                </a:ext>
              </a:extLst>
            </p:cNvPr>
            <p:cNvSpPr/>
            <p:nvPr userDrawn="1"/>
          </p:nvSpPr>
          <p:spPr>
            <a:xfrm rot="20700000">
              <a:off x="4501782" y="391974"/>
              <a:ext cx="1219721" cy="6782282"/>
            </a:xfrm>
            <a:custGeom>
              <a:avLst/>
              <a:gdLst>
                <a:gd name="connsiteX0" fmla="*/ 1219721 w 1219721"/>
                <a:gd name="connsiteY0" fmla="*/ 0 h 6782282"/>
                <a:gd name="connsiteX1" fmla="*/ 1219720 w 1219721"/>
                <a:gd name="connsiteY1" fmla="*/ 6782282 h 6782282"/>
                <a:gd name="connsiteX2" fmla="*/ 0 w 1219721"/>
                <a:gd name="connsiteY2" fmla="*/ 6455459 h 6782282"/>
                <a:gd name="connsiteX3" fmla="*/ 0 w 1219721"/>
                <a:gd name="connsiteY3" fmla="*/ 1216910 h 6782282"/>
                <a:gd name="connsiteX4" fmla="*/ 1216910 w 1219721"/>
                <a:gd name="connsiteY4" fmla="*/ 0 h 6782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721" h="6782282">
                  <a:moveTo>
                    <a:pt x="1219721" y="0"/>
                  </a:moveTo>
                  <a:lnTo>
                    <a:pt x="1219720" y="6782282"/>
                  </a:lnTo>
                  <a:lnTo>
                    <a:pt x="0" y="6455459"/>
                  </a:lnTo>
                  <a:lnTo>
                    <a:pt x="0" y="1216910"/>
                  </a:lnTo>
                  <a:lnTo>
                    <a:pt x="121691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66">
              <a:extLst>
                <a:ext uri="{FF2B5EF4-FFF2-40B4-BE49-F238E27FC236}">
                  <a16:creationId xmlns:a16="http://schemas.microsoft.com/office/drawing/2014/main" id="{07F2DA9D-A2E1-6623-5534-DE193CE69237}"/>
                </a:ext>
              </a:extLst>
            </p:cNvPr>
            <p:cNvSpPr/>
            <p:nvPr userDrawn="1"/>
          </p:nvSpPr>
          <p:spPr>
            <a:xfrm rot="20700000">
              <a:off x="3086241" y="2413806"/>
              <a:ext cx="1219717" cy="4725406"/>
            </a:xfrm>
            <a:custGeom>
              <a:avLst/>
              <a:gdLst>
                <a:gd name="connsiteX0" fmla="*/ 1219717 w 1219717"/>
                <a:gd name="connsiteY0" fmla="*/ 0 h 4725406"/>
                <a:gd name="connsiteX1" fmla="*/ 1219717 w 1219717"/>
                <a:gd name="connsiteY1" fmla="*/ 4725406 h 4725406"/>
                <a:gd name="connsiteX2" fmla="*/ 0 w 1219717"/>
                <a:gd name="connsiteY2" fmla="*/ 4398584 h 4725406"/>
                <a:gd name="connsiteX3" fmla="*/ 0 w 1219717"/>
                <a:gd name="connsiteY3" fmla="*/ 1219718 h 4725406"/>
              </a:gdLst>
              <a:ahLst/>
              <a:cxnLst>
                <a:cxn ang="0">
                  <a:pos x="connsiteX0" y="connsiteY0"/>
                </a:cxn>
                <a:cxn ang="0">
                  <a:pos x="connsiteX1" y="connsiteY1"/>
                </a:cxn>
                <a:cxn ang="0">
                  <a:pos x="connsiteX2" y="connsiteY2"/>
                </a:cxn>
                <a:cxn ang="0">
                  <a:pos x="connsiteX3" y="connsiteY3"/>
                </a:cxn>
              </a:cxnLst>
              <a:rect l="l" t="t" r="r" b="b"/>
              <a:pathLst>
                <a:path w="1219717" h="4725406">
                  <a:moveTo>
                    <a:pt x="1219717" y="0"/>
                  </a:moveTo>
                  <a:lnTo>
                    <a:pt x="1219717" y="4725406"/>
                  </a:lnTo>
                  <a:lnTo>
                    <a:pt x="0" y="4398584"/>
                  </a:lnTo>
                  <a:lnTo>
                    <a:pt x="0" y="1219718"/>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69">
              <a:extLst>
                <a:ext uri="{FF2B5EF4-FFF2-40B4-BE49-F238E27FC236}">
                  <a16:creationId xmlns:a16="http://schemas.microsoft.com/office/drawing/2014/main" id="{507EE6BD-3353-5291-18D0-AE718EEBDDB9}"/>
                </a:ext>
              </a:extLst>
            </p:cNvPr>
            <p:cNvSpPr/>
            <p:nvPr userDrawn="1"/>
          </p:nvSpPr>
          <p:spPr>
            <a:xfrm rot="20700000">
              <a:off x="1675953" y="4431391"/>
              <a:ext cx="1219720" cy="2672853"/>
            </a:xfrm>
            <a:custGeom>
              <a:avLst/>
              <a:gdLst>
                <a:gd name="connsiteX0" fmla="*/ 1219720 w 1219720"/>
                <a:gd name="connsiteY0" fmla="*/ 0 h 2672853"/>
                <a:gd name="connsiteX1" fmla="*/ 1219720 w 1219720"/>
                <a:gd name="connsiteY1" fmla="*/ 2672853 h 2672853"/>
                <a:gd name="connsiteX2" fmla="*/ 0 w 1219720"/>
                <a:gd name="connsiteY2" fmla="*/ 2346030 h 2672853"/>
                <a:gd name="connsiteX3" fmla="*/ 0 w 1219720"/>
                <a:gd name="connsiteY3" fmla="*/ 1219720 h 2672853"/>
              </a:gdLst>
              <a:ahLst/>
              <a:cxnLst>
                <a:cxn ang="0">
                  <a:pos x="connsiteX0" y="connsiteY0"/>
                </a:cxn>
                <a:cxn ang="0">
                  <a:pos x="connsiteX1" y="connsiteY1"/>
                </a:cxn>
                <a:cxn ang="0">
                  <a:pos x="connsiteX2" y="connsiteY2"/>
                </a:cxn>
                <a:cxn ang="0">
                  <a:pos x="connsiteX3" y="connsiteY3"/>
                </a:cxn>
              </a:cxnLst>
              <a:rect l="l" t="t" r="r" b="b"/>
              <a:pathLst>
                <a:path w="1219720" h="2672853">
                  <a:moveTo>
                    <a:pt x="1219720" y="0"/>
                  </a:moveTo>
                  <a:lnTo>
                    <a:pt x="1219720" y="2672853"/>
                  </a:lnTo>
                  <a:lnTo>
                    <a:pt x="0" y="2346030"/>
                  </a:lnTo>
                  <a:lnTo>
                    <a:pt x="0" y="121972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56">
              <a:extLst>
                <a:ext uri="{FF2B5EF4-FFF2-40B4-BE49-F238E27FC236}">
                  <a16:creationId xmlns:a16="http://schemas.microsoft.com/office/drawing/2014/main" id="{7868CEA2-789D-E697-16FE-ACD6F7B6F760}"/>
                </a:ext>
              </a:extLst>
            </p:cNvPr>
            <p:cNvSpPr/>
            <p:nvPr userDrawn="1"/>
          </p:nvSpPr>
          <p:spPr>
            <a:xfrm rot="20700000">
              <a:off x="-247316" y="1017576"/>
              <a:ext cx="5315676" cy="1216909"/>
            </a:xfrm>
            <a:custGeom>
              <a:avLst/>
              <a:gdLst>
                <a:gd name="connsiteX0" fmla="*/ 5315676 w 5315676"/>
                <a:gd name="connsiteY0" fmla="*/ 0 h 1216909"/>
                <a:gd name="connsiteX1" fmla="*/ 4098766 w 5315676"/>
                <a:gd name="connsiteY1" fmla="*/ 1216909 h 1216909"/>
                <a:gd name="connsiteX2" fmla="*/ 4098766 w 5315676"/>
                <a:gd name="connsiteY2" fmla="*/ 1214099 h 1216909"/>
                <a:gd name="connsiteX3" fmla="*/ 0 w 5315676"/>
                <a:gd name="connsiteY3" fmla="*/ 1214099 h 1216909"/>
                <a:gd name="connsiteX4" fmla="*/ 325317 w 5315676"/>
                <a:gd name="connsiteY4" fmla="*/ 0 h 121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5676" h="1216909">
                  <a:moveTo>
                    <a:pt x="5315676" y="0"/>
                  </a:moveTo>
                  <a:lnTo>
                    <a:pt x="4098766" y="1216909"/>
                  </a:lnTo>
                  <a:lnTo>
                    <a:pt x="4098766" y="1214099"/>
                  </a:lnTo>
                  <a:lnTo>
                    <a:pt x="0" y="1214099"/>
                  </a:lnTo>
                  <a:lnTo>
                    <a:pt x="325317"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A355C7A9-C0A5-8D5F-EB91-F99F6596BF4C}"/>
                </a:ext>
              </a:extLst>
            </p:cNvPr>
            <p:cNvSpPr/>
            <p:nvPr userDrawn="1"/>
          </p:nvSpPr>
          <p:spPr>
            <a:xfrm rot="20700000">
              <a:off x="-226351" y="2847108"/>
              <a:ext cx="4127824" cy="1222528"/>
            </a:xfrm>
            <a:custGeom>
              <a:avLst/>
              <a:gdLst>
                <a:gd name="connsiteX0" fmla="*/ 4127824 w 4127824"/>
                <a:gd name="connsiteY0" fmla="*/ 0 h 1222528"/>
                <a:gd name="connsiteX1" fmla="*/ 4127824 w 4127824"/>
                <a:gd name="connsiteY1" fmla="*/ 2811 h 1222528"/>
                <a:gd name="connsiteX2" fmla="*/ 2908106 w 4127824"/>
                <a:gd name="connsiteY2" fmla="*/ 1222528 h 1222528"/>
                <a:gd name="connsiteX3" fmla="*/ 2908106 w 4127824"/>
                <a:gd name="connsiteY3" fmla="*/ 1214099 h 1222528"/>
                <a:gd name="connsiteX4" fmla="*/ 0 w 4127824"/>
                <a:gd name="connsiteY4" fmla="*/ 1214099 h 1222528"/>
                <a:gd name="connsiteX5" fmla="*/ 325317 w 4127824"/>
                <a:gd name="connsiteY5" fmla="*/ 0 h 122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824" h="1222528">
                  <a:moveTo>
                    <a:pt x="4127824" y="0"/>
                  </a:moveTo>
                  <a:lnTo>
                    <a:pt x="4127824" y="2811"/>
                  </a:lnTo>
                  <a:lnTo>
                    <a:pt x="2908106" y="1222528"/>
                  </a:lnTo>
                  <a:lnTo>
                    <a:pt x="2908106" y="1214099"/>
                  </a:lnTo>
                  <a:lnTo>
                    <a:pt x="0" y="1214099"/>
                  </a:lnTo>
                  <a:lnTo>
                    <a:pt x="325317"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1568EE0E-6087-7F47-4FC1-A508563439ED}"/>
                </a:ext>
              </a:extLst>
            </p:cNvPr>
            <p:cNvSpPr/>
            <p:nvPr userDrawn="1"/>
          </p:nvSpPr>
          <p:spPr>
            <a:xfrm rot="20700000">
              <a:off x="-206161" y="4676366"/>
              <a:ext cx="2942781" cy="1222530"/>
            </a:xfrm>
            <a:custGeom>
              <a:avLst/>
              <a:gdLst>
                <a:gd name="connsiteX0" fmla="*/ 2942781 w 2942781"/>
                <a:gd name="connsiteY0" fmla="*/ 0 h 1222530"/>
                <a:gd name="connsiteX1" fmla="*/ 2942781 w 2942781"/>
                <a:gd name="connsiteY1" fmla="*/ 2811 h 1222530"/>
                <a:gd name="connsiteX2" fmla="*/ 1723060 w 2942781"/>
                <a:gd name="connsiteY2" fmla="*/ 1222530 h 1222530"/>
                <a:gd name="connsiteX3" fmla="*/ 1723060 w 2942781"/>
                <a:gd name="connsiteY3" fmla="*/ 1214099 h 1222530"/>
                <a:gd name="connsiteX4" fmla="*/ 0 w 2942781"/>
                <a:gd name="connsiteY4" fmla="*/ 1214098 h 1222530"/>
                <a:gd name="connsiteX5" fmla="*/ 325316 w 2942781"/>
                <a:gd name="connsiteY5" fmla="*/ 0 h 122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2781" h="1222530">
                  <a:moveTo>
                    <a:pt x="2942781" y="0"/>
                  </a:moveTo>
                  <a:lnTo>
                    <a:pt x="2942781" y="2811"/>
                  </a:lnTo>
                  <a:lnTo>
                    <a:pt x="1723060" y="1222530"/>
                  </a:lnTo>
                  <a:lnTo>
                    <a:pt x="1723060" y="1214099"/>
                  </a:lnTo>
                  <a:lnTo>
                    <a:pt x="0" y="1214098"/>
                  </a:lnTo>
                  <a:lnTo>
                    <a:pt x="325316"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94D09C11-7276-B67A-A1A1-4C875D1ABA68}"/>
              </a:ext>
            </a:extLst>
          </p:cNvPr>
          <p:cNvSpPr>
            <a:spLocks noGrp="1"/>
          </p:cNvSpPr>
          <p:nvPr userDrawn="1">
            <p:ph type="title"/>
          </p:nvPr>
        </p:nvSpPr>
        <p:spPr>
          <a:xfrm>
            <a:off x="457199" y="493776"/>
            <a:ext cx="11336693" cy="804672"/>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64A7CC43-E171-1153-2B75-F702D7B914A8}"/>
              </a:ext>
            </a:extLst>
          </p:cNvPr>
          <p:cNvSpPr>
            <a:spLocks noGrp="1"/>
          </p:cNvSpPr>
          <p:nvPr userDrawn="1">
            <p:ph type="body" idx="1"/>
          </p:nvPr>
        </p:nvSpPr>
        <p:spPr>
          <a:xfrm>
            <a:off x="457201" y="1554480"/>
            <a:ext cx="11336692" cy="4247212"/>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hidden="1">
            <a:extLst>
              <a:ext uri="{FF2B5EF4-FFF2-40B4-BE49-F238E27FC236}">
                <a16:creationId xmlns:a16="http://schemas.microsoft.com/office/drawing/2014/main" id="{0BF76C95-9667-2357-762F-B7B15D7BA3E7}"/>
              </a:ext>
            </a:extLst>
          </p:cNvPr>
          <p:cNvPicPr>
            <a:picLocks noChangeAspect="1"/>
          </p:cNvPicPr>
          <p:nvPr userDrawn="1"/>
        </p:nvPicPr>
        <p:blipFill>
          <a:blip r:embed="rId11"/>
          <a:stretch>
            <a:fillRect/>
          </a:stretch>
        </p:blipFill>
        <p:spPr>
          <a:xfrm>
            <a:off x="199931" y="-813939"/>
            <a:ext cx="2208828" cy="563207"/>
          </a:xfrm>
          <a:prstGeom prst="rect">
            <a:avLst/>
          </a:prstGeom>
        </p:spPr>
      </p:pic>
      <p:grpSp>
        <p:nvGrpSpPr>
          <p:cNvPr id="38" name="Full Size" hidden="1">
            <a:extLst>
              <a:ext uri="{FF2B5EF4-FFF2-40B4-BE49-F238E27FC236}">
                <a16:creationId xmlns:a16="http://schemas.microsoft.com/office/drawing/2014/main" id="{CBF5D916-2559-D87A-6071-0827F3911641}"/>
              </a:ext>
            </a:extLst>
          </p:cNvPr>
          <p:cNvGrpSpPr/>
          <p:nvPr userDrawn="1"/>
        </p:nvGrpSpPr>
        <p:grpSpPr>
          <a:xfrm rot="-19800000">
            <a:off x="-13122649" y="-4850920"/>
            <a:ext cx="20342655" cy="21641432"/>
            <a:chOff x="-289533" y="-2834540"/>
            <a:chExt cx="9192657" cy="9779562"/>
          </a:xfrm>
        </p:grpSpPr>
        <p:sp>
          <p:nvSpPr>
            <p:cNvPr id="39" name="Freeform 38">
              <a:extLst>
                <a:ext uri="{FF2B5EF4-FFF2-40B4-BE49-F238E27FC236}">
                  <a16:creationId xmlns:a16="http://schemas.microsoft.com/office/drawing/2014/main" id="{09460502-8A0D-F9D8-E3FC-D3C35053B797}"/>
                </a:ext>
              </a:extLst>
            </p:cNvPr>
            <p:cNvSpPr/>
            <p:nvPr userDrawn="1"/>
          </p:nvSpPr>
          <p:spPr>
            <a:xfrm rot="18900000">
              <a:off x="8351944" y="-2834540"/>
              <a:ext cx="551180" cy="7708900"/>
            </a:xfrm>
            <a:custGeom>
              <a:avLst/>
              <a:gdLst>
                <a:gd name="connsiteX0" fmla="*/ 551180 w 551180"/>
                <a:gd name="connsiteY0" fmla="*/ 0 h 7708900"/>
                <a:gd name="connsiteX1" fmla="*/ 551180 w 551180"/>
                <a:gd name="connsiteY1" fmla="*/ 7708900 h 7708900"/>
                <a:gd name="connsiteX2" fmla="*/ 0 w 551180"/>
                <a:gd name="connsiteY2" fmla="*/ 7708900 h 7708900"/>
                <a:gd name="connsiteX3" fmla="*/ 0 w 551180"/>
                <a:gd name="connsiteY3" fmla="*/ 549910 h 7708900"/>
                <a:gd name="connsiteX4" fmla="*/ 549910 w 551180"/>
                <a:gd name="connsiteY4" fmla="*/ 0 h 7708900"/>
                <a:gd name="connsiteX5" fmla="*/ 551180 w 551180"/>
                <a:gd name="connsiteY5" fmla="*/ 0 h 770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180" h="7708900">
                  <a:moveTo>
                    <a:pt x="551180" y="0"/>
                  </a:moveTo>
                  <a:lnTo>
                    <a:pt x="551180" y="7708900"/>
                  </a:lnTo>
                  <a:lnTo>
                    <a:pt x="0" y="7708900"/>
                  </a:lnTo>
                  <a:lnTo>
                    <a:pt x="0" y="549910"/>
                  </a:lnTo>
                  <a:lnTo>
                    <a:pt x="549910" y="0"/>
                  </a:lnTo>
                  <a:lnTo>
                    <a:pt x="55118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5626CB4-BBEE-998F-0B0A-69DF05DFB1D9}"/>
                </a:ext>
              </a:extLst>
            </p:cNvPr>
            <p:cNvSpPr/>
            <p:nvPr userDrawn="1"/>
          </p:nvSpPr>
          <p:spPr>
            <a:xfrm rot="18900000">
              <a:off x="8350599" y="-1797133"/>
              <a:ext cx="551179" cy="7707629"/>
            </a:xfrm>
            <a:custGeom>
              <a:avLst/>
              <a:gdLst>
                <a:gd name="connsiteX0" fmla="*/ 551179 w 551179"/>
                <a:gd name="connsiteY0" fmla="*/ 0 h 7707629"/>
                <a:gd name="connsiteX1" fmla="*/ 551179 w 551179"/>
                <a:gd name="connsiteY1" fmla="*/ 7707629 h 7707629"/>
                <a:gd name="connsiteX2" fmla="*/ 0 w 551179"/>
                <a:gd name="connsiteY2" fmla="*/ 7707629 h 7707629"/>
                <a:gd name="connsiteX3" fmla="*/ 0 w 551179"/>
                <a:gd name="connsiteY3" fmla="*/ 551179 h 7707629"/>
                <a:gd name="connsiteX4" fmla="*/ 551179 w 551179"/>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79" h="7707629">
                  <a:moveTo>
                    <a:pt x="551179" y="0"/>
                  </a:moveTo>
                  <a:lnTo>
                    <a:pt x="551179" y="7707629"/>
                  </a:lnTo>
                  <a:lnTo>
                    <a:pt x="0" y="7707629"/>
                  </a:lnTo>
                  <a:lnTo>
                    <a:pt x="0" y="551179"/>
                  </a:lnTo>
                  <a:lnTo>
                    <a:pt x="551179" y="0"/>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0">
              <a:extLst>
                <a:ext uri="{FF2B5EF4-FFF2-40B4-BE49-F238E27FC236}">
                  <a16:creationId xmlns:a16="http://schemas.microsoft.com/office/drawing/2014/main" id="{6C2146AF-D932-DAFB-A40A-398827AB05D0}"/>
                </a:ext>
              </a:extLst>
            </p:cNvPr>
            <p:cNvSpPr/>
            <p:nvPr userDrawn="1"/>
          </p:nvSpPr>
          <p:spPr>
            <a:xfrm rot="18900000">
              <a:off x="8350597" y="-762607"/>
              <a:ext cx="551180" cy="7707629"/>
            </a:xfrm>
            <a:custGeom>
              <a:avLst/>
              <a:gdLst>
                <a:gd name="connsiteX0" fmla="*/ 551180 w 551180"/>
                <a:gd name="connsiteY0" fmla="*/ 0 h 7707629"/>
                <a:gd name="connsiteX1" fmla="*/ 551180 w 551180"/>
                <a:gd name="connsiteY1" fmla="*/ 7707629 h 7707629"/>
                <a:gd name="connsiteX2" fmla="*/ 0 w 551180"/>
                <a:gd name="connsiteY2" fmla="*/ 7707629 h 7707629"/>
                <a:gd name="connsiteX3" fmla="*/ 0 w 551180"/>
                <a:gd name="connsiteY3" fmla="*/ 551180 h 7707629"/>
                <a:gd name="connsiteX4" fmla="*/ 551180 w 551180"/>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80" h="7707629">
                  <a:moveTo>
                    <a:pt x="551180" y="0"/>
                  </a:moveTo>
                  <a:lnTo>
                    <a:pt x="551180" y="7707629"/>
                  </a:lnTo>
                  <a:lnTo>
                    <a:pt x="0" y="7707629"/>
                  </a:lnTo>
                  <a:lnTo>
                    <a:pt x="0" y="551180"/>
                  </a:lnTo>
                  <a:lnTo>
                    <a:pt x="551180" y="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F07F8016-2972-8815-07A3-91499D9D4BAE}"/>
                </a:ext>
              </a:extLst>
            </p:cNvPr>
            <p:cNvSpPr/>
            <p:nvPr userDrawn="1"/>
          </p:nvSpPr>
          <p:spPr>
            <a:xfrm rot="18900000">
              <a:off x="-288451" y="744955"/>
              <a:ext cx="7707630" cy="549910"/>
            </a:xfrm>
            <a:custGeom>
              <a:avLst/>
              <a:gdLst>
                <a:gd name="connsiteX0" fmla="*/ 7707630 w 7707630"/>
                <a:gd name="connsiteY0" fmla="*/ 0 h 549910"/>
                <a:gd name="connsiteX1" fmla="*/ 7157720 w 7707630"/>
                <a:gd name="connsiteY1" fmla="*/ 549910 h 549910"/>
                <a:gd name="connsiteX2" fmla="*/ 7157720 w 7707630"/>
                <a:gd name="connsiteY2" fmla="*/ 548640 h 549910"/>
                <a:gd name="connsiteX3" fmla="*/ 0 w 7707630"/>
                <a:gd name="connsiteY3" fmla="*/ 548640 h 549910"/>
                <a:gd name="connsiteX4" fmla="*/ 0 w 7707630"/>
                <a:gd name="connsiteY4" fmla="*/ 0 h 549910"/>
                <a:gd name="connsiteX5" fmla="*/ 7707630 w 7707630"/>
                <a:gd name="connsiteY5" fmla="*/ 0 h 54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630" h="549910">
                  <a:moveTo>
                    <a:pt x="7707630" y="0"/>
                  </a:moveTo>
                  <a:lnTo>
                    <a:pt x="7157720" y="549910"/>
                  </a:lnTo>
                  <a:lnTo>
                    <a:pt x="7157720" y="548640"/>
                  </a:lnTo>
                  <a:lnTo>
                    <a:pt x="0" y="548640"/>
                  </a:lnTo>
                  <a:lnTo>
                    <a:pt x="0" y="0"/>
                  </a:lnTo>
                  <a:lnTo>
                    <a:pt x="7707630"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2">
              <a:extLst>
                <a:ext uri="{FF2B5EF4-FFF2-40B4-BE49-F238E27FC236}">
                  <a16:creationId xmlns:a16="http://schemas.microsoft.com/office/drawing/2014/main" id="{82852362-83F5-9AD4-AD9F-53F2E0292D33}"/>
                </a:ext>
              </a:extLst>
            </p:cNvPr>
            <p:cNvSpPr/>
            <p:nvPr userDrawn="1"/>
          </p:nvSpPr>
          <p:spPr>
            <a:xfrm rot="18900000">
              <a:off x="-289533" y="1780457"/>
              <a:ext cx="7708899" cy="552449"/>
            </a:xfrm>
            <a:custGeom>
              <a:avLst/>
              <a:gdLst>
                <a:gd name="connsiteX0" fmla="*/ 7708899 w 7708899"/>
                <a:gd name="connsiteY0" fmla="*/ 0 h 552449"/>
                <a:gd name="connsiteX1" fmla="*/ 7708899 w 7708899"/>
                <a:gd name="connsiteY1" fmla="*/ 1270 h 552449"/>
                <a:gd name="connsiteX2" fmla="*/ 7157720 w 7708899"/>
                <a:gd name="connsiteY2" fmla="*/ 552449 h 552449"/>
                <a:gd name="connsiteX3" fmla="*/ 7157720 w 7708899"/>
                <a:gd name="connsiteY3" fmla="*/ 548640 h 552449"/>
                <a:gd name="connsiteX4" fmla="*/ 0 w 7708899"/>
                <a:gd name="connsiteY4" fmla="*/ 548640 h 552449"/>
                <a:gd name="connsiteX5" fmla="*/ 0 w 7708899"/>
                <a:gd name="connsiteY5" fmla="*/ 0 h 552449"/>
                <a:gd name="connsiteX6" fmla="*/ 7708899 w 7708899"/>
                <a:gd name="connsiteY6" fmla="*/ 0 h 552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49">
                  <a:moveTo>
                    <a:pt x="7708899" y="0"/>
                  </a:moveTo>
                  <a:lnTo>
                    <a:pt x="7708899" y="1270"/>
                  </a:lnTo>
                  <a:lnTo>
                    <a:pt x="7157720" y="552449"/>
                  </a:lnTo>
                  <a:lnTo>
                    <a:pt x="7157720" y="548640"/>
                  </a:lnTo>
                  <a:lnTo>
                    <a:pt x="0" y="548640"/>
                  </a:lnTo>
                  <a:lnTo>
                    <a:pt x="0" y="0"/>
                  </a:lnTo>
                  <a:lnTo>
                    <a:pt x="7708899"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3">
              <a:extLst>
                <a:ext uri="{FF2B5EF4-FFF2-40B4-BE49-F238E27FC236}">
                  <a16:creationId xmlns:a16="http://schemas.microsoft.com/office/drawing/2014/main" id="{E7216B24-9E3B-FE57-A75D-569327BB05D9}"/>
                </a:ext>
              </a:extLst>
            </p:cNvPr>
            <p:cNvSpPr/>
            <p:nvPr userDrawn="1"/>
          </p:nvSpPr>
          <p:spPr>
            <a:xfrm rot="18900000">
              <a:off x="-289533" y="2814982"/>
              <a:ext cx="7708899" cy="552450"/>
            </a:xfrm>
            <a:custGeom>
              <a:avLst/>
              <a:gdLst>
                <a:gd name="connsiteX0" fmla="*/ 7708899 w 7708899"/>
                <a:gd name="connsiteY0" fmla="*/ 0 h 552450"/>
                <a:gd name="connsiteX1" fmla="*/ 7708899 w 7708899"/>
                <a:gd name="connsiteY1" fmla="*/ 1270 h 552450"/>
                <a:gd name="connsiteX2" fmla="*/ 7157719 w 7708899"/>
                <a:gd name="connsiteY2" fmla="*/ 552450 h 552450"/>
                <a:gd name="connsiteX3" fmla="*/ 7157719 w 7708899"/>
                <a:gd name="connsiteY3" fmla="*/ 548640 h 552450"/>
                <a:gd name="connsiteX4" fmla="*/ 0 w 7708899"/>
                <a:gd name="connsiteY4" fmla="*/ 548640 h 552450"/>
                <a:gd name="connsiteX5" fmla="*/ 0 w 7708899"/>
                <a:gd name="connsiteY5" fmla="*/ 0 h 552450"/>
                <a:gd name="connsiteX6" fmla="*/ 7708899 w 7708899"/>
                <a:gd name="connsiteY6" fmla="*/ 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50">
                  <a:moveTo>
                    <a:pt x="7708899" y="0"/>
                  </a:moveTo>
                  <a:lnTo>
                    <a:pt x="7708899" y="1270"/>
                  </a:lnTo>
                  <a:lnTo>
                    <a:pt x="7157719" y="552450"/>
                  </a:lnTo>
                  <a:lnTo>
                    <a:pt x="7157719" y="548640"/>
                  </a:lnTo>
                  <a:lnTo>
                    <a:pt x="0" y="548640"/>
                  </a:lnTo>
                  <a:lnTo>
                    <a:pt x="0" y="0"/>
                  </a:lnTo>
                  <a:lnTo>
                    <a:pt x="7708899"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8" name="Rectangle 7">
            <a:extLst>
              <a:ext uri="{FF2B5EF4-FFF2-40B4-BE49-F238E27FC236}">
                <a16:creationId xmlns:a16="http://schemas.microsoft.com/office/drawing/2014/main" id="{C138A1B3-3BF3-59B5-BC62-D71A42E3DCAE}"/>
              </a:ext>
            </a:extLst>
          </p:cNvPr>
          <p:cNvSpPr/>
          <p:nvPr userDrawn="1"/>
        </p:nvSpPr>
        <p:spPr>
          <a:xfrm>
            <a:off x="0" y="6119783"/>
            <a:ext cx="12192000" cy="590019"/>
          </a:xfrm>
          <a:prstGeom prst="rect">
            <a:avLst/>
          </a:prstGeom>
          <a:solidFill>
            <a:schemeClr val="bg1">
              <a:alpha val="5979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A4EF89E6-B423-961F-9EA6-282EA3254A55}"/>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402110" y="6231912"/>
            <a:ext cx="365760" cy="365760"/>
          </a:xfrm>
          <a:prstGeom prst="rect">
            <a:avLst/>
          </a:prstGeom>
          <a:effectLst/>
        </p:spPr>
      </p:pic>
      <p:sp>
        <p:nvSpPr>
          <p:cNvPr id="10" name="Slide Number Placeholder 5">
            <a:extLst>
              <a:ext uri="{FF2B5EF4-FFF2-40B4-BE49-F238E27FC236}">
                <a16:creationId xmlns:a16="http://schemas.microsoft.com/office/drawing/2014/main" id="{1D245A44-8C53-1922-627A-B81AD5688085}"/>
              </a:ext>
            </a:extLst>
          </p:cNvPr>
          <p:cNvSpPr>
            <a:spLocks noGrp="1"/>
          </p:cNvSpPr>
          <p:nvPr>
            <p:ph type="sldNum" sz="quarter" idx="4"/>
          </p:nvPr>
        </p:nvSpPr>
        <p:spPr>
          <a:xfrm>
            <a:off x="11731748" y="6232230"/>
            <a:ext cx="288523" cy="365125"/>
          </a:xfrm>
          <a:prstGeom prst="rect">
            <a:avLst/>
          </a:prstGeom>
        </p:spPr>
        <p:txBody>
          <a:bodyPr vert="horz" lIns="0" tIns="0" rIns="0" bIns="0" rtlCol="0" anchor="ctr" anchorCtr="0">
            <a:noAutofit/>
          </a:bodyPr>
          <a:lstStyle>
            <a:lvl1pPr algn="r">
              <a:defRPr sz="800">
                <a:solidFill>
                  <a:srgbClr val="000A62"/>
                </a:solidFill>
                <a:latin typeface="Arial" panose="020B0604020202020204" pitchFamily="34" charset="0"/>
                <a:cs typeface="Arial" panose="020B0604020202020204" pitchFamily="34" charset="0"/>
              </a:defRPr>
            </a:lvl1pPr>
          </a:lstStyle>
          <a:p>
            <a:fld id="{A1371F83-EA4D-3B47-99B9-95D90583DC1D}" type="slidenum">
              <a:rPr lang="en-US" smtClean="0"/>
              <a:pPr/>
              <a:t>‹#›</a:t>
            </a:fld>
            <a:endParaRPr lang="en-US" sz="800"/>
          </a:p>
        </p:txBody>
      </p:sp>
      <p:pic>
        <p:nvPicPr>
          <p:cNvPr id="11" name="Picture 10" descr="A blue and black logo&#10;&#10;AI-generated content may be incorrect.">
            <a:extLst>
              <a:ext uri="{FF2B5EF4-FFF2-40B4-BE49-F238E27FC236}">
                <a16:creationId xmlns:a16="http://schemas.microsoft.com/office/drawing/2014/main" id="{4F45A68D-EFC0-33D2-D772-6ECD1B4C7C71}"/>
              </a:ext>
            </a:extLst>
          </p:cNvPr>
          <p:cNvPicPr>
            <a:picLocks noChangeAspect="1"/>
          </p:cNvPicPr>
          <p:nvPr userDrawn="1"/>
        </p:nvPicPr>
        <p:blipFill>
          <a:blip r:embed="rId13"/>
          <a:stretch>
            <a:fillRect/>
          </a:stretch>
        </p:blipFill>
        <p:spPr>
          <a:xfrm>
            <a:off x="10649018" y="6277632"/>
            <a:ext cx="1082730" cy="274320"/>
          </a:xfrm>
          <a:prstGeom prst="rect">
            <a:avLst/>
          </a:prstGeom>
        </p:spPr>
      </p:pic>
    </p:spTree>
    <p:extLst>
      <p:ext uri="{BB962C8B-B14F-4D97-AF65-F5344CB8AC3E}">
        <p14:creationId xmlns:p14="http://schemas.microsoft.com/office/powerpoint/2010/main" val="1118523855"/>
      </p:ext>
    </p:extLst>
  </p:cSld>
  <p:clrMap bg1="lt1" tx1="dk1" bg2="lt2" tx2="dk2" accent1="accent1" accent2="accent2" accent3="accent3" accent4="accent4" accent5="accent5" accent6="accent6" hlink="hlink" folHlink="folHlink"/>
  <p:sldLayoutIdLst>
    <p:sldLayoutId id="2147486166" r:id="rId1"/>
    <p:sldLayoutId id="2147486167" r:id="rId2"/>
    <p:sldLayoutId id="2147486168" r:id="rId3"/>
    <p:sldLayoutId id="2147486169" r:id="rId4"/>
    <p:sldLayoutId id="2147486170" r:id="rId5"/>
    <p:sldLayoutId id="2147486171" r:id="rId6"/>
    <p:sldLayoutId id="2147486172" r:id="rId7"/>
    <p:sldLayoutId id="2147486173" r:id="rId8"/>
    <p:sldLayoutId id="2147486174" r:id="rId9"/>
  </p:sldLayoutIdLst>
  <p:hf hdr="0" ftr="0" dt="0"/>
  <p:txStyles>
    <p:titleStyle>
      <a:lvl1pPr algn="l" defTabSz="914400" rtl="0" eaLnBrk="1" latinLnBrk="0" hangingPunct="1">
        <a:lnSpc>
          <a:spcPct val="90000"/>
        </a:lnSpc>
        <a:spcBef>
          <a:spcPct val="0"/>
        </a:spcBef>
        <a:buNone/>
        <a:defRPr sz="3200" kern="1200">
          <a:solidFill>
            <a:srgbClr val="000A6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16">
          <p15:clr>
            <a:srgbClr val="F26B43"/>
          </p15:clr>
        </p15:guide>
        <p15:guide id="2" pos="288">
          <p15:clr>
            <a:srgbClr val="F26B43"/>
          </p15:clr>
        </p15:guide>
        <p15:guide id="3" pos="7287">
          <p15:clr>
            <a:srgbClr val="F26B43"/>
          </p15:clr>
        </p15:guide>
        <p15:guide id="4" orient="horz" pos="37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7.xml"/><Relationship Id="rId3"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44.xml"/><Relationship Id="rId3" Type="http://schemas.openxmlformats.org/officeDocument/2006/relationships/notesSlide" Target="../notesSlides/notesSlide3.xml"/><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jpeg"/><Relationship Id="rId7"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5.jpe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jpeg"/><Relationship Id="rId6"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9.xml"/><Relationship Id="rId3" Type="http://schemas.openxmlformats.org/officeDocument/2006/relationships/image" Target="../media/image25.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0.xml"/><Relationship Id="rId3" Type="http://schemas.openxmlformats.org/officeDocument/2006/relationships/image" Target="../media/image27.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9.png"/><Relationship Id="rId4" Type="http://schemas.openxmlformats.org/officeDocument/2006/relationships/image" Target="../media/image30.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1.jpeg"/><Relationship Id="rId4" Type="http://schemas.openxmlformats.org/officeDocument/2006/relationships/image" Target="../media/image9.png"/><Relationship Id="rId5" Type="http://schemas.openxmlformats.org/officeDocument/2006/relationships/image" Target="../media/image32.jpeg"/><Relationship Id="rId6" Type="http://schemas.openxmlformats.org/officeDocument/2006/relationships/image" Target="../media/image33.png"/><Relationship Id="rId7"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35.png"/><Relationship Id="rId5" Type="http://schemas.openxmlformats.org/officeDocument/2006/relationships/image" Target="../media/image36.jpeg"/><Relationship Id="rId6"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8.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2DE8A6-7F5D-DA8D-6277-B03F5352FC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9916" y="457171"/>
            <a:ext cx="11272168" cy="5610254"/>
          </a:xfrm>
          <a:prstGeom prst="rect">
            <a:avLst/>
          </a:prstGeom>
        </p:spPr>
      </p:pic>
      <p:sp>
        <p:nvSpPr>
          <p:cNvPr id="4" name="Title 2">
            <a:extLst>
              <a:ext uri="{FF2B5EF4-FFF2-40B4-BE49-F238E27FC236}">
                <a16:creationId xmlns:a16="http://schemas.microsoft.com/office/drawing/2014/main" id="{6FBE3A7A-2278-7A8C-92B9-784ED78AA5D5}"/>
              </a:ext>
            </a:extLst>
          </p:cNvPr>
          <p:cNvSpPr txBox="1">
            <a:spLocks/>
          </p:cNvSpPr>
          <p:nvPr/>
        </p:nvSpPr>
        <p:spPr>
          <a:xfrm>
            <a:off x="411483" y="4324124"/>
            <a:ext cx="3868058" cy="1107996"/>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sz="3200" kern="1200">
                <a:solidFill>
                  <a:schemeClr val="bg1"/>
                </a:solidFill>
                <a:latin typeface="+mj-lt"/>
                <a:ea typeface="+mj-ea"/>
                <a:cs typeface="+mj-cs"/>
              </a:defRPr>
            </a:lvl1pPr>
          </a:lstStyle>
          <a:p>
            <a:r>
              <a:rPr lang="en-US" sz="3600">
                <a:solidFill>
                  <a:schemeClr val="tx1"/>
                </a:solidFill>
              </a:rPr>
              <a:t>What’s important this week</a:t>
            </a:r>
          </a:p>
        </p:txBody>
      </p:sp>
      <p:pic>
        <p:nvPicPr>
          <p:cNvPr id="10" name="Graphic 9">
            <a:extLst>
              <a:ext uri="{FF2B5EF4-FFF2-40B4-BE49-F238E27FC236}">
                <a16:creationId xmlns:a16="http://schemas.microsoft.com/office/drawing/2014/main" id="{1E2BA9F7-3E19-DF27-0E67-641BC67A60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 y="457200"/>
            <a:ext cx="868683" cy="868683"/>
          </a:xfrm>
          <a:prstGeom prst="rect">
            <a:avLst/>
          </a:prstGeom>
        </p:spPr>
      </p:pic>
    </p:spTree>
    <p:extLst>
      <p:ext uri="{BB962C8B-B14F-4D97-AF65-F5344CB8AC3E}">
        <p14:creationId xmlns:p14="http://schemas.microsoft.com/office/powerpoint/2010/main" val="1095865194"/>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9060"/>
          </a:xfrm>
          <a:prstGeom prst="rect">
            <a:avLst/>
          </a:prstGeom>
          <a:solidFill>
            <a:srgbClr val="FFC7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3" name="TextBox 2"/>
          <p:cNvSpPr txBox="1"/>
          <p:nvPr/>
        </p:nvSpPr>
        <p:spPr>
          <a:xfrm>
            <a:off x="3138492" y="419100"/>
            <a:ext cx="5915017" cy="564322"/>
          </a:xfrm>
          <a:prstGeom prst="rect">
            <a:avLst/>
          </a:prstGeom>
          <a:noFill/>
        </p:spPr>
        <p:txBody>
          <a:bodyPr wrap="none" lIns="0" tIns="0" rIns="0" bIns="0">
            <a:spAutoFit/>
          </a:bodyPr>
          <a:lstStyle/>
          <a:p>
            <a:pPr algn="ctr"/>
            <a:r>
              <a:rPr sz="3667" b="1">
                <a:solidFill>
                  <a:srgbClr val="FFFFFF"/>
                </a:solidFill>
                <a:latin typeface="Arial"/>
              </a:rPr>
              <a:t>Top Performers</a:t>
            </a:r>
          </a:p>
        </p:txBody>
      </p:sp>
      <p:sp>
        <p:nvSpPr>
          <p:cNvPr id="4" name="TextBox 3"/>
          <p:cNvSpPr txBox="1"/>
          <p:nvPr/>
        </p:nvSpPr>
        <p:spPr>
          <a:xfrm>
            <a:off x="2859377" y="1021081"/>
            <a:ext cx="6473247" cy="205121"/>
          </a:xfrm>
          <a:prstGeom prst="rect">
            <a:avLst/>
          </a:prstGeom>
          <a:noFill/>
        </p:spPr>
        <p:txBody>
          <a:bodyPr wrap="none" lIns="0" tIns="0" rIns="0" bIns="0">
            <a:spAutoFit/>
          </a:bodyPr>
          <a:lstStyle/>
          <a:p>
            <a:pPr algn="ctr"/>
            <a:r>
              <a:rPr sz="1333">
                <a:solidFill>
                  <a:srgbClr val="FFFFFF"/>
                </a:solidFill>
                <a:latin typeface="Arial"/>
              </a:rPr>
              <a:t>Recognizing this week's lifecase production, bonus eligibility, and council credit progress</a:t>
            </a:r>
          </a:p>
        </p:txBody>
      </p:sp>
      <p:sp>
        <p:nvSpPr>
          <p:cNvPr id="5" name="TextBox 4"/>
          <p:cNvSpPr txBox="1"/>
          <p:nvPr/>
        </p:nvSpPr>
        <p:spPr>
          <a:xfrm>
            <a:off x="11121594" y="190501"/>
            <a:ext cx="537006" cy="128177"/>
          </a:xfrm>
          <a:prstGeom prst="rect">
            <a:avLst/>
          </a:prstGeom>
          <a:noFill/>
        </p:spPr>
        <p:txBody>
          <a:bodyPr wrap="none" lIns="0" tIns="0" rIns="0" bIns="0">
            <a:spAutoFit/>
          </a:bodyPr>
          <a:lstStyle/>
          <a:p>
            <a:pPr algn="r"/>
            <a:r>
              <a:rPr sz="833">
                <a:solidFill>
                  <a:srgbClr val="C2DFFF"/>
                </a:solidFill>
                <a:latin typeface="Arial"/>
              </a:rPr>
              <a:t>Duplicate as needed</a:t>
            </a:r>
          </a:p>
        </p:txBody>
      </p:sp>
      <p:sp>
        <p:nvSpPr>
          <p:cNvPr id="6" name="Rounded Rectangle 5"/>
          <p:cNvSpPr/>
          <p:nvPr/>
        </p:nvSpPr>
        <p:spPr>
          <a:xfrm>
            <a:off x="876300" y="1562099"/>
            <a:ext cx="5105400" cy="480060"/>
          </a:xfrm>
          <a:prstGeom prst="roundRect">
            <a:avLst/>
          </a:prstGeom>
          <a:solidFill>
            <a:srgbClr val="004B91"/>
          </a:solidFill>
          <a:ln w="12700">
            <a:solidFill>
              <a:srgbClr val="2D8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7" name="Oval 6"/>
          <p:cNvSpPr/>
          <p:nvPr/>
        </p:nvSpPr>
        <p:spPr>
          <a:xfrm>
            <a:off x="1043940" y="1649730"/>
            <a:ext cx="320040" cy="320040"/>
          </a:xfrm>
          <a:prstGeom prst="ellipse">
            <a:avLst/>
          </a:prstGeom>
          <a:solidFill>
            <a:srgbClr val="FFC72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8" name="TextBox 7"/>
          <p:cNvSpPr txBox="1"/>
          <p:nvPr/>
        </p:nvSpPr>
        <p:spPr>
          <a:xfrm>
            <a:off x="1171098" y="1691640"/>
            <a:ext cx="65724" cy="141129"/>
          </a:xfrm>
          <a:prstGeom prst="rect">
            <a:avLst/>
          </a:prstGeom>
          <a:noFill/>
        </p:spPr>
        <p:txBody>
          <a:bodyPr wrap="none" lIns="0" tIns="0" rIns="0" bIns="0">
            <a:spAutoFit/>
          </a:bodyPr>
          <a:lstStyle/>
          <a:p>
            <a:pPr algn="ctr"/>
            <a:r>
              <a:rPr sz="917" b="1">
                <a:solidFill>
                  <a:srgbClr val="00417D"/>
                </a:solidFill>
                <a:latin typeface="Arial"/>
              </a:rPr>
              <a:t>1</a:t>
            </a:r>
          </a:p>
        </p:txBody>
      </p:sp>
      <p:sp>
        <p:nvSpPr>
          <p:cNvPr id="9" name="TextBox 8"/>
          <p:cNvSpPr txBox="1"/>
          <p:nvPr/>
        </p:nvSpPr>
        <p:spPr>
          <a:xfrm>
            <a:off x="1447800" y="1615439"/>
            <a:ext cx="2011680" cy="192360"/>
          </a:xfrm>
          <a:prstGeom prst="rect">
            <a:avLst/>
          </a:prstGeom>
          <a:noFill/>
        </p:spPr>
        <p:txBody>
          <a:bodyPr wrap="none" lIns="0" tIns="0" rIns="0" bIns="0">
            <a:spAutoFit/>
          </a:bodyPr>
          <a:lstStyle/>
          <a:p>
            <a:r>
              <a:rPr sz="1250" b="1">
                <a:solidFill>
                  <a:srgbClr val="FFFFFF"/>
                </a:solidFill>
                <a:latin typeface="Arial"/>
              </a:rPr>
              <a:t>[Agent Name]</a:t>
            </a:r>
          </a:p>
        </p:txBody>
      </p:sp>
      <p:sp>
        <p:nvSpPr>
          <p:cNvPr id="10" name="TextBox 9"/>
          <p:cNvSpPr txBox="1"/>
          <p:nvPr/>
        </p:nvSpPr>
        <p:spPr>
          <a:xfrm>
            <a:off x="1447800" y="1828800"/>
            <a:ext cx="3072957" cy="125740"/>
          </a:xfrm>
          <a:prstGeom prst="rect">
            <a:avLst/>
          </a:prstGeom>
          <a:noFill/>
        </p:spPr>
        <p:txBody>
          <a:bodyPr wrap="none" lIns="0" tIns="0" rIns="0" bIns="0">
            <a:spAutoFit/>
          </a:bodyPr>
          <a:lstStyle/>
          <a:p>
            <a:r>
              <a:rPr sz="817">
                <a:solidFill>
                  <a:srgbClr val="E5F1FF"/>
                </a:solidFill>
                <a:latin typeface="Arial"/>
              </a:rPr>
              <a:t>[Achievement - e.g., lifecases, bonus earned, council credits]</a:t>
            </a:r>
          </a:p>
        </p:txBody>
      </p:sp>
      <p:sp>
        <p:nvSpPr>
          <p:cNvPr id="11" name="Rounded Rectangle 10"/>
          <p:cNvSpPr/>
          <p:nvPr/>
        </p:nvSpPr>
        <p:spPr>
          <a:xfrm>
            <a:off x="876300" y="2122169"/>
            <a:ext cx="5105400" cy="480060"/>
          </a:xfrm>
          <a:prstGeom prst="roundRect">
            <a:avLst/>
          </a:prstGeom>
          <a:solidFill>
            <a:srgbClr val="004B91"/>
          </a:solidFill>
          <a:ln w="12700">
            <a:solidFill>
              <a:srgbClr val="2D8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12" name="Oval 11"/>
          <p:cNvSpPr/>
          <p:nvPr/>
        </p:nvSpPr>
        <p:spPr>
          <a:xfrm>
            <a:off x="1043940" y="2209800"/>
            <a:ext cx="320040" cy="320040"/>
          </a:xfrm>
          <a:prstGeom prst="ellipse">
            <a:avLst/>
          </a:prstGeom>
          <a:solidFill>
            <a:srgbClr val="FFC72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13" name="TextBox 12"/>
          <p:cNvSpPr txBox="1"/>
          <p:nvPr/>
        </p:nvSpPr>
        <p:spPr>
          <a:xfrm>
            <a:off x="1171098" y="2251710"/>
            <a:ext cx="65724" cy="141129"/>
          </a:xfrm>
          <a:prstGeom prst="rect">
            <a:avLst/>
          </a:prstGeom>
          <a:noFill/>
        </p:spPr>
        <p:txBody>
          <a:bodyPr wrap="none" lIns="0" tIns="0" rIns="0" bIns="0">
            <a:spAutoFit/>
          </a:bodyPr>
          <a:lstStyle/>
          <a:p>
            <a:pPr algn="ctr"/>
            <a:r>
              <a:rPr sz="917" b="1">
                <a:solidFill>
                  <a:srgbClr val="00417D"/>
                </a:solidFill>
                <a:latin typeface="Arial"/>
              </a:rPr>
              <a:t>2</a:t>
            </a:r>
          </a:p>
        </p:txBody>
      </p:sp>
      <p:sp>
        <p:nvSpPr>
          <p:cNvPr id="14" name="TextBox 13"/>
          <p:cNvSpPr txBox="1"/>
          <p:nvPr/>
        </p:nvSpPr>
        <p:spPr>
          <a:xfrm>
            <a:off x="1447800" y="2175509"/>
            <a:ext cx="2011680" cy="192360"/>
          </a:xfrm>
          <a:prstGeom prst="rect">
            <a:avLst/>
          </a:prstGeom>
          <a:noFill/>
        </p:spPr>
        <p:txBody>
          <a:bodyPr wrap="none" lIns="0" tIns="0" rIns="0" bIns="0">
            <a:spAutoFit/>
          </a:bodyPr>
          <a:lstStyle/>
          <a:p>
            <a:r>
              <a:rPr sz="1250" b="1">
                <a:solidFill>
                  <a:srgbClr val="FFFFFF"/>
                </a:solidFill>
                <a:latin typeface="Arial"/>
              </a:rPr>
              <a:t>[Agent Name]</a:t>
            </a:r>
          </a:p>
        </p:txBody>
      </p:sp>
      <p:sp>
        <p:nvSpPr>
          <p:cNvPr id="15" name="TextBox 14"/>
          <p:cNvSpPr txBox="1"/>
          <p:nvPr/>
        </p:nvSpPr>
        <p:spPr>
          <a:xfrm>
            <a:off x="1447800" y="2388870"/>
            <a:ext cx="3072957" cy="125740"/>
          </a:xfrm>
          <a:prstGeom prst="rect">
            <a:avLst/>
          </a:prstGeom>
          <a:noFill/>
        </p:spPr>
        <p:txBody>
          <a:bodyPr wrap="none" lIns="0" tIns="0" rIns="0" bIns="0">
            <a:spAutoFit/>
          </a:bodyPr>
          <a:lstStyle/>
          <a:p>
            <a:r>
              <a:rPr sz="817">
                <a:solidFill>
                  <a:srgbClr val="E5F1FF"/>
                </a:solidFill>
                <a:latin typeface="Arial"/>
              </a:rPr>
              <a:t>[Achievement - e.g., lifecases, bonus earned, council credits]</a:t>
            </a:r>
          </a:p>
        </p:txBody>
      </p:sp>
      <p:sp>
        <p:nvSpPr>
          <p:cNvPr id="16" name="Rounded Rectangle 15"/>
          <p:cNvSpPr/>
          <p:nvPr/>
        </p:nvSpPr>
        <p:spPr>
          <a:xfrm>
            <a:off x="876300" y="2682239"/>
            <a:ext cx="5105400" cy="480060"/>
          </a:xfrm>
          <a:prstGeom prst="roundRect">
            <a:avLst/>
          </a:prstGeom>
          <a:solidFill>
            <a:srgbClr val="004B91"/>
          </a:solidFill>
          <a:ln w="12700">
            <a:solidFill>
              <a:srgbClr val="2D8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17" name="Oval 16"/>
          <p:cNvSpPr/>
          <p:nvPr/>
        </p:nvSpPr>
        <p:spPr>
          <a:xfrm>
            <a:off x="1043940" y="2769870"/>
            <a:ext cx="320040" cy="320040"/>
          </a:xfrm>
          <a:prstGeom prst="ellipse">
            <a:avLst/>
          </a:prstGeom>
          <a:solidFill>
            <a:srgbClr val="FFC72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18" name="TextBox 17"/>
          <p:cNvSpPr txBox="1"/>
          <p:nvPr/>
        </p:nvSpPr>
        <p:spPr>
          <a:xfrm>
            <a:off x="1171098" y="2811780"/>
            <a:ext cx="65724" cy="141129"/>
          </a:xfrm>
          <a:prstGeom prst="rect">
            <a:avLst/>
          </a:prstGeom>
          <a:noFill/>
        </p:spPr>
        <p:txBody>
          <a:bodyPr wrap="none" lIns="0" tIns="0" rIns="0" bIns="0">
            <a:spAutoFit/>
          </a:bodyPr>
          <a:lstStyle/>
          <a:p>
            <a:pPr algn="ctr"/>
            <a:r>
              <a:rPr sz="917" b="1">
                <a:solidFill>
                  <a:srgbClr val="00417D"/>
                </a:solidFill>
                <a:latin typeface="Arial"/>
              </a:rPr>
              <a:t>3</a:t>
            </a:r>
          </a:p>
        </p:txBody>
      </p:sp>
      <p:sp>
        <p:nvSpPr>
          <p:cNvPr id="19" name="TextBox 18"/>
          <p:cNvSpPr txBox="1"/>
          <p:nvPr/>
        </p:nvSpPr>
        <p:spPr>
          <a:xfrm>
            <a:off x="1447801" y="2735579"/>
            <a:ext cx="2011680" cy="179601"/>
          </a:xfrm>
          <a:prstGeom prst="rect">
            <a:avLst/>
          </a:prstGeom>
          <a:noFill/>
        </p:spPr>
        <p:txBody>
          <a:bodyPr wrap="none" lIns="0" tIns="0" rIns="0" bIns="0">
            <a:spAutoFit/>
          </a:bodyPr>
          <a:lstStyle/>
          <a:p>
            <a:r>
              <a:rPr sz="1167" b="1">
                <a:solidFill>
                  <a:srgbClr val="FFFFFF"/>
                </a:solidFill>
                <a:latin typeface="Arial"/>
              </a:rPr>
              <a:t>[Agent Name]</a:t>
            </a:r>
          </a:p>
        </p:txBody>
      </p:sp>
      <p:sp>
        <p:nvSpPr>
          <p:cNvPr id="20" name="TextBox 19"/>
          <p:cNvSpPr txBox="1"/>
          <p:nvPr/>
        </p:nvSpPr>
        <p:spPr>
          <a:xfrm>
            <a:off x="1447800" y="2948939"/>
            <a:ext cx="3072957" cy="125740"/>
          </a:xfrm>
          <a:prstGeom prst="rect">
            <a:avLst/>
          </a:prstGeom>
          <a:noFill/>
        </p:spPr>
        <p:txBody>
          <a:bodyPr wrap="none" lIns="0" tIns="0" rIns="0" bIns="0">
            <a:spAutoFit/>
          </a:bodyPr>
          <a:lstStyle/>
          <a:p>
            <a:r>
              <a:rPr sz="817">
                <a:solidFill>
                  <a:srgbClr val="E5F1FF"/>
                </a:solidFill>
                <a:latin typeface="Arial"/>
              </a:rPr>
              <a:t>[Achievement - e.g., lifecases, bonus earned, council credits]</a:t>
            </a:r>
          </a:p>
        </p:txBody>
      </p:sp>
      <p:sp>
        <p:nvSpPr>
          <p:cNvPr id="21" name="Rounded Rectangle 20"/>
          <p:cNvSpPr/>
          <p:nvPr/>
        </p:nvSpPr>
        <p:spPr>
          <a:xfrm>
            <a:off x="876300" y="3242310"/>
            <a:ext cx="5105400" cy="480060"/>
          </a:xfrm>
          <a:prstGeom prst="roundRect">
            <a:avLst/>
          </a:prstGeom>
          <a:solidFill>
            <a:srgbClr val="0C69BE"/>
          </a:solidFill>
          <a:ln w="12700">
            <a:solidFill>
              <a:srgbClr val="2D8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22" name="Oval 21"/>
          <p:cNvSpPr/>
          <p:nvPr/>
        </p:nvSpPr>
        <p:spPr>
          <a:xfrm>
            <a:off x="1043940" y="3329940"/>
            <a:ext cx="320040" cy="320040"/>
          </a:xfrm>
          <a:prstGeom prst="ellipse">
            <a:avLst/>
          </a:prstGeom>
          <a:solidFill>
            <a:srgbClr val="C2D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23" name="TextBox 22"/>
          <p:cNvSpPr txBox="1"/>
          <p:nvPr/>
        </p:nvSpPr>
        <p:spPr>
          <a:xfrm>
            <a:off x="1171098" y="3371850"/>
            <a:ext cx="65724" cy="141129"/>
          </a:xfrm>
          <a:prstGeom prst="rect">
            <a:avLst/>
          </a:prstGeom>
          <a:noFill/>
        </p:spPr>
        <p:txBody>
          <a:bodyPr wrap="none" lIns="0" tIns="0" rIns="0" bIns="0">
            <a:spAutoFit/>
          </a:bodyPr>
          <a:lstStyle/>
          <a:p>
            <a:pPr algn="ctr"/>
            <a:r>
              <a:rPr sz="917" b="1">
                <a:solidFill>
                  <a:srgbClr val="00417D"/>
                </a:solidFill>
                <a:latin typeface="Arial"/>
              </a:rPr>
              <a:t>4</a:t>
            </a:r>
          </a:p>
        </p:txBody>
      </p:sp>
      <p:sp>
        <p:nvSpPr>
          <p:cNvPr id="24" name="TextBox 23"/>
          <p:cNvSpPr txBox="1"/>
          <p:nvPr/>
        </p:nvSpPr>
        <p:spPr>
          <a:xfrm>
            <a:off x="1447800" y="3295650"/>
            <a:ext cx="2011680" cy="192360"/>
          </a:xfrm>
          <a:prstGeom prst="rect">
            <a:avLst/>
          </a:prstGeom>
          <a:noFill/>
        </p:spPr>
        <p:txBody>
          <a:bodyPr wrap="none" lIns="0" tIns="0" rIns="0" bIns="0">
            <a:spAutoFit/>
          </a:bodyPr>
          <a:lstStyle/>
          <a:p>
            <a:r>
              <a:rPr sz="1250" b="1">
                <a:solidFill>
                  <a:srgbClr val="FFFFFF"/>
                </a:solidFill>
                <a:latin typeface="Arial"/>
              </a:rPr>
              <a:t>[Agent Name]</a:t>
            </a:r>
          </a:p>
        </p:txBody>
      </p:sp>
      <p:sp>
        <p:nvSpPr>
          <p:cNvPr id="25" name="TextBox 24"/>
          <p:cNvSpPr txBox="1"/>
          <p:nvPr/>
        </p:nvSpPr>
        <p:spPr>
          <a:xfrm>
            <a:off x="1447800" y="3509010"/>
            <a:ext cx="2986395" cy="125740"/>
          </a:xfrm>
          <a:prstGeom prst="rect">
            <a:avLst/>
          </a:prstGeom>
          <a:noFill/>
        </p:spPr>
        <p:txBody>
          <a:bodyPr wrap="none" lIns="0" tIns="0" rIns="0" bIns="0">
            <a:spAutoFit/>
          </a:bodyPr>
          <a:lstStyle/>
          <a:p>
            <a:r>
              <a:rPr sz="817">
                <a:solidFill>
                  <a:srgbClr val="E5F1FF"/>
                </a:solidFill>
                <a:latin typeface="Arial"/>
              </a:rPr>
              <a:t>[Achievement - e.g., lifecases, bonus earned, council credits]</a:t>
            </a:r>
          </a:p>
        </p:txBody>
      </p:sp>
      <p:sp>
        <p:nvSpPr>
          <p:cNvPr id="26" name="Rounded Rectangle 25"/>
          <p:cNvSpPr/>
          <p:nvPr/>
        </p:nvSpPr>
        <p:spPr>
          <a:xfrm>
            <a:off x="876300" y="3802380"/>
            <a:ext cx="5105400" cy="480060"/>
          </a:xfrm>
          <a:prstGeom prst="roundRect">
            <a:avLst/>
          </a:prstGeom>
          <a:solidFill>
            <a:srgbClr val="0C69BE"/>
          </a:solidFill>
          <a:ln w="12700">
            <a:solidFill>
              <a:srgbClr val="2D8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27" name="Oval 26"/>
          <p:cNvSpPr/>
          <p:nvPr/>
        </p:nvSpPr>
        <p:spPr>
          <a:xfrm>
            <a:off x="1043940" y="3890010"/>
            <a:ext cx="320040" cy="320040"/>
          </a:xfrm>
          <a:prstGeom prst="ellipse">
            <a:avLst/>
          </a:prstGeom>
          <a:solidFill>
            <a:srgbClr val="C2D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28" name="TextBox 27"/>
          <p:cNvSpPr txBox="1"/>
          <p:nvPr/>
        </p:nvSpPr>
        <p:spPr>
          <a:xfrm>
            <a:off x="1171098" y="3931920"/>
            <a:ext cx="65724" cy="141129"/>
          </a:xfrm>
          <a:prstGeom prst="rect">
            <a:avLst/>
          </a:prstGeom>
          <a:noFill/>
        </p:spPr>
        <p:txBody>
          <a:bodyPr wrap="none" lIns="0" tIns="0" rIns="0" bIns="0">
            <a:spAutoFit/>
          </a:bodyPr>
          <a:lstStyle/>
          <a:p>
            <a:pPr algn="ctr"/>
            <a:r>
              <a:rPr sz="917" b="1">
                <a:solidFill>
                  <a:srgbClr val="00417D"/>
                </a:solidFill>
                <a:latin typeface="Arial"/>
              </a:rPr>
              <a:t>5</a:t>
            </a:r>
          </a:p>
        </p:txBody>
      </p:sp>
      <p:sp>
        <p:nvSpPr>
          <p:cNvPr id="29" name="TextBox 28"/>
          <p:cNvSpPr txBox="1"/>
          <p:nvPr/>
        </p:nvSpPr>
        <p:spPr>
          <a:xfrm>
            <a:off x="1447800" y="3855720"/>
            <a:ext cx="2011680" cy="192360"/>
          </a:xfrm>
          <a:prstGeom prst="rect">
            <a:avLst/>
          </a:prstGeom>
          <a:noFill/>
        </p:spPr>
        <p:txBody>
          <a:bodyPr wrap="none" lIns="0" tIns="0" rIns="0" bIns="0">
            <a:spAutoFit/>
          </a:bodyPr>
          <a:lstStyle/>
          <a:p>
            <a:r>
              <a:rPr sz="1250" b="1">
                <a:solidFill>
                  <a:srgbClr val="FFFFFF"/>
                </a:solidFill>
                <a:latin typeface="Arial"/>
              </a:rPr>
              <a:t>[Agent Name]</a:t>
            </a:r>
          </a:p>
        </p:txBody>
      </p:sp>
      <p:sp>
        <p:nvSpPr>
          <p:cNvPr id="30" name="TextBox 29"/>
          <p:cNvSpPr txBox="1"/>
          <p:nvPr/>
        </p:nvSpPr>
        <p:spPr>
          <a:xfrm>
            <a:off x="1447800" y="4069080"/>
            <a:ext cx="3015249" cy="125740"/>
          </a:xfrm>
          <a:prstGeom prst="rect">
            <a:avLst/>
          </a:prstGeom>
          <a:noFill/>
        </p:spPr>
        <p:txBody>
          <a:bodyPr wrap="none" lIns="0" tIns="0" rIns="0" bIns="0">
            <a:spAutoFit/>
          </a:bodyPr>
          <a:lstStyle/>
          <a:p>
            <a:r>
              <a:rPr sz="817">
                <a:solidFill>
                  <a:srgbClr val="E5F1FF"/>
                </a:solidFill>
                <a:latin typeface="Arial"/>
              </a:rPr>
              <a:t>[Achievement - e.g., lifecases, bonus earned, council credits]</a:t>
            </a:r>
          </a:p>
        </p:txBody>
      </p:sp>
      <p:sp>
        <p:nvSpPr>
          <p:cNvPr id="31" name="Rounded Rectangle 30"/>
          <p:cNvSpPr/>
          <p:nvPr/>
        </p:nvSpPr>
        <p:spPr>
          <a:xfrm>
            <a:off x="876300" y="4362450"/>
            <a:ext cx="5105400" cy="480060"/>
          </a:xfrm>
          <a:prstGeom prst="roundRect">
            <a:avLst/>
          </a:prstGeom>
          <a:solidFill>
            <a:srgbClr val="0C69BE"/>
          </a:solidFill>
          <a:ln w="12700">
            <a:solidFill>
              <a:srgbClr val="2D8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32" name="Oval 31"/>
          <p:cNvSpPr/>
          <p:nvPr/>
        </p:nvSpPr>
        <p:spPr>
          <a:xfrm>
            <a:off x="1043940" y="4450080"/>
            <a:ext cx="320040" cy="320040"/>
          </a:xfrm>
          <a:prstGeom prst="ellipse">
            <a:avLst/>
          </a:prstGeom>
          <a:solidFill>
            <a:srgbClr val="C2D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33" name="TextBox 32"/>
          <p:cNvSpPr txBox="1"/>
          <p:nvPr/>
        </p:nvSpPr>
        <p:spPr>
          <a:xfrm>
            <a:off x="1171098" y="4491990"/>
            <a:ext cx="65724" cy="141129"/>
          </a:xfrm>
          <a:prstGeom prst="rect">
            <a:avLst/>
          </a:prstGeom>
          <a:noFill/>
        </p:spPr>
        <p:txBody>
          <a:bodyPr wrap="none" lIns="0" tIns="0" rIns="0" bIns="0">
            <a:spAutoFit/>
          </a:bodyPr>
          <a:lstStyle/>
          <a:p>
            <a:pPr algn="ctr"/>
            <a:r>
              <a:rPr sz="917" b="1">
                <a:solidFill>
                  <a:srgbClr val="00417D"/>
                </a:solidFill>
                <a:latin typeface="Arial"/>
              </a:rPr>
              <a:t>6</a:t>
            </a:r>
          </a:p>
        </p:txBody>
      </p:sp>
      <p:sp>
        <p:nvSpPr>
          <p:cNvPr id="34" name="TextBox 33"/>
          <p:cNvSpPr txBox="1"/>
          <p:nvPr/>
        </p:nvSpPr>
        <p:spPr>
          <a:xfrm>
            <a:off x="1447800" y="4415790"/>
            <a:ext cx="2011680" cy="192360"/>
          </a:xfrm>
          <a:prstGeom prst="rect">
            <a:avLst/>
          </a:prstGeom>
          <a:noFill/>
        </p:spPr>
        <p:txBody>
          <a:bodyPr wrap="none" lIns="0" tIns="0" rIns="0" bIns="0">
            <a:spAutoFit/>
          </a:bodyPr>
          <a:lstStyle/>
          <a:p>
            <a:r>
              <a:rPr sz="1250" b="1">
                <a:solidFill>
                  <a:srgbClr val="FFFFFF"/>
                </a:solidFill>
                <a:latin typeface="Arial"/>
              </a:rPr>
              <a:t>[Agent Name]</a:t>
            </a:r>
          </a:p>
        </p:txBody>
      </p:sp>
      <p:sp>
        <p:nvSpPr>
          <p:cNvPr id="35" name="TextBox 34"/>
          <p:cNvSpPr txBox="1"/>
          <p:nvPr/>
        </p:nvSpPr>
        <p:spPr>
          <a:xfrm>
            <a:off x="1447800" y="4629150"/>
            <a:ext cx="2928687" cy="125740"/>
          </a:xfrm>
          <a:prstGeom prst="rect">
            <a:avLst/>
          </a:prstGeom>
          <a:noFill/>
        </p:spPr>
        <p:txBody>
          <a:bodyPr wrap="none" lIns="0" tIns="0" rIns="0" bIns="0">
            <a:spAutoFit/>
          </a:bodyPr>
          <a:lstStyle/>
          <a:p>
            <a:r>
              <a:rPr sz="817">
                <a:solidFill>
                  <a:srgbClr val="E5F1FF"/>
                </a:solidFill>
                <a:latin typeface="Arial"/>
              </a:rPr>
              <a:t>[Achievement - e.g., lifecases, bonus earned, council credits]</a:t>
            </a:r>
          </a:p>
        </p:txBody>
      </p:sp>
      <p:sp>
        <p:nvSpPr>
          <p:cNvPr id="36" name="Rounded Rectangle 35"/>
          <p:cNvSpPr/>
          <p:nvPr/>
        </p:nvSpPr>
        <p:spPr>
          <a:xfrm>
            <a:off x="6210300" y="1562099"/>
            <a:ext cx="5105400" cy="480060"/>
          </a:xfrm>
          <a:prstGeom prst="roundRect">
            <a:avLst/>
          </a:prstGeom>
          <a:solidFill>
            <a:srgbClr val="0C69BE"/>
          </a:solidFill>
          <a:ln w="12700">
            <a:solidFill>
              <a:srgbClr val="2D8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37" name="Oval 36"/>
          <p:cNvSpPr/>
          <p:nvPr/>
        </p:nvSpPr>
        <p:spPr>
          <a:xfrm>
            <a:off x="6377940" y="1649730"/>
            <a:ext cx="320040" cy="320040"/>
          </a:xfrm>
          <a:prstGeom prst="ellipse">
            <a:avLst/>
          </a:prstGeom>
          <a:solidFill>
            <a:srgbClr val="C2D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38" name="TextBox 37"/>
          <p:cNvSpPr txBox="1"/>
          <p:nvPr/>
        </p:nvSpPr>
        <p:spPr>
          <a:xfrm>
            <a:off x="6505098" y="1691640"/>
            <a:ext cx="65724" cy="141129"/>
          </a:xfrm>
          <a:prstGeom prst="rect">
            <a:avLst/>
          </a:prstGeom>
          <a:noFill/>
        </p:spPr>
        <p:txBody>
          <a:bodyPr wrap="none" lIns="0" tIns="0" rIns="0" bIns="0">
            <a:spAutoFit/>
          </a:bodyPr>
          <a:lstStyle/>
          <a:p>
            <a:pPr algn="ctr"/>
            <a:r>
              <a:rPr sz="917" b="1">
                <a:solidFill>
                  <a:srgbClr val="00417D"/>
                </a:solidFill>
                <a:latin typeface="Arial"/>
              </a:rPr>
              <a:t>7</a:t>
            </a:r>
          </a:p>
        </p:txBody>
      </p:sp>
      <p:sp>
        <p:nvSpPr>
          <p:cNvPr id="39" name="TextBox 38"/>
          <p:cNvSpPr txBox="1"/>
          <p:nvPr/>
        </p:nvSpPr>
        <p:spPr>
          <a:xfrm>
            <a:off x="6781800" y="1615439"/>
            <a:ext cx="2011680" cy="192360"/>
          </a:xfrm>
          <a:prstGeom prst="rect">
            <a:avLst/>
          </a:prstGeom>
          <a:noFill/>
        </p:spPr>
        <p:txBody>
          <a:bodyPr wrap="none" lIns="0" tIns="0" rIns="0" bIns="0">
            <a:spAutoFit/>
          </a:bodyPr>
          <a:lstStyle/>
          <a:p>
            <a:r>
              <a:rPr sz="1250" b="1">
                <a:solidFill>
                  <a:srgbClr val="FFFFFF"/>
                </a:solidFill>
                <a:latin typeface="Arial"/>
              </a:rPr>
              <a:t>[Agent Name]</a:t>
            </a:r>
          </a:p>
        </p:txBody>
      </p:sp>
      <p:sp>
        <p:nvSpPr>
          <p:cNvPr id="40" name="TextBox 39"/>
          <p:cNvSpPr txBox="1"/>
          <p:nvPr/>
        </p:nvSpPr>
        <p:spPr>
          <a:xfrm>
            <a:off x="6781800" y="1828800"/>
            <a:ext cx="2928687" cy="125740"/>
          </a:xfrm>
          <a:prstGeom prst="rect">
            <a:avLst/>
          </a:prstGeom>
          <a:noFill/>
        </p:spPr>
        <p:txBody>
          <a:bodyPr wrap="none" lIns="0" tIns="0" rIns="0" bIns="0">
            <a:spAutoFit/>
          </a:bodyPr>
          <a:lstStyle/>
          <a:p>
            <a:r>
              <a:rPr sz="817">
                <a:solidFill>
                  <a:srgbClr val="E5F1FF"/>
                </a:solidFill>
                <a:latin typeface="Arial"/>
              </a:rPr>
              <a:t>[Achievement - e.g., lifecases, bonus earned, council credits]</a:t>
            </a:r>
          </a:p>
        </p:txBody>
      </p:sp>
      <p:sp>
        <p:nvSpPr>
          <p:cNvPr id="41" name="Rounded Rectangle 40"/>
          <p:cNvSpPr/>
          <p:nvPr/>
        </p:nvSpPr>
        <p:spPr>
          <a:xfrm>
            <a:off x="6210300" y="2122169"/>
            <a:ext cx="5105400" cy="480060"/>
          </a:xfrm>
          <a:prstGeom prst="roundRect">
            <a:avLst/>
          </a:prstGeom>
          <a:solidFill>
            <a:srgbClr val="0C69BE"/>
          </a:solidFill>
          <a:ln w="12700">
            <a:solidFill>
              <a:srgbClr val="2D8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42" name="Oval 41"/>
          <p:cNvSpPr/>
          <p:nvPr/>
        </p:nvSpPr>
        <p:spPr>
          <a:xfrm>
            <a:off x="6377940" y="2209800"/>
            <a:ext cx="320040" cy="320040"/>
          </a:xfrm>
          <a:prstGeom prst="ellipse">
            <a:avLst/>
          </a:prstGeom>
          <a:solidFill>
            <a:srgbClr val="C2D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43" name="TextBox 42"/>
          <p:cNvSpPr txBox="1"/>
          <p:nvPr/>
        </p:nvSpPr>
        <p:spPr>
          <a:xfrm>
            <a:off x="6505098" y="2251710"/>
            <a:ext cx="65724" cy="141129"/>
          </a:xfrm>
          <a:prstGeom prst="rect">
            <a:avLst/>
          </a:prstGeom>
          <a:noFill/>
        </p:spPr>
        <p:txBody>
          <a:bodyPr wrap="none" lIns="0" tIns="0" rIns="0" bIns="0">
            <a:spAutoFit/>
          </a:bodyPr>
          <a:lstStyle/>
          <a:p>
            <a:pPr algn="ctr"/>
            <a:r>
              <a:rPr sz="917" b="1">
                <a:solidFill>
                  <a:srgbClr val="00417D"/>
                </a:solidFill>
                <a:latin typeface="Arial"/>
              </a:rPr>
              <a:t>8</a:t>
            </a:r>
          </a:p>
        </p:txBody>
      </p:sp>
      <p:sp>
        <p:nvSpPr>
          <p:cNvPr id="44" name="TextBox 43"/>
          <p:cNvSpPr txBox="1"/>
          <p:nvPr/>
        </p:nvSpPr>
        <p:spPr>
          <a:xfrm>
            <a:off x="6781800" y="2175509"/>
            <a:ext cx="2011680" cy="192360"/>
          </a:xfrm>
          <a:prstGeom prst="rect">
            <a:avLst/>
          </a:prstGeom>
          <a:noFill/>
        </p:spPr>
        <p:txBody>
          <a:bodyPr wrap="none" lIns="0" tIns="0" rIns="0" bIns="0">
            <a:spAutoFit/>
          </a:bodyPr>
          <a:lstStyle/>
          <a:p>
            <a:r>
              <a:rPr sz="1250" b="1">
                <a:solidFill>
                  <a:srgbClr val="FFFFFF"/>
                </a:solidFill>
                <a:latin typeface="Arial"/>
              </a:rPr>
              <a:t>[Agent Name]</a:t>
            </a:r>
          </a:p>
        </p:txBody>
      </p:sp>
      <p:sp>
        <p:nvSpPr>
          <p:cNvPr id="45" name="TextBox 44"/>
          <p:cNvSpPr txBox="1"/>
          <p:nvPr/>
        </p:nvSpPr>
        <p:spPr>
          <a:xfrm>
            <a:off x="6781800" y="2388870"/>
            <a:ext cx="3015249" cy="125740"/>
          </a:xfrm>
          <a:prstGeom prst="rect">
            <a:avLst/>
          </a:prstGeom>
          <a:noFill/>
        </p:spPr>
        <p:txBody>
          <a:bodyPr wrap="none" lIns="0" tIns="0" rIns="0" bIns="0">
            <a:spAutoFit/>
          </a:bodyPr>
          <a:lstStyle/>
          <a:p>
            <a:r>
              <a:rPr sz="817">
                <a:solidFill>
                  <a:srgbClr val="E5F1FF"/>
                </a:solidFill>
                <a:latin typeface="Arial"/>
              </a:rPr>
              <a:t>[Achievement - e.g., lifecases, bonus earned, council credits]</a:t>
            </a:r>
          </a:p>
        </p:txBody>
      </p:sp>
      <p:sp>
        <p:nvSpPr>
          <p:cNvPr id="46" name="Rounded Rectangle 45"/>
          <p:cNvSpPr/>
          <p:nvPr/>
        </p:nvSpPr>
        <p:spPr>
          <a:xfrm>
            <a:off x="6210300" y="2682239"/>
            <a:ext cx="5105400" cy="480060"/>
          </a:xfrm>
          <a:prstGeom prst="roundRect">
            <a:avLst/>
          </a:prstGeom>
          <a:solidFill>
            <a:srgbClr val="0C69BE"/>
          </a:solidFill>
          <a:ln w="12700">
            <a:solidFill>
              <a:srgbClr val="2D8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47" name="Oval 46"/>
          <p:cNvSpPr/>
          <p:nvPr/>
        </p:nvSpPr>
        <p:spPr>
          <a:xfrm>
            <a:off x="6377940" y="2769870"/>
            <a:ext cx="320040" cy="320040"/>
          </a:xfrm>
          <a:prstGeom prst="ellipse">
            <a:avLst/>
          </a:prstGeom>
          <a:solidFill>
            <a:srgbClr val="C2D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48" name="TextBox 47"/>
          <p:cNvSpPr txBox="1"/>
          <p:nvPr/>
        </p:nvSpPr>
        <p:spPr>
          <a:xfrm>
            <a:off x="6505098" y="2811780"/>
            <a:ext cx="65724" cy="141129"/>
          </a:xfrm>
          <a:prstGeom prst="rect">
            <a:avLst/>
          </a:prstGeom>
          <a:noFill/>
        </p:spPr>
        <p:txBody>
          <a:bodyPr wrap="none" lIns="0" tIns="0" rIns="0" bIns="0">
            <a:spAutoFit/>
          </a:bodyPr>
          <a:lstStyle/>
          <a:p>
            <a:pPr algn="ctr"/>
            <a:r>
              <a:rPr sz="917" b="1">
                <a:solidFill>
                  <a:srgbClr val="00417D"/>
                </a:solidFill>
                <a:latin typeface="Arial"/>
              </a:rPr>
              <a:t>9</a:t>
            </a:r>
          </a:p>
        </p:txBody>
      </p:sp>
      <p:sp>
        <p:nvSpPr>
          <p:cNvPr id="49" name="TextBox 48"/>
          <p:cNvSpPr txBox="1"/>
          <p:nvPr/>
        </p:nvSpPr>
        <p:spPr>
          <a:xfrm>
            <a:off x="6781800" y="2735579"/>
            <a:ext cx="2011680" cy="192360"/>
          </a:xfrm>
          <a:prstGeom prst="rect">
            <a:avLst/>
          </a:prstGeom>
          <a:noFill/>
        </p:spPr>
        <p:txBody>
          <a:bodyPr wrap="none" lIns="0" tIns="0" rIns="0" bIns="0">
            <a:spAutoFit/>
          </a:bodyPr>
          <a:lstStyle/>
          <a:p>
            <a:r>
              <a:rPr sz="1250" b="1">
                <a:solidFill>
                  <a:srgbClr val="FFFFFF"/>
                </a:solidFill>
                <a:latin typeface="Arial"/>
              </a:rPr>
              <a:t>[Agent Name]</a:t>
            </a:r>
          </a:p>
        </p:txBody>
      </p:sp>
      <p:sp>
        <p:nvSpPr>
          <p:cNvPr id="50" name="TextBox 49"/>
          <p:cNvSpPr txBox="1"/>
          <p:nvPr/>
        </p:nvSpPr>
        <p:spPr>
          <a:xfrm>
            <a:off x="6781800" y="2948939"/>
            <a:ext cx="3072957" cy="125740"/>
          </a:xfrm>
          <a:prstGeom prst="rect">
            <a:avLst/>
          </a:prstGeom>
          <a:noFill/>
        </p:spPr>
        <p:txBody>
          <a:bodyPr wrap="none" lIns="0" tIns="0" rIns="0" bIns="0">
            <a:spAutoFit/>
          </a:bodyPr>
          <a:lstStyle/>
          <a:p>
            <a:r>
              <a:rPr sz="817">
                <a:solidFill>
                  <a:srgbClr val="E5F1FF"/>
                </a:solidFill>
                <a:latin typeface="Arial"/>
              </a:rPr>
              <a:t>[Achievement - e.g., lifecases, bonus earned, council credits]</a:t>
            </a:r>
          </a:p>
        </p:txBody>
      </p:sp>
      <p:sp>
        <p:nvSpPr>
          <p:cNvPr id="51" name="Rounded Rectangle 50"/>
          <p:cNvSpPr/>
          <p:nvPr/>
        </p:nvSpPr>
        <p:spPr>
          <a:xfrm>
            <a:off x="6210300" y="3242310"/>
            <a:ext cx="5105400" cy="480060"/>
          </a:xfrm>
          <a:prstGeom prst="roundRect">
            <a:avLst/>
          </a:prstGeom>
          <a:solidFill>
            <a:srgbClr val="0C69BE"/>
          </a:solidFill>
          <a:ln w="12700">
            <a:solidFill>
              <a:srgbClr val="2D8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52" name="Oval 51"/>
          <p:cNvSpPr/>
          <p:nvPr/>
        </p:nvSpPr>
        <p:spPr>
          <a:xfrm>
            <a:off x="6377940" y="3329940"/>
            <a:ext cx="320040" cy="320040"/>
          </a:xfrm>
          <a:prstGeom prst="ellipse">
            <a:avLst/>
          </a:prstGeom>
          <a:solidFill>
            <a:srgbClr val="C2D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53" name="TextBox 52"/>
          <p:cNvSpPr txBox="1"/>
          <p:nvPr/>
        </p:nvSpPr>
        <p:spPr>
          <a:xfrm>
            <a:off x="6472237" y="3371850"/>
            <a:ext cx="131446" cy="141129"/>
          </a:xfrm>
          <a:prstGeom prst="rect">
            <a:avLst/>
          </a:prstGeom>
          <a:noFill/>
        </p:spPr>
        <p:txBody>
          <a:bodyPr wrap="none" lIns="0" tIns="0" rIns="0" bIns="0">
            <a:spAutoFit/>
          </a:bodyPr>
          <a:lstStyle/>
          <a:p>
            <a:pPr algn="ctr"/>
            <a:r>
              <a:rPr sz="917" b="1">
                <a:solidFill>
                  <a:srgbClr val="00417D"/>
                </a:solidFill>
                <a:latin typeface="Arial"/>
              </a:rPr>
              <a:t>10</a:t>
            </a:r>
          </a:p>
        </p:txBody>
      </p:sp>
      <p:sp>
        <p:nvSpPr>
          <p:cNvPr id="54" name="TextBox 53"/>
          <p:cNvSpPr txBox="1"/>
          <p:nvPr/>
        </p:nvSpPr>
        <p:spPr>
          <a:xfrm>
            <a:off x="6781800" y="3295650"/>
            <a:ext cx="2011680" cy="192360"/>
          </a:xfrm>
          <a:prstGeom prst="rect">
            <a:avLst/>
          </a:prstGeom>
          <a:noFill/>
        </p:spPr>
        <p:txBody>
          <a:bodyPr wrap="none" lIns="0" tIns="0" rIns="0" bIns="0">
            <a:spAutoFit/>
          </a:bodyPr>
          <a:lstStyle/>
          <a:p>
            <a:r>
              <a:rPr sz="1250" b="1">
                <a:solidFill>
                  <a:srgbClr val="FFFFFF"/>
                </a:solidFill>
                <a:latin typeface="Arial"/>
              </a:rPr>
              <a:t>[Agent Name]</a:t>
            </a:r>
          </a:p>
        </p:txBody>
      </p:sp>
      <p:sp>
        <p:nvSpPr>
          <p:cNvPr id="55" name="TextBox 54"/>
          <p:cNvSpPr txBox="1"/>
          <p:nvPr/>
        </p:nvSpPr>
        <p:spPr>
          <a:xfrm>
            <a:off x="6781800" y="3509010"/>
            <a:ext cx="2928687" cy="125740"/>
          </a:xfrm>
          <a:prstGeom prst="rect">
            <a:avLst/>
          </a:prstGeom>
          <a:noFill/>
        </p:spPr>
        <p:txBody>
          <a:bodyPr wrap="none" lIns="0" tIns="0" rIns="0" bIns="0">
            <a:spAutoFit/>
          </a:bodyPr>
          <a:lstStyle/>
          <a:p>
            <a:r>
              <a:rPr sz="817">
                <a:solidFill>
                  <a:srgbClr val="E5F1FF"/>
                </a:solidFill>
                <a:latin typeface="Arial"/>
              </a:rPr>
              <a:t>[Achievement - e.g., lifecases, bonus earned, council credits]</a:t>
            </a:r>
          </a:p>
        </p:txBody>
      </p:sp>
      <p:sp>
        <p:nvSpPr>
          <p:cNvPr id="56" name="Rounded Rectangle 55"/>
          <p:cNvSpPr/>
          <p:nvPr/>
        </p:nvSpPr>
        <p:spPr>
          <a:xfrm>
            <a:off x="6210300" y="3802380"/>
            <a:ext cx="5105400" cy="480060"/>
          </a:xfrm>
          <a:prstGeom prst="roundRect">
            <a:avLst/>
          </a:prstGeom>
          <a:solidFill>
            <a:srgbClr val="0C69BE"/>
          </a:solidFill>
          <a:ln w="12700">
            <a:solidFill>
              <a:srgbClr val="2D8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57" name="Oval 56"/>
          <p:cNvSpPr/>
          <p:nvPr/>
        </p:nvSpPr>
        <p:spPr>
          <a:xfrm>
            <a:off x="6377940" y="3890010"/>
            <a:ext cx="320040" cy="320040"/>
          </a:xfrm>
          <a:prstGeom prst="ellipse">
            <a:avLst/>
          </a:prstGeom>
          <a:solidFill>
            <a:srgbClr val="C2D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58" name="TextBox 57"/>
          <p:cNvSpPr txBox="1"/>
          <p:nvPr/>
        </p:nvSpPr>
        <p:spPr>
          <a:xfrm>
            <a:off x="6472237" y="3931920"/>
            <a:ext cx="131446" cy="141129"/>
          </a:xfrm>
          <a:prstGeom prst="rect">
            <a:avLst/>
          </a:prstGeom>
          <a:noFill/>
        </p:spPr>
        <p:txBody>
          <a:bodyPr wrap="none" lIns="0" tIns="0" rIns="0" bIns="0">
            <a:spAutoFit/>
          </a:bodyPr>
          <a:lstStyle/>
          <a:p>
            <a:pPr algn="ctr"/>
            <a:r>
              <a:rPr sz="917" b="1">
                <a:solidFill>
                  <a:srgbClr val="00417D"/>
                </a:solidFill>
                <a:latin typeface="Arial"/>
              </a:rPr>
              <a:t>11</a:t>
            </a:r>
          </a:p>
        </p:txBody>
      </p:sp>
      <p:sp>
        <p:nvSpPr>
          <p:cNvPr id="59" name="TextBox 58"/>
          <p:cNvSpPr txBox="1"/>
          <p:nvPr/>
        </p:nvSpPr>
        <p:spPr>
          <a:xfrm>
            <a:off x="6781800" y="3855720"/>
            <a:ext cx="2011680" cy="192360"/>
          </a:xfrm>
          <a:prstGeom prst="rect">
            <a:avLst/>
          </a:prstGeom>
          <a:noFill/>
        </p:spPr>
        <p:txBody>
          <a:bodyPr wrap="none" lIns="0" tIns="0" rIns="0" bIns="0">
            <a:spAutoFit/>
          </a:bodyPr>
          <a:lstStyle/>
          <a:p>
            <a:r>
              <a:rPr sz="1250" b="1">
                <a:solidFill>
                  <a:srgbClr val="FFFFFF"/>
                </a:solidFill>
                <a:latin typeface="Arial"/>
              </a:rPr>
              <a:t>[Agent Name]</a:t>
            </a:r>
          </a:p>
        </p:txBody>
      </p:sp>
      <p:sp>
        <p:nvSpPr>
          <p:cNvPr id="60" name="TextBox 59"/>
          <p:cNvSpPr txBox="1"/>
          <p:nvPr/>
        </p:nvSpPr>
        <p:spPr>
          <a:xfrm>
            <a:off x="6781800" y="4069080"/>
            <a:ext cx="2928687" cy="125740"/>
          </a:xfrm>
          <a:prstGeom prst="rect">
            <a:avLst/>
          </a:prstGeom>
          <a:noFill/>
        </p:spPr>
        <p:txBody>
          <a:bodyPr wrap="none" lIns="0" tIns="0" rIns="0" bIns="0">
            <a:spAutoFit/>
          </a:bodyPr>
          <a:lstStyle/>
          <a:p>
            <a:r>
              <a:rPr sz="817">
                <a:solidFill>
                  <a:srgbClr val="E5F1FF"/>
                </a:solidFill>
                <a:latin typeface="Arial"/>
              </a:rPr>
              <a:t>[Achievement - e.g., lifecases, bonus earned, council credits]</a:t>
            </a:r>
          </a:p>
        </p:txBody>
      </p:sp>
      <p:sp>
        <p:nvSpPr>
          <p:cNvPr id="61" name="Rounded Rectangle 60"/>
          <p:cNvSpPr/>
          <p:nvPr/>
        </p:nvSpPr>
        <p:spPr>
          <a:xfrm>
            <a:off x="6210300" y="4362450"/>
            <a:ext cx="5105400" cy="480060"/>
          </a:xfrm>
          <a:prstGeom prst="roundRect">
            <a:avLst/>
          </a:prstGeom>
          <a:solidFill>
            <a:srgbClr val="0C69BE"/>
          </a:solidFill>
          <a:ln w="12700">
            <a:solidFill>
              <a:srgbClr val="2D8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62" name="Oval 61"/>
          <p:cNvSpPr/>
          <p:nvPr/>
        </p:nvSpPr>
        <p:spPr>
          <a:xfrm>
            <a:off x="6377940" y="4450080"/>
            <a:ext cx="320040" cy="320040"/>
          </a:xfrm>
          <a:prstGeom prst="ellipse">
            <a:avLst/>
          </a:prstGeom>
          <a:solidFill>
            <a:srgbClr val="C2D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63" name="TextBox 62"/>
          <p:cNvSpPr txBox="1"/>
          <p:nvPr/>
        </p:nvSpPr>
        <p:spPr>
          <a:xfrm>
            <a:off x="6472237" y="4491990"/>
            <a:ext cx="131446" cy="141129"/>
          </a:xfrm>
          <a:prstGeom prst="rect">
            <a:avLst/>
          </a:prstGeom>
          <a:noFill/>
        </p:spPr>
        <p:txBody>
          <a:bodyPr wrap="none" lIns="0" tIns="0" rIns="0" bIns="0">
            <a:spAutoFit/>
          </a:bodyPr>
          <a:lstStyle/>
          <a:p>
            <a:pPr algn="ctr"/>
            <a:r>
              <a:rPr sz="917" b="1">
                <a:solidFill>
                  <a:srgbClr val="00417D"/>
                </a:solidFill>
                <a:latin typeface="Arial"/>
              </a:rPr>
              <a:t>12</a:t>
            </a:r>
          </a:p>
        </p:txBody>
      </p:sp>
      <p:sp>
        <p:nvSpPr>
          <p:cNvPr id="64" name="TextBox 63"/>
          <p:cNvSpPr txBox="1"/>
          <p:nvPr/>
        </p:nvSpPr>
        <p:spPr>
          <a:xfrm>
            <a:off x="6781800" y="4415790"/>
            <a:ext cx="2011680" cy="192360"/>
          </a:xfrm>
          <a:prstGeom prst="rect">
            <a:avLst/>
          </a:prstGeom>
          <a:noFill/>
        </p:spPr>
        <p:txBody>
          <a:bodyPr wrap="none" lIns="0" tIns="0" rIns="0" bIns="0">
            <a:spAutoFit/>
          </a:bodyPr>
          <a:lstStyle/>
          <a:p>
            <a:r>
              <a:rPr sz="1250" b="1">
                <a:solidFill>
                  <a:srgbClr val="FFFFFF"/>
                </a:solidFill>
                <a:latin typeface="Arial"/>
              </a:rPr>
              <a:t>[Agent Name]</a:t>
            </a:r>
          </a:p>
        </p:txBody>
      </p:sp>
      <p:sp>
        <p:nvSpPr>
          <p:cNvPr id="65" name="TextBox 64"/>
          <p:cNvSpPr txBox="1"/>
          <p:nvPr/>
        </p:nvSpPr>
        <p:spPr>
          <a:xfrm>
            <a:off x="6781800" y="4629150"/>
            <a:ext cx="3072957" cy="125740"/>
          </a:xfrm>
          <a:prstGeom prst="rect">
            <a:avLst/>
          </a:prstGeom>
          <a:noFill/>
        </p:spPr>
        <p:txBody>
          <a:bodyPr wrap="none" lIns="0" tIns="0" rIns="0" bIns="0">
            <a:spAutoFit/>
          </a:bodyPr>
          <a:lstStyle/>
          <a:p>
            <a:r>
              <a:rPr sz="817">
                <a:solidFill>
                  <a:srgbClr val="E5F1FF"/>
                </a:solidFill>
                <a:latin typeface="Arial"/>
              </a:rPr>
              <a:t>[Achievement - e.g., lifecases, bonus earned, council credits]</a:t>
            </a:r>
          </a:p>
        </p:txBody>
      </p:sp>
      <p:sp>
        <p:nvSpPr>
          <p:cNvPr id="66" name="TextBox 65"/>
          <p:cNvSpPr txBox="1"/>
          <p:nvPr/>
        </p:nvSpPr>
        <p:spPr>
          <a:xfrm>
            <a:off x="4457731" y="6339841"/>
            <a:ext cx="3276538" cy="205121"/>
          </a:xfrm>
          <a:prstGeom prst="rect">
            <a:avLst/>
          </a:prstGeom>
          <a:noFill/>
        </p:spPr>
        <p:txBody>
          <a:bodyPr wrap="none" lIns="0" tIns="0" rIns="0" bIns="0">
            <a:spAutoFit/>
          </a:bodyPr>
          <a:lstStyle/>
          <a:p>
            <a:pPr algn="ctr"/>
            <a:r>
              <a:rPr sz="1333">
                <a:solidFill>
                  <a:srgbClr val="FFFFFF"/>
                </a:solidFill>
                <a:latin typeface="Arial"/>
              </a:rPr>
              <a:t>Concrete wins. Keep the momentum going.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4"/>
          </p:nvPr>
        </p:nvSpPr>
        <p:spPr/>
        <p:txBody>
          <a:bodyPr/>
          <a:lstStyle/>
          <a:p>
            <a:endParaRPr lang="en-US"/>
          </a:p>
        </p:txBody>
      </p:sp>
      <p:sp>
        <p:nvSpPr>
          <p:cNvPr id="3" name="Title 2"/>
          <p:cNvSpPr>
            <a:spLocks noGrp="1"/>
          </p:cNvSpPr>
          <p:nvPr>
            <p:ph type="title"/>
          </p:nvPr>
        </p:nvSpPr>
        <p:spPr/>
        <p:txBody>
          <a:bodyPr/>
          <a:lstStyle/>
          <a:p>
            <a:endParaRPr/>
          </a:p>
        </p:txBody>
      </p:sp>
      <p:sp>
        <p:nvSpPr>
          <p:cNvPr id="4" name="Rectangle 3"/>
          <p:cNvSpPr/>
          <p:nvPr/>
        </p:nvSpPr>
        <p:spPr>
          <a:xfrm>
            <a:off x="0" y="0"/>
            <a:ext cx="12191695" cy="6858000"/>
          </a:xfrm>
          <a:prstGeom prst="rect">
            <a:avLst/>
          </a:prstGeom>
          <a:solidFill>
            <a:srgbClr val="002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6858000"/>
          </a:xfrm>
          <a:prstGeom prst="rect">
            <a:avLst/>
          </a:prstGeom>
          <a:solidFill>
            <a:srgbClr val="005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0" y="2240280"/>
            <a:ext cx="8503920" cy="685800"/>
          </a:xfrm>
          <a:prstGeom prst="rect">
            <a:avLst/>
          </a:prstGeom>
          <a:noFill/>
        </p:spPr>
        <p:txBody>
          <a:bodyPr wrap="square" lIns="36576" tIns="36576" rIns="36576" bIns="36576">
            <a:normAutofit fontScale="92500" lnSpcReduction="10000"/>
          </a:bodyPr>
          <a:lstStyle/>
          <a:p>
            <a:pPr algn="ctr"/>
            <a:r>
              <a:rPr sz="4800" b="1">
                <a:solidFill>
                  <a:srgbClr val="FFFFFF"/>
                </a:solidFill>
                <a:latin typeface="Arial"/>
              </a:rPr>
              <a:t>Market Week Overview</a:t>
            </a:r>
          </a:p>
        </p:txBody>
      </p:sp>
      <p:sp>
        <p:nvSpPr>
          <p:cNvPr id="7" name="TextBox 6"/>
          <p:cNvSpPr txBox="1"/>
          <p:nvPr/>
        </p:nvSpPr>
        <p:spPr>
          <a:xfrm>
            <a:off x="3063240" y="3310128"/>
            <a:ext cx="6035040" cy="292608"/>
          </a:xfrm>
          <a:prstGeom prst="rect">
            <a:avLst/>
          </a:prstGeom>
          <a:noFill/>
        </p:spPr>
        <p:txBody>
          <a:bodyPr wrap="square" lIns="36576" tIns="36576" rIns="36576" bIns="36576">
            <a:normAutofit fontScale="92500" lnSpcReduction="20000"/>
          </a:bodyPr>
          <a:lstStyle/>
          <a:p>
            <a:pPr algn="ctr"/>
            <a:r>
              <a:rPr sz="1800" b="0">
                <a:solidFill>
                  <a:srgbClr val="FFFFFF"/>
                </a:solidFill>
                <a:latin typeface="Arial"/>
              </a:rPr>
              <a:t>Week ended Thursday, July 2, 2026</a:t>
            </a:r>
          </a:p>
        </p:txBody>
      </p:sp>
      <p:sp>
        <p:nvSpPr>
          <p:cNvPr id="8" name="TextBox 7"/>
          <p:cNvSpPr txBox="1"/>
          <p:nvPr/>
        </p:nvSpPr>
        <p:spPr>
          <a:xfrm>
            <a:off x="3063240" y="3749039"/>
            <a:ext cx="6035040" cy="292608"/>
          </a:xfrm>
          <a:prstGeom prst="rect">
            <a:avLst/>
          </a:prstGeom>
          <a:noFill/>
        </p:spPr>
        <p:txBody>
          <a:bodyPr wrap="square" lIns="36576" tIns="36576" rIns="36576" bIns="36576">
            <a:normAutofit fontScale="92500" lnSpcReduction="20000"/>
          </a:bodyPr>
          <a:lstStyle/>
          <a:p>
            <a:pPr algn="ctr"/>
            <a:r>
              <a:rPr sz="1800" b="0">
                <a:solidFill>
                  <a:srgbClr val="FFFFFF"/>
                </a:solidFill>
                <a:latin typeface="Arial"/>
              </a:rPr>
              <a:t>Week Ahead: July 6 - July 10,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4"/>
          </p:nvPr>
        </p:nvSpPr>
        <p:spPr/>
        <p:txBody>
          <a:bodyPr/>
          <a:lstStyle/>
          <a:p>
            <a:endParaRPr lang="en-US"/>
          </a:p>
        </p:txBody>
      </p:sp>
      <p:sp>
        <p:nvSpPr>
          <p:cNvPr id="3" name="Title 2"/>
          <p:cNvSpPr>
            <a:spLocks noGrp="1"/>
          </p:cNvSpPr>
          <p:nvPr>
            <p:ph type="title"/>
          </p:nvPr>
        </p:nvSpPr>
        <p:spPr/>
        <p:txBody>
          <a:bodyPr/>
          <a:lstStyle/>
          <a:p>
            <a:endParaRPr/>
          </a:p>
        </p:txBody>
      </p:sp>
      <p:sp>
        <p:nvSpPr>
          <p:cNvPr id="4" name="Rectangle 3"/>
          <p:cNvSpPr/>
          <p:nvPr/>
        </p:nvSpPr>
        <p:spPr>
          <a:xfrm>
            <a:off x="0" y="0"/>
            <a:ext cx="12191695" cy="6858000"/>
          </a:xfrm>
          <a:prstGeom prst="rect">
            <a:avLst/>
          </a:prstGeom>
          <a:solidFill>
            <a:srgbClr val="C7E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440680"/>
            <a:ext cx="12191695" cy="438912"/>
          </a:xfrm>
          <a:prstGeom prst="rect">
            <a:avLst/>
          </a:prstGeom>
          <a:solidFill>
            <a:srgbClr val="B6D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327648"/>
            <a:ext cx="12191695" cy="146304"/>
          </a:xfrm>
          <a:prstGeom prst="rect">
            <a:avLst/>
          </a:prstGeom>
          <a:solidFill>
            <a:srgbClr val="B6D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21792"/>
            <a:ext cx="10881360" cy="530352"/>
          </a:xfrm>
          <a:prstGeom prst="rect">
            <a:avLst/>
          </a:prstGeom>
          <a:noFill/>
        </p:spPr>
        <p:txBody>
          <a:bodyPr wrap="square" lIns="36576" tIns="36576" rIns="36576" bIns="36576">
            <a:normAutofit lnSpcReduction="10000"/>
          </a:bodyPr>
          <a:lstStyle/>
          <a:p>
            <a:r>
              <a:rPr sz="3200" b="1">
                <a:solidFill>
                  <a:srgbClr val="0468FF"/>
                </a:solidFill>
                <a:latin typeface="Arial"/>
              </a:rPr>
              <a:t>Week in Review: U.S. Markets Overview</a:t>
            </a:r>
          </a:p>
        </p:txBody>
      </p:sp>
      <p:sp>
        <p:nvSpPr>
          <p:cNvPr id="8" name="TextBox 7"/>
          <p:cNvSpPr txBox="1"/>
          <p:nvPr/>
        </p:nvSpPr>
        <p:spPr>
          <a:xfrm>
            <a:off x="713232" y="1353312"/>
            <a:ext cx="10881360" cy="310896"/>
          </a:xfrm>
          <a:prstGeom prst="rect">
            <a:avLst/>
          </a:prstGeom>
          <a:noFill/>
        </p:spPr>
        <p:txBody>
          <a:bodyPr wrap="square" lIns="36576" tIns="36576" rIns="36576" bIns="36576">
            <a:normAutofit lnSpcReduction="10000"/>
          </a:bodyPr>
          <a:lstStyle/>
          <a:p>
            <a:r>
              <a:rPr sz="1600" b="0">
                <a:solidFill>
                  <a:srgbClr val="000962"/>
                </a:solidFill>
                <a:latin typeface="Arial"/>
              </a:rPr>
              <a:t>A record Dow, a late tech wobble, and a soft jobs number to close the week.</a:t>
            </a:r>
          </a:p>
        </p:txBody>
      </p:sp>
      <p:sp>
        <p:nvSpPr>
          <p:cNvPr id="9" name="TextBox 8"/>
          <p:cNvSpPr txBox="1"/>
          <p:nvPr/>
        </p:nvSpPr>
        <p:spPr>
          <a:xfrm>
            <a:off x="521207" y="6327648"/>
            <a:ext cx="5394960" cy="146304"/>
          </a:xfrm>
          <a:prstGeom prst="rect">
            <a:avLst/>
          </a:prstGeom>
          <a:noFill/>
        </p:spPr>
        <p:txBody>
          <a:bodyPr wrap="square" lIns="0" tIns="0" rIns="0" bIns="0">
            <a:normAutofit/>
          </a:bodyPr>
          <a:lstStyle/>
          <a:p>
            <a:r>
              <a:rPr sz="550" b="0">
                <a:solidFill>
                  <a:srgbClr val="46648C"/>
                </a:solidFill>
                <a:latin typeface="Arial"/>
              </a:rPr>
              <a:t>Internal use only. For agent use only. Not for use with the public.</a:t>
            </a:r>
          </a:p>
        </p:txBody>
      </p:sp>
      <p:sp>
        <p:nvSpPr>
          <p:cNvPr id="10" name="TextBox 9"/>
          <p:cNvSpPr txBox="1"/>
          <p:nvPr/>
        </p:nvSpPr>
        <p:spPr>
          <a:xfrm>
            <a:off x="10497312" y="6263640"/>
            <a:ext cx="768096" cy="182880"/>
          </a:xfrm>
          <a:prstGeom prst="rect">
            <a:avLst/>
          </a:prstGeom>
          <a:noFill/>
        </p:spPr>
        <p:txBody>
          <a:bodyPr wrap="square" lIns="0" tIns="0" rIns="0" bIns="0">
            <a:normAutofit/>
          </a:bodyPr>
          <a:lstStyle/>
          <a:p>
            <a:pPr algn="r"/>
            <a:r>
              <a:rPr sz="850" b="1">
                <a:solidFill>
                  <a:srgbClr val="000962"/>
                </a:solidFill>
                <a:latin typeface="Arial"/>
              </a:rPr>
              <a:t>ELEVATE</a:t>
            </a:r>
          </a:p>
        </p:txBody>
      </p:sp>
      <p:sp>
        <p:nvSpPr>
          <p:cNvPr id="11" name="TextBox 10"/>
          <p:cNvSpPr txBox="1"/>
          <p:nvPr/>
        </p:nvSpPr>
        <p:spPr>
          <a:xfrm>
            <a:off x="11228832" y="6272784"/>
            <a:ext cx="384048" cy="164592"/>
          </a:xfrm>
          <a:prstGeom prst="rect">
            <a:avLst/>
          </a:prstGeom>
          <a:noFill/>
        </p:spPr>
        <p:txBody>
          <a:bodyPr wrap="square" lIns="0" tIns="0" rIns="0" bIns="0">
            <a:normAutofit/>
          </a:bodyPr>
          <a:lstStyle/>
          <a:p>
            <a:pPr algn="l"/>
            <a:r>
              <a:rPr sz="580" b="0">
                <a:solidFill>
                  <a:srgbClr val="000962"/>
                </a:solidFill>
                <a:latin typeface="Arial"/>
              </a:rPr>
              <a:t>NEW ORG</a:t>
            </a:r>
          </a:p>
        </p:txBody>
      </p:sp>
      <p:sp>
        <p:nvSpPr>
          <p:cNvPr id="12" name="TextBox 11"/>
          <p:cNvSpPr txBox="1"/>
          <p:nvPr/>
        </p:nvSpPr>
        <p:spPr>
          <a:xfrm>
            <a:off x="868680" y="2057400"/>
            <a:ext cx="6812280" cy="3520440"/>
          </a:xfrm>
          <a:prstGeom prst="rect">
            <a:avLst/>
          </a:prstGeom>
          <a:noFill/>
        </p:spPr>
        <p:txBody>
          <a:bodyPr wrap="square" lIns="45720" tIns="18288" rIns="45720" bIns="18288">
            <a:normAutofit/>
          </a:bodyPr>
          <a:lstStyle/>
          <a:p>
            <a:pPr>
              <a:spcAft>
                <a:spcPts val="700"/>
              </a:spcAft>
              <a:defRPr sz="1550">
                <a:solidFill>
                  <a:srgbClr val="000962"/>
                </a:solidFill>
                <a:latin typeface="Arial"/>
              </a:defRPr>
            </a:pPr>
            <a:r>
              <a:t>Dow closed Thursday at a record 52,900.07, up about 2% for the holiday-shortened week.</a:t>
            </a:r>
          </a:p>
          <a:p>
            <a:pPr>
              <a:spcAft>
                <a:spcPts val="700"/>
              </a:spcAft>
              <a:defRPr sz="1550">
                <a:solidFill>
                  <a:srgbClr val="000962"/>
                </a:solidFill>
                <a:latin typeface="Arial"/>
              </a:defRPr>
            </a:pPr>
            <a:r>
              <a:t>S&amp;P 500 finished at 7,483.23, up roughly 1.8% for the week and about 9% year to date.</a:t>
            </a:r>
          </a:p>
          <a:p>
            <a:pPr>
              <a:spcAft>
                <a:spcPts val="700"/>
              </a:spcAft>
              <a:defRPr sz="1550">
                <a:solidFill>
                  <a:srgbClr val="000962"/>
                </a:solidFill>
                <a:latin typeface="Arial"/>
              </a:defRPr>
            </a:pPr>
            <a:r>
              <a:t>Nasdaq advanced for the week despite a Thursday chip selloff: Micron -7%, AMD -4.3%, Marvell -9.8%.</a:t>
            </a:r>
          </a:p>
          <a:p>
            <a:pPr>
              <a:spcAft>
                <a:spcPts val="700"/>
              </a:spcAft>
              <a:defRPr sz="1550">
                <a:solidFill>
                  <a:srgbClr val="000962"/>
                </a:solidFill>
                <a:latin typeface="Arial"/>
              </a:defRPr>
            </a:pPr>
            <a:r>
              <a:t>Small and mid caps lagged: the Russell 2000 and S&amp;P MidCap 400 both declined for the week.</a:t>
            </a:r>
          </a:p>
          <a:p>
            <a:pPr>
              <a:spcAft>
                <a:spcPts val="700"/>
              </a:spcAft>
              <a:defRPr sz="1550">
                <a:solidFill>
                  <a:srgbClr val="000962"/>
                </a:solidFill>
                <a:latin typeface="Arial"/>
              </a:defRPr>
            </a:pPr>
            <a:r>
              <a:t>Communication services, financials, and consumer discretionary led; real estate, utilities, and energy fell.</a:t>
            </a:r>
          </a:p>
        </p:txBody>
      </p:sp>
      <p:sp>
        <p:nvSpPr>
          <p:cNvPr id="13" name="Rectangle 12"/>
          <p:cNvSpPr/>
          <p:nvPr/>
        </p:nvSpPr>
        <p:spPr>
          <a:xfrm>
            <a:off x="8001000" y="2029968"/>
            <a:ext cx="2926080" cy="2606040"/>
          </a:xfrm>
          <a:prstGeom prst="rect">
            <a:avLst/>
          </a:prstGeom>
          <a:solidFill>
            <a:srgbClr val="EBF5FF"/>
          </a:solidFill>
          <a:ln>
            <a:solidFill>
              <a:srgbClr val="D2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0" y="2267712"/>
            <a:ext cx="2423160" cy="256032"/>
          </a:xfrm>
          <a:prstGeom prst="rect">
            <a:avLst/>
          </a:prstGeom>
          <a:noFill/>
        </p:spPr>
        <p:txBody>
          <a:bodyPr wrap="square" lIns="36576" tIns="36576" rIns="36576" bIns="36576">
            <a:normAutofit fontScale="92500" lnSpcReduction="20000"/>
          </a:bodyPr>
          <a:lstStyle/>
          <a:p>
            <a:r>
              <a:rPr sz="1600" b="1">
                <a:solidFill>
                  <a:srgbClr val="0468FF"/>
                </a:solidFill>
                <a:latin typeface="Arial"/>
              </a:rPr>
              <a:t>Plain English</a:t>
            </a:r>
          </a:p>
        </p:txBody>
      </p:sp>
      <p:sp>
        <p:nvSpPr>
          <p:cNvPr id="15" name="TextBox 14"/>
          <p:cNvSpPr txBox="1"/>
          <p:nvPr/>
        </p:nvSpPr>
        <p:spPr>
          <a:xfrm>
            <a:off x="8229600" y="2697480"/>
            <a:ext cx="2423160" cy="1371600"/>
          </a:xfrm>
          <a:prstGeom prst="rect">
            <a:avLst/>
          </a:prstGeom>
          <a:noFill/>
        </p:spPr>
        <p:txBody>
          <a:bodyPr wrap="square" lIns="36576" tIns="36576" rIns="36576" bIns="36576">
            <a:normAutofit lnSpcReduction="10000"/>
          </a:bodyPr>
          <a:lstStyle/>
          <a:p>
            <a:r>
              <a:rPr sz="1550" b="0">
                <a:solidFill>
                  <a:srgbClr val="000962"/>
                </a:solidFill>
                <a:latin typeface="Arial"/>
              </a:rPr>
              <a:t>Big U.S. companies had a strong week and the Dow set a record, but smaller companies fell behind and tech turned shaky Thursday. The strength is real; it is just not evenly spread.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4"/>
          </p:nvPr>
        </p:nvSpPr>
        <p:spPr/>
        <p:txBody>
          <a:bodyPr/>
          <a:lstStyle/>
          <a:p>
            <a:endParaRPr lang="en-US"/>
          </a:p>
        </p:txBody>
      </p:sp>
      <p:sp>
        <p:nvSpPr>
          <p:cNvPr id="3" name="Title 2"/>
          <p:cNvSpPr>
            <a:spLocks noGrp="1"/>
          </p:cNvSpPr>
          <p:nvPr>
            <p:ph type="title"/>
          </p:nvPr>
        </p:nvSpPr>
        <p:spPr/>
        <p:txBody>
          <a:bodyPr/>
          <a:lstStyle/>
          <a:p>
            <a:endParaRPr/>
          </a:p>
        </p:txBody>
      </p:sp>
      <p:sp>
        <p:nvSpPr>
          <p:cNvPr id="4" name="Rectangle 3"/>
          <p:cNvSpPr/>
          <p:nvPr/>
        </p:nvSpPr>
        <p:spPr>
          <a:xfrm>
            <a:off x="0" y="0"/>
            <a:ext cx="12191695" cy="6858000"/>
          </a:xfrm>
          <a:prstGeom prst="rect">
            <a:avLst/>
          </a:prstGeom>
          <a:solidFill>
            <a:srgbClr val="C7E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440680"/>
            <a:ext cx="12191695" cy="438912"/>
          </a:xfrm>
          <a:prstGeom prst="rect">
            <a:avLst/>
          </a:prstGeom>
          <a:solidFill>
            <a:srgbClr val="B6D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327648"/>
            <a:ext cx="12191695" cy="146304"/>
          </a:xfrm>
          <a:prstGeom prst="rect">
            <a:avLst/>
          </a:prstGeom>
          <a:solidFill>
            <a:srgbClr val="B6D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21792"/>
            <a:ext cx="10881360" cy="530352"/>
          </a:xfrm>
          <a:prstGeom prst="rect">
            <a:avLst/>
          </a:prstGeom>
          <a:noFill/>
        </p:spPr>
        <p:txBody>
          <a:bodyPr wrap="square" lIns="36576" tIns="36576" rIns="36576" bIns="36576">
            <a:normAutofit lnSpcReduction="10000"/>
          </a:bodyPr>
          <a:lstStyle/>
          <a:p>
            <a:r>
              <a:rPr sz="3200" b="1">
                <a:solidFill>
                  <a:srgbClr val="0468FF"/>
                </a:solidFill>
                <a:latin typeface="Arial"/>
              </a:rPr>
              <a:t>Key Economic Data Released Last Week</a:t>
            </a:r>
          </a:p>
        </p:txBody>
      </p:sp>
      <p:sp>
        <p:nvSpPr>
          <p:cNvPr id="8" name="TextBox 7"/>
          <p:cNvSpPr txBox="1"/>
          <p:nvPr/>
        </p:nvSpPr>
        <p:spPr>
          <a:xfrm>
            <a:off x="713232" y="1353312"/>
            <a:ext cx="10881360" cy="310896"/>
          </a:xfrm>
          <a:prstGeom prst="rect">
            <a:avLst/>
          </a:prstGeom>
          <a:noFill/>
        </p:spPr>
        <p:txBody>
          <a:bodyPr wrap="square" lIns="36576" tIns="36576" rIns="36576" bIns="36576">
            <a:normAutofit lnSpcReduction="10000"/>
          </a:bodyPr>
          <a:lstStyle/>
          <a:p>
            <a:r>
              <a:rPr sz="1600" b="0">
                <a:solidFill>
                  <a:srgbClr val="000962"/>
                </a:solidFill>
                <a:latin typeface="Arial"/>
              </a:rPr>
              <a:t>One report mattered: June payrolls came in weak.</a:t>
            </a:r>
          </a:p>
        </p:txBody>
      </p:sp>
      <p:sp>
        <p:nvSpPr>
          <p:cNvPr id="9" name="TextBox 8"/>
          <p:cNvSpPr txBox="1"/>
          <p:nvPr/>
        </p:nvSpPr>
        <p:spPr>
          <a:xfrm>
            <a:off x="521207" y="6327648"/>
            <a:ext cx="5394960" cy="146304"/>
          </a:xfrm>
          <a:prstGeom prst="rect">
            <a:avLst/>
          </a:prstGeom>
          <a:noFill/>
        </p:spPr>
        <p:txBody>
          <a:bodyPr wrap="square" lIns="0" tIns="0" rIns="0" bIns="0">
            <a:normAutofit/>
          </a:bodyPr>
          <a:lstStyle/>
          <a:p>
            <a:r>
              <a:rPr sz="550" b="0">
                <a:solidFill>
                  <a:srgbClr val="46648C"/>
                </a:solidFill>
                <a:latin typeface="Arial"/>
              </a:rPr>
              <a:t>Internal use only. For agent use only. Not for use with the public.</a:t>
            </a:r>
          </a:p>
        </p:txBody>
      </p:sp>
      <p:sp>
        <p:nvSpPr>
          <p:cNvPr id="10" name="TextBox 9"/>
          <p:cNvSpPr txBox="1"/>
          <p:nvPr/>
        </p:nvSpPr>
        <p:spPr>
          <a:xfrm>
            <a:off x="10497312" y="6263640"/>
            <a:ext cx="768096" cy="182880"/>
          </a:xfrm>
          <a:prstGeom prst="rect">
            <a:avLst/>
          </a:prstGeom>
          <a:noFill/>
        </p:spPr>
        <p:txBody>
          <a:bodyPr wrap="square" lIns="0" tIns="0" rIns="0" bIns="0">
            <a:normAutofit/>
          </a:bodyPr>
          <a:lstStyle/>
          <a:p>
            <a:pPr algn="r"/>
            <a:r>
              <a:rPr sz="850" b="1">
                <a:solidFill>
                  <a:srgbClr val="000962"/>
                </a:solidFill>
                <a:latin typeface="Arial"/>
              </a:rPr>
              <a:t>ELEVATE</a:t>
            </a:r>
          </a:p>
        </p:txBody>
      </p:sp>
      <p:sp>
        <p:nvSpPr>
          <p:cNvPr id="11" name="TextBox 10"/>
          <p:cNvSpPr txBox="1"/>
          <p:nvPr/>
        </p:nvSpPr>
        <p:spPr>
          <a:xfrm>
            <a:off x="11228832" y="6272784"/>
            <a:ext cx="384048" cy="164592"/>
          </a:xfrm>
          <a:prstGeom prst="rect">
            <a:avLst/>
          </a:prstGeom>
          <a:noFill/>
        </p:spPr>
        <p:txBody>
          <a:bodyPr wrap="square" lIns="0" tIns="0" rIns="0" bIns="0">
            <a:normAutofit/>
          </a:bodyPr>
          <a:lstStyle/>
          <a:p>
            <a:pPr algn="l"/>
            <a:r>
              <a:rPr sz="580" b="0">
                <a:solidFill>
                  <a:srgbClr val="000962"/>
                </a:solidFill>
                <a:latin typeface="Arial"/>
              </a:rPr>
              <a:t>NEW ORG</a:t>
            </a:r>
          </a:p>
        </p:txBody>
      </p:sp>
      <p:sp>
        <p:nvSpPr>
          <p:cNvPr id="12" name="TextBox 11"/>
          <p:cNvSpPr txBox="1"/>
          <p:nvPr/>
        </p:nvSpPr>
        <p:spPr>
          <a:xfrm>
            <a:off x="868680" y="1965960"/>
            <a:ext cx="9966960" cy="3611880"/>
          </a:xfrm>
          <a:prstGeom prst="rect">
            <a:avLst/>
          </a:prstGeom>
          <a:noFill/>
        </p:spPr>
        <p:txBody>
          <a:bodyPr wrap="square" lIns="45720" tIns="18288" rIns="45720" bIns="18288">
            <a:normAutofit/>
          </a:bodyPr>
          <a:lstStyle/>
          <a:p>
            <a:pPr>
              <a:spcAft>
                <a:spcPts val="700"/>
              </a:spcAft>
              <a:defRPr sz="1600">
                <a:solidFill>
                  <a:srgbClr val="000962"/>
                </a:solidFill>
                <a:latin typeface="Arial"/>
              </a:defRPr>
            </a:pPr>
            <a:r>
              <a:t>June payrolls: +57,000 jobs vs. roughly 110,000 expected - the softest reading since February.</a:t>
            </a:r>
          </a:p>
          <a:p>
            <a:pPr>
              <a:spcAft>
                <a:spcPts val="700"/>
              </a:spcAft>
              <a:defRPr sz="1600">
                <a:solidFill>
                  <a:srgbClr val="000962"/>
                </a:solidFill>
                <a:latin typeface="Arial"/>
              </a:defRPr>
            </a:pPr>
            <a:r>
              <a:t>Unemployment rate ticked down to 4.2% from 4.3%.</a:t>
            </a:r>
          </a:p>
          <a:p>
            <a:pPr>
              <a:spcAft>
                <a:spcPts val="700"/>
              </a:spcAft>
              <a:defRPr sz="1600">
                <a:solidFill>
                  <a:srgbClr val="000962"/>
                </a:solidFill>
                <a:latin typeface="Arial"/>
              </a:defRPr>
            </a:pPr>
            <a:r>
              <a:t>The miss quieted talk of a Fed rate hike; the Dow rallied 1.14% to a record close on the news.</a:t>
            </a:r>
          </a:p>
          <a:p>
            <a:pPr>
              <a:spcAft>
                <a:spcPts val="700"/>
              </a:spcAft>
              <a:defRPr sz="1600">
                <a:solidFill>
                  <a:srgbClr val="000962"/>
                </a:solidFill>
                <a:latin typeface="Arial"/>
              </a:defRPr>
            </a:pPr>
            <a:r>
              <a:t>Context: inflation has run above the Fed’s 2% goal for over five years, driven lately by energy costs.</a:t>
            </a:r>
          </a:p>
          <a:p>
            <a:pPr>
              <a:spcAft>
                <a:spcPts val="700"/>
              </a:spcAft>
              <a:defRPr sz="1600">
                <a:solidFill>
                  <a:srgbClr val="000962"/>
                </a:solidFill>
                <a:latin typeface="Arial"/>
              </a:defRPr>
            </a:pPr>
            <a:r>
              <a:t>Fed Chair Kevin Warsh in June: “Persistently high prices are a burden for the American people.”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4"/>
          </p:nvPr>
        </p:nvSpPr>
        <p:spPr/>
        <p:txBody>
          <a:bodyPr/>
          <a:lstStyle/>
          <a:p>
            <a:endParaRPr lang="en-US"/>
          </a:p>
        </p:txBody>
      </p:sp>
      <p:sp>
        <p:nvSpPr>
          <p:cNvPr id="3" name="Title 2"/>
          <p:cNvSpPr>
            <a:spLocks noGrp="1"/>
          </p:cNvSpPr>
          <p:nvPr>
            <p:ph type="title"/>
          </p:nvPr>
        </p:nvSpPr>
        <p:spPr/>
        <p:txBody>
          <a:bodyPr/>
          <a:lstStyle/>
          <a:p>
            <a:endParaRPr/>
          </a:p>
        </p:txBody>
      </p:sp>
      <p:sp>
        <p:nvSpPr>
          <p:cNvPr id="4" name="Rectangle 3"/>
          <p:cNvSpPr/>
          <p:nvPr/>
        </p:nvSpPr>
        <p:spPr>
          <a:xfrm>
            <a:off x="0" y="0"/>
            <a:ext cx="12191695" cy="6858000"/>
          </a:xfrm>
          <a:prstGeom prst="rect">
            <a:avLst/>
          </a:prstGeom>
          <a:solidFill>
            <a:srgbClr val="C7E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440680"/>
            <a:ext cx="12191695" cy="438912"/>
          </a:xfrm>
          <a:prstGeom prst="rect">
            <a:avLst/>
          </a:prstGeom>
          <a:solidFill>
            <a:srgbClr val="B6D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327648"/>
            <a:ext cx="12191695" cy="146304"/>
          </a:xfrm>
          <a:prstGeom prst="rect">
            <a:avLst/>
          </a:prstGeom>
          <a:solidFill>
            <a:srgbClr val="B6D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21792"/>
            <a:ext cx="10881360" cy="530352"/>
          </a:xfrm>
          <a:prstGeom prst="rect">
            <a:avLst/>
          </a:prstGeom>
          <a:noFill/>
        </p:spPr>
        <p:txBody>
          <a:bodyPr wrap="square" lIns="36576" tIns="36576" rIns="36576" bIns="36576">
            <a:normAutofit lnSpcReduction="10000"/>
          </a:bodyPr>
          <a:lstStyle/>
          <a:p>
            <a:r>
              <a:rPr sz="3200" b="1">
                <a:solidFill>
                  <a:srgbClr val="0468FF"/>
                </a:solidFill>
                <a:latin typeface="Arial"/>
              </a:rPr>
              <a:t>Notable Earnings from Last Week</a:t>
            </a:r>
          </a:p>
        </p:txBody>
      </p:sp>
      <p:sp>
        <p:nvSpPr>
          <p:cNvPr id="8" name="TextBox 7"/>
          <p:cNvSpPr txBox="1"/>
          <p:nvPr/>
        </p:nvSpPr>
        <p:spPr>
          <a:xfrm>
            <a:off x="713232" y="1353312"/>
            <a:ext cx="10881360" cy="310896"/>
          </a:xfrm>
          <a:prstGeom prst="rect">
            <a:avLst/>
          </a:prstGeom>
          <a:noFill/>
        </p:spPr>
        <p:txBody>
          <a:bodyPr wrap="square" lIns="36576" tIns="36576" rIns="36576" bIns="36576">
            <a:normAutofit lnSpcReduction="10000"/>
          </a:bodyPr>
          <a:lstStyle/>
          <a:p>
            <a:r>
              <a:rPr sz="1600" b="0">
                <a:solidFill>
                  <a:srgbClr val="000962"/>
                </a:solidFill>
                <a:latin typeface="Arial"/>
              </a:rPr>
              <a:t>Nike headlined a quiet pre-holiday reporting week.</a:t>
            </a:r>
          </a:p>
        </p:txBody>
      </p:sp>
      <p:sp>
        <p:nvSpPr>
          <p:cNvPr id="9" name="TextBox 8"/>
          <p:cNvSpPr txBox="1"/>
          <p:nvPr/>
        </p:nvSpPr>
        <p:spPr>
          <a:xfrm>
            <a:off x="521207" y="6327648"/>
            <a:ext cx="5394960" cy="146304"/>
          </a:xfrm>
          <a:prstGeom prst="rect">
            <a:avLst/>
          </a:prstGeom>
          <a:noFill/>
        </p:spPr>
        <p:txBody>
          <a:bodyPr wrap="square" lIns="0" tIns="0" rIns="0" bIns="0">
            <a:normAutofit/>
          </a:bodyPr>
          <a:lstStyle/>
          <a:p>
            <a:r>
              <a:rPr sz="550" b="0">
                <a:solidFill>
                  <a:srgbClr val="46648C"/>
                </a:solidFill>
                <a:latin typeface="Arial"/>
              </a:rPr>
              <a:t>Internal use only. For agent use only. Not for use with the public.</a:t>
            </a:r>
          </a:p>
        </p:txBody>
      </p:sp>
      <p:sp>
        <p:nvSpPr>
          <p:cNvPr id="10" name="TextBox 9"/>
          <p:cNvSpPr txBox="1"/>
          <p:nvPr/>
        </p:nvSpPr>
        <p:spPr>
          <a:xfrm>
            <a:off x="10497312" y="6263640"/>
            <a:ext cx="768096" cy="182880"/>
          </a:xfrm>
          <a:prstGeom prst="rect">
            <a:avLst/>
          </a:prstGeom>
          <a:noFill/>
        </p:spPr>
        <p:txBody>
          <a:bodyPr wrap="square" lIns="0" tIns="0" rIns="0" bIns="0">
            <a:normAutofit/>
          </a:bodyPr>
          <a:lstStyle/>
          <a:p>
            <a:pPr algn="r"/>
            <a:r>
              <a:rPr sz="850" b="1">
                <a:solidFill>
                  <a:srgbClr val="000962"/>
                </a:solidFill>
                <a:latin typeface="Arial"/>
              </a:rPr>
              <a:t>ELEVATE</a:t>
            </a:r>
          </a:p>
        </p:txBody>
      </p:sp>
      <p:sp>
        <p:nvSpPr>
          <p:cNvPr id="11" name="TextBox 10"/>
          <p:cNvSpPr txBox="1"/>
          <p:nvPr/>
        </p:nvSpPr>
        <p:spPr>
          <a:xfrm>
            <a:off x="11228832" y="6272784"/>
            <a:ext cx="384048" cy="164592"/>
          </a:xfrm>
          <a:prstGeom prst="rect">
            <a:avLst/>
          </a:prstGeom>
          <a:noFill/>
        </p:spPr>
        <p:txBody>
          <a:bodyPr wrap="square" lIns="0" tIns="0" rIns="0" bIns="0">
            <a:normAutofit/>
          </a:bodyPr>
          <a:lstStyle/>
          <a:p>
            <a:pPr algn="l"/>
            <a:r>
              <a:rPr sz="580" b="0">
                <a:solidFill>
                  <a:srgbClr val="000962"/>
                </a:solidFill>
                <a:latin typeface="Arial"/>
              </a:rPr>
              <a:t>NEW ORG</a:t>
            </a:r>
          </a:p>
        </p:txBody>
      </p:sp>
      <p:sp>
        <p:nvSpPr>
          <p:cNvPr id="12" name="TextBox 11"/>
          <p:cNvSpPr txBox="1"/>
          <p:nvPr/>
        </p:nvSpPr>
        <p:spPr>
          <a:xfrm>
            <a:off x="914400" y="1874519"/>
            <a:ext cx="10058400" cy="384048"/>
          </a:xfrm>
          <a:prstGeom prst="rect">
            <a:avLst/>
          </a:prstGeom>
          <a:noFill/>
        </p:spPr>
        <p:txBody>
          <a:bodyPr wrap="square" lIns="36576" tIns="36576" rIns="36576" bIns="36576">
            <a:normAutofit lnSpcReduction="10000"/>
          </a:bodyPr>
          <a:lstStyle/>
          <a:p>
            <a:pPr algn="ctr"/>
            <a:r>
              <a:rPr sz="2200" b="1">
                <a:solidFill>
                  <a:srgbClr val="000962"/>
                </a:solidFill>
                <a:latin typeface="Arial"/>
              </a:rPr>
              <a:t>Nike’s fiscal Q4 (reported June 30) was the week’s cleanest story - and a lesson in reading past headlines.</a:t>
            </a:r>
          </a:p>
        </p:txBody>
      </p:sp>
      <p:sp>
        <p:nvSpPr>
          <p:cNvPr id="13" name="Rectangle 12"/>
          <p:cNvSpPr/>
          <p:nvPr/>
        </p:nvSpPr>
        <p:spPr>
          <a:xfrm>
            <a:off x="1051560" y="2743200"/>
            <a:ext cx="2880360" cy="868680"/>
          </a:xfrm>
          <a:prstGeom prst="rect">
            <a:avLst/>
          </a:prstGeom>
          <a:solidFill>
            <a:srgbClr val="EBF5FF"/>
          </a:solidFill>
          <a:ln>
            <a:solidFill>
              <a:srgbClr val="D2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61288" y="2816352"/>
            <a:ext cx="2660904" cy="137160"/>
          </a:xfrm>
          <a:prstGeom prst="rect">
            <a:avLst/>
          </a:prstGeom>
          <a:noFill/>
        </p:spPr>
        <p:txBody>
          <a:bodyPr wrap="square" lIns="0" tIns="0" rIns="0" bIns="0">
            <a:normAutofit/>
          </a:bodyPr>
          <a:lstStyle/>
          <a:p>
            <a:r>
              <a:rPr sz="850" b="0">
                <a:solidFill>
                  <a:srgbClr val="435674"/>
                </a:solidFill>
                <a:latin typeface="Arial"/>
              </a:rPr>
              <a:t>Nike FQ4 revenue</a:t>
            </a:r>
          </a:p>
        </p:txBody>
      </p:sp>
      <p:sp>
        <p:nvSpPr>
          <p:cNvPr id="15" name="TextBox 14"/>
          <p:cNvSpPr txBox="1"/>
          <p:nvPr/>
        </p:nvSpPr>
        <p:spPr>
          <a:xfrm>
            <a:off x="1161288" y="2990088"/>
            <a:ext cx="2660904" cy="201168"/>
          </a:xfrm>
          <a:prstGeom prst="rect">
            <a:avLst/>
          </a:prstGeom>
          <a:noFill/>
        </p:spPr>
        <p:txBody>
          <a:bodyPr wrap="square" lIns="0" tIns="0" rIns="0" bIns="0">
            <a:normAutofit fontScale="85000" lnSpcReduction="20000"/>
          </a:bodyPr>
          <a:lstStyle/>
          <a:p>
            <a:r>
              <a:rPr sz="1800" b="1">
                <a:solidFill>
                  <a:srgbClr val="0468FF"/>
                </a:solidFill>
                <a:latin typeface="Arial"/>
              </a:rPr>
              <a:t>$11.0B</a:t>
            </a:r>
          </a:p>
        </p:txBody>
      </p:sp>
      <p:sp>
        <p:nvSpPr>
          <p:cNvPr id="16" name="TextBox 15"/>
          <p:cNvSpPr txBox="1"/>
          <p:nvPr/>
        </p:nvSpPr>
        <p:spPr>
          <a:xfrm>
            <a:off x="1161288" y="3236976"/>
            <a:ext cx="2660904" cy="146304"/>
          </a:xfrm>
          <a:prstGeom prst="rect">
            <a:avLst/>
          </a:prstGeom>
          <a:noFill/>
        </p:spPr>
        <p:txBody>
          <a:bodyPr wrap="square" lIns="0" tIns="0" rIns="0" bIns="0">
            <a:normAutofit/>
          </a:bodyPr>
          <a:lstStyle/>
          <a:p>
            <a:r>
              <a:rPr sz="750" b="0">
                <a:solidFill>
                  <a:srgbClr val="435674"/>
                </a:solidFill>
                <a:latin typeface="Arial"/>
              </a:rPr>
              <a:t>Down 1% y/y, but above estimates</a:t>
            </a:r>
          </a:p>
        </p:txBody>
      </p:sp>
      <p:sp>
        <p:nvSpPr>
          <p:cNvPr id="17" name="Rectangle 16"/>
          <p:cNvSpPr/>
          <p:nvPr/>
        </p:nvSpPr>
        <p:spPr>
          <a:xfrm>
            <a:off x="4663440" y="2743200"/>
            <a:ext cx="2880360" cy="868680"/>
          </a:xfrm>
          <a:prstGeom prst="rect">
            <a:avLst/>
          </a:prstGeom>
          <a:solidFill>
            <a:srgbClr val="EBF5FF"/>
          </a:solidFill>
          <a:ln>
            <a:solidFill>
              <a:srgbClr val="D2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73168" y="2816352"/>
            <a:ext cx="2660904" cy="137160"/>
          </a:xfrm>
          <a:prstGeom prst="rect">
            <a:avLst/>
          </a:prstGeom>
          <a:noFill/>
        </p:spPr>
        <p:txBody>
          <a:bodyPr wrap="square" lIns="0" tIns="0" rIns="0" bIns="0">
            <a:normAutofit/>
          </a:bodyPr>
          <a:lstStyle/>
          <a:p>
            <a:r>
              <a:rPr sz="850" b="0">
                <a:solidFill>
                  <a:srgbClr val="435674"/>
                </a:solidFill>
                <a:latin typeface="Arial"/>
              </a:rPr>
              <a:t>Reported EPS</a:t>
            </a:r>
          </a:p>
        </p:txBody>
      </p:sp>
      <p:sp>
        <p:nvSpPr>
          <p:cNvPr id="19" name="TextBox 18"/>
          <p:cNvSpPr txBox="1"/>
          <p:nvPr/>
        </p:nvSpPr>
        <p:spPr>
          <a:xfrm>
            <a:off x="4773168" y="2990088"/>
            <a:ext cx="2660904" cy="201168"/>
          </a:xfrm>
          <a:prstGeom prst="rect">
            <a:avLst/>
          </a:prstGeom>
          <a:noFill/>
        </p:spPr>
        <p:txBody>
          <a:bodyPr wrap="square" lIns="0" tIns="0" rIns="0" bIns="0">
            <a:normAutofit fontScale="85000" lnSpcReduction="20000"/>
          </a:bodyPr>
          <a:lstStyle/>
          <a:p>
            <a:r>
              <a:rPr sz="1800" b="1">
                <a:solidFill>
                  <a:srgbClr val="0468FF"/>
                </a:solidFill>
                <a:latin typeface="Arial"/>
              </a:rPr>
              <a:t>$0.72</a:t>
            </a:r>
          </a:p>
        </p:txBody>
      </p:sp>
      <p:sp>
        <p:nvSpPr>
          <p:cNvPr id="20" name="TextBox 19"/>
          <p:cNvSpPr txBox="1"/>
          <p:nvPr/>
        </p:nvSpPr>
        <p:spPr>
          <a:xfrm>
            <a:off x="4773168" y="3236976"/>
            <a:ext cx="2660904" cy="146304"/>
          </a:xfrm>
          <a:prstGeom prst="rect">
            <a:avLst/>
          </a:prstGeom>
          <a:noFill/>
        </p:spPr>
        <p:txBody>
          <a:bodyPr wrap="square" lIns="0" tIns="0" rIns="0" bIns="0">
            <a:normAutofit/>
          </a:bodyPr>
          <a:lstStyle/>
          <a:p>
            <a:r>
              <a:rPr sz="750" b="0">
                <a:solidFill>
                  <a:srgbClr val="435674"/>
                </a:solidFill>
                <a:latin typeface="Arial"/>
              </a:rPr>
              <a:t>Includes $0.52 one-time tariff recovery</a:t>
            </a:r>
          </a:p>
        </p:txBody>
      </p:sp>
      <p:sp>
        <p:nvSpPr>
          <p:cNvPr id="21" name="Rectangle 20"/>
          <p:cNvSpPr/>
          <p:nvPr/>
        </p:nvSpPr>
        <p:spPr>
          <a:xfrm>
            <a:off x="8275320" y="2743200"/>
            <a:ext cx="2880360" cy="868680"/>
          </a:xfrm>
          <a:prstGeom prst="rect">
            <a:avLst/>
          </a:prstGeom>
          <a:solidFill>
            <a:srgbClr val="EBF5FF"/>
          </a:solidFill>
          <a:ln>
            <a:solidFill>
              <a:srgbClr val="D2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85048" y="2816352"/>
            <a:ext cx="2660904" cy="137160"/>
          </a:xfrm>
          <a:prstGeom prst="rect">
            <a:avLst/>
          </a:prstGeom>
          <a:noFill/>
        </p:spPr>
        <p:txBody>
          <a:bodyPr wrap="square" lIns="0" tIns="0" rIns="0" bIns="0">
            <a:normAutofit/>
          </a:bodyPr>
          <a:lstStyle/>
          <a:p>
            <a:r>
              <a:rPr sz="850" b="0">
                <a:solidFill>
                  <a:srgbClr val="435674"/>
                </a:solidFill>
                <a:latin typeface="Arial"/>
              </a:rPr>
              <a:t>Greater China</a:t>
            </a:r>
          </a:p>
        </p:txBody>
      </p:sp>
      <p:sp>
        <p:nvSpPr>
          <p:cNvPr id="23" name="TextBox 22"/>
          <p:cNvSpPr txBox="1"/>
          <p:nvPr/>
        </p:nvSpPr>
        <p:spPr>
          <a:xfrm>
            <a:off x="8385048" y="2990088"/>
            <a:ext cx="2660904" cy="201168"/>
          </a:xfrm>
          <a:prstGeom prst="rect">
            <a:avLst/>
          </a:prstGeom>
          <a:noFill/>
        </p:spPr>
        <p:txBody>
          <a:bodyPr wrap="square" lIns="0" tIns="0" rIns="0" bIns="0">
            <a:normAutofit fontScale="85000" lnSpcReduction="20000"/>
          </a:bodyPr>
          <a:lstStyle/>
          <a:p>
            <a:r>
              <a:rPr sz="1800" b="1">
                <a:solidFill>
                  <a:srgbClr val="0468FF"/>
                </a:solidFill>
                <a:latin typeface="Arial"/>
              </a:rPr>
              <a:t>-12%</a:t>
            </a:r>
          </a:p>
        </p:txBody>
      </p:sp>
      <p:sp>
        <p:nvSpPr>
          <p:cNvPr id="24" name="TextBox 23"/>
          <p:cNvSpPr txBox="1"/>
          <p:nvPr/>
        </p:nvSpPr>
        <p:spPr>
          <a:xfrm>
            <a:off x="8385048" y="3236976"/>
            <a:ext cx="2660904" cy="146304"/>
          </a:xfrm>
          <a:prstGeom prst="rect">
            <a:avLst/>
          </a:prstGeom>
          <a:noFill/>
        </p:spPr>
        <p:txBody>
          <a:bodyPr wrap="square" lIns="0" tIns="0" rIns="0" bIns="0">
            <a:normAutofit/>
          </a:bodyPr>
          <a:lstStyle/>
          <a:p>
            <a:r>
              <a:rPr sz="750" b="0">
                <a:solidFill>
                  <a:srgbClr val="435674"/>
                </a:solidFill>
                <a:latin typeface="Arial"/>
              </a:rPr>
              <a:t>Weak, though ahead of expectations</a:t>
            </a:r>
          </a:p>
        </p:txBody>
      </p:sp>
      <p:sp>
        <p:nvSpPr>
          <p:cNvPr id="25" name="TextBox 24"/>
          <p:cNvSpPr txBox="1"/>
          <p:nvPr/>
        </p:nvSpPr>
        <p:spPr>
          <a:xfrm>
            <a:off x="1051560" y="4251960"/>
            <a:ext cx="10058400" cy="594360"/>
          </a:xfrm>
          <a:prstGeom prst="rect">
            <a:avLst/>
          </a:prstGeom>
          <a:noFill/>
        </p:spPr>
        <p:txBody>
          <a:bodyPr wrap="square" lIns="36576" tIns="36576" rIns="36576" bIns="36576">
            <a:normAutofit lnSpcReduction="10000"/>
          </a:bodyPr>
          <a:lstStyle/>
          <a:p>
            <a:pPr algn="ctr"/>
            <a:r>
              <a:rPr sz="1800" b="0">
                <a:solidFill>
                  <a:srgbClr val="000962"/>
                </a:solidFill>
                <a:latin typeface="Arial"/>
              </a:rPr>
              <a:t>Talking point: Nike’s $0.72 EPS crushed the $0.13 estimate, but $0.52 of it was a one-time tariff-recovery benefit, not better sneaker sales. The stock whipsawed after hours for exactly that reason. Constellation Brands, General Mills, and FactSet also reported during the shortened week.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4"/>
          </p:nvPr>
        </p:nvSpPr>
        <p:spPr/>
        <p:txBody>
          <a:bodyPr/>
          <a:lstStyle/>
          <a:p>
            <a:endParaRPr lang="en-US"/>
          </a:p>
        </p:txBody>
      </p:sp>
      <p:sp>
        <p:nvSpPr>
          <p:cNvPr id="3" name="Title 2"/>
          <p:cNvSpPr>
            <a:spLocks noGrp="1"/>
          </p:cNvSpPr>
          <p:nvPr>
            <p:ph type="title"/>
          </p:nvPr>
        </p:nvSpPr>
        <p:spPr/>
        <p:txBody>
          <a:bodyPr/>
          <a:lstStyle/>
          <a:p>
            <a:endParaRPr/>
          </a:p>
        </p:txBody>
      </p:sp>
      <p:sp>
        <p:nvSpPr>
          <p:cNvPr id="4" name="Rectangle 3"/>
          <p:cNvSpPr/>
          <p:nvPr/>
        </p:nvSpPr>
        <p:spPr>
          <a:xfrm>
            <a:off x="0" y="0"/>
            <a:ext cx="12191695" cy="6858000"/>
          </a:xfrm>
          <a:prstGeom prst="rect">
            <a:avLst/>
          </a:prstGeom>
          <a:solidFill>
            <a:srgbClr val="C7E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440680"/>
            <a:ext cx="12191695" cy="438912"/>
          </a:xfrm>
          <a:prstGeom prst="rect">
            <a:avLst/>
          </a:prstGeom>
          <a:solidFill>
            <a:srgbClr val="B6D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327648"/>
            <a:ext cx="12191695" cy="146304"/>
          </a:xfrm>
          <a:prstGeom prst="rect">
            <a:avLst/>
          </a:prstGeom>
          <a:solidFill>
            <a:srgbClr val="B6D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21792"/>
            <a:ext cx="10881360" cy="530352"/>
          </a:xfrm>
          <a:prstGeom prst="rect">
            <a:avLst/>
          </a:prstGeom>
          <a:noFill/>
        </p:spPr>
        <p:txBody>
          <a:bodyPr wrap="square" lIns="36576" tIns="36576" rIns="36576" bIns="36576">
            <a:normAutofit lnSpcReduction="10000"/>
          </a:bodyPr>
          <a:lstStyle/>
          <a:p>
            <a:r>
              <a:rPr sz="3200" b="1">
                <a:solidFill>
                  <a:srgbClr val="0468FF"/>
                </a:solidFill>
                <a:latin typeface="Arial"/>
              </a:rPr>
              <a:t>Economic Reports Calendar: Week Ahead</a:t>
            </a:r>
          </a:p>
        </p:txBody>
      </p:sp>
      <p:sp>
        <p:nvSpPr>
          <p:cNvPr id="8" name="TextBox 7"/>
          <p:cNvSpPr txBox="1"/>
          <p:nvPr/>
        </p:nvSpPr>
        <p:spPr>
          <a:xfrm>
            <a:off x="713232" y="1353312"/>
            <a:ext cx="10881360" cy="310896"/>
          </a:xfrm>
          <a:prstGeom prst="rect">
            <a:avLst/>
          </a:prstGeom>
          <a:noFill/>
        </p:spPr>
        <p:txBody>
          <a:bodyPr wrap="square" lIns="36576" tIns="36576" rIns="36576" bIns="36576">
            <a:normAutofit lnSpcReduction="10000"/>
          </a:bodyPr>
          <a:lstStyle/>
          <a:p>
            <a:r>
              <a:rPr sz="1600" b="0">
                <a:solidFill>
                  <a:srgbClr val="000962"/>
                </a:solidFill>
                <a:latin typeface="Arial"/>
              </a:rPr>
              <a:t>July 6-10: a light calendar with one big exception - the Fed minutes.</a:t>
            </a:r>
          </a:p>
        </p:txBody>
      </p:sp>
      <p:sp>
        <p:nvSpPr>
          <p:cNvPr id="9" name="TextBox 8"/>
          <p:cNvSpPr txBox="1"/>
          <p:nvPr/>
        </p:nvSpPr>
        <p:spPr>
          <a:xfrm>
            <a:off x="521207" y="6327648"/>
            <a:ext cx="5394960" cy="146304"/>
          </a:xfrm>
          <a:prstGeom prst="rect">
            <a:avLst/>
          </a:prstGeom>
          <a:noFill/>
        </p:spPr>
        <p:txBody>
          <a:bodyPr wrap="square" lIns="0" tIns="0" rIns="0" bIns="0">
            <a:normAutofit/>
          </a:bodyPr>
          <a:lstStyle/>
          <a:p>
            <a:r>
              <a:rPr sz="550" b="0">
                <a:solidFill>
                  <a:srgbClr val="46648C"/>
                </a:solidFill>
                <a:latin typeface="Arial"/>
              </a:rPr>
              <a:t>Internal use only. For agent use only. Not for use with the public.</a:t>
            </a:r>
          </a:p>
        </p:txBody>
      </p:sp>
      <p:sp>
        <p:nvSpPr>
          <p:cNvPr id="10" name="TextBox 9"/>
          <p:cNvSpPr txBox="1"/>
          <p:nvPr/>
        </p:nvSpPr>
        <p:spPr>
          <a:xfrm>
            <a:off x="10497312" y="6263640"/>
            <a:ext cx="768096" cy="182880"/>
          </a:xfrm>
          <a:prstGeom prst="rect">
            <a:avLst/>
          </a:prstGeom>
          <a:noFill/>
        </p:spPr>
        <p:txBody>
          <a:bodyPr wrap="square" lIns="0" tIns="0" rIns="0" bIns="0">
            <a:normAutofit/>
          </a:bodyPr>
          <a:lstStyle/>
          <a:p>
            <a:pPr algn="r"/>
            <a:r>
              <a:rPr sz="850" b="1">
                <a:solidFill>
                  <a:srgbClr val="000962"/>
                </a:solidFill>
                <a:latin typeface="Arial"/>
              </a:rPr>
              <a:t>ELEVATE</a:t>
            </a:r>
          </a:p>
        </p:txBody>
      </p:sp>
      <p:sp>
        <p:nvSpPr>
          <p:cNvPr id="11" name="TextBox 10"/>
          <p:cNvSpPr txBox="1"/>
          <p:nvPr/>
        </p:nvSpPr>
        <p:spPr>
          <a:xfrm>
            <a:off x="11228832" y="6272784"/>
            <a:ext cx="384048" cy="164592"/>
          </a:xfrm>
          <a:prstGeom prst="rect">
            <a:avLst/>
          </a:prstGeom>
          <a:noFill/>
        </p:spPr>
        <p:txBody>
          <a:bodyPr wrap="square" lIns="0" tIns="0" rIns="0" bIns="0">
            <a:normAutofit/>
          </a:bodyPr>
          <a:lstStyle/>
          <a:p>
            <a:pPr algn="l"/>
            <a:r>
              <a:rPr sz="580" b="0">
                <a:solidFill>
                  <a:srgbClr val="000962"/>
                </a:solidFill>
                <a:latin typeface="Arial"/>
              </a:rPr>
              <a:t>NEW ORG</a:t>
            </a:r>
          </a:p>
        </p:txBody>
      </p:sp>
      <p:sp>
        <p:nvSpPr>
          <p:cNvPr id="12" name="TextBox 11"/>
          <p:cNvSpPr txBox="1"/>
          <p:nvPr/>
        </p:nvSpPr>
        <p:spPr>
          <a:xfrm>
            <a:off x="658368" y="1965960"/>
            <a:ext cx="1051560" cy="237744"/>
          </a:xfrm>
          <a:prstGeom prst="rect">
            <a:avLst/>
          </a:prstGeom>
          <a:noFill/>
        </p:spPr>
        <p:txBody>
          <a:bodyPr wrap="square" lIns="18288" tIns="18288" rIns="18288" bIns="18288">
            <a:normAutofit/>
          </a:bodyPr>
          <a:lstStyle/>
          <a:p>
            <a:r>
              <a:rPr sz="950" b="1">
                <a:solidFill>
                  <a:srgbClr val="0468FF"/>
                </a:solidFill>
                <a:latin typeface="Arial"/>
              </a:rPr>
              <a:t>Date</a:t>
            </a:r>
          </a:p>
        </p:txBody>
      </p:sp>
      <p:sp>
        <p:nvSpPr>
          <p:cNvPr id="13" name="TextBox 12"/>
          <p:cNvSpPr txBox="1"/>
          <p:nvPr/>
        </p:nvSpPr>
        <p:spPr>
          <a:xfrm>
            <a:off x="1709928" y="1965960"/>
            <a:ext cx="2788920" cy="237744"/>
          </a:xfrm>
          <a:prstGeom prst="rect">
            <a:avLst/>
          </a:prstGeom>
          <a:noFill/>
        </p:spPr>
        <p:txBody>
          <a:bodyPr wrap="square" lIns="18288" tIns="18288" rIns="18288" bIns="18288">
            <a:normAutofit/>
          </a:bodyPr>
          <a:lstStyle/>
          <a:p>
            <a:r>
              <a:rPr sz="950" b="1">
                <a:solidFill>
                  <a:srgbClr val="0468FF"/>
                </a:solidFill>
                <a:latin typeface="Arial"/>
              </a:rPr>
              <a:t>Report</a:t>
            </a:r>
          </a:p>
        </p:txBody>
      </p:sp>
      <p:sp>
        <p:nvSpPr>
          <p:cNvPr id="14" name="TextBox 13"/>
          <p:cNvSpPr txBox="1"/>
          <p:nvPr/>
        </p:nvSpPr>
        <p:spPr>
          <a:xfrm>
            <a:off x="4498847" y="1965960"/>
            <a:ext cx="2971800" cy="237744"/>
          </a:xfrm>
          <a:prstGeom prst="rect">
            <a:avLst/>
          </a:prstGeom>
          <a:noFill/>
        </p:spPr>
        <p:txBody>
          <a:bodyPr wrap="square" lIns="18288" tIns="18288" rIns="18288" bIns="18288">
            <a:normAutofit/>
          </a:bodyPr>
          <a:lstStyle/>
          <a:p>
            <a:r>
              <a:rPr sz="950" b="1">
                <a:solidFill>
                  <a:srgbClr val="0468FF"/>
                </a:solidFill>
                <a:latin typeface="Arial"/>
              </a:rPr>
              <a:t>Time (ET)</a:t>
            </a:r>
          </a:p>
        </p:txBody>
      </p:sp>
      <p:sp>
        <p:nvSpPr>
          <p:cNvPr id="15" name="TextBox 14"/>
          <p:cNvSpPr txBox="1"/>
          <p:nvPr/>
        </p:nvSpPr>
        <p:spPr>
          <a:xfrm>
            <a:off x="7470648" y="1965960"/>
            <a:ext cx="3977639" cy="237744"/>
          </a:xfrm>
          <a:prstGeom prst="rect">
            <a:avLst/>
          </a:prstGeom>
          <a:noFill/>
        </p:spPr>
        <p:txBody>
          <a:bodyPr wrap="square" lIns="18288" tIns="18288" rIns="18288" bIns="18288">
            <a:normAutofit/>
          </a:bodyPr>
          <a:lstStyle/>
          <a:p>
            <a:r>
              <a:rPr sz="950" b="1">
                <a:solidFill>
                  <a:srgbClr val="0468FF"/>
                </a:solidFill>
                <a:latin typeface="Arial"/>
              </a:rPr>
              <a:t>Why it matters</a:t>
            </a:r>
          </a:p>
        </p:txBody>
      </p:sp>
      <p:sp>
        <p:nvSpPr>
          <p:cNvPr id="16" name="Rectangle 15"/>
          <p:cNvSpPr/>
          <p:nvPr/>
        </p:nvSpPr>
        <p:spPr>
          <a:xfrm>
            <a:off x="658368" y="2313432"/>
            <a:ext cx="10789919" cy="493775"/>
          </a:xfrm>
          <a:prstGeom prst="rect">
            <a:avLst/>
          </a:prstGeom>
          <a:solidFill>
            <a:srgbClr val="EBF5FF"/>
          </a:solidFill>
          <a:ln>
            <a:solidFill>
              <a:srgbClr val="D2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4944" y="2350008"/>
            <a:ext cx="978407" cy="448056"/>
          </a:xfrm>
          <a:prstGeom prst="rect">
            <a:avLst/>
          </a:prstGeom>
          <a:noFill/>
        </p:spPr>
        <p:txBody>
          <a:bodyPr wrap="square" lIns="9144" tIns="9144" rIns="9144" bIns="9144">
            <a:normAutofit/>
          </a:bodyPr>
          <a:lstStyle/>
          <a:p>
            <a:r>
              <a:rPr sz="950" b="0">
                <a:solidFill>
                  <a:srgbClr val="000962"/>
                </a:solidFill>
                <a:latin typeface="Arial"/>
              </a:rPr>
              <a:t>Mon 7/6</a:t>
            </a:r>
          </a:p>
        </p:txBody>
      </p:sp>
      <p:sp>
        <p:nvSpPr>
          <p:cNvPr id="18" name="TextBox 17"/>
          <p:cNvSpPr txBox="1"/>
          <p:nvPr/>
        </p:nvSpPr>
        <p:spPr>
          <a:xfrm>
            <a:off x="1746504" y="2350008"/>
            <a:ext cx="2715768" cy="448056"/>
          </a:xfrm>
          <a:prstGeom prst="rect">
            <a:avLst/>
          </a:prstGeom>
          <a:noFill/>
        </p:spPr>
        <p:txBody>
          <a:bodyPr wrap="square" lIns="9144" tIns="9144" rIns="9144" bIns="9144">
            <a:normAutofit/>
          </a:bodyPr>
          <a:lstStyle/>
          <a:p>
            <a:r>
              <a:rPr sz="950" b="0">
                <a:solidFill>
                  <a:srgbClr val="000962"/>
                </a:solidFill>
                <a:latin typeface="Arial"/>
              </a:rPr>
              <a:t>ISM Services PMI; S&amp;P Global Services PMI (June)</a:t>
            </a:r>
          </a:p>
        </p:txBody>
      </p:sp>
      <p:sp>
        <p:nvSpPr>
          <p:cNvPr id="19" name="TextBox 18"/>
          <p:cNvSpPr txBox="1"/>
          <p:nvPr/>
        </p:nvSpPr>
        <p:spPr>
          <a:xfrm>
            <a:off x="4535423" y="2350008"/>
            <a:ext cx="2898648" cy="448056"/>
          </a:xfrm>
          <a:prstGeom prst="rect">
            <a:avLst/>
          </a:prstGeom>
          <a:noFill/>
        </p:spPr>
        <p:txBody>
          <a:bodyPr wrap="square" lIns="9144" tIns="9144" rIns="9144" bIns="9144">
            <a:normAutofit/>
          </a:bodyPr>
          <a:lstStyle/>
          <a:p>
            <a:r>
              <a:rPr sz="950" b="0">
                <a:solidFill>
                  <a:srgbClr val="000962"/>
                </a:solidFill>
                <a:latin typeface="Arial"/>
              </a:rPr>
              <a:t>10:00 am / 9:45 am</a:t>
            </a:r>
          </a:p>
        </p:txBody>
      </p:sp>
      <p:sp>
        <p:nvSpPr>
          <p:cNvPr id="20" name="TextBox 19"/>
          <p:cNvSpPr txBox="1"/>
          <p:nvPr/>
        </p:nvSpPr>
        <p:spPr>
          <a:xfrm>
            <a:off x="7507223" y="2350008"/>
            <a:ext cx="3904487" cy="448056"/>
          </a:xfrm>
          <a:prstGeom prst="rect">
            <a:avLst/>
          </a:prstGeom>
          <a:noFill/>
        </p:spPr>
        <p:txBody>
          <a:bodyPr wrap="square" lIns="9144" tIns="9144" rIns="9144" bIns="9144">
            <a:normAutofit/>
          </a:bodyPr>
          <a:lstStyle/>
          <a:p>
            <a:r>
              <a:rPr sz="950" b="0">
                <a:solidFill>
                  <a:srgbClr val="000962"/>
                </a:solidFill>
                <a:latin typeface="Arial"/>
              </a:rPr>
              <a:t>Health of the service economy.</a:t>
            </a:r>
          </a:p>
        </p:txBody>
      </p:sp>
      <p:sp>
        <p:nvSpPr>
          <p:cNvPr id="21" name="Rectangle 20"/>
          <p:cNvSpPr/>
          <p:nvPr/>
        </p:nvSpPr>
        <p:spPr>
          <a:xfrm>
            <a:off x="658368" y="2843784"/>
            <a:ext cx="10789919" cy="493775"/>
          </a:xfrm>
          <a:prstGeom prst="rect">
            <a:avLst/>
          </a:prstGeom>
          <a:solidFill>
            <a:srgbClr val="FFFFFF"/>
          </a:solidFill>
          <a:ln>
            <a:solidFill>
              <a:srgbClr val="D2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4944" y="2880360"/>
            <a:ext cx="978407" cy="448056"/>
          </a:xfrm>
          <a:prstGeom prst="rect">
            <a:avLst/>
          </a:prstGeom>
          <a:noFill/>
        </p:spPr>
        <p:txBody>
          <a:bodyPr wrap="square" lIns="9144" tIns="9144" rIns="9144" bIns="9144">
            <a:normAutofit/>
          </a:bodyPr>
          <a:lstStyle/>
          <a:p>
            <a:r>
              <a:rPr sz="950" b="0">
                <a:solidFill>
                  <a:srgbClr val="000962"/>
                </a:solidFill>
                <a:latin typeface="Arial"/>
              </a:rPr>
              <a:t>Tue 7/7</a:t>
            </a:r>
          </a:p>
        </p:txBody>
      </p:sp>
      <p:sp>
        <p:nvSpPr>
          <p:cNvPr id="23" name="TextBox 22"/>
          <p:cNvSpPr txBox="1"/>
          <p:nvPr/>
        </p:nvSpPr>
        <p:spPr>
          <a:xfrm>
            <a:off x="1746504" y="2880360"/>
            <a:ext cx="2715768" cy="448056"/>
          </a:xfrm>
          <a:prstGeom prst="rect">
            <a:avLst/>
          </a:prstGeom>
          <a:noFill/>
        </p:spPr>
        <p:txBody>
          <a:bodyPr wrap="square" lIns="9144" tIns="9144" rIns="9144" bIns="9144">
            <a:normAutofit/>
          </a:bodyPr>
          <a:lstStyle/>
          <a:p>
            <a:r>
              <a:rPr sz="950" b="0">
                <a:solidFill>
                  <a:srgbClr val="000962"/>
                </a:solidFill>
                <a:latin typeface="Arial"/>
              </a:rPr>
              <a:t>Trade Balance (May)</a:t>
            </a:r>
          </a:p>
        </p:txBody>
      </p:sp>
      <p:sp>
        <p:nvSpPr>
          <p:cNvPr id="24" name="TextBox 23"/>
          <p:cNvSpPr txBox="1"/>
          <p:nvPr/>
        </p:nvSpPr>
        <p:spPr>
          <a:xfrm>
            <a:off x="4535423" y="2880360"/>
            <a:ext cx="2898648" cy="448056"/>
          </a:xfrm>
          <a:prstGeom prst="rect">
            <a:avLst/>
          </a:prstGeom>
          <a:noFill/>
        </p:spPr>
        <p:txBody>
          <a:bodyPr wrap="square" lIns="9144" tIns="9144" rIns="9144" bIns="9144">
            <a:normAutofit/>
          </a:bodyPr>
          <a:lstStyle/>
          <a:p>
            <a:r>
              <a:rPr sz="950" b="0">
                <a:solidFill>
                  <a:srgbClr val="000962"/>
                </a:solidFill>
                <a:latin typeface="Arial"/>
              </a:rPr>
              <a:t>8:30 am</a:t>
            </a:r>
          </a:p>
        </p:txBody>
      </p:sp>
      <p:sp>
        <p:nvSpPr>
          <p:cNvPr id="25" name="TextBox 24"/>
          <p:cNvSpPr txBox="1"/>
          <p:nvPr/>
        </p:nvSpPr>
        <p:spPr>
          <a:xfrm>
            <a:off x="7507223" y="2880360"/>
            <a:ext cx="3904487" cy="448056"/>
          </a:xfrm>
          <a:prstGeom prst="rect">
            <a:avLst/>
          </a:prstGeom>
          <a:noFill/>
        </p:spPr>
        <p:txBody>
          <a:bodyPr wrap="square" lIns="9144" tIns="9144" rIns="9144" bIns="9144">
            <a:normAutofit/>
          </a:bodyPr>
          <a:lstStyle/>
          <a:p>
            <a:r>
              <a:rPr sz="950" b="0">
                <a:solidFill>
                  <a:srgbClr val="000962"/>
                </a:solidFill>
                <a:latin typeface="Arial"/>
              </a:rPr>
              <a:t>Trade flows feed Q2 GDP math.</a:t>
            </a:r>
          </a:p>
        </p:txBody>
      </p:sp>
      <p:sp>
        <p:nvSpPr>
          <p:cNvPr id="26" name="Rectangle 25"/>
          <p:cNvSpPr/>
          <p:nvPr/>
        </p:nvSpPr>
        <p:spPr>
          <a:xfrm>
            <a:off x="658368" y="3374135"/>
            <a:ext cx="10789919" cy="493775"/>
          </a:xfrm>
          <a:prstGeom prst="rect">
            <a:avLst/>
          </a:prstGeom>
          <a:solidFill>
            <a:srgbClr val="EBF5FF"/>
          </a:solidFill>
          <a:ln>
            <a:solidFill>
              <a:srgbClr val="D2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4944" y="3410711"/>
            <a:ext cx="978407" cy="448056"/>
          </a:xfrm>
          <a:prstGeom prst="rect">
            <a:avLst/>
          </a:prstGeom>
          <a:noFill/>
        </p:spPr>
        <p:txBody>
          <a:bodyPr wrap="square" lIns="9144" tIns="9144" rIns="9144" bIns="9144">
            <a:normAutofit/>
          </a:bodyPr>
          <a:lstStyle/>
          <a:p>
            <a:r>
              <a:rPr sz="950" b="0">
                <a:solidFill>
                  <a:srgbClr val="000962"/>
                </a:solidFill>
                <a:latin typeface="Arial"/>
              </a:rPr>
              <a:t>Wed 7/8</a:t>
            </a:r>
          </a:p>
        </p:txBody>
      </p:sp>
      <p:sp>
        <p:nvSpPr>
          <p:cNvPr id="28" name="TextBox 27"/>
          <p:cNvSpPr txBox="1"/>
          <p:nvPr/>
        </p:nvSpPr>
        <p:spPr>
          <a:xfrm>
            <a:off x="1746504" y="3410711"/>
            <a:ext cx="2715768" cy="448056"/>
          </a:xfrm>
          <a:prstGeom prst="rect">
            <a:avLst/>
          </a:prstGeom>
          <a:noFill/>
        </p:spPr>
        <p:txBody>
          <a:bodyPr wrap="square" lIns="9144" tIns="9144" rIns="9144" bIns="9144">
            <a:normAutofit/>
          </a:bodyPr>
          <a:lstStyle/>
          <a:p>
            <a:r>
              <a:rPr sz="950" b="0">
                <a:solidFill>
                  <a:srgbClr val="000962"/>
                </a:solidFill>
                <a:latin typeface="Arial"/>
              </a:rPr>
              <a:t>FOMC Minutes (June meeting); Consumer Credit</a:t>
            </a:r>
          </a:p>
        </p:txBody>
      </p:sp>
      <p:sp>
        <p:nvSpPr>
          <p:cNvPr id="29" name="TextBox 28"/>
          <p:cNvSpPr txBox="1"/>
          <p:nvPr/>
        </p:nvSpPr>
        <p:spPr>
          <a:xfrm>
            <a:off x="4535423" y="3410711"/>
            <a:ext cx="2898648" cy="448056"/>
          </a:xfrm>
          <a:prstGeom prst="rect">
            <a:avLst/>
          </a:prstGeom>
          <a:noFill/>
        </p:spPr>
        <p:txBody>
          <a:bodyPr wrap="square" lIns="9144" tIns="9144" rIns="9144" bIns="9144">
            <a:normAutofit/>
          </a:bodyPr>
          <a:lstStyle/>
          <a:p>
            <a:r>
              <a:rPr sz="950" b="0">
                <a:solidFill>
                  <a:srgbClr val="000962"/>
                </a:solidFill>
                <a:latin typeface="Arial"/>
              </a:rPr>
              <a:t>2:00 pm / 3:00 pm</a:t>
            </a:r>
          </a:p>
        </p:txBody>
      </p:sp>
      <p:sp>
        <p:nvSpPr>
          <p:cNvPr id="30" name="TextBox 29"/>
          <p:cNvSpPr txBox="1"/>
          <p:nvPr/>
        </p:nvSpPr>
        <p:spPr>
          <a:xfrm>
            <a:off x="7507223" y="3410711"/>
            <a:ext cx="3904487" cy="448056"/>
          </a:xfrm>
          <a:prstGeom prst="rect">
            <a:avLst/>
          </a:prstGeom>
          <a:noFill/>
        </p:spPr>
        <p:txBody>
          <a:bodyPr wrap="square" lIns="9144" tIns="9144" rIns="9144" bIns="9144">
            <a:normAutofit/>
          </a:bodyPr>
          <a:lstStyle/>
          <a:p>
            <a:r>
              <a:rPr sz="950" b="0">
                <a:solidFill>
                  <a:srgbClr val="000962"/>
                </a:solidFill>
                <a:latin typeface="Arial"/>
              </a:rPr>
              <a:t>First minutes of the Warsh Fed.</a:t>
            </a:r>
          </a:p>
        </p:txBody>
      </p:sp>
      <p:sp>
        <p:nvSpPr>
          <p:cNvPr id="31" name="Rectangle 30"/>
          <p:cNvSpPr/>
          <p:nvPr/>
        </p:nvSpPr>
        <p:spPr>
          <a:xfrm>
            <a:off x="658368" y="3904487"/>
            <a:ext cx="10789919" cy="493775"/>
          </a:xfrm>
          <a:prstGeom prst="rect">
            <a:avLst/>
          </a:prstGeom>
          <a:solidFill>
            <a:srgbClr val="FFFFFF"/>
          </a:solidFill>
          <a:ln>
            <a:solidFill>
              <a:srgbClr val="D2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4944" y="3941063"/>
            <a:ext cx="978407" cy="448056"/>
          </a:xfrm>
          <a:prstGeom prst="rect">
            <a:avLst/>
          </a:prstGeom>
          <a:noFill/>
        </p:spPr>
        <p:txBody>
          <a:bodyPr wrap="square" lIns="9144" tIns="9144" rIns="9144" bIns="9144">
            <a:normAutofit/>
          </a:bodyPr>
          <a:lstStyle/>
          <a:p>
            <a:r>
              <a:rPr sz="950" b="0">
                <a:solidFill>
                  <a:srgbClr val="000962"/>
                </a:solidFill>
                <a:latin typeface="Arial"/>
              </a:rPr>
              <a:t>Thu 7/9</a:t>
            </a:r>
          </a:p>
        </p:txBody>
      </p:sp>
      <p:sp>
        <p:nvSpPr>
          <p:cNvPr id="33" name="TextBox 32"/>
          <p:cNvSpPr txBox="1"/>
          <p:nvPr/>
        </p:nvSpPr>
        <p:spPr>
          <a:xfrm>
            <a:off x="1746504" y="3941063"/>
            <a:ext cx="2715768" cy="448056"/>
          </a:xfrm>
          <a:prstGeom prst="rect">
            <a:avLst/>
          </a:prstGeom>
          <a:noFill/>
        </p:spPr>
        <p:txBody>
          <a:bodyPr wrap="square" lIns="9144" tIns="9144" rIns="9144" bIns="9144">
            <a:normAutofit/>
          </a:bodyPr>
          <a:lstStyle/>
          <a:p>
            <a:r>
              <a:rPr sz="950" b="0">
                <a:solidFill>
                  <a:srgbClr val="000962"/>
                </a:solidFill>
                <a:latin typeface="Arial"/>
              </a:rPr>
              <a:t>Jobless Claims; Existing Home Sales (June)</a:t>
            </a:r>
          </a:p>
        </p:txBody>
      </p:sp>
      <p:sp>
        <p:nvSpPr>
          <p:cNvPr id="34" name="TextBox 33"/>
          <p:cNvSpPr txBox="1"/>
          <p:nvPr/>
        </p:nvSpPr>
        <p:spPr>
          <a:xfrm>
            <a:off x="4535423" y="3941063"/>
            <a:ext cx="2898648" cy="448056"/>
          </a:xfrm>
          <a:prstGeom prst="rect">
            <a:avLst/>
          </a:prstGeom>
          <a:noFill/>
        </p:spPr>
        <p:txBody>
          <a:bodyPr wrap="square" lIns="9144" tIns="9144" rIns="9144" bIns="9144">
            <a:normAutofit/>
          </a:bodyPr>
          <a:lstStyle/>
          <a:p>
            <a:r>
              <a:rPr sz="950" b="0">
                <a:solidFill>
                  <a:srgbClr val="000962"/>
                </a:solidFill>
                <a:latin typeface="Arial"/>
              </a:rPr>
              <a:t>8:30 am / 10:00 am</a:t>
            </a:r>
          </a:p>
        </p:txBody>
      </p:sp>
      <p:sp>
        <p:nvSpPr>
          <p:cNvPr id="35" name="TextBox 34"/>
          <p:cNvSpPr txBox="1"/>
          <p:nvPr/>
        </p:nvSpPr>
        <p:spPr>
          <a:xfrm>
            <a:off x="7507223" y="3941063"/>
            <a:ext cx="3904487" cy="448056"/>
          </a:xfrm>
          <a:prstGeom prst="rect">
            <a:avLst/>
          </a:prstGeom>
          <a:noFill/>
        </p:spPr>
        <p:txBody>
          <a:bodyPr wrap="square" lIns="9144" tIns="9144" rIns="9144" bIns="9144">
            <a:normAutofit/>
          </a:bodyPr>
          <a:lstStyle/>
          <a:p>
            <a:r>
              <a:rPr sz="950" b="0">
                <a:solidFill>
                  <a:srgbClr val="000962"/>
                </a:solidFill>
                <a:latin typeface="Arial"/>
              </a:rPr>
              <a:t>Layoff watch after weak payrolls.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4"/>
          </p:nvPr>
        </p:nvSpPr>
        <p:spPr/>
        <p:txBody>
          <a:bodyPr/>
          <a:lstStyle/>
          <a:p>
            <a:endParaRPr lang="en-US"/>
          </a:p>
        </p:txBody>
      </p:sp>
      <p:sp>
        <p:nvSpPr>
          <p:cNvPr id="3" name="Title 2"/>
          <p:cNvSpPr>
            <a:spLocks noGrp="1"/>
          </p:cNvSpPr>
          <p:nvPr>
            <p:ph type="title"/>
          </p:nvPr>
        </p:nvSpPr>
        <p:spPr/>
        <p:txBody>
          <a:bodyPr/>
          <a:lstStyle/>
          <a:p>
            <a:endParaRPr/>
          </a:p>
        </p:txBody>
      </p:sp>
      <p:sp>
        <p:nvSpPr>
          <p:cNvPr id="4" name="Rectangle 3"/>
          <p:cNvSpPr/>
          <p:nvPr/>
        </p:nvSpPr>
        <p:spPr>
          <a:xfrm>
            <a:off x="0" y="0"/>
            <a:ext cx="12191695" cy="6858000"/>
          </a:xfrm>
          <a:prstGeom prst="rect">
            <a:avLst/>
          </a:prstGeom>
          <a:solidFill>
            <a:srgbClr val="C7E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440680"/>
            <a:ext cx="12191695" cy="438912"/>
          </a:xfrm>
          <a:prstGeom prst="rect">
            <a:avLst/>
          </a:prstGeom>
          <a:solidFill>
            <a:srgbClr val="B6D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327648"/>
            <a:ext cx="12191695" cy="146304"/>
          </a:xfrm>
          <a:prstGeom prst="rect">
            <a:avLst/>
          </a:prstGeom>
          <a:solidFill>
            <a:srgbClr val="B6D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21792"/>
            <a:ext cx="10881360" cy="530352"/>
          </a:xfrm>
          <a:prstGeom prst="rect">
            <a:avLst/>
          </a:prstGeom>
          <a:noFill/>
        </p:spPr>
        <p:txBody>
          <a:bodyPr wrap="square" lIns="36576" tIns="36576" rIns="36576" bIns="36576">
            <a:normAutofit lnSpcReduction="10000"/>
          </a:bodyPr>
          <a:lstStyle/>
          <a:p>
            <a:r>
              <a:rPr sz="3200" b="1">
                <a:solidFill>
                  <a:srgbClr val="0468FF"/>
                </a:solidFill>
                <a:latin typeface="Arial"/>
              </a:rPr>
              <a:t>Earnings Calendar: Week Ahead</a:t>
            </a:r>
          </a:p>
        </p:txBody>
      </p:sp>
      <p:sp>
        <p:nvSpPr>
          <p:cNvPr id="8" name="TextBox 7"/>
          <p:cNvSpPr txBox="1"/>
          <p:nvPr/>
        </p:nvSpPr>
        <p:spPr>
          <a:xfrm>
            <a:off x="713232" y="1353312"/>
            <a:ext cx="10881360" cy="310896"/>
          </a:xfrm>
          <a:prstGeom prst="rect">
            <a:avLst/>
          </a:prstGeom>
          <a:noFill/>
        </p:spPr>
        <p:txBody>
          <a:bodyPr wrap="square" lIns="36576" tIns="36576" rIns="36576" bIns="36576">
            <a:normAutofit lnSpcReduction="10000"/>
          </a:bodyPr>
          <a:lstStyle/>
          <a:p>
            <a:r>
              <a:rPr sz="1600" b="0">
                <a:solidFill>
                  <a:srgbClr val="000962"/>
                </a:solidFill>
                <a:latin typeface="Arial"/>
              </a:rPr>
              <a:t>A quiet setup week - Q2 reporting season kicks off with the banks the week after.</a:t>
            </a:r>
          </a:p>
        </p:txBody>
      </p:sp>
      <p:sp>
        <p:nvSpPr>
          <p:cNvPr id="9" name="TextBox 8"/>
          <p:cNvSpPr txBox="1"/>
          <p:nvPr/>
        </p:nvSpPr>
        <p:spPr>
          <a:xfrm>
            <a:off x="521207" y="6327648"/>
            <a:ext cx="5394960" cy="146304"/>
          </a:xfrm>
          <a:prstGeom prst="rect">
            <a:avLst/>
          </a:prstGeom>
          <a:noFill/>
        </p:spPr>
        <p:txBody>
          <a:bodyPr wrap="square" lIns="0" tIns="0" rIns="0" bIns="0">
            <a:normAutofit/>
          </a:bodyPr>
          <a:lstStyle/>
          <a:p>
            <a:r>
              <a:rPr sz="550" b="0">
                <a:solidFill>
                  <a:srgbClr val="46648C"/>
                </a:solidFill>
                <a:latin typeface="Arial"/>
              </a:rPr>
              <a:t>Internal use only. For agent use only. Not for use with the public.</a:t>
            </a:r>
          </a:p>
        </p:txBody>
      </p:sp>
      <p:sp>
        <p:nvSpPr>
          <p:cNvPr id="10" name="TextBox 9"/>
          <p:cNvSpPr txBox="1"/>
          <p:nvPr/>
        </p:nvSpPr>
        <p:spPr>
          <a:xfrm>
            <a:off x="10497312" y="6263640"/>
            <a:ext cx="768096" cy="182880"/>
          </a:xfrm>
          <a:prstGeom prst="rect">
            <a:avLst/>
          </a:prstGeom>
          <a:noFill/>
        </p:spPr>
        <p:txBody>
          <a:bodyPr wrap="square" lIns="0" tIns="0" rIns="0" bIns="0">
            <a:normAutofit/>
          </a:bodyPr>
          <a:lstStyle/>
          <a:p>
            <a:pPr algn="r"/>
            <a:r>
              <a:rPr sz="850" b="1">
                <a:solidFill>
                  <a:srgbClr val="000962"/>
                </a:solidFill>
                <a:latin typeface="Arial"/>
              </a:rPr>
              <a:t>ELEVATE</a:t>
            </a:r>
          </a:p>
        </p:txBody>
      </p:sp>
      <p:sp>
        <p:nvSpPr>
          <p:cNvPr id="11" name="TextBox 10"/>
          <p:cNvSpPr txBox="1"/>
          <p:nvPr/>
        </p:nvSpPr>
        <p:spPr>
          <a:xfrm>
            <a:off x="11228832" y="6272784"/>
            <a:ext cx="384048" cy="164592"/>
          </a:xfrm>
          <a:prstGeom prst="rect">
            <a:avLst/>
          </a:prstGeom>
          <a:noFill/>
        </p:spPr>
        <p:txBody>
          <a:bodyPr wrap="square" lIns="0" tIns="0" rIns="0" bIns="0">
            <a:normAutofit/>
          </a:bodyPr>
          <a:lstStyle/>
          <a:p>
            <a:pPr algn="l"/>
            <a:r>
              <a:rPr sz="580" b="0">
                <a:solidFill>
                  <a:srgbClr val="000962"/>
                </a:solidFill>
                <a:latin typeface="Arial"/>
              </a:rPr>
              <a:t>NEW ORG</a:t>
            </a:r>
          </a:p>
        </p:txBody>
      </p:sp>
      <p:sp>
        <p:nvSpPr>
          <p:cNvPr id="12" name="TextBox 11"/>
          <p:cNvSpPr txBox="1"/>
          <p:nvPr/>
        </p:nvSpPr>
        <p:spPr>
          <a:xfrm>
            <a:off x="566928" y="1874519"/>
            <a:ext cx="1005840" cy="237744"/>
          </a:xfrm>
          <a:prstGeom prst="rect">
            <a:avLst/>
          </a:prstGeom>
          <a:noFill/>
        </p:spPr>
        <p:txBody>
          <a:bodyPr wrap="square" lIns="18288" tIns="18288" rIns="18288" bIns="18288">
            <a:normAutofit/>
          </a:bodyPr>
          <a:lstStyle/>
          <a:p>
            <a:r>
              <a:rPr sz="869" b="1">
                <a:solidFill>
                  <a:srgbClr val="0468FF"/>
                </a:solidFill>
                <a:latin typeface="Arial"/>
              </a:rPr>
              <a:t>Date</a:t>
            </a:r>
          </a:p>
        </p:txBody>
      </p:sp>
      <p:sp>
        <p:nvSpPr>
          <p:cNvPr id="13" name="TextBox 12"/>
          <p:cNvSpPr txBox="1"/>
          <p:nvPr/>
        </p:nvSpPr>
        <p:spPr>
          <a:xfrm>
            <a:off x="1572768" y="1874519"/>
            <a:ext cx="1920240" cy="237744"/>
          </a:xfrm>
          <a:prstGeom prst="rect">
            <a:avLst/>
          </a:prstGeom>
          <a:noFill/>
        </p:spPr>
        <p:txBody>
          <a:bodyPr wrap="square" lIns="18288" tIns="18288" rIns="18288" bIns="18288">
            <a:normAutofit/>
          </a:bodyPr>
          <a:lstStyle/>
          <a:p>
            <a:r>
              <a:rPr sz="869" b="1">
                <a:solidFill>
                  <a:srgbClr val="0468FF"/>
                </a:solidFill>
                <a:latin typeface="Arial"/>
              </a:rPr>
              <a:t>Company</a:t>
            </a:r>
          </a:p>
        </p:txBody>
      </p:sp>
      <p:sp>
        <p:nvSpPr>
          <p:cNvPr id="14" name="TextBox 13"/>
          <p:cNvSpPr txBox="1"/>
          <p:nvPr/>
        </p:nvSpPr>
        <p:spPr>
          <a:xfrm>
            <a:off x="3493008" y="1874519"/>
            <a:ext cx="3474720" cy="237744"/>
          </a:xfrm>
          <a:prstGeom prst="rect">
            <a:avLst/>
          </a:prstGeom>
          <a:noFill/>
        </p:spPr>
        <p:txBody>
          <a:bodyPr wrap="square" lIns="18288" tIns="18288" rIns="18288" bIns="18288">
            <a:normAutofit/>
          </a:bodyPr>
          <a:lstStyle/>
          <a:p>
            <a:r>
              <a:rPr sz="869" b="1">
                <a:solidFill>
                  <a:srgbClr val="0468FF"/>
                </a:solidFill>
                <a:latin typeface="Arial"/>
              </a:rPr>
              <a:t>Consensus</a:t>
            </a:r>
          </a:p>
        </p:txBody>
      </p:sp>
      <p:sp>
        <p:nvSpPr>
          <p:cNvPr id="15" name="TextBox 14"/>
          <p:cNvSpPr txBox="1"/>
          <p:nvPr/>
        </p:nvSpPr>
        <p:spPr>
          <a:xfrm>
            <a:off x="6967728" y="1874519"/>
            <a:ext cx="4389120" cy="237744"/>
          </a:xfrm>
          <a:prstGeom prst="rect">
            <a:avLst/>
          </a:prstGeom>
          <a:noFill/>
        </p:spPr>
        <p:txBody>
          <a:bodyPr wrap="square" lIns="18288" tIns="18288" rIns="18288" bIns="18288">
            <a:normAutofit/>
          </a:bodyPr>
          <a:lstStyle/>
          <a:p>
            <a:r>
              <a:rPr sz="869" b="1">
                <a:solidFill>
                  <a:srgbClr val="0468FF"/>
                </a:solidFill>
                <a:latin typeface="Arial"/>
              </a:rPr>
              <a:t>Why watch</a:t>
            </a:r>
          </a:p>
        </p:txBody>
      </p:sp>
      <p:sp>
        <p:nvSpPr>
          <p:cNvPr id="16" name="Rectangle 15"/>
          <p:cNvSpPr/>
          <p:nvPr/>
        </p:nvSpPr>
        <p:spPr>
          <a:xfrm>
            <a:off x="566928" y="2221991"/>
            <a:ext cx="10789920" cy="411480"/>
          </a:xfrm>
          <a:prstGeom prst="rect">
            <a:avLst/>
          </a:prstGeom>
          <a:solidFill>
            <a:srgbClr val="EBF5FF"/>
          </a:solidFill>
          <a:ln>
            <a:solidFill>
              <a:srgbClr val="D2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03504" y="2258568"/>
            <a:ext cx="932688" cy="365760"/>
          </a:xfrm>
          <a:prstGeom prst="rect">
            <a:avLst/>
          </a:prstGeom>
          <a:noFill/>
        </p:spPr>
        <p:txBody>
          <a:bodyPr wrap="square" lIns="9144" tIns="9144" rIns="9144" bIns="9144">
            <a:normAutofit/>
          </a:bodyPr>
          <a:lstStyle/>
          <a:p>
            <a:r>
              <a:rPr sz="869" b="0">
                <a:solidFill>
                  <a:srgbClr val="000962"/>
                </a:solidFill>
                <a:latin typeface="Arial"/>
              </a:rPr>
              <a:t>Tue 7/7*</a:t>
            </a:r>
          </a:p>
        </p:txBody>
      </p:sp>
      <p:sp>
        <p:nvSpPr>
          <p:cNvPr id="18" name="TextBox 17"/>
          <p:cNvSpPr txBox="1"/>
          <p:nvPr/>
        </p:nvSpPr>
        <p:spPr>
          <a:xfrm>
            <a:off x="1609344" y="2258568"/>
            <a:ext cx="1847088" cy="365760"/>
          </a:xfrm>
          <a:prstGeom prst="rect">
            <a:avLst/>
          </a:prstGeom>
          <a:noFill/>
        </p:spPr>
        <p:txBody>
          <a:bodyPr wrap="square" lIns="9144" tIns="9144" rIns="9144" bIns="9144">
            <a:normAutofit/>
          </a:bodyPr>
          <a:lstStyle/>
          <a:p>
            <a:r>
              <a:rPr sz="869" b="0">
                <a:solidFill>
                  <a:srgbClr val="000962"/>
                </a:solidFill>
                <a:latin typeface="Arial"/>
              </a:rPr>
              <a:t>Levi Strauss (LEVI)</a:t>
            </a:r>
          </a:p>
        </p:txBody>
      </p:sp>
      <p:sp>
        <p:nvSpPr>
          <p:cNvPr id="19" name="TextBox 18"/>
          <p:cNvSpPr txBox="1"/>
          <p:nvPr/>
        </p:nvSpPr>
        <p:spPr>
          <a:xfrm>
            <a:off x="3529584" y="2258568"/>
            <a:ext cx="3401568" cy="365760"/>
          </a:xfrm>
          <a:prstGeom prst="rect">
            <a:avLst/>
          </a:prstGeom>
          <a:noFill/>
        </p:spPr>
        <p:txBody>
          <a:bodyPr wrap="square" lIns="9144" tIns="9144" rIns="9144" bIns="9144">
            <a:normAutofit/>
          </a:bodyPr>
          <a:lstStyle/>
          <a:p>
            <a:r>
              <a:rPr sz="869" b="0">
                <a:solidFill>
                  <a:srgbClr val="000962"/>
                </a:solidFill>
                <a:latin typeface="Arial"/>
              </a:rPr>
              <a:t>Q2 report expected; date tentative</a:t>
            </a:r>
          </a:p>
        </p:txBody>
      </p:sp>
      <p:sp>
        <p:nvSpPr>
          <p:cNvPr id="20" name="TextBox 19"/>
          <p:cNvSpPr txBox="1"/>
          <p:nvPr/>
        </p:nvSpPr>
        <p:spPr>
          <a:xfrm>
            <a:off x="7004304" y="2258568"/>
            <a:ext cx="4315968" cy="365760"/>
          </a:xfrm>
          <a:prstGeom prst="rect">
            <a:avLst/>
          </a:prstGeom>
          <a:noFill/>
        </p:spPr>
        <p:txBody>
          <a:bodyPr wrap="square" lIns="9144" tIns="9144" rIns="9144" bIns="9144">
            <a:normAutofit/>
          </a:bodyPr>
          <a:lstStyle/>
          <a:p>
            <a:r>
              <a:rPr sz="869" b="0">
                <a:solidFill>
                  <a:srgbClr val="000962"/>
                </a:solidFill>
                <a:latin typeface="Arial"/>
              </a:rPr>
              <a:t>Apparel / consumer discretionary read</a:t>
            </a:r>
          </a:p>
        </p:txBody>
      </p:sp>
      <p:sp>
        <p:nvSpPr>
          <p:cNvPr id="21" name="Rectangle 20"/>
          <p:cNvSpPr/>
          <p:nvPr/>
        </p:nvSpPr>
        <p:spPr>
          <a:xfrm>
            <a:off x="566928" y="2670048"/>
            <a:ext cx="10789920" cy="411480"/>
          </a:xfrm>
          <a:prstGeom prst="rect">
            <a:avLst/>
          </a:prstGeom>
          <a:solidFill>
            <a:srgbClr val="FFFFFF"/>
          </a:solidFill>
          <a:ln>
            <a:solidFill>
              <a:srgbClr val="D2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03504" y="2706624"/>
            <a:ext cx="932688" cy="365760"/>
          </a:xfrm>
          <a:prstGeom prst="rect">
            <a:avLst/>
          </a:prstGeom>
          <a:noFill/>
        </p:spPr>
        <p:txBody>
          <a:bodyPr wrap="square" lIns="9144" tIns="9144" rIns="9144" bIns="9144">
            <a:normAutofit/>
          </a:bodyPr>
          <a:lstStyle/>
          <a:p>
            <a:r>
              <a:rPr sz="869" b="0">
                <a:solidFill>
                  <a:srgbClr val="000962"/>
                </a:solidFill>
                <a:latin typeface="Arial"/>
              </a:rPr>
              <a:t>Thu 7/9*</a:t>
            </a:r>
          </a:p>
        </p:txBody>
      </p:sp>
      <p:sp>
        <p:nvSpPr>
          <p:cNvPr id="23" name="TextBox 22"/>
          <p:cNvSpPr txBox="1"/>
          <p:nvPr/>
        </p:nvSpPr>
        <p:spPr>
          <a:xfrm>
            <a:off x="1609344" y="2706624"/>
            <a:ext cx="1847088" cy="365760"/>
          </a:xfrm>
          <a:prstGeom prst="rect">
            <a:avLst/>
          </a:prstGeom>
          <a:noFill/>
        </p:spPr>
        <p:txBody>
          <a:bodyPr wrap="square" lIns="9144" tIns="9144" rIns="9144" bIns="9144">
            <a:normAutofit/>
          </a:bodyPr>
          <a:lstStyle/>
          <a:p>
            <a:r>
              <a:rPr sz="869" b="0">
                <a:solidFill>
                  <a:srgbClr val="000962"/>
                </a:solidFill>
                <a:latin typeface="Arial"/>
              </a:rPr>
              <a:t>Conagra Brands (CAG)</a:t>
            </a:r>
          </a:p>
        </p:txBody>
      </p:sp>
      <p:sp>
        <p:nvSpPr>
          <p:cNvPr id="24" name="TextBox 23"/>
          <p:cNvSpPr txBox="1"/>
          <p:nvPr/>
        </p:nvSpPr>
        <p:spPr>
          <a:xfrm>
            <a:off x="3529584" y="2706624"/>
            <a:ext cx="3401568" cy="365760"/>
          </a:xfrm>
          <a:prstGeom prst="rect">
            <a:avLst/>
          </a:prstGeom>
          <a:noFill/>
        </p:spPr>
        <p:txBody>
          <a:bodyPr wrap="square" lIns="9144" tIns="9144" rIns="9144" bIns="9144">
            <a:normAutofit/>
          </a:bodyPr>
          <a:lstStyle/>
          <a:p>
            <a:r>
              <a:rPr sz="869" b="0">
                <a:solidFill>
                  <a:srgbClr val="000962"/>
                </a:solidFill>
                <a:latin typeface="Arial"/>
              </a:rPr>
              <a:t>Fiscal Q4; date tentative</a:t>
            </a:r>
          </a:p>
        </p:txBody>
      </p:sp>
      <p:sp>
        <p:nvSpPr>
          <p:cNvPr id="25" name="TextBox 24"/>
          <p:cNvSpPr txBox="1"/>
          <p:nvPr/>
        </p:nvSpPr>
        <p:spPr>
          <a:xfrm>
            <a:off x="7004304" y="2706624"/>
            <a:ext cx="4315968" cy="365760"/>
          </a:xfrm>
          <a:prstGeom prst="rect">
            <a:avLst/>
          </a:prstGeom>
          <a:noFill/>
        </p:spPr>
        <p:txBody>
          <a:bodyPr wrap="square" lIns="9144" tIns="9144" rIns="9144" bIns="9144">
            <a:normAutofit/>
          </a:bodyPr>
          <a:lstStyle/>
          <a:p>
            <a:r>
              <a:rPr sz="869" b="0">
                <a:solidFill>
                  <a:srgbClr val="000962"/>
                </a:solidFill>
                <a:latin typeface="Arial"/>
              </a:rPr>
              <a:t>Food costs and consumer trade-down</a:t>
            </a:r>
          </a:p>
        </p:txBody>
      </p:sp>
      <p:sp>
        <p:nvSpPr>
          <p:cNvPr id="26" name="Rectangle 25"/>
          <p:cNvSpPr/>
          <p:nvPr/>
        </p:nvSpPr>
        <p:spPr>
          <a:xfrm>
            <a:off x="566928" y="3118103"/>
            <a:ext cx="10789920" cy="411480"/>
          </a:xfrm>
          <a:prstGeom prst="rect">
            <a:avLst/>
          </a:prstGeom>
          <a:solidFill>
            <a:srgbClr val="EBF5FF"/>
          </a:solidFill>
          <a:ln>
            <a:solidFill>
              <a:srgbClr val="D2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03504" y="3154679"/>
            <a:ext cx="932688" cy="365760"/>
          </a:xfrm>
          <a:prstGeom prst="rect">
            <a:avLst/>
          </a:prstGeom>
          <a:noFill/>
        </p:spPr>
        <p:txBody>
          <a:bodyPr wrap="square" lIns="9144" tIns="9144" rIns="9144" bIns="9144">
            <a:normAutofit/>
          </a:bodyPr>
          <a:lstStyle/>
          <a:p>
            <a:r>
              <a:rPr sz="869" b="0">
                <a:solidFill>
                  <a:srgbClr val="000962"/>
                </a:solidFill>
                <a:latin typeface="Arial"/>
              </a:rPr>
              <a:t>Fri 7/10</a:t>
            </a:r>
          </a:p>
        </p:txBody>
      </p:sp>
      <p:sp>
        <p:nvSpPr>
          <p:cNvPr id="28" name="TextBox 27"/>
          <p:cNvSpPr txBox="1"/>
          <p:nvPr/>
        </p:nvSpPr>
        <p:spPr>
          <a:xfrm>
            <a:off x="1609344" y="3154679"/>
            <a:ext cx="1847088" cy="365760"/>
          </a:xfrm>
          <a:prstGeom prst="rect">
            <a:avLst/>
          </a:prstGeom>
          <a:noFill/>
        </p:spPr>
        <p:txBody>
          <a:bodyPr wrap="square" lIns="9144" tIns="9144" rIns="9144" bIns="9144">
            <a:normAutofit/>
          </a:bodyPr>
          <a:lstStyle/>
          <a:p>
            <a:r>
              <a:rPr sz="869" b="0">
                <a:solidFill>
                  <a:srgbClr val="000962"/>
                </a:solidFill>
                <a:latin typeface="Arial"/>
              </a:rPr>
              <a:t>Delta Air Lines (DAL)</a:t>
            </a:r>
          </a:p>
        </p:txBody>
      </p:sp>
      <p:sp>
        <p:nvSpPr>
          <p:cNvPr id="29" name="TextBox 28"/>
          <p:cNvSpPr txBox="1"/>
          <p:nvPr/>
        </p:nvSpPr>
        <p:spPr>
          <a:xfrm>
            <a:off x="3529584" y="3154679"/>
            <a:ext cx="3401568" cy="365760"/>
          </a:xfrm>
          <a:prstGeom prst="rect">
            <a:avLst/>
          </a:prstGeom>
          <a:noFill/>
        </p:spPr>
        <p:txBody>
          <a:bodyPr wrap="square" lIns="9144" tIns="9144" rIns="9144" bIns="9144">
            <a:normAutofit/>
          </a:bodyPr>
          <a:lstStyle/>
          <a:p>
            <a:r>
              <a:rPr sz="869" b="0">
                <a:solidFill>
                  <a:srgbClr val="000962"/>
                </a:solidFill>
                <a:latin typeface="Arial"/>
              </a:rPr>
              <a:t>EPS est. ~$1.43 vs. $2.10 a year ago</a:t>
            </a:r>
          </a:p>
        </p:txBody>
      </p:sp>
      <p:sp>
        <p:nvSpPr>
          <p:cNvPr id="30" name="TextBox 29"/>
          <p:cNvSpPr txBox="1"/>
          <p:nvPr/>
        </p:nvSpPr>
        <p:spPr>
          <a:xfrm>
            <a:off x="7004304" y="3154679"/>
            <a:ext cx="4315968" cy="365760"/>
          </a:xfrm>
          <a:prstGeom prst="rect">
            <a:avLst/>
          </a:prstGeom>
          <a:noFill/>
        </p:spPr>
        <p:txBody>
          <a:bodyPr wrap="square" lIns="9144" tIns="9144" rIns="9144" bIns="9144">
            <a:normAutofit/>
          </a:bodyPr>
          <a:lstStyle/>
          <a:p>
            <a:r>
              <a:rPr sz="869" b="0">
                <a:solidFill>
                  <a:srgbClr val="000962"/>
                </a:solidFill>
                <a:latin typeface="Arial"/>
              </a:rPr>
              <a:t>Travel demand vs. ~$4.30/gal fuel</a:t>
            </a:r>
          </a:p>
        </p:txBody>
      </p:sp>
      <p:sp>
        <p:nvSpPr>
          <p:cNvPr id="31" name="Rectangle 30"/>
          <p:cNvSpPr/>
          <p:nvPr/>
        </p:nvSpPr>
        <p:spPr>
          <a:xfrm>
            <a:off x="566928" y="3566159"/>
            <a:ext cx="10789920" cy="411480"/>
          </a:xfrm>
          <a:prstGeom prst="rect">
            <a:avLst/>
          </a:prstGeom>
          <a:solidFill>
            <a:srgbClr val="FFFFFF"/>
          </a:solidFill>
          <a:ln>
            <a:solidFill>
              <a:srgbClr val="D2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03504" y="3602735"/>
            <a:ext cx="932688" cy="365760"/>
          </a:xfrm>
          <a:prstGeom prst="rect">
            <a:avLst/>
          </a:prstGeom>
          <a:noFill/>
        </p:spPr>
        <p:txBody>
          <a:bodyPr wrap="square" lIns="9144" tIns="9144" rIns="9144" bIns="9144">
            <a:normAutofit/>
          </a:bodyPr>
          <a:lstStyle/>
          <a:p>
            <a:r>
              <a:rPr sz="869" b="0">
                <a:solidFill>
                  <a:srgbClr val="000962"/>
                </a:solidFill>
                <a:latin typeface="Arial"/>
              </a:rPr>
              <a:t>Wk of 7/13</a:t>
            </a:r>
          </a:p>
        </p:txBody>
      </p:sp>
      <p:sp>
        <p:nvSpPr>
          <p:cNvPr id="33" name="TextBox 32"/>
          <p:cNvSpPr txBox="1"/>
          <p:nvPr/>
        </p:nvSpPr>
        <p:spPr>
          <a:xfrm>
            <a:off x="1609344" y="3602735"/>
            <a:ext cx="1847088" cy="365760"/>
          </a:xfrm>
          <a:prstGeom prst="rect">
            <a:avLst/>
          </a:prstGeom>
          <a:noFill/>
        </p:spPr>
        <p:txBody>
          <a:bodyPr wrap="square" lIns="9144" tIns="9144" rIns="9144" bIns="9144">
            <a:normAutofit/>
          </a:bodyPr>
          <a:lstStyle/>
          <a:p>
            <a:r>
              <a:rPr sz="869" b="0">
                <a:solidFill>
                  <a:srgbClr val="000962"/>
                </a:solidFill>
                <a:latin typeface="Arial"/>
              </a:rPr>
              <a:t>JPMorgan and the big banks</a:t>
            </a:r>
          </a:p>
        </p:txBody>
      </p:sp>
      <p:sp>
        <p:nvSpPr>
          <p:cNvPr id="34" name="TextBox 33"/>
          <p:cNvSpPr txBox="1"/>
          <p:nvPr/>
        </p:nvSpPr>
        <p:spPr>
          <a:xfrm>
            <a:off x="3529584" y="3602735"/>
            <a:ext cx="3401568" cy="365760"/>
          </a:xfrm>
          <a:prstGeom prst="rect">
            <a:avLst/>
          </a:prstGeom>
          <a:noFill/>
        </p:spPr>
        <p:txBody>
          <a:bodyPr wrap="square" lIns="9144" tIns="9144" rIns="9144" bIns="9144">
            <a:normAutofit/>
          </a:bodyPr>
          <a:lstStyle/>
          <a:p>
            <a:r>
              <a:rPr sz="869" b="0">
                <a:solidFill>
                  <a:srgbClr val="000962"/>
                </a:solidFill>
                <a:latin typeface="Arial"/>
              </a:rPr>
              <a:t>Q2 season kickoff</a:t>
            </a:r>
          </a:p>
        </p:txBody>
      </p:sp>
      <p:sp>
        <p:nvSpPr>
          <p:cNvPr id="35" name="TextBox 34"/>
          <p:cNvSpPr txBox="1"/>
          <p:nvPr/>
        </p:nvSpPr>
        <p:spPr>
          <a:xfrm>
            <a:off x="7004304" y="3602735"/>
            <a:ext cx="4315968" cy="365760"/>
          </a:xfrm>
          <a:prstGeom prst="rect">
            <a:avLst/>
          </a:prstGeom>
          <a:noFill/>
        </p:spPr>
        <p:txBody>
          <a:bodyPr wrap="square" lIns="9144" tIns="9144" rIns="9144" bIns="9144">
            <a:normAutofit/>
          </a:bodyPr>
          <a:lstStyle/>
          <a:p>
            <a:r>
              <a:rPr sz="869" b="0">
                <a:solidFill>
                  <a:srgbClr val="000962"/>
                </a:solidFill>
                <a:latin typeface="Arial"/>
              </a:rPr>
              <a:t>Sets the tone for financials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4"/>
          </p:nvPr>
        </p:nvSpPr>
        <p:spPr/>
        <p:txBody>
          <a:bodyPr/>
          <a:lstStyle/>
          <a:p>
            <a:endParaRPr lang="en-US"/>
          </a:p>
        </p:txBody>
      </p:sp>
      <p:sp>
        <p:nvSpPr>
          <p:cNvPr id="3" name="Title 2"/>
          <p:cNvSpPr>
            <a:spLocks noGrp="1"/>
          </p:cNvSpPr>
          <p:nvPr>
            <p:ph type="title"/>
          </p:nvPr>
        </p:nvSpPr>
        <p:spPr/>
        <p:txBody>
          <a:bodyPr/>
          <a:lstStyle/>
          <a:p>
            <a:endParaRPr/>
          </a:p>
        </p:txBody>
      </p:sp>
      <p:sp>
        <p:nvSpPr>
          <p:cNvPr id="4" name="Rectangle 3"/>
          <p:cNvSpPr/>
          <p:nvPr/>
        </p:nvSpPr>
        <p:spPr>
          <a:xfrm>
            <a:off x="0" y="0"/>
            <a:ext cx="12191695" cy="6858000"/>
          </a:xfrm>
          <a:prstGeom prst="rect">
            <a:avLst/>
          </a:prstGeom>
          <a:solidFill>
            <a:srgbClr val="C7E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440680"/>
            <a:ext cx="12191695" cy="438912"/>
          </a:xfrm>
          <a:prstGeom prst="rect">
            <a:avLst/>
          </a:prstGeom>
          <a:solidFill>
            <a:srgbClr val="B6D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327648"/>
            <a:ext cx="12191695" cy="146304"/>
          </a:xfrm>
          <a:prstGeom prst="rect">
            <a:avLst/>
          </a:prstGeom>
          <a:solidFill>
            <a:srgbClr val="B6D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21792"/>
            <a:ext cx="10881360" cy="530352"/>
          </a:xfrm>
          <a:prstGeom prst="rect">
            <a:avLst/>
          </a:prstGeom>
          <a:noFill/>
        </p:spPr>
        <p:txBody>
          <a:bodyPr wrap="square" lIns="36576" tIns="36576" rIns="36576" bIns="36576">
            <a:normAutofit lnSpcReduction="10000"/>
          </a:bodyPr>
          <a:lstStyle/>
          <a:p>
            <a:r>
              <a:rPr sz="3200" b="1">
                <a:solidFill>
                  <a:srgbClr val="0468FF"/>
                </a:solidFill>
                <a:latin typeface="Arial"/>
              </a:rPr>
              <a:t>Fed, Rates &amp; Macro Watch</a:t>
            </a:r>
          </a:p>
        </p:txBody>
      </p:sp>
      <p:sp>
        <p:nvSpPr>
          <p:cNvPr id="8" name="TextBox 7"/>
          <p:cNvSpPr txBox="1"/>
          <p:nvPr/>
        </p:nvSpPr>
        <p:spPr>
          <a:xfrm>
            <a:off x="713232" y="1353312"/>
            <a:ext cx="10881360" cy="310896"/>
          </a:xfrm>
          <a:prstGeom prst="rect">
            <a:avLst/>
          </a:prstGeom>
          <a:noFill/>
        </p:spPr>
        <p:txBody>
          <a:bodyPr wrap="square" lIns="36576" tIns="36576" rIns="36576" bIns="36576">
            <a:normAutofit lnSpcReduction="10000"/>
          </a:bodyPr>
          <a:lstStyle/>
          <a:p>
            <a:r>
              <a:rPr sz="1600" b="0">
                <a:solidFill>
                  <a:srgbClr val="000962"/>
                </a:solidFill>
                <a:latin typeface="Arial"/>
              </a:rPr>
              <a:t>A new Fed chair, no forward guidance, and energy-driven inflation.</a:t>
            </a:r>
          </a:p>
        </p:txBody>
      </p:sp>
      <p:sp>
        <p:nvSpPr>
          <p:cNvPr id="9" name="TextBox 8"/>
          <p:cNvSpPr txBox="1"/>
          <p:nvPr/>
        </p:nvSpPr>
        <p:spPr>
          <a:xfrm>
            <a:off x="521207" y="6327648"/>
            <a:ext cx="5394960" cy="146304"/>
          </a:xfrm>
          <a:prstGeom prst="rect">
            <a:avLst/>
          </a:prstGeom>
          <a:noFill/>
        </p:spPr>
        <p:txBody>
          <a:bodyPr wrap="square" lIns="0" tIns="0" rIns="0" bIns="0">
            <a:normAutofit/>
          </a:bodyPr>
          <a:lstStyle/>
          <a:p>
            <a:r>
              <a:rPr sz="550" b="0">
                <a:solidFill>
                  <a:srgbClr val="46648C"/>
                </a:solidFill>
                <a:latin typeface="Arial"/>
              </a:rPr>
              <a:t>Internal use only. For agent use only. Not for use with the public.</a:t>
            </a:r>
          </a:p>
        </p:txBody>
      </p:sp>
      <p:sp>
        <p:nvSpPr>
          <p:cNvPr id="10" name="TextBox 9"/>
          <p:cNvSpPr txBox="1"/>
          <p:nvPr/>
        </p:nvSpPr>
        <p:spPr>
          <a:xfrm>
            <a:off x="10497312" y="6263640"/>
            <a:ext cx="768096" cy="182880"/>
          </a:xfrm>
          <a:prstGeom prst="rect">
            <a:avLst/>
          </a:prstGeom>
          <a:noFill/>
        </p:spPr>
        <p:txBody>
          <a:bodyPr wrap="square" lIns="0" tIns="0" rIns="0" bIns="0">
            <a:normAutofit/>
          </a:bodyPr>
          <a:lstStyle/>
          <a:p>
            <a:pPr algn="r"/>
            <a:r>
              <a:rPr sz="850" b="1">
                <a:solidFill>
                  <a:srgbClr val="000962"/>
                </a:solidFill>
                <a:latin typeface="Arial"/>
              </a:rPr>
              <a:t>ELEVATE</a:t>
            </a:r>
          </a:p>
        </p:txBody>
      </p:sp>
      <p:sp>
        <p:nvSpPr>
          <p:cNvPr id="11" name="TextBox 10"/>
          <p:cNvSpPr txBox="1"/>
          <p:nvPr/>
        </p:nvSpPr>
        <p:spPr>
          <a:xfrm>
            <a:off x="11228832" y="6272784"/>
            <a:ext cx="384048" cy="164592"/>
          </a:xfrm>
          <a:prstGeom prst="rect">
            <a:avLst/>
          </a:prstGeom>
          <a:noFill/>
        </p:spPr>
        <p:txBody>
          <a:bodyPr wrap="square" lIns="0" tIns="0" rIns="0" bIns="0">
            <a:normAutofit/>
          </a:bodyPr>
          <a:lstStyle/>
          <a:p>
            <a:pPr algn="l"/>
            <a:r>
              <a:rPr sz="580" b="0">
                <a:solidFill>
                  <a:srgbClr val="000962"/>
                </a:solidFill>
                <a:latin typeface="Arial"/>
              </a:rPr>
              <a:t>NEW ORG</a:t>
            </a:r>
          </a:p>
        </p:txBody>
      </p:sp>
      <p:sp>
        <p:nvSpPr>
          <p:cNvPr id="12" name="TextBox 11"/>
          <p:cNvSpPr txBox="1"/>
          <p:nvPr/>
        </p:nvSpPr>
        <p:spPr>
          <a:xfrm>
            <a:off x="868680" y="1965960"/>
            <a:ext cx="6858000" cy="3474720"/>
          </a:xfrm>
          <a:prstGeom prst="rect">
            <a:avLst/>
          </a:prstGeom>
          <a:noFill/>
        </p:spPr>
        <p:txBody>
          <a:bodyPr wrap="square" lIns="45720" tIns="18288" rIns="45720" bIns="18288">
            <a:normAutofit/>
          </a:bodyPr>
          <a:lstStyle/>
          <a:p>
            <a:pPr>
              <a:spcAft>
                <a:spcPts val="700"/>
              </a:spcAft>
              <a:defRPr sz="1650">
                <a:solidFill>
                  <a:srgbClr val="000962"/>
                </a:solidFill>
                <a:latin typeface="Arial"/>
              </a:defRPr>
            </a:pPr>
            <a:r>
              <a:t>The Warsh Fed paused in June with inflation above the 2% goal for a fifth straight year, driven lately by energy costs.</a:t>
            </a:r>
          </a:p>
          <a:p>
            <a:pPr>
              <a:spcAft>
                <a:spcPts val="700"/>
              </a:spcAft>
              <a:defRPr sz="1650">
                <a:solidFill>
                  <a:srgbClr val="000962"/>
                </a:solidFill>
                <a:latin typeface="Arial"/>
              </a:defRPr>
            </a:pPr>
            <a:r>
              <a:t>Forward guidance is gone and Warsh skipped the dot plot, so Wednesday’s minutes carry unusual weight.</a:t>
            </a:r>
          </a:p>
          <a:p>
            <a:pPr>
              <a:spcAft>
                <a:spcPts val="700"/>
              </a:spcAft>
              <a:defRPr sz="1650">
                <a:solidFill>
                  <a:srgbClr val="000962"/>
                </a:solidFill>
                <a:latin typeface="Arial"/>
              </a:defRPr>
            </a:pPr>
            <a:r>
              <a:t>The weak June jobs report has quieted rate-hike talk - for now.</a:t>
            </a:r>
          </a:p>
          <a:p>
            <a:pPr>
              <a:spcAft>
                <a:spcPts val="700"/>
              </a:spcAft>
              <a:defRPr sz="1650">
                <a:solidFill>
                  <a:srgbClr val="000962"/>
                </a:solidFill>
                <a:latin typeface="Arial"/>
              </a:defRPr>
            </a:pPr>
            <a:r>
              <a:t>NYLIM’s macro team describes the backdrop as “more volatile and more headline-driven,” with geopolitics a growing headwind even as tech delivers.</a:t>
            </a:r>
          </a:p>
          <a:p>
            <a:pPr>
              <a:spcAft>
                <a:spcPts val="700"/>
              </a:spcAft>
              <a:defRPr sz="1650">
                <a:solidFill>
                  <a:srgbClr val="000962"/>
                </a:solidFill>
                <a:latin typeface="Arial"/>
              </a:defRPr>
            </a:pPr>
            <a:r>
              <a:t>NYLIM also notes private-credit stress headlines miss the fuller story: institutional demand remains robust and credit fundamentals healthy.</a:t>
            </a:r>
          </a:p>
        </p:txBody>
      </p:sp>
      <p:sp>
        <p:nvSpPr>
          <p:cNvPr id="13" name="Rectangle 12"/>
          <p:cNvSpPr/>
          <p:nvPr/>
        </p:nvSpPr>
        <p:spPr>
          <a:xfrm>
            <a:off x="8092440" y="2057400"/>
            <a:ext cx="2743200" cy="2331720"/>
          </a:xfrm>
          <a:prstGeom prst="rect">
            <a:avLst/>
          </a:prstGeom>
          <a:solidFill>
            <a:srgbClr val="EBF5FF"/>
          </a:solidFill>
          <a:ln>
            <a:solidFill>
              <a:srgbClr val="D2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40" y="2331720"/>
            <a:ext cx="2286000" cy="256032"/>
          </a:xfrm>
          <a:prstGeom prst="rect">
            <a:avLst/>
          </a:prstGeom>
          <a:noFill/>
        </p:spPr>
        <p:txBody>
          <a:bodyPr wrap="square" lIns="36576" tIns="36576" rIns="36576" bIns="36576">
            <a:normAutofit fontScale="92500" lnSpcReduction="20000"/>
          </a:bodyPr>
          <a:lstStyle/>
          <a:p>
            <a:r>
              <a:rPr sz="1600" b="1">
                <a:solidFill>
                  <a:srgbClr val="0468FF"/>
                </a:solidFill>
                <a:latin typeface="Arial"/>
              </a:rPr>
              <a:t>Advisor angle</a:t>
            </a:r>
          </a:p>
        </p:txBody>
      </p:sp>
      <p:sp>
        <p:nvSpPr>
          <p:cNvPr id="15" name="TextBox 14"/>
          <p:cNvSpPr txBox="1"/>
          <p:nvPr/>
        </p:nvSpPr>
        <p:spPr>
          <a:xfrm>
            <a:off x="8321040" y="2743200"/>
            <a:ext cx="2286000" cy="1143000"/>
          </a:xfrm>
          <a:prstGeom prst="rect">
            <a:avLst/>
          </a:prstGeom>
          <a:noFill/>
        </p:spPr>
        <p:txBody>
          <a:bodyPr wrap="square" lIns="36576" tIns="36576" rIns="36576" bIns="36576">
            <a:normAutofit fontScale="92500" lnSpcReduction="10000"/>
          </a:bodyPr>
          <a:lstStyle/>
          <a:p>
            <a:r>
              <a:rPr sz="1600" b="0">
                <a:solidFill>
                  <a:srgbClr val="000962"/>
                </a:solidFill>
                <a:latin typeface="Arial"/>
              </a:rPr>
              <a:t>Clients hear “rate hike” and “record high” in the same newscast. Your value is translating noise into a plan. Guarantees and diversification both earn their keep in weeks like this.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4"/>
          </p:nvPr>
        </p:nvSpPr>
        <p:spPr/>
        <p:txBody>
          <a:bodyPr/>
          <a:lstStyle/>
          <a:p>
            <a:endParaRPr lang="en-US"/>
          </a:p>
        </p:txBody>
      </p:sp>
      <p:sp>
        <p:nvSpPr>
          <p:cNvPr id="3" name="Title 2"/>
          <p:cNvSpPr>
            <a:spLocks noGrp="1"/>
          </p:cNvSpPr>
          <p:nvPr>
            <p:ph type="title"/>
          </p:nvPr>
        </p:nvSpPr>
        <p:spPr/>
        <p:txBody>
          <a:bodyPr/>
          <a:lstStyle/>
          <a:p>
            <a:endParaRPr/>
          </a:p>
        </p:txBody>
      </p:sp>
      <p:sp>
        <p:nvSpPr>
          <p:cNvPr id="4" name="Rectangle 3"/>
          <p:cNvSpPr/>
          <p:nvPr/>
        </p:nvSpPr>
        <p:spPr>
          <a:xfrm>
            <a:off x="0" y="0"/>
            <a:ext cx="12191695" cy="6858000"/>
          </a:xfrm>
          <a:prstGeom prst="rect">
            <a:avLst/>
          </a:prstGeom>
          <a:solidFill>
            <a:srgbClr val="C7E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440680"/>
            <a:ext cx="12191695" cy="438912"/>
          </a:xfrm>
          <a:prstGeom prst="rect">
            <a:avLst/>
          </a:prstGeom>
          <a:solidFill>
            <a:srgbClr val="B6D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327648"/>
            <a:ext cx="12191695" cy="146304"/>
          </a:xfrm>
          <a:prstGeom prst="rect">
            <a:avLst/>
          </a:prstGeom>
          <a:solidFill>
            <a:srgbClr val="B6D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21792"/>
            <a:ext cx="10881360" cy="530352"/>
          </a:xfrm>
          <a:prstGeom prst="rect">
            <a:avLst/>
          </a:prstGeom>
          <a:noFill/>
        </p:spPr>
        <p:txBody>
          <a:bodyPr wrap="square" lIns="36576" tIns="36576" rIns="36576" bIns="36576">
            <a:normAutofit lnSpcReduction="10000"/>
          </a:bodyPr>
          <a:lstStyle/>
          <a:p>
            <a:r>
              <a:rPr sz="3200" b="1">
                <a:solidFill>
                  <a:srgbClr val="0468FF"/>
                </a:solidFill>
                <a:latin typeface="Arial"/>
              </a:rPr>
              <a:t>Client Talking Points: What This Means for You</a:t>
            </a:r>
          </a:p>
        </p:txBody>
      </p:sp>
      <p:sp>
        <p:nvSpPr>
          <p:cNvPr id="8" name="TextBox 7"/>
          <p:cNvSpPr txBox="1"/>
          <p:nvPr/>
        </p:nvSpPr>
        <p:spPr>
          <a:xfrm>
            <a:off x="713232" y="1353312"/>
            <a:ext cx="10881360" cy="310896"/>
          </a:xfrm>
          <a:prstGeom prst="rect">
            <a:avLst/>
          </a:prstGeom>
          <a:noFill/>
        </p:spPr>
        <p:txBody>
          <a:bodyPr wrap="square" lIns="36576" tIns="36576" rIns="36576" bIns="36576">
            <a:normAutofit lnSpcReduction="10000"/>
          </a:bodyPr>
          <a:lstStyle/>
          <a:p>
            <a:r>
              <a:rPr sz="1600" b="0">
                <a:solidFill>
                  <a:srgbClr val="000962"/>
                </a:solidFill>
                <a:latin typeface="Arial"/>
              </a:rPr>
              <a:t>Plain-English language for client conversations.</a:t>
            </a:r>
          </a:p>
        </p:txBody>
      </p:sp>
      <p:sp>
        <p:nvSpPr>
          <p:cNvPr id="9" name="TextBox 8"/>
          <p:cNvSpPr txBox="1"/>
          <p:nvPr/>
        </p:nvSpPr>
        <p:spPr>
          <a:xfrm>
            <a:off x="521207" y="6327648"/>
            <a:ext cx="5394960" cy="146304"/>
          </a:xfrm>
          <a:prstGeom prst="rect">
            <a:avLst/>
          </a:prstGeom>
          <a:noFill/>
        </p:spPr>
        <p:txBody>
          <a:bodyPr wrap="square" lIns="0" tIns="0" rIns="0" bIns="0">
            <a:normAutofit/>
          </a:bodyPr>
          <a:lstStyle/>
          <a:p>
            <a:r>
              <a:rPr sz="550" b="0">
                <a:solidFill>
                  <a:srgbClr val="46648C"/>
                </a:solidFill>
                <a:latin typeface="Arial"/>
              </a:rPr>
              <a:t>Internal use only. For agent use only. Not for use with the public.</a:t>
            </a:r>
          </a:p>
        </p:txBody>
      </p:sp>
      <p:sp>
        <p:nvSpPr>
          <p:cNvPr id="10" name="TextBox 9"/>
          <p:cNvSpPr txBox="1"/>
          <p:nvPr/>
        </p:nvSpPr>
        <p:spPr>
          <a:xfrm>
            <a:off x="10497312" y="6263640"/>
            <a:ext cx="768096" cy="182880"/>
          </a:xfrm>
          <a:prstGeom prst="rect">
            <a:avLst/>
          </a:prstGeom>
          <a:noFill/>
        </p:spPr>
        <p:txBody>
          <a:bodyPr wrap="square" lIns="0" tIns="0" rIns="0" bIns="0">
            <a:normAutofit/>
          </a:bodyPr>
          <a:lstStyle/>
          <a:p>
            <a:pPr algn="r"/>
            <a:r>
              <a:rPr sz="850" b="1">
                <a:solidFill>
                  <a:srgbClr val="000962"/>
                </a:solidFill>
                <a:latin typeface="Arial"/>
              </a:rPr>
              <a:t>ELEVATE</a:t>
            </a:r>
          </a:p>
        </p:txBody>
      </p:sp>
      <p:sp>
        <p:nvSpPr>
          <p:cNvPr id="11" name="TextBox 10"/>
          <p:cNvSpPr txBox="1"/>
          <p:nvPr/>
        </p:nvSpPr>
        <p:spPr>
          <a:xfrm>
            <a:off x="11228832" y="6272784"/>
            <a:ext cx="384048" cy="164592"/>
          </a:xfrm>
          <a:prstGeom prst="rect">
            <a:avLst/>
          </a:prstGeom>
          <a:noFill/>
        </p:spPr>
        <p:txBody>
          <a:bodyPr wrap="square" lIns="0" tIns="0" rIns="0" bIns="0">
            <a:normAutofit/>
          </a:bodyPr>
          <a:lstStyle/>
          <a:p>
            <a:pPr algn="l"/>
            <a:r>
              <a:rPr sz="580" b="0">
                <a:solidFill>
                  <a:srgbClr val="000962"/>
                </a:solidFill>
                <a:latin typeface="Arial"/>
              </a:rPr>
              <a:t>NEW ORG</a:t>
            </a:r>
          </a:p>
        </p:txBody>
      </p:sp>
      <p:sp>
        <p:nvSpPr>
          <p:cNvPr id="12" name="TextBox 11"/>
          <p:cNvSpPr txBox="1"/>
          <p:nvPr/>
        </p:nvSpPr>
        <p:spPr>
          <a:xfrm>
            <a:off x="868680" y="1874519"/>
            <a:ext cx="9966960" cy="3749039"/>
          </a:xfrm>
          <a:prstGeom prst="rect">
            <a:avLst/>
          </a:prstGeom>
          <a:noFill/>
        </p:spPr>
        <p:txBody>
          <a:bodyPr wrap="square" lIns="45720" tIns="18288" rIns="45720" bIns="18288">
            <a:normAutofit/>
          </a:bodyPr>
          <a:lstStyle/>
          <a:p>
            <a:pPr>
              <a:spcAft>
                <a:spcPts val="700"/>
              </a:spcAft>
              <a:defRPr sz="1580">
                <a:solidFill>
                  <a:srgbClr val="000962"/>
                </a:solidFill>
                <a:latin typeface="Arial"/>
              </a:defRPr>
            </a:pPr>
            <a:r>
              <a:t>Markets had a good, if choppy, holiday week. The Dow hit an all-time high, and big U.S. companies keep performing well.</a:t>
            </a:r>
          </a:p>
          <a:p>
            <a:pPr>
              <a:spcAft>
                <a:spcPts val="700"/>
              </a:spcAft>
              <a:defRPr sz="1580">
                <a:solidFill>
                  <a:srgbClr val="000962"/>
                </a:solidFill>
                <a:latin typeface="Arial"/>
              </a:defRPr>
            </a:pPr>
            <a:r>
              <a:t>Hiring slowed in June. That sounds like bad news, but it actually calmed fears that the Fed would need to raise interest rates.</a:t>
            </a:r>
          </a:p>
          <a:p>
            <a:pPr>
              <a:spcAft>
                <a:spcPts val="700"/>
              </a:spcAft>
              <a:defRPr sz="1580">
                <a:solidFill>
                  <a:srgbClr val="000962"/>
                </a:solidFill>
                <a:latin typeface="Arial"/>
              </a:defRPr>
            </a:pPr>
            <a:r>
              <a:t>Prices are still rising faster than anyone would like, mostly because of energy costs. That is the main thing the Fed is watching.</a:t>
            </a:r>
          </a:p>
          <a:p>
            <a:pPr>
              <a:spcAft>
                <a:spcPts val="700"/>
              </a:spcAft>
              <a:defRPr sz="1580">
                <a:solidFill>
                  <a:srgbClr val="000962"/>
                </a:solidFill>
                <a:latin typeface="Arial"/>
              </a:defRPr>
            </a:pPr>
            <a:r>
              <a:t>Technology stocks stumbled late in the week after a very strong run. Pullbacks like that are normal after big gains.</a:t>
            </a:r>
          </a:p>
          <a:p>
            <a:pPr>
              <a:spcAft>
                <a:spcPts val="700"/>
              </a:spcAft>
              <a:defRPr sz="1580">
                <a:solidFill>
                  <a:srgbClr val="000962"/>
                </a:solidFill>
                <a:latin typeface="Arial"/>
              </a:defRPr>
            </a:pPr>
            <a:r>
              <a:t>What to do: nothing dramatic. A diversified plan already assumes weeks like this. If your goals have changed, let’s talk. If not, stay the course.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0188B79-DFBA-30A1-4A8A-02C3307CF19D}"/>
              </a:ext>
            </a:extLst>
          </p:cNvPr>
          <p:cNvSpPr>
            <a:spLocks/>
          </p:cNvSpPr>
          <p:nvPr/>
        </p:nvSpPr>
        <p:spPr>
          <a:xfrm>
            <a:off x="0" y="1937020"/>
            <a:ext cx="12192000" cy="2403392"/>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lvl="0">
              <a:defRPr/>
            </a:pPr>
            <a:endParaRPr lang="en-US" sz="1600" b="1">
              <a:solidFill>
                <a:srgbClr val="000962">
                  <a:lumMod val="90000"/>
                  <a:lumOff val="10000"/>
                </a:srgbClr>
              </a:solidFill>
            </a:endParaRPr>
          </a:p>
        </p:txBody>
      </p:sp>
      <p:sp>
        <p:nvSpPr>
          <p:cNvPr id="2" name="Title 1">
            <a:extLst>
              <a:ext uri="{FF2B5EF4-FFF2-40B4-BE49-F238E27FC236}">
                <a16:creationId xmlns:a16="http://schemas.microsoft.com/office/drawing/2014/main" id="{E45B6932-9BA9-2103-14A2-C3C2D1AFD3D1}"/>
              </a:ext>
            </a:extLst>
          </p:cNvPr>
          <p:cNvSpPr>
            <a:spLocks noGrp="1"/>
          </p:cNvSpPr>
          <p:nvPr>
            <p:ph type="title"/>
          </p:nvPr>
        </p:nvSpPr>
        <p:spPr>
          <a:xfrm>
            <a:off x="457200" y="2390819"/>
            <a:ext cx="7988157" cy="1828193"/>
          </a:xfrm>
        </p:spPr>
        <p:txBody>
          <a:bodyPr wrap="square" lIns="0" tIns="0" rIns="0" bIns="0" anchor="t">
            <a:spAutoFit/>
          </a:bodyPr>
          <a:lstStyle/>
          <a:p>
            <a:r>
              <a:rPr lang="en-US" sz="4400">
                <a:latin typeface="Georgia"/>
              </a:rPr>
              <a:t>New Org: </a:t>
            </a:r>
            <a:br>
              <a:rPr lang="en-US" sz="4400"/>
            </a:br>
            <a:r>
              <a:rPr lang="en-US" sz="4400">
                <a:latin typeface="Georgia"/>
              </a:rPr>
              <a:t>What’s important week of </a:t>
            </a:r>
            <a:br>
              <a:rPr lang="en-US" sz="4400">
                <a:latin typeface="Georgia"/>
              </a:rPr>
            </a:br>
            <a:r>
              <a:rPr lang="en-US" sz="4400">
                <a:latin typeface="Georgia"/>
              </a:rPr>
              <a:t>July 6</a:t>
            </a:r>
            <a:endParaRPr lang="en-US" sz="4400"/>
          </a:p>
        </p:txBody>
      </p:sp>
    </p:spTree>
    <p:custDataLst>
      <p:tags r:id="rId1"/>
    </p:custDataLst>
    <p:extLst>
      <p:ext uri="{BB962C8B-B14F-4D97-AF65-F5344CB8AC3E}">
        <p14:creationId xmlns:p14="http://schemas.microsoft.com/office/powerpoint/2010/main" val="350097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83000">
              <a:srgbClr val="73ACED"/>
            </a:gs>
            <a:gs pos="100000">
              <a:srgbClr val="699DD8"/>
            </a:gs>
            <a:gs pos="26000">
              <a:srgbClr val="9AC8FF"/>
            </a:gs>
          </a:gsLst>
          <a:path path="circle">
            <a:fillToRect l="50000" t="50000" r="50000" b="50000"/>
          </a:path>
          <a:tileRect/>
        </a:gradFill>
        <a:effectLst/>
      </p:bgPr>
    </p:bg>
    <p:spTree>
      <p:nvGrpSpPr>
        <p:cNvPr id="1" name="">
          <a:extLst>
            <a:ext uri="{FF2B5EF4-FFF2-40B4-BE49-F238E27FC236}">
              <a16:creationId xmlns:a16="http://schemas.microsoft.com/office/drawing/2014/main" id="{336F27AA-89C9-B25D-7B01-2FE3259B8C94}"/>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C0B26A4C-71B9-2A16-BB3E-AF17A8028518}"/>
              </a:ext>
            </a:extLst>
          </p:cNvPr>
          <p:cNvSpPr/>
          <p:nvPr/>
        </p:nvSpPr>
        <p:spPr>
          <a:xfrm>
            <a:off x="6726010" y="1532300"/>
            <a:ext cx="5008790" cy="4372457"/>
          </a:xfrm>
          <a:prstGeom prst="rect">
            <a:avLst/>
          </a:prstGeom>
          <a:solidFill>
            <a:schemeClr val="accent2">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 name="Rectangle 4">
            <a:extLst>
              <a:ext uri="{FF2B5EF4-FFF2-40B4-BE49-F238E27FC236}">
                <a16:creationId xmlns:a16="http://schemas.microsoft.com/office/drawing/2014/main" id="{B4F47EF1-A51E-A90E-70C8-AA67F2D7FF43}"/>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30C287F9-2401-3C1D-E800-95E890C696BB}"/>
              </a:ext>
            </a:extLst>
          </p:cNvPr>
          <p:cNvSpPr>
            <a:spLocks noGrp="1"/>
          </p:cNvSpPr>
          <p:nvPr>
            <p:ph type="title"/>
          </p:nvPr>
        </p:nvSpPr>
        <p:spPr/>
        <p:txBody>
          <a:bodyPr/>
          <a:lstStyle/>
          <a:p>
            <a:r>
              <a:rPr lang="en-US">
                <a:latin typeface="Georgia"/>
              </a:rPr>
              <a:t>Start 3Q with timely reasons to connect</a:t>
            </a:r>
          </a:p>
        </p:txBody>
      </p:sp>
      <p:sp>
        <p:nvSpPr>
          <p:cNvPr id="3" name="Content Placeholder 2">
            <a:extLst>
              <a:ext uri="{FF2B5EF4-FFF2-40B4-BE49-F238E27FC236}">
                <a16:creationId xmlns:a16="http://schemas.microsoft.com/office/drawing/2014/main" id="{EAB7057C-A5B9-0073-7A2A-1A6C632CE082}"/>
              </a:ext>
            </a:extLst>
          </p:cNvPr>
          <p:cNvSpPr>
            <a:spLocks noGrp="1"/>
          </p:cNvSpPr>
          <p:nvPr>
            <p:ph idx="1"/>
          </p:nvPr>
        </p:nvSpPr>
        <p:spPr>
          <a:xfrm>
            <a:off x="457199" y="2541068"/>
            <a:ext cx="6019343" cy="2191081"/>
          </a:xfrm>
        </p:spPr>
        <p:txBody>
          <a:bodyPr/>
          <a:lstStyle/>
          <a:p>
            <a:pPr marL="0" indent="0">
              <a:lnSpc>
                <a:spcPct val="100000"/>
              </a:lnSpc>
              <a:spcBef>
                <a:spcPts val="0"/>
              </a:spcBef>
              <a:spcAft>
                <a:spcPts val="600"/>
              </a:spcAft>
              <a:buNone/>
              <a:tabLst>
                <a:tab pos="4233863" algn="l"/>
              </a:tabLst>
            </a:pPr>
            <a:r>
              <a:rPr lang="en-US" sz="1800" dirty="0"/>
              <a:t>Build momentum early in the third quarter with practical strategies, timely updates and resources you can use to support meaningful client conversations.</a:t>
            </a:r>
          </a:p>
          <a:p>
            <a:pPr marL="457200">
              <a:lnSpc>
                <a:spcPct val="100000"/>
              </a:lnSpc>
              <a:spcBef>
                <a:spcPts val="0"/>
              </a:spcBef>
              <a:spcAft>
                <a:spcPts val="400"/>
              </a:spcAft>
            </a:pPr>
            <a:r>
              <a:rPr lang="en-US" sz="1600" dirty="0"/>
              <a:t>Timely information to support client outreach</a:t>
            </a:r>
          </a:p>
          <a:p>
            <a:pPr marL="457200">
              <a:lnSpc>
                <a:spcPct val="100000"/>
              </a:lnSpc>
              <a:spcBef>
                <a:spcPts val="0"/>
              </a:spcBef>
              <a:spcAft>
                <a:spcPts val="400"/>
              </a:spcAft>
            </a:pPr>
            <a:r>
              <a:rPr lang="en-US" sz="1600" dirty="0"/>
              <a:t>Strategies and resources to help build 3Q activity</a:t>
            </a:r>
          </a:p>
          <a:p>
            <a:pPr marL="457200">
              <a:lnSpc>
                <a:spcPct val="100000"/>
              </a:lnSpc>
              <a:spcBef>
                <a:spcPts val="0"/>
              </a:spcBef>
              <a:spcAft>
                <a:spcPts val="400"/>
              </a:spcAft>
            </a:pPr>
            <a:r>
              <a:rPr lang="en-US" sz="1600" dirty="0"/>
              <a:t>Latest DCA updates for client conversations</a:t>
            </a:r>
          </a:p>
          <a:p>
            <a:pPr marL="457200">
              <a:lnSpc>
                <a:spcPct val="100000"/>
              </a:lnSpc>
              <a:spcBef>
                <a:spcPts val="0"/>
              </a:spcBef>
              <a:spcAft>
                <a:spcPts val="400"/>
              </a:spcAft>
            </a:pPr>
            <a:r>
              <a:rPr lang="en-US" sz="1600" dirty="0"/>
              <a:t>DCA strategies and language from an expert DCA agent</a:t>
            </a:r>
          </a:p>
          <a:p>
            <a:pPr marL="457200">
              <a:lnSpc>
                <a:spcPct val="100000"/>
              </a:lnSpc>
              <a:spcBef>
                <a:spcPts val="0"/>
              </a:spcBef>
              <a:spcAft>
                <a:spcPts val="400"/>
              </a:spcAft>
            </a:pPr>
            <a:endParaRPr lang="en-US" sz="1600" dirty="0"/>
          </a:p>
        </p:txBody>
      </p:sp>
      <p:sp>
        <p:nvSpPr>
          <p:cNvPr id="4" name="Text Placeholder 3">
            <a:extLst>
              <a:ext uri="{FF2B5EF4-FFF2-40B4-BE49-F238E27FC236}">
                <a16:creationId xmlns:a16="http://schemas.microsoft.com/office/drawing/2014/main" id="{22563939-052F-FD80-5D9A-7025A36F3B73}"/>
              </a:ext>
            </a:extLst>
          </p:cNvPr>
          <p:cNvSpPr>
            <a:spLocks noGrp="1"/>
          </p:cNvSpPr>
          <p:nvPr>
            <p:ph type="body" sz="quarter" idx="12"/>
          </p:nvPr>
        </p:nvSpPr>
        <p:spPr/>
        <p:txBody>
          <a:bodyPr/>
          <a:lstStyle/>
          <a:p>
            <a:r>
              <a:rPr lang="en-US" sz="2200" dirty="0"/>
              <a:t>A national PLAN webinar for a solid Council start</a:t>
            </a:r>
          </a:p>
        </p:txBody>
      </p:sp>
      <p:sp>
        <p:nvSpPr>
          <p:cNvPr id="7" name="Rectangle 6">
            <a:extLst>
              <a:ext uri="{FF2B5EF4-FFF2-40B4-BE49-F238E27FC236}">
                <a16:creationId xmlns:a16="http://schemas.microsoft.com/office/drawing/2014/main" id="{95459F82-32A6-EF99-D4D5-1F1741224273}"/>
              </a:ext>
            </a:extLst>
          </p:cNvPr>
          <p:cNvSpPr/>
          <p:nvPr/>
        </p:nvSpPr>
        <p:spPr bwMode="ltGray">
          <a:xfrm>
            <a:off x="726311" y="4827466"/>
            <a:ext cx="5405121" cy="1092307"/>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2" name="Isosceles Triangle 11">
            <a:extLst>
              <a:ext uri="{FF2B5EF4-FFF2-40B4-BE49-F238E27FC236}">
                <a16:creationId xmlns:a16="http://schemas.microsoft.com/office/drawing/2014/main" id="{EA46D9B2-51EB-2FC5-F76C-EEB03E5BC3B0}"/>
              </a:ext>
            </a:extLst>
          </p:cNvPr>
          <p:cNvSpPr/>
          <p:nvPr/>
        </p:nvSpPr>
        <p:spPr bwMode="ltGray">
          <a:xfrm rot="5400000">
            <a:off x="4823006"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3" name="TextBox 12">
            <a:extLst>
              <a:ext uri="{FF2B5EF4-FFF2-40B4-BE49-F238E27FC236}">
                <a16:creationId xmlns:a16="http://schemas.microsoft.com/office/drawing/2014/main" id="{EB8657F9-46AD-3AC9-E85A-C88108D526BD}"/>
              </a:ext>
            </a:extLst>
          </p:cNvPr>
          <p:cNvSpPr txBox="1"/>
          <p:nvPr/>
        </p:nvSpPr>
        <p:spPr>
          <a:xfrm>
            <a:off x="965925" y="5088926"/>
            <a:ext cx="3573632" cy="56938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a:ln>
                  <a:noFill/>
                </a:ln>
                <a:solidFill>
                  <a:srgbClr val="000965"/>
                </a:solidFill>
                <a:effectLst/>
                <a:uLnTx/>
                <a:uFillTx/>
                <a:latin typeface="Arial"/>
                <a:ea typeface="+mn-ea"/>
                <a:cs typeface="+mn-cs"/>
              </a:rPr>
              <a:t>Register today</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to reserve your spot.</a:t>
            </a:r>
            <a:endParaRPr kumimoji="0" lang="en-US" sz="1600" b="0" i="0" u="none" strike="noStrike" kern="1200" cap="none" spc="0" normalizeH="0" baseline="0" noProof="0">
              <a:ln>
                <a:noFill/>
              </a:ln>
              <a:solidFill>
                <a:srgbClr val="7FB9FF"/>
              </a:solidFill>
              <a:effectLst/>
              <a:uLnTx/>
              <a:uFillTx/>
              <a:latin typeface="Arial"/>
              <a:ea typeface="+mn-ea"/>
              <a:cs typeface="+mn-cs"/>
            </a:endParaRPr>
          </a:p>
        </p:txBody>
      </p:sp>
      <p:sp>
        <p:nvSpPr>
          <p:cNvPr id="6" name="Rectangle 5">
            <a:extLst>
              <a:ext uri="{FF2B5EF4-FFF2-40B4-BE49-F238E27FC236}">
                <a16:creationId xmlns:a16="http://schemas.microsoft.com/office/drawing/2014/main" id="{901A5A26-3D86-FC70-6B26-D2F77686FC19}"/>
              </a:ext>
            </a:extLst>
          </p:cNvPr>
          <p:cNvSpPr/>
          <p:nvPr/>
        </p:nvSpPr>
        <p:spPr bwMode="ltGray">
          <a:xfrm>
            <a:off x="457199" y="1535039"/>
            <a:ext cx="6019343" cy="840171"/>
          </a:xfrm>
          <a:prstGeom prst="rect">
            <a:avLst/>
          </a:prstGeom>
          <a:solidFill>
            <a:schemeClr val="accent2"/>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9" name="Picture 8">
            <a:extLst>
              <a:ext uri="{FF2B5EF4-FFF2-40B4-BE49-F238E27FC236}">
                <a16:creationId xmlns:a16="http://schemas.microsoft.com/office/drawing/2014/main" id="{6FDDC1B6-CF18-814C-9CEE-6AC7C92BD02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6311" y="1700896"/>
            <a:ext cx="508694" cy="508456"/>
          </a:xfrm>
          <a:prstGeom prst="rect">
            <a:avLst/>
          </a:prstGeom>
        </p:spPr>
      </p:pic>
      <p:sp>
        <p:nvSpPr>
          <p:cNvPr id="10" name="TextBox 9">
            <a:extLst>
              <a:ext uri="{FF2B5EF4-FFF2-40B4-BE49-F238E27FC236}">
                <a16:creationId xmlns:a16="http://schemas.microsoft.com/office/drawing/2014/main" id="{11504613-C0D0-CB4F-DAD3-F381F5723493}"/>
              </a:ext>
            </a:extLst>
          </p:cNvPr>
          <p:cNvSpPr txBox="1"/>
          <p:nvPr/>
        </p:nvSpPr>
        <p:spPr>
          <a:xfrm>
            <a:off x="1512438" y="1678125"/>
            <a:ext cx="3899788" cy="55399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Date: </a:t>
            </a:r>
            <a:r>
              <a:rPr kumimoji="0" lang="en-US" sz="1800" b="0" i="0" u="none" strike="noStrike" kern="1200" cap="none" spc="0" normalizeH="0" baseline="0" noProof="0" dirty="0">
                <a:ln>
                  <a:noFill/>
                </a:ln>
                <a:solidFill>
                  <a:srgbClr val="FFFFFF"/>
                </a:solidFill>
                <a:effectLst/>
                <a:uLnTx/>
                <a:uFillTx/>
                <a:latin typeface="Arial"/>
                <a:ea typeface="+mn-ea"/>
                <a:cs typeface="+mn-cs"/>
              </a:rPr>
              <a:t>Wednesday, July 8, 2026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Time: </a:t>
            </a:r>
            <a:r>
              <a:rPr lang="en-US">
                <a:solidFill>
                  <a:srgbClr val="FFFFFF"/>
                </a:solidFill>
                <a:latin typeface="Arial"/>
              </a:rPr>
              <a:t>3</a:t>
            </a:r>
            <a:r>
              <a:rPr kumimoji="0" lang="en-US" sz="1800" b="0" i="0" u="none" strike="noStrike" kern="1200" cap="none" spc="0" normalizeH="0" baseline="0" noProof="0" dirty="0">
                <a:ln>
                  <a:noFill/>
                </a:ln>
                <a:solidFill>
                  <a:srgbClr val="FFFFFF"/>
                </a:solidFill>
                <a:effectLst/>
                <a:uLnTx/>
                <a:uFillTx/>
                <a:latin typeface="Arial"/>
                <a:ea typeface="+mn-ea"/>
                <a:cs typeface="+mn-cs"/>
              </a:rPr>
              <a:t> </a:t>
            </a:r>
            <a:r>
              <a:rPr lang="en-US">
                <a:solidFill>
                  <a:srgbClr val="FFFFFF"/>
                </a:solidFill>
                <a:latin typeface="Arial"/>
              </a:rPr>
              <a:t>pm</a:t>
            </a:r>
            <a:r>
              <a:rPr kumimoji="0" lang="en-US" sz="1800" b="0" i="0" u="none" strike="noStrike" kern="1200" cap="none" spc="0" normalizeH="0" baseline="0" noProof="0" dirty="0">
                <a:ln>
                  <a:noFill/>
                </a:ln>
                <a:solidFill>
                  <a:srgbClr val="FFFFFF"/>
                </a:solidFill>
                <a:effectLst/>
                <a:uLnTx/>
                <a:uFillTx/>
                <a:latin typeface="Arial"/>
                <a:ea typeface="+mn-ea"/>
                <a:cs typeface="+mn-cs"/>
              </a:rPr>
              <a:t> ET*</a:t>
            </a:r>
            <a:endParaRPr kumimoji="0" lang="en-US" sz="1800" b="0" i="0" u="none" strike="noStrike" kern="1200" cap="none" spc="0" normalizeH="0" baseline="30000" noProof="0" dirty="0">
              <a:ln>
                <a:noFill/>
              </a:ln>
              <a:solidFill>
                <a:srgbClr val="FFFFFF"/>
              </a:solidFill>
              <a:effectLst/>
              <a:uLnTx/>
              <a:uFillTx/>
              <a:latin typeface="Arial"/>
              <a:ea typeface="+mn-ea"/>
              <a:cs typeface="+mn-cs"/>
            </a:endParaRPr>
          </a:p>
        </p:txBody>
      </p:sp>
      <p:sp>
        <p:nvSpPr>
          <p:cNvPr id="14" name="TextBox 13">
            <a:extLst>
              <a:ext uri="{FF2B5EF4-FFF2-40B4-BE49-F238E27FC236}">
                <a16:creationId xmlns:a16="http://schemas.microsoft.com/office/drawing/2014/main" id="{05AFE435-B12B-1F6F-C38C-CAEF96573430}"/>
              </a:ext>
            </a:extLst>
          </p:cNvPr>
          <p:cNvSpPr txBox="1"/>
          <p:nvPr/>
        </p:nvSpPr>
        <p:spPr>
          <a:xfrm>
            <a:off x="2934712" y="6330088"/>
            <a:ext cx="6097656" cy="183320"/>
          </a:xfrm>
          <a:prstGeom prst="rect">
            <a:avLst/>
          </a:prstGeom>
          <a:noFill/>
        </p:spPr>
        <p:txBody>
          <a:bodyPr wrap="square" lIns="0" tIns="0" rIns="0" bIns="0">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00962"/>
                </a:solidFill>
                <a:effectLst/>
                <a:uLnTx/>
                <a:uFillTx/>
                <a:latin typeface="Arial" panose="020B0604020202020204" pitchFamily="34" charset="0"/>
                <a:ea typeface="Aptos" panose="020B0004020202020204" pitchFamily="34" charset="0"/>
                <a:cs typeface="Arial" panose="020B0604020202020204" pitchFamily="34" charset="0"/>
              </a:rPr>
              <a:t>*2 pm CT, 1 pm MT, 12 pm PT, 11 am Alaska, 9 am Hawaii</a:t>
            </a:r>
          </a:p>
        </p:txBody>
      </p:sp>
      <p:pic>
        <p:nvPicPr>
          <p:cNvPr id="20" name="Picture 19">
            <a:extLst>
              <a:ext uri="{FF2B5EF4-FFF2-40B4-BE49-F238E27FC236}">
                <a16:creationId xmlns:a16="http://schemas.microsoft.com/office/drawing/2014/main" id="{36748A09-5135-3040-0DAD-3A705F703A3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91610" y="4827467"/>
            <a:ext cx="1084932" cy="1084932"/>
          </a:xfrm>
          <a:prstGeom prst="rect">
            <a:avLst/>
          </a:prstGeom>
        </p:spPr>
      </p:pic>
      <p:sp>
        <p:nvSpPr>
          <p:cNvPr id="25" name="TextBox 24">
            <a:extLst>
              <a:ext uri="{FF2B5EF4-FFF2-40B4-BE49-F238E27FC236}">
                <a16:creationId xmlns:a16="http://schemas.microsoft.com/office/drawing/2014/main" id="{85222C6B-5324-A69A-438E-8C485F06CEAC}"/>
              </a:ext>
            </a:extLst>
          </p:cNvPr>
          <p:cNvSpPr txBox="1"/>
          <p:nvPr/>
        </p:nvSpPr>
        <p:spPr>
          <a:xfrm>
            <a:off x="9536660" y="4783182"/>
            <a:ext cx="1883885" cy="553998"/>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965"/>
                </a:solidFill>
                <a:effectLst/>
                <a:uLnTx/>
                <a:uFillTx/>
                <a:latin typeface="Arial"/>
                <a:ea typeface="+mn-ea"/>
                <a:cs typeface="+mn-cs"/>
              </a:rPr>
              <a:t>Daryl Havrish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965"/>
                </a:solidFill>
                <a:effectLst/>
                <a:uLnTx/>
                <a:uFillTx/>
                <a:latin typeface="Arial"/>
                <a:ea typeface="+mn-ea"/>
                <a:cs typeface="+mn-cs"/>
              </a:rPr>
              <a:t>Executive Council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965"/>
                </a:solidFill>
                <a:effectLst/>
                <a:uLnTx/>
                <a:uFillTx/>
                <a:latin typeface="Arial"/>
                <a:ea typeface="+mn-ea"/>
                <a:cs typeface="+mn-cs"/>
              </a:rPr>
              <a:t>Chicago North Shore GO</a:t>
            </a:r>
            <a:endParaRPr kumimoji="0" lang="en-IN" sz="1200" b="0" i="0" u="none" strike="noStrike" kern="1200" cap="none" spc="0" normalizeH="0" baseline="0" noProof="0">
              <a:ln>
                <a:noFill/>
              </a:ln>
              <a:solidFill>
                <a:srgbClr val="000965"/>
              </a:solidFill>
              <a:effectLst/>
              <a:uLnTx/>
              <a:uFillTx/>
              <a:latin typeface="Arial"/>
              <a:ea typeface="+mn-ea"/>
              <a:cs typeface="+mn-cs"/>
            </a:endParaRPr>
          </a:p>
        </p:txBody>
      </p:sp>
      <p:pic>
        <p:nvPicPr>
          <p:cNvPr id="26" name="Picture 25">
            <a:extLst>
              <a:ext uri="{FF2B5EF4-FFF2-40B4-BE49-F238E27FC236}">
                <a16:creationId xmlns:a16="http://schemas.microsoft.com/office/drawing/2014/main" id="{1546BE2E-F73E-8D37-336D-9298A6441C58}"/>
              </a:ext>
            </a:extLst>
          </p:cNvPr>
          <p:cNvPicPr>
            <a:picLocks noChangeAspect="1"/>
          </p:cNvPicPr>
          <p:nvPr/>
        </p:nvPicPr>
        <p:blipFill>
          <a:blip r:embed="rId6">
            <a:extLst>
              <a:ext uri="{28A0092B-C50C-407E-A947-70E740481C1C}">
                <a14:useLocalDpi xmlns:a14="http://schemas.microsoft.com/office/drawing/2010/main" val="0"/>
              </a:ext>
            </a:extLst>
          </a:blip>
          <a:srcRect l="12053" t="842" r="12065" b="23278"/>
          <a:stretch>
            <a:fillRect/>
          </a:stretch>
        </p:blipFill>
        <p:spPr>
          <a:xfrm>
            <a:off x="9355140" y="2377123"/>
            <a:ext cx="2246925" cy="2246925"/>
          </a:xfrm>
          <a:prstGeom prst="rect">
            <a:avLst/>
          </a:prstGeom>
        </p:spPr>
      </p:pic>
      <p:sp>
        <p:nvSpPr>
          <p:cNvPr id="18" name="TextBox 17">
            <a:extLst>
              <a:ext uri="{FF2B5EF4-FFF2-40B4-BE49-F238E27FC236}">
                <a16:creationId xmlns:a16="http://schemas.microsoft.com/office/drawing/2014/main" id="{416FC872-E1D5-F97D-CEC6-1567FF8ED084}"/>
              </a:ext>
            </a:extLst>
          </p:cNvPr>
          <p:cNvSpPr txBox="1"/>
          <p:nvPr/>
        </p:nvSpPr>
        <p:spPr>
          <a:xfrm>
            <a:off x="6726010" y="1538317"/>
            <a:ext cx="5008790" cy="430887"/>
          </a:xfrm>
          <a:prstGeom prst="rect">
            <a:avLst/>
          </a:prstGeom>
          <a:solidFill>
            <a:schemeClr val="tx1"/>
          </a:solidFill>
        </p:spPr>
        <p:txBody>
          <a:bodyPr wrap="square" lIns="182880" tIns="91440" rIns="91440" bIns="9144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Featured speakers:</a:t>
            </a:r>
          </a:p>
        </p:txBody>
      </p:sp>
      <p:sp>
        <p:nvSpPr>
          <p:cNvPr id="19" name="TextBox 18">
            <a:extLst>
              <a:ext uri="{FF2B5EF4-FFF2-40B4-BE49-F238E27FC236}">
                <a16:creationId xmlns:a16="http://schemas.microsoft.com/office/drawing/2014/main" id="{FBC7A7A0-D7C6-05BA-2AEA-044ED766DB80}"/>
              </a:ext>
            </a:extLst>
          </p:cNvPr>
          <p:cNvSpPr txBox="1"/>
          <p:nvPr/>
        </p:nvSpPr>
        <p:spPr>
          <a:xfrm>
            <a:off x="7032265" y="4799252"/>
            <a:ext cx="1883885" cy="553998"/>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965"/>
                </a:solidFill>
                <a:effectLst/>
                <a:uLnTx/>
                <a:uFillTx/>
                <a:latin typeface="Arial"/>
                <a:ea typeface="+mn-ea"/>
                <a:cs typeface="+mn-cs"/>
              </a:rPr>
              <a:t>Sonali Virendra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965"/>
                </a:solidFill>
                <a:effectLst/>
                <a:uLnTx/>
                <a:uFillTx/>
                <a:latin typeface="Arial"/>
                <a:ea typeface="+mn-ea"/>
                <a:cs typeface="+mn-cs"/>
              </a:rPr>
              <a:t>Senior Vice President and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965"/>
                </a:solidFill>
                <a:effectLst/>
                <a:uLnTx/>
                <a:uFillTx/>
                <a:latin typeface="Arial"/>
                <a:ea typeface="+mn-ea"/>
                <a:cs typeface="+mn-cs"/>
              </a:rPr>
              <a:t>Head of Agency</a:t>
            </a:r>
          </a:p>
        </p:txBody>
      </p:sp>
      <p:pic>
        <p:nvPicPr>
          <p:cNvPr id="27" name="Picture 26">
            <a:extLst>
              <a:ext uri="{FF2B5EF4-FFF2-40B4-BE49-F238E27FC236}">
                <a16:creationId xmlns:a16="http://schemas.microsoft.com/office/drawing/2014/main" id="{880922E7-A03B-34CD-6ECA-2F1EBBEC59B1}"/>
              </a:ext>
            </a:extLst>
          </p:cNvPr>
          <p:cNvPicPr>
            <a:picLocks noChangeAspect="1"/>
          </p:cNvPicPr>
          <p:nvPr/>
        </p:nvPicPr>
        <p:blipFill>
          <a:blip r:embed="rId7">
            <a:extLst>
              <a:ext uri="{28A0092B-C50C-407E-A947-70E740481C1C}">
                <a14:useLocalDpi xmlns:a14="http://schemas.microsoft.com/office/drawing/2010/main" val="0"/>
              </a:ext>
            </a:extLst>
          </a:blip>
          <a:srcRect l="8980" r="8372" b="11395"/>
          <a:stretch>
            <a:fillRect/>
          </a:stretch>
        </p:blipFill>
        <p:spPr>
          <a:xfrm>
            <a:off x="6850746" y="2375210"/>
            <a:ext cx="2246925" cy="2246925"/>
          </a:xfrm>
          <a:prstGeom prst="rect">
            <a:avLst/>
          </a:prstGeom>
        </p:spPr>
      </p:pic>
    </p:spTree>
    <p:extLst>
      <p:ext uri="{BB962C8B-B14F-4D97-AF65-F5344CB8AC3E}">
        <p14:creationId xmlns:p14="http://schemas.microsoft.com/office/powerpoint/2010/main" val="650956141"/>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Rounded Corners 43">
            <a:extLst>
              <a:ext uri="{FF2B5EF4-FFF2-40B4-BE49-F238E27FC236}">
                <a16:creationId xmlns:a16="http://schemas.microsoft.com/office/drawing/2014/main" id="{447A6A21-7E4D-ACEE-A29D-8C5A8F14037B}"/>
              </a:ext>
            </a:extLst>
          </p:cNvPr>
          <p:cNvSpPr/>
          <p:nvPr/>
        </p:nvSpPr>
        <p:spPr>
          <a:xfrm>
            <a:off x="5231983" y="2509259"/>
            <a:ext cx="6538975" cy="1849331"/>
          </a:xfrm>
          <a:prstGeom prst="roundRect">
            <a:avLst>
              <a:gd name="adj" fmla="val 892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45" name="Shape 10">
            <a:extLst>
              <a:ext uri="{FF2B5EF4-FFF2-40B4-BE49-F238E27FC236}">
                <a16:creationId xmlns:a16="http://schemas.microsoft.com/office/drawing/2014/main" id="{EECF4514-FB6A-B75A-757F-1F7351872E96}"/>
              </a:ext>
            </a:extLst>
          </p:cNvPr>
          <p:cNvSpPr/>
          <p:nvPr/>
        </p:nvSpPr>
        <p:spPr>
          <a:xfrm>
            <a:off x="5396241" y="3078760"/>
            <a:ext cx="958898" cy="973531"/>
          </a:xfrm>
          <a:prstGeom prst="ellipse">
            <a:avLst/>
          </a:prstGeom>
          <a:solidFill>
            <a:srgbClr val="80BAFF"/>
          </a:solidFill>
          <a:ln w="38100">
            <a:solidFill>
              <a:srgbClr val="0468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962"/>
              </a:solidFill>
              <a:effectLst/>
              <a:uLnTx/>
              <a:uFillTx/>
              <a:latin typeface="Arial" panose="020B0604020202020204" pitchFamily="34" charset="0"/>
              <a:ea typeface="+mn-ea"/>
              <a:cs typeface="Arial" panose="020B0604020202020204" pitchFamily="34" charset="0"/>
            </a:endParaRPr>
          </a:p>
        </p:txBody>
      </p:sp>
      <p:sp>
        <p:nvSpPr>
          <p:cNvPr id="43" name="Rectangle: Rounded Corners 42">
            <a:extLst>
              <a:ext uri="{FF2B5EF4-FFF2-40B4-BE49-F238E27FC236}">
                <a16:creationId xmlns:a16="http://schemas.microsoft.com/office/drawing/2014/main" id="{3923E5CD-EA38-A530-E4E9-489686DC3099}"/>
              </a:ext>
            </a:extLst>
          </p:cNvPr>
          <p:cNvSpPr/>
          <p:nvPr/>
        </p:nvSpPr>
        <p:spPr>
          <a:xfrm>
            <a:off x="5226223" y="550498"/>
            <a:ext cx="6538975" cy="1849331"/>
          </a:xfrm>
          <a:prstGeom prst="roundRect">
            <a:avLst>
              <a:gd name="adj" fmla="val 892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19" name="Shape 13"/>
          <p:cNvSpPr/>
          <p:nvPr/>
        </p:nvSpPr>
        <p:spPr>
          <a:xfrm>
            <a:off x="5220462" y="549888"/>
            <a:ext cx="6550496" cy="267211"/>
          </a:xfrm>
          <a:prstGeom prst="roundRect">
            <a:avLst>
              <a:gd name="adj" fmla="val 50000"/>
            </a:avLst>
          </a:prstGeom>
          <a:solidFill>
            <a:srgbClr val="016355"/>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962"/>
              </a:solidFill>
              <a:effectLst/>
              <a:uLnTx/>
              <a:uFillTx/>
              <a:latin typeface="Arial" panose="020B0604020202020204" pitchFamily="34" charset="0"/>
              <a:ea typeface="+mn-ea"/>
              <a:cs typeface="Arial" panose="020B0604020202020204" pitchFamily="34" charset="0"/>
            </a:endParaRPr>
          </a:p>
        </p:txBody>
      </p:sp>
      <p:sp>
        <p:nvSpPr>
          <p:cNvPr id="39" name="Rectangle: Rounded Corners 38">
            <a:extLst>
              <a:ext uri="{FF2B5EF4-FFF2-40B4-BE49-F238E27FC236}">
                <a16:creationId xmlns:a16="http://schemas.microsoft.com/office/drawing/2014/main" id="{D974301C-C60A-99E9-E541-53352C837DDB}"/>
              </a:ext>
            </a:extLst>
          </p:cNvPr>
          <p:cNvSpPr/>
          <p:nvPr/>
        </p:nvSpPr>
        <p:spPr>
          <a:xfrm>
            <a:off x="5257801" y="4481554"/>
            <a:ext cx="6513157" cy="1171980"/>
          </a:xfrm>
          <a:prstGeom prst="roundRect">
            <a:avLst>
              <a:gd name="adj" fmla="val 13416"/>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33" name="Rectangle: Rounded Corners 32">
            <a:extLst>
              <a:ext uri="{FF2B5EF4-FFF2-40B4-BE49-F238E27FC236}">
                <a16:creationId xmlns:a16="http://schemas.microsoft.com/office/drawing/2014/main" id="{37E80440-BB67-ACE1-8224-02E268945CEB}"/>
              </a:ext>
            </a:extLst>
          </p:cNvPr>
          <p:cNvSpPr/>
          <p:nvPr/>
        </p:nvSpPr>
        <p:spPr>
          <a:xfrm>
            <a:off x="421041" y="2498665"/>
            <a:ext cx="4518705" cy="3157270"/>
          </a:xfrm>
          <a:prstGeom prst="roundRect">
            <a:avLst>
              <a:gd name="adj" fmla="val 4087"/>
            </a:avLst>
          </a:prstGeom>
          <a:solidFill>
            <a:srgbClr val="A5E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2" name="Rectangle: Rounded Corners 1">
            <a:extLst>
              <a:ext uri="{FF2B5EF4-FFF2-40B4-BE49-F238E27FC236}">
                <a16:creationId xmlns:a16="http://schemas.microsoft.com/office/drawing/2014/main" id="{5E9EAE42-B5A6-8E11-0F12-218C66AD60A6}"/>
              </a:ext>
            </a:extLst>
          </p:cNvPr>
          <p:cNvSpPr/>
          <p:nvPr/>
        </p:nvSpPr>
        <p:spPr>
          <a:xfrm>
            <a:off x="421041" y="2498665"/>
            <a:ext cx="4518705" cy="753150"/>
          </a:xfrm>
          <a:prstGeom prst="roundRect">
            <a:avLst/>
          </a:prstGeom>
          <a:solidFill>
            <a:srgbClr val="000A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4" name="Text 1"/>
          <p:cNvSpPr txBox="1"/>
          <p:nvPr/>
        </p:nvSpPr>
        <p:spPr>
          <a:xfrm>
            <a:off x="421041" y="553904"/>
            <a:ext cx="4127601" cy="354529"/>
          </a:xfrm>
          <a:prstGeom prst="rect">
            <a:avLst/>
          </a:prstGeom>
          <a:noFill/>
          <a:ln/>
        </p:spPr>
        <p:txBody>
          <a:bodyPr wrap="none" lIns="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a:ln>
                  <a:noFill/>
                </a:ln>
                <a:solidFill>
                  <a:srgbClr val="002C6C"/>
                </a:solidFill>
                <a:effectLst/>
                <a:uLnTx/>
                <a:uFillTx/>
                <a:latin typeface="Arial" panose="020B0604020202020204" pitchFamily="34" charset="0"/>
                <a:ea typeface="Inter" pitchFamily="34" charset="-122"/>
                <a:cs typeface="Arial" panose="020B0604020202020204" pitchFamily="34" charset="0"/>
              </a:rPr>
              <a:t>NEW ORG AGENTS</a:t>
            </a:r>
            <a:endParaRPr kumimoji="0" lang="en-US" sz="2000" b="0" i="0" u="none" strike="noStrike" kern="1200" cap="none" spc="0" normalizeH="0" baseline="0" noProof="0">
              <a:ln>
                <a:noFill/>
              </a:ln>
              <a:solidFill>
                <a:srgbClr val="000962"/>
              </a:solidFill>
              <a:effectLst/>
              <a:uLnTx/>
              <a:uFillTx/>
              <a:latin typeface="Arial" panose="020B0604020202020204" pitchFamily="34" charset="0"/>
              <a:ea typeface="+mn-ea"/>
              <a:cs typeface="Arial" panose="020B0604020202020204" pitchFamily="34" charset="0"/>
            </a:endParaRPr>
          </a:p>
        </p:txBody>
      </p:sp>
      <p:sp>
        <p:nvSpPr>
          <p:cNvPr id="5" name="Text 2"/>
          <p:cNvSpPr txBox="1"/>
          <p:nvPr/>
        </p:nvSpPr>
        <p:spPr>
          <a:xfrm>
            <a:off x="421041" y="1008004"/>
            <a:ext cx="4127601" cy="112112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0" cap="none" spc="-72" normalizeH="0" baseline="0" noProof="0" dirty="0">
                <a:ln>
                  <a:noFill/>
                </a:ln>
                <a:solidFill>
                  <a:srgbClr val="002C6C"/>
                </a:solidFill>
                <a:effectLst/>
                <a:uLnTx/>
                <a:uFillTx/>
                <a:latin typeface="Georgia" panose="02040502050405020303"/>
                <a:ea typeface="Inter" pitchFamily="34" charset="-122"/>
                <a:cs typeface="Inter" pitchFamily="34" charset="-120"/>
              </a:rPr>
              <a:t>July Growth Bonus</a:t>
            </a:r>
            <a:endParaRPr kumimoji="0" lang="en-US" sz="4000" b="0" i="0" u="none" strike="noStrike" kern="1200" cap="none" spc="0" normalizeH="0" baseline="0" noProof="0" dirty="0">
              <a:ln>
                <a:noFill/>
              </a:ln>
              <a:solidFill>
                <a:srgbClr val="000962"/>
              </a:solidFill>
              <a:effectLst/>
              <a:uLnTx/>
              <a:uFillTx/>
              <a:latin typeface="Georgia" panose="02040502050405020303"/>
              <a:ea typeface="+mn-ea"/>
              <a:cs typeface="+mn-cs"/>
            </a:endParaRPr>
          </a:p>
        </p:txBody>
      </p:sp>
      <p:sp>
        <p:nvSpPr>
          <p:cNvPr id="6" name="Text 3"/>
          <p:cNvSpPr txBox="1"/>
          <p:nvPr/>
        </p:nvSpPr>
        <p:spPr>
          <a:xfrm>
            <a:off x="1359509" y="2662081"/>
            <a:ext cx="3316190" cy="4450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rial" panose="020B0604020202020204" pitchFamily="34" charset="0"/>
                <a:ea typeface="Inter" pitchFamily="34" charset="-122"/>
                <a:cs typeface="Arial" panose="020B0604020202020204" pitchFamily="34" charset="0"/>
              </a:rPr>
              <a:t>Qualify for a cash bonus based on paid life cases in the month of July</a:t>
            </a:r>
            <a:r>
              <a:rPr kumimoji="0" lang="en-US" sz="1600" b="0" i="0" u="none" strike="noStrike" kern="1200" cap="none" spc="0" normalizeH="0" baseline="30000" noProof="0">
                <a:ln>
                  <a:noFill/>
                </a:ln>
                <a:solidFill>
                  <a:srgbClr val="FFFFFF"/>
                </a:solidFill>
                <a:effectLst/>
                <a:uLnTx/>
                <a:uFillTx/>
                <a:latin typeface="Arial" panose="020B0604020202020204" pitchFamily="34" charset="0"/>
                <a:ea typeface="Inter" pitchFamily="34" charset="-122"/>
                <a:cs typeface="Arial" panose="020B0604020202020204" pitchFamily="34" charset="0"/>
              </a:rPr>
              <a:t>1</a:t>
            </a:r>
            <a:r>
              <a:rPr kumimoji="0" lang="en-US" sz="1600" b="0" i="0" u="none" strike="noStrike" kern="1200" cap="none" spc="0" normalizeH="0" baseline="0" noProof="0">
                <a:ln>
                  <a:noFill/>
                </a:ln>
                <a:solidFill>
                  <a:srgbClr val="FFFFFF"/>
                </a:solidFill>
                <a:effectLst/>
                <a:uLnTx/>
                <a:uFillTx/>
                <a:latin typeface="Arial" panose="020B0604020202020204" pitchFamily="34" charset="0"/>
                <a:ea typeface="Inter" pitchFamily="34" charset="-122"/>
                <a:cs typeface="Arial" panose="020B0604020202020204" pitchFamily="34" charset="0"/>
              </a:rPr>
              <a:t>.</a:t>
            </a:r>
            <a:endParaRPr kumimoji="0" 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8" name="Text 4"/>
          <p:cNvSpPr txBox="1"/>
          <p:nvPr/>
        </p:nvSpPr>
        <p:spPr>
          <a:xfrm>
            <a:off x="786327" y="3384655"/>
            <a:ext cx="4127601" cy="1083948"/>
          </a:xfrm>
          <a:prstGeom prst="rect">
            <a:avLst/>
          </a:prstGeom>
          <a:noFill/>
          <a:ln/>
        </p:spPr>
        <p:txBody>
          <a:bodyPr wrap="none" lIns="0" tIns="0" rIns="0" bIns="0"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Includes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E2DFDD">
                    <a:lumMod val="10000"/>
                  </a:srgbClr>
                </a:solidFill>
                <a:effectLst/>
                <a:uLnTx/>
                <a:uFillTx/>
                <a:latin typeface="Arial" panose="020B0604020202020204" pitchFamily="34" charset="0"/>
                <a:ea typeface="Inter" pitchFamily="34" charset="-122"/>
                <a:cs typeface="Arial" panose="020B0604020202020204" pitchFamily="34" charset="0"/>
              </a:rPr>
              <a:t>Life (EWL 3:1)</a:t>
            </a:r>
            <a:endParaRPr kumimoji="0" lang="en-US" sz="1600" b="0" i="0" u="none" strike="noStrike" kern="1200" cap="none" spc="0" normalizeH="0" baseline="0" noProof="0">
              <a:ln>
                <a:noFill/>
              </a:ln>
              <a:solidFill>
                <a:srgbClr val="000962"/>
              </a:solidFill>
              <a:effectLst/>
              <a:uLnTx/>
              <a:uFillTx/>
              <a:latin typeface="Arial" panose="020B0604020202020204" pitchFamily="34" charset="0"/>
              <a:ea typeface="+mn-ea"/>
              <a:cs typeface="Arial" panose="020B0604020202020204" pitchFamily="34" charset="0"/>
            </a:endParaRPr>
          </a:p>
        </p:txBody>
      </p:sp>
      <p:sp>
        <p:nvSpPr>
          <p:cNvPr id="10" name="Text 5"/>
          <p:cNvSpPr txBox="1"/>
          <p:nvPr/>
        </p:nvSpPr>
        <p:spPr>
          <a:xfrm>
            <a:off x="786327" y="4341108"/>
            <a:ext cx="4127601" cy="1225376"/>
          </a:xfrm>
          <a:prstGeom prst="rect">
            <a:avLst/>
          </a:prstGeom>
          <a:noFill/>
          <a:ln/>
        </p:spPr>
        <p:txBody>
          <a:bodyPr wrap="none" lIns="0" tIns="0" rIns="0" bIns="0"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0" cap="none" spc="0" normalizeH="0" baseline="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Excludes</a:t>
            </a:r>
          </a:p>
          <a:p>
            <a:pPr marL="285750" marR="0" lvl="0" indent="-2857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E2DFDD">
                    <a:lumMod val="10000"/>
                  </a:srgbClr>
                </a:solidFill>
                <a:effectLst/>
                <a:uLnTx/>
                <a:uFillTx/>
                <a:latin typeface="Arial" panose="020B0604020202020204" pitchFamily="34" charset="0"/>
                <a:ea typeface="Inter" pitchFamily="34" charset="-122"/>
                <a:cs typeface="Arial" panose="020B0604020202020204" pitchFamily="34" charset="0"/>
              </a:rPr>
              <a:t>VUL/MWP</a:t>
            </a:r>
          </a:p>
          <a:p>
            <a:pPr marL="285750" marR="0" lvl="0" indent="-2857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COLI/BOLI</a:t>
            </a:r>
          </a:p>
          <a:p>
            <a:pPr marL="285750" marR="0" lvl="0" indent="-2857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Policies issued in New York State</a:t>
            </a:r>
          </a:p>
        </p:txBody>
      </p:sp>
      <p:sp>
        <p:nvSpPr>
          <p:cNvPr id="16" name="Shape 10"/>
          <p:cNvSpPr/>
          <p:nvPr/>
        </p:nvSpPr>
        <p:spPr>
          <a:xfrm>
            <a:off x="5396241" y="1101680"/>
            <a:ext cx="958898" cy="973531"/>
          </a:xfrm>
          <a:prstGeom prst="ellipse">
            <a:avLst/>
          </a:prstGeom>
          <a:solidFill>
            <a:srgbClr val="A5EFBF"/>
          </a:solidFill>
          <a:ln w="38100">
            <a:solidFill>
              <a:srgbClr val="0163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962"/>
              </a:solidFill>
              <a:effectLst/>
              <a:uLnTx/>
              <a:uFillTx/>
              <a:latin typeface="Arial" panose="020B0604020202020204" pitchFamily="34" charset="0"/>
              <a:ea typeface="+mn-ea"/>
              <a:cs typeface="Arial" panose="020B0604020202020204" pitchFamily="34" charset="0"/>
            </a:endParaRPr>
          </a:p>
        </p:txBody>
      </p:sp>
      <p:sp>
        <p:nvSpPr>
          <p:cNvPr id="17" name="Text 11"/>
          <p:cNvSpPr txBox="1"/>
          <p:nvPr/>
        </p:nvSpPr>
        <p:spPr>
          <a:xfrm>
            <a:off x="5691286" y="1301662"/>
            <a:ext cx="368808" cy="108509"/>
          </a:xfrm>
          <a:prstGeom prst="rect">
            <a:avLst/>
          </a:prstGeom>
          <a:no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Bonus</a:t>
            </a:r>
            <a:endParaRPr kumimoji="0" lang="en-US" sz="12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18" name="Text 12"/>
          <p:cNvSpPr txBox="1"/>
          <p:nvPr/>
        </p:nvSpPr>
        <p:spPr>
          <a:xfrm>
            <a:off x="5480908" y="1513993"/>
            <a:ext cx="749808" cy="279807"/>
          </a:xfrm>
          <a:prstGeom prst="rect">
            <a:avLst/>
          </a:prstGeom>
          <a:no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3000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a:t>
            </a:r>
            <a:r>
              <a:rPr kumimoji="0" lang="en-US" sz="3200" b="1" i="0" u="none" strike="noStrike" kern="1200" cap="none" spc="0" normalizeH="0" baseline="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250</a:t>
            </a:r>
            <a:endParaRPr kumimoji="0" lang="en-US" sz="32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20" name="Text 14"/>
          <p:cNvSpPr/>
          <p:nvPr/>
        </p:nvSpPr>
        <p:spPr>
          <a:xfrm>
            <a:off x="5487163" y="590599"/>
            <a:ext cx="533400" cy="203607"/>
          </a:xfrm>
          <a:prstGeom prst="rect">
            <a:avLst/>
          </a:prstGeom>
          <a:solidFill>
            <a:srgbClr val="FFFFFF">
              <a:alpha val="0"/>
            </a:srgbClr>
          </a:solidFill>
          <a:ln>
            <a:solidFill>
              <a:srgbClr val="FFFFFF">
                <a:alpha val="0"/>
              </a:srgbClr>
            </a:solidFill>
          </a:ln>
        </p:spPr>
        <p:txBody>
          <a:bodyPr wrap="non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Arial" panose="020B0604020202020204" pitchFamily="34" charset="0"/>
                <a:ea typeface="Inter" pitchFamily="34" charset="-122"/>
                <a:cs typeface="Arial" panose="020B0604020202020204" pitchFamily="34" charset="0"/>
              </a:rPr>
              <a:t>Tier 1</a:t>
            </a:r>
            <a:endParaRPr kumimoji="0" lang="en-US" sz="12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1" name="Text 15"/>
          <p:cNvSpPr txBox="1"/>
          <p:nvPr/>
        </p:nvSpPr>
        <p:spPr>
          <a:xfrm>
            <a:off x="6476997" y="1105653"/>
            <a:ext cx="1897075" cy="216408"/>
          </a:xfrm>
          <a:prstGeom prst="rect">
            <a:avLst/>
          </a:prstGeom>
          <a:noFill/>
          <a:ln/>
        </p:spPr>
        <p:txBody>
          <a:bodyPr wrap="non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Initial Bonus Level</a:t>
            </a:r>
            <a:endParaRPr kumimoji="0" lang="en-US" sz="18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22" name="Text 16"/>
          <p:cNvSpPr txBox="1"/>
          <p:nvPr/>
        </p:nvSpPr>
        <p:spPr>
          <a:xfrm>
            <a:off x="6476997" y="1551417"/>
            <a:ext cx="4627808" cy="439905"/>
          </a:xfrm>
          <a:prstGeom prst="rect">
            <a:avLst/>
          </a:prstGeom>
          <a:noFill/>
          <a:ln/>
        </p:spPr>
        <p:txBody>
          <a:bodyPr wrap="none" lIns="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1F2937"/>
                </a:solidFill>
                <a:effectLst/>
                <a:uLnTx/>
                <a:uFillTx/>
                <a:latin typeface="Arial" panose="020B0604020202020204" pitchFamily="34" charset="0"/>
                <a:ea typeface="Inter" pitchFamily="34" charset="-122"/>
                <a:cs typeface="Arial" panose="020B0604020202020204" pitchFamily="34" charset="0"/>
              </a:rPr>
              <a:t>Pay for </a:t>
            </a:r>
            <a:r>
              <a:rPr kumimoji="0" lang="en-US" sz="1800" b="1" i="0" u="none" strike="noStrike" kern="1200" cap="none" spc="0" normalizeH="0" baseline="0" noProof="0">
                <a:ln>
                  <a:noFill/>
                </a:ln>
                <a:solidFill>
                  <a:srgbClr val="002C6C"/>
                </a:solidFill>
                <a:effectLst/>
                <a:uLnTx/>
                <a:uFillTx/>
                <a:latin typeface="Arial" panose="020B0604020202020204" pitchFamily="34" charset="0"/>
                <a:ea typeface="Inter" pitchFamily="34" charset="-122"/>
                <a:cs typeface="Arial" panose="020B0604020202020204" pitchFamily="34" charset="0"/>
              </a:rPr>
              <a:t>3 life cases</a:t>
            </a:r>
            <a:r>
              <a:rPr kumimoji="0" lang="en-US" sz="1800" b="0" i="0" u="none" strike="noStrike" kern="1200" cap="none" spc="0" normalizeH="0" baseline="0" noProof="0">
                <a:ln>
                  <a:noFill/>
                </a:ln>
                <a:solidFill>
                  <a:srgbClr val="1F2937"/>
                </a:solidFill>
                <a:effectLst/>
                <a:uLnTx/>
                <a:uFillTx/>
                <a:latin typeface="Arial" panose="020B0604020202020204" pitchFamily="34" charset="0"/>
                <a:ea typeface="Inter" pitchFamily="34" charset="-122"/>
                <a:cs typeface="Arial" panose="020B0604020202020204" pitchFamily="34" charset="0"/>
              </a:rPr>
              <a:t> in the month of July.</a:t>
            </a:r>
            <a:endParaRPr kumimoji="0" lang="en-US" sz="1800" b="0" i="0" u="none" strike="noStrike" kern="1200" cap="none" spc="0" normalizeH="0" baseline="0" noProof="0">
              <a:ln>
                <a:noFill/>
              </a:ln>
              <a:solidFill>
                <a:srgbClr val="000962"/>
              </a:solidFill>
              <a:effectLst/>
              <a:uLnTx/>
              <a:uFillTx/>
              <a:latin typeface="Arial" panose="020B0604020202020204" pitchFamily="34" charset="0"/>
              <a:ea typeface="+mn-ea"/>
              <a:cs typeface="Arial" panose="020B0604020202020204" pitchFamily="34" charset="0"/>
            </a:endParaRPr>
          </a:p>
        </p:txBody>
      </p:sp>
      <p:sp>
        <p:nvSpPr>
          <p:cNvPr id="25" name="Text 18"/>
          <p:cNvSpPr txBox="1"/>
          <p:nvPr/>
        </p:nvSpPr>
        <p:spPr>
          <a:xfrm>
            <a:off x="5665988" y="3290735"/>
            <a:ext cx="419405" cy="108509"/>
          </a:xfrm>
          <a:prstGeom prst="rect">
            <a:avLst/>
          </a:prstGeom>
          <a:no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Double</a:t>
            </a:r>
            <a:endParaRPr kumimoji="0" lang="en-US" sz="11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26" name="Text 19"/>
          <p:cNvSpPr txBox="1"/>
          <p:nvPr/>
        </p:nvSpPr>
        <p:spPr>
          <a:xfrm>
            <a:off x="5471460" y="3513392"/>
            <a:ext cx="768705" cy="279807"/>
          </a:xfrm>
          <a:prstGeom prst="rect">
            <a:avLst/>
          </a:prstGeom>
          <a:noFill/>
          <a:ln/>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3000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a:t>
            </a:r>
            <a:r>
              <a:rPr kumimoji="0" lang="en-US" sz="3200" b="1" i="0" u="none" strike="noStrike" kern="1200" cap="none" spc="0" normalizeH="0" baseline="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500</a:t>
            </a:r>
            <a:endParaRPr kumimoji="0" lang="en-US" sz="32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29" name="Text 22"/>
          <p:cNvSpPr txBox="1"/>
          <p:nvPr/>
        </p:nvSpPr>
        <p:spPr>
          <a:xfrm>
            <a:off x="6476997" y="3078760"/>
            <a:ext cx="1940967" cy="216408"/>
          </a:xfrm>
          <a:prstGeom prst="rect">
            <a:avLst/>
          </a:prstGeom>
          <a:noFill/>
          <a:ln/>
        </p:spPr>
        <p:txBody>
          <a:bodyPr wrap="non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Double Your Bonus</a:t>
            </a:r>
            <a:endParaRPr kumimoji="0" lang="en-US" sz="18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30" name="Text 23"/>
          <p:cNvSpPr txBox="1"/>
          <p:nvPr/>
        </p:nvSpPr>
        <p:spPr>
          <a:xfrm>
            <a:off x="6476997" y="3524593"/>
            <a:ext cx="4939294" cy="746385"/>
          </a:xfrm>
          <a:prstGeom prst="rect">
            <a:avLst/>
          </a:prstGeom>
          <a:noFill/>
          <a:ln/>
        </p:spPr>
        <p:txBody>
          <a:bodyPr wrap="square" lIns="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1F2937"/>
                </a:solidFill>
                <a:effectLst/>
                <a:uLnTx/>
                <a:uFillTx/>
                <a:latin typeface="Arial" panose="020B0604020202020204" pitchFamily="34" charset="0"/>
                <a:ea typeface="Inter" pitchFamily="34" charset="-122"/>
                <a:cs typeface="Arial" panose="020B0604020202020204" pitchFamily="34" charset="0"/>
              </a:rPr>
              <a:t>Grow by </a:t>
            </a:r>
            <a:r>
              <a:rPr kumimoji="0" lang="en-US" sz="1800" b="1" i="0" u="none" strike="noStrike" kern="1200" cap="none" spc="0" normalizeH="0" baseline="0" noProof="0">
                <a:ln>
                  <a:noFill/>
                </a:ln>
                <a:solidFill>
                  <a:srgbClr val="002C6C"/>
                </a:solidFill>
                <a:effectLst/>
                <a:uLnTx/>
                <a:uFillTx/>
                <a:latin typeface="Arial" panose="020B0604020202020204" pitchFamily="34" charset="0"/>
                <a:ea typeface="Inter" pitchFamily="34" charset="-122"/>
                <a:cs typeface="Arial" panose="020B0604020202020204" pitchFamily="34" charset="0"/>
              </a:rPr>
              <a:t>1 life case over July 2025</a:t>
            </a:r>
            <a:r>
              <a:rPr kumimoji="0" lang="en-US" sz="1800" b="0" i="0" u="none" strike="noStrike" kern="1200" cap="none" spc="0" normalizeH="0" baseline="0" noProof="0">
                <a:ln>
                  <a:noFill/>
                </a:ln>
                <a:solidFill>
                  <a:srgbClr val="1F2937"/>
                </a:solidFill>
                <a:effectLst/>
                <a:uLnTx/>
                <a:uFillTx/>
                <a:latin typeface="Arial" panose="020B0604020202020204" pitchFamily="34" charset="0"/>
                <a:ea typeface="Inter" pitchFamily="34" charset="-122"/>
                <a:cs typeface="Arial" panose="020B0604020202020204" pitchFamily="34" charset="0"/>
              </a:rPr>
              <a:t>, with a minimum of </a:t>
            </a:r>
            <a:r>
              <a:rPr kumimoji="0" lang="en-US" sz="1800" b="1" i="0" u="none" strike="noStrike" kern="1200" cap="none" spc="0" normalizeH="0" baseline="0" noProof="0">
                <a:ln>
                  <a:noFill/>
                </a:ln>
                <a:solidFill>
                  <a:srgbClr val="002C6C"/>
                </a:solidFill>
                <a:effectLst/>
                <a:uLnTx/>
                <a:uFillTx/>
                <a:latin typeface="Arial" panose="020B0604020202020204" pitchFamily="34" charset="0"/>
                <a:ea typeface="Inter" pitchFamily="34" charset="-122"/>
                <a:cs typeface="Arial" panose="020B0604020202020204" pitchFamily="34" charset="0"/>
              </a:rPr>
              <a:t>5 life cases</a:t>
            </a:r>
            <a:r>
              <a:rPr kumimoji="0" lang="en-US" sz="1800" b="0" i="0" u="none" strike="noStrike" kern="1200" cap="none" spc="0" normalizeH="0" baseline="0" noProof="0">
                <a:ln>
                  <a:noFill/>
                </a:ln>
                <a:solidFill>
                  <a:srgbClr val="1F2937"/>
                </a:solidFill>
                <a:effectLst/>
                <a:uLnTx/>
                <a:uFillTx/>
                <a:latin typeface="Arial" panose="020B0604020202020204" pitchFamily="34" charset="0"/>
                <a:ea typeface="Inter" pitchFamily="34" charset="-122"/>
                <a:cs typeface="Arial" panose="020B0604020202020204" pitchFamily="34" charset="0"/>
              </a:rPr>
              <a:t> to double your bonus.</a:t>
            </a:r>
            <a:endParaRPr kumimoji="0" lang="en-US" sz="1800" b="0" i="0" u="none" strike="noStrike" kern="1200" cap="none" spc="0" normalizeH="0" baseline="0" noProof="0">
              <a:ln>
                <a:noFill/>
              </a:ln>
              <a:solidFill>
                <a:srgbClr val="000962"/>
              </a:solidFill>
              <a:effectLst/>
              <a:uLnTx/>
              <a:uFillTx/>
              <a:latin typeface="Arial" panose="020B0604020202020204" pitchFamily="34" charset="0"/>
              <a:ea typeface="+mn-ea"/>
              <a:cs typeface="Arial" panose="020B0604020202020204" pitchFamily="34" charset="0"/>
            </a:endParaRPr>
          </a:p>
        </p:txBody>
      </p:sp>
      <p:sp>
        <p:nvSpPr>
          <p:cNvPr id="32" name="Text 24"/>
          <p:cNvSpPr txBox="1"/>
          <p:nvPr/>
        </p:nvSpPr>
        <p:spPr>
          <a:xfrm>
            <a:off x="6476997" y="4747415"/>
            <a:ext cx="5293961" cy="719770"/>
          </a:xfrm>
          <a:prstGeom prst="rect">
            <a:avLst/>
          </a:prstGeom>
          <a:noFill/>
          <a:ln/>
        </p:spPr>
        <p:txBody>
          <a:bodyPr wrap="square" lIns="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New York State Provision:</a:t>
            </a:r>
            <a:r>
              <a:rPr kumimoji="0" lang="en-US" sz="1400" b="0" i="0" u="none" strike="noStrike" kern="1200" cap="none" spc="0" normalizeH="0" baseline="0" noProof="0">
                <a:ln>
                  <a:noFill/>
                </a:ln>
                <a:solidFill>
                  <a:srgbClr val="000A62"/>
                </a:solidFill>
                <a:effectLst/>
                <a:uLnTx/>
                <a:uFillTx/>
                <a:latin typeface="Arial" panose="020B0604020202020204" pitchFamily="34" charset="0"/>
                <a:ea typeface="Inter" pitchFamily="34" charset="-122"/>
                <a:cs typeface="Arial" panose="020B0604020202020204" pitchFamily="34" charset="0"/>
              </a:rPr>
              <a:t> Agents who meet the qualifications with paid life cases issued in New York State will receive bonus Council Credits in lieu of a cash bonus.</a:t>
            </a:r>
            <a:endParaRPr kumimoji="0" lang="en-US" sz="14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cxnSp>
        <p:nvCxnSpPr>
          <p:cNvPr id="36" name="Straight Connector 35">
            <a:extLst>
              <a:ext uri="{FF2B5EF4-FFF2-40B4-BE49-F238E27FC236}">
                <a16:creationId xmlns:a16="http://schemas.microsoft.com/office/drawing/2014/main" id="{14454A29-8AC0-49A6-61F3-C64F4BCB3560}"/>
              </a:ext>
            </a:extLst>
          </p:cNvPr>
          <p:cNvCxnSpPr>
            <a:cxnSpLocks/>
          </p:cNvCxnSpPr>
          <p:nvPr/>
        </p:nvCxnSpPr>
        <p:spPr>
          <a:xfrm>
            <a:off x="786132" y="4146875"/>
            <a:ext cx="3788523" cy="0"/>
          </a:xfrm>
          <a:prstGeom prst="line">
            <a:avLst/>
          </a:prstGeom>
          <a:ln>
            <a:solidFill>
              <a:srgbClr val="000A62"/>
            </a:solidFill>
          </a:ln>
        </p:spPr>
        <p:style>
          <a:lnRef idx="2">
            <a:schemeClr val="accent1"/>
          </a:lnRef>
          <a:fillRef idx="0">
            <a:schemeClr val="accent1"/>
          </a:fillRef>
          <a:effectRef idx="1">
            <a:schemeClr val="accent1"/>
          </a:effectRef>
          <a:fontRef idx="minor">
            <a:schemeClr val="tx1"/>
          </a:fontRef>
        </p:style>
      </p:cxnSp>
      <p:pic>
        <p:nvPicPr>
          <p:cNvPr id="38" name="Picture 37">
            <a:extLst>
              <a:ext uri="{FF2B5EF4-FFF2-40B4-BE49-F238E27FC236}">
                <a16:creationId xmlns:a16="http://schemas.microsoft.com/office/drawing/2014/main" id="{6F16CA7E-9512-EBB0-CEAC-022A1805A1AF}"/>
              </a:ext>
            </a:extLst>
          </p:cNvPr>
          <p:cNvPicPr>
            <a:picLocks noChangeAspect="1"/>
          </p:cNvPicPr>
          <p:nvPr/>
        </p:nvPicPr>
        <p:blipFill>
          <a:blip r:embed="rId3"/>
          <a:stretch>
            <a:fillRect/>
          </a:stretch>
        </p:blipFill>
        <p:spPr>
          <a:xfrm>
            <a:off x="755531" y="2662081"/>
            <a:ext cx="445007" cy="445007"/>
          </a:xfrm>
          <a:prstGeom prst="rect">
            <a:avLst/>
          </a:prstGeom>
        </p:spPr>
      </p:pic>
      <p:sp>
        <p:nvSpPr>
          <p:cNvPr id="40" name="Oval 39">
            <a:extLst>
              <a:ext uri="{FF2B5EF4-FFF2-40B4-BE49-F238E27FC236}">
                <a16:creationId xmlns:a16="http://schemas.microsoft.com/office/drawing/2014/main" id="{366BD3C1-3F01-C695-4D81-2854D4C1AE7A}"/>
              </a:ext>
            </a:extLst>
          </p:cNvPr>
          <p:cNvSpPr/>
          <p:nvPr/>
        </p:nvSpPr>
        <p:spPr>
          <a:xfrm>
            <a:off x="5403461" y="4595315"/>
            <a:ext cx="944458" cy="944458"/>
          </a:xfrm>
          <a:prstGeom prst="ellipse">
            <a:avLst/>
          </a:prstGeom>
          <a:solidFill>
            <a:srgbClr val="046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pic>
        <p:nvPicPr>
          <p:cNvPr id="42" name="Picture 41">
            <a:extLst>
              <a:ext uri="{FF2B5EF4-FFF2-40B4-BE49-F238E27FC236}">
                <a16:creationId xmlns:a16="http://schemas.microsoft.com/office/drawing/2014/main" id="{82B10680-889A-9AC8-1700-AE3D12F9BDEA}"/>
              </a:ext>
            </a:extLst>
          </p:cNvPr>
          <p:cNvPicPr>
            <a:picLocks noChangeAspect="1"/>
          </p:cNvPicPr>
          <p:nvPr/>
        </p:nvPicPr>
        <p:blipFill>
          <a:blip r:embed="rId4"/>
          <a:srcRect/>
          <a:stretch/>
        </p:blipFill>
        <p:spPr>
          <a:xfrm>
            <a:off x="5469906" y="4776222"/>
            <a:ext cx="811569" cy="582644"/>
          </a:xfrm>
          <a:prstGeom prst="rect">
            <a:avLst/>
          </a:prstGeom>
        </p:spPr>
      </p:pic>
      <p:sp>
        <p:nvSpPr>
          <p:cNvPr id="46" name="Shape 13">
            <a:extLst>
              <a:ext uri="{FF2B5EF4-FFF2-40B4-BE49-F238E27FC236}">
                <a16:creationId xmlns:a16="http://schemas.microsoft.com/office/drawing/2014/main" id="{A4F0EE3B-D852-4311-3114-CA997D835ABE}"/>
              </a:ext>
            </a:extLst>
          </p:cNvPr>
          <p:cNvSpPr/>
          <p:nvPr/>
        </p:nvSpPr>
        <p:spPr>
          <a:xfrm>
            <a:off x="5220462" y="2503651"/>
            <a:ext cx="6550496" cy="267211"/>
          </a:xfrm>
          <a:prstGeom prst="roundRect">
            <a:avLst>
              <a:gd name="adj" fmla="val 50000"/>
            </a:avLst>
          </a:prstGeom>
          <a:solidFill>
            <a:srgbClr val="0468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962"/>
              </a:solidFill>
              <a:effectLst/>
              <a:uLnTx/>
              <a:uFillTx/>
              <a:latin typeface="Arial" panose="020B0604020202020204" pitchFamily="34" charset="0"/>
              <a:ea typeface="+mn-ea"/>
              <a:cs typeface="Arial" panose="020B0604020202020204" pitchFamily="34" charset="0"/>
            </a:endParaRPr>
          </a:p>
        </p:txBody>
      </p:sp>
      <p:sp>
        <p:nvSpPr>
          <p:cNvPr id="47" name="Text 14">
            <a:extLst>
              <a:ext uri="{FF2B5EF4-FFF2-40B4-BE49-F238E27FC236}">
                <a16:creationId xmlns:a16="http://schemas.microsoft.com/office/drawing/2014/main" id="{9F51FD5A-1E21-AD93-351D-14B86A840287}"/>
              </a:ext>
            </a:extLst>
          </p:cNvPr>
          <p:cNvSpPr/>
          <p:nvPr/>
        </p:nvSpPr>
        <p:spPr>
          <a:xfrm>
            <a:off x="5487163" y="2544362"/>
            <a:ext cx="533400" cy="203607"/>
          </a:xfrm>
          <a:prstGeom prst="rect">
            <a:avLst/>
          </a:prstGeom>
          <a:solidFill>
            <a:srgbClr val="FFFFFF">
              <a:alpha val="0"/>
            </a:srgbClr>
          </a:solidFill>
          <a:ln>
            <a:solidFill>
              <a:srgbClr val="FFFFFF">
                <a:alpha val="0"/>
              </a:srgbClr>
            </a:solidFill>
          </a:ln>
        </p:spPr>
        <p:txBody>
          <a:bodyPr wrap="non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Arial" panose="020B0604020202020204" pitchFamily="34" charset="0"/>
                <a:ea typeface="Inter" pitchFamily="34" charset="-122"/>
                <a:cs typeface="Arial" panose="020B0604020202020204" pitchFamily="34" charset="0"/>
              </a:rPr>
              <a:t>Tier 2</a:t>
            </a:r>
            <a:endParaRPr kumimoji="0" lang="en-US" sz="12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cxnSp>
        <p:nvCxnSpPr>
          <p:cNvPr id="49" name="Straight Connector 48">
            <a:extLst>
              <a:ext uri="{FF2B5EF4-FFF2-40B4-BE49-F238E27FC236}">
                <a16:creationId xmlns:a16="http://schemas.microsoft.com/office/drawing/2014/main" id="{FFFE4CCD-E01D-CAEB-B837-C04D287BC7FC}"/>
              </a:ext>
            </a:extLst>
          </p:cNvPr>
          <p:cNvCxnSpPr/>
          <p:nvPr/>
        </p:nvCxnSpPr>
        <p:spPr>
          <a:xfrm>
            <a:off x="6476997" y="1455285"/>
            <a:ext cx="4939294" cy="0"/>
          </a:xfrm>
          <a:prstGeom prst="line">
            <a:avLst/>
          </a:prstGeom>
          <a:ln w="12700">
            <a:solidFill>
              <a:srgbClr val="016355"/>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BEF11DFD-2323-7644-C5B6-C6007431F117}"/>
              </a:ext>
            </a:extLst>
          </p:cNvPr>
          <p:cNvCxnSpPr/>
          <p:nvPr/>
        </p:nvCxnSpPr>
        <p:spPr>
          <a:xfrm>
            <a:off x="6476997" y="3423985"/>
            <a:ext cx="4939294" cy="0"/>
          </a:xfrm>
          <a:prstGeom prst="line">
            <a:avLst/>
          </a:prstGeom>
          <a:ln w="12700">
            <a:solidFill>
              <a:srgbClr val="0468FF"/>
            </a:solidFill>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FE9868B4-7B61-6E1D-0137-EFA1D351D5CF}"/>
              </a:ext>
            </a:extLst>
          </p:cNvPr>
          <p:cNvSpPr txBox="1"/>
          <p:nvPr/>
        </p:nvSpPr>
        <p:spPr>
          <a:xfrm>
            <a:off x="421041" y="5754770"/>
            <a:ext cx="7365874"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30000" noProof="0">
                <a:ln>
                  <a:noFill/>
                </a:ln>
                <a:solidFill>
                  <a:srgbClr val="E2DFDD">
                    <a:lumMod val="50000"/>
                  </a:srgbClr>
                </a:solidFill>
                <a:effectLst/>
                <a:uLnTx/>
                <a:uFillTx/>
                <a:latin typeface="Arial" panose="020B0604020202020204" pitchFamily="34" charset="0"/>
                <a:ea typeface="+mn-ea"/>
                <a:cs typeface="Arial" panose="020B0604020202020204" pitchFamily="34" charset="0"/>
              </a:rPr>
              <a:t>1</a:t>
            </a:r>
            <a:r>
              <a:rPr kumimoji="0" lang="en-US" sz="1000" b="0" i="0" u="none" strike="noStrike" kern="1200" cap="none" spc="0" normalizeH="0" baseline="0" noProof="0">
                <a:ln>
                  <a:noFill/>
                </a:ln>
                <a:solidFill>
                  <a:srgbClr val="E2DFDD">
                    <a:lumMod val="50000"/>
                  </a:srgbClr>
                </a:solidFill>
                <a:effectLst/>
                <a:uLnTx/>
                <a:uFillTx/>
                <a:latin typeface="Arial" panose="020B0604020202020204" pitchFamily="34" charset="0"/>
                <a:ea typeface="+mn-ea"/>
                <a:cs typeface="Arial" panose="020B0604020202020204" pitchFamily="34" charset="0"/>
              </a:rPr>
              <a:t>Agents eligible to enroll in the Life and Annuity Expense Allowance Program must enroll by July 31, 2026, to receive a cash bonus.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50000"/>
                  </a:srgbClr>
                </a:solidFill>
                <a:effectLst/>
                <a:uLnTx/>
                <a:uFillTx/>
                <a:latin typeface="Arial" panose="020B0604020202020204" pitchFamily="34" charset="0"/>
                <a:ea typeface="+mn-ea"/>
                <a:cs typeface="Arial" panose="020B0604020202020204" pitchFamily="34" charset="0"/>
              </a:rPr>
              <a:t>Pending NYS Dept. of Financial Services approval.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76C0C99F-F23C-719A-EA1A-CF55F8C0D14F}"/>
              </a:ext>
            </a:extLst>
          </p:cNvPr>
          <p:cNvPicPr>
            <a:picLocks noChangeAspect="1"/>
          </p:cNvPicPr>
          <p:nvPr/>
        </p:nvPicPr>
        <p:blipFill>
          <a:blip r:embed="rId3"/>
          <a:srcRect l="4577" t="22398" r="16917" b="1734"/>
          <a:stretch>
            <a:fillRect/>
          </a:stretch>
        </p:blipFill>
        <p:spPr>
          <a:xfrm>
            <a:off x="6499375" y="2569823"/>
            <a:ext cx="5271584" cy="3397340"/>
          </a:xfrm>
          <a:prstGeom prst="rect">
            <a:avLst/>
          </a:prstGeom>
        </p:spPr>
      </p:pic>
      <p:sp>
        <p:nvSpPr>
          <p:cNvPr id="23" name="Rectangle 22">
            <a:extLst>
              <a:ext uri="{FF2B5EF4-FFF2-40B4-BE49-F238E27FC236}">
                <a16:creationId xmlns:a16="http://schemas.microsoft.com/office/drawing/2014/main" id="{51C83C6B-4B08-D6E0-543E-95E4DCFD8005}"/>
              </a:ext>
            </a:extLst>
          </p:cNvPr>
          <p:cNvSpPr/>
          <p:nvPr/>
        </p:nvSpPr>
        <p:spPr>
          <a:xfrm>
            <a:off x="10045213" y="3052910"/>
            <a:ext cx="1610759" cy="2484858"/>
          </a:xfrm>
          <a:prstGeom prst="rect">
            <a:avLst/>
          </a:prstGeom>
          <a:solidFill>
            <a:schemeClr val="bg1">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10" name="Rectangle: Rounded Corners 9">
            <a:extLst>
              <a:ext uri="{FF2B5EF4-FFF2-40B4-BE49-F238E27FC236}">
                <a16:creationId xmlns:a16="http://schemas.microsoft.com/office/drawing/2014/main" id="{E8BE548D-1795-3FA3-B174-B13AB58A8BBB}"/>
              </a:ext>
            </a:extLst>
          </p:cNvPr>
          <p:cNvSpPr/>
          <p:nvPr/>
        </p:nvSpPr>
        <p:spPr>
          <a:xfrm>
            <a:off x="421040" y="1484622"/>
            <a:ext cx="11349918" cy="873826"/>
          </a:xfrm>
          <a:prstGeom prst="roundRect">
            <a:avLst/>
          </a:prstGeom>
          <a:solidFill>
            <a:srgbClr val="046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2" name="Title 1">
            <a:extLst>
              <a:ext uri="{FF2B5EF4-FFF2-40B4-BE49-F238E27FC236}">
                <a16:creationId xmlns:a16="http://schemas.microsoft.com/office/drawing/2014/main" id="{11E5C9F2-C9DF-581D-5875-2E1C1A4FD5FE}"/>
              </a:ext>
            </a:extLst>
          </p:cNvPr>
          <p:cNvSpPr>
            <a:spLocks noGrp="1"/>
          </p:cNvSpPr>
          <p:nvPr>
            <p:ph type="title"/>
          </p:nvPr>
        </p:nvSpPr>
        <p:spPr/>
        <p:txBody>
          <a:bodyPr/>
          <a:lstStyle/>
          <a:p>
            <a:r>
              <a:rPr lang="en-US" sz="3100"/>
              <a:t>Executive Council Rocky Mountain Crocs</a:t>
            </a:r>
            <a:r>
              <a:rPr lang="en-US" sz="3100" baseline="30000"/>
              <a:t>™</a:t>
            </a:r>
            <a:r>
              <a:rPr lang="en-US" sz="3100"/>
              <a:t> Giveaway Experience</a:t>
            </a:r>
          </a:p>
        </p:txBody>
      </p:sp>
      <p:sp>
        <p:nvSpPr>
          <p:cNvPr id="3" name="Content Placeholder 2">
            <a:extLst>
              <a:ext uri="{FF2B5EF4-FFF2-40B4-BE49-F238E27FC236}">
                <a16:creationId xmlns:a16="http://schemas.microsoft.com/office/drawing/2014/main" id="{426B9D3B-5AC5-C9E4-3D12-B4753C329FBC}"/>
              </a:ext>
            </a:extLst>
          </p:cNvPr>
          <p:cNvSpPr>
            <a:spLocks noGrp="1"/>
          </p:cNvSpPr>
          <p:nvPr>
            <p:ph idx="1"/>
          </p:nvPr>
        </p:nvSpPr>
        <p:spPr>
          <a:xfrm>
            <a:off x="616369" y="2569823"/>
            <a:ext cx="5746504" cy="2108917"/>
          </a:xfrm>
        </p:spPr>
        <p:txBody>
          <a:bodyPr/>
          <a:lstStyle/>
          <a:p>
            <a:pPr marL="0" indent="0">
              <a:spcBef>
                <a:spcPts val="0"/>
              </a:spcBef>
              <a:spcAft>
                <a:spcPts val="600"/>
              </a:spcAft>
              <a:buNone/>
            </a:pPr>
            <a:r>
              <a:rPr lang="en-US" sz="1600" b="1">
                <a:solidFill>
                  <a:schemeClr val="accent6">
                    <a:lumMod val="10000"/>
                  </a:schemeClr>
                </a:solidFill>
              </a:rPr>
              <a:t>Highlights</a:t>
            </a:r>
          </a:p>
          <a:p>
            <a:pPr>
              <a:spcBef>
                <a:spcPts val="0"/>
              </a:spcBef>
              <a:spcAft>
                <a:spcPts val="400"/>
              </a:spcAft>
            </a:pPr>
            <a:r>
              <a:rPr lang="en-US" sz="1600">
                <a:solidFill>
                  <a:schemeClr val="accent6">
                    <a:lumMod val="10000"/>
                  </a:schemeClr>
                </a:solidFill>
              </a:rPr>
              <a:t>Qualification period: </a:t>
            </a:r>
            <a:r>
              <a:rPr lang="en-US" sz="1600" b="1">
                <a:solidFill>
                  <a:schemeClr val="accent6">
                    <a:lumMod val="10000"/>
                  </a:schemeClr>
                </a:solidFill>
              </a:rPr>
              <a:t>July 1 – August 14</a:t>
            </a:r>
          </a:p>
          <a:p>
            <a:pPr>
              <a:spcBef>
                <a:spcPts val="0"/>
              </a:spcBef>
              <a:spcAft>
                <a:spcPts val="400"/>
              </a:spcAft>
            </a:pPr>
            <a:r>
              <a:rPr lang="en-US" sz="1600">
                <a:solidFill>
                  <a:schemeClr val="accent6">
                    <a:lumMod val="10000"/>
                  </a:schemeClr>
                </a:solidFill>
              </a:rPr>
              <a:t>Open to 2026 Executive Council qualifiers</a:t>
            </a:r>
          </a:p>
          <a:p>
            <a:pPr>
              <a:spcBef>
                <a:spcPts val="0"/>
              </a:spcBef>
              <a:spcAft>
                <a:spcPts val="400"/>
              </a:spcAft>
            </a:pPr>
            <a:r>
              <a:rPr lang="en-US" sz="1600">
                <a:solidFill>
                  <a:schemeClr val="accent6">
                    <a:lumMod val="10000"/>
                  </a:schemeClr>
                </a:solidFill>
              </a:rPr>
              <a:t>Rank in the top 200 on the paid insurance solution </a:t>
            </a:r>
            <a:br>
              <a:rPr lang="en-US" sz="1600">
                <a:solidFill>
                  <a:schemeClr val="accent6">
                    <a:lumMod val="10000"/>
                  </a:schemeClr>
                </a:solidFill>
              </a:rPr>
            </a:br>
            <a:r>
              <a:rPr lang="en-US" sz="1600">
                <a:solidFill>
                  <a:schemeClr val="accent6">
                    <a:lumMod val="10000"/>
                  </a:schemeClr>
                </a:solidFill>
              </a:rPr>
              <a:t>cases</a:t>
            </a:r>
            <a:r>
              <a:rPr lang="en-US" sz="1600" baseline="30000">
                <a:solidFill>
                  <a:srgbClr val="002060"/>
                </a:solidFill>
              </a:rPr>
              <a:t>1</a:t>
            </a:r>
            <a:r>
              <a:rPr lang="en-US" sz="1600">
                <a:solidFill>
                  <a:schemeClr val="accent6">
                    <a:lumMod val="10000"/>
                  </a:schemeClr>
                </a:solidFill>
              </a:rPr>
              <a:t> leaderboard</a:t>
            </a:r>
          </a:p>
          <a:p>
            <a:pPr>
              <a:spcBef>
                <a:spcPts val="0"/>
              </a:spcBef>
              <a:spcAft>
                <a:spcPts val="400"/>
              </a:spcAft>
            </a:pPr>
            <a:r>
              <a:rPr lang="en-US" sz="1600">
                <a:solidFill>
                  <a:schemeClr val="accent6">
                    <a:lumMod val="10000"/>
                  </a:schemeClr>
                </a:solidFill>
              </a:rPr>
              <a:t>Must attend 2026 Executive Council meeting to receive prize</a:t>
            </a:r>
          </a:p>
          <a:p>
            <a:pPr>
              <a:spcBef>
                <a:spcPts val="0"/>
              </a:spcBef>
              <a:spcAft>
                <a:spcPts val="400"/>
              </a:spcAft>
            </a:pPr>
            <a:r>
              <a:rPr lang="en-US" sz="1600">
                <a:solidFill>
                  <a:schemeClr val="accent6">
                    <a:lumMod val="10000"/>
                  </a:schemeClr>
                </a:solidFill>
              </a:rPr>
              <a:t>Registered guests may attend</a:t>
            </a:r>
          </a:p>
        </p:txBody>
      </p:sp>
      <p:sp>
        <p:nvSpPr>
          <p:cNvPr id="4" name="Content Placeholder 3">
            <a:extLst>
              <a:ext uri="{FF2B5EF4-FFF2-40B4-BE49-F238E27FC236}">
                <a16:creationId xmlns:a16="http://schemas.microsoft.com/office/drawing/2014/main" id="{8BE445BF-F926-55CD-F199-356B243B164C}"/>
              </a:ext>
            </a:extLst>
          </p:cNvPr>
          <p:cNvSpPr>
            <a:spLocks noGrp="1"/>
          </p:cNvSpPr>
          <p:nvPr>
            <p:ph sz="quarter" idx="11"/>
          </p:nvPr>
        </p:nvSpPr>
        <p:spPr>
          <a:xfrm>
            <a:off x="421042" y="1048018"/>
            <a:ext cx="11310706" cy="544803"/>
          </a:xfrm>
        </p:spPr>
        <p:txBody>
          <a:bodyPr/>
          <a:lstStyle/>
          <a:p>
            <a:r>
              <a:rPr lang="en-US" sz="2000"/>
              <a:t>Exclusive Denver giveaway for top-performing Executive Council agents</a:t>
            </a:r>
          </a:p>
        </p:txBody>
      </p:sp>
      <p:sp>
        <p:nvSpPr>
          <p:cNvPr id="5" name="Slide Number Placeholder 2">
            <a:extLst>
              <a:ext uri="{FF2B5EF4-FFF2-40B4-BE49-F238E27FC236}">
                <a16:creationId xmlns:a16="http://schemas.microsoft.com/office/drawing/2014/main" id="{0DAC5F02-D993-B08D-44D4-7139245FAEE7}"/>
              </a:ext>
            </a:extLst>
          </p:cNvPr>
          <p:cNvSpPr>
            <a:spLocks noGrp="1"/>
          </p:cNvSpPr>
          <p:nvPr>
            <p:ph type="sldNum" sz="quarter" idx="10"/>
          </p:nvPr>
        </p:nvSpPr>
        <p:spPr>
          <a:xfrm>
            <a:off x="11579107" y="6232230"/>
            <a:ext cx="430079" cy="365125"/>
          </a:xfrm>
        </p:spPr>
        <p:txBody>
          <a:bodyPr anchor="ctr" anchorCtr="0"/>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8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7" name="TextBox 6">
            <a:extLst>
              <a:ext uri="{FF2B5EF4-FFF2-40B4-BE49-F238E27FC236}">
                <a16:creationId xmlns:a16="http://schemas.microsoft.com/office/drawing/2014/main" id="{1F42E124-E051-BB2D-C3D9-A30431AC2F44}"/>
              </a:ext>
            </a:extLst>
          </p:cNvPr>
          <p:cNvSpPr txBox="1"/>
          <p:nvPr/>
        </p:nvSpPr>
        <p:spPr>
          <a:xfrm>
            <a:off x="616370" y="1613759"/>
            <a:ext cx="11260320" cy="615553"/>
          </a:xfrm>
          <a:prstGeom prst="rect">
            <a:avLst/>
          </a:prstGeom>
          <a:noFill/>
        </p:spPr>
        <p:txBody>
          <a:bodyPr wrap="square" lIns="0" tIns="91440" rIns="274320" bIns="91440">
            <a:spAutoFit/>
          </a:bodyPr>
          <a:lstStyle/>
          <a:p>
            <a:pPr marL="0" marR="0" lvl="0" indent="0" algn="l" defTabSz="914400" rtl="0" eaLnBrk="1" fontAlgn="auto" latinLnBrk="0" hangingPunct="1">
              <a:lnSpc>
                <a:spcPct val="100000"/>
              </a:lnSpc>
              <a:spcBef>
                <a:spcPts val="0"/>
              </a:spcBef>
              <a:spcAft>
                <a:spcPts val="0"/>
              </a:spcAft>
              <a:buClrTx/>
              <a:buSzTx/>
              <a:buFontTx/>
              <a:buNone/>
              <a:tabLst>
                <a:tab pos="3090863" algn="l"/>
              </a:tabLst>
              <a:defRPr/>
            </a:pP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Be among the top </a:t>
            </a:r>
            <a:r>
              <a:rPr kumimoji="0" 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200 agents </a:t>
            </a: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on the paid insurance solution cases</a:t>
            </a:r>
            <a:r>
              <a:rPr kumimoji="0" lang="en-US" sz="1400" b="0" i="0" u="none" strike="noStrike" kern="1200" cap="none" spc="0" normalizeH="0" baseline="30000" noProof="0">
                <a:ln>
                  <a:noFill/>
                </a:ln>
                <a:solidFill>
                  <a:srgbClr val="FFFFFF"/>
                </a:solidFill>
                <a:effectLst/>
                <a:uLnTx/>
                <a:uFillTx/>
                <a:latin typeface="Arial" panose="020B0604020202020204" pitchFamily="34" charset="0"/>
                <a:ea typeface="+mn-ea"/>
                <a:cs typeface="Arial" panose="020B0604020202020204" pitchFamily="34" charset="0"/>
              </a:rPr>
              <a:t>1</a:t>
            </a: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leaderboard and qualify for an exclusive invitation to the </a:t>
            </a:r>
            <a:r>
              <a:rPr kumimoji="0" 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Executive Council Rocky Mountain Crocs</a:t>
            </a:r>
            <a:r>
              <a:rPr kumimoji="0" lang="en-US" sz="1400" b="1" i="0" u="none" strike="noStrike" kern="1200" cap="none" spc="0" normalizeH="0" baseline="30000" noProof="0">
                <a:ln>
                  <a:noFill/>
                </a:ln>
                <a:solidFill>
                  <a:srgbClr val="FFFFFF"/>
                </a:solidFill>
                <a:effectLst/>
                <a:uLnTx/>
                <a:uFillTx/>
                <a:latin typeface="Arial" panose="020B0604020202020204" pitchFamily="34" charset="0"/>
                <a:ea typeface="+mn-ea"/>
                <a:cs typeface="Arial" panose="020B0604020202020204" pitchFamily="34" charset="0"/>
              </a:rPr>
              <a:t>™</a:t>
            </a:r>
            <a:r>
              <a:rPr kumimoji="0" lang="en-US" sz="1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Giveaway Experience </a:t>
            </a: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at the Executive Council Meeting on Tuesday, August 25. </a:t>
            </a:r>
          </a:p>
        </p:txBody>
      </p:sp>
      <p:sp>
        <p:nvSpPr>
          <p:cNvPr id="19" name="TextBox 18">
            <a:extLst>
              <a:ext uri="{FF2B5EF4-FFF2-40B4-BE49-F238E27FC236}">
                <a16:creationId xmlns:a16="http://schemas.microsoft.com/office/drawing/2014/main" id="{E7BF08E0-F728-EC30-D697-150FB2E41EBE}"/>
              </a:ext>
            </a:extLst>
          </p:cNvPr>
          <p:cNvSpPr txBox="1"/>
          <p:nvPr/>
        </p:nvSpPr>
        <p:spPr>
          <a:xfrm>
            <a:off x="10174132" y="3194354"/>
            <a:ext cx="1404975" cy="2154436"/>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rPr>
              <a:t>Choose  a complimentary Crocs bag adorned with a custom NYL </a:t>
            </a:r>
            <a:r>
              <a:rPr kumimoji="0" lang="en-US" sz="1400" b="0" i="0" u="none" strike="noStrike" kern="1200" cap="none" spc="0" normalizeH="0" baseline="0" noProof="0" err="1">
                <a:ln>
                  <a:noFill/>
                </a:ln>
                <a:solidFill>
                  <a:srgbClr val="000A62"/>
                </a:solidFill>
                <a:effectLst/>
                <a:uLnTx/>
                <a:uFillTx/>
                <a:latin typeface="Arial" panose="020B0604020202020204" pitchFamily="34" charset="0"/>
                <a:ea typeface="+mn-ea"/>
                <a:cs typeface="Arial" panose="020B0604020202020204" pitchFamily="34" charset="0"/>
              </a:rPr>
              <a:t>Jibbitz</a:t>
            </a:r>
            <a:r>
              <a:rPr kumimoji="0" lang="en-US" sz="1400" b="0" i="0" u="none" strike="noStrike" kern="1200" cap="none" spc="0" normalizeH="0" baseline="30000" noProof="0" err="1">
                <a:ln>
                  <a:noFill/>
                </a:ln>
                <a:solidFill>
                  <a:srgbClr val="000A62"/>
                </a:solidFill>
                <a:effectLst/>
                <a:uLnTx/>
                <a:uFillTx/>
                <a:latin typeface="Arial" panose="020B0604020202020204" pitchFamily="34" charset="0"/>
                <a:ea typeface="+mn-ea"/>
                <a:cs typeface="Arial" panose="020B0604020202020204" pitchFamily="34" charset="0"/>
              </a:rPr>
              <a:t>TM</a:t>
            </a:r>
            <a:r>
              <a:rPr kumimoji="0" lang="en-US" sz="14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rPr>
              <a:t> charm. Personalize it with your choice of two additional charms!</a:t>
            </a:r>
            <a:endParaRPr kumimoji="0" lang="en-US" sz="1400" b="0" i="0" u="none" strike="noStrike" kern="1200" cap="none" spc="0" normalizeH="0" baseline="0" noProof="0">
              <a:ln>
                <a:noFill/>
              </a:ln>
              <a:solidFill>
                <a:srgbClr val="000A62"/>
              </a:solidFill>
              <a:effectLst/>
              <a:uLnTx/>
              <a:uFillTx/>
              <a:latin typeface="Georgia" panose="02040502050405020303"/>
              <a:ea typeface="+mn-ea"/>
              <a:cs typeface="+mn-cs"/>
            </a:endParaRPr>
          </a:p>
        </p:txBody>
      </p:sp>
      <p:sp>
        <p:nvSpPr>
          <p:cNvPr id="24" name="TextBox 23">
            <a:extLst>
              <a:ext uri="{FF2B5EF4-FFF2-40B4-BE49-F238E27FC236}">
                <a16:creationId xmlns:a16="http://schemas.microsoft.com/office/drawing/2014/main" id="{99051F0E-4468-93D0-E5EC-C8E0AB7B756C}"/>
              </a:ext>
            </a:extLst>
          </p:cNvPr>
          <p:cNvSpPr txBox="1"/>
          <p:nvPr/>
        </p:nvSpPr>
        <p:spPr>
          <a:xfrm>
            <a:off x="421040" y="179267"/>
            <a:ext cx="2464088"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468FF"/>
                </a:solidFill>
                <a:effectLst/>
                <a:uLnTx/>
                <a:uFillTx/>
                <a:latin typeface="Arial" panose="020B0604020202020204" pitchFamily="34" charset="0"/>
                <a:ea typeface="+mn-ea"/>
                <a:cs typeface="Arial" panose="020B0604020202020204" pitchFamily="34" charset="0"/>
              </a:rPr>
              <a:t>COUNCIL PERKS</a:t>
            </a:r>
          </a:p>
        </p:txBody>
      </p:sp>
      <p:sp>
        <p:nvSpPr>
          <p:cNvPr id="25" name="Rectangle 24">
            <a:extLst>
              <a:ext uri="{FF2B5EF4-FFF2-40B4-BE49-F238E27FC236}">
                <a16:creationId xmlns:a16="http://schemas.microsoft.com/office/drawing/2014/main" id="{F6D49D36-A32A-29BD-D783-E145ED2C909E}"/>
              </a:ext>
            </a:extLst>
          </p:cNvPr>
          <p:cNvSpPr/>
          <p:nvPr/>
        </p:nvSpPr>
        <p:spPr bwMode="ltGray">
          <a:xfrm>
            <a:off x="421040" y="4869906"/>
            <a:ext cx="5298819"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26" name="Isosceles Triangle 25">
            <a:extLst>
              <a:ext uri="{FF2B5EF4-FFF2-40B4-BE49-F238E27FC236}">
                <a16:creationId xmlns:a16="http://schemas.microsoft.com/office/drawing/2014/main" id="{31E8863B-3D94-57CA-E4C1-470D9CC03134}"/>
              </a:ext>
            </a:extLst>
          </p:cNvPr>
          <p:cNvSpPr/>
          <p:nvPr/>
        </p:nvSpPr>
        <p:spPr bwMode="ltGray">
          <a:xfrm rot="5400000">
            <a:off x="4809606" y="5301729"/>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7" name="TextBox 26">
            <a:extLst>
              <a:ext uri="{FF2B5EF4-FFF2-40B4-BE49-F238E27FC236}">
                <a16:creationId xmlns:a16="http://schemas.microsoft.com/office/drawing/2014/main" id="{C6A5E325-8630-E88F-A95D-BE389CDC546A}"/>
              </a:ext>
            </a:extLst>
          </p:cNvPr>
          <p:cNvSpPr txBox="1"/>
          <p:nvPr/>
        </p:nvSpPr>
        <p:spPr>
          <a:xfrm>
            <a:off x="616369" y="5204302"/>
            <a:ext cx="4169083" cy="43088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965"/>
                </a:solidFill>
                <a:effectLst/>
                <a:uLnTx/>
                <a:uFillTx/>
                <a:latin typeface="Arial"/>
                <a:ea typeface="+mn-ea"/>
                <a:cs typeface="+mn-cs"/>
              </a:rPr>
              <a:t>Scan the QR code for complete rules, requirements, qualifying products, and official incentive details.</a:t>
            </a:r>
            <a:endParaRPr kumimoji="0" lang="en-US" sz="1400" b="0" i="0" u="none" strike="noStrike" kern="1200" cap="none" spc="0" normalizeH="0" baseline="0" noProof="0">
              <a:ln>
                <a:noFill/>
              </a:ln>
              <a:solidFill>
                <a:srgbClr val="7FB9FF"/>
              </a:solidFill>
              <a:effectLst/>
              <a:uLnTx/>
              <a:uFillTx/>
              <a:latin typeface="Arial"/>
              <a:ea typeface="+mn-ea"/>
              <a:cs typeface="+mn-cs"/>
            </a:endParaRPr>
          </a:p>
        </p:txBody>
      </p:sp>
      <p:pic>
        <p:nvPicPr>
          <p:cNvPr id="28" name="Picture 27">
            <a:extLst>
              <a:ext uri="{FF2B5EF4-FFF2-40B4-BE49-F238E27FC236}">
                <a16:creationId xmlns:a16="http://schemas.microsoft.com/office/drawing/2014/main" id="{93B44E6E-7E90-3D43-5311-59EC1D4E1FD6}"/>
              </a:ext>
            </a:extLst>
          </p:cNvPr>
          <p:cNvPicPr>
            <a:picLocks noChangeAspect="1"/>
          </p:cNvPicPr>
          <p:nvPr/>
        </p:nvPicPr>
        <p:blipFill>
          <a:blip r:embed="rId4"/>
          <a:srcRect/>
          <a:stretch/>
        </p:blipFill>
        <p:spPr>
          <a:xfrm>
            <a:off x="5186856" y="4869907"/>
            <a:ext cx="1097256" cy="1097256"/>
          </a:xfrm>
          <a:prstGeom prst="rect">
            <a:avLst/>
          </a:prstGeom>
        </p:spPr>
      </p:pic>
    </p:spTree>
    <p:extLst>
      <p:ext uri="{BB962C8B-B14F-4D97-AF65-F5344CB8AC3E}">
        <p14:creationId xmlns:p14="http://schemas.microsoft.com/office/powerpoint/2010/main" val="2912619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4140E-8C27-69F2-6EDE-17807EEF60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1AB183-7478-8AEB-84EA-53251EB1B61F}"/>
              </a:ext>
            </a:extLst>
          </p:cNvPr>
          <p:cNvSpPr>
            <a:spLocks noGrp="1"/>
          </p:cNvSpPr>
          <p:nvPr>
            <p:ph type="title"/>
          </p:nvPr>
        </p:nvSpPr>
        <p:spPr/>
        <p:txBody>
          <a:bodyPr/>
          <a:lstStyle/>
          <a:p>
            <a:r>
              <a:rPr lang="en-US" sz="3100"/>
              <a:t>President's Council Beachfront Boutique Experience</a:t>
            </a:r>
          </a:p>
        </p:txBody>
      </p:sp>
      <p:sp>
        <p:nvSpPr>
          <p:cNvPr id="4" name="Content Placeholder 3">
            <a:extLst>
              <a:ext uri="{FF2B5EF4-FFF2-40B4-BE49-F238E27FC236}">
                <a16:creationId xmlns:a16="http://schemas.microsoft.com/office/drawing/2014/main" id="{140CDF30-CA54-B3C9-0A53-35401214DD3C}"/>
              </a:ext>
            </a:extLst>
          </p:cNvPr>
          <p:cNvSpPr>
            <a:spLocks noGrp="1"/>
          </p:cNvSpPr>
          <p:nvPr>
            <p:ph sz="quarter" idx="11"/>
          </p:nvPr>
        </p:nvSpPr>
        <p:spPr>
          <a:xfrm>
            <a:off x="421042" y="1047585"/>
            <a:ext cx="11310706" cy="544803"/>
          </a:xfrm>
        </p:spPr>
        <p:txBody>
          <a:bodyPr/>
          <a:lstStyle/>
          <a:p>
            <a:r>
              <a:rPr lang="en-US" sz="2000"/>
              <a:t>Private shopping event for top-performing President's Council agents</a:t>
            </a:r>
          </a:p>
        </p:txBody>
      </p:sp>
      <p:sp>
        <p:nvSpPr>
          <p:cNvPr id="5" name="Slide Number Placeholder 2">
            <a:extLst>
              <a:ext uri="{FF2B5EF4-FFF2-40B4-BE49-F238E27FC236}">
                <a16:creationId xmlns:a16="http://schemas.microsoft.com/office/drawing/2014/main" id="{78CF1531-932B-5CF1-8445-0D5B7E63BB49}"/>
              </a:ext>
            </a:extLst>
          </p:cNvPr>
          <p:cNvSpPr>
            <a:spLocks noGrp="1"/>
          </p:cNvSpPr>
          <p:nvPr>
            <p:ph type="sldNum" sz="quarter" idx="10"/>
          </p:nvPr>
        </p:nvSpPr>
        <p:spPr>
          <a:xfrm>
            <a:off x="11579107" y="6232230"/>
            <a:ext cx="430079" cy="365125"/>
          </a:xfrm>
        </p:spPr>
        <p:txBody>
          <a:bodyPr anchor="ctr" anchorCtr="0"/>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8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8" name="TextBox 7">
            <a:extLst>
              <a:ext uri="{FF2B5EF4-FFF2-40B4-BE49-F238E27FC236}">
                <a16:creationId xmlns:a16="http://schemas.microsoft.com/office/drawing/2014/main" id="{E7B26A67-5FA0-A08A-F90D-46AA3F315A13}"/>
              </a:ext>
            </a:extLst>
          </p:cNvPr>
          <p:cNvSpPr txBox="1"/>
          <p:nvPr/>
        </p:nvSpPr>
        <p:spPr>
          <a:xfrm>
            <a:off x="421040" y="179267"/>
            <a:ext cx="2464088"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468FF"/>
                </a:solidFill>
                <a:effectLst/>
                <a:uLnTx/>
                <a:uFillTx/>
                <a:latin typeface="Arial" panose="020B0604020202020204" pitchFamily="34" charset="0"/>
                <a:ea typeface="+mn-ea"/>
                <a:cs typeface="Arial" panose="020B0604020202020204" pitchFamily="34" charset="0"/>
              </a:rPr>
              <a:t>COUNCIL PERKS</a:t>
            </a:r>
          </a:p>
        </p:txBody>
      </p:sp>
      <p:sp>
        <p:nvSpPr>
          <p:cNvPr id="14" name="Content Placeholder 2">
            <a:extLst>
              <a:ext uri="{FF2B5EF4-FFF2-40B4-BE49-F238E27FC236}">
                <a16:creationId xmlns:a16="http://schemas.microsoft.com/office/drawing/2014/main" id="{2D4A9A55-3863-1372-0DE0-3BC2E7739D4E}"/>
              </a:ext>
            </a:extLst>
          </p:cNvPr>
          <p:cNvSpPr>
            <a:spLocks noGrp="1"/>
          </p:cNvSpPr>
          <p:nvPr>
            <p:ph idx="1"/>
          </p:nvPr>
        </p:nvSpPr>
        <p:spPr>
          <a:xfrm>
            <a:off x="616368" y="2449667"/>
            <a:ext cx="8006522" cy="2438366"/>
          </a:xfrm>
        </p:spPr>
        <p:txBody>
          <a:bodyPr/>
          <a:lstStyle/>
          <a:p>
            <a:pPr marL="0" indent="0">
              <a:spcBef>
                <a:spcPts val="0"/>
              </a:spcBef>
              <a:spcAft>
                <a:spcPts val="400"/>
              </a:spcAft>
              <a:buNone/>
            </a:pPr>
            <a:r>
              <a:rPr lang="en-US" sz="1600" b="1">
                <a:solidFill>
                  <a:schemeClr val="accent6">
                    <a:lumMod val="10000"/>
                  </a:schemeClr>
                </a:solidFill>
              </a:rPr>
              <a:t>Highlights</a:t>
            </a:r>
          </a:p>
          <a:p>
            <a:pPr>
              <a:spcBef>
                <a:spcPts val="0"/>
              </a:spcBef>
              <a:spcAft>
                <a:spcPts val="400"/>
              </a:spcAft>
            </a:pPr>
            <a:r>
              <a:rPr lang="en-US" sz="1500">
                <a:solidFill>
                  <a:schemeClr val="accent6">
                    <a:lumMod val="10000"/>
                  </a:schemeClr>
                </a:solidFill>
              </a:rPr>
              <a:t>Qualification period: </a:t>
            </a:r>
            <a:r>
              <a:rPr lang="en-US" sz="1500" b="1">
                <a:solidFill>
                  <a:schemeClr val="accent6">
                    <a:lumMod val="10000"/>
                  </a:schemeClr>
                </a:solidFill>
              </a:rPr>
              <a:t>July 1 – September 30</a:t>
            </a:r>
          </a:p>
          <a:p>
            <a:pPr>
              <a:spcBef>
                <a:spcPts val="0"/>
              </a:spcBef>
              <a:spcAft>
                <a:spcPts val="400"/>
              </a:spcAft>
            </a:pPr>
            <a:r>
              <a:rPr lang="en-US" sz="1500">
                <a:solidFill>
                  <a:schemeClr val="accent6">
                    <a:lumMod val="10000"/>
                  </a:schemeClr>
                </a:solidFill>
              </a:rPr>
              <a:t>Open to 2026 President's Council qualifiers</a:t>
            </a:r>
          </a:p>
          <a:p>
            <a:pPr>
              <a:spcBef>
                <a:spcPts val="0"/>
              </a:spcBef>
              <a:spcAft>
                <a:spcPts val="400"/>
              </a:spcAft>
            </a:pPr>
            <a:r>
              <a:rPr lang="en-US" sz="1500">
                <a:solidFill>
                  <a:schemeClr val="accent6">
                    <a:lumMod val="10000"/>
                  </a:schemeClr>
                </a:solidFill>
              </a:rPr>
              <a:t>Rank in the top 100 on the paid insurance solution premium¹ leaderboard</a:t>
            </a:r>
          </a:p>
          <a:p>
            <a:pPr>
              <a:spcBef>
                <a:spcPts val="0"/>
              </a:spcBef>
              <a:spcAft>
                <a:spcPts val="400"/>
              </a:spcAft>
            </a:pPr>
            <a:r>
              <a:rPr lang="en-US" sz="1500">
                <a:solidFill>
                  <a:schemeClr val="accent6">
                    <a:lumMod val="10000"/>
                  </a:schemeClr>
                </a:solidFill>
              </a:rPr>
              <a:t>Must attend 2026 President's Council meeting to receive prize</a:t>
            </a:r>
          </a:p>
          <a:p>
            <a:pPr>
              <a:spcBef>
                <a:spcPts val="0"/>
              </a:spcBef>
              <a:spcAft>
                <a:spcPts val="400"/>
              </a:spcAft>
            </a:pPr>
            <a:r>
              <a:rPr lang="en-US" sz="1500">
                <a:solidFill>
                  <a:schemeClr val="accent6">
                    <a:lumMod val="10000"/>
                  </a:schemeClr>
                </a:solidFill>
              </a:rPr>
              <a:t>Must be prorata proactive by September 30</a:t>
            </a:r>
          </a:p>
          <a:p>
            <a:pPr>
              <a:spcBef>
                <a:spcPts val="0"/>
              </a:spcBef>
              <a:spcAft>
                <a:spcPts val="400"/>
              </a:spcAft>
            </a:pPr>
            <a:r>
              <a:rPr lang="en-US" sz="1500">
                <a:solidFill>
                  <a:schemeClr val="accent6">
                    <a:lumMod val="10000"/>
                  </a:schemeClr>
                </a:solidFill>
              </a:rPr>
              <a:t>Registered guests may attend </a:t>
            </a:r>
          </a:p>
          <a:p>
            <a:pPr>
              <a:spcBef>
                <a:spcPts val="0"/>
              </a:spcBef>
              <a:spcAft>
                <a:spcPts val="400"/>
              </a:spcAft>
            </a:pPr>
            <a:r>
              <a:rPr lang="en-US" sz="1500">
                <a:solidFill>
                  <a:schemeClr val="accent6">
                    <a:lumMod val="10000"/>
                  </a:schemeClr>
                </a:solidFill>
              </a:rPr>
              <a:t>Top 10 also qualify for a premium Balinese-inspired chickee beach hut rental*</a:t>
            </a:r>
          </a:p>
        </p:txBody>
      </p:sp>
      <p:sp>
        <p:nvSpPr>
          <p:cNvPr id="20" name="TextBox 19">
            <a:extLst>
              <a:ext uri="{FF2B5EF4-FFF2-40B4-BE49-F238E27FC236}">
                <a16:creationId xmlns:a16="http://schemas.microsoft.com/office/drawing/2014/main" id="{2B764147-2098-ADF3-8221-52E6BABB3052}"/>
              </a:ext>
            </a:extLst>
          </p:cNvPr>
          <p:cNvSpPr txBox="1"/>
          <p:nvPr/>
        </p:nvSpPr>
        <p:spPr>
          <a:xfrm>
            <a:off x="421040" y="5977124"/>
            <a:ext cx="7551868" cy="1384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tab pos="53975" algn="l"/>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pitchFamily="34" charset="0"/>
                <a:ea typeface="+mn-ea"/>
                <a:cs typeface="Arial" panose="020B0604020202020204" pitchFamily="34" charset="0"/>
              </a:rPr>
              <a:t>*Pending NYS Dept. of Financial Services approval.</a:t>
            </a:r>
          </a:p>
        </p:txBody>
      </p:sp>
      <p:pic>
        <p:nvPicPr>
          <p:cNvPr id="29" name="Picture 28">
            <a:extLst>
              <a:ext uri="{FF2B5EF4-FFF2-40B4-BE49-F238E27FC236}">
                <a16:creationId xmlns:a16="http://schemas.microsoft.com/office/drawing/2014/main" id="{00CAEEAF-7FD4-E33C-8AA9-6D62CFBABC8C}"/>
              </a:ext>
            </a:extLst>
          </p:cNvPr>
          <p:cNvPicPr>
            <a:picLocks noChangeAspect="1"/>
          </p:cNvPicPr>
          <p:nvPr/>
        </p:nvPicPr>
        <p:blipFill>
          <a:blip r:embed="rId3"/>
          <a:srcRect l="9355" t="323" r="8858" b="1"/>
          <a:stretch>
            <a:fillRect/>
          </a:stretch>
        </p:blipFill>
        <p:spPr>
          <a:xfrm>
            <a:off x="7482348" y="2449667"/>
            <a:ext cx="4249400" cy="3452592"/>
          </a:xfrm>
          <a:prstGeom prst="rect">
            <a:avLst/>
          </a:prstGeom>
        </p:spPr>
      </p:pic>
      <p:sp>
        <p:nvSpPr>
          <p:cNvPr id="3" name="Rectangle: Rounded Corners 2">
            <a:extLst>
              <a:ext uri="{FF2B5EF4-FFF2-40B4-BE49-F238E27FC236}">
                <a16:creationId xmlns:a16="http://schemas.microsoft.com/office/drawing/2014/main" id="{3BC1E20F-5DAF-AD9B-AC01-6E439B5C764A}"/>
              </a:ext>
            </a:extLst>
          </p:cNvPr>
          <p:cNvSpPr/>
          <p:nvPr/>
        </p:nvSpPr>
        <p:spPr>
          <a:xfrm>
            <a:off x="421040" y="1453800"/>
            <a:ext cx="11349918" cy="873826"/>
          </a:xfrm>
          <a:prstGeom prst="roundRect">
            <a:avLst/>
          </a:prstGeom>
          <a:solidFill>
            <a:srgbClr val="046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6" name="TextBox 5">
            <a:extLst>
              <a:ext uri="{FF2B5EF4-FFF2-40B4-BE49-F238E27FC236}">
                <a16:creationId xmlns:a16="http://schemas.microsoft.com/office/drawing/2014/main" id="{B95D15CB-2E12-1393-C16C-96C7C9A346F7}"/>
              </a:ext>
            </a:extLst>
          </p:cNvPr>
          <p:cNvSpPr txBox="1"/>
          <p:nvPr/>
        </p:nvSpPr>
        <p:spPr>
          <a:xfrm>
            <a:off x="616369" y="1478176"/>
            <a:ext cx="11115380" cy="830997"/>
          </a:xfrm>
          <a:prstGeom prst="rect">
            <a:avLst/>
          </a:prstGeom>
          <a:noFill/>
        </p:spPr>
        <p:txBody>
          <a:bodyPr wrap="square" lIns="0" tIns="91440" rIns="274320" bIns="91440">
            <a:spAutoFit/>
          </a:bodyPr>
          <a:lstStyle/>
          <a:p>
            <a:pPr marL="0" marR="0" lvl="0" indent="0" algn="l" defTabSz="914400" rtl="0" eaLnBrk="1" fontAlgn="auto" latinLnBrk="0" hangingPunct="1">
              <a:lnSpc>
                <a:spcPct val="100000"/>
              </a:lnSpc>
              <a:spcBef>
                <a:spcPts val="0"/>
              </a:spcBef>
              <a:spcAft>
                <a:spcPts val="0"/>
              </a:spcAft>
              <a:buClrTx/>
              <a:buSzTx/>
              <a:buFontTx/>
              <a:buNone/>
              <a:tabLst>
                <a:tab pos="3090863" algn="l"/>
              </a:tabLst>
              <a:defRPr/>
            </a:pP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Be among the top 100 President's Council agents on the 3Q paid insurance solution premium</a:t>
            </a:r>
            <a:r>
              <a:rPr kumimoji="0" lang="en-US" sz="1400" b="0" i="0" u="none" strike="noStrike" kern="1200" cap="none" spc="0" normalizeH="0" baseline="30000" noProof="0">
                <a:ln>
                  <a:noFill/>
                </a:ln>
                <a:solidFill>
                  <a:srgbClr val="FFFFFF"/>
                </a:solidFill>
                <a:effectLst/>
                <a:uLnTx/>
                <a:uFillTx/>
                <a:latin typeface="Arial" panose="020B0604020202020204" pitchFamily="34" charset="0"/>
                <a:ea typeface="+mn-ea"/>
                <a:cs typeface="Arial" panose="020B0604020202020204" pitchFamily="34" charset="0"/>
              </a:rPr>
              <a:t>1</a:t>
            </a: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leaderboard and qualify to receive a retail credit</a:t>
            </a:r>
            <a:r>
              <a:rPr kumimoji="0" lang="en-US" sz="1400" b="0" i="0" u="none" strike="noStrike" kern="1200" cap="none" spc="0" normalizeH="0" baseline="30000" noProof="0">
                <a:ln>
                  <a:noFill/>
                </a:ln>
                <a:solidFill>
                  <a:srgbClr val="FFFFFF"/>
                </a:solidFill>
                <a:effectLst/>
                <a:uLnTx/>
                <a:uFillTx/>
                <a:latin typeface="Arial" panose="020B0604020202020204" pitchFamily="34" charset="0"/>
                <a:ea typeface="+mn-ea"/>
                <a:cs typeface="Arial" panose="020B0604020202020204" pitchFamily="34" charset="0"/>
              </a:rPr>
              <a:t>2</a:t>
            </a:r>
            <a:r>
              <a:rPr kumimoji="0" lang="en-US" sz="1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to spend at a private New York Life shopping event at the President’s Council meeting on October 6 and 7. Top 10 will also qualify for a Balinese-inspired premium chickee hut rental on October 7!</a:t>
            </a:r>
          </a:p>
        </p:txBody>
      </p:sp>
      <p:sp>
        <p:nvSpPr>
          <p:cNvPr id="7" name="Rectangle 6">
            <a:extLst>
              <a:ext uri="{FF2B5EF4-FFF2-40B4-BE49-F238E27FC236}">
                <a16:creationId xmlns:a16="http://schemas.microsoft.com/office/drawing/2014/main" id="{83C403F3-83D5-6295-4080-070657FC873A}"/>
              </a:ext>
            </a:extLst>
          </p:cNvPr>
          <p:cNvSpPr/>
          <p:nvPr/>
        </p:nvSpPr>
        <p:spPr bwMode="ltGray">
          <a:xfrm>
            <a:off x="421040" y="4864393"/>
            <a:ext cx="5298819"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9" name="Isosceles Triangle 8">
            <a:extLst>
              <a:ext uri="{FF2B5EF4-FFF2-40B4-BE49-F238E27FC236}">
                <a16:creationId xmlns:a16="http://schemas.microsoft.com/office/drawing/2014/main" id="{EB971B6A-B9AD-98A8-F5D6-8103EDB27F96}"/>
              </a:ext>
            </a:extLst>
          </p:cNvPr>
          <p:cNvSpPr/>
          <p:nvPr/>
        </p:nvSpPr>
        <p:spPr bwMode="ltGray">
          <a:xfrm rot="5400000">
            <a:off x="4809606" y="5296216"/>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0" name="TextBox 9">
            <a:extLst>
              <a:ext uri="{FF2B5EF4-FFF2-40B4-BE49-F238E27FC236}">
                <a16:creationId xmlns:a16="http://schemas.microsoft.com/office/drawing/2014/main" id="{54D182DA-3005-F15B-287F-18D107CEB064}"/>
              </a:ext>
            </a:extLst>
          </p:cNvPr>
          <p:cNvSpPr txBox="1"/>
          <p:nvPr/>
        </p:nvSpPr>
        <p:spPr>
          <a:xfrm>
            <a:off x="616369" y="5198789"/>
            <a:ext cx="4169083" cy="43088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965"/>
                </a:solidFill>
                <a:effectLst/>
                <a:uLnTx/>
                <a:uFillTx/>
                <a:latin typeface="Arial"/>
                <a:ea typeface="+mn-ea"/>
                <a:cs typeface="+mn-cs"/>
              </a:rPr>
              <a:t>Scan the QR code for complete rules, requirements, qualifying products, and official incentive details.</a:t>
            </a:r>
            <a:endParaRPr kumimoji="0" lang="en-US" sz="1400" b="0" i="0" u="none" strike="noStrike" kern="1200" cap="none" spc="0" normalizeH="0" baseline="0" noProof="0">
              <a:ln>
                <a:noFill/>
              </a:ln>
              <a:solidFill>
                <a:srgbClr val="7FB9FF"/>
              </a:solidFill>
              <a:effectLst/>
              <a:uLnTx/>
              <a:uFillTx/>
              <a:latin typeface="Arial"/>
              <a:ea typeface="+mn-ea"/>
              <a:cs typeface="+mn-cs"/>
            </a:endParaRPr>
          </a:p>
        </p:txBody>
      </p:sp>
      <p:pic>
        <p:nvPicPr>
          <p:cNvPr id="11" name="Picture 10">
            <a:extLst>
              <a:ext uri="{FF2B5EF4-FFF2-40B4-BE49-F238E27FC236}">
                <a16:creationId xmlns:a16="http://schemas.microsoft.com/office/drawing/2014/main" id="{7253CFC5-DBBC-B9BE-22A6-BBC2EB72BD2F}"/>
              </a:ext>
            </a:extLst>
          </p:cNvPr>
          <p:cNvPicPr>
            <a:picLocks noChangeAspect="1"/>
          </p:cNvPicPr>
          <p:nvPr/>
        </p:nvPicPr>
        <p:blipFill>
          <a:blip r:embed="rId4"/>
          <a:srcRect/>
          <a:stretch/>
        </p:blipFill>
        <p:spPr>
          <a:xfrm>
            <a:off x="5184434" y="4864394"/>
            <a:ext cx="1099678" cy="1099678"/>
          </a:xfrm>
          <a:prstGeom prst="rect">
            <a:avLst/>
          </a:prstGeom>
        </p:spPr>
      </p:pic>
    </p:spTree>
    <p:extLst>
      <p:ext uri="{BB962C8B-B14F-4D97-AF65-F5344CB8AC3E}">
        <p14:creationId xmlns:p14="http://schemas.microsoft.com/office/powerpoint/2010/main" val="2168006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6C9DD-8A79-FF8B-FA75-508853B6789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7D27E53-0DE5-AA05-D656-17D55C5D0C03}"/>
              </a:ext>
            </a:extLst>
          </p:cNvPr>
          <p:cNvSpPr/>
          <p:nvPr/>
        </p:nvSpPr>
        <p:spPr>
          <a:xfrm rot="16200000">
            <a:off x="1774267" y="250266"/>
            <a:ext cx="2952631" cy="5690833"/>
          </a:xfrm>
          <a:prstGeom prst="rect">
            <a:avLst/>
          </a:pr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2" name="Title 1">
            <a:extLst>
              <a:ext uri="{FF2B5EF4-FFF2-40B4-BE49-F238E27FC236}">
                <a16:creationId xmlns:a16="http://schemas.microsoft.com/office/drawing/2014/main" id="{2615E96C-E714-9AFF-4602-6C11C184F34E}"/>
              </a:ext>
            </a:extLst>
          </p:cNvPr>
          <p:cNvSpPr>
            <a:spLocks noGrp="1"/>
          </p:cNvSpPr>
          <p:nvPr>
            <p:ph type="title"/>
          </p:nvPr>
        </p:nvSpPr>
        <p:spPr>
          <a:xfrm>
            <a:off x="421042" y="503661"/>
            <a:ext cx="11365791" cy="544803"/>
          </a:xfrm>
        </p:spPr>
        <p:txBody>
          <a:bodyPr/>
          <a:lstStyle/>
          <a:p>
            <a:r>
              <a:rPr lang="en-US" sz="3100"/>
              <a:t>Awards Your Way</a:t>
            </a:r>
          </a:p>
        </p:txBody>
      </p:sp>
      <p:sp>
        <p:nvSpPr>
          <p:cNvPr id="3" name="Slide Number Placeholder 5">
            <a:extLst>
              <a:ext uri="{FF2B5EF4-FFF2-40B4-BE49-F238E27FC236}">
                <a16:creationId xmlns:a16="http://schemas.microsoft.com/office/drawing/2014/main" id="{5216B0BA-72FC-336B-4D70-D484820F3E21}"/>
              </a:ext>
            </a:extLst>
          </p:cNvPr>
          <p:cNvSpPr txBox="1">
            <a:spLocks/>
          </p:cNvSpPr>
          <p:nvPr/>
        </p:nvSpPr>
        <p:spPr>
          <a:xfrm>
            <a:off x="11590192" y="6232230"/>
            <a:ext cx="430079" cy="365125"/>
          </a:xfrm>
          <a:prstGeom prst="rect">
            <a:avLst/>
          </a:prstGeom>
        </p:spPr>
        <p:txBody>
          <a:bodyPr vert="horz" lIns="0" tIns="0" rIns="0" bIns="0" rtlCol="0" anchor="ctr" anchorCtr="0">
            <a:noAutofit/>
          </a:bodyPr>
          <a:lstStyle>
            <a:defPPr>
              <a:defRPr lang="en-US"/>
            </a:defPPr>
            <a:lvl1pPr marL="0" algn="r" defTabSz="914400" rtl="0" eaLnBrk="1" latinLnBrk="0" hangingPunct="1">
              <a:defRPr sz="800" kern="1200">
                <a:solidFill>
                  <a:srgbClr val="000A62"/>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8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10" name="TextBox 9">
            <a:extLst>
              <a:ext uri="{FF2B5EF4-FFF2-40B4-BE49-F238E27FC236}">
                <a16:creationId xmlns:a16="http://schemas.microsoft.com/office/drawing/2014/main" id="{4029D518-8426-7022-E34F-7F359B222869}"/>
              </a:ext>
            </a:extLst>
          </p:cNvPr>
          <p:cNvSpPr txBox="1"/>
          <p:nvPr/>
        </p:nvSpPr>
        <p:spPr>
          <a:xfrm>
            <a:off x="519981" y="1800463"/>
            <a:ext cx="5450513" cy="2626360"/>
          </a:xfrm>
          <a:prstGeom prst="rect">
            <a:avLst/>
          </a:prstGeom>
          <a:noFill/>
        </p:spPr>
        <p:txBody>
          <a:bodyPr wrap="square" lIns="0" tIns="0" rIns="0" bIns="0">
            <a:spAutoFit/>
          </a:bodyPr>
          <a:lstStyle/>
          <a:p>
            <a:pPr marL="225425" marR="0" lvl="0" indent="-2254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Open to 2026 Council agents (QC &amp; higher)</a:t>
            </a:r>
            <a:r>
              <a:rPr kumimoji="0" lang="en-US" sz="1800" b="0" i="0" u="none" strike="noStrike" kern="1200" cap="none" spc="0" normalizeH="0" baseline="3000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1</a:t>
            </a:r>
          </a:p>
          <a:p>
            <a:pPr marL="225425" marR="0" lvl="0" indent="-2254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8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Qualification period: </a:t>
            </a:r>
            <a:r>
              <a:rPr kumimoji="0" lang="en-US" sz="18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July 1 – December 31, 2026</a:t>
            </a:r>
          </a:p>
          <a:p>
            <a:pPr marL="225425" marR="0" lvl="0" indent="-2254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A digital rewards marketplace where agents </a:t>
            </a:r>
            <a:br>
              <a:rPr kumimoji="0" lang="en-US" sz="18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br>
            <a:r>
              <a:rPr kumimoji="0" lang="en-US" sz="18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choose from travel, merchandise, gift cards, tickets, and experiences.</a:t>
            </a:r>
          </a:p>
          <a:p>
            <a:pPr marL="225425" marR="0" lvl="0" indent="-2254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Points are awarded through insurance production, growth and designations.</a:t>
            </a:r>
          </a:p>
          <a:p>
            <a:pPr marL="225425" marR="0" lvl="0" indent="-225425"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Agents must opt in by September 30, 2026.</a:t>
            </a:r>
          </a:p>
        </p:txBody>
      </p:sp>
      <p:sp>
        <p:nvSpPr>
          <p:cNvPr id="19" name="Content Placeholder 3">
            <a:extLst>
              <a:ext uri="{FF2B5EF4-FFF2-40B4-BE49-F238E27FC236}">
                <a16:creationId xmlns:a16="http://schemas.microsoft.com/office/drawing/2014/main" id="{4EB1A58F-11F3-9AE8-E3CD-37AE03FEE886}"/>
              </a:ext>
            </a:extLst>
          </p:cNvPr>
          <p:cNvSpPr txBox="1">
            <a:spLocks/>
          </p:cNvSpPr>
          <p:nvPr/>
        </p:nvSpPr>
        <p:spPr>
          <a:xfrm>
            <a:off x="421042" y="1178214"/>
            <a:ext cx="11310706" cy="5448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2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21" name="TextBox 20">
            <a:extLst>
              <a:ext uri="{FF2B5EF4-FFF2-40B4-BE49-F238E27FC236}">
                <a16:creationId xmlns:a16="http://schemas.microsoft.com/office/drawing/2014/main" id="{7E450849-EFAA-9F5D-A26F-D85D81CDBAF4}"/>
              </a:ext>
            </a:extLst>
          </p:cNvPr>
          <p:cNvSpPr txBox="1"/>
          <p:nvPr/>
        </p:nvSpPr>
        <p:spPr>
          <a:xfrm>
            <a:off x="387989" y="1034862"/>
            <a:ext cx="10375490"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962"/>
                </a:solidFill>
                <a:effectLst/>
                <a:uLnTx/>
                <a:uFillTx/>
                <a:latin typeface="Georgia" panose="02040502050405020303"/>
                <a:ea typeface="+mn-ea"/>
                <a:cs typeface="+mn-cs"/>
              </a:rPr>
              <a:t>A new choice-based incentive program for Council agents</a:t>
            </a:r>
          </a:p>
        </p:txBody>
      </p:sp>
      <p:sp>
        <p:nvSpPr>
          <p:cNvPr id="5" name="Rectangle 4">
            <a:extLst>
              <a:ext uri="{FF2B5EF4-FFF2-40B4-BE49-F238E27FC236}">
                <a16:creationId xmlns:a16="http://schemas.microsoft.com/office/drawing/2014/main" id="{91F89F75-762A-7FEB-15EE-E28BCA75A464}"/>
              </a:ext>
            </a:extLst>
          </p:cNvPr>
          <p:cNvSpPr/>
          <p:nvPr/>
        </p:nvSpPr>
        <p:spPr bwMode="ltGray">
          <a:xfrm>
            <a:off x="421040" y="4741051"/>
            <a:ext cx="4999417"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8" name="Isosceles Triangle 7">
            <a:extLst>
              <a:ext uri="{FF2B5EF4-FFF2-40B4-BE49-F238E27FC236}">
                <a16:creationId xmlns:a16="http://schemas.microsoft.com/office/drawing/2014/main" id="{71061361-35FD-18EC-2833-FF8D86DCC48C}"/>
              </a:ext>
            </a:extLst>
          </p:cNvPr>
          <p:cNvSpPr/>
          <p:nvPr/>
        </p:nvSpPr>
        <p:spPr bwMode="ltGray">
          <a:xfrm rot="5400000">
            <a:off x="4392418" y="5172874"/>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9" name="TextBox 8">
            <a:extLst>
              <a:ext uri="{FF2B5EF4-FFF2-40B4-BE49-F238E27FC236}">
                <a16:creationId xmlns:a16="http://schemas.microsoft.com/office/drawing/2014/main" id="{3116A1DF-FFF3-B2D8-947E-09F555F83F0E}"/>
              </a:ext>
            </a:extLst>
          </p:cNvPr>
          <p:cNvSpPr txBox="1"/>
          <p:nvPr/>
        </p:nvSpPr>
        <p:spPr>
          <a:xfrm>
            <a:off x="731521" y="4967725"/>
            <a:ext cx="3420931" cy="64633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965"/>
                </a:solidFill>
                <a:effectLst/>
                <a:uLnTx/>
                <a:uFillTx/>
                <a:latin typeface="Arial"/>
                <a:ea typeface="+mn-ea"/>
                <a:cs typeface="+mn-cs"/>
              </a:rPr>
              <a:t>Scan the QR code to learn more about the new </a:t>
            </a:r>
            <a:r>
              <a:rPr kumimoji="0" lang="en-US" sz="1400" b="1" i="0" u="none" strike="noStrike" kern="1200" cap="none" spc="0" normalizeH="0" baseline="0" noProof="0">
                <a:ln>
                  <a:noFill/>
                </a:ln>
                <a:solidFill>
                  <a:srgbClr val="000965"/>
                </a:solidFill>
                <a:effectLst/>
                <a:uLnTx/>
                <a:uFillTx/>
                <a:latin typeface="Arial"/>
                <a:ea typeface="+mn-ea"/>
                <a:cs typeface="+mn-cs"/>
              </a:rPr>
              <a:t>Awards Your Way</a:t>
            </a:r>
            <a:r>
              <a:rPr kumimoji="0" lang="en-US" sz="1400" b="0" i="0" u="none" strike="noStrike" kern="1200" cap="none" spc="0" normalizeH="0" baseline="0" noProof="0">
                <a:ln>
                  <a:noFill/>
                </a:ln>
                <a:solidFill>
                  <a:srgbClr val="000965"/>
                </a:solidFill>
                <a:effectLst/>
                <a:uLnTx/>
                <a:uFillTx/>
                <a:latin typeface="Arial"/>
                <a:ea typeface="+mn-ea"/>
                <a:cs typeface="+mn-cs"/>
              </a:rPr>
              <a:t> recognition program on Info Central.</a:t>
            </a:r>
            <a:endParaRPr kumimoji="0" lang="en-US" sz="1400" b="0" i="0" u="none" strike="noStrike" kern="1200" cap="none" spc="0" normalizeH="0" baseline="0" noProof="0">
              <a:ln>
                <a:noFill/>
              </a:ln>
              <a:solidFill>
                <a:srgbClr val="7FB9FF"/>
              </a:solidFill>
              <a:effectLst/>
              <a:uLnTx/>
              <a:uFillTx/>
              <a:latin typeface="Arial"/>
              <a:ea typeface="+mn-ea"/>
              <a:cs typeface="+mn-cs"/>
            </a:endParaRPr>
          </a:p>
        </p:txBody>
      </p:sp>
      <p:pic>
        <p:nvPicPr>
          <p:cNvPr id="11" name="Picture 10">
            <a:extLst>
              <a:ext uri="{FF2B5EF4-FFF2-40B4-BE49-F238E27FC236}">
                <a16:creationId xmlns:a16="http://schemas.microsoft.com/office/drawing/2014/main" id="{7C783581-AB64-01DE-7086-97220B16262E}"/>
              </a:ext>
            </a:extLst>
          </p:cNvPr>
          <p:cNvPicPr>
            <a:picLocks noChangeAspect="1"/>
          </p:cNvPicPr>
          <p:nvPr/>
        </p:nvPicPr>
        <p:blipFill>
          <a:blip r:embed="rId3"/>
          <a:srcRect/>
          <a:stretch/>
        </p:blipFill>
        <p:spPr>
          <a:xfrm>
            <a:off x="4998743" y="4742262"/>
            <a:ext cx="1097256" cy="1097256"/>
          </a:xfrm>
          <a:prstGeom prst="rect">
            <a:avLst/>
          </a:prstGeom>
        </p:spPr>
      </p:pic>
      <p:pic>
        <p:nvPicPr>
          <p:cNvPr id="16" name="Picture 15">
            <a:extLst>
              <a:ext uri="{FF2B5EF4-FFF2-40B4-BE49-F238E27FC236}">
                <a16:creationId xmlns:a16="http://schemas.microsoft.com/office/drawing/2014/main" id="{8BE8B8F6-CD72-D826-1243-874EC1D0366B}"/>
              </a:ext>
            </a:extLst>
          </p:cNvPr>
          <p:cNvPicPr>
            <a:picLocks noChangeAspect="1"/>
          </p:cNvPicPr>
          <p:nvPr/>
        </p:nvPicPr>
        <p:blipFill>
          <a:blip r:embed="rId4"/>
          <a:stretch>
            <a:fillRect/>
          </a:stretch>
        </p:blipFill>
        <p:spPr>
          <a:xfrm>
            <a:off x="6185609" y="1619369"/>
            <a:ext cx="5625254" cy="4218940"/>
          </a:xfrm>
          <a:prstGeom prst="rect">
            <a:avLst/>
          </a:prstGeom>
        </p:spPr>
      </p:pic>
      <p:sp>
        <p:nvSpPr>
          <p:cNvPr id="4" name="TextBox 3">
            <a:extLst>
              <a:ext uri="{FF2B5EF4-FFF2-40B4-BE49-F238E27FC236}">
                <a16:creationId xmlns:a16="http://schemas.microsoft.com/office/drawing/2014/main" id="{F957ED26-F7E9-921D-D2AC-8F729B685821}"/>
              </a:ext>
            </a:extLst>
          </p:cNvPr>
          <p:cNvSpPr txBox="1"/>
          <p:nvPr/>
        </p:nvSpPr>
        <p:spPr>
          <a:xfrm>
            <a:off x="2287557" y="6232230"/>
            <a:ext cx="7365874"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30000" noProof="0">
                <a:ln>
                  <a:noFill/>
                </a:ln>
                <a:solidFill>
                  <a:srgbClr val="E2DFDD">
                    <a:lumMod val="50000"/>
                  </a:srgbClr>
                </a:solidFill>
                <a:effectLst/>
                <a:uLnTx/>
                <a:uFillTx/>
                <a:latin typeface="Arial" panose="020B0604020202020204" pitchFamily="34" charset="0"/>
                <a:ea typeface="+mn-ea"/>
                <a:cs typeface="Arial" panose="020B0604020202020204" pitchFamily="34" charset="0"/>
              </a:rPr>
              <a:t>1</a:t>
            </a:r>
            <a:r>
              <a:rPr kumimoji="0" lang="en-US" sz="1000" b="0" i="0" u="none" strike="noStrike" kern="1200" cap="none" spc="0" normalizeH="0" baseline="0" noProof="0">
                <a:ln>
                  <a:noFill/>
                </a:ln>
                <a:solidFill>
                  <a:srgbClr val="E2DFDD">
                    <a:lumMod val="50000"/>
                  </a:srgbClr>
                </a:solidFill>
                <a:effectLst/>
                <a:uLnTx/>
                <a:uFillTx/>
                <a:latin typeface="Arial" panose="020B0604020202020204" pitchFamily="34" charset="0"/>
                <a:ea typeface="+mn-ea"/>
                <a:cs typeface="Arial" panose="020B0604020202020204" pitchFamily="34" charset="0"/>
              </a:rPr>
              <a:t>Agents eligible to enroll in the Life and Annuity Expense Allowance Program must enroll by July 31, 2026.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50000"/>
                  </a:srgbClr>
                </a:solidFill>
                <a:effectLst/>
                <a:uLnTx/>
                <a:uFillTx/>
                <a:latin typeface="Arial" panose="020B0604020202020204" pitchFamily="34" charset="0"/>
                <a:ea typeface="+mn-ea"/>
                <a:cs typeface="Arial" panose="020B0604020202020204" pitchFamily="34" charset="0"/>
              </a:rPr>
              <a:t>Pending NYS Dept. of Financial Services approval. </a:t>
            </a:r>
          </a:p>
        </p:txBody>
      </p:sp>
    </p:spTree>
    <p:extLst>
      <p:ext uri="{BB962C8B-B14F-4D97-AF65-F5344CB8AC3E}">
        <p14:creationId xmlns:p14="http://schemas.microsoft.com/office/powerpoint/2010/main" val="1632842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1AC1F-07D1-BD50-C780-F6C946DBE0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4F99A7-5EEB-4B17-6D6A-D5CDB70B194E}"/>
              </a:ext>
            </a:extLst>
          </p:cNvPr>
          <p:cNvSpPr>
            <a:spLocks noGrp="1"/>
          </p:cNvSpPr>
          <p:nvPr>
            <p:ph type="title"/>
          </p:nvPr>
        </p:nvSpPr>
        <p:spPr/>
        <p:txBody>
          <a:bodyPr/>
          <a:lstStyle/>
          <a:p>
            <a:r>
              <a:rPr lang="en-US" sz="3100"/>
              <a:t>EWL Momentum Maker continues through July 31</a:t>
            </a:r>
          </a:p>
        </p:txBody>
      </p:sp>
      <p:sp>
        <p:nvSpPr>
          <p:cNvPr id="4" name="Content Placeholder 3">
            <a:extLst>
              <a:ext uri="{FF2B5EF4-FFF2-40B4-BE49-F238E27FC236}">
                <a16:creationId xmlns:a16="http://schemas.microsoft.com/office/drawing/2014/main" id="{18FD62EF-B060-D06B-2069-8ED7D925544D}"/>
              </a:ext>
            </a:extLst>
          </p:cNvPr>
          <p:cNvSpPr>
            <a:spLocks noGrp="1"/>
          </p:cNvSpPr>
          <p:nvPr>
            <p:ph sz="quarter" idx="11"/>
          </p:nvPr>
        </p:nvSpPr>
        <p:spPr>
          <a:xfrm>
            <a:off x="421042" y="1178214"/>
            <a:ext cx="11310706" cy="365125"/>
          </a:xfrm>
        </p:spPr>
        <p:txBody>
          <a:bodyPr/>
          <a:lstStyle/>
          <a:p>
            <a:r>
              <a:rPr lang="en-US" sz="2200"/>
              <a:t>Qualify for up to $3,000 for Employee’s Whole Life (EWL) new group activity!</a:t>
            </a:r>
          </a:p>
        </p:txBody>
      </p:sp>
      <p:sp>
        <p:nvSpPr>
          <p:cNvPr id="5" name="Slide Number Placeholder 2">
            <a:extLst>
              <a:ext uri="{FF2B5EF4-FFF2-40B4-BE49-F238E27FC236}">
                <a16:creationId xmlns:a16="http://schemas.microsoft.com/office/drawing/2014/main" id="{B0181890-6163-A97C-56AB-76559945928F}"/>
              </a:ext>
            </a:extLst>
          </p:cNvPr>
          <p:cNvSpPr>
            <a:spLocks noGrp="1"/>
          </p:cNvSpPr>
          <p:nvPr>
            <p:ph type="sldNum" sz="quarter" idx="10"/>
          </p:nvPr>
        </p:nvSpPr>
        <p:spPr>
          <a:xfrm>
            <a:off x="11579107" y="6232230"/>
            <a:ext cx="430079" cy="365125"/>
          </a:xfrm>
        </p:spPr>
        <p:txBody>
          <a:bodyPr anchor="ctr" anchorCtr="0"/>
          <a:lstStyle/>
          <a:p>
            <a:pPr marL="0" marR="0" lvl="0" indent="0" algn="r" defTabSz="914400" rtl="0" eaLnBrk="1" fontAlgn="auto" latinLnBrk="0" hangingPunct="1">
              <a:lnSpc>
                <a:spcPct val="100000"/>
              </a:lnSpc>
              <a:spcBef>
                <a:spcPts val="0"/>
              </a:spcBef>
              <a:spcAft>
                <a:spcPts val="0"/>
              </a:spcAft>
              <a:buClrTx/>
              <a:buSzTx/>
              <a:buFontTx/>
              <a:buNone/>
              <a:tabLst/>
              <a:defRPr/>
            </a:pPr>
            <a:fld id="{A1371F83-EA4D-3B47-99B9-95D90583DC1D}" type="slidenum">
              <a:rPr kumimoji="0" lang="en-US" sz="800" b="0" i="0" u="none" strike="noStrike" kern="1200" cap="none" spc="0" normalizeH="0" baseline="0" noProof="0" smtClean="0">
                <a:ln>
                  <a:noFill/>
                </a:ln>
                <a:solidFill>
                  <a:srgbClr val="000A62"/>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endParaRPr>
          </a:p>
        </p:txBody>
      </p:sp>
      <p:sp>
        <p:nvSpPr>
          <p:cNvPr id="15" name="Rectangle: Rounded Corners 14">
            <a:extLst>
              <a:ext uri="{FF2B5EF4-FFF2-40B4-BE49-F238E27FC236}">
                <a16:creationId xmlns:a16="http://schemas.microsoft.com/office/drawing/2014/main" id="{6AEBD3F9-722A-32DD-9322-E4C6508C6727}"/>
              </a:ext>
            </a:extLst>
          </p:cNvPr>
          <p:cNvSpPr/>
          <p:nvPr/>
        </p:nvSpPr>
        <p:spPr>
          <a:xfrm>
            <a:off x="8133056" y="1699298"/>
            <a:ext cx="3598692" cy="4335597"/>
          </a:xfrm>
          <a:prstGeom prst="roundRect">
            <a:avLst>
              <a:gd name="adj" fmla="val 2282"/>
            </a:avLst>
          </a:prstGeom>
          <a:solidFill>
            <a:srgbClr val="E3E0D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pic>
        <p:nvPicPr>
          <p:cNvPr id="16" name="Picture 15">
            <a:extLst>
              <a:ext uri="{FF2B5EF4-FFF2-40B4-BE49-F238E27FC236}">
                <a16:creationId xmlns:a16="http://schemas.microsoft.com/office/drawing/2014/main" id="{1F669C56-D9B2-29BA-4546-47DC7E164C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35114" y="3853629"/>
            <a:ext cx="1718604" cy="594026"/>
          </a:xfrm>
          <a:prstGeom prst="rect">
            <a:avLst/>
          </a:prstGeom>
        </p:spPr>
      </p:pic>
      <p:pic>
        <p:nvPicPr>
          <p:cNvPr id="17" name="Picture 16">
            <a:extLst>
              <a:ext uri="{FF2B5EF4-FFF2-40B4-BE49-F238E27FC236}">
                <a16:creationId xmlns:a16="http://schemas.microsoft.com/office/drawing/2014/main" id="{7A75FAE8-0915-9D00-948F-CA5DAF5056F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48833" y="4868985"/>
            <a:ext cx="997840" cy="997840"/>
          </a:xfrm>
          <a:prstGeom prst="rect">
            <a:avLst/>
          </a:prstGeom>
        </p:spPr>
      </p:pic>
      <p:pic>
        <p:nvPicPr>
          <p:cNvPr id="18" name="Picture 17">
            <a:extLst>
              <a:ext uri="{FF2B5EF4-FFF2-40B4-BE49-F238E27FC236}">
                <a16:creationId xmlns:a16="http://schemas.microsoft.com/office/drawing/2014/main" id="{044823B7-A5B5-44B7-0A3B-75000F2594F4}"/>
              </a:ext>
            </a:extLst>
          </p:cNvPr>
          <p:cNvPicPr>
            <a:picLocks noChangeAspect="1"/>
          </p:cNvPicPr>
          <p:nvPr/>
        </p:nvPicPr>
        <p:blipFill>
          <a:blip r:embed="rId5" cstate="print">
            <a:extLst>
              <a:ext uri="{28A0092B-C50C-407E-A947-70E740481C1C}">
                <a14:useLocalDpi xmlns:a14="http://schemas.microsoft.com/office/drawing/2010/main" val="0"/>
              </a:ext>
            </a:extLst>
          </a:blip>
          <a:srcRect l="11594" t="13376" r="5173" b="16940"/>
          <a:stretch>
            <a:fillRect/>
          </a:stretch>
        </p:blipFill>
        <p:spPr>
          <a:xfrm>
            <a:off x="8326622" y="1896216"/>
            <a:ext cx="3220051" cy="1815244"/>
          </a:xfrm>
          <a:prstGeom prst="rect">
            <a:avLst/>
          </a:prstGeom>
        </p:spPr>
      </p:pic>
      <p:sp>
        <p:nvSpPr>
          <p:cNvPr id="19" name="TextBox 18">
            <a:extLst>
              <a:ext uri="{FF2B5EF4-FFF2-40B4-BE49-F238E27FC236}">
                <a16:creationId xmlns:a16="http://schemas.microsoft.com/office/drawing/2014/main" id="{49EC2F8D-D5B2-98F0-BC6D-FDFE56012BCF}"/>
              </a:ext>
            </a:extLst>
          </p:cNvPr>
          <p:cNvSpPr txBox="1"/>
          <p:nvPr/>
        </p:nvSpPr>
        <p:spPr>
          <a:xfrm>
            <a:off x="8335114" y="4830233"/>
            <a:ext cx="1920662" cy="7386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A62"/>
                </a:solidFill>
                <a:effectLst/>
                <a:uLnTx/>
                <a:uFillTx/>
                <a:latin typeface="Arial" panose="020B0604020202020204" pitchFamily="34" charset="0"/>
                <a:ea typeface="+mn-ea"/>
                <a:cs typeface="Arial" panose="020B0604020202020204" pitchFamily="34" charset="0"/>
              </a:rPr>
              <a:t>Scan the QR code to learn more about the EWL Momentum Maker sales incentive on Info Central.</a:t>
            </a:r>
          </a:p>
        </p:txBody>
      </p:sp>
      <p:sp>
        <p:nvSpPr>
          <p:cNvPr id="20" name="Isosceles Triangle 19">
            <a:extLst>
              <a:ext uri="{FF2B5EF4-FFF2-40B4-BE49-F238E27FC236}">
                <a16:creationId xmlns:a16="http://schemas.microsoft.com/office/drawing/2014/main" id="{0631A962-EFDF-B651-30BB-1610468F747D}"/>
              </a:ext>
            </a:extLst>
          </p:cNvPr>
          <p:cNvSpPr/>
          <p:nvPr/>
        </p:nvSpPr>
        <p:spPr>
          <a:xfrm rot="5400000">
            <a:off x="10241796" y="5112189"/>
            <a:ext cx="202711" cy="174751"/>
          </a:xfrm>
          <a:prstGeom prst="triangle">
            <a:avLst/>
          </a:prstGeom>
          <a:solidFill>
            <a:srgbClr val="046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cxnSp>
        <p:nvCxnSpPr>
          <p:cNvPr id="21" name="Straight Connector 20">
            <a:extLst>
              <a:ext uri="{FF2B5EF4-FFF2-40B4-BE49-F238E27FC236}">
                <a16:creationId xmlns:a16="http://schemas.microsoft.com/office/drawing/2014/main" id="{5E30A220-175F-AE68-4F18-520B95D560E1}"/>
              </a:ext>
            </a:extLst>
          </p:cNvPr>
          <p:cNvCxnSpPr>
            <a:cxnSpLocks/>
          </p:cNvCxnSpPr>
          <p:nvPr/>
        </p:nvCxnSpPr>
        <p:spPr>
          <a:xfrm>
            <a:off x="8326622" y="4579409"/>
            <a:ext cx="3211559" cy="0"/>
          </a:xfrm>
          <a:prstGeom prst="line">
            <a:avLst/>
          </a:prstGeom>
          <a:ln w="15875">
            <a:solidFill>
              <a:srgbClr val="0468FF"/>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0B6E389D-63A9-F36D-6A4C-FA413BC92F64}"/>
              </a:ext>
            </a:extLst>
          </p:cNvPr>
          <p:cNvSpPr txBox="1"/>
          <p:nvPr/>
        </p:nvSpPr>
        <p:spPr>
          <a:xfrm>
            <a:off x="626269" y="1703002"/>
            <a:ext cx="7288021" cy="2908681"/>
          </a:xfrm>
          <a:prstGeom prst="rect">
            <a:avLst/>
          </a:prstGeom>
          <a:noFill/>
        </p:spPr>
        <p:txBody>
          <a:bodyPr wrap="square" lIns="0" tIns="0" rIns="0" bIns="0">
            <a:spAutoFit/>
          </a:bodyPr>
          <a:lstStyle/>
          <a:p>
            <a:pPr marL="231775" marR="0" lvl="0" indent="-231775" algn="l" defTabSz="914400" rtl="0" eaLnBrk="1" fontAlgn="auto" latinLnBrk="0" hangingPunct="1">
              <a:lnSpc>
                <a:spcPct val="105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Agents will receive a </a:t>
            </a:r>
            <a: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$600 credit </a:t>
            </a: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for each EWL group that receives an arrangement number between </a:t>
            </a:r>
            <a: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May 1 and July 31, capped at 5 new groups</a:t>
            </a:r>
          </a:p>
          <a:p>
            <a:pPr marL="231775" marR="0" lvl="0" indent="-231775" algn="l" defTabSz="914400" rtl="0" eaLnBrk="1" fontAlgn="auto" latinLnBrk="0" hangingPunct="1">
              <a:lnSpc>
                <a:spcPct val="105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Dormant SI groups that convert to GI between May 1 – July 31, 2026, will be eligible</a:t>
            </a:r>
          </a:p>
          <a:p>
            <a:pPr marL="231775" marR="0" lvl="0" indent="-231775" algn="l" defTabSz="914400" rtl="0" eaLnBrk="1" fontAlgn="auto" latinLnBrk="0" hangingPunct="1">
              <a:lnSpc>
                <a:spcPct val="105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Group credit is awarded to the primary agent of record </a:t>
            </a:r>
          </a:p>
          <a:p>
            <a:pPr marL="231775" marR="0" lvl="0" indent="-231775" algn="l" defTabSz="914400" rtl="0" eaLnBrk="1" fontAlgn="auto" latinLnBrk="0" hangingPunct="1">
              <a:lnSpc>
                <a:spcPct val="105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Only groups that enroll and </a:t>
            </a:r>
            <a: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meet EWL application strength requirements by 9/30/26 </a:t>
            </a: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will contribute to an agent’s EWL new group count </a:t>
            </a:r>
          </a:p>
          <a:p>
            <a:pPr marL="231775" marR="0" lvl="0" indent="-231775" algn="l" defTabSz="914400" rtl="0" eaLnBrk="1" fontAlgn="auto" latinLnBrk="0" hangingPunct="1">
              <a:lnSpc>
                <a:spcPct val="105000"/>
              </a:lnSpc>
              <a:spcBef>
                <a:spcPts val="0"/>
              </a:spcBef>
              <a:spcAft>
                <a:spcPts val="600"/>
              </a:spcAft>
              <a:buClrTx/>
              <a:buSzTx/>
              <a:buFont typeface="Arial" panose="020B0604020202020204" pitchFamily="34" charset="0"/>
              <a:buChar char="•"/>
              <a:tabLst/>
              <a:defRPr/>
            </a:pPr>
            <a: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Growth Requirements </a:t>
            </a:r>
            <a:b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b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Based on EWL new group activity during the prior-year period (May 1 – July 31, 2025)</a:t>
            </a:r>
          </a:p>
          <a:p>
            <a:pPr marL="914400" marR="0" lvl="1" indent="0" algn="l" defTabSz="914400" rtl="0" eaLnBrk="1" fontAlgn="auto" latinLnBrk="0" hangingPunct="1">
              <a:lnSpc>
                <a:spcPct val="105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0 new groups:</a:t>
            </a: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 Must establish a minimum of 2 new groups</a:t>
            </a:r>
          </a:p>
          <a:p>
            <a:pPr marL="914400" marR="0" lvl="1" indent="0" algn="l" defTabSz="914400" rtl="0" eaLnBrk="1" fontAlgn="auto" latinLnBrk="0" hangingPunct="1">
              <a:lnSpc>
                <a:spcPct val="105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1–4 new groups:</a:t>
            </a: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 Must establish at least 1 additional group</a:t>
            </a:r>
          </a:p>
          <a:p>
            <a:pPr marL="914400" marR="0" lvl="1" indent="0" algn="l" defTabSz="914400" rtl="0" eaLnBrk="1" fontAlgn="auto" latinLnBrk="0" hangingPunct="1">
              <a:lnSpc>
                <a:spcPct val="105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5+ new groups: </a:t>
            </a:r>
            <a:r>
              <a:rPr kumimoji="0" lang="en-US" sz="1400" b="0" i="0" u="none" strike="noStrike" kern="1200" cap="none" spc="0" normalizeH="0" baseline="0" noProof="0">
                <a:ln>
                  <a:noFill/>
                </a:ln>
                <a:solidFill>
                  <a:srgbClr val="E2DFDD">
                    <a:lumMod val="10000"/>
                  </a:srgbClr>
                </a:solidFill>
                <a:effectLst/>
                <a:uLnTx/>
                <a:uFillTx/>
                <a:latin typeface="Arial" panose="020B0604020202020204" pitchFamily="34" charset="0"/>
                <a:ea typeface="+mn-ea"/>
                <a:cs typeface="Arial" panose="020B0604020202020204" pitchFamily="34" charset="0"/>
              </a:rPr>
              <a:t>Must establish 5 new groups during the incentive period</a:t>
            </a:r>
          </a:p>
        </p:txBody>
      </p:sp>
      <p:sp>
        <p:nvSpPr>
          <p:cNvPr id="27" name="Rectangle: Rounded Corners 26">
            <a:extLst>
              <a:ext uri="{FF2B5EF4-FFF2-40B4-BE49-F238E27FC236}">
                <a16:creationId xmlns:a16="http://schemas.microsoft.com/office/drawing/2014/main" id="{F08ADA52-A0D9-8663-A457-B833CE89E572}"/>
              </a:ext>
            </a:extLst>
          </p:cNvPr>
          <p:cNvSpPr/>
          <p:nvPr/>
        </p:nvSpPr>
        <p:spPr>
          <a:xfrm>
            <a:off x="626269" y="4811070"/>
            <a:ext cx="7288020" cy="1223826"/>
          </a:xfrm>
          <a:prstGeom prst="roundRect">
            <a:avLst>
              <a:gd name="adj" fmla="val 8721"/>
            </a:avLst>
          </a:prstGeom>
          <a:solidFill>
            <a:srgbClr val="0468FF"/>
          </a:solidFill>
          <a:ln w="19050" cap="flat" cmpd="sng" algn="ctr">
            <a:no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28" name="TextBox 27">
            <a:extLst>
              <a:ext uri="{FF2B5EF4-FFF2-40B4-BE49-F238E27FC236}">
                <a16:creationId xmlns:a16="http://schemas.microsoft.com/office/drawing/2014/main" id="{E76D6913-9A24-B047-08E9-7B8EAF6B229B}"/>
              </a:ext>
            </a:extLst>
          </p:cNvPr>
          <p:cNvSpPr txBox="1"/>
          <p:nvPr/>
        </p:nvSpPr>
        <p:spPr>
          <a:xfrm>
            <a:off x="626269" y="4868985"/>
            <a:ext cx="7288021" cy="1107996"/>
          </a:xfrm>
          <a:prstGeom prst="rect">
            <a:avLst/>
          </a:prstGeom>
          <a:noFill/>
        </p:spPr>
        <p:txBody>
          <a:bodyPr wrap="square" lIns="182880" tIns="91440" bIns="91440">
            <a:spAutoFit/>
          </a:bodyPr>
          <a:lstStyle/>
          <a:p>
            <a:pPr marL="742950" marR="0" lvl="0" indent="0" algn="l" defTabSz="914400" rtl="0" eaLnBrk="1" fontAlgn="base" latinLnBrk="0" hangingPunct="1">
              <a:lnSpc>
                <a:spcPct val="100000"/>
              </a:lnSpc>
              <a:spcBef>
                <a:spcPct val="0"/>
              </a:spcBef>
              <a:spcAft>
                <a:spcPts val="400"/>
              </a:spcAft>
              <a:buClrTx/>
              <a:buSzTx/>
              <a:buFontTx/>
              <a:buNone/>
              <a:tabLst>
                <a:tab pos="5834063" algn="l"/>
              </a:tabLst>
              <a:defRPr/>
            </a:pPr>
            <a:r>
              <a:rPr kumimoji="0" lang="en-US" sz="1400" b="0" i="0" u="none" strike="noStrike" kern="1200" cap="none" spc="0" normalizeH="0" baseline="0" noProof="0">
                <a:ln>
                  <a:noFill/>
                </a:ln>
                <a:solidFill>
                  <a:srgbClr val="FFFFFF"/>
                </a:solidFill>
                <a:effectLst/>
                <a:uLnTx/>
                <a:uFillTx/>
                <a:latin typeface="Georgia" panose="02040502050405020303"/>
                <a:ea typeface="Geneva" pitchFamily="-109" charset="-128"/>
                <a:cs typeface="+mn-cs"/>
              </a:rPr>
              <a:t>Requirements</a:t>
            </a:r>
          </a:p>
          <a:p>
            <a:pPr marL="914400" marR="0" lvl="0" indent="-171450" algn="l" defTabSz="914400" rtl="0" eaLnBrk="1" fontAlgn="base" latinLnBrk="0" hangingPunct="1">
              <a:lnSpc>
                <a:spcPct val="100000"/>
              </a:lnSpc>
              <a:spcBef>
                <a:spcPct val="0"/>
              </a:spcBef>
              <a:spcAft>
                <a:spcPts val="400"/>
              </a:spcAft>
              <a:buClrTx/>
              <a:buSzTx/>
              <a:buFont typeface="Wingdings" panose="05000000000000000000" pitchFamily="2" charset="2"/>
              <a:buChar char="ü"/>
              <a:tabLst/>
              <a:defRPr/>
            </a:pPr>
            <a:r>
              <a:rPr kumimoji="0" lang="en-US" sz="1200" b="0" i="0" u="none" strike="noStrike" kern="1200" cap="none" spc="0" normalizeH="0" baseline="0" noProof="0">
                <a:ln>
                  <a:noFill/>
                </a:ln>
                <a:solidFill>
                  <a:srgbClr val="FFFFFF"/>
                </a:solidFill>
                <a:effectLst/>
                <a:uLnTx/>
                <a:uFillTx/>
                <a:latin typeface="Arial"/>
                <a:ea typeface="Geneva" pitchFamily="-109" charset="-128"/>
                <a:cs typeface="+mn-cs"/>
              </a:rPr>
              <a:t>Must be enrolled in </a:t>
            </a:r>
            <a:r>
              <a:rPr kumimoji="0" lang="en-US" sz="1200" b="1" i="0" u="none" strike="noStrike" kern="1200" cap="none" spc="0" normalizeH="0" baseline="0" noProof="0">
                <a:ln>
                  <a:noFill/>
                </a:ln>
                <a:solidFill>
                  <a:srgbClr val="FFFFFF"/>
                </a:solidFill>
                <a:effectLst/>
                <a:uLnTx/>
                <a:uFillTx/>
                <a:latin typeface="Arial"/>
                <a:ea typeface="Geneva" pitchFamily="-109" charset="-128"/>
                <a:cs typeface="+mn-cs"/>
              </a:rPr>
              <a:t>EAP by 5/31/26</a:t>
            </a:r>
            <a:endParaRPr kumimoji="0" lang="en-US" sz="1200" b="0" i="0" u="none" strike="noStrike" kern="1200" cap="none" spc="0" normalizeH="0" baseline="0" noProof="0">
              <a:ln>
                <a:noFill/>
              </a:ln>
              <a:solidFill>
                <a:srgbClr val="FFFFFF"/>
              </a:solidFill>
              <a:effectLst/>
              <a:uLnTx/>
              <a:uFillTx/>
              <a:latin typeface="Arial"/>
              <a:ea typeface="Geneva" pitchFamily="-109" charset="-128"/>
              <a:cs typeface="+mn-cs"/>
            </a:endParaRPr>
          </a:p>
          <a:p>
            <a:pPr marL="914400" marR="0" lvl="0" indent="-171450" algn="l" defTabSz="914400" rtl="0" eaLnBrk="1" fontAlgn="base" latinLnBrk="0" hangingPunct="1">
              <a:lnSpc>
                <a:spcPct val="100000"/>
              </a:lnSpc>
              <a:spcBef>
                <a:spcPct val="0"/>
              </a:spcBef>
              <a:spcAft>
                <a:spcPts val="400"/>
              </a:spcAft>
              <a:buClrTx/>
              <a:buSzTx/>
              <a:buFont typeface="Wingdings" panose="05000000000000000000" pitchFamily="2" charset="2"/>
              <a:buChar char="ü"/>
              <a:tabLst/>
              <a:defRPr/>
            </a:pPr>
            <a:r>
              <a:rPr kumimoji="0" lang="en-US" sz="1200" b="0" i="0" u="none" strike="noStrike" kern="1200" cap="none" spc="0" normalizeH="0" baseline="0" noProof="0">
                <a:ln>
                  <a:noFill/>
                </a:ln>
                <a:solidFill>
                  <a:srgbClr val="FFFFFF"/>
                </a:solidFill>
                <a:effectLst/>
                <a:uLnTx/>
                <a:uFillTx/>
                <a:latin typeface="Arial"/>
                <a:ea typeface="Geneva" pitchFamily="-109" charset="-128"/>
                <a:cs typeface="+mn-cs"/>
              </a:rPr>
              <a:t>Bonuses credited via </a:t>
            </a:r>
            <a:r>
              <a:rPr kumimoji="0" lang="en-US" sz="1200" b="1" i="0" u="none" strike="noStrike" kern="1200" cap="none" spc="0" normalizeH="0" baseline="0" noProof="0">
                <a:ln>
                  <a:noFill/>
                </a:ln>
                <a:solidFill>
                  <a:srgbClr val="FFFFFF"/>
                </a:solidFill>
                <a:effectLst/>
                <a:uLnTx/>
                <a:uFillTx/>
                <a:latin typeface="Arial"/>
                <a:ea typeface="Geneva" pitchFamily="-109" charset="-128"/>
                <a:cs typeface="+mn-cs"/>
              </a:rPr>
              <a:t>Life &amp; Annuity Expense Allowance Plan</a:t>
            </a:r>
            <a:r>
              <a:rPr kumimoji="0" lang="en-US" sz="1200" b="0" i="0" u="none" strike="noStrike" kern="1200" cap="none" spc="0" normalizeH="0" baseline="0" noProof="0">
                <a:ln>
                  <a:noFill/>
                </a:ln>
                <a:solidFill>
                  <a:srgbClr val="FFFFFF"/>
                </a:solidFill>
                <a:effectLst/>
                <a:uLnTx/>
                <a:uFillTx/>
                <a:latin typeface="Arial"/>
                <a:ea typeface="Geneva" pitchFamily="-109" charset="-128"/>
                <a:cs typeface="+mn-cs"/>
              </a:rPr>
              <a:t> (subject to NYS limits)</a:t>
            </a:r>
          </a:p>
          <a:p>
            <a:pPr marL="914400" marR="0" lvl="0" indent="-171450" algn="l" defTabSz="914400" rtl="0" eaLnBrk="1" fontAlgn="base" latinLnBrk="0" hangingPunct="1">
              <a:lnSpc>
                <a:spcPct val="100000"/>
              </a:lnSpc>
              <a:spcBef>
                <a:spcPct val="0"/>
              </a:spcBef>
              <a:spcAft>
                <a:spcPts val="400"/>
              </a:spcAft>
              <a:buClrTx/>
              <a:buSzTx/>
              <a:buFont typeface="Wingdings" panose="05000000000000000000" pitchFamily="2" charset="2"/>
              <a:buChar char="ü"/>
              <a:tabLst/>
              <a:defRPr/>
            </a:pPr>
            <a:r>
              <a:rPr kumimoji="0" lang="en-US" sz="1200" b="1" i="0" u="none" strike="noStrike" kern="1200" cap="none" spc="0" normalizeH="0" baseline="0" noProof="0">
                <a:ln>
                  <a:noFill/>
                </a:ln>
                <a:solidFill>
                  <a:srgbClr val="FFFFFF"/>
                </a:solidFill>
                <a:effectLst/>
                <a:uLnTx/>
                <a:uFillTx/>
                <a:latin typeface="Arial"/>
                <a:ea typeface="Geneva" pitchFamily="-109" charset="-128"/>
                <a:cs typeface="+mn-cs"/>
              </a:rPr>
              <a:t>TAS Agents</a:t>
            </a:r>
            <a:r>
              <a:rPr kumimoji="0" lang="en-US" sz="1200" b="0" i="0" u="none" strike="noStrike" kern="1200" cap="none" spc="0" normalizeH="0" baseline="0" noProof="0">
                <a:ln>
                  <a:noFill/>
                </a:ln>
                <a:solidFill>
                  <a:srgbClr val="FFFFFF"/>
                </a:solidFill>
                <a:effectLst/>
                <a:uLnTx/>
                <a:uFillTx/>
                <a:latin typeface="Arial"/>
                <a:ea typeface="Geneva" pitchFamily="-109" charset="-128"/>
                <a:cs typeface="+mn-cs"/>
              </a:rPr>
              <a:t> in AZ, CA, IL, IA, MT, NV, NH, ND, SD may qualify for </a:t>
            </a:r>
            <a:r>
              <a:rPr kumimoji="0" lang="en-US" sz="1200" b="1" i="0" u="none" strike="noStrike" kern="1200" cap="none" spc="0" normalizeH="0" baseline="0" noProof="0">
                <a:ln>
                  <a:noFill/>
                </a:ln>
                <a:solidFill>
                  <a:srgbClr val="FFFFFF"/>
                </a:solidFill>
                <a:effectLst/>
                <a:uLnTx/>
                <a:uFillTx/>
                <a:latin typeface="Arial"/>
                <a:ea typeface="Geneva" pitchFamily="-109" charset="-128"/>
                <a:cs typeface="+mn-cs"/>
              </a:rPr>
              <a:t>TAS bonus</a:t>
            </a:r>
            <a:endParaRPr kumimoji="0" lang="en-US" sz="12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29" name="Picture 28">
            <a:extLst>
              <a:ext uri="{FF2B5EF4-FFF2-40B4-BE49-F238E27FC236}">
                <a16:creationId xmlns:a16="http://schemas.microsoft.com/office/drawing/2014/main" id="{27F1FAF2-F805-FA26-1D04-2718DA7346C7}"/>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864068" y="5010204"/>
            <a:ext cx="454987" cy="605550"/>
          </a:xfrm>
          <a:prstGeom prst="rect">
            <a:avLst/>
          </a:prstGeom>
        </p:spPr>
      </p:pic>
      <p:cxnSp>
        <p:nvCxnSpPr>
          <p:cNvPr id="30" name="Straight Connector 29">
            <a:extLst>
              <a:ext uri="{FF2B5EF4-FFF2-40B4-BE49-F238E27FC236}">
                <a16:creationId xmlns:a16="http://schemas.microsoft.com/office/drawing/2014/main" id="{D4EDF7D6-7DEB-A815-C219-0DA3ED7450D6}"/>
              </a:ext>
            </a:extLst>
          </p:cNvPr>
          <p:cNvCxnSpPr/>
          <p:nvPr/>
        </p:nvCxnSpPr>
        <p:spPr>
          <a:xfrm>
            <a:off x="2764711" y="5125063"/>
            <a:ext cx="4776396" cy="0"/>
          </a:xfrm>
          <a:prstGeom prst="line">
            <a:avLst/>
          </a:prstGeom>
          <a:noFill/>
          <a:ln w="9525" cap="flat" cmpd="sng" algn="ctr">
            <a:solidFill>
              <a:srgbClr val="FFFFFF"/>
            </a:solidFill>
            <a:prstDash val="solid"/>
            <a:miter lim="800000"/>
          </a:ln>
          <a:effectLst/>
        </p:spPr>
      </p:cxnSp>
    </p:spTree>
    <p:extLst>
      <p:ext uri="{BB962C8B-B14F-4D97-AF65-F5344CB8AC3E}">
        <p14:creationId xmlns:p14="http://schemas.microsoft.com/office/powerpoint/2010/main" val="2636801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5D1EC-E6DF-75F1-BC66-F15187896DF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C48A1E0-38AB-A5E9-0A43-FEB5EC81FDD3}"/>
              </a:ext>
            </a:extLst>
          </p:cNvPr>
          <p:cNvSpPr/>
          <p:nvPr/>
        </p:nvSpPr>
        <p:spPr bwMode="ltGray">
          <a:xfrm>
            <a:off x="0" y="1049483"/>
            <a:ext cx="12192000" cy="4965608"/>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A891E7A3-22D9-62AE-9699-06F7E690844A}"/>
              </a:ext>
            </a:extLst>
          </p:cNvPr>
          <p:cNvSpPr>
            <a:spLocks noGrp="1"/>
          </p:cNvSpPr>
          <p:nvPr>
            <p:ph type="title"/>
          </p:nvPr>
        </p:nvSpPr>
        <p:spPr/>
        <p:txBody>
          <a:bodyPr/>
          <a:lstStyle/>
          <a:p>
            <a:r>
              <a:rPr lang="en-US"/>
              <a:t>3Q 2026 Registered Rep </a:t>
            </a:r>
            <a:r>
              <a:rPr lang="en-US" err="1"/>
              <a:t>MasterClass</a:t>
            </a:r>
            <a:r>
              <a:rPr lang="en-US"/>
              <a:t> </a:t>
            </a:r>
          </a:p>
        </p:txBody>
      </p:sp>
      <p:sp>
        <p:nvSpPr>
          <p:cNvPr id="17" name="Content Placeholder 3">
            <a:extLst>
              <a:ext uri="{FF2B5EF4-FFF2-40B4-BE49-F238E27FC236}">
                <a16:creationId xmlns:a16="http://schemas.microsoft.com/office/drawing/2014/main" id="{FF79574C-DD52-1545-8D02-144F14EBBA23}"/>
              </a:ext>
            </a:extLst>
          </p:cNvPr>
          <p:cNvSpPr>
            <a:spLocks noGrp="1"/>
          </p:cNvSpPr>
          <p:nvPr>
            <p:ph idx="1"/>
          </p:nvPr>
        </p:nvSpPr>
        <p:spPr>
          <a:xfrm>
            <a:off x="439946" y="1288815"/>
            <a:ext cx="7304275" cy="4556400"/>
          </a:xfrm>
        </p:spPr>
        <p:txBody>
          <a:bodyPr/>
          <a:lstStyle/>
          <a:p>
            <a:pPr marL="0" indent="0">
              <a:lnSpc>
                <a:spcPct val="100000"/>
              </a:lnSpc>
              <a:spcBef>
                <a:spcPts val="0"/>
              </a:spcBef>
              <a:spcAft>
                <a:spcPts val="1900"/>
              </a:spcAft>
              <a:buNone/>
              <a:tabLst>
                <a:tab pos="1319213" algn="l"/>
                <a:tab pos="5715000" algn="l"/>
              </a:tabLst>
            </a:pPr>
            <a:r>
              <a:rPr lang="en-US" sz="1600" b="1">
                <a:latin typeface="+mn-lt"/>
              </a:rPr>
              <a:t>Session 1	</a:t>
            </a:r>
            <a:r>
              <a:rPr lang="en-US" sz="1600">
                <a:latin typeface="+mn-lt"/>
              </a:rPr>
              <a:t>NYLIFE Securities and Mutual Funds 	</a:t>
            </a:r>
            <a:r>
              <a:rPr lang="en-US" sz="1600" b="1">
                <a:latin typeface="+mn-lt"/>
              </a:rPr>
              <a:t>July 14</a:t>
            </a:r>
            <a:endParaRPr lang="en-US" sz="1600">
              <a:latin typeface="+mn-lt"/>
            </a:endParaRPr>
          </a:p>
          <a:p>
            <a:pPr marL="0" indent="0">
              <a:lnSpc>
                <a:spcPct val="100000"/>
              </a:lnSpc>
              <a:spcBef>
                <a:spcPts val="0"/>
              </a:spcBef>
              <a:spcAft>
                <a:spcPts val="1900"/>
              </a:spcAft>
              <a:buNone/>
              <a:tabLst>
                <a:tab pos="1319213" algn="l"/>
                <a:tab pos="5715000" algn="l"/>
              </a:tabLst>
            </a:pPr>
            <a:r>
              <a:rPr lang="en-US" sz="1600" b="1">
                <a:latin typeface="+mn-lt"/>
              </a:rPr>
              <a:t>Session 2 	</a:t>
            </a:r>
            <a:r>
              <a:rPr lang="en-US" sz="1600">
                <a:latin typeface="+mn-lt"/>
              </a:rPr>
              <a:t>Variable Annuities, What You Need to Know	</a:t>
            </a:r>
            <a:r>
              <a:rPr lang="en-US" sz="1600" b="1">
                <a:latin typeface="+mn-lt"/>
              </a:rPr>
              <a:t>July 21</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3 	</a:t>
            </a:r>
            <a:r>
              <a:rPr lang="en-US" sz="1600">
                <a:latin typeface="+mn-lt"/>
              </a:rPr>
              <a:t>Positioning </a:t>
            </a:r>
            <a:r>
              <a:rPr lang="en-US" sz="1600" err="1">
                <a:latin typeface="+mn-lt"/>
              </a:rPr>
              <a:t>IndexFlex</a:t>
            </a:r>
            <a:r>
              <a:rPr lang="en-US" sz="1600">
                <a:latin typeface="+mn-lt"/>
              </a:rPr>
              <a:t> 	</a:t>
            </a:r>
            <a:r>
              <a:rPr lang="en-US" sz="1600" b="1">
                <a:latin typeface="+mn-lt"/>
              </a:rPr>
              <a:t>July 28</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4 	</a:t>
            </a:r>
            <a:r>
              <a:rPr lang="en-US" sz="1600">
                <a:latin typeface="+mn-lt"/>
              </a:rPr>
              <a:t>Variable Annuity Riders	</a:t>
            </a:r>
            <a:r>
              <a:rPr lang="en-US" sz="1600" b="1">
                <a:latin typeface="+mn-lt"/>
              </a:rPr>
              <a:t>August 4</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5 	</a:t>
            </a:r>
            <a:r>
              <a:rPr lang="en-US" sz="1600">
                <a:latin typeface="+mn-lt"/>
              </a:rPr>
              <a:t>Working in the Rollover Market 	</a:t>
            </a:r>
            <a:r>
              <a:rPr lang="en-US" sz="1600" b="1">
                <a:latin typeface="+mn-lt"/>
              </a:rPr>
              <a:t>August 11</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6 	</a:t>
            </a:r>
            <a:r>
              <a:rPr lang="en-US" sz="1600">
                <a:latin typeface="+mn-lt"/>
              </a:rPr>
              <a:t>Positioning VUL 	</a:t>
            </a:r>
            <a:r>
              <a:rPr lang="en-US" sz="1600" b="1">
                <a:latin typeface="+mn-lt"/>
              </a:rPr>
              <a:t>August 18</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7 	</a:t>
            </a:r>
            <a:r>
              <a:rPr lang="en-US" sz="1600">
                <a:latin typeface="+mn-lt"/>
              </a:rPr>
              <a:t>Understanding IRA Opportunities 	</a:t>
            </a:r>
            <a:r>
              <a:rPr lang="en-US" sz="1600" b="1">
                <a:latin typeface="+mn-lt"/>
              </a:rPr>
              <a:t>August 25</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8 	</a:t>
            </a:r>
            <a:r>
              <a:rPr lang="en-US" sz="1600">
                <a:latin typeface="+mn-lt"/>
              </a:rPr>
              <a:t>Annuity New Business and Suitability 	</a:t>
            </a:r>
            <a:r>
              <a:rPr lang="en-US" sz="1600" b="1">
                <a:latin typeface="+mn-lt"/>
              </a:rPr>
              <a:t>September 1</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9 	</a:t>
            </a:r>
            <a:r>
              <a:rPr lang="en-US" sz="1600">
                <a:latin typeface="+mn-lt"/>
              </a:rPr>
              <a:t>Small Business Solutions 	</a:t>
            </a:r>
            <a:r>
              <a:rPr lang="en-US" sz="1600" b="1">
                <a:latin typeface="+mn-lt"/>
              </a:rPr>
              <a:t>September 8</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10 	</a:t>
            </a:r>
            <a:r>
              <a:rPr lang="en-US" sz="1600">
                <a:latin typeface="+mn-lt"/>
              </a:rPr>
              <a:t>Morningstar: Researching Funds	</a:t>
            </a:r>
            <a:r>
              <a:rPr lang="en-US" sz="1600" b="1">
                <a:latin typeface="+mn-lt"/>
              </a:rPr>
              <a:t>September 15</a:t>
            </a:r>
            <a:endParaRPr lang="en-US" sz="1600">
              <a:latin typeface="+mn-lt"/>
            </a:endParaRPr>
          </a:p>
        </p:txBody>
      </p:sp>
      <p:sp>
        <p:nvSpPr>
          <p:cNvPr id="18" name="Rectangle: Rounded Corners 17">
            <a:extLst>
              <a:ext uri="{FF2B5EF4-FFF2-40B4-BE49-F238E27FC236}">
                <a16:creationId xmlns:a16="http://schemas.microsoft.com/office/drawing/2014/main" id="{324F6DF4-0086-A451-ED23-21830850EEB3}"/>
              </a:ext>
            </a:extLst>
          </p:cNvPr>
          <p:cNvSpPr>
            <a:spLocks/>
          </p:cNvSpPr>
          <p:nvPr/>
        </p:nvSpPr>
        <p:spPr bwMode="ltGray">
          <a:xfrm>
            <a:off x="7778187" y="1258625"/>
            <a:ext cx="4230999" cy="4586590"/>
          </a:xfrm>
          <a:prstGeom prst="roundRect">
            <a:avLst>
              <a:gd name="adj" fmla="val 0"/>
            </a:avLst>
          </a:prstGeom>
          <a:solidFill>
            <a:srgbClr val="A5EFBF">
              <a:alpha val="70000"/>
            </a:srgb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962"/>
              </a:solidFill>
              <a:effectLst/>
              <a:uLnTx/>
              <a:uFillTx/>
              <a:latin typeface="Georgia" panose="02040502050405020303"/>
              <a:ea typeface="+mn-ea"/>
              <a:cs typeface="+mn-cs"/>
            </a:endParaRPr>
          </a:p>
        </p:txBody>
      </p:sp>
      <p:sp>
        <p:nvSpPr>
          <p:cNvPr id="19" name="TextBox 18">
            <a:extLst>
              <a:ext uri="{FF2B5EF4-FFF2-40B4-BE49-F238E27FC236}">
                <a16:creationId xmlns:a16="http://schemas.microsoft.com/office/drawing/2014/main" id="{AB88AD48-1343-C6FD-A829-0F4286BEB371}"/>
              </a:ext>
            </a:extLst>
          </p:cNvPr>
          <p:cNvSpPr txBox="1"/>
          <p:nvPr/>
        </p:nvSpPr>
        <p:spPr>
          <a:xfrm>
            <a:off x="7916261" y="4058202"/>
            <a:ext cx="2282533" cy="1631216"/>
          </a:xfrm>
          <a:prstGeom prst="rect">
            <a:avLst/>
          </a:prstGeom>
          <a:noFill/>
        </p:spPr>
        <p:txBody>
          <a:bodyPr wrap="square" lIns="0" tIns="0" rIns="0" bIns="0" rtlCol="0" anchor="t">
            <a:spAutoFit/>
          </a:bodyPr>
          <a:lstStyle>
            <a:defPPr>
              <a:defRPr lang="en-US"/>
            </a:defPPr>
            <a:lvl1pPr algn="l" rtl="0" fontAlgn="base">
              <a:spcBef>
                <a:spcPct val="0"/>
              </a:spcBef>
              <a:spcAft>
                <a:spcPct val="0"/>
              </a:spcAft>
              <a:defRPr kern="1200">
                <a:solidFill>
                  <a:schemeClr val="tx1"/>
                </a:solidFill>
                <a:latin typeface="Arial" charset="0"/>
                <a:ea typeface="Geneva" pitchFamily="-109" charset="-128"/>
                <a:cs typeface="+mn-cs"/>
              </a:defRPr>
            </a:lvl1pPr>
            <a:lvl2pPr marL="609513" algn="l" rtl="0" fontAlgn="base">
              <a:spcBef>
                <a:spcPct val="0"/>
              </a:spcBef>
              <a:spcAft>
                <a:spcPct val="0"/>
              </a:spcAft>
              <a:defRPr kern="1200">
                <a:solidFill>
                  <a:schemeClr val="tx1"/>
                </a:solidFill>
                <a:latin typeface="Arial" charset="0"/>
                <a:ea typeface="Geneva" pitchFamily="-109" charset="-128"/>
                <a:cs typeface="+mn-cs"/>
              </a:defRPr>
            </a:lvl2pPr>
            <a:lvl3pPr marL="1219027" algn="l" rtl="0" fontAlgn="base">
              <a:spcBef>
                <a:spcPct val="0"/>
              </a:spcBef>
              <a:spcAft>
                <a:spcPct val="0"/>
              </a:spcAft>
              <a:defRPr kern="1200">
                <a:solidFill>
                  <a:schemeClr val="tx1"/>
                </a:solidFill>
                <a:latin typeface="Arial" charset="0"/>
                <a:ea typeface="Geneva" pitchFamily="-109" charset="-128"/>
                <a:cs typeface="+mn-cs"/>
              </a:defRPr>
            </a:lvl3pPr>
            <a:lvl4pPr marL="1828541" algn="l" rtl="0" fontAlgn="base">
              <a:spcBef>
                <a:spcPct val="0"/>
              </a:spcBef>
              <a:spcAft>
                <a:spcPct val="0"/>
              </a:spcAft>
              <a:defRPr kern="1200">
                <a:solidFill>
                  <a:schemeClr val="tx1"/>
                </a:solidFill>
                <a:latin typeface="Arial" charset="0"/>
                <a:ea typeface="Geneva" pitchFamily="-109" charset="-128"/>
                <a:cs typeface="+mn-cs"/>
              </a:defRPr>
            </a:lvl4pPr>
            <a:lvl5pPr marL="2438054" algn="l" rtl="0" fontAlgn="base">
              <a:spcBef>
                <a:spcPct val="0"/>
              </a:spcBef>
              <a:spcAft>
                <a:spcPct val="0"/>
              </a:spcAft>
              <a:defRPr kern="1200">
                <a:solidFill>
                  <a:schemeClr val="tx1"/>
                </a:solidFill>
                <a:latin typeface="Arial" charset="0"/>
                <a:ea typeface="Geneva" pitchFamily="-109" charset="-128"/>
                <a:cs typeface="+mn-cs"/>
              </a:defRPr>
            </a:lvl5pPr>
            <a:lvl6pPr marL="3047568" algn="l" defTabSz="1219027" rtl="0" eaLnBrk="1" latinLnBrk="0" hangingPunct="1">
              <a:defRPr kern="1200">
                <a:solidFill>
                  <a:schemeClr val="tx1"/>
                </a:solidFill>
                <a:latin typeface="Arial" charset="0"/>
                <a:ea typeface="Geneva" pitchFamily="-109" charset="-128"/>
                <a:cs typeface="+mn-cs"/>
              </a:defRPr>
            </a:lvl6pPr>
            <a:lvl7pPr marL="3657081" algn="l" defTabSz="1219027" rtl="0" eaLnBrk="1" latinLnBrk="0" hangingPunct="1">
              <a:defRPr kern="1200">
                <a:solidFill>
                  <a:schemeClr val="tx1"/>
                </a:solidFill>
                <a:latin typeface="Arial" charset="0"/>
                <a:ea typeface="Geneva" pitchFamily="-109" charset="-128"/>
                <a:cs typeface="+mn-cs"/>
              </a:defRPr>
            </a:lvl7pPr>
            <a:lvl8pPr marL="4266595" algn="l" defTabSz="1219027" rtl="0" eaLnBrk="1" latinLnBrk="0" hangingPunct="1">
              <a:defRPr kern="1200">
                <a:solidFill>
                  <a:schemeClr val="tx1"/>
                </a:solidFill>
                <a:latin typeface="Arial" charset="0"/>
                <a:ea typeface="Geneva" pitchFamily="-109" charset="-128"/>
                <a:cs typeface="+mn-cs"/>
              </a:defRPr>
            </a:lvl8pPr>
            <a:lvl9pPr marL="4876107" algn="l" defTabSz="1219027" rtl="0" eaLnBrk="1" latinLnBrk="0" hangingPunct="1">
              <a:defRPr kern="1200">
                <a:solidFill>
                  <a:schemeClr val="tx1"/>
                </a:solidFill>
                <a:latin typeface="Arial" charset="0"/>
                <a:ea typeface="Geneva" pitchFamily="-109" charset="-128"/>
                <a:cs typeface="+mn-cs"/>
              </a:defRPr>
            </a:lvl9pPr>
          </a:lstStyle>
          <a:p>
            <a:pPr marL="0" marR="0" lvl="0" indent="0" algn="l" defTabSz="1219080" rtl="0" eaLnBrk="1" fontAlgn="base" latinLnBrk="0" hangingPunct="1">
              <a:lnSpc>
                <a:spcPct val="100000"/>
              </a:lnSpc>
              <a:spcBef>
                <a:spcPct val="0"/>
              </a:spcBef>
              <a:spcAft>
                <a:spcPts val="1200"/>
              </a:spcAft>
              <a:buClrTx/>
              <a:buSzTx/>
              <a:buFontTx/>
              <a:buNone/>
              <a:tabLst/>
              <a:defRPr/>
            </a:pPr>
            <a:r>
              <a:rPr kumimoji="0" lang="en-US" sz="1600" b="0" i="0" u="none" strike="noStrike" kern="1200" cap="none" spc="0" normalizeH="0" baseline="0" noProof="0">
                <a:ln>
                  <a:noFill/>
                </a:ln>
                <a:solidFill>
                  <a:srgbClr val="000962"/>
                </a:solidFill>
                <a:effectLst/>
                <a:uLnTx/>
                <a:uFillTx/>
                <a:latin typeface="Arial" panose="020B0604020202020204" pitchFamily="34" charset="0"/>
                <a:ea typeface="Geneva" pitchFamily="-109" charset="-128"/>
                <a:cs typeface="Arial" panose="020B0604020202020204" pitchFamily="34" charset="0"/>
              </a:rPr>
              <a:t>Register today to ensure prompt access to these highly anticipated events.</a:t>
            </a:r>
          </a:p>
          <a:p>
            <a:pPr marL="0" marR="0" lvl="1" indent="0" algn="l" defTabSz="1219080" rtl="0" eaLnBrk="1" fontAlgn="base" latinLnBrk="0" hangingPunct="1">
              <a:lnSpc>
                <a:spcPct val="100000"/>
              </a:lnSpc>
              <a:spcBef>
                <a:spcPct val="0"/>
              </a:spcBef>
              <a:spcAft>
                <a:spcPts val="800"/>
              </a:spcAft>
              <a:buClrTx/>
              <a:buSzTx/>
              <a:buFontTx/>
              <a:buNone/>
              <a:tabLst/>
              <a:defRPr/>
            </a:pPr>
            <a:r>
              <a:rPr kumimoji="0" lang="en-US" sz="1600" b="1" i="0" u="none" strike="noStrike" kern="1200" cap="none" spc="0" normalizeH="0" baseline="0" noProof="0">
                <a:ln>
                  <a:noFill/>
                </a:ln>
                <a:solidFill>
                  <a:srgbClr val="000962"/>
                </a:solidFill>
                <a:effectLst/>
                <a:uLnTx/>
                <a:uFillTx/>
                <a:latin typeface="Arial"/>
                <a:ea typeface="Geneva"/>
                <a:cs typeface="Arial"/>
              </a:rPr>
              <a:t>Events start at </a:t>
            </a:r>
            <a:br>
              <a:rPr lang="en-US" sz="1600" b="1" i="0" u="none" strike="noStrike" kern="1200" cap="none" spc="0" normalizeH="0" baseline="0" noProof="0">
                <a:ln>
                  <a:noFill/>
                </a:ln>
                <a:effectLst/>
                <a:uLnTx/>
                <a:uFillTx/>
                <a:latin typeface="Arial" panose="020B0604020202020204" pitchFamily="34" charset="0"/>
                <a:ea typeface="Geneva" pitchFamily="-109" charset="-128"/>
                <a:cs typeface="Arial" panose="020B0604020202020204" pitchFamily="34" charset="0"/>
              </a:rPr>
            </a:br>
            <a:r>
              <a:rPr kumimoji="0" lang="en-US" sz="1600" b="1" i="0" u="none" strike="noStrike" kern="1200" cap="none" spc="0" normalizeH="0" baseline="0" noProof="0">
                <a:ln>
                  <a:noFill/>
                </a:ln>
                <a:solidFill>
                  <a:srgbClr val="000962"/>
                </a:solidFill>
                <a:effectLst/>
                <a:uLnTx/>
                <a:uFillTx/>
                <a:latin typeface="Arial"/>
                <a:ea typeface="Geneva"/>
                <a:cs typeface="Arial"/>
              </a:rPr>
              <a:t>3pm </a:t>
            </a:r>
            <a:r>
              <a:rPr lang="en-US" sz="1600" b="1">
                <a:solidFill>
                  <a:srgbClr val="000962"/>
                </a:solidFill>
                <a:latin typeface="Arial"/>
                <a:ea typeface="Geneva"/>
                <a:cs typeface="Arial"/>
              </a:rPr>
              <a:t>ET</a:t>
            </a:r>
            <a:r>
              <a:rPr kumimoji="0" lang="en-US" sz="1600" b="1" i="0" u="none" strike="noStrike" kern="1200" cap="none" spc="0" normalizeH="0" baseline="0" noProof="0">
                <a:ln>
                  <a:noFill/>
                </a:ln>
                <a:solidFill>
                  <a:srgbClr val="000962"/>
                </a:solidFill>
                <a:effectLst/>
                <a:uLnTx/>
                <a:uFillTx/>
                <a:latin typeface="Arial"/>
                <a:ea typeface="Geneva"/>
                <a:cs typeface="Arial"/>
              </a:rPr>
              <a:t> and run </a:t>
            </a:r>
            <a:br>
              <a:rPr lang="en-US" sz="1600" b="1" i="0" u="none" strike="noStrike" kern="1200" cap="none" spc="0" normalizeH="0" baseline="0" noProof="0">
                <a:ln>
                  <a:noFill/>
                </a:ln>
                <a:effectLst/>
                <a:uLnTx/>
                <a:uFillTx/>
                <a:latin typeface="Arial" panose="020B0604020202020204" pitchFamily="34" charset="0"/>
                <a:ea typeface="Geneva" pitchFamily="-109" charset="-128"/>
                <a:cs typeface="Arial" panose="020B0604020202020204" pitchFamily="34" charset="0"/>
              </a:rPr>
            </a:br>
            <a:r>
              <a:rPr kumimoji="0" lang="en-US" sz="1600" b="1" i="0" u="none" strike="noStrike" kern="1200" cap="none" spc="0" normalizeH="0" baseline="0" noProof="0">
                <a:ln>
                  <a:noFill/>
                </a:ln>
                <a:solidFill>
                  <a:srgbClr val="000962"/>
                </a:solidFill>
                <a:effectLst/>
                <a:uLnTx/>
                <a:uFillTx/>
                <a:latin typeface="Arial"/>
                <a:ea typeface="Geneva"/>
                <a:cs typeface="Arial"/>
              </a:rPr>
              <a:t>60 minutes.</a:t>
            </a:r>
            <a:endParaRPr lang="en-US" sz="1600" b="1" i="0" u="none" strike="noStrike" kern="1200" cap="none" spc="0" normalizeH="0" baseline="0" noProof="0">
              <a:ln>
                <a:noFill/>
              </a:ln>
              <a:solidFill>
                <a:srgbClr val="000962"/>
              </a:solidFill>
              <a:effectLst/>
              <a:uLnTx/>
              <a:uFillTx/>
              <a:latin typeface="Arial"/>
              <a:ea typeface="Geneva"/>
              <a:cs typeface="Arial"/>
            </a:endParaRPr>
          </a:p>
        </p:txBody>
      </p:sp>
      <p:sp>
        <p:nvSpPr>
          <p:cNvPr id="20" name="TextBox 19">
            <a:extLst>
              <a:ext uri="{FF2B5EF4-FFF2-40B4-BE49-F238E27FC236}">
                <a16:creationId xmlns:a16="http://schemas.microsoft.com/office/drawing/2014/main" id="{754B7A9E-FAA5-21F6-F137-C961834A84FA}"/>
              </a:ext>
            </a:extLst>
          </p:cNvPr>
          <p:cNvSpPr txBox="1"/>
          <p:nvPr/>
        </p:nvSpPr>
        <p:spPr>
          <a:xfrm>
            <a:off x="7916261" y="2355648"/>
            <a:ext cx="4025191" cy="1215717"/>
          </a:xfrm>
          <a:prstGeom prst="rect">
            <a:avLst/>
          </a:prstGeom>
          <a:noFill/>
        </p:spPr>
        <p:txBody>
          <a:bodyPr wrap="square" lIns="0" tIns="0" rIns="0" bIns="0">
            <a:spAutoFit/>
          </a:bodyPr>
          <a:lstStyle>
            <a:defPPr>
              <a:defRPr lang="en-US"/>
            </a:defPPr>
            <a:lvl1pPr algn="l" rtl="0" fontAlgn="base">
              <a:spcBef>
                <a:spcPct val="0"/>
              </a:spcBef>
              <a:spcAft>
                <a:spcPct val="0"/>
              </a:spcAft>
              <a:defRPr kern="1200">
                <a:solidFill>
                  <a:schemeClr val="tx1"/>
                </a:solidFill>
                <a:latin typeface="Arial" charset="0"/>
                <a:ea typeface="Geneva" pitchFamily="-109" charset="-128"/>
                <a:cs typeface="+mn-cs"/>
              </a:defRPr>
            </a:lvl1pPr>
            <a:lvl2pPr marL="609513" algn="l" rtl="0" fontAlgn="base">
              <a:spcBef>
                <a:spcPct val="0"/>
              </a:spcBef>
              <a:spcAft>
                <a:spcPct val="0"/>
              </a:spcAft>
              <a:defRPr kern="1200">
                <a:solidFill>
                  <a:schemeClr val="tx1"/>
                </a:solidFill>
                <a:latin typeface="Arial" charset="0"/>
                <a:ea typeface="Geneva" pitchFamily="-109" charset="-128"/>
                <a:cs typeface="+mn-cs"/>
              </a:defRPr>
            </a:lvl2pPr>
            <a:lvl3pPr marL="1219027" algn="l" rtl="0" fontAlgn="base">
              <a:spcBef>
                <a:spcPct val="0"/>
              </a:spcBef>
              <a:spcAft>
                <a:spcPct val="0"/>
              </a:spcAft>
              <a:defRPr kern="1200">
                <a:solidFill>
                  <a:schemeClr val="tx1"/>
                </a:solidFill>
                <a:latin typeface="Arial" charset="0"/>
                <a:ea typeface="Geneva" pitchFamily="-109" charset="-128"/>
                <a:cs typeface="+mn-cs"/>
              </a:defRPr>
            </a:lvl3pPr>
            <a:lvl4pPr marL="1828541" algn="l" rtl="0" fontAlgn="base">
              <a:spcBef>
                <a:spcPct val="0"/>
              </a:spcBef>
              <a:spcAft>
                <a:spcPct val="0"/>
              </a:spcAft>
              <a:defRPr kern="1200">
                <a:solidFill>
                  <a:schemeClr val="tx1"/>
                </a:solidFill>
                <a:latin typeface="Arial" charset="0"/>
                <a:ea typeface="Geneva" pitchFamily="-109" charset="-128"/>
                <a:cs typeface="+mn-cs"/>
              </a:defRPr>
            </a:lvl4pPr>
            <a:lvl5pPr marL="2438054" algn="l" rtl="0" fontAlgn="base">
              <a:spcBef>
                <a:spcPct val="0"/>
              </a:spcBef>
              <a:spcAft>
                <a:spcPct val="0"/>
              </a:spcAft>
              <a:defRPr kern="1200">
                <a:solidFill>
                  <a:schemeClr val="tx1"/>
                </a:solidFill>
                <a:latin typeface="Arial" charset="0"/>
                <a:ea typeface="Geneva" pitchFamily="-109" charset="-128"/>
                <a:cs typeface="+mn-cs"/>
              </a:defRPr>
            </a:lvl5pPr>
            <a:lvl6pPr marL="3047568" algn="l" defTabSz="1219027" rtl="0" eaLnBrk="1" latinLnBrk="0" hangingPunct="1">
              <a:defRPr kern="1200">
                <a:solidFill>
                  <a:schemeClr val="tx1"/>
                </a:solidFill>
                <a:latin typeface="Arial" charset="0"/>
                <a:ea typeface="Geneva" pitchFamily="-109" charset="-128"/>
                <a:cs typeface="+mn-cs"/>
              </a:defRPr>
            </a:lvl6pPr>
            <a:lvl7pPr marL="3657081" algn="l" defTabSz="1219027" rtl="0" eaLnBrk="1" latinLnBrk="0" hangingPunct="1">
              <a:defRPr kern="1200">
                <a:solidFill>
                  <a:schemeClr val="tx1"/>
                </a:solidFill>
                <a:latin typeface="Arial" charset="0"/>
                <a:ea typeface="Geneva" pitchFamily="-109" charset="-128"/>
                <a:cs typeface="+mn-cs"/>
              </a:defRPr>
            </a:lvl7pPr>
            <a:lvl8pPr marL="4266595" algn="l" defTabSz="1219027" rtl="0" eaLnBrk="1" latinLnBrk="0" hangingPunct="1">
              <a:defRPr kern="1200">
                <a:solidFill>
                  <a:schemeClr val="tx1"/>
                </a:solidFill>
                <a:latin typeface="Arial" charset="0"/>
                <a:ea typeface="Geneva" pitchFamily="-109" charset="-128"/>
                <a:cs typeface="+mn-cs"/>
              </a:defRPr>
            </a:lvl8pPr>
            <a:lvl9pPr marL="4876107" algn="l" defTabSz="1219027" rtl="0" eaLnBrk="1" latinLnBrk="0" hangingPunct="1">
              <a:defRPr kern="1200">
                <a:solidFill>
                  <a:schemeClr val="tx1"/>
                </a:solidFill>
                <a:latin typeface="Arial" charset="0"/>
                <a:ea typeface="Geneva" pitchFamily="-109" charset="-128"/>
                <a:cs typeface="+mn-cs"/>
              </a:defRPr>
            </a:lvl9pPr>
          </a:lstStyle>
          <a:p>
            <a:pPr marL="257175" marR="0" lvl="0" indent="-257175" algn="l" defTabSz="1219110" rtl="0" eaLnBrk="1" fontAlgn="base" latinLnBrk="0" hangingPunct="1">
              <a:lnSpc>
                <a:spcPct val="100000"/>
              </a:lnSpc>
              <a:spcBef>
                <a:spcPct val="0"/>
              </a:spcBef>
              <a:spcAft>
                <a:spcPts val="6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rPr>
              <a:t>10-part quarterly series - Tuesdays at 3pm EST</a:t>
            </a:r>
          </a:p>
          <a:p>
            <a:pPr marL="257175" marR="0" lvl="0" indent="-257175" algn="l" defTabSz="1219110" rtl="0" eaLnBrk="1" fontAlgn="base" latinLnBrk="0" hangingPunct="1">
              <a:lnSpc>
                <a:spcPct val="100000"/>
              </a:lnSpc>
              <a:spcBef>
                <a:spcPct val="0"/>
              </a:spcBef>
              <a:spcAft>
                <a:spcPts val="6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rPr>
              <a:t>Educates on NYL products</a:t>
            </a:r>
          </a:p>
          <a:p>
            <a:pPr marL="257175" marR="0" lvl="0" indent="-257175" algn="l" defTabSz="1219110" rtl="0" eaLnBrk="1" fontAlgn="base" latinLnBrk="0" hangingPunct="1">
              <a:lnSpc>
                <a:spcPct val="100000"/>
              </a:lnSpc>
              <a:spcBef>
                <a:spcPct val="0"/>
              </a:spcBef>
              <a:spcAft>
                <a:spcPts val="6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rPr>
              <a:t>Interactive sessions with product experts</a:t>
            </a:r>
          </a:p>
          <a:p>
            <a:pPr marL="257175" marR="0" lvl="0" indent="-257175" algn="l" defTabSz="1219110" rtl="0" eaLnBrk="1" fontAlgn="base" latinLnBrk="0" hangingPunct="1">
              <a:lnSpc>
                <a:spcPct val="100000"/>
              </a:lnSpc>
              <a:spcBef>
                <a:spcPct val="0"/>
              </a:spcBef>
              <a:spcAft>
                <a:spcPts val="6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rPr>
              <a:t>Provides ongoing education</a:t>
            </a:r>
          </a:p>
        </p:txBody>
      </p:sp>
      <p:sp>
        <p:nvSpPr>
          <p:cNvPr id="21" name="TextBox 20">
            <a:extLst>
              <a:ext uri="{FF2B5EF4-FFF2-40B4-BE49-F238E27FC236}">
                <a16:creationId xmlns:a16="http://schemas.microsoft.com/office/drawing/2014/main" id="{E3DFB1B1-15B3-8A27-60CE-8E847B48FC86}"/>
              </a:ext>
            </a:extLst>
          </p:cNvPr>
          <p:cNvSpPr txBox="1"/>
          <p:nvPr/>
        </p:nvSpPr>
        <p:spPr>
          <a:xfrm>
            <a:off x="7916261" y="1471251"/>
            <a:ext cx="1963321" cy="615553"/>
          </a:xfrm>
          <a:prstGeom prst="rect">
            <a:avLst/>
          </a:prstGeom>
          <a:noFill/>
        </p:spPr>
        <p:txBody>
          <a:bodyPr wrap="square" lIns="0" tIns="0" rIns="0" bIns="0" rtlCol="0">
            <a:spAutoFit/>
          </a:bodyPr>
          <a:lstStyle>
            <a:defPPr>
              <a:defRPr lang="en-US"/>
            </a:defPPr>
            <a:lvl1pPr algn="l" rtl="0" fontAlgn="base">
              <a:spcBef>
                <a:spcPct val="0"/>
              </a:spcBef>
              <a:spcAft>
                <a:spcPct val="0"/>
              </a:spcAft>
              <a:defRPr kern="1200">
                <a:solidFill>
                  <a:schemeClr val="tx1"/>
                </a:solidFill>
                <a:latin typeface="Arial" charset="0"/>
                <a:ea typeface="Geneva" pitchFamily="-109" charset="-128"/>
                <a:cs typeface="+mn-cs"/>
              </a:defRPr>
            </a:lvl1pPr>
            <a:lvl2pPr marL="609513" algn="l" rtl="0" fontAlgn="base">
              <a:spcBef>
                <a:spcPct val="0"/>
              </a:spcBef>
              <a:spcAft>
                <a:spcPct val="0"/>
              </a:spcAft>
              <a:defRPr kern="1200">
                <a:solidFill>
                  <a:schemeClr val="tx1"/>
                </a:solidFill>
                <a:latin typeface="Arial" charset="0"/>
                <a:ea typeface="Geneva" pitchFamily="-109" charset="-128"/>
                <a:cs typeface="+mn-cs"/>
              </a:defRPr>
            </a:lvl2pPr>
            <a:lvl3pPr marL="1219027" algn="l" rtl="0" fontAlgn="base">
              <a:spcBef>
                <a:spcPct val="0"/>
              </a:spcBef>
              <a:spcAft>
                <a:spcPct val="0"/>
              </a:spcAft>
              <a:defRPr kern="1200">
                <a:solidFill>
                  <a:schemeClr val="tx1"/>
                </a:solidFill>
                <a:latin typeface="Arial" charset="0"/>
                <a:ea typeface="Geneva" pitchFamily="-109" charset="-128"/>
                <a:cs typeface="+mn-cs"/>
              </a:defRPr>
            </a:lvl3pPr>
            <a:lvl4pPr marL="1828541" algn="l" rtl="0" fontAlgn="base">
              <a:spcBef>
                <a:spcPct val="0"/>
              </a:spcBef>
              <a:spcAft>
                <a:spcPct val="0"/>
              </a:spcAft>
              <a:defRPr kern="1200">
                <a:solidFill>
                  <a:schemeClr val="tx1"/>
                </a:solidFill>
                <a:latin typeface="Arial" charset="0"/>
                <a:ea typeface="Geneva" pitchFamily="-109" charset="-128"/>
                <a:cs typeface="+mn-cs"/>
              </a:defRPr>
            </a:lvl4pPr>
            <a:lvl5pPr marL="2438054" algn="l" rtl="0" fontAlgn="base">
              <a:spcBef>
                <a:spcPct val="0"/>
              </a:spcBef>
              <a:spcAft>
                <a:spcPct val="0"/>
              </a:spcAft>
              <a:defRPr kern="1200">
                <a:solidFill>
                  <a:schemeClr val="tx1"/>
                </a:solidFill>
                <a:latin typeface="Arial" charset="0"/>
                <a:ea typeface="Geneva" pitchFamily="-109" charset="-128"/>
                <a:cs typeface="+mn-cs"/>
              </a:defRPr>
            </a:lvl5pPr>
            <a:lvl6pPr marL="3047568" algn="l" defTabSz="1219027" rtl="0" eaLnBrk="1" latinLnBrk="0" hangingPunct="1">
              <a:defRPr kern="1200">
                <a:solidFill>
                  <a:schemeClr val="tx1"/>
                </a:solidFill>
                <a:latin typeface="Arial" charset="0"/>
                <a:ea typeface="Geneva" pitchFamily="-109" charset="-128"/>
                <a:cs typeface="+mn-cs"/>
              </a:defRPr>
            </a:lvl6pPr>
            <a:lvl7pPr marL="3657081" algn="l" defTabSz="1219027" rtl="0" eaLnBrk="1" latinLnBrk="0" hangingPunct="1">
              <a:defRPr kern="1200">
                <a:solidFill>
                  <a:schemeClr val="tx1"/>
                </a:solidFill>
                <a:latin typeface="Arial" charset="0"/>
                <a:ea typeface="Geneva" pitchFamily="-109" charset="-128"/>
                <a:cs typeface="+mn-cs"/>
              </a:defRPr>
            </a:lvl7pPr>
            <a:lvl8pPr marL="4266595" algn="l" defTabSz="1219027" rtl="0" eaLnBrk="1" latinLnBrk="0" hangingPunct="1">
              <a:defRPr kern="1200">
                <a:solidFill>
                  <a:schemeClr val="tx1"/>
                </a:solidFill>
                <a:latin typeface="Arial" charset="0"/>
                <a:ea typeface="Geneva" pitchFamily="-109" charset="-128"/>
                <a:cs typeface="+mn-cs"/>
              </a:defRPr>
            </a:lvl8pPr>
            <a:lvl9pPr marL="4876107" algn="l" defTabSz="1219027" rtl="0" eaLnBrk="1" latinLnBrk="0" hangingPunct="1">
              <a:defRPr kern="1200">
                <a:solidFill>
                  <a:schemeClr val="tx1"/>
                </a:solidFill>
                <a:latin typeface="Arial" charset="0"/>
                <a:ea typeface="Geneva" pitchFamily="-109" charset="-128"/>
                <a:cs typeface="+mn-cs"/>
              </a:defRPr>
            </a:lvl9pPr>
          </a:lstStyle>
          <a:p>
            <a:pPr marL="0" marR="0" lvl="0" indent="0" algn="l" defTabSz="121911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000A62"/>
                </a:solidFill>
                <a:effectLst/>
                <a:uLnTx/>
                <a:uFillTx/>
                <a:latin typeface="Arial" panose="020B0604020202020204" pitchFamily="34" charset="0"/>
                <a:ea typeface="Geneva" pitchFamily="-109" charset="-128"/>
                <a:cs typeface="Arial" panose="020B0604020202020204" pitchFamily="34" charset="0"/>
              </a:rPr>
              <a:t>Strengthening </a:t>
            </a:r>
            <a:br>
              <a:rPr kumimoji="0" lang="en-US" sz="2000" b="1" i="0" u="none" strike="noStrike" kern="1200" cap="none" spc="0" normalizeH="0" baseline="0" noProof="0">
                <a:ln>
                  <a:noFill/>
                </a:ln>
                <a:solidFill>
                  <a:srgbClr val="000A62"/>
                </a:solidFill>
                <a:effectLst/>
                <a:uLnTx/>
                <a:uFillTx/>
                <a:latin typeface="Arial" panose="020B0604020202020204" pitchFamily="34" charset="0"/>
                <a:ea typeface="Geneva" pitchFamily="-109" charset="-128"/>
                <a:cs typeface="Arial" panose="020B0604020202020204" pitchFamily="34" charset="0"/>
              </a:rPr>
            </a:br>
            <a:r>
              <a:rPr kumimoji="0" lang="en-US" sz="2000" b="1" i="0" u="none" strike="noStrike" kern="1200" cap="none" spc="0" normalizeH="0" baseline="0" noProof="0">
                <a:ln>
                  <a:noFill/>
                </a:ln>
                <a:solidFill>
                  <a:srgbClr val="000A62"/>
                </a:solidFill>
                <a:effectLst/>
                <a:uLnTx/>
                <a:uFillTx/>
                <a:latin typeface="Arial" panose="020B0604020202020204" pitchFamily="34" charset="0"/>
                <a:ea typeface="Geneva" pitchFamily="-109" charset="-128"/>
                <a:cs typeface="Arial" panose="020B0604020202020204" pitchFamily="34" charset="0"/>
              </a:rPr>
              <a:t>the foundation</a:t>
            </a:r>
          </a:p>
        </p:txBody>
      </p:sp>
      <p:pic>
        <p:nvPicPr>
          <p:cNvPr id="23" name="Picture 22">
            <a:extLst>
              <a:ext uri="{FF2B5EF4-FFF2-40B4-BE49-F238E27FC236}">
                <a16:creationId xmlns:a16="http://schemas.microsoft.com/office/drawing/2014/main" id="{71ACF039-36BF-73CA-217C-F0225B2106E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336139" y="4111185"/>
            <a:ext cx="1535702" cy="1535702"/>
          </a:xfrm>
          <a:prstGeom prst="rect">
            <a:avLst/>
          </a:prstGeom>
        </p:spPr>
      </p:pic>
      <p:sp>
        <p:nvSpPr>
          <p:cNvPr id="24" name="Oval 23">
            <a:extLst>
              <a:ext uri="{FF2B5EF4-FFF2-40B4-BE49-F238E27FC236}">
                <a16:creationId xmlns:a16="http://schemas.microsoft.com/office/drawing/2014/main" id="{DCA4BDAC-5B8E-B537-63A2-6FC2E8D29CC2}"/>
              </a:ext>
            </a:extLst>
          </p:cNvPr>
          <p:cNvSpPr/>
          <p:nvPr/>
        </p:nvSpPr>
        <p:spPr>
          <a:xfrm>
            <a:off x="10051608" y="148766"/>
            <a:ext cx="2014099" cy="201409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pic>
        <p:nvPicPr>
          <p:cNvPr id="22" name="Picture 21" descr="A blue and white circle with a briefcase and pen&#10;&#10;AI-generated content may be incorrect.">
            <a:extLst>
              <a:ext uri="{FF2B5EF4-FFF2-40B4-BE49-F238E27FC236}">
                <a16:creationId xmlns:a16="http://schemas.microsoft.com/office/drawing/2014/main" id="{C5B1EE9C-2B23-DF11-22FF-DB25340CFD3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46626" y="243784"/>
            <a:ext cx="1824062" cy="1824062"/>
          </a:xfrm>
          <a:prstGeom prst="rect">
            <a:avLst/>
          </a:prstGeom>
        </p:spPr>
      </p:pic>
      <p:cxnSp>
        <p:nvCxnSpPr>
          <p:cNvPr id="26" name="Straight Connector 25">
            <a:extLst>
              <a:ext uri="{FF2B5EF4-FFF2-40B4-BE49-F238E27FC236}">
                <a16:creationId xmlns:a16="http://schemas.microsoft.com/office/drawing/2014/main" id="{28ECE000-F42B-463A-60EE-414C9AB93711}"/>
              </a:ext>
            </a:extLst>
          </p:cNvPr>
          <p:cNvCxnSpPr/>
          <p:nvPr/>
        </p:nvCxnSpPr>
        <p:spPr>
          <a:xfrm>
            <a:off x="7916261" y="3792681"/>
            <a:ext cx="3957462"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56409CE8-508C-0FA5-FC66-6A89527F87C7}"/>
              </a:ext>
            </a:extLst>
          </p:cNvPr>
          <p:cNvCxnSpPr>
            <a:cxnSpLocks/>
          </p:cNvCxnSpPr>
          <p:nvPr/>
        </p:nvCxnSpPr>
        <p:spPr>
          <a:xfrm>
            <a:off x="439946" y="1641763"/>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D1B138C-FF22-B2BB-5AEC-E5808BAC91F7}"/>
              </a:ext>
            </a:extLst>
          </p:cNvPr>
          <p:cNvCxnSpPr>
            <a:cxnSpLocks/>
          </p:cNvCxnSpPr>
          <p:nvPr/>
        </p:nvCxnSpPr>
        <p:spPr>
          <a:xfrm>
            <a:off x="439946" y="2131692"/>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1518D576-C74B-3D19-6CFD-8321970E82D2}"/>
              </a:ext>
            </a:extLst>
          </p:cNvPr>
          <p:cNvCxnSpPr>
            <a:cxnSpLocks/>
          </p:cNvCxnSpPr>
          <p:nvPr/>
        </p:nvCxnSpPr>
        <p:spPr>
          <a:xfrm>
            <a:off x="439946" y="2620065"/>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5BBB6C1-C395-883E-2769-4C24E020C37F}"/>
              </a:ext>
            </a:extLst>
          </p:cNvPr>
          <p:cNvCxnSpPr>
            <a:cxnSpLocks/>
          </p:cNvCxnSpPr>
          <p:nvPr/>
        </p:nvCxnSpPr>
        <p:spPr>
          <a:xfrm>
            <a:off x="439946" y="3108438"/>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43F1467E-70F0-C2D9-333D-287C7D290097}"/>
              </a:ext>
            </a:extLst>
          </p:cNvPr>
          <p:cNvCxnSpPr>
            <a:cxnSpLocks/>
          </p:cNvCxnSpPr>
          <p:nvPr/>
        </p:nvCxnSpPr>
        <p:spPr>
          <a:xfrm>
            <a:off x="439946" y="3589353"/>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3BFB5270-800E-D12C-74BE-724FCE781B62}"/>
              </a:ext>
            </a:extLst>
          </p:cNvPr>
          <p:cNvCxnSpPr>
            <a:cxnSpLocks/>
          </p:cNvCxnSpPr>
          <p:nvPr/>
        </p:nvCxnSpPr>
        <p:spPr>
          <a:xfrm>
            <a:off x="439946" y="4058202"/>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84C31F94-D1A1-E7A3-7D6B-6A96933CCD1B}"/>
              </a:ext>
            </a:extLst>
          </p:cNvPr>
          <p:cNvCxnSpPr>
            <a:cxnSpLocks/>
          </p:cNvCxnSpPr>
          <p:nvPr/>
        </p:nvCxnSpPr>
        <p:spPr>
          <a:xfrm>
            <a:off x="439946" y="4546575"/>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8D762039-FAF6-691C-76A5-7A552CA2AD65}"/>
              </a:ext>
            </a:extLst>
          </p:cNvPr>
          <p:cNvCxnSpPr>
            <a:cxnSpLocks/>
          </p:cNvCxnSpPr>
          <p:nvPr/>
        </p:nvCxnSpPr>
        <p:spPr>
          <a:xfrm>
            <a:off x="439946" y="5034948"/>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9E1525A8-5451-835F-D171-D6DAA1D0FF21}"/>
              </a:ext>
            </a:extLst>
          </p:cNvPr>
          <p:cNvCxnSpPr>
            <a:cxnSpLocks/>
          </p:cNvCxnSpPr>
          <p:nvPr/>
        </p:nvCxnSpPr>
        <p:spPr>
          <a:xfrm>
            <a:off x="439946" y="5523321"/>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06155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5D1EC-E6DF-75F1-BC66-F15187896DF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C48A1E0-38AB-A5E9-0A43-FEB5EC81FDD3}"/>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A891E7A3-22D9-62AE-9699-06F7E690844A}"/>
              </a:ext>
            </a:extLst>
          </p:cNvPr>
          <p:cNvSpPr>
            <a:spLocks noGrp="1"/>
          </p:cNvSpPr>
          <p:nvPr>
            <p:ph type="title"/>
          </p:nvPr>
        </p:nvSpPr>
        <p:spPr>
          <a:xfrm>
            <a:off x="439946" y="381000"/>
            <a:ext cx="11097657" cy="496033"/>
          </a:xfrm>
        </p:spPr>
        <p:txBody>
          <a:bodyPr/>
          <a:lstStyle/>
          <a:p>
            <a:r>
              <a:rPr lang="en-US"/>
              <a:t>3Q Life Fundamentals Series</a:t>
            </a:r>
          </a:p>
        </p:txBody>
      </p:sp>
      <p:sp>
        <p:nvSpPr>
          <p:cNvPr id="4" name="Text Placeholder 3">
            <a:extLst>
              <a:ext uri="{FF2B5EF4-FFF2-40B4-BE49-F238E27FC236}">
                <a16:creationId xmlns:a16="http://schemas.microsoft.com/office/drawing/2014/main" id="{A142F558-0E18-23AD-47E0-7C51F9F19FCB}"/>
              </a:ext>
            </a:extLst>
          </p:cNvPr>
          <p:cNvSpPr>
            <a:spLocks noGrp="1"/>
          </p:cNvSpPr>
          <p:nvPr>
            <p:ph type="body" sz="quarter" idx="12"/>
          </p:nvPr>
        </p:nvSpPr>
        <p:spPr>
          <a:xfrm>
            <a:off x="439946" y="953242"/>
            <a:ext cx="11294854" cy="496033"/>
          </a:xfrm>
        </p:spPr>
        <p:txBody>
          <a:bodyPr/>
          <a:lstStyle/>
          <a:p>
            <a:r>
              <a:rPr lang="en-US" sz="2200"/>
              <a:t>Strengthening the foundation for confident life </a:t>
            </a:r>
            <a:r>
              <a:rPr lang="en-US"/>
              <a:t>i</a:t>
            </a:r>
            <a:r>
              <a:rPr lang="en-US" sz="2200"/>
              <a:t>nsurance </a:t>
            </a:r>
            <a:r>
              <a:rPr lang="en-US"/>
              <a:t>c</a:t>
            </a:r>
            <a:r>
              <a:rPr lang="en-US" sz="2200"/>
              <a:t>onversations</a:t>
            </a:r>
          </a:p>
        </p:txBody>
      </p:sp>
      <p:sp>
        <p:nvSpPr>
          <p:cNvPr id="5" name="Rectangle 4">
            <a:extLst>
              <a:ext uri="{FF2B5EF4-FFF2-40B4-BE49-F238E27FC236}">
                <a16:creationId xmlns:a16="http://schemas.microsoft.com/office/drawing/2014/main" id="{AC012B3C-DF93-962F-D695-B41961C41222}"/>
              </a:ext>
            </a:extLst>
          </p:cNvPr>
          <p:cNvSpPr/>
          <p:nvPr/>
        </p:nvSpPr>
        <p:spPr>
          <a:xfrm>
            <a:off x="7472662" y="1525483"/>
            <a:ext cx="4279392" cy="2735145"/>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0C68089D-4E7B-E2AE-1BE9-9DDDEFA0195F}"/>
              </a:ext>
            </a:extLst>
          </p:cNvPr>
          <p:cNvSpPr/>
          <p:nvPr/>
        </p:nvSpPr>
        <p:spPr bwMode="ltGray">
          <a:xfrm>
            <a:off x="7467684" y="4330108"/>
            <a:ext cx="4279392" cy="1584377"/>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2" name="TextBox 11">
            <a:extLst>
              <a:ext uri="{FF2B5EF4-FFF2-40B4-BE49-F238E27FC236}">
                <a16:creationId xmlns:a16="http://schemas.microsoft.com/office/drawing/2014/main" id="{487B3734-2EE0-8E3C-1107-A4E6ADCF5D27}"/>
              </a:ext>
            </a:extLst>
          </p:cNvPr>
          <p:cNvSpPr txBox="1"/>
          <p:nvPr/>
        </p:nvSpPr>
        <p:spPr>
          <a:xfrm>
            <a:off x="7705656" y="4545215"/>
            <a:ext cx="2033814" cy="115416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A62"/>
                </a:solidFill>
                <a:effectLst/>
                <a:uLnTx/>
                <a:uFillTx/>
                <a:latin typeface="Arial"/>
                <a:ea typeface="+mn-ea"/>
                <a:cs typeface="+mn-cs"/>
              </a:rPr>
              <a:t>Register today to ensure prompt access to these highly anticipated events.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000A62"/>
                </a:solidFill>
                <a:effectLst/>
                <a:uLnTx/>
                <a:uFillTx/>
                <a:latin typeface="Arial"/>
                <a:ea typeface="+mn-ea"/>
                <a:cs typeface="+mn-cs"/>
              </a:rPr>
              <a:t>Events start at 1 pm ET* and run for 60 minutes</a:t>
            </a:r>
            <a:r>
              <a:rPr kumimoji="0" lang="en-US" sz="1400" b="0" i="0" u="none" strike="noStrike" kern="1200" cap="none" spc="0" normalizeH="0" baseline="0" noProof="0">
                <a:ln>
                  <a:noFill/>
                </a:ln>
                <a:solidFill>
                  <a:srgbClr val="000A62"/>
                </a:solidFill>
                <a:effectLst/>
                <a:uLnTx/>
                <a:uFillTx/>
                <a:latin typeface="Arial"/>
                <a:ea typeface="+mn-ea"/>
                <a:cs typeface="+mn-cs"/>
              </a:rPr>
              <a:t>.</a:t>
            </a:r>
            <a:endParaRPr kumimoji="0" lang="en-US" sz="1400" b="0" i="0" u="none" strike="noStrike" kern="1200" cap="none" spc="0" normalizeH="0" baseline="0" noProof="0">
              <a:ln>
                <a:noFill/>
              </a:ln>
              <a:solidFill>
                <a:srgbClr val="000A62"/>
              </a:solidFill>
              <a:effectLst/>
              <a:uLnTx/>
              <a:uFillTx/>
              <a:latin typeface="Arial"/>
              <a:ea typeface="+mn-ea"/>
              <a:cs typeface="Arial"/>
            </a:endParaRPr>
          </a:p>
        </p:txBody>
      </p:sp>
      <p:sp>
        <p:nvSpPr>
          <p:cNvPr id="13" name="Isosceles Triangle 12">
            <a:extLst>
              <a:ext uri="{FF2B5EF4-FFF2-40B4-BE49-F238E27FC236}">
                <a16:creationId xmlns:a16="http://schemas.microsoft.com/office/drawing/2014/main" id="{C49E910D-8AFE-EFDD-D605-0F37D98CD327}"/>
              </a:ext>
            </a:extLst>
          </p:cNvPr>
          <p:cNvSpPr/>
          <p:nvPr/>
        </p:nvSpPr>
        <p:spPr bwMode="ltGray">
          <a:xfrm rot="5400000">
            <a:off x="9842380" y="5004280"/>
            <a:ext cx="285220" cy="236032"/>
          </a:xfrm>
          <a:prstGeom prst="triangle">
            <a:avLst/>
          </a:prstGeom>
          <a:solidFill>
            <a:srgbClr val="000A62"/>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sp>
        <p:nvSpPr>
          <p:cNvPr id="20" name="TextBox 19">
            <a:extLst>
              <a:ext uri="{FF2B5EF4-FFF2-40B4-BE49-F238E27FC236}">
                <a16:creationId xmlns:a16="http://schemas.microsoft.com/office/drawing/2014/main" id="{FAE8E11C-1283-DDBA-25BF-891F6AB7D4CC}"/>
              </a:ext>
            </a:extLst>
          </p:cNvPr>
          <p:cNvSpPr txBox="1"/>
          <p:nvPr/>
        </p:nvSpPr>
        <p:spPr>
          <a:xfrm>
            <a:off x="7705656" y="1845816"/>
            <a:ext cx="3936520" cy="2174954"/>
          </a:xfrm>
          <a:prstGeom prst="rect">
            <a:avLst/>
          </a:prstGeom>
          <a:noFill/>
        </p:spPr>
        <p:txBody>
          <a:bodyPr wrap="square" lIns="0" tIns="0" rIns="0" bIns="0">
            <a:spAutoFit/>
          </a:bodyPr>
          <a:lstStyle/>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7-part quarterly series (Tuesdays)</a:t>
            </a:r>
          </a:p>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Educates on NYL life products</a:t>
            </a:r>
          </a:p>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Interactive sessions with </a:t>
            </a:r>
            <a:br>
              <a:rPr kumimoji="0" lang="en-US" sz="1800" b="0" i="0" u="none" strike="noStrike" kern="1200" cap="none" spc="0" normalizeH="0" baseline="0" noProof="0">
                <a:ln>
                  <a:noFill/>
                </a:ln>
                <a:solidFill>
                  <a:srgbClr val="FFFFFF"/>
                </a:solidFill>
                <a:effectLst/>
                <a:uLnTx/>
                <a:uFillTx/>
                <a:latin typeface="Arial"/>
                <a:ea typeface="+mn-ea"/>
                <a:cs typeface="+mn-cs"/>
              </a:rPr>
            </a:br>
            <a:r>
              <a:rPr kumimoji="0" lang="en-US" sz="1800" b="0" i="0" u="none" strike="noStrike" kern="1200" cap="none" spc="0" normalizeH="0" baseline="0" noProof="0">
                <a:ln>
                  <a:noFill/>
                </a:ln>
                <a:solidFill>
                  <a:srgbClr val="FFFFFF"/>
                </a:solidFill>
                <a:effectLst/>
                <a:uLnTx/>
                <a:uFillTx/>
                <a:latin typeface="Arial"/>
                <a:ea typeface="+mn-ea"/>
                <a:cs typeface="+mn-cs"/>
              </a:rPr>
              <a:t>product experts</a:t>
            </a:r>
          </a:p>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Provides ongoing education</a:t>
            </a:r>
          </a:p>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Open to agents and managers</a:t>
            </a:r>
          </a:p>
        </p:txBody>
      </p:sp>
      <p:graphicFrame>
        <p:nvGraphicFramePr>
          <p:cNvPr id="21" name="Table 20">
            <a:extLst>
              <a:ext uri="{FF2B5EF4-FFF2-40B4-BE49-F238E27FC236}">
                <a16:creationId xmlns:a16="http://schemas.microsoft.com/office/drawing/2014/main" id="{8D183E16-590B-51F4-1C8E-3E21D2EF3934}"/>
              </a:ext>
            </a:extLst>
          </p:cNvPr>
          <p:cNvGraphicFramePr>
            <a:graphicFrameLocks noGrp="1"/>
          </p:cNvGraphicFramePr>
          <p:nvPr/>
        </p:nvGraphicFramePr>
        <p:xfrm>
          <a:off x="438121" y="1525484"/>
          <a:ext cx="6925954" cy="4389004"/>
        </p:xfrm>
        <a:graphic>
          <a:graphicData uri="http://schemas.openxmlformats.org/drawingml/2006/table">
            <a:tbl>
              <a:tblPr/>
              <a:tblGrid>
                <a:gridCol w="615387">
                  <a:extLst>
                    <a:ext uri="{9D8B030D-6E8A-4147-A177-3AD203B41FA5}">
                      <a16:colId xmlns:a16="http://schemas.microsoft.com/office/drawing/2014/main" val="2782655341"/>
                    </a:ext>
                  </a:extLst>
                </a:gridCol>
                <a:gridCol w="1063796">
                  <a:extLst>
                    <a:ext uri="{9D8B030D-6E8A-4147-A177-3AD203B41FA5}">
                      <a16:colId xmlns:a16="http://schemas.microsoft.com/office/drawing/2014/main" val="1710925411"/>
                    </a:ext>
                  </a:extLst>
                </a:gridCol>
                <a:gridCol w="5246771">
                  <a:extLst>
                    <a:ext uri="{9D8B030D-6E8A-4147-A177-3AD203B41FA5}">
                      <a16:colId xmlns:a16="http://schemas.microsoft.com/office/drawing/2014/main" val="398805613"/>
                    </a:ext>
                  </a:extLst>
                </a:gridCol>
              </a:tblGrid>
              <a:tr h="538780">
                <a:tc gridSpan="3">
                  <a:txBody>
                    <a:bodyPr/>
                    <a:lstStyle/>
                    <a:p>
                      <a:pPr algn="l" fontAlgn="b">
                        <a:buNone/>
                      </a:pPr>
                      <a:r>
                        <a:rPr lang="en-US" sz="1800" b="1" i="0" u="none" strike="noStrike">
                          <a:solidFill>
                            <a:srgbClr val="80BAFF"/>
                          </a:solidFill>
                          <a:effectLst/>
                          <a:latin typeface="Georgia"/>
                          <a:cs typeface="Arial"/>
                        </a:rPr>
                        <a:t> </a:t>
                      </a:r>
                      <a:r>
                        <a:rPr lang="en-US" sz="1800" b="0" i="0" u="none" strike="noStrike">
                          <a:solidFill>
                            <a:schemeClr val="bg1"/>
                          </a:solidFill>
                          <a:effectLst/>
                          <a:latin typeface="Georgia"/>
                          <a:cs typeface="Arial"/>
                        </a:rPr>
                        <a:t>Life Insurance </a:t>
                      </a:r>
                    </a:p>
                  </a:txBody>
                  <a:tcPr marL="27432" marR="182880"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468FF"/>
                    </a:solidFill>
                  </a:tcPr>
                </a:tc>
                <a:tc hMerge="1">
                  <a:txBody>
                    <a:bodyPr/>
                    <a:lstStyle/>
                    <a:p>
                      <a:pPr algn="l" fontAlgn="b">
                        <a:buNone/>
                      </a:pP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27432" marR="27432" marT="27432" marB="27432" anchor="b">
                    <a:lnL>
                      <a:noFill/>
                    </a:lnL>
                    <a:lnR>
                      <a:noFill/>
                    </a:lnR>
                    <a:lnT w="12700" cap="flat" cmpd="sng" algn="ctr">
                      <a:solidFill>
                        <a:srgbClr val="FFFFFF"/>
                      </a:solidFill>
                      <a:prstDash val="solid"/>
                      <a:round/>
                      <a:headEnd type="none" w="med" len="med"/>
                      <a:tailEnd type="none" w="med" len="med"/>
                    </a:lnT>
                    <a:lnB>
                      <a:noFill/>
                    </a:lnB>
                    <a:noFill/>
                  </a:tcPr>
                </a:tc>
                <a:tc hMerge="1">
                  <a:txBody>
                    <a:bodyPr/>
                    <a:lstStyle/>
                    <a:p>
                      <a:endParaRPr/>
                    </a:p>
                  </a:txBody>
                  <a:tcPr marL="27432" marR="27432" marT="27432" marB="27432" anchor="b">
                    <a:lnL>
                      <a:noFill/>
                    </a:lnL>
                    <a:lnR>
                      <a:noFill/>
                    </a:lnR>
                    <a:lnT w="1270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1339364757"/>
                  </a:ext>
                </a:extLst>
              </a:tr>
              <a:tr h="550032">
                <a:tc>
                  <a:txBody>
                    <a:bodyPr/>
                    <a:lstStyle/>
                    <a:p>
                      <a:pPr algn="l" fontAlgn="b">
                        <a:buNone/>
                      </a:pPr>
                      <a:r>
                        <a:rPr lang="en-US" sz="1400" b="1" i="0" u="none" strike="noStrike">
                          <a:solidFill>
                            <a:schemeClr val="tx1"/>
                          </a:solidFill>
                          <a:effectLst/>
                          <a:latin typeface="Arial"/>
                          <a:cs typeface="Arial"/>
                        </a:rPr>
                        <a:t>7/14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tc>
                  <a:txBody>
                    <a:bodyPr/>
                    <a:lstStyle/>
                    <a:p>
                      <a:pPr algn="l" fontAlgn="b">
                        <a:buNone/>
                      </a:pPr>
                      <a:r>
                        <a:rPr lang="en-US" sz="1400" b="1" i="0" u="none" strike="noStrike">
                          <a:solidFill>
                            <a:schemeClr val="bg1"/>
                          </a:solidFill>
                          <a:effectLst/>
                          <a:latin typeface="Arial"/>
                          <a:cs typeface="Arial"/>
                        </a:rPr>
                        <a:t>Session 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A62"/>
                    </a:solidFill>
                  </a:tcPr>
                </a:tc>
                <a:tc>
                  <a:txBody>
                    <a:bodyPr/>
                    <a:lstStyle/>
                    <a:p>
                      <a:pPr algn="l" fontAlgn="b">
                        <a:buNone/>
                      </a:pPr>
                      <a:r>
                        <a:rPr lang="en-US" sz="1400" b="0" i="0" u="none" strike="noStrike">
                          <a:solidFill>
                            <a:schemeClr val="tx1"/>
                          </a:solidFill>
                          <a:effectLst/>
                          <a:latin typeface="Arial"/>
                          <a:cs typeface="Arial"/>
                        </a:rPr>
                        <a:t>Term Life Overview and Key Concepts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extLst>
                  <a:ext uri="{0D108BD9-81ED-4DB2-BD59-A6C34878D82A}">
                    <a16:rowId xmlns:a16="http://schemas.microsoft.com/office/drawing/2014/main" val="909707572"/>
                  </a:ext>
                </a:extLst>
              </a:tr>
              <a:tr h="550032">
                <a:tc>
                  <a:txBody>
                    <a:bodyPr/>
                    <a:lstStyle/>
                    <a:p>
                      <a:pPr algn="l" fontAlgn="b">
                        <a:buNone/>
                      </a:pPr>
                      <a:r>
                        <a:rPr lang="en-US" sz="1400" b="1" i="0" u="none" strike="noStrike">
                          <a:solidFill>
                            <a:schemeClr val="tx1"/>
                          </a:solidFill>
                          <a:effectLst/>
                          <a:latin typeface="Arial"/>
                          <a:cs typeface="Arial"/>
                        </a:rPr>
                        <a:t>7/21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tc>
                  <a:txBody>
                    <a:bodyPr/>
                    <a:lstStyle/>
                    <a:p>
                      <a:pPr algn="l" fontAlgn="b">
                        <a:buNone/>
                      </a:pPr>
                      <a:r>
                        <a:rPr lang="en-US" sz="1400" b="1" i="0" u="none" strike="noStrike">
                          <a:solidFill>
                            <a:schemeClr val="bg1"/>
                          </a:solidFill>
                          <a:effectLst/>
                          <a:latin typeface="Arial"/>
                          <a:cs typeface="Arial"/>
                        </a:rPr>
                        <a:t>Session 2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A62"/>
                    </a:solidFill>
                  </a:tcPr>
                </a:tc>
                <a:tc>
                  <a:txBody>
                    <a:bodyPr/>
                    <a:lstStyle/>
                    <a:p>
                      <a:pPr lvl="0" algn="l">
                        <a:buNone/>
                      </a:pPr>
                      <a:r>
                        <a:rPr lang="en-US" sz="1400" b="0" i="0" u="none" strike="noStrike" baseline="0" noProof="0">
                          <a:solidFill>
                            <a:srgbClr val="000962"/>
                          </a:solidFill>
                          <a:effectLst/>
                          <a:latin typeface="Arial"/>
                          <a:cs typeface="Arial"/>
                        </a:rPr>
                        <a:t>Integrating WL into Planning </a:t>
                      </a:r>
                      <a:r>
                        <a:rPr lang="en-US" sz="1400" b="0" i="0" u="none" strike="noStrike">
                          <a:solidFill>
                            <a:schemeClr val="tx1"/>
                          </a:solidFill>
                          <a:effectLst/>
                          <a:latin typeface="Arial"/>
                          <a:cs typeface="Arial"/>
                        </a:rPr>
                        <a:t>Guest Speaker: Allen Hensley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extLst>
                  <a:ext uri="{0D108BD9-81ED-4DB2-BD59-A6C34878D82A}">
                    <a16:rowId xmlns:a16="http://schemas.microsoft.com/office/drawing/2014/main" val="1381813382"/>
                  </a:ext>
                </a:extLst>
              </a:tr>
              <a:tr h="550032">
                <a:tc>
                  <a:txBody>
                    <a:bodyPr/>
                    <a:lstStyle/>
                    <a:p>
                      <a:pPr algn="l" fontAlgn="b">
                        <a:buNone/>
                      </a:pPr>
                      <a:r>
                        <a:rPr lang="en-US" sz="1400" b="1" i="0" u="none" strike="noStrike">
                          <a:solidFill>
                            <a:schemeClr val="tx1"/>
                          </a:solidFill>
                          <a:effectLst/>
                          <a:latin typeface="Arial"/>
                          <a:cs typeface="Arial"/>
                        </a:rPr>
                        <a:t>7/28</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tc>
                  <a:txBody>
                    <a:bodyPr/>
                    <a:lstStyle/>
                    <a:p>
                      <a:pPr algn="l" fontAlgn="b">
                        <a:buNone/>
                      </a:pPr>
                      <a:r>
                        <a:rPr lang="en-US" sz="1400" b="1" i="0" u="none" strike="noStrike">
                          <a:solidFill>
                            <a:schemeClr val="bg1"/>
                          </a:solidFill>
                          <a:effectLst/>
                          <a:latin typeface="Arial"/>
                          <a:cs typeface="Arial"/>
                        </a:rPr>
                        <a:t>Session 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A62"/>
                    </a:solidFill>
                  </a:tcPr>
                </a:tc>
                <a:tc>
                  <a:txBody>
                    <a:bodyPr/>
                    <a:lstStyle/>
                    <a:p>
                      <a:pPr algn="l" fontAlgn="b">
                        <a:buNone/>
                      </a:pPr>
                      <a:r>
                        <a:rPr lang="en-US" sz="1400" b="0" i="0" u="none" strike="noStrike">
                          <a:solidFill>
                            <a:schemeClr val="tx1"/>
                          </a:solidFill>
                          <a:effectLst/>
                          <a:latin typeface="Arial"/>
                          <a:cs typeface="Arial"/>
                        </a:rPr>
                        <a:t>Whole Life Product Overview &amp; Riders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extLst>
                  <a:ext uri="{0D108BD9-81ED-4DB2-BD59-A6C34878D82A}">
                    <a16:rowId xmlns:a16="http://schemas.microsoft.com/office/drawing/2014/main" val="1868455849"/>
                  </a:ext>
                </a:extLst>
              </a:tr>
              <a:tr h="550032">
                <a:tc>
                  <a:txBody>
                    <a:bodyPr/>
                    <a:lstStyle/>
                    <a:p>
                      <a:pPr algn="l" fontAlgn="b">
                        <a:buNone/>
                      </a:pPr>
                      <a:r>
                        <a:rPr lang="en-US" sz="1400" b="1" i="0" u="none" strike="noStrike">
                          <a:solidFill>
                            <a:schemeClr val="tx1"/>
                          </a:solidFill>
                          <a:effectLst/>
                          <a:latin typeface="Arial"/>
                          <a:cs typeface="Arial"/>
                        </a:rPr>
                        <a:t>8/4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tc>
                  <a:txBody>
                    <a:bodyPr/>
                    <a:lstStyle/>
                    <a:p>
                      <a:pPr algn="l" fontAlgn="b">
                        <a:buNone/>
                      </a:pPr>
                      <a:r>
                        <a:rPr lang="en-US" sz="1400" b="1" i="0" u="none" strike="noStrike">
                          <a:solidFill>
                            <a:schemeClr val="bg1"/>
                          </a:solidFill>
                          <a:effectLst/>
                          <a:latin typeface="Arial"/>
                          <a:cs typeface="Arial"/>
                        </a:rPr>
                        <a:t>Session 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A62"/>
                    </a:solidFill>
                  </a:tcPr>
                </a:tc>
                <a:tc>
                  <a:txBody>
                    <a:bodyPr/>
                    <a:lstStyle/>
                    <a:p>
                      <a:pPr algn="l" fontAlgn="b">
                        <a:buNone/>
                      </a:pPr>
                      <a:r>
                        <a:rPr lang="en-US" sz="1400" b="0" i="0" u="none" strike="noStrike">
                          <a:solidFill>
                            <a:schemeClr val="tx1"/>
                          </a:solidFill>
                          <a:effectLst/>
                          <a:latin typeface="Arial"/>
                          <a:cs typeface="Arial"/>
                        </a:rPr>
                        <a:t>Whole Life Key Sales Concepts: SLIRP, BOWL, &amp; FIR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extLst>
                  <a:ext uri="{0D108BD9-81ED-4DB2-BD59-A6C34878D82A}">
                    <a16:rowId xmlns:a16="http://schemas.microsoft.com/office/drawing/2014/main" val="3317296599"/>
                  </a:ext>
                </a:extLst>
              </a:tr>
              <a:tr h="550032">
                <a:tc>
                  <a:txBody>
                    <a:bodyPr/>
                    <a:lstStyle/>
                    <a:p>
                      <a:pPr algn="l" fontAlgn="b">
                        <a:buNone/>
                      </a:pPr>
                      <a:r>
                        <a:rPr lang="en-US" sz="1400" b="1" i="0" u="none" strike="noStrike">
                          <a:solidFill>
                            <a:schemeClr val="tx1"/>
                          </a:solidFill>
                          <a:effectLst/>
                          <a:latin typeface="Arial"/>
                          <a:cs typeface="Arial"/>
                        </a:rPr>
                        <a:t>8/11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tc>
                  <a:txBody>
                    <a:bodyPr/>
                    <a:lstStyle/>
                    <a:p>
                      <a:pPr algn="l" fontAlgn="b">
                        <a:buNone/>
                      </a:pPr>
                      <a:r>
                        <a:rPr lang="en-US" sz="1400" b="1" i="0" u="none" strike="noStrike">
                          <a:solidFill>
                            <a:schemeClr val="bg1"/>
                          </a:solidFill>
                          <a:effectLst/>
                          <a:latin typeface="Arial"/>
                          <a:cs typeface="Arial"/>
                        </a:rPr>
                        <a:t>Session 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A62"/>
                    </a:solidFill>
                  </a:tcPr>
                </a:tc>
                <a:tc>
                  <a:txBody>
                    <a:bodyPr/>
                    <a:lstStyle/>
                    <a:p>
                      <a:pPr algn="l" fontAlgn="b">
                        <a:buNone/>
                      </a:pPr>
                      <a:r>
                        <a:rPr lang="en-US" sz="1400" b="0" i="0" u="none" strike="noStrike">
                          <a:solidFill>
                            <a:schemeClr val="tx1"/>
                          </a:solidFill>
                          <a:effectLst/>
                          <a:latin typeface="Arial"/>
                          <a:cs typeface="Arial"/>
                        </a:rPr>
                        <a:t>Variable Universal Life Product Overview &amp; Key Concepts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extLst>
                  <a:ext uri="{0D108BD9-81ED-4DB2-BD59-A6C34878D82A}">
                    <a16:rowId xmlns:a16="http://schemas.microsoft.com/office/drawing/2014/main" val="1325359472"/>
                  </a:ext>
                </a:extLst>
              </a:tr>
              <a:tr h="550032">
                <a:tc>
                  <a:txBody>
                    <a:bodyPr/>
                    <a:lstStyle/>
                    <a:p>
                      <a:pPr algn="l" fontAlgn="b">
                        <a:buNone/>
                      </a:pPr>
                      <a:r>
                        <a:rPr lang="en-US" sz="1400" b="1" i="0" u="none" strike="noStrike">
                          <a:solidFill>
                            <a:schemeClr val="tx1"/>
                          </a:solidFill>
                          <a:effectLst/>
                          <a:latin typeface="Arial"/>
                          <a:cs typeface="Arial"/>
                        </a:rPr>
                        <a:t>8/18</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tc>
                  <a:txBody>
                    <a:bodyPr/>
                    <a:lstStyle/>
                    <a:p>
                      <a:pPr algn="l" fontAlgn="b">
                        <a:buNone/>
                      </a:pPr>
                      <a:r>
                        <a:rPr lang="en-US" sz="1400" b="1" i="0" u="none" strike="noStrike">
                          <a:solidFill>
                            <a:schemeClr val="bg1"/>
                          </a:solidFill>
                          <a:effectLst/>
                          <a:latin typeface="Arial"/>
                          <a:cs typeface="Arial"/>
                        </a:rPr>
                        <a:t>Session 6</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A62"/>
                    </a:solidFill>
                  </a:tcPr>
                </a:tc>
                <a:tc>
                  <a:txBody>
                    <a:bodyPr/>
                    <a:lstStyle/>
                    <a:p>
                      <a:pPr lvl="0" algn="l">
                        <a:buNone/>
                      </a:pPr>
                      <a:r>
                        <a:rPr lang="en-US" sz="1400" b="0" i="0" u="none" strike="noStrike" baseline="0" noProof="0">
                          <a:solidFill>
                            <a:srgbClr val="000962"/>
                          </a:solidFill>
                          <a:effectLst/>
                          <a:latin typeface="Arial"/>
                          <a:cs typeface="Arial"/>
                        </a:rPr>
                        <a:t>Universal Life Product Overview &amp; Key Concepts </a:t>
                      </a:r>
                      <a:endParaRPr 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extLst>
                  <a:ext uri="{0D108BD9-81ED-4DB2-BD59-A6C34878D82A}">
                    <a16:rowId xmlns:a16="http://schemas.microsoft.com/office/drawing/2014/main" val="4257307086"/>
                  </a:ext>
                </a:extLst>
              </a:tr>
              <a:tr h="550032">
                <a:tc>
                  <a:txBody>
                    <a:bodyPr/>
                    <a:lstStyle/>
                    <a:p>
                      <a:pPr algn="l" fontAlgn="b">
                        <a:buNone/>
                      </a:pPr>
                      <a:r>
                        <a:rPr lang="en-US" sz="1400" b="1" i="0" u="none" strike="noStrike">
                          <a:solidFill>
                            <a:schemeClr val="tx1"/>
                          </a:solidFill>
                          <a:effectLst/>
                          <a:latin typeface="Arial"/>
                          <a:cs typeface="Arial"/>
                        </a:rPr>
                        <a:t>8/25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tc>
                  <a:txBody>
                    <a:bodyPr/>
                    <a:lstStyle/>
                    <a:p>
                      <a:pPr algn="l" fontAlgn="b">
                        <a:buNone/>
                      </a:pPr>
                      <a:r>
                        <a:rPr lang="en-US" sz="1400" b="1" i="0" u="none" strike="noStrike">
                          <a:solidFill>
                            <a:schemeClr val="bg1"/>
                          </a:solidFill>
                          <a:effectLst/>
                          <a:latin typeface="Arial"/>
                          <a:cs typeface="Arial"/>
                        </a:rPr>
                        <a:t>Session 7</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A62"/>
                    </a:solidFill>
                  </a:tcPr>
                </a:tc>
                <a:tc>
                  <a:txBody>
                    <a:bodyPr/>
                    <a:lstStyle/>
                    <a:p>
                      <a:pPr algn="l" fontAlgn="b">
                        <a:buNone/>
                      </a:pPr>
                      <a:r>
                        <a:rPr lang="en-US" sz="1400" b="0" i="0" u="none" strike="noStrike" noProof="0">
                          <a:solidFill>
                            <a:schemeClr val="tx1"/>
                          </a:solidFill>
                          <a:effectLst/>
                          <a:latin typeface="Arial"/>
                          <a:cs typeface="Arial"/>
                        </a:rPr>
                        <a:t>Universal Life Product Case Study Live Demonstration</a:t>
                      </a:r>
                      <a:endParaRPr lang="en-US" sz="1400" b="0" i="0" u="none" strike="noStrike">
                        <a:solidFill>
                          <a:schemeClr val="tx1"/>
                        </a:solidFill>
                        <a:effectLst/>
                        <a:latin typeface="Arial"/>
                        <a:cs typeface="Aria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extLst>
                  <a:ext uri="{0D108BD9-81ED-4DB2-BD59-A6C34878D82A}">
                    <a16:rowId xmlns:a16="http://schemas.microsoft.com/office/drawing/2014/main" val="4045166931"/>
                  </a:ext>
                </a:extLst>
              </a:tr>
            </a:tbl>
          </a:graphicData>
        </a:graphic>
      </p:graphicFrame>
      <p:sp>
        <p:nvSpPr>
          <p:cNvPr id="22" name="Oval 21">
            <a:extLst>
              <a:ext uri="{FF2B5EF4-FFF2-40B4-BE49-F238E27FC236}">
                <a16:creationId xmlns:a16="http://schemas.microsoft.com/office/drawing/2014/main" id="{368C2503-4095-733D-F6B7-7AFEC5322E0D}"/>
              </a:ext>
            </a:extLst>
          </p:cNvPr>
          <p:cNvSpPr/>
          <p:nvPr/>
        </p:nvSpPr>
        <p:spPr>
          <a:xfrm>
            <a:off x="10102924" y="177378"/>
            <a:ext cx="1633728" cy="163372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pic>
        <p:nvPicPr>
          <p:cNvPr id="15" name="Picture 14">
            <a:extLst>
              <a:ext uri="{FF2B5EF4-FFF2-40B4-BE49-F238E27FC236}">
                <a16:creationId xmlns:a16="http://schemas.microsoft.com/office/drawing/2014/main" id="{0836EDC6-54CF-DB6A-C196-5918BC7605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137634" y="212088"/>
            <a:ext cx="1564308" cy="1564308"/>
          </a:xfrm>
          <a:prstGeom prst="rect">
            <a:avLst/>
          </a:prstGeom>
        </p:spPr>
      </p:pic>
      <p:sp>
        <p:nvSpPr>
          <p:cNvPr id="24" name="TextBox 23">
            <a:extLst>
              <a:ext uri="{FF2B5EF4-FFF2-40B4-BE49-F238E27FC236}">
                <a16:creationId xmlns:a16="http://schemas.microsoft.com/office/drawing/2014/main" id="{AD07A7B6-C5E1-11C2-D863-133019FB6B09}"/>
              </a:ext>
            </a:extLst>
          </p:cNvPr>
          <p:cNvSpPr txBox="1"/>
          <p:nvPr/>
        </p:nvSpPr>
        <p:spPr>
          <a:xfrm>
            <a:off x="2939918" y="6294493"/>
            <a:ext cx="6097712"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srgbClr val="000962"/>
                </a:solidFill>
                <a:effectLst/>
                <a:uLnTx/>
                <a:uFillTx/>
                <a:latin typeface="Arial"/>
                <a:ea typeface="+mn-ea"/>
                <a:cs typeface="+mn-cs"/>
              </a:rPr>
              <a:t>*12 pm CT, 11 am MT, 10 am PT, 9 am Alaska, 7 am Hawaii</a:t>
            </a:r>
            <a:endParaRPr kumimoji="0" lang="en-US" sz="1200" b="0" i="0" u="none" strike="noStrike" kern="1200" cap="none" spc="0" normalizeH="0" baseline="0" noProof="0">
              <a:ln>
                <a:noFill/>
              </a:ln>
              <a:solidFill>
                <a:srgbClr val="000962"/>
              </a:solidFill>
              <a:effectLst/>
              <a:uLnTx/>
              <a:uFillTx/>
              <a:latin typeface="Arial"/>
              <a:ea typeface="+mn-ea"/>
              <a:cs typeface="+mn-cs"/>
            </a:endParaRPr>
          </a:p>
        </p:txBody>
      </p:sp>
      <p:pic>
        <p:nvPicPr>
          <p:cNvPr id="28" name="Picture 27">
            <a:extLst>
              <a:ext uri="{FF2B5EF4-FFF2-40B4-BE49-F238E27FC236}">
                <a16:creationId xmlns:a16="http://schemas.microsoft.com/office/drawing/2014/main" id="{CB72208E-D156-0E31-463F-6BEC63D197A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30510" y="4409402"/>
            <a:ext cx="1425787" cy="1425787"/>
          </a:xfrm>
          <a:prstGeom prst="rect">
            <a:avLst/>
          </a:prstGeom>
        </p:spPr>
      </p:pic>
    </p:spTree>
    <p:extLst>
      <p:ext uri="{BB962C8B-B14F-4D97-AF65-F5344CB8AC3E}">
        <p14:creationId xmlns:p14="http://schemas.microsoft.com/office/powerpoint/2010/main" val="29298524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B697B-5DB0-964D-EF02-FA5A5E22A00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F79A2E6-6829-53F4-EB31-9AAD898D3012}"/>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6CDDEF40-D36F-0AB1-9987-9CDC077184EB}"/>
              </a:ext>
            </a:extLst>
          </p:cNvPr>
          <p:cNvSpPr>
            <a:spLocks noGrp="1"/>
          </p:cNvSpPr>
          <p:nvPr>
            <p:ph type="title"/>
          </p:nvPr>
        </p:nvSpPr>
        <p:spPr/>
        <p:txBody>
          <a:bodyPr/>
          <a:lstStyle/>
          <a:p>
            <a:r>
              <a:rPr lang="en-US"/>
              <a:t>Target Markets Upcoming Webinars</a:t>
            </a:r>
          </a:p>
        </p:txBody>
      </p:sp>
      <p:sp>
        <p:nvSpPr>
          <p:cNvPr id="3" name="Content Placeholder 2">
            <a:extLst>
              <a:ext uri="{FF2B5EF4-FFF2-40B4-BE49-F238E27FC236}">
                <a16:creationId xmlns:a16="http://schemas.microsoft.com/office/drawing/2014/main" id="{05D9CF6A-368F-73C3-9D8B-BB785BFFBCAD}"/>
              </a:ext>
            </a:extLst>
          </p:cNvPr>
          <p:cNvSpPr>
            <a:spLocks noGrp="1"/>
          </p:cNvSpPr>
          <p:nvPr>
            <p:ph idx="1"/>
          </p:nvPr>
        </p:nvSpPr>
        <p:spPr>
          <a:xfrm>
            <a:off x="457200" y="1698295"/>
            <a:ext cx="5369869" cy="4375179"/>
          </a:xfrm>
        </p:spPr>
        <p:txBody>
          <a:bodyPr/>
          <a:lstStyle/>
          <a:p>
            <a:pPr marL="0" lvl="0" indent="0">
              <a:lnSpc>
                <a:spcPct val="100000"/>
              </a:lnSpc>
              <a:spcBef>
                <a:spcPts val="0"/>
              </a:spcBef>
              <a:buNone/>
              <a:defRPr/>
            </a:pPr>
            <a:r>
              <a:rPr lang="en-US" b="1">
                <a:solidFill>
                  <a:schemeClr val="tx1"/>
                </a:solidFill>
              </a:rPr>
              <a:t>Chinese Market </a:t>
            </a:r>
            <a:br>
              <a:rPr lang="en-US" b="1">
                <a:solidFill>
                  <a:schemeClr val="tx1"/>
                </a:solidFill>
              </a:rPr>
            </a:br>
            <a:r>
              <a:rPr lang="en-US" b="1">
                <a:solidFill>
                  <a:schemeClr val="tx1"/>
                </a:solidFill>
              </a:rPr>
              <a:t>Monthly SIE Study Group Sessions</a:t>
            </a:r>
          </a:p>
          <a:p>
            <a:pPr marL="0" lvl="0" indent="0">
              <a:lnSpc>
                <a:spcPct val="100000"/>
              </a:lnSpc>
              <a:spcBef>
                <a:spcPts val="0"/>
              </a:spcBef>
              <a:buNone/>
              <a:defRPr/>
            </a:pPr>
            <a:endParaRPr lang="en-US">
              <a:solidFill>
                <a:schemeClr val="tx1"/>
              </a:solidFill>
            </a:endParaRPr>
          </a:p>
          <a:p>
            <a:pPr marL="0" lvl="0" indent="0">
              <a:lnSpc>
                <a:spcPct val="100000"/>
              </a:lnSpc>
              <a:spcBef>
                <a:spcPts val="0"/>
              </a:spcBef>
              <a:buNone/>
              <a:defRPr/>
            </a:pPr>
            <a:r>
              <a:rPr lang="fr-FR">
                <a:solidFill>
                  <a:schemeClr val="tx1"/>
                </a:solidFill>
              </a:rPr>
              <a:t>Monday, July 6, 4 pm ET</a:t>
            </a:r>
          </a:p>
          <a:p>
            <a:pPr marL="0" lvl="0" indent="0">
              <a:lnSpc>
                <a:spcPct val="100000"/>
              </a:lnSpc>
              <a:spcBef>
                <a:spcPts val="0"/>
              </a:spcBef>
              <a:buNone/>
              <a:defRPr/>
            </a:pPr>
            <a:endParaRPr lang="en-US">
              <a:solidFill>
                <a:schemeClr val="tx1"/>
              </a:solidFill>
            </a:endParaRPr>
          </a:p>
          <a:p>
            <a:pPr marL="0" lvl="0" indent="0">
              <a:lnSpc>
                <a:spcPct val="100000"/>
              </a:lnSpc>
              <a:spcBef>
                <a:spcPts val="0"/>
              </a:spcBef>
              <a:buNone/>
              <a:defRPr/>
            </a:pPr>
            <a:r>
              <a:rPr lang="en-US">
                <a:solidFill>
                  <a:schemeClr val="tx1"/>
                </a:solidFill>
              </a:rPr>
              <a:t>Chinese Market will conduct a series of SIE tutorial sessions based on STC study material. All sessions will be conducted primarily in Mandarin Chinese and English. </a:t>
            </a:r>
          </a:p>
          <a:p>
            <a:pPr marL="0" lvl="0" indent="0">
              <a:lnSpc>
                <a:spcPct val="100000"/>
              </a:lnSpc>
              <a:spcBef>
                <a:spcPts val="0"/>
              </a:spcBef>
              <a:buNone/>
              <a:defRPr/>
            </a:pPr>
            <a:endParaRPr lang="en-US">
              <a:solidFill>
                <a:schemeClr val="tx1"/>
              </a:solidFill>
            </a:endParaRPr>
          </a:p>
          <a:p>
            <a:pPr marL="0" lvl="0" indent="0">
              <a:lnSpc>
                <a:spcPct val="100000"/>
              </a:lnSpc>
              <a:spcBef>
                <a:spcPts val="0"/>
              </a:spcBef>
              <a:buNone/>
              <a:defRPr/>
            </a:pPr>
            <a:endParaRPr lang="en-US">
              <a:solidFill>
                <a:schemeClr val="tx1"/>
              </a:solidFill>
            </a:endParaRPr>
          </a:p>
          <a:p>
            <a:pPr marL="0" lvl="0" indent="0">
              <a:lnSpc>
                <a:spcPct val="100000"/>
              </a:lnSpc>
              <a:spcBef>
                <a:spcPts val="0"/>
              </a:spcBef>
              <a:buNone/>
              <a:defRPr/>
            </a:pPr>
            <a:endParaRPr lang="en-US">
              <a:solidFill>
                <a:schemeClr val="tx1"/>
              </a:solidFill>
            </a:endParaRPr>
          </a:p>
        </p:txBody>
      </p:sp>
      <p:sp>
        <p:nvSpPr>
          <p:cNvPr id="6" name="Rectangle 5">
            <a:extLst>
              <a:ext uri="{FF2B5EF4-FFF2-40B4-BE49-F238E27FC236}">
                <a16:creationId xmlns:a16="http://schemas.microsoft.com/office/drawing/2014/main" id="{4D7208B3-53AF-3BF2-A1A8-0EEF8F5F503E}"/>
              </a:ext>
            </a:extLst>
          </p:cNvPr>
          <p:cNvSpPr/>
          <p:nvPr/>
        </p:nvSpPr>
        <p:spPr bwMode="ltGray">
          <a:xfrm>
            <a:off x="6246343" y="4820094"/>
            <a:ext cx="5488452"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7" name="Isosceles Triangle 6">
            <a:extLst>
              <a:ext uri="{FF2B5EF4-FFF2-40B4-BE49-F238E27FC236}">
                <a16:creationId xmlns:a16="http://schemas.microsoft.com/office/drawing/2014/main" id="{57BC37D7-EDE5-D8D5-DD74-A4E5C720507B}"/>
              </a:ext>
            </a:extLst>
          </p:cNvPr>
          <p:cNvSpPr/>
          <p:nvPr/>
        </p:nvSpPr>
        <p:spPr bwMode="ltGray">
          <a:xfrm rot="5400000">
            <a:off x="10057079"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8" name="TextBox 7">
            <a:extLst>
              <a:ext uri="{FF2B5EF4-FFF2-40B4-BE49-F238E27FC236}">
                <a16:creationId xmlns:a16="http://schemas.microsoft.com/office/drawing/2014/main" id="{9C16E1A6-2CDA-A802-FEE5-8139062F4A1D}"/>
              </a:ext>
            </a:extLst>
          </p:cNvPr>
          <p:cNvSpPr txBox="1"/>
          <p:nvPr/>
        </p:nvSpPr>
        <p:spPr>
          <a:xfrm>
            <a:off x="6652910" y="5123712"/>
            <a:ext cx="3358157" cy="7386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to register for Monthly SIE Study Group Sessions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965"/>
              </a:solidFill>
              <a:effectLst/>
              <a:uLnTx/>
              <a:uFillTx/>
              <a:latin typeface="Arial"/>
              <a:ea typeface="+mn-ea"/>
              <a:cs typeface="+mn-cs"/>
            </a:endParaRPr>
          </a:p>
        </p:txBody>
      </p:sp>
      <p:sp>
        <p:nvSpPr>
          <p:cNvPr id="9" name="Rectangle 8">
            <a:extLst>
              <a:ext uri="{FF2B5EF4-FFF2-40B4-BE49-F238E27FC236}">
                <a16:creationId xmlns:a16="http://schemas.microsoft.com/office/drawing/2014/main" id="{27E98B80-7557-E59F-A567-D80966DB553C}"/>
              </a:ext>
            </a:extLst>
          </p:cNvPr>
          <p:cNvSpPr>
            <a:spLocks/>
          </p:cNvSpPr>
          <p:nvPr/>
        </p:nvSpPr>
        <p:spPr>
          <a:xfrm rot="10800000" flipV="1">
            <a:off x="10635115" y="4820093"/>
            <a:ext cx="1099679" cy="1099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pic>
        <p:nvPicPr>
          <p:cNvPr id="12" name="Picture 4">
            <a:extLst>
              <a:ext uri="{FF2B5EF4-FFF2-40B4-BE49-F238E27FC236}">
                <a16:creationId xmlns:a16="http://schemas.microsoft.com/office/drawing/2014/main" id="{2EAC52D3-2C4B-EA6C-9C2B-6A86C521D7E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10721213" y="4898445"/>
            <a:ext cx="942975" cy="9429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BD680F16-BD40-7162-CF30-C3E90C058FA2}"/>
              </a:ext>
            </a:extLst>
          </p:cNvPr>
          <p:cNvPicPr>
            <a:picLocks noChangeAspect="1"/>
          </p:cNvPicPr>
          <p:nvPr/>
        </p:nvPicPr>
        <p:blipFill>
          <a:blip r:embed="rId4" cstate="print">
            <a:extLst>
              <a:ext uri="{28A0092B-C50C-407E-A947-70E740481C1C}">
                <a14:useLocalDpi xmlns:a14="http://schemas.microsoft.com/office/drawing/2010/main" val="0"/>
              </a:ext>
            </a:extLst>
          </a:blip>
          <a:srcRect t="6221" b="6221"/>
          <a:stretch/>
        </p:blipFill>
        <p:spPr>
          <a:xfrm>
            <a:off x="6284279" y="1546476"/>
            <a:ext cx="5450516" cy="3181999"/>
          </a:xfrm>
          <a:prstGeom prst="rect">
            <a:avLst/>
          </a:prstGeom>
        </p:spPr>
      </p:pic>
    </p:spTree>
    <p:extLst>
      <p:ext uri="{BB962C8B-B14F-4D97-AF65-F5344CB8AC3E}">
        <p14:creationId xmlns:p14="http://schemas.microsoft.com/office/powerpoint/2010/main" val="3170635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9E139-AC6F-897E-6504-36A5F0103BA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A908A21-86A5-41B8-90BC-F8D29F1E5107}"/>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25F33DE8-F48A-DD21-A904-C942BB301D5B}"/>
              </a:ext>
            </a:extLst>
          </p:cNvPr>
          <p:cNvSpPr>
            <a:spLocks noGrp="1"/>
          </p:cNvSpPr>
          <p:nvPr>
            <p:ph type="title"/>
          </p:nvPr>
        </p:nvSpPr>
        <p:spPr/>
        <p:txBody>
          <a:bodyPr/>
          <a:lstStyle/>
          <a:p>
            <a:r>
              <a:rPr lang="en-US">
                <a:latin typeface="Georgia"/>
              </a:rPr>
              <a:t>NYLIFE Securities Essentials Webinar</a:t>
            </a:r>
            <a:endParaRPr lang="en-US"/>
          </a:p>
        </p:txBody>
      </p:sp>
      <p:sp>
        <p:nvSpPr>
          <p:cNvPr id="4" name="Text Placeholder 3">
            <a:extLst>
              <a:ext uri="{FF2B5EF4-FFF2-40B4-BE49-F238E27FC236}">
                <a16:creationId xmlns:a16="http://schemas.microsoft.com/office/drawing/2014/main" id="{372DEA9A-5452-0418-BB07-F297E1BE2090}"/>
              </a:ext>
            </a:extLst>
          </p:cNvPr>
          <p:cNvSpPr>
            <a:spLocks noGrp="1"/>
          </p:cNvSpPr>
          <p:nvPr>
            <p:ph type="body" sz="quarter" idx="12"/>
          </p:nvPr>
        </p:nvSpPr>
        <p:spPr>
          <a:xfrm>
            <a:off x="439946" y="953242"/>
            <a:ext cx="11294854" cy="496033"/>
          </a:xfrm>
        </p:spPr>
        <p:txBody>
          <a:bodyPr/>
          <a:lstStyle/>
          <a:p>
            <a:r>
              <a:rPr lang="en-US">
                <a:cs typeface="Arial"/>
              </a:rPr>
              <a:t>"Introduction to </a:t>
            </a:r>
            <a:r>
              <a:rPr lang="en-US" err="1">
                <a:cs typeface="Arial"/>
              </a:rPr>
              <a:t>Wealthscape</a:t>
            </a:r>
            <a:r>
              <a:rPr lang="en-US">
                <a:cs typeface="Arial"/>
              </a:rPr>
              <a:t>"</a:t>
            </a:r>
            <a:endParaRPr lang="en-US" err="1"/>
          </a:p>
        </p:txBody>
      </p:sp>
      <p:sp>
        <p:nvSpPr>
          <p:cNvPr id="7" name="Rectangle 6">
            <a:extLst>
              <a:ext uri="{FF2B5EF4-FFF2-40B4-BE49-F238E27FC236}">
                <a16:creationId xmlns:a16="http://schemas.microsoft.com/office/drawing/2014/main" id="{16AC05F5-C1A3-7230-E3F7-4D44310E8281}"/>
              </a:ext>
            </a:extLst>
          </p:cNvPr>
          <p:cNvSpPr/>
          <p:nvPr/>
        </p:nvSpPr>
        <p:spPr bwMode="ltGray">
          <a:xfrm>
            <a:off x="7391395" y="4820094"/>
            <a:ext cx="4343400"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8" name="Rectangle 7">
            <a:extLst>
              <a:ext uri="{FF2B5EF4-FFF2-40B4-BE49-F238E27FC236}">
                <a16:creationId xmlns:a16="http://schemas.microsoft.com/office/drawing/2014/main" id="{26CB9B0A-10C1-AADC-305B-989ADF6A017B}"/>
              </a:ext>
            </a:extLst>
          </p:cNvPr>
          <p:cNvSpPr/>
          <p:nvPr/>
        </p:nvSpPr>
        <p:spPr>
          <a:xfrm>
            <a:off x="7391400" y="1535039"/>
            <a:ext cx="4343400" cy="3189738"/>
          </a:xfrm>
          <a:prstGeom prst="rect">
            <a:avLst/>
          </a:prstGeom>
          <a:solidFill>
            <a:schemeClr val="accent2">
              <a:alpha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 name="Isosceles Triangle 11">
            <a:extLst>
              <a:ext uri="{FF2B5EF4-FFF2-40B4-BE49-F238E27FC236}">
                <a16:creationId xmlns:a16="http://schemas.microsoft.com/office/drawing/2014/main" id="{CD918BB2-0C40-2E3A-B87B-0635129754F6}"/>
              </a:ext>
            </a:extLst>
          </p:cNvPr>
          <p:cNvSpPr/>
          <p:nvPr/>
        </p:nvSpPr>
        <p:spPr bwMode="ltGray">
          <a:xfrm rot="5400000">
            <a:off x="10057079"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3" name="TextBox 12">
            <a:extLst>
              <a:ext uri="{FF2B5EF4-FFF2-40B4-BE49-F238E27FC236}">
                <a16:creationId xmlns:a16="http://schemas.microsoft.com/office/drawing/2014/main" id="{18D82D59-732A-67BC-F09D-C0848022D4DD}"/>
              </a:ext>
            </a:extLst>
          </p:cNvPr>
          <p:cNvSpPr txBox="1"/>
          <p:nvPr/>
        </p:nvSpPr>
        <p:spPr>
          <a:xfrm>
            <a:off x="7716137" y="5000601"/>
            <a:ext cx="2048126" cy="7386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to register for this event or webinar</a:t>
            </a:r>
            <a:r>
              <a:rPr kumimoji="0" lang="en-US" sz="1600" b="0" i="0" u="none" strike="noStrike" kern="1200" cap="none" spc="0" normalizeH="0" baseline="0" noProof="0">
                <a:ln>
                  <a:noFill/>
                </a:ln>
                <a:solidFill>
                  <a:srgbClr val="7FB9FF"/>
                </a:solidFill>
                <a:effectLst/>
                <a:uLnTx/>
                <a:uFillTx/>
                <a:latin typeface="Arial"/>
                <a:ea typeface="+mn-ea"/>
                <a:cs typeface="+mn-cs"/>
              </a:rPr>
              <a:t>. </a:t>
            </a:r>
          </a:p>
        </p:txBody>
      </p:sp>
      <p:sp>
        <p:nvSpPr>
          <p:cNvPr id="15" name="Rectangle 14">
            <a:extLst>
              <a:ext uri="{FF2B5EF4-FFF2-40B4-BE49-F238E27FC236}">
                <a16:creationId xmlns:a16="http://schemas.microsoft.com/office/drawing/2014/main" id="{1639C18B-DE97-68B7-5192-737C70C06FF2}"/>
              </a:ext>
            </a:extLst>
          </p:cNvPr>
          <p:cNvSpPr>
            <a:spLocks/>
          </p:cNvSpPr>
          <p:nvPr/>
        </p:nvSpPr>
        <p:spPr>
          <a:xfrm rot="10800000" flipV="1">
            <a:off x="10635115" y="4820093"/>
            <a:ext cx="1099679" cy="1099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Add </a:t>
            </a:r>
            <a:br>
              <a:rPr kumimoji="0" lang="en-US" sz="1600" b="0" i="0" u="none" strike="noStrike" kern="1200" cap="none" spc="0" normalizeH="0" baseline="0" noProof="0">
                <a:ln>
                  <a:noFill/>
                </a:ln>
                <a:solidFill>
                  <a:srgbClr val="000000"/>
                </a:solidFill>
                <a:effectLst/>
                <a:uLnTx/>
                <a:uFillTx/>
                <a:latin typeface="Arial"/>
                <a:ea typeface="+mn-ea"/>
                <a:cs typeface="+mn-cs"/>
              </a:rPr>
            </a:br>
            <a:r>
              <a:rPr kumimoji="0" lang="en-US" sz="1600" b="0" i="0" u="none" strike="noStrike" kern="1200" cap="none" spc="0" normalizeH="0" baseline="0" noProof="0">
                <a:ln>
                  <a:noFill/>
                </a:ln>
                <a:solidFill>
                  <a:srgbClr val="000000"/>
                </a:solidFill>
                <a:effectLst/>
                <a:uLnTx/>
                <a:uFillTx/>
                <a:latin typeface="Arial"/>
                <a:ea typeface="+mn-ea"/>
                <a:cs typeface="+mn-cs"/>
              </a:rPr>
              <a:t>QR code here</a:t>
            </a:r>
          </a:p>
        </p:txBody>
      </p:sp>
      <p:sp>
        <p:nvSpPr>
          <p:cNvPr id="16" name="TextBox 15">
            <a:extLst>
              <a:ext uri="{FF2B5EF4-FFF2-40B4-BE49-F238E27FC236}">
                <a16:creationId xmlns:a16="http://schemas.microsoft.com/office/drawing/2014/main" id="{AA3EC8B2-8E9B-B397-6467-F95967E41B1E}"/>
              </a:ext>
            </a:extLst>
          </p:cNvPr>
          <p:cNvSpPr txBox="1"/>
          <p:nvPr/>
        </p:nvSpPr>
        <p:spPr>
          <a:xfrm>
            <a:off x="7402287" y="1541055"/>
            <a:ext cx="4325112" cy="430887"/>
          </a:xfrm>
          <a:prstGeom prst="rect">
            <a:avLst/>
          </a:prstGeom>
          <a:solidFill>
            <a:schemeClr val="tx1"/>
          </a:solidFill>
        </p:spPr>
        <p:txBody>
          <a:bodyPr wrap="square" lIns="182880" tIns="91440" rIns="91440" bIns="9144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Featured speakers</a:t>
            </a:r>
          </a:p>
        </p:txBody>
      </p:sp>
      <p:sp>
        <p:nvSpPr>
          <p:cNvPr id="26" name="TextBox 25">
            <a:extLst>
              <a:ext uri="{FF2B5EF4-FFF2-40B4-BE49-F238E27FC236}">
                <a16:creationId xmlns:a16="http://schemas.microsoft.com/office/drawing/2014/main" id="{749580FE-1218-1306-1514-DB64F0D4A128}"/>
              </a:ext>
            </a:extLst>
          </p:cNvPr>
          <p:cNvSpPr txBox="1"/>
          <p:nvPr/>
        </p:nvSpPr>
        <p:spPr>
          <a:xfrm>
            <a:off x="7686364" y="3966616"/>
            <a:ext cx="1653064" cy="630942"/>
          </a:xfrm>
          <a:prstGeom prst="rect">
            <a:avLst/>
          </a:prstGeom>
          <a:noFill/>
        </p:spPr>
        <p:txBody>
          <a:bodyPr wrap="square" lIns="0" tIns="0" rIns="0" bIns="0" rtlCol="0" anchor="ctr">
            <a:spAutoFit/>
          </a:bodyPr>
          <a:lstStyle/>
          <a:p>
            <a:pPr algn="ctr">
              <a:spcBef>
                <a:spcPts val="300"/>
              </a:spcBef>
              <a:defRPr/>
            </a:pPr>
            <a:r>
              <a:rPr lang="en-IN" sz="1200" b="1">
                <a:solidFill>
                  <a:srgbClr val="000965"/>
                </a:solidFill>
                <a:latin typeface="Arial"/>
              </a:rPr>
              <a:t>Samir Parikh</a:t>
            </a:r>
            <a:endParaRPr kumimoji="0" lang="en-IN" sz="1200" b="1" i="0" u="none" strike="noStrike" kern="1200" cap="none" spc="0" normalizeH="0" baseline="0" noProof="0">
              <a:ln>
                <a:noFill/>
              </a:ln>
              <a:solidFill>
                <a:srgbClr val="000965"/>
              </a:solidFill>
              <a:effectLst/>
              <a:uLnTx/>
              <a:uFillTx/>
              <a:latin typeface="Arial"/>
              <a:ea typeface="+mn-ea"/>
              <a:cs typeface="+mn-cs"/>
            </a:endParaRPr>
          </a:p>
          <a:p>
            <a:pPr algn="ctr">
              <a:spcBef>
                <a:spcPts val="300"/>
              </a:spcBef>
              <a:defRPr/>
            </a:pPr>
            <a:r>
              <a:rPr lang="en-IN" sz="1200">
                <a:solidFill>
                  <a:srgbClr val="000965"/>
                </a:solidFill>
                <a:latin typeface="Arial"/>
              </a:rPr>
              <a:t> Investor Relations</a:t>
            </a:r>
          </a:p>
          <a:p>
            <a:pPr algn="ctr">
              <a:spcBef>
                <a:spcPts val="300"/>
              </a:spcBef>
              <a:defRPr/>
            </a:pPr>
            <a:r>
              <a:rPr lang="en-IN" sz="1200">
                <a:solidFill>
                  <a:srgbClr val="000965"/>
                </a:solidFill>
                <a:latin typeface="Arial"/>
                <a:cs typeface="Arial"/>
              </a:rPr>
              <a:t>NYLIFE Securities</a:t>
            </a:r>
          </a:p>
        </p:txBody>
      </p:sp>
      <p:sp>
        <p:nvSpPr>
          <p:cNvPr id="27" name="TextBox 26">
            <a:extLst>
              <a:ext uri="{FF2B5EF4-FFF2-40B4-BE49-F238E27FC236}">
                <a16:creationId xmlns:a16="http://schemas.microsoft.com/office/drawing/2014/main" id="{121ADAAE-4BEA-B525-8382-28F23C4DA2BB}"/>
              </a:ext>
            </a:extLst>
          </p:cNvPr>
          <p:cNvSpPr txBox="1"/>
          <p:nvPr/>
        </p:nvSpPr>
        <p:spPr>
          <a:xfrm>
            <a:off x="9757119" y="3966616"/>
            <a:ext cx="1653064" cy="630942"/>
          </a:xfrm>
          <a:prstGeom prst="rect">
            <a:avLst/>
          </a:prstGeom>
          <a:noFill/>
        </p:spPr>
        <p:txBody>
          <a:bodyPr wrap="square" lIns="0" tIns="0" rIns="0" bIns="0" rtlCol="0" anchor="ctr">
            <a:spAutoFit/>
          </a:bodyPr>
          <a:lstStyle/>
          <a:p>
            <a:pPr algn="ctr">
              <a:spcBef>
                <a:spcPts val="300"/>
              </a:spcBef>
              <a:defRPr/>
            </a:pPr>
            <a:r>
              <a:rPr lang="en-IN" sz="1200" b="1">
                <a:solidFill>
                  <a:srgbClr val="000965"/>
                </a:solidFill>
                <a:latin typeface="Arial"/>
              </a:rPr>
              <a:t>Brian Davis</a:t>
            </a:r>
            <a:endParaRPr lang="en-US">
              <a:ea typeface="+mn-ea"/>
              <a:cs typeface="+mn-cs"/>
            </a:endParaRPr>
          </a:p>
          <a:p>
            <a:pPr marL="0" marR="0" lvl="0" indent="0" algn="ctr" defTabSz="914400">
              <a:lnSpc>
                <a:spcPct val="100000"/>
              </a:lnSpc>
              <a:spcBef>
                <a:spcPts val="300"/>
              </a:spcBef>
              <a:spcAft>
                <a:spcPts val="0"/>
              </a:spcAft>
              <a:buNone/>
              <a:tabLst/>
              <a:defRPr/>
            </a:pPr>
            <a:r>
              <a:rPr lang="en-IN" sz="1200">
                <a:solidFill>
                  <a:srgbClr val="000965"/>
                </a:solidFill>
                <a:latin typeface="Arial"/>
              </a:rPr>
              <a:t>Product</a:t>
            </a:r>
          </a:p>
          <a:p>
            <a:pPr algn="ctr">
              <a:spcBef>
                <a:spcPts val="300"/>
              </a:spcBef>
              <a:defRPr/>
            </a:pPr>
            <a:r>
              <a:rPr lang="en-IN" sz="1200">
                <a:solidFill>
                  <a:srgbClr val="000965"/>
                </a:solidFill>
                <a:cs typeface="Arial"/>
              </a:rPr>
              <a:t>NYLIFE Securities</a:t>
            </a:r>
          </a:p>
        </p:txBody>
      </p:sp>
      <p:pic>
        <p:nvPicPr>
          <p:cNvPr id="30" name="Picture 29">
            <a:extLst>
              <a:ext uri="{FF2B5EF4-FFF2-40B4-BE49-F238E27FC236}">
                <a16:creationId xmlns:a16="http://schemas.microsoft.com/office/drawing/2014/main" id="{F45FF371-68CF-DED4-99D4-FA3A5A51EA1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7688425" y="2067259"/>
            <a:ext cx="1645920" cy="1828800"/>
          </a:xfrm>
          <a:prstGeom prst="rect">
            <a:avLst/>
          </a:prstGeom>
        </p:spPr>
      </p:pic>
      <p:pic>
        <p:nvPicPr>
          <p:cNvPr id="31" name="Picture 30">
            <a:extLst>
              <a:ext uri="{FF2B5EF4-FFF2-40B4-BE49-F238E27FC236}">
                <a16:creationId xmlns:a16="http://schemas.microsoft.com/office/drawing/2014/main" id="{E8BA9169-4BAC-2214-97C0-A57FA654D81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764263" y="2067259"/>
            <a:ext cx="1645920" cy="1828800"/>
          </a:xfrm>
          <a:prstGeom prst="rect">
            <a:avLst/>
          </a:prstGeom>
        </p:spPr>
      </p:pic>
      <p:sp>
        <p:nvSpPr>
          <p:cNvPr id="6" name="Rectangle 5">
            <a:extLst>
              <a:ext uri="{FF2B5EF4-FFF2-40B4-BE49-F238E27FC236}">
                <a16:creationId xmlns:a16="http://schemas.microsoft.com/office/drawing/2014/main" id="{F2BAA0B4-6883-B405-9FA5-7AF18126FA89}"/>
              </a:ext>
            </a:extLst>
          </p:cNvPr>
          <p:cNvSpPr/>
          <p:nvPr/>
        </p:nvSpPr>
        <p:spPr bwMode="ltGray">
          <a:xfrm>
            <a:off x="457199" y="1535039"/>
            <a:ext cx="4955027" cy="840171"/>
          </a:xfrm>
          <a:prstGeom prst="rect">
            <a:avLst/>
          </a:prstGeom>
          <a:solidFill>
            <a:srgbClr val="0468FF"/>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9" name="Picture 8">
            <a:extLst>
              <a:ext uri="{FF2B5EF4-FFF2-40B4-BE49-F238E27FC236}">
                <a16:creationId xmlns:a16="http://schemas.microsoft.com/office/drawing/2014/main" id="{0F0C7B4D-6E36-0C92-A2E4-EFF26DE453E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6311" y="1700896"/>
            <a:ext cx="508694" cy="508456"/>
          </a:xfrm>
          <a:prstGeom prst="rect">
            <a:avLst/>
          </a:prstGeom>
        </p:spPr>
      </p:pic>
      <p:sp>
        <p:nvSpPr>
          <p:cNvPr id="10" name="TextBox 9">
            <a:extLst>
              <a:ext uri="{FF2B5EF4-FFF2-40B4-BE49-F238E27FC236}">
                <a16:creationId xmlns:a16="http://schemas.microsoft.com/office/drawing/2014/main" id="{91414743-F651-64C6-CA45-21C774F76C47}"/>
              </a:ext>
            </a:extLst>
          </p:cNvPr>
          <p:cNvSpPr txBox="1"/>
          <p:nvPr/>
        </p:nvSpPr>
        <p:spPr>
          <a:xfrm>
            <a:off x="1512438" y="1678125"/>
            <a:ext cx="3899788" cy="553998"/>
          </a:xfrm>
          <a:prstGeom prst="rect">
            <a:avLst/>
          </a:prstGeom>
          <a:noFill/>
        </p:spPr>
        <p:txBody>
          <a:bodyPr wrap="square" lIns="0" tIns="0" rIns="0" bIns="0" anchor="t">
            <a:spAutoFit/>
          </a:bodyPr>
          <a:lstStyle/>
          <a:p>
            <a:pPr>
              <a:defRPr/>
            </a:pPr>
            <a:r>
              <a:rPr kumimoji="0" lang="en-US" sz="1800" b="1" i="0" u="none" strike="noStrike" kern="1200" cap="none" spc="0" normalizeH="0" baseline="0" noProof="0">
                <a:ln>
                  <a:noFill/>
                </a:ln>
                <a:solidFill>
                  <a:srgbClr val="FFFFFF"/>
                </a:solidFill>
                <a:effectLst/>
                <a:uLnTx/>
                <a:uFillTx/>
                <a:latin typeface="Arial"/>
                <a:ea typeface="+mn-ea"/>
                <a:cs typeface="+mn-cs"/>
              </a:rPr>
              <a:t>Date: </a:t>
            </a:r>
            <a:r>
              <a:rPr lang="en-US" b="1">
                <a:solidFill>
                  <a:srgbClr val="FFFFFF"/>
                </a:solidFill>
                <a:latin typeface="Arial"/>
              </a:rPr>
              <a:t>Wed., July 15, 2026 </a:t>
            </a:r>
            <a:br>
              <a:rPr lang="en-US" sz="1800" b="0" i="0" u="none" strike="noStrike" kern="1200" cap="none" spc="0" normalizeH="0" baseline="0" noProof="0">
                <a:ln>
                  <a:noFill/>
                </a:ln>
                <a:effectLst/>
                <a:uLnTx/>
                <a:uFillTx/>
                <a:latin typeface="Arial"/>
              </a:rPr>
            </a:br>
            <a:r>
              <a:rPr kumimoji="0" lang="en-US" sz="1800" b="0" i="0" u="none" strike="noStrike" kern="1200" cap="none" spc="0" normalizeH="0" baseline="0" noProof="0">
                <a:ln>
                  <a:noFill/>
                </a:ln>
                <a:solidFill>
                  <a:srgbClr val="FFFFFF"/>
                </a:solidFill>
                <a:effectLst/>
                <a:uLnTx/>
                <a:uFillTx/>
                <a:latin typeface="Arial"/>
                <a:ea typeface="+mn-ea"/>
                <a:cs typeface="+mn-cs"/>
              </a:rPr>
              <a:t>Time: </a:t>
            </a:r>
            <a:r>
              <a:rPr lang="en-US" b="1">
                <a:solidFill>
                  <a:srgbClr val="FFFFFF"/>
                </a:solidFill>
                <a:latin typeface="Arial"/>
              </a:rPr>
              <a:t>2</a:t>
            </a:r>
            <a:r>
              <a:rPr kumimoji="0" lang="en-US" sz="1800" b="1" i="0" u="none" strike="noStrike" kern="1200" cap="none" spc="0" normalizeH="0" baseline="0" noProof="0">
                <a:ln>
                  <a:noFill/>
                </a:ln>
                <a:solidFill>
                  <a:srgbClr val="FFFFFF"/>
                </a:solidFill>
                <a:effectLst/>
                <a:uLnTx/>
                <a:uFillTx/>
                <a:latin typeface="Arial"/>
                <a:ea typeface="+mn-ea"/>
                <a:cs typeface="+mn-cs"/>
              </a:rPr>
              <a:t> </a:t>
            </a:r>
            <a:r>
              <a:rPr lang="en-US" b="1">
                <a:solidFill>
                  <a:srgbClr val="FFFFFF"/>
                </a:solidFill>
                <a:latin typeface="Arial"/>
              </a:rPr>
              <a:t>pm</a:t>
            </a:r>
            <a:r>
              <a:rPr kumimoji="0" lang="en-US" sz="1800" b="1" i="0" u="none" strike="noStrike" kern="1200" cap="none" spc="0" normalizeH="0" baseline="0" noProof="0">
                <a:ln>
                  <a:noFill/>
                </a:ln>
                <a:solidFill>
                  <a:srgbClr val="FFFFFF"/>
                </a:solidFill>
                <a:effectLst/>
                <a:uLnTx/>
                <a:uFillTx/>
                <a:latin typeface="Arial"/>
                <a:ea typeface="+mn-ea"/>
                <a:cs typeface="+mn-cs"/>
              </a:rPr>
              <a:t> ET</a:t>
            </a:r>
            <a:endParaRPr kumimoji="0" lang="en-US" sz="1800" b="0" i="0" u="none" strike="noStrike" kern="1200" cap="none" spc="0" normalizeH="0" baseline="30000" noProof="0">
              <a:ln>
                <a:noFill/>
              </a:ln>
              <a:solidFill>
                <a:srgbClr val="FFFFFF"/>
              </a:solidFill>
              <a:effectLst/>
              <a:uLnTx/>
              <a:uFillTx/>
              <a:latin typeface="Arial"/>
              <a:ea typeface="+mn-ea"/>
              <a:cs typeface="+mn-cs"/>
            </a:endParaRPr>
          </a:p>
        </p:txBody>
      </p:sp>
      <p:sp>
        <p:nvSpPr>
          <p:cNvPr id="17" name="Content Placeholder 2">
            <a:extLst>
              <a:ext uri="{FF2B5EF4-FFF2-40B4-BE49-F238E27FC236}">
                <a16:creationId xmlns:a16="http://schemas.microsoft.com/office/drawing/2014/main" id="{AB933FB7-9815-99D1-0F4C-B1771B80635D}"/>
              </a:ext>
            </a:extLst>
          </p:cNvPr>
          <p:cNvSpPr>
            <a:spLocks noGrp="1"/>
          </p:cNvSpPr>
          <p:nvPr>
            <p:ph idx="1"/>
          </p:nvPr>
        </p:nvSpPr>
        <p:spPr>
          <a:xfrm>
            <a:off x="457199" y="2638782"/>
            <a:ext cx="4961925" cy="3354536"/>
          </a:xfrm>
        </p:spPr>
        <p:txBody>
          <a:bodyPr/>
          <a:lstStyle/>
          <a:p>
            <a:pPr marL="0" indent="0">
              <a:buNone/>
            </a:pPr>
            <a:r>
              <a:rPr lang="en-US">
                <a:latin typeface="Arial"/>
                <a:cs typeface="Arial"/>
              </a:rPr>
              <a:t>Join Product Experts to learn how to navigate </a:t>
            </a:r>
            <a:r>
              <a:rPr lang="en-US" err="1">
                <a:latin typeface="Arial"/>
                <a:cs typeface="Arial"/>
              </a:rPr>
              <a:t>Wealthscape's</a:t>
            </a:r>
            <a:r>
              <a:rPr lang="en-US">
                <a:latin typeface="Arial"/>
                <a:cs typeface="Arial"/>
              </a:rPr>
              <a:t> basic features and tools to effectively service your clients' brokerage accounts. Live Q&amp;A included.</a:t>
            </a:r>
            <a:endParaRPr lang="en-US"/>
          </a:p>
          <a:p>
            <a:pPr marL="457200"/>
            <a:endParaRPr lang="en-US" sz="1800"/>
          </a:p>
          <a:p>
            <a:endParaRPr lang="en-US"/>
          </a:p>
          <a:p>
            <a:pPr marL="0" indent="0">
              <a:buNone/>
            </a:pPr>
            <a:endParaRPr lang="en-US"/>
          </a:p>
          <a:p>
            <a:pPr marL="0" indent="0">
              <a:buNone/>
            </a:pPr>
            <a:endParaRPr lang="en-US"/>
          </a:p>
        </p:txBody>
      </p:sp>
      <p:pic>
        <p:nvPicPr>
          <p:cNvPr id="11" name="Picture 10" descr="A screenshot of a computer&#10;&#10;Description automatically generated">
            <a:extLst>
              <a:ext uri="{FF2B5EF4-FFF2-40B4-BE49-F238E27FC236}">
                <a16:creationId xmlns:a16="http://schemas.microsoft.com/office/drawing/2014/main" id="{5C25CF85-5FD8-F923-32ED-9D16742B65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40112" y="2047186"/>
            <a:ext cx="1696326" cy="185648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A person in a suit and tie&#10;&#10;AI-generated content may be incorrect.">
            <a:extLst>
              <a:ext uri="{FF2B5EF4-FFF2-40B4-BE49-F238E27FC236}">
                <a16:creationId xmlns:a16="http://schemas.microsoft.com/office/drawing/2014/main" id="{04E5033C-F59B-1805-FF82-B7D74085E680}"/>
              </a:ext>
            </a:extLst>
          </p:cNvPr>
          <p:cNvPicPr>
            <a:picLocks noChangeAspect="1"/>
          </p:cNvPicPr>
          <p:nvPr/>
        </p:nvPicPr>
        <p:blipFill>
          <a:blip r:embed="rId6"/>
          <a:srcRect l="11251" r="16005"/>
          <a:stretch>
            <a:fillRect/>
          </a:stretch>
        </p:blipFill>
        <p:spPr>
          <a:xfrm>
            <a:off x="9759753" y="2053398"/>
            <a:ext cx="1655981" cy="1843016"/>
          </a:xfrm>
          <a:prstGeom prst="rect">
            <a:avLst/>
          </a:prstGeom>
        </p:spPr>
      </p:pic>
      <p:pic>
        <p:nvPicPr>
          <p:cNvPr id="20" name="Picture 19" descr="A qr code with a few black squares&#10;&#10;AI-generated content may be incorrect.">
            <a:extLst>
              <a:ext uri="{FF2B5EF4-FFF2-40B4-BE49-F238E27FC236}">
                <a16:creationId xmlns:a16="http://schemas.microsoft.com/office/drawing/2014/main" id="{08D1053F-E302-9C50-95BB-F228CFBC393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634905" y="4809096"/>
            <a:ext cx="1089154" cy="1110925"/>
          </a:xfrm>
          <a:prstGeom prst="rect">
            <a:avLst/>
          </a:prstGeom>
        </p:spPr>
      </p:pic>
    </p:spTree>
    <p:extLst>
      <p:ext uri="{BB962C8B-B14F-4D97-AF65-F5344CB8AC3E}">
        <p14:creationId xmlns:p14="http://schemas.microsoft.com/office/powerpoint/2010/main" val="2270836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AA4D2-EB40-5EAC-44B8-F2307152B74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5EBAC7E-3C07-9FDE-15FF-F05EC1F7DFEA}"/>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2299052A-E8D3-0F22-A2C5-862C9A298E5E}"/>
              </a:ext>
            </a:extLst>
          </p:cNvPr>
          <p:cNvSpPr>
            <a:spLocks noGrp="1"/>
          </p:cNvSpPr>
          <p:nvPr>
            <p:ph type="title"/>
          </p:nvPr>
        </p:nvSpPr>
        <p:spPr/>
        <p:txBody>
          <a:bodyPr/>
          <a:lstStyle/>
          <a:p>
            <a:r>
              <a:rPr lang="en-US">
                <a:latin typeface="Georgia"/>
              </a:rPr>
              <a:t>Join us July 8 for the new agent educational call</a:t>
            </a:r>
          </a:p>
        </p:txBody>
      </p:sp>
      <p:sp>
        <p:nvSpPr>
          <p:cNvPr id="4" name="Text Placeholder 3">
            <a:extLst>
              <a:ext uri="{FF2B5EF4-FFF2-40B4-BE49-F238E27FC236}">
                <a16:creationId xmlns:a16="http://schemas.microsoft.com/office/drawing/2014/main" id="{C78D961D-F860-D984-1ADA-BEDADE68AC5D}"/>
              </a:ext>
            </a:extLst>
          </p:cNvPr>
          <p:cNvSpPr>
            <a:spLocks noGrp="1"/>
          </p:cNvSpPr>
          <p:nvPr>
            <p:ph type="body" sz="quarter" idx="12"/>
          </p:nvPr>
        </p:nvSpPr>
        <p:spPr>
          <a:xfrm>
            <a:off x="439946" y="953242"/>
            <a:ext cx="11294854" cy="496033"/>
          </a:xfrm>
        </p:spPr>
        <p:txBody>
          <a:bodyPr/>
          <a:lstStyle/>
          <a:p>
            <a:r>
              <a:rPr lang="en-US">
                <a:cs typeface="Arial"/>
              </a:rPr>
              <a:t>How to present solutions and handle objections</a:t>
            </a:r>
          </a:p>
        </p:txBody>
      </p:sp>
      <p:sp>
        <p:nvSpPr>
          <p:cNvPr id="7" name="Rectangle 6">
            <a:extLst>
              <a:ext uri="{FF2B5EF4-FFF2-40B4-BE49-F238E27FC236}">
                <a16:creationId xmlns:a16="http://schemas.microsoft.com/office/drawing/2014/main" id="{32C3B3E2-3757-5A12-A4CD-ED3C3736BE7E}"/>
              </a:ext>
            </a:extLst>
          </p:cNvPr>
          <p:cNvSpPr/>
          <p:nvPr/>
        </p:nvSpPr>
        <p:spPr bwMode="ltGray">
          <a:xfrm>
            <a:off x="7391395" y="4820094"/>
            <a:ext cx="4343400"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8" name="Rectangle 7">
            <a:extLst>
              <a:ext uri="{FF2B5EF4-FFF2-40B4-BE49-F238E27FC236}">
                <a16:creationId xmlns:a16="http://schemas.microsoft.com/office/drawing/2014/main" id="{3E74977C-8155-9FDC-948E-F97BE9DBAEB9}"/>
              </a:ext>
            </a:extLst>
          </p:cNvPr>
          <p:cNvSpPr/>
          <p:nvPr/>
        </p:nvSpPr>
        <p:spPr>
          <a:xfrm>
            <a:off x="7391400" y="1535039"/>
            <a:ext cx="4343400" cy="3189738"/>
          </a:xfrm>
          <a:prstGeom prst="rect">
            <a:avLst/>
          </a:prstGeom>
          <a:solidFill>
            <a:schemeClr val="accent2">
              <a:alpha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 name="Isosceles Triangle 11">
            <a:extLst>
              <a:ext uri="{FF2B5EF4-FFF2-40B4-BE49-F238E27FC236}">
                <a16:creationId xmlns:a16="http://schemas.microsoft.com/office/drawing/2014/main" id="{17E116DD-4E88-0B95-5BCD-B423969DFE91}"/>
              </a:ext>
            </a:extLst>
          </p:cNvPr>
          <p:cNvSpPr/>
          <p:nvPr/>
        </p:nvSpPr>
        <p:spPr bwMode="ltGray">
          <a:xfrm rot="5400000">
            <a:off x="10057079"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3" name="TextBox 12">
            <a:extLst>
              <a:ext uri="{FF2B5EF4-FFF2-40B4-BE49-F238E27FC236}">
                <a16:creationId xmlns:a16="http://schemas.microsoft.com/office/drawing/2014/main" id="{C9E596F7-56DB-C365-62BB-0D68E001CA98}"/>
              </a:ext>
            </a:extLst>
          </p:cNvPr>
          <p:cNvSpPr txBox="1"/>
          <p:nvPr/>
        </p:nvSpPr>
        <p:spPr>
          <a:xfrm>
            <a:off x="7716137" y="5000601"/>
            <a:ext cx="2048126" cy="7386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to register for this event or webinar</a:t>
            </a:r>
            <a:r>
              <a:rPr kumimoji="0" lang="en-US" sz="1600" b="0" i="0" u="none" strike="noStrike" kern="1200" cap="none" spc="0" normalizeH="0" baseline="0" noProof="0">
                <a:ln>
                  <a:noFill/>
                </a:ln>
                <a:solidFill>
                  <a:srgbClr val="7FB9FF"/>
                </a:solidFill>
                <a:effectLst/>
                <a:uLnTx/>
                <a:uFillTx/>
                <a:latin typeface="Arial"/>
                <a:ea typeface="+mn-ea"/>
                <a:cs typeface="+mn-cs"/>
              </a:rPr>
              <a:t>. </a:t>
            </a:r>
          </a:p>
        </p:txBody>
      </p:sp>
      <p:sp>
        <p:nvSpPr>
          <p:cNvPr id="16" name="TextBox 15">
            <a:extLst>
              <a:ext uri="{FF2B5EF4-FFF2-40B4-BE49-F238E27FC236}">
                <a16:creationId xmlns:a16="http://schemas.microsoft.com/office/drawing/2014/main" id="{7A40866E-8861-E9EA-3C4C-AA78EB11F2B6}"/>
              </a:ext>
            </a:extLst>
          </p:cNvPr>
          <p:cNvSpPr txBox="1"/>
          <p:nvPr/>
        </p:nvSpPr>
        <p:spPr>
          <a:xfrm>
            <a:off x="7402287" y="1541055"/>
            <a:ext cx="4325112" cy="430887"/>
          </a:xfrm>
          <a:prstGeom prst="rect">
            <a:avLst/>
          </a:prstGeom>
          <a:solidFill>
            <a:schemeClr val="tx1"/>
          </a:solidFill>
        </p:spPr>
        <p:txBody>
          <a:bodyPr wrap="square" lIns="182880" tIns="91440" rIns="91440" bIns="9144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Featured speakers</a:t>
            </a:r>
          </a:p>
        </p:txBody>
      </p:sp>
      <p:sp>
        <p:nvSpPr>
          <p:cNvPr id="26" name="TextBox 25">
            <a:extLst>
              <a:ext uri="{FF2B5EF4-FFF2-40B4-BE49-F238E27FC236}">
                <a16:creationId xmlns:a16="http://schemas.microsoft.com/office/drawing/2014/main" id="{8A7C5B8C-258A-56BD-01B3-B5C8F16ABE17}"/>
              </a:ext>
            </a:extLst>
          </p:cNvPr>
          <p:cNvSpPr txBox="1"/>
          <p:nvPr/>
        </p:nvSpPr>
        <p:spPr>
          <a:xfrm>
            <a:off x="7536007" y="3941758"/>
            <a:ext cx="2110270" cy="738664"/>
          </a:xfrm>
          <a:prstGeom prst="rect">
            <a:avLst/>
          </a:prstGeom>
          <a:noFill/>
        </p:spPr>
        <p:txBody>
          <a:bodyPr wrap="square" lIns="0" tIns="0" rIns="0" bIns="0" rtlCol="0" anchor="ctr">
            <a:spAutoFit/>
          </a:bodyPr>
          <a:lstStyle/>
          <a:p>
            <a:pPr algn="ctr"/>
            <a:r>
              <a:rPr lang="en-US" sz="1200" b="1"/>
              <a:t>Lyndsey Jackson, </a:t>
            </a:r>
            <a:r>
              <a:rPr lang="en-US" sz="1200"/>
              <a:t>MBA </a:t>
            </a:r>
          </a:p>
          <a:p>
            <a:pPr algn="ctr"/>
            <a:r>
              <a:rPr lang="en-US" sz="1200"/>
              <a:t>RICP</a:t>
            </a:r>
            <a:r>
              <a:rPr lang="en-US" sz="1200" baseline="30000"/>
              <a:t>®</a:t>
            </a:r>
            <a:r>
              <a:rPr lang="en-US" sz="1200"/>
              <a:t>, ChFC</a:t>
            </a:r>
            <a:r>
              <a:rPr lang="en-US" sz="1200" baseline="30000"/>
              <a:t>®</a:t>
            </a:r>
            <a:r>
              <a:rPr lang="en-US" sz="1200"/>
              <a:t>, CLU</a:t>
            </a:r>
            <a:r>
              <a:rPr lang="en-US" sz="1200" baseline="30000"/>
              <a:t>®</a:t>
            </a:r>
            <a:r>
              <a:rPr lang="en-US" sz="1200"/>
              <a:t>, CLTC</a:t>
            </a:r>
            <a:r>
              <a:rPr lang="en-US" sz="1200" baseline="30000"/>
              <a:t>®</a:t>
            </a:r>
            <a:br>
              <a:rPr lang="en-US" sz="1200"/>
            </a:br>
            <a:r>
              <a:rPr lang="en-US" sz="1200"/>
              <a:t>Senior Associate</a:t>
            </a:r>
          </a:p>
          <a:p>
            <a:pPr algn="ctr"/>
            <a:r>
              <a:rPr lang="en-US" sz="1200"/>
              <a:t>National Development Faculty​</a:t>
            </a:r>
            <a:endParaRPr lang="en-US" sz="1200">
              <a:cs typeface="Arial"/>
            </a:endParaRPr>
          </a:p>
        </p:txBody>
      </p:sp>
      <p:sp>
        <p:nvSpPr>
          <p:cNvPr id="27" name="TextBox 26">
            <a:extLst>
              <a:ext uri="{FF2B5EF4-FFF2-40B4-BE49-F238E27FC236}">
                <a16:creationId xmlns:a16="http://schemas.microsoft.com/office/drawing/2014/main" id="{4BE257E5-1155-9772-A569-7CE32F609312}"/>
              </a:ext>
            </a:extLst>
          </p:cNvPr>
          <p:cNvSpPr txBox="1"/>
          <p:nvPr/>
        </p:nvSpPr>
        <p:spPr>
          <a:xfrm>
            <a:off x="9646277" y="3962130"/>
            <a:ext cx="1977675" cy="553998"/>
          </a:xfrm>
          <a:prstGeom prst="rect">
            <a:avLst/>
          </a:prstGeom>
          <a:noFill/>
        </p:spPr>
        <p:txBody>
          <a:bodyPr wrap="square" lIns="0" tIns="0" rIns="0" bIns="0" rtlCol="0" anchor="ctr">
            <a:spAutoFit/>
          </a:bodyPr>
          <a:lstStyle/>
          <a:p>
            <a:pPr algn="ctr"/>
            <a:r>
              <a:rPr lang="en-US" sz="1200" b="1"/>
              <a:t>Nicola (Nick) D’Ambrosio</a:t>
            </a:r>
          </a:p>
          <a:p>
            <a:pPr algn="ctr"/>
            <a:r>
              <a:rPr lang="en-US" sz="1200"/>
              <a:t>Registered Representative</a:t>
            </a:r>
          </a:p>
          <a:p>
            <a:pPr algn="ctr"/>
            <a:r>
              <a:rPr lang="en-US" sz="1200"/>
              <a:t>Nassau GO</a:t>
            </a:r>
            <a:endParaRPr kumimoji="0" lang="en-IN" sz="1200" b="0" i="0" u="none" strike="noStrike" kern="1200" cap="none" spc="0" normalizeH="0" baseline="0" noProof="0">
              <a:ln>
                <a:noFill/>
              </a:ln>
              <a:solidFill>
                <a:srgbClr val="000965"/>
              </a:solidFill>
              <a:effectLst/>
              <a:uLnTx/>
              <a:uFillTx/>
              <a:latin typeface="Arial"/>
              <a:ea typeface="+mn-ea"/>
              <a:cs typeface="+mn-cs"/>
            </a:endParaRPr>
          </a:p>
        </p:txBody>
      </p:sp>
      <p:sp>
        <p:nvSpPr>
          <p:cNvPr id="6" name="Rectangle 5">
            <a:extLst>
              <a:ext uri="{FF2B5EF4-FFF2-40B4-BE49-F238E27FC236}">
                <a16:creationId xmlns:a16="http://schemas.microsoft.com/office/drawing/2014/main" id="{59A0BF9C-C95A-D69F-696A-7C96380F18DE}"/>
              </a:ext>
            </a:extLst>
          </p:cNvPr>
          <p:cNvSpPr/>
          <p:nvPr/>
        </p:nvSpPr>
        <p:spPr bwMode="ltGray">
          <a:xfrm>
            <a:off x="328613" y="1783055"/>
            <a:ext cx="4955027" cy="840171"/>
          </a:xfrm>
          <a:prstGeom prst="rect">
            <a:avLst/>
          </a:prstGeom>
          <a:solidFill>
            <a:srgbClr val="0468FF"/>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9" name="Picture 8">
            <a:extLst>
              <a:ext uri="{FF2B5EF4-FFF2-40B4-BE49-F238E27FC236}">
                <a16:creationId xmlns:a16="http://schemas.microsoft.com/office/drawing/2014/main" id="{4880AD43-095B-5375-8C83-D3A73711DC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7725" y="1948912"/>
            <a:ext cx="508694" cy="508456"/>
          </a:xfrm>
          <a:prstGeom prst="rect">
            <a:avLst/>
          </a:prstGeom>
        </p:spPr>
      </p:pic>
      <p:sp>
        <p:nvSpPr>
          <p:cNvPr id="10" name="TextBox 9">
            <a:extLst>
              <a:ext uri="{FF2B5EF4-FFF2-40B4-BE49-F238E27FC236}">
                <a16:creationId xmlns:a16="http://schemas.microsoft.com/office/drawing/2014/main" id="{50982CD1-1579-7787-25DE-9979136DD8EE}"/>
              </a:ext>
            </a:extLst>
          </p:cNvPr>
          <p:cNvSpPr txBox="1"/>
          <p:nvPr/>
        </p:nvSpPr>
        <p:spPr>
          <a:xfrm>
            <a:off x="1383852" y="1926141"/>
            <a:ext cx="3899788" cy="55399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Date: Wednesday, July 8, 2026</a:t>
            </a:r>
            <a:br>
              <a:rPr lang="en-US" sz="1800" b="0" i="0" u="none" strike="noStrike" kern="1200" cap="none" spc="0" normalizeH="0" baseline="0" noProof="0">
                <a:ln>
                  <a:noFill/>
                </a:ln>
                <a:effectLst/>
                <a:uLnTx/>
                <a:uFillTx/>
                <a:latin typeface="Arial"/>
              </a:rPr>
            </a:br>
            <a:r>
              <a:rPr kumimoji="0" lang="en-US" sz="1800" b="0" i="0" u="none" strike="noStrike" kern="1200" cap="none" spc="0" normalizeH="0" baseline="0" noProof="0">
                <a:ln>
                  <a:noFill/>
                </a:ln>
                <a:solidFill>
                  <a:srgbClr val="FFFFFF"/>
                </a:solidFill>
                <a:effectLst/>
                <a:uLnTx/>
                <a:uFillTx/>
                <a:latin typeface="Arial"/>
                <a:ea typeface="+mn-ea"/>
                <a:cs typeface="+mn-cs"/>
              </a:rPr>
              <a:t>Time: </a:t>
            </a:r>
            <a:r>
              <a:rPr lang="en-US" b="1">
                <a:solidFill>
                  <a:srgbClr val="FFFFFF"/>
                </a:solidFill>
                <a:latin typeface="Arial"/>
              </a:rPr>
              <a:t>1</a:t>
            </a:r>
            <a:r>
              <a:rPr kumimoji="0" lang="en-US" sz="1800" b="1" i="0" u="none" strike="noStrike" kern="1200" cap="none" spc="0" normalizeH="0" baseline="0" noProof="0">
                <a:ln>
                  <a:noFill/>
                </a:ln>
                <a:solidFill>
                  <a:srgbClr val="FFFFFF"/>
                </a:solidFill>
                <a:effectLst/>
                <a:uLnTx/>
                <a:uFillTx/>
                <a:latin typeface="Arial"/>
                <a:ea typeface="+mn-ea"/>
                <a:cs typeface="+mn-cs"/>
              </a:rPr>
              <a:t> </a:t>
            </a:r>
            <a:r>
              <a:rPr lang="en-US" b="1">
                <a:solidFill>
                  <a:srgbClr val="FFFFFF"/>
                </a:solidFill>
                <a:latin typeface="Arial"/>
              </a:rPr>
              <a:t>pm</a:t>
            </a:r>
            <a:r>
              <a:rPr kumimoji="0" lang="en-US" sz="1800" b="1" i="0" u="none" strike="noStrike" kern="1200" cap="none" spc="0" normalizeH="0" baseline="0" noProof="0">
                <a:ln>
                  <a:noFill/>
                </a:ln>
                <a:solidFill>
                  <a:srgbClr val="FFFFFF"/>
                </a:solidFill>
                <a:effectLst/>
                <a:uLnTx/>
                <a:uFillTx/>
                <a:latin typeface="Arial"/>
                <a:ea typeface="+mn-ea"/>
                <a:cs typeface="+mn-cs"/>
              </a:rPr>
              <a:t> ET</a:t>
            </a:r>
            <a:endParaRPr kumimoji="0" lang="en-US" sz="1800" b="0" i="0" u="none" strike="noStrike" kern="1200" cap="none" spc="0" normalizeH="0" baseline="30000" noProof="0">
              <a:ln>
                <a:noFill/>
              </a:ln>
              <a:solidFill>
                <a:srgbClr val="FFFFFF"/>
              </a:solidFill>
              <a:effectLst/>
              <a:uLnTx/>
              <a:uFillTx/>
              <a:latin typeface="Arial"/>
              <a:ea typeface="+mn-ea"/>
              <a:cs typeface="+mn-cs"/>
            </a:endParaRPr>
          </a:p>
        </p:txBody>
      </p:sp>
      <p:sp>
        <p:nvSpPr>
          <p:cNvPr id="17" name="Content Placeholder 2">
            <a:extLst>
              <a:ext uri="{FF2B5EF4-FFF2-40B4-BE49-F238E27FC236}">
                <a16:creationId xmlns:a16="http://schemas.microsoft.com/office/drawing/2014/main" id="{C1B73E09-54CD-0FF1-826E-191AA816D76D}"/>
              </a:ext>
            </a:extLst>
          </p:cNvPr>
          <p:cNvSpPr>
            <a:spLocks noGrp="1"/>
          </p:cNvSpPr>
          <p:nvPr>
            <p:ph idx="1"/>
          </p:nvPr>
        </p:nvSpPr>
        <p:spPr>
          <a:xfrm>
            <a:off x="328613" y="2871243"/>
            <a:ext cx="6349317" cy="2769943"/>
          </a:xfrm>
        </p:spPr>
        <p:txBody>
          <a:bodyPr/>
          <a:lstStyle/>
          <a:p>
            <a:pPr marL="0" lvl="0" indent="0" eaLnBrk="0" fontAlgn="base" hangingPunct="0">
              <a:lnSpc>
                <a:spcPct val="150000"/>
              </a:lnSpc>
              <a:spcBef>
                <a:spcPct val="0"/>
              </a:spcBef>
              <a:spcAft>
                <a:spcPct val="0"/>
              </a:spcAft>
              <a:buNone/>
            </a:pPr>
            <a:r>
              <a:rPr lang="en-US" altLang="en-US"/>
              <a:t>Learn how to:</a:t>
            </a:r>
          </a:p>
          <a:p>
            <a:pPr lvl="1" eaLnBrk="0" fontAlgn="base" hangingPunct="0">
              <a:lnSpc>
                <a:spcPct val="150000"/>
              </a:lnSpc>
              <a:spcBef>
                <a:spcPct val="0"/>
              </a:spcBef>
              <a:spcAft>
                <a:spcPct val="0"/>
              </a:spcAft>
              <a:buFontTx/>
              <a:buChar char="•"/>
            </a:pPr>
            <a:r>
              <a:rPr lang="en-US" altLang="en-US" sz="1700"/>
              <a:t>present recommendations clearly and concisely </a:t>
            </a:r>
          </a:p>
          <a:p>
            <a:pPr lvl="1" eaLnBrk="0" fontAlgn="base" hangingPunct="0">
              <a:lnSpc>
                <a:spcPct val="150000"/>
              </a:lnSpc>
              <a:spcBef>
                <a:spcPct val="0"/>
              </a:spcBef>
              <a:spcAft>
                <a:spcPct val="0"/>
              </a:spcAft>
              <a:buFontTx/>
              <a:buChar char="•"/>
            </a:pPr>
            <a:r>
              <a:rPr lang="en-US" altLang="en-US" sz="1700"/>
              <a:t>support solutions with data and examples</a:t>
            </a:r>
          </a:p>
          <a:p>
            <a:pPr lvl="1" eaLnBrk="0" fontAlgn="base" hangingPunct="0">
              <a:lnSpc>
                <a:spcPct val="150000"/>
              </a:lnSpc>
              <a:spcBef>
                <a:spcPct val="0"/>
              </a:spcBef>
              <a:spcAft>
                <a:spcPct val="0"/>
              </a:spcAft>
              <a:buFontTx/>
              <a:buChar char="•"/>
            </a:pPr>
            <a:r>
              <a:rPr lang="en-US" altLang="en-US" sz="1700"/>
              <a:t> listen carefully to objections</a:t>
            </a:r>
          </a:p>
          <a:p>
            <a:pPr lvl="1" eaLnBrk="0" fontAlgn="base" hangingPunct="0">
              <a:lnSpc>
                <a:spcPct val="150000"/>
              </a:lnSpc>
              <a:spcBef>
                <a:spcPct val="0"/>
              </a:spcBef>
              <a:spcAft>
                <a:spcPct val="0"/>
              </a:spcAft>
              <a:buFontTx/>
              <a:buChar char="•"/>
            </a:pPr>
            <a:r>
              <a:rPr lang="en-US" altLang="en-US" sz="1700"/>
              <a:t> respond with confidence and professionalism</a:t>
            </a:r>
          </a:p>
          <a:p>
            <a:pPr lvl="1" eaLnBrk="0" fontAlgn="base" hangingPunct="0">
              <a:lnSpc>
                <a:spcPct val="150000"/>
              </a:lnSpc>
              <a:spcBef>
                <a:spcPct val="0"/>
              </a:spcBef>
              <a:spcAft>
                <a:spcPct val="0"/>
              </a:spcAft>
              <a:buFontTx/>
              <a:buChar char="•"/>
            </a:pPr>
            <a:r>
              <a:rPr lang="en-US" altLang="en-US" sz="1700"/>
              <a:t> focus on solutions, not challenges</a:t>
            </a:r>
            <a:endParaRPr lang="en-US" sz="1700"/>
          </a:p>
          <a:p>
            <a:pPr marL="0" indent="0">
              <a:buNone/>
            </a:pPr>
            <a:endParaRPr lang="en-US"/>
          </a:p>
          <a:p>
            <a:pPr marL="0" indent="0">
              <a:buNone/>
            </a:pPr>
            <a:endParaRPr lang="en-US"/>
          </a:p>
        </p:txBody>
      </p:sp>
      <p:pic>
        <p:nvPicPr>
          <p:cNvPr id="3" name="Picture 2">
            <a:extLst>
              <a:ext uri="{FF2B5EF4-FFF2-40B4-BE49-F238E27FC236}">
                <a16:creationId xmlns:a16="http://schemas.microsoft.com/office/drawing/2014/main" id="{A10FE3E0-5F58-C08F-F7F9-F3B44A2702F9}"/>
              </a:ext>
            </a:extLst>
          </p:cNvPr>
          <p:cNvPicPr>
            <a:picLocks noChangeAspect="1"/>
          </p:cNvPicPr>
          <p:nvPr/>
        </p:nvPicPr>
        <p:blipFill>
          <a:blip r:embed="rId4"/>
          <a:srcRect l="9651" t="-2452" r="3321" b="4686"/>
          <a:stretch>
            <a:fillRect/>
          </a:stretch>
        </p:blipFill>
        <p:spPr>
          <a:xfrm>
            <a:off x="7664593" y="2086292"/>
            <a:ext cx="1716156" cy="1769702"/>
          </a:xfrm>
          <a:prstGeom prst="rect">
            <a:avLst/>
          </a:prstGeom>
        </p:spPr>
      </p:pic>
      <p:pic>
        <p:nvPicPr>
          <p:cNvPr id="11" name="Picture 10">
            <a:extLst>
              <a:ext uri="{FF2B5EF4-FFF2-40B4-BE49-F238E27FC236}">
                <a16:creationId xmlns:a16="http://schemas.microsoft.com/office/drawing/2014/main" id="{B2A99E35-05D8-7FD7-5D7E-96B52DBE5E4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64263" y="2139839"/>
            <a:ext cx="1716155" cy="1716155"/>
          </a:xfrm>
          <a:prstGeom prst="rect">
            <a:avLst/>
          </a:prstGeom>
        </p:spPr>
      </p:pic>
      <p:pic>
        <p:nvPicPr>
          <p:cNvPr id="14" name="Picture 13">
            <a:extLst>
              <a:ext uri="{FF2B5EF4-FFF2-40B4-BE49-F238E27FC236}">
                <a16:creationId xmlns:a16="http://schemas.microsoft.com/office/drawing/2014/main" id="{6D9E4244-D723-92D9-CD44-BFA03E2298E8}"/>
              </a:ext>
            </a:extLst>
          </p:cNvPr>
          <p:cNvPicPr>
            <a:picLocks noChangeAspect="1"/>
          </p:cNvPicPr>
          <p:nvPr/>
        </p:nvPicPr>
        <p:blipFill>
          <a:blip r:embed="rId6"/>
          <a:stretch>
            <a:fillRect/>
          </a:stretch>
        </p:blipFill>
        <p:spPr>
          <a:xfrm>
            <a:off x="10638524" y="4852868"/>
            <a:ext cx="1053284" cy="1068161"/>
          </a:xfrm>
          <a:prstGeom prst="rect">
            <a:avLst/>
          </a:prstGeom>
        </p:spPr>
      </p:pic>
    </p:spTree>
    <p:extLst>
      <p:ext uri="{BB962C8B-B14F-4D97-AF65-F5344CB8AC3E}">
        <p14:creationId xmlns:p14="http://schemas.microsoft.com/office/powerpoint/2010/main" val="1613280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C2D5F-ED60-650E-4E37-B0FF790286A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8BE9040-41D3-E4E8-4EFF-00FB5B37050F}"/>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22A0218A-68C8-4B1E-22BC-8184062CBD07}"/>
              </a:ext>
            </a:extLst>
          </p:cNvPr>
          <p:cNvSpPr>
            <a:spLocks noGrp="1"/>
          </p:cNvSpPr>
          <p:nvPr>
            <p:ph type="title"/>
          </p:nvPr>
        </p:nvSpPr>
        <p:spPr/>
        <p:txBody>
          <a:bodyPr/>
          <a:lstStyle/>
          <a:p>
            <a:r>
              <a:rPr lang="en-US"/>
              <a:t>Golden Futures Awards Program</a:t>
            </a:r>
          </a:p>
        </p:txBody>
      </p:sp>
      <p:sp>
        <p:nvSpPr>
          <p:cNvPr id="3" name="Content Placeholder 2">
            <a:extLst>
              <a:ext uri="{FF2B5EF4-FFF2-40B4-BE49-F238E27FC236}">
                <a16:creationId xmlns:a16="http://schemas.microsoft.com/office/drawing/2014/main" id="{6BCB9ACD-5A6F-DB44-76AF-5B27561E1E18}"/>
              </a:ext>
            </a:extLst>
          </p:cNvPr>
          <p:cNvSpPr>
            <a:spLocks noGrp="1"/>
          </p:cNvSpPr>
          <p:nvPr>
            <p:ph idx="1"/>
          </p:nvPr>
        </p:nvSpPr>
        <p:spPr>
          <a:xfrm>
            <a:off x="457200" y="1536370"/>
            <a:ext cx="5578443" cy="4375179"/>
          </a:xfrm>
        </p:spPr>
        <p:txBody>
          <a:bodyPr/>
          <a:lstStyle/>
          <a:p>
            <a:pPr marL="0" indent="0">
              <a:spcBef>
                <a:spcPts val="0"/>
              </a:spcBef>
              <a:spcAft>
                <a:spcPts val="600"/>
              </a:spcAft>
              <a:buNone/>
            </a:pPr>
            <a:r>
              <a:rPr lang="en-US" b="1"/>
              <a:t>Use Marketing Central to promote the Golden Future Awards today through July 31</a:t>
            </a:r>
            <a:r>
              <a:rPr lang="en-US" b="1" baseline="30000"/>
              <a:t>st</a:t>
            </a:r>
            <a:r>
              <a:rPr lang="en-US" b="1"/>
              <a:t>:</a:t>
            </a:r>
          </a:p>
          <a:p>
            <a:pPr marL="457200">
              <a:lnSpc>
                <a:spcPct val="100000"/>
              </a:lnSpc>
              <a:spcBef>
                <a:spcPts val="0"/>
              </a:spcBef>
              <a:spcAft>
                <a:spcPts val="600"/>
              </a:spcAft>
            </a:pPr>
            <a:r>
              <a:rPr lang="en-US"/>
              <a:t>Email (ID: 3246498)</a:t>
            </a:r>
          </a:p>
          <a:p>
            <a:pPr marL="457200">
              <a:lnSpc>
                <a:spcPct val="100000"/>
              </a:lnSpc>
              <a:spcBef>
                <a:spcPts val="0"/>
              </a:spcBef>
              <a:spcAft>
                <a:spcPts val="200"/>
              </a:spcAft>
            </a:pPr>
            <a:r>
              <a:rPr lang="en-US"/>
              <a:t>Social Post (ID: 3184567) </a:t>
            </a:r>
          </a:p>
          <a:p>
            <a:pPr marL="0" indent="0">
              <a:buNone/>
            </a:pPr>
            <a:endParaRPr lang="en-US"/>
          </a:p>
          <a:p>
            <a:pPr marL="0" indent="0">
              <a:buNone/>
            </a:pPr>
            <a:r>
              <a:rPr lang="en-US" b="1"/>
              <a:t>$100,000 in awards available for kids ages 5 through 16 nationwide:</a:t>
            </a:r>
          </a:p>
          <a:p>
            <a:r>
              <a:rPr lang="en-US"/>
              <a:t>50 $1,000 awards for kids 5-10</a:t>
            </a:r>
          </a:p>
          <a:p>
            <a:r>
              <a:rPr lang="en-US"/>
              <a:t>50 $1,000 awards for kids 11-16</a:t>
            </a:r>
          </a:p>
        </p:txBody>
      </p:sp>
      <p:sp>
        <p:nvSpPr>
          <p:cNvPr id="4" name="Text Placeholder 3">
            <a:extLst>
              <a:ext uri="{FF2B5EF4-FFF2-40B4-BE49-F238E27FC236}">
                <a16:creationId xmlns:a16="http://schemas.microsoft.com/office/drawing/2014/main" id="{9FE6800C-EE32-D9E2-CE3A-F4FA1763E43F}"/>
              </a:ext>
            </a:extLst>
          </p:cNvPr>
          <p:cNvSpPr>
            <a:spLocks noGrp="1"/>
          </p:cNvSpPr>
          <p:nvPr>
            <p:ph type="body" sz="quarter" idx="12"/>
          </p:nvPr>
        </p:nvSpPr>
        <p:spPr>
          <a:xfrm>
            <a:off x="439946" y="953242"/>
            <a:ext cx="11294854" cy="496033"/>
          </a:xfrm>
        </p:spPr>
        <p:txBody>
          <a:bodyPr/>
          <a:lstStyle/>
          <a:p>
            <a:r>
              <a:rPr lang="en-US" sz="2200"/>
              <a:t>Deadline is July 31, 2026</a:t>
            </a:r>
          </a:p>
        </p:txBody>
      </p:sp>
      <p:sp>
        <p:nvSpPr>
          <p:cNvPr id="6" name="Rectangle 5">
            <a:extLst>
              <a:ext uri="{FF2B5EF4-FFF2-40B4-BE49-F238E27FC236}">
                <a16:creationId xmlns:a16="http://schemas.microsoft.com/office/drawing/2014/main" id="{2F455505-341B-E25D-8D63-1A776F806ACB}"/>
              </a:ext>
            </a:extLst>
          </p:cNvPr>
          <p:cNvSpPr/>
          <p:nvPr/>
        </p:nvSpPr>
        <p:spPr bwMode="ltGray">
          <a:xfrm>
            <a:off x="6246343" y="4820094"/>
            <a:ext cx="5488452"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7" name="Isosceles Triangle 6">
            <a:extLst>
              <a:ext uri="{FF2B5EF4-FFF2-40B4-BE49-F238E27FC236}">
                <a16:creationId xmlns:a16="http://schemas.microsoft.com/office/drawing/2014/main" id="{D6B89B5A-5F08-C9B0-C76F-B63C3E86080F}"/>
              </a:ext>
            </a:extLst>
          </p:cNvPr>
          <p:cNvSpPr/>
          <p:nvPr/>
        </p:nvSpPr>
        <p:spPr bwMode="ltGray">
          <a:xfrm rot="5400000">
            <a:off x="10057079"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8" name="TextBox 7">
            <a:extLst>
              <a:ext uri="{FF2B5EF4-FFF2-40B4-BE49-F238E27FC236}">
                <a16:creationId xmlns:a16="http://schemas.microsoft.com/office/drawing/2014/main" id="{4CC5132D-88EB-15CD-2FA5-F23AD559989B}"/>
              </a:ext>
            </a:extLst>
          </p:cNvPr>
          <p:cNvSpPr txBox="1"/>
          <p:nvPr/>
        </p:nvSpPr>
        <p:spPr>
          <a:xfrm>
            <a:off x="6652910" y="5123712"/>
            <a:ext cx="3136311"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for more details on Info Central</a:t>
            </a:r>
            <a:r>
              <a:rPr kumimoji="0" lang="en-US" sz="1600" b="0" i="0" u="none" strike="noStrike" kern="1200" cap="none" spc="0" normalizeH="0" baseline="0" noProof="0">
                <a:ln>
                  <a:noFill/>
                </a:ln>
                <a:solidFill>
                  <a:srgbClr val="7FB9FF"/>
                </a:solidFill>
                <a:effectLst/>
                <a:uLnTx/>
                <a:uFillTx/>
                <a:latin typeface="Arial"/>
                <a:ea typeface="+mn-ea"/>
                <a:cs typeface="+mn-cs"/>
              </a:rPr>
              <a:t>. </a:t>
            </a:r>
          </a:p>
        </p:txBody>
      </p:sp>
      <p:sp>
        <p:nvSpPr>
          <p:cNvPr id="9" name="Rectangle 8">
            <a:extLst>
              <a:ext uri="{FF2B5EF4-FFF2-40B4-BE49-F238E27FC236}">
                <a16:creationId xmlns:a16="http://schemas.microsoft.com/office/drawing/2014/main" id="{141BD906-0268-BDD4-476F-77385B3CBDB5}"/>
              </a:ext>
            </a:extLst>
          </p:cNvPr>
          <p:cNvSpPr>
            <a:spLocks/>
          </p:cNvSpPr>
          <p:nvPr/>
        </p:nvSpPr>
        <p:spPr>
          <a:xfrm rot="10800000" flipV="1">
            <a:off x="10635115" y="4820093"/>
            <a:ext cx="1099679" cy="1099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pic>
        <p:nvPicPr>
          <p:cNvPr id="14" name="Picture 13">
            <a:extLst>
              <a:ext uri="{FF2B5EF4-FFF2-40B4-BE49-F238E27FC236}">
                <a16:creationId xmlns:a16="http://schemas.microsoft.com/office/drawing/2014/main" id="{745F5475-1603-6C04-7CA1-9E097ED1E56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246343" y="1763084"/>
            <a:ext cx="5486400" cy="2743200"/>
          </a:xfrm>
          <a:prstGeom prst="rect">
            <a:avLst/>
          </a:prstGeom>
        </p:spPr>
      </p:pic>
      <p:pic>
        <p:nvPicPr>
          <p:cNvPr id="5" name="Picture 4" descr="A qr code with a white text&#10;&#10;AI-generated content may be incorrect.">
            <a:extLst>
              <a:ext uri="{FF2B5EF4-FFF2-40B4-BE49-F238E27FC236}">
                <a16:creationId xmlns:a16="http://schemas.microsoft.com/office/drawing/2014/main" id="{6DBED330-59A9-932F-295E-A703646887A1}"/>
              </a:ext>
            </a:extLst>
          </p:cNvPr>
          <p:cNvPicPr>
            <a:picLocks noChangeAspect="1"/>
          </p:cNvPicPr>
          <p:nvPr/>
        </p:nvPicPr>
        <p:blipFill>
          <a:blip r:embed="rId4"/>
          <a:stretch>
            <a:fillRect/>
          </a:stretch>
        </p:blipFill>
        <p:spPr>
          <a:xfrm>
            <a:off x="10610158" y="4820093"/>
            <a:ext cx="1122586" cy="1122586"/>
          </a:xfrm>
          <a:prstGeom prst="rect">
            <a:avLst/>
          </a:prstGeom>
        </p:spPr>
      </p:pic>
    </p:spTree>
    <p:extLst>
      <p:ext uri="{BB962C8B-B14F-4D97-AF65-F5344CB8AC3E}">
        <p14:creationId xmlns:p14="http://schemas.microsoft.com/office/powerpoint/2010/main" val="503561286"/>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6858000"/>
          </a:xfrm>
          <a:prstGeom prst="rect">
            <a:avLst/>
          </a:prstGeom>
          <a:solidFill>
            <a:srgbClr val="163A5F"/>
          </a:solidFill>
          <a:ln w="12700">
            <a:solidFill>
              <a:srgbClr val="163A5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Text 1"/>
          <p:cNvSpPr/>
          <p:nvPr/>
        </p:nvSpPr>
        <p:spPr>
          <a:xfrm>
            <a:off x="640080" y="1417320"/>
            <a:ext cx="804672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200" b="1" i="0" u="none" strike="noStrike" kern="1200" cap="none" spc="0" normalizeH="0" baseline="0" noProof="0" dirty="0">
                <a:ln>
                  <a:noFill/>
                </a:ln>
                <a:solidFill>
                  <a:srgbClr val="FFFFFF"/>
                </a:solidFill>
                <a:effectLst/>
                <a:uLnTx/>
                <a:uFillTx/>
                <a:latin typeface="Aptos Display" pitchFamily="34" charset="0"/>
                <a:ea typeface="Aptos Display" pitchFamily="34" charset="-122"/>
                <a:cs typeface="Aptos Display" pitchFamily="34" charset="-120"/>
              </a:rPr>
              <a:t>This Week’s Training</a:t>
            </a:r>
            <a:endParaRPr kumimoji="0" lang="en-US" sz="42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2"/>
          <p:cNvSpPr/>
          <p:nvPr/>
        </p:nvSpPr>
        <p:spPr>
          <a:xfrm>
            <a:off x="667512" y="2212848"/>
            <a:ext cx="73152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DEAF8"/>
                </a:solidFill>
                <a:effectLst/>
                <a:uLnTx/>
                <a:uFillTx/>
                <a:latin typeface="Aptos"/>
                <a:ea typeface="+mn-ea"/>
                <a:cs typeface="+mn-cs"/>
              </a:rPr>
              <a:t>Building Referral Relationships with Attorneys, CPAs, and Other Centers of Influence</a:t>
            </a:r>
            <a:endParaRPr kumimoji="0" lang="en-US" sz="2000" b="0" i="0" u="none" strike="noStrike" kern="1200" cap="none" spc="0" normalizeH="0" baseline="0" noProof="0" dirty="0">
              <a:ln>
                <a:noFill/>
              </a:ln>
              <a:solidFill>
                <a:prstClr val="black"/>
              </a:solidFill>
              <a:effectLst/>
              <a:uLnTx/>
              <a:uFillTx/>
              <a:latin typeface="Aptos"/>
              <a:ea typeface="+mn-ea"/>
              <a:cs typeface="+mn-cs"/>
            </a:endParaRPr>
          </a:p>
        </p:txBody>
      </p:sp>
      <p:sp>
        <p:nvSpPr>
          <p:cNvPr id="5" name="Shape 3"/>
          <p:cNvSpPr/>
          <p:nvPr/>
        </p:nvSpPr>
        <p:spPr>
          <a:xfrm>
            <a:off x="658368" y="2852928"/>
            <a:ext cx="6858000" cy="0"/>
          </a:xfrm>
          <a:prstGeom prst="line">
            <a:avLst/>
          </a:prstGeom>
          <a:noFill/>
          <a:ln w="38100">
            <a:solidFill>
              <a:srgbClr val="C9A22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6" name="Text 4"/>
          <p:cNvSpPr/>
          <p:nvPr/>
        </p:nvSpPr>
        <p:spPr>
          <a:xfrm>
            <a:off x="667512" y="3127248"/>
            <a:ext cx="6858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FFFFFF"/>
                </a:solidFill>
                <a:effectLst/>
                <a:uLnTx/>
                <a:uFillTx/>
                <a:latin typeface="Aptos"/>
                <a:ea typeface="+mn-ea"/>
                <a:cs typeface="+mn-cs"/>
              </a:rPr>
              <a:t>30-minute training for New Org agents | Week of July 6</a:t>
            </a:r>
            <a:endParaRPr kumimoji="0" lang="en-US" sz="1500" b="0" i="0" u="none" strike="noStrike" kern="1200" cap="none" spc="0" normalizeH="0" baseline="0" noProof="0" dirty="0">
              <a:ln>
                <a:noFill/>
              </a:ln>
              <a:solidFill>
                <a:prstClr val="black"/>
              </a:solidFill>
              <a:effectLst/>
              <a:uLnTx/>
              <a:uFillTx/>
              <a:latin typeface="Aptos"/>
              <a:ea typeface="+mn-ea"/>
              <a:cs typeface="+mn-cs"/>
            </a:endParaRPr>
          </a:p>
        </p:txBody>
      </p:sp>
      <p:sp>
        <p:nvSpPr>
          <p:cNvPr id="7" name="Text 5"/>
          <p:cNvSpPr/>
          <p:nvPr/>
        </p:nvSpPr>
        <p:spPr>
          <a:xfrm>
            <a:off x="667512" y="5989320"/>
            <a:ext cx="36576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DDEAF8"/>
                </a:solidFill>
                <a:effectLst/>
                <a:uLnTx/>
                <a:uFillTx/>
                <a:latin typeface="Aptos"/>
                <a:ea typeface="+mn-ea"/>
                <a:cs typeface="+mn-cs"/>
              </a:rPr>
              <a:t>New Orleans General Office</a:t>
            </a:r>
            <a:endParaRPr kumimoji="0" lang="en-US" sz="1000" b="0" i="0" u="none" strike="noStrike" kern="1200" cap="none" spc="0" normalizeH="0" baseline="0" noProof="0" dirty="0">
              <a:ln>
                <a:noFill/>
              </a:ln>
              <a:solidFill>
                <a:prstClr val="black"/>
              </a:solidFill>
              <a:effectLst/>
              <a:uLnTx/>
              <a:uFillTx/>
              <a:latin typeface="Aptos"/>
              <a:ea typeface="+mn-ea"/>
              <a:cs typeface="+mn-cs"/>
            </a:endParaRPr>
          </a:p>
        </p:txBody>
      </p:sp>
      <p:sp>
        <p:nvSpPr>
          <p:cNvPr id="8" name="Text 6"/>
          <p:cNvSpPr/>
          <p:nvPr/>
        </p:nvSpPr>
        <p:spPr>
          <a:xfrm>
            <a:off x="6400800" y="5989320"/>
            <a:ext cx="5029200" cy="20116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DDEAF8"/>
                </a:solidFill>
                <a:effectLst/>
                <a:uLnTx/>
                <a:uFillTx/>
                <a:latin typeface="Aptos"/>
                <a:ea typeface="+mn-ea"/>
                <a:cs typeface="+mn-cs"/>
              </a:rPr>
              <a:t>FOR INTERNAL USE ONLY. NOT FOR USE WITH THE GENERAL PUBLIC.</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20040"/>
            <a:ext cx="84124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3A5F"/>
                </a:solidFill>
                <a:effectLst/>
                <a:uLnTx/>
                <a:uFillTx/>
                <a:latin typeface="Aptos Display" pitchFamily="34" charset="0"/>
                <a:ea typeface="Aptos Display" pitchFamily="34" charset="-122"/>
                <a:cs typeface="Aptos Display" pitchFamily="34" charset="-120"/>
              </a:rPr>
              <a:t>Why COIs beat every other prospecting channel</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21208" y="786384"/>
            <a:ext cx="89611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5B6670"/>
                </a:solidFill>
                <a:effectLst/>
                <a:uLnTx/>
                <a:uFillTx/>
                <a:latin typeface="Aptos"/>
                <a:ea typeface="+mn-ea"/>
                <a:cs typeface="+mn-cs"/>
              </a:rPr>
              <a:t>A referral from a professional arrives pre-endorsed. Nothing else you do compares.</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10287000" y="228600"/>
            <a:ext cx="1417320" cy="329184"/>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p:cNvSpPr/>
          <p:nvPr/>
        </p:nvSpPr>
        <p:spPr>
          <a:xfrm>
            <a:off x="10396728" y="292608"/>
            <a:ext cx="1188720" cy="14630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ptos"/>
                <a:ea typeface="+mn-ea"/>
                <a:cs typeface="+mn-cs"/>
              </a:rPr>
              <a:t>New York Life</a:t>
            </a:r>
            <a:endParaRPr kumimoji="0" lang="en-US" sz="8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Shape 4"/>
          <p:cNvSpPr/>
          <p:nvPr/>
        </p:nvSpPr>
        <p:spPr>
          <a:xfrm>
            <a:off x="59436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Shape 5"/>
          <p:cNvSpPr/>
          <p:nvPr/>
        </p:nvSpPr>
        <p:spPr>
          <a:xfrm>
            <a:off x="594360" y="1234440"/>
            <a:ext cx="3520440" cy="384048"/>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73152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Trust transfer</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75895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A client’s CPA or attorney is already their most trusted advisor. When that person says “call Dave,” the prospect arrives with their guard down and their mind open.</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8"/>
          <p:cNvSpPr/>
          <p:nvPr/>
        </p:nvSpPr>
        <p:spPr>
          <a:xfrm>
            <a:off x="434340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Shape 9"/>
          <p:cNvSpPr/>
          <p:nvPr/>
        </p:nvSpPr>
        <p:spPr>
          <a:xfrm>
            <a:off x="4343400" y="1234440"/>
            <a:ext cx="3520440" cy="384048"/>
          </a:xfrm>
          <a:prstGeom prst="rect">
            <a:avLst/>
          </a:prstGeom>
          <a:solidFill>
            <a:srgbClr val="1F8A9E"/>
          </a:solidFill>
          <a:ln w="12700">
            <a:solidFill>
              <a:srgbClr val="1F8A9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Text 10"/>
          <p:cNvSpPr/>
          <p:nvPr/>
        </p:nvSpPr>
        <p:spPr>
          <a:xfrm>
            <a:off x="448056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Case quality</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Text 11"/>
          <p:cNvSpPr/>
          <p:nvPr/>
        </p:nvSpPr>
        <p:spPr>
          <a:xfrm>
            <a:off x="450799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COI referrals skew toward complex, higher-value cases - business owners, estates, tax problems - because that is who CPAs and attorneys serve every day.</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Shape 12"/>
          <p:cNvSpPr/>
          <p:nvPr/>
        </p:nvSpPr>
        <p:spPr>
          <a:xfrm>
            <a:off x="809244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Shape 13"/>
          <p:cNvSpPr/>
          <p:nvPr/>
        </p:nvSpPr>
        <p:spPr>
          <a:xfrm>
            <a:off x="8092440" y="1234440"/>
            <a:ext cx="3520440" cy="384048"/>
          </a:xfrm>
          <a:prstGeom prst="rect">
            <a:avLst/>
          </a:prstGeom>
          <a:solidFill>
            <a:srgbClr val="4F2A73"/>
          </a:solidFill>
          <a:ln w="12700">
            <a:solidFill>
              <a:srgbClr val="4F2A7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4"/>
          <p:cNvSpPr/>
          <p:nvPr/>
        </p:nvSpPr>
        <p:spPr>
          <a:xfrm>
            <a:off x="822960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Compounding leverage</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Text 15"/>
          <p:cNvSpPr/>
          <p:nvPr/>
        </p:nvSpPr>
        <p:spPr>
          <a:xfrm>
            <a:off x="825703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One good CPA relationship can send you referrals for years. A seminar produces one weekend. Build assets, not events.</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685800" y="5742432"/>
            <a:ext cx="1069848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3A5F"/>
                </a:solidFill>
                <a:effectLst/>
                <a:uLnTx/>
                <a:uFillTx/>
                <a:latin typeface="Aptos"/>
                <a:ea typeface="+mn-ea"/>
                <a:cs typeface="+mn-cs"/>
              </a:rPr>
              <a:t>Coach line: You are not asking for favors. You are building a professional supply chain.</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502920" y="6446520"/>
            <a:ext cx="11201400" cy="0"/>
          </a:xfrm>
          <a:prstGeom prst="line">
            <a:avLst/>
          </a:prstGeom>
          <a:no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Text 18"/>
          <p:cNvSpPr/>
          <p:nvPr/>
        </p:nvSpPr>
        <p:spPr>
          <a:xfrm>
            <a:off x="502920" y="6519672"/>
            <a:ext cx="67665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pitchFamily="34" charset="0"/>
                <a:ea typeface="Aptos" pitchFamily="34" charset="-122"/>
                <a:cs typeface="Aptos" pitchFamily="34" charset="-120"/>
              </a:rPr>
              <a:t>FOR INTERNAL USE ONLY. NOT FOR USE WITH THE GENERAL PUBLIC.</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Text 19"/>
          <p:cNvSpPr/>
          <p:nvPr/>
        </p:nvSpPr>
        <p:spPr>
          <a:xfrm>
            <a:off x="11292840" y="6519672"/>
            <a:ext cx="36576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a:ea typeface="+mn-ea"/>
                <a:cs typeface="+mn-cs"/>
              </a:rPr>
              <a:t>1</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20040"/>
            <a:ext cx="84124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3A5F"/>
                </a:solidFill>
                <a:effectLst/>
                <a:uLnTx/>
                <a:uFillTx/>
                <a:latin typeface="Aptos Display" pitchFamily="34" charset="0"/>
                <a:ea typeface="Aptos Display" pitchFamily="34" charset="-122"/>
                <a:cs typeface="Aptos Display" pitchFamily="34" charset="-120"/>
              </a:rPr>
              <a:t>Why most advisors fail with COIs</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21208" y="786384"/>
            <a:ext cx="89611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5B6670"/>
                </a:solidFill>
                <a:effectLst/>
                <a:uLnTx/>
                <a:uFillTx/>
                <a:latin typeface="Aptos"/>
                <a:ea typeface="+mn-ea"/>
                <a:cs typeface="+mn-cs"/>
              </a:rPr>
              <a:t>The graveyard is full of advisors who took a CPA to lunch once and waited.</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10287000" y="228600"/>
            <a:ext cx="1417320" cy="329184"/>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p:cNvSpPr/>
          <p:nvPr/>
        </p:nvSpPr>
        <p:spPr>
          <a:xfrm>
            <a:off x="10396728" y="292608"/>
            <a:ext cx="1188720" cy="14630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ptos"/>
                <a:ea typeface="+mn-ea"/>
                <a:cs typeface="+mn-cs"/>
              </a:rPr>
              <a:t>New York Life</a:t>
            </a:r>
            <a:endParaRPr kumimoji="0" lang="en-US" sz="8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Shape 4"/>
          <p:cNvSpPr/>
          <p:nvPr/>
        </p:nvSpPr>
        <p:spPr>
          <a:xfrm>
            <a:off x="59436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Shape 5"/>
          <p:cNvSpPr/>
          <p:nvPr/>
        </p:nvSpPr>
        <p:spPr>
          <a:xfrm>
            <a:off x="594360" y="1234440"/>
            <a:ext cx="3520440" cy="384048"/>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73152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They lead with the ask</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75895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“Send me your clients” is the fastest way to end the relationship. The CPA has heard it a hundred times and owes you nothing.</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8"/>
          <p:cNvSpPr/>
          <p:nvPr/>
        </p:nvSpPr>
        <p:spPr>
          <a:xfrm>
            <a:off x="434340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Shape 9"/>
          <p:cNvSpPr/>
          <p:nvPr/>
        </p:nvSpPr>
        <p:spPr>
          <a:xfrm>
            <a:off x="4343400" y="1234440"/>
            <a:ext cx="3520440" cy="384048"/>
          </a:xfrm>
          <a:prstGeom prst="rect">
            <a:avLst/>
          </a:prstGeom>
          <a:solidFill>
            <a:srgbClr val="1F8A9E"/>
          </a:solidFill>
          <a:ln w="12700">
            <a:solidFill>
              <a:srgbClr val="1F8A9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Text 10"/>
          <p:cNvSpPr/>
          <p:nvPr/>
        </p:nvSpPr>
        <p:spPr>
          <a:xfrm>
            <a:off x="448056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They sound identical</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Text 11"/>
          <p:cNvSpPr/>
          <p:nvPr/>
        </p:nvSpPr>
        <p:spPr>
          <a:xfrm>
            <a:off x="450799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To a CPA, most advisors are interchangeable: same pitch, same brochure. If you cannot say what you do differently, why would they risk their reputation on you?</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Shape 12"/>
          <p:cNvSpPr/>
          <p:nvPr/>
        </p:nvSpPr>
        <p:spPr>
          <a:xfrm>
            <a:off x="809244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Shape 13"/>
          <p:cNvSpPr/>
          <p:nvPr/>
        </p:nvSpPr>
        <p:spPr>
          <a:xfrm>
            <a:off x="8092440" y="1234440"/>
            <a:ext cx="3520440" cy="384048"/>
          </a:xfrm>
          <a:prstGeom prst="rect">
            <a:avLst/>
          </a:prstGeom>
          <a:solidFill>
            <a:srgbClr val="4F2A73"/>
          </a:solidFill>
          <a:ln w="12700">
            <a:solidFill>
              <a:srgbClr val="4F2A7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4"/>
          <p:cNvSpPr/>
          <p:nvPr/>
        </p:nvSpPr>
        <p:spPr>
          <a:xfrm>
            <a:off x="822960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They don’t follow through</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Text 15"/>
          <p:cNvSpPr/>
          <p:nvPr/>
        </p:nvSpPr>
        <p:spPr>
          <a:xfrm>
            <a:off x="825703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One lunch is not a strategy. COI relationships are built on repeated, useful contact over months - most advisors quit after the first touch.</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685800" y="5742432"/>
            <a:ext cx="1069848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3A5F"/>
                </a:solidFill>
                <a:effectLst/>
                <a:uLnTx/>
                <a:uFillTx/>
                <a:latin typeface="Aptos"/>
                <a:ea typeface="+mn-ea"/>
                <a:cs typeface="+mn-cs"/>
              </a:rPr>
              <a:t>Coach line: The CPA has heard “send me your clients” a hundred times. Be the one who never says it.</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502920" y="6446520"/>
            <a:ext cx="11201400" cy="0"/>
          </a:xfrm>
          <a:prstGeom prst="line">
            <a:avLst/>
          </a:prstGeom>
          <a:no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Text 18"/>
          <p:cNvSpPr/>
          <p:nvPr/>
        </p:nvSpPr>
        <p:spPr>
          <a:xfrm>
            <a:off x="502920" y="6519672"/>
            <a:ext cx="67665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pitchFamily="34" charset="0"/>
                <a:ea typeface="Aptos" pitchFamily="34" charset="-122"/>
                <a:cs typeface="Aptos" pitchFamily="34" charset="-120"/>
              </a:rPr>
              <a:t>FOR INTERNAL USE ONLY. NOT FOR USE WITH THE GENERAL PUBLIC.</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Text 19"/>
          <p:cNvSpPr/>
          <p:nvPr/>
        </p:nvSpPr>
        <p:spPr>
          <a:xfrm>
            <a:off x="11292840" y="6519672"/>
            <a:ext cx="36576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a:ea typeface="+mn-ea"/>
                <a:cs typeface="+mn-cs"/>
              </a:rPr>
              <a:t>2</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20040"/>
            <a:ext cx="84124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3A5F"/>
                </a:solidFill>
                <a:effectLst/>
                <a:uLnTx/>
                <a:uFillTx/>
                <a:latin typeface="Aptos Display" pitchFamily="34" charset="0"/>
                <a:ea typeface="Aptos Display" pitchFamily="34" charset="-122"/>
                <a:cs typeface="Aptos Display" pitchFamily="34" charset="-120"/>
              </a:rPr>
              <a:t>Know what the COI actually wants</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21208" y="786384"/>
            <a:ext cx="89611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5B6670"/>
                </a:solidFill>
                <a:effectLst/>
                <a:uLnTx/>
                <a:uFillTx/>
                <a:latin typeface="Aptos"/>
                <a:ea typeface="+mn-ea"/>
                <a:cs typeface="+mn-cs"/>
              </a:rPr>
              <a:t>Enter their world before you invite them into yours.</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10287000" y="228600"/>
            <a:ext cx="1417320" cy="329184"/>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p:cNvSpPr/>
          <p:nvPr/>
        </p:nvSpPr>
        <p:spPr>
          <a:xfrm>
            <a:off x="10396728" y="292608"/>
            <a:ext cx="1188720" cy="14630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ptos"/>
                <a:ea typeface="+mn-ea"/>
                <a:cs typeface="+mn-cs"/>
              </a:rPr>
              <a:t>New York Life</a:t>
            </a:r>
            <a:endParaRPr kumimoji="0" lang="en-US" sz="8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Shape 4"/>
          <p:cNvSpPr/>
          <p:nvPr/>
        </p:nvSpPr>
        <p:spPr>
          <a:xfrm>
            <a:off x="59436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Shape 5"/>
          <p:cNvSpPr/>
          <p:nvPr/>
        </p:nvSpPr>
        <p:spPr>
          <a:xfrm>
            <a:off x="594360" y="1234440"/>
            <a:ext cx="3520440" cy="384048"/>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73152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CPAs: protection</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75895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CPAs are risk-averse by profession. They fear a bad handoff more than they want a fee split. They want competence, communication, and zero surprises with their client.</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8"/>
          <p:cNvSpPr/>
          <p:nvPr/>
        </p:nvSpPr>
        <p:spPr>
          <a:xfrm>
            <a:off x="434340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Shape 9"/>
          <p:cNvSpPr/>
          <p:nvPr/>
        </p:nvSpPr>
        <p:spPr>
          <a:xfrm>
            <a:off x="4343400" y="1234440"/>
            <a:ext cx="3520440" cy="384048"/>
          </a:xfrm>
          <a:prstGeom prst="rect">
            <a:avLst/>
          </a:prstGeom>
          <a:solidFill>
            <a:srgbClr val="1F8A9E"/>
          </a:solidFill>
          <a:ln w="12700">
            <a:solidFill>
              <a:srgbClr val="1F8A9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Text 10"/>
          <p:cNvSpPr/>
          <p:nvPr/>
        </p:nvSpPr>
        <p:spPr>
          <a:xfrm>
            <a:off x="448056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Attorneys: execution</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Text 11"/>
          <p:cNvSpPr/>
          <p:nvPr/>
        </p:nvSpPr>
        <p:spPr>
          <a:xfrm>
            <a:off x="450799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Estate and business attorneys draft documents that die without funding. They want an advisor who gets policies issued, beneficiaries right, and trusts funded - on time.</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Shape 12"/>
          <p:cNvSpPr/>
          <p:nvPr/>
        </p:nvSpPr>
        <p:spPr>
          <a:xfrm>
            <a:off x="809244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Shape 13"/>
          <p:cNvSpPr/>
          <p:nvPr/>
        </p:nvSpPr>
        <p:spPr>
          <a:xfrm>
            <a:off x="8092440" y="1234440"/>
            <a:ext cx="3520440" cy="384048"/>
          </a:xfrm>
          <a:prstGeom prst="rect">
            <a:avLst/>
          </a:prstGeom>
          <a:solidFill>
            <a:srgbClr val="4F2A73"/>
          </a:solidFill>
          <a:ln w="12700">
            <a:solidFill>
              <a:srgbClr val="4F2A7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4"/>
          <p:cNvSpPr/>
          <p:nvPr/>
        </p:nvSpPr>
        <p:spPr>
          <a:xfrm>
            <a:off x="822960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Both: reciprocity</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Text 15"/>
          <p:cNvSpPr/>
          <p:nvPr/>
        </p:nvSpPr>
        <p:spPr>
          <a:xfrm>
            <a:off x="825703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Professionals building their own book want referrals too. Younger partners and solo practitioners are hungriest - and most open to a new advisor relationship.</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685800" y="5742432"/>
            <a:ext cx="1069848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3A5F"/>
                </a:solidFill>
                <a:effectLst/>
                <a:uLnTx/>
                <a:uFillTx/>
                <a:latin typeface="Aptos"/>
                <a:ea typeface="+mn-ea"/>
                <a:cs typeface="+mn-cs"/>
              </a:rPr>
              <a:t>Coach line: The question is never “what can they send me.” It is “what problem of theirs can I solve.”</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502920" y="6446520"/>
            <a:ext cx="11201400" cy="0"/>
          </a:xfrm>
          <a:prstGeom prst="line">
            <a:avLst/>
          </a:prstGeom>
          <a:no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Text 18"/>
          <p:cNvSpPr/>
          <p:nvPr/>
        </p:nvSpPr>
        <p:spPr>
          <a:xfrm>
            <a:off x="502920" y="6519672"/>
            <a:ext cx="67665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pitchFamily="34" charset="0"/>
                <a:ea typeface="Aptos" pitchFamily="34" charset="-122"/>
                <a:cs typeface="Aptos" pitchFamily="34" charset="-120"/>
              </a:rPr>
              <a:t>FOR INTERNAL USE ONLY. NOT FOR USE WITH THE GENERAL PUBLIC.</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Text 19"/>
          <p:cNvSpPr/>
          <p:nvPr/>
        </p:nvSpPr>
        <p:spPr>
          <a:xfrm>
            <a:off x="11292840" y="6519672"/>
            <a:ext cx="36576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a:ea typeface="+mn-ea"/>
                <a:cs typeface="+mn-cs"/>
              </a:rPr>
              <a:t>3</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20040"/>
            <a:ext cx="84124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3A5F"/>
                </a:solidFill>
                <a:effectLst/>
                <a:uLnTx/>
                <a:uFillTx/>
                <a:latin typeface="Aptos Display" pitchFamily="34" charset="0"/>
                <a:ea typeface="Aptos Display" pitchFamily="34" charset="-122"/>
                <a:cs typeface="Aptos Display" pitchFamily="34" charset="-120"/>
              </a:rPr>
              <a:t>Step 1: Start inside your own book</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21208" y="786384"/>
            <a:ext cx="89611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5B6670"/>
                </a:solidFill>
                <a:effectLst/>
                <a:uLnTx/>
                <a:uFillTx/>
                <a:latin typeface="Aptos"/>
                <a:ea typeface="+mn-ea"/>
                <a:cs typeface="+mn-cs"/>
              </a:rPr>
              <a:t>Your next COI relationship is hiding in your top 20 client files.</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10287000" y="228600"/>
            <a:ext cx="1417320" cy="329184"/>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p:cNvSpPr/>
          <p:nvPr/>
        </p:nvSpPr>
        <p:spPr>
          <a:xfrm>
            <a:off x="10396728" y="292608"/>
            <a:ext cx="1188720" cy="14630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ptos"/>
                <a:ea typeface="+mn-ea"/>
                <a:cs typeface="+mn-cs"/>
              </a:rPr>
              <a:t>New York Life</a:t>
            </a:r>
            <a:endParaRPr kumimoji="0" lang="en-US" sz="8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Shape 4"/>
          <p:cNvSpPr/>
          <p:nvPr/>
        </p:nvSpPr>
        <p:spPr>
          <a:xfrm>
            <a:off x="59436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Shape 5"/>
          <p:cNvSpPr/>
          <p:nvPr/>
        </p:nvSpPr>
        <p:spPr>
          <a:xfrm>
            <a:off x="594360" y="1234440"/>
            <a:ext cx="3520440" cy="384048"/>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73152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Inventory your top 20</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75895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List your best 20 clients - the ones you wish you had more of. For each, identify their CPA and attorney. If you don’t know, that is your opening.</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8"/>
          <p:cNvSpPr/>
          <p:nvPr/>
        </p:nvSpPr>
        <p:spPr>
          <a:xfrm>
            <a:off x="434340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Shape 9"/>
          <p:cNvSpPr/>
          <p:nvPr/>
        </p:nvSpPr>
        <p:spPr>
          <a:xfrm>
            <a:off x="4343400" y="1234440"/>
            <a:ext cx="3520440" cy="384048"/>
          </a:xfrm>
          <a:prstGeom prst="rect">
            <a:avLst/>
          </a:prstGeom>
          <a:solidFill>
            <a:srgbClr val="1F8A9E"/>
          </a:solidFill>
          <a:ln w="12700">
            <a:solidFill>
              <a:srgbClr val="1F8A9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Text 10"/>
          <p:cNvSpPr/>
          <p:nvPr/>
        </p:nvSpPr>
        <p:spPr>
          <a:xfrm>
            <a:off x="448056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The ask, verbatim</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Text 11"/>
          <p:cNvSpPr/>
          <p:nvPr/>
        </p:nvSpPr>
        <p:spPr>
          <a:xfrm>
            <a:off x="450799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“Everything looks on track, but I noticed I don’t have your CPA’s information. When we make decisions with tax consequences, I want to coordinate with them so nothing falls through the cracks.”</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Shape 12"/>
          <p:cNvSpPr/>
          <p:nvPr/>
        </p:nvSpPr>
        <p:spPr>
          <a:xfrm>
            <a:off x="809244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Shape 13"/>
          <p:cNvSpPr/>
          <p:nvPr/>
        </p:nvSpPr>
        <p:spPr>
          <a:xfrm>
            <a:off x="8092440" y="1234440"/>
            <a:ext cx="3520440" cy="384048"/>
          </a:xfrm>
          <a:prstGeom prst="rect">
            <a:avLst/>
          </a:prstGeom>
          <a:solidFill>
            <a:srgbClr val="4F2A73"/>
          </a:solidFill>
          <a:ln w="12700">
            <a:solidFill>
              <a:srgbClr val="4F2A7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4"/>
          <p:cNvSpPr/>
          <p:nvPr/>
        </p:nvSpPr>
        <p:spPr>
          <a:xfrm>
            <a:off x="822960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Get the introduction</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Text 15"/>
          <p:cNvSpPr/>
          <p:nvPr/>
        </p:nvSpPr>
        <p:spPr>
          <a:xfrm>
            <a:off x="825703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Ask the client’s permission to introduce yourself. A warm intro through a shared client is a meeting; a cold call to a CPA is a voicemail.</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685800" y="5742432"/>
            <a:ext cx="1069848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3A5F"/>
                </a:solidFill>
                <a:effectLst/>
                <a:uLnTx/>
                <a:uFillTx/>
                <a:latin typeface="Aptos"/>
                <a:ea typeface="+mn-ea"/>
                <a:cs typeface="+mn-cs"/>
              </a:rPr>
              <a:t>Coach line: The shared client is the bridge. Walk across it.</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502920" y="6446520"/>
            <a:ext cx="11201400" cy="0"/>
          </a:xfrm>
          <a:prstGeom prst="line">
            <a:avLst/>
          </a:prstGeom>
          <a:no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Text 18"/>
          <p:cNvSpPr/>
          <p:nvPr/>
        </p:nvSpPr>
        <p:spPr>
          <a:xfrm>
            <a:off x="502920" y="6519672"/>
            <a:ext cx="67665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pitchFamily="34" charset="0"/>
                <a:ea typeface="Aptos" pitchFamily="34" charset="-122"/>
                <a:cs typeface="Aptos" pitchFamily="34" charset="-120"/>
              </a:rPr>
              <a:t>FOR INTERNAL USE ONLY. NOT FOR USE WITH THE GENERAL PUBLIC.</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Text 19"/>
          <p:cNvSpPr/>
          <p:nvPr/>
        </p:nvSpPr>
        <p:spPr>
          <a:xfrm>
            <a:off x="11292840" y="6519672"/>
            <a:ext cx="36576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a:ea typeface="+mn-ea"/>
                <a:cs typeface="+mn-cs"/>
              </a:rPr>
              <a:t>4</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20040"/>
            <a:ext cx="84124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3A5F"/>
                </a:solidFill>
                <a:effectLst/>
                <a:uLnTx/>
                <a:uFillTx/>
                <a:latin typeface="Aptos Display" pitchFamily="34" charset="0"/>
                <a:ea typeface="Aptos Display" pitchFamily="34" charset="-122"/>
                <a:cs typeface="Aptos Display" pitchFamily="34" charset="-120"/>
              </a:rPr>
              <a:t>Step 2: The first conversation</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21208" y="786384"/>
            <a:ext cx="89611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5B6670"/>
                </a:solidFill>
                <a:effectLst/>
                <a:uLnTx/>
                <a:uFillTx/>
                <a:latin typeface="Aptos"/>
                <a:ea typeface="+mn-ea"/>
                <a:cs typeface="+mn-cs"/>
              </a:rPr>
              <a:t>You are calling about the shared client - not about referrals.</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10287000" y="228600"/>
            <a:ext cx="1417320" cy="329184"/>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p:cNvSpPr/>
          <p:nvPr/>
        </p:nvSpPr>
        <p:spPr>
          <a:xfrm>
            <a:off x="10396728" y="292608"/>
            <a:ext cx="1188720" cy="14630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ptos"/>
                <a:ea typeface="+mn-ea"/>
                <a:cs typeface="+mn-cs"/>
              </a:rPr>
              <a:t>New York Life</a:t>
            </a:r>
            <a:endParaRPr kumimoji="0" lang="en-US" sz="8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Shape 4"/>
          <p:cNvSpPr/>
          <p:nvPr/>
        </p:nvSpPr>
        <p:spPr>
          <a:xfrm>
            <a:off x="59436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Shape 5"/>
          <p:cNvSpPr/>
          <p:nvPr/>
        </p:nvSpPr>
        <p:spPr>
          <a:xfrm>
            <a:off x="594360" y="1234440"/>
            <a:ext cx="3520440" cy="384048"/>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73152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The frame</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75895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This is a professional courtesy call between two advisors who serve the same person. Referrals are not mentioned. At all.</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8"/>
          <p:cNvSpPr/>
          <p:nvPr/>
        </p:nvSpPr>
        <p:spPr>
          <a:xfrm>
            <a:off x="434340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Shape 9"/>
          <p:cNvSpPr/>
          <p:nvPr/>
        </p:nvSpPr>
        <p:spPr>
          <a:xfrm>
            <a:off x="4343400" y="1234440"/>
            <a:ext cx="3520440" cy="384048"/>
          </a:xfrm>
          <a:prstGeom prst="rect">
            <a:avLst/>
          </a:prstGeom>
          <a:solidFill>
            <a:srgbClr val="1F8A9E"/>
          </a:solidFill>
          <a:ln w="12700">
            <a:solidFill>
              <a:srgbClr val="1F8A9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Text 10"/>
          <p:cNvSpPr/>
          <p:nvPr/>
        </p:nvSpPr>
        <p:spPr>
          <a:xfrm>
            <a:off x="448056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The language</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Text 11"/>
          <p:cNvSpPr/>
          <p:nvPr/>
        </p:nvSpPr>
        <p:spPr>
          <a:xfrm>
            <a:off x="450799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“I want to make sure what I’m doing on the insurance and investment side doesn’t create problems on your side. Can I walk you through what we’ve put in place for [client]?”</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Shape 12"/>
          <p:cNvSpPr/>
          <p:nvPr/>
        </p:nvSpPr>
        <p:spPr>
          <a:xfrm>
            <a:off x="809244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Shape 13"/>
          <p:cNvSpPr/>
          <p:nvPr/>
        </p:nvSpPr>
        <p:spPr>
          <a:xfrm>
            <a:off x="8092440" y="1234440"/>
            <a:ext cx="3520440" cy="384048"/>
          </a:xfrm>
          <a:prstGeom prst="rect">
            <a:avLst/>
          </a:prstGeom>
          <a:solidFill>
            <a:srgbClr val="4F2A73"/>
          </a:solidFill>
          <a:ln w="12700">
            <a:solidFill>
              <a:srgbClr val="4F2A7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4"/>
          <p:cNvSpPr/>
          <p:nvPr/>
        </p:nvSpPr>
        <p:spPr>
          <a:xfrm>
            <a:off x="822960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The exit</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Text 15"/>
          <p:cNvSpPr/>
          <p:nvPr/>
        </p:nvSpPr>
        <p:spPr>
          <a:xfrm>
            <a:off x="825703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End with a concrete reason to talk again: a joint year-end review, a document they need, a tax question you will bring them. No open-ended “let’s stay in touch.”</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685800" y="5742432"/>
            <a:ext cx="1069848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3A5F"/>
                </a:solidFill>
                <a:effectLst/>
                <a:uLnTx/>
                <a:uFillTx/>
                <a:latin typeface="Aptos"/>
                <a:ea typeface="+mn-ea"/>
                <a:cs typeface="+mn-cs"/>
              </a:rPr>
              <a:t>Coach line: The first meeting has one goal - a second meeting with a date on it.</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502920" y="6446520"/>
            <a:ext cx="11201400" cy="0"/>
          </a:xfrm>
          <a:prstGeom prst="line">
            <a:avLst/>
          </a:prstGeom>
          <a:no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Text 18"/>
          <p:cNvSpPr/>
          <p:nvPr/>
        </p:nvSpPr>
        <p:spPr>
          <a:xfrm>
            <a:off x="502920" y="6519672"/>
            <a:ext cx="67665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pitchFamily="34" charset="0"/>
                <a:ea typeface="Aptos" pitchFamily="34" charset="-122"/>
                <a:cs typeface="Aptos" pitchFamily="34" charset="-120"/>
              </a:rPr>
              <a:t>FOR INTERNAL USE ONLY. NOT FOR USE WITH THE GENERAL PUBLIC.</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Text 19"/>
          <p:cNvSpPr/>
          <p:nvPr/>
        </p:nvSpPr>
        <p:spPr>
          <a:xfrm>
            <a:off x="11292840" y="6519672"/>
            <a:ext cx="36576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a:ea typeface="+mn-ea"/>
                <a:cs typeface="+mn-cs"/>
              </a:rPr>
              <a:t>5</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20040"/>
            <a:ext cx="84124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3A5F"/>
                </a:solidFill>
                <a:effectLst/>
                <a:uLnTx/>
                <a:uFillTx/>
                <a:latin typeface="Aptos Display" pitchFamily="34" charset="0"/>
                <a:ea typeface="Aptos Display" pitchFamily="34" charset="-122"/>
                <a:cs typeface="Aptos Display" pitchFamily="34" charset="-120"/>
              </a:rPr>
              <a:t>Step 3: Demonstrate, don’t describe</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21208" y="786384"/>
            <a:ext cx="89611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5B6670"/>
                </a:solidFill>
                <a:effectLst/>
                <a:uLnTx/>
                <a:uFillTx/>
                <a:latin typeface="Aptos"/>
                <a:ea typeface="+mn-ea"/>
                <a:cs typeface="+mn-cs"/>
              </a:rPr>
              <a:t>COIs refer based on what they have seen you do, not what you say you do.</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10287000" y="228600"/>
            <a:ext cx="1417320" cy="329184"/>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p:cNvSpPr/>
          <p:nvPr/>
        </p:nvSpPr>
        <p:spPr>
          <a:xfrm>
            <a:off x="10396728" y="292608"/>
            <a:ext cx="1188720" cy="14630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ptos"/>
                <a:ea typeface="+mn-ea"/>
                <a:cs typeface="+mn-cs"/>
              </a:rPr>
              <a:t>New York Life</a:t>
            </a:r>
            <a:endParaRPr kumimoji="0" lang="en-US" sz="8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Shape 4"/>
          <p:cNvSpPr/>
          <p:nvPr/>
        </p:nvSpPr>
        <p:spPr>
          <a:xfrm>
            <a:off x="59436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Shape 5"/>
          <p:cNvSpPr/>
          <p:nvPr/>
        </p:nvSpPr>
        <p:spPr>
          <a:xfrm>
            <a:off x="594360" y="1234440"/>
            <a:ext cx="3520440" cy="384048"/>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73152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Send work product</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75895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After tax-sensitive decisions, send the CPA a one-page summary: what was done, why, and the tax relevance. You just became the easiest advisor they work with.</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8"/>
          <p:cNvSpPr/>
          <p:nvPr/>
        </p:nvSpPr>
        <p:spPr>
          <a:xfrm>
            <a:off x="434340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Shape 9"/>
          <p:cNvSpPr/>
          <p:nvPr/>
        </p:nvSpPr>
        <p:spPr>
          <a:xfrm>
            <a:off x="4343400" y="1234440"/>
            <a:ext cx="3520440" cy="384048"/>
          </a:xfrm>
          <a:prstGeom prst="rect">
            <a:avLst/>
          </a:prstGeom>
          <a:solidFill>
            <a:srgbClr val="1F8A9E"/>
          </a:solidFill>
          <a:ln w="12700">
            <a:solidFill>
              <a:srgbClr val="1F8A9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Text 10"/>
          <p:cNvSpPr/>
          <p:nvPr/>
        </p:nvSpPr>
        <p:spPr>
          <a:xfrm>
            <a:off x="448056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Run a joint review</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Text 11"/>
          <p:cNvSpPr/>
          <p:nvPr/>
        </p:nvSpPr>
        <p:spPr>
          <a:xfrm>
            <a:off x="450799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Propose one meeting a year with you, the client, and the CPA or attorney together. Watching you work in front of their client is worth fifty lunches.</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Shape 12"/>
          <p:cNvSpPr/>
          <p:nvPr/>
        </p:nvSpPr>
        <p:spPr>
          <a:xfrm>
            <a:off x="809244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Shape 13"/>
          <p:cNvSpPr/>
          <p:nvPr/>
        </p:nvSpPr>
        <p:spPr>
          <a:xfrm>
            <a:off x="8092440" y="1234440"/>
            <a:ext cx="3520440" cy="384048"/>
          </a:xfrm>
          <a:prstGeom prst="rect">
            <a:avLst/>
          </a:prstGeom>
          <a:solidFill>
            <a:srgbClr val="4F2A73"/>
          </a:solidFill>
          <a:ln w="12700">
            <a:solidFill>
              <a:srgbClr val="4F2A7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4"/>
          <p:cNvSpPr/>
          <p:nvPr/>
        </p:nvSpPr>
        <p:spPr>
          <a:xfrm>
            <a:off x="822960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Be easy</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Text 15"/>
          <p:cNvSpPr/>
          <p:nvPr/>
        </p:nvSpPr>
        <p:spPr>
          <a:xfrm>
            <a:off x="825703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Return calls same day. Send organized files. Hit deadlines. Boring reliability is the single most-cited reason COIs keep referring.</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685800" y="5742432"/>
            <a:ext cx="1069848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3A5F"/>
                </a:solidFill>
                <a:effectLst/>
                <a:uLnTx/>
                <a:uFillTx/>
                <a:latin typeface="Aptos"/>
                <a:ea typeface="+mn-ea"/>
                <a:cs typeface="+mn-cs"/>
              </a:rPr>
              <a:t>Coach line: Every piece of work you share is an audition you did not have to ask for.</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502920" y="6446520"/>
            <a:ext cx="11201400" cy="0"/>
          </a:xfrm>
          <a:prstGeom prst="line">
            <a:avLst/>
          </a:prstGeom>
          <a:no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Text 18"/>
          <p:cNvSpPr/>
          <p:nvPr/>
        </p:nvSpPr>
        <p:spPr>
          <a:xfrm>
            <a:off x="502920" y="6519672"/>
            <a:ext cx="67665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pitchFamily="34" charset="0"/>
                <a:ea typeface="Aptos" pitchFamily="34" charset="-122"/>
                <a:cs typeface="Aptos" pitchFamily="34" charset="-120"/>
              </a:rPr>
              <a:t>FOR INTERNAL USE ONLY. NOT FOR USE WITH THE GENERAL PUBLIC.</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Text 19"/>
          <p:cNvSpPr/>
          <p:nvPr/>
        </p:nvSpPr>
        <p:spPr>
          <a:xfrm>
            <a:off x="11292840" y="6519672"/>
            <a:ext cx="36576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a:ea typeface="+mn-ea"/>
                <a:cs typeface="+mn-cs"/>
              </a:rPr>
              <a:t>6</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20040"/>
            <a:ext cx="84124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3A5F"/>
                </a:solidFill>
                <a:effectLst/>
                <a:uLnTx/>
                <a:uFillTx/>
                <a:latin typeface="Aptos Display" pitchFamily="34" charset="0"/>
                <a:ea typeface="Aptos Display" pitchFamily="34" charset="-122"/>
                <a:cs typeface="Aptos Display" pitchFamily="34" charset="-120"/>
              </a:rPr>
              <a:t>Step 4: Give first</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21208" y="786384"/>
            <a:ext cx="89611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5B6670"/>
                </a:solidFill>
                <a:effectLst/>
                <a:uLnTx/>
                <a:uFillTx/>
                <a:latin typeface="Aptos"/>
                <a:ea typeface="+mn-ea"/>
                <a:cs typeface="+mn-cs"/>
              </a:rPr>
              <a:t>The fastest way to receive referrals is to send them.</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10287000" y="228600"/>
            <a:ext cx="1417320" cy="329184"/>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p:cNvSpPr/>
          <p:nvPr/>
        </p:nvSpPr>
        <p:spPr>
          <a:xfrm>
            <a:off x="10396728" y="292608"/>
            <a:ext cx="1188720" cy="14630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ptos"/>
                <a:ea typeface="+mn-ea"/>
                <a:cs typeface="+mn-cs"/>
              </a:rPr>
              <a:t>New York Life</a:t>
            </a:r>
            <a:endParaRPr kumimoji="0" lang="en-US" sz="8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Shape 4"/>
          <p:cNvSpPr/>
          <p:nvPr/>
        </p:nvSpPr>
        <p:spPr>
          <a:xfrm>
            <a:off x="59436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Shape 5"/>
          <p:cNvSpPr/>
          <p:nvPr/>
        </p:nvSpPr>
        <p:spPr>
          <a:xfrm>
            <a:off x="594360" y="1234440"/>
            <a:ext cx="3520440" cy="384048"/>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73152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Refer first</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75895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You meet people with tax and legal needs every week. Send them - with a warm intro and a follow-up. Reciprocity is the oldest law in professional services.</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8"/>
          <p:cNvSpPr/>
          <p:nvPr/>
        </p:nvSpPr>
        <p:spPr>
          <a:xfrm>
            <a:off x="434340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Shape 9"/>
          <p:cNvSpPr/>
          <p:nvPr/>
        </p:nvSpPr>
        <p:spPr>
          <a:xfrm>
            <a:off x="4343400" y="1234440"/>
            <a:ext cx="3520440" cy="384048"/>
          </a:xfrm>
          <a:prstGeom prst="rect">
            <a:avLst/>
          </a:prstGeom>
          <a:solidFill>
            <a:srgbClr val="1F8A9E"/>
          </a:solidFill>
          <a:ln w="12700">
            <a:solidFill>
              <a:srgbClr val="1F8A9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Text 10"/>
          <p:cNvSpPr/>
          <p:nvPr/>
        </p:nvSpPr>
        <p:spPr>
          <a:xfrm>
            <a:off x="448056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Send useful material</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Text 11"/>
          <p:cNvSpPr/>
          <p:nvPr/>
        </p:nvSpPr>
        <p:spPr>
          <a:xfrm>
            <a:off x="450799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Forward relevant insights - a NYLIM market piece, a tax-change summary - with one line on why it matters to their clients. Useful beats frequent.</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Shape 12"/>
          <p:cNvSpPr/>
          <p:nvPr/>
        </p:nvSpPr>
        <p:spPr>
          <a:xfrm>
            <a:off x="809244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Shape 13"/>
          <p:cNvSpPr/>
          <p:nvPr/>
        </p:nvSpPr>
        <p:spPr>
          <a:xfrm>
            <a:off x="8092440" y="1234440"/>
            <a:ext cx="3520440" cy="384048"/>
          </a:xfrm>
          <a:prstGeom prst="rect">
            <a:avLst/>
          </a:prstGeom>
          <a:solidFill>
            <a:srgbClr val="4F2A73"/>
          </a:solidFill>
          <a:ln w="12700">
            <a:solidFill>
              <a:srgbClr val="4F2A7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4"/>
          <p:cNvSpPr/>
          <p:nvPr/>
        </p:nvSpPr>
        <p:spPr>
          <a:xfrm>
            <a:off x="822960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Make them look good</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Text 15"/>
          <p:cNvSpPr/>
          <p:nvPr/>
        </p:nvSpPr>
        <p:spPr>
          <a:xfrm>
            <a:off x="825703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Invite them to present at your client events. Quote their guidance to shared clients. A COI who looks smart because of you stays close to you.</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685800" y="5742432"/>
            <a:ext cx="1069848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3A5F"/>
                </a:solidFill>
                <a:effectLst/>
                <a:uLnTx/>
                <a:uFillTx/>
                <a:latin typeface="Aptos"/>
                <a:ea typeface="+mn-ea"/>
                <a:cs typeface="+mn-cs"/>
              </a:rPr>
              <a:t>Coach line: Keep score privately, give publicly. The ledger balances faster than you think.</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502920" y="6446520"/>
            <a:ext cx="11201400" cy="0"/>
          </a:xfrm>
          <a:prstGeom prst="line">
            <a:avLst/>
          </a:prstGeom>
          <a:no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Text 18"/>
          <p:cNvSpPr/>
          <p:nvPr/>
        </p:nvSpPr>
        <p:spPr>
          <a:xfrm>
            <a:off x="502920" y="6519672"/>
            <a:ext cx="67665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pitchFamily="34" charset="0"/>
                <a:ea typeface="Aptos" pitchFamily="34" charset="-122"/>
                <a:cs typeface="Aptos" pitchFamily="34" charset="-120"/>
              </a:rPr>
              <a:t>FOR INTERNAL USE ONLY. NOT FOR USE WITH THE GENERAL PUBLIC.</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Text 19"/>
          <p:cNvSpPr/>
          <p:nvPr/>
        </p:nvSpPr>
        <p:spPr>
          <a:xfrm>
            <a:off x="11292840" y="6519672"/>
            <a:ext cx="36576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a:ea typeface="+mn-ea"/>
                <a:cs typeface="+mn-cs"/>
              </a:rPr>
              <a:t>7</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20040"/>
            <a:ext cx="84124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3A5F"/>
                </a:solidFill>
                <a:effectLst/>
                <a:uLnTx/>
                <a:uFillTx/>
                <a:latin typeface="Aptos Display" pitchFamily="34" charset="0"/>
                <a:ea typeface="Aptos Display" pitchFamily="34" charset="-122"/>
                <a:cs typeface="Aptos Display" pitchFamily="34" charset="-120"/>
              </a:rPr>
              <a:t>Step 5: Formalize the pipeline</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21208" y="786384"/>
            <a:ext cx="89611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5B6670"/>
                </a:solidFill>
                <a:effectLst/>
                <a:uLnTx/>
                <a:uFillTx/>
                <a:latin typeface="Aptos"/>
                <a:ea typeface="+mn-ea"/>
                <a:cs typeface="+mn-cs"/>
              </a:rPr>
              <a:t>Turn goodwill into a working system.</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10287000" y="228600"/>
            <a:ext cx="1417320" cy="329184"/>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p:cNvSpPr/>
          <p:nvPr/>
        </p:nvSpPr>
        <p:spPr>
          <a:xfrm>
            <a:off x="10396728" y="292608"/>
            <a:ext cx="1188720" cy="14630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ptos"/>
                <a:ea typeface="+mn-ea"/>
                <a:cs typeface="+mn-cs"/>
              </a:rPr>
              <a:t>New York Life</a:t>
            </a:r>
            <a:endParaRPr kumimoji="0" lang="en-US" sz="8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Shape 4"/>
          <p:cNvSpPr/>
          <p:nvPr/>
        </p:nvSpPr>
        <p:spPr>
          <a:xfrm>
            <a:off x="59436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Shape 5"/>
          <p:cNvSpPr/>
          <p:nvPr/>
        </p:nvSpPr>
        <p:spPr>
          <a:xfrm>
            <a:off x="594360" y="1234440"/>
            <a:ext cx="3520440" cy="384048"/>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73152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Define your ideal client</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75895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Tell the COI exactly whom to send: “Business owners thinking about succession” beats “anyone who needs financial planning.” Specific is memorable; vague is forgettable.</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8"/>
          <p:cNvSpPr/>
          <p:nvPr/>
        </p:nvSpPr>
        <p:spPr>
          <a:xfrm>
            <a:off x="434340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Shape 9"/>
          <p:cNvSpPr/>
          <p:nvPr/>
        </p:nvSpPr>
        <p:spPr>
          <a:xfrm>
            <a:off x="4343400" y="1234440"/>
            <a:ext cx="3520440" cy="384048"/>
          </a:xfrm>
          <a:prstGeom prst="rect">
            <a:avLst/>
          </a:prstGeom>
          <a:solidFill>
            <a:srgbClr val="1F8A9E"/>
          </a:solidFill>
          <a:ln w="12700">
            <a:solidFill>
              <a:srgbClr val="1F8A9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Text 10"/>
          <p:cNvSpPr/>
          <p:nvPr/>
        </p:nvSpPr>
        <p:spPr>
          <a:xfrm>
            <a:off x="448056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Agree on the handoff</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Text 11"/>
          <p:cNvSpPr/>
          <p:nvPr/>
        </p:nvSpPr>
        <p:spPr>
          <a:xfrm>
            <a:off x="450799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How do referrals move? Warm email intro, three-way call, or meeting? Then close the loop every time: “Your client is in good hands - here’s what happened.”</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Shape 12"/>
          <p:cNvSpPr/>
          <p:nvPr/>
        </p:nvSpPr>
        <p:spPr>
          <a:xfrm>
            <a:off x="809244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Shape 13"/>
          <p:cNvSpPr/>
          <p:nvPr/>
        </p:nvSpPr>
        <p:spPr>
          <a:xfrm>
            <a:off x="8092440" y="1234440"/>
            <a:ext cx="3520440" cy="384048"/>
          </a:xfrm>
          <a:prstGeom prst="rect">
            <a:avLst/>
          </a:prstGeom>
          <a:solidFill>
            <a:srgbClr val="4F2A73"/>
          </a:solidFill>
          <a:ln w="12700">
            <a:solidFill>
              <a:srgbClr val="4F2A7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4"/>
          <p:cNvSpPr/>
          <p:nvPr/>
        </p:nvSpPr>
        <p:spPr>
          <a:xfrm>
            <a:off x="822960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Set a cadence</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Text 15"/>
          <p:cNvSpPr/>
          <p:nvPr/>
        </p:nvSpPr>
        <p:spPr>
          <a:xfrm>
            <a:off x="825703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Quarterly contact minimum: one meeting, one useful send, one referral or introduction. Put it in your calendar like a client review - because it is one.</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685800" y="5742432"/>
            <a:ext cx="1069848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3A5F"/>
                </a:solidFill>
                <a:effectLst/>
                <a:uLnTx/>
                <a:uFillTx/>
                <a:latin typeface="Aptos"/>
                <a:ea typeface="+mn-ea"/>
                <a:cs typeface="+mn-cs"/>
              </a:rPr>
              <a:t>Coach line: A referral relationship without a system is a friendship. Friendships are nice; pipelines are better.</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502920" y="6446520"/>
            <a:ext cx="11201400" cy="0"/>
          </a:xfrm>
          <a:prstGeom prst="line">
            <a:avLst/>
          </a:prstGeom>
          <a:no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Text 18"/>
          <p:cNvSpPr/>
          <p:nvPr/>
        </p:nvSpPr>
        <p:spPr>
          <a:xfrm>
            <a:off x="502920" y="6519672"/>
            <a:ext cx="67665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pitchFamily="34" charset="0"/>
                <a:ea typeface="Aptos" pitchFamily="34" charset="-122"/>
                <a:cs typeface="Aptos" pitchFamily="34" charset="-120"/>
              </a:rPr>
              <a:t>FOR INTERNAL USE ONLY. NOT FOR USE WITH THE GENERAL PUBLIC.</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Text 19"/>
          <p:cNvSpPr/>
          <p:nvPr/>
        </p:nvSpPr>
        <p:spPr>
          <a:xfrm>
            <a:off x="11292840" y="6519672"/>
            <a:ext cx="36576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a:ea typeface="+mn-ea"/>
                <a:cs typeface="+mn-cs"/>
              </a:rPr>
              <a:t>8</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20040"/>
            <a:ext cx="84124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3A5F"/>
                </a:solidFill>
                <a:effectLst/>
                <a:uLnTx/>
                <a:uFillTx/>
                <a:latin typeface="Aptos Display" pitchFamily="34" charset="0"/>
                <a:ea typeface="Aptos Display" pitchFamily="34" charset="-122"/>
                <a:cs typeface="Aptos Display" pitchFamily="34" charset="-120"/>
              </a:rPr>
              <a:t>Language that works</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21208" y="786384"/>
            <a:ext cx="89611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5B6670"/>
                </a:solidFill>
                <a:effectLst/>
                <a:uLnTx/>
                <a:uFillTx/>
                <a:latin typeface="Aptos"/>
                <a:ea typeface="+mn-ea"/>
                <a:cs typeface="+mn-cs"/>
              </a:rPr>
              <a:t>Steal these lines. Adjust to your voice.</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10287000" y="228600"/>
            <a:ext cx="1417320" cy="329184"/>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p:cNvSpPr/>
          <p:nvPr/>
        </p:nvSpPr>
        <p:spPr>
          <a:xfrm>
            <a:off x="10396728" y="292608"/>
            <a:ext cx="1188720" cy="14630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ptos"/>
                <a:ea typeface="+mn-ea"/>
                <a:cs typeface="+mn-cs"/>
              </a:rPr>
              <a:t>New York Life</a:t>
            </a:r>
            <a:endParaRPr kumimoji="0" lang="en-US" sz="8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Shape 4"/>
          <p:cNvSpPr/>
          <p:nvPr/>
        </p:nvSpPr>
        <p:spPr>
          <a:xfrm>
            <a:off x="59436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Shape 5"/>
          <p:cNvSpPr/>
          <p:nvPr/>
        </p:nvSpPr>
        <p:spPr>
          <a:xfrm>
            <a:off x="594360" y="1234440"/>
            <a:ext cx="3520440" cy="384048"/>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73152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Opening a COI meeting</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75895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“I’m not here to ask for referrals. I want to understand your practice and see whether it ever makes sense to coordinate for clients we may share.”</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8"/>
          <p:cNvSpPr/>
          <p:nvPr/>
        </p:nvSpPr>
        <p:spPr>
          <a:xfrm>
            <a:off x="434340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Shape 9"/>
          <p:cNvSpPr/>
          <p:nvPr/>
        </p:nvSpPr>
        <p:spPr>
          <a:xfrm>
            <a:off x="4343400" y="1234440"/>
            <a:ext cx="3520440" cy="384048"/>
          </a:xfrm>
          <a:prstGeom prst="rect">
            <a:avLst/>
          </a:prstGeom>
          <a:solidFill>
            <a:srgbClr val="1F8A9E"/>
          </a:solidFill>
          <a:ln w="12700">
            <a:solidFill>
              <a:srgbClr val="1F8A9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Text 10"/>
          <p:cNvSpPr/>
          <p:nvPr/>
        </p:nvSpPr>
        <p:spPr>
          <a:xfrm>
            <a:off x="448056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The eventual ask (earned)</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Text 11"/>
          <p:cNvSpPr/>
          <p:nvPr/>
        </p:nvSpPr>
        <p:spPr>
          <a:xfrm>
            <a:off x="450799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“When a client mentions [succession / an inheritance / a windfall], that’s the situation where I do my best work. If one comes up, I’d welcome the introduction - and I’ll treat them the way you saw me treat [shared client].”</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Shape 12"/>
          <p:cNvSpPr/>
          <p:nvPr/>
        </p:nvSpPr>
        <p:spPr>
          <a:xfrm>
            <a:off x="809244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Shape 13"/>
          <p:cNvSpPr/>
          <p:nvPr/>
        </p:nvSpPr>
        <p:spPr>
          <a:xfrm>
            <a:off x="8092440" y="1234440"/>
            <a:ext cx="3520440" cy="384048"/>
          </a:xfrm>
          <a:prstGeom prst="rect">
            <a:avLst/>
          </a:prstGeom>
          <a:solidFill>
            <a:srgbClr val="4F2A73"/>
          </a:solidFill>
          <a:ln w="12700">
            <a:solidFill>
              <a:srgbClr val="4F2A7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4"/>
          <p:cNvSpPr/>
          <p:nvPr/>
        </p:nvSpPr>
        <p:spPr>
          <a:xfrm>
            <a:off x="822960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Closing the loop</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Text 15"/>
          <p:cNvSpPr/>
          <p:nvPr/>
        </p:nvSpPr>
        <p:spPr>
          <a:xfrm>
            <a:off x="825703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“Thanks for trusting me with [name]. We met twice, put the protection in place, and coordinated the beneficiary language with your office. They’re in good shape.”</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685800" y="5742432"/>
            <a:ext cx="1069848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3A5F"/>
                </a:solidFill>
                <a:effectLst/>
                <a:uLnTx/>
                <a:uFillTx/>
                <a:latin typeface="Aptos"/>
                <a:ea typeface="+mn-ea"/>
                <a:cs typeface="+mn-cs"/>
              </a:rPr>
              <a:t>Coach line: Scripts are training wheels. Ride with them until balance is automatic.</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502920" y="6446520"/>
            <a:ext cx="11201400" cy="0"/>
          </a:xfrm>
          <a:prstGeom prst="line">
            <a:avLst/>
          </a:prstGeom>
          <a:no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Text 18"/>
          <p:cNvSpPr/>
          <p:nvPr/>
        </p:nvSpPr>
        <p:spPr>
          <a:xfrm>
            <a:off x="502920" y="6519672"/>
            <a:ext cx="67665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pitchFamily="34" charset="0"/>
                <a:ea typeface="Aptos" pitchFamily="34" charset="-122"/>
                <a:cs typeface="Aptos" pitchFamily="34" charset="-120"/>
              </a:rPr>
              <a:t>FOR INTERNAL USE ONLY. NOT FOR USE WITH THE GENERAL PUBLIC.</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Text 19"/>
          <p:cNvSpPr/>
          <p:nvPr/>
        </p:nvSpPr>
        <p:spPr>
          <a:xfrm>
            <a:off x="11292840" y="6519672"/>
            <a:ext cx="36576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a:ea typeface="+mn-ea"/>
                <a:cs typeface="+mn-cs"/>
              </a:rPr>
              <a:t>9</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20040"/>
            <a:ext cx="84124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3A5F"/>
                </a:solidFill>
                <a:effectLst/>
                <a:uLnTx/>
                <a:uFillTx/>
                <a:latin typeface="Aptos Display" pitchFamily="34" charset="0"/>
                <a:ea typeface="Aptos Display" pitchFamily="34" charset="-122"/>
                <a:cs typeface="Aptos Display" pitchFamily="34" charset="-120"/>
              </a:rPr>
              <a:t>Timing: work the professional calendar</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21208" y="786384"/>
            <a:ext cx="89611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5B6670"/>
                </a:solidFill>
                <a:effectLst/>
                <a:uLnTx/>
                <a:uFillTx/>
                <a:latin typeface="Aptos"/>
                <a:ea typeface="+mn-ea"/>
                <a:cs typeface="+mn-cs"/>
              </a:rPr>
              <a:t>Right message, wrong month, no meeting.</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10287000" y="228600"/>
            <a:ext cx="1417320" cy="329184"/>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p:cNvSpPr/>
          <p:nvPr/>
        </p:nvSpPr>
        <p:spPr>
          <a:xfrm>
            <a:off x="10396728" y="292608"/>
            <a:ext cx="1188720" cy="14630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ptos"/>
                <a:ea typeface="+mn-ea"/>
                <a:cs typeface="+mn-cs"/>
              </a:rPr>
              <a:t>New York Life</a:t>
            </a:r>
            <a:endParaRPr kumimoji="0" lang="en-US" sz="8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Shape 4"/>
          <p:cNvSpPr/>
          <p:nvPr/>
        </p:nvSpPr>
        <p:spPr>
          <a:xfrm>
            <a:off x="59436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Shape 5"/>
          <p:cNvSpPr/>
          <p:nvPr/>
        </p:nvSpPr>
        <p:spPr>
          <a:xfrm>
            <a:off x="594360" y="1234440"/>
            <a:ext cx="3520440" cy="384048"/>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73152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CPAs</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75895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Do not ask for anything January through April 15. Plant seeds in summer - like right now - when they finally have breathing room and are thinking about advisory work, not returns.</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8"/>
          <p:cNvSpPr/>
          <p:nvPr/>
        </p:nvSpPr>
        <p:spPr>
          <a:xfrm>
            <a:off x="434340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Shape 9"/>
          <p:cNvSpPr/>
          <p:nvPr/>
        </p:nvSpPr>
        <p:spPr>
          <a:xfrm>
            <a:off x="4343400" y="1234440"/>
            <a:ext cx="3520440" cy="384048"/>
          </a:xfrm>
          <a:prstGeom prst="rect">
            <a:avLst/>
          </a:prstGeom>
          <a:solidFill>
            <a:srgbClr val="1F8A9E"/>
          </a:solidFill>
          <a:ln w="12700">
            <a:solidFill>
              <a:srgbClr val="1F8A9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Text 10"/>
          <p:cNvSpPr/>
          <p:nvPr/>
        </p:nvSpPr>
        <p:spPr>
          <a:xfrm>
            <a:off x="448056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Attorneys</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Text 11"/>
          <p:cNvSpPr/>
          <p:nvPr/>
        </p:nvSpPr>
        <p:spPr>
          <a:xfrm>
            <a:off x="450799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Estate planning activity clusters around year-end and life events. Mid-year is ideal for relationship building and joint-review scheduling.</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Shape 12"/>
          <p:cNvSpPr/>
          <p:nvPr/>
        </p:nvSpPr>
        <p:spPr>
          <a:xfrm>
            <a:off x="809244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Shape 13"/>
          <p:cNvSpPr/>
          <p:nvPr/>
        </p:nvSpPr>
        <p:spPr>
          <a:xfrm>
            <a:off x="8092440" y="1234440"/>
            <a:ext cx="3520440" cy="384048"/>
          </a:xfrm>
          <a:prstGeom prst="rect">
            <a:avLst/>
          </a:prstGeom>
          <a:solidFill>
            <a:srgbClr val="4F2A73"/>
          </a:solidFill>
          <a:ln w="12700">
            <a:solidFill>
              <a:srgbClr val="4F2A7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4"/>
          <p:cNvSpPr/>
          <p:nvPr/>
        </p:nvSpPr>
        <p:spPr>
          <a:xfrm>
            <a:off x="822960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The July advantage</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Text 15"/>
          <p:cNvSpPr/>
          <p:nvPr/>
        </p:nvSpPr>
        <p:spPr>
          <a:xfrm>
            <a:off x="825703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You are hearing this in early July - the single best month to book CPA coffees all year. Extensions aside, their calendar is as open as it gets.</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685800" y="5742432"/>
            <a:ext cx="1069848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3A5F"/>
                </a:solidFill>
                <a:effectLst/>
                <a:uLnTx/>
                <a:uFillTx/>
                <a:latin typeface="Aptos"/>
                <a:ea typeface="+mn-ea"/>
                <a:cs typeface="+mn-cs"/>
              </a:rPr>
              <a:t>Coach line: The advisor who calls a CPA in July gets the meeting the advisor who calls in March never will.</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502920" y="6446520"/>
            <a:ext cx="11201400" cy="0"/>
          </a:xfrm>
          <a:prstGeom prst="line">
            <a:avLst/>
          </a:prstGeom>
          <a:no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Text 18"/>
          <p:cNvSpPr/>
          <p:nvPr/>
        </p:nvSpPr>
        <p:spPr>
          <a:xfrm>
            <a:off x="502920" y="6519672"/>
            <a:ext cx="67665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pitchFamily="34" charset="0"/>
                <a:ea typeface="Aptos" pitchFamily="34" charset="-122"/>
                <a:cs typeface="Aptos" pitchFamily="34" charset="-120"/>
              </a:rPr>
              <a:t>FOR INTERNAL USE ONLY. NOT FOR USE WITH THE GENERAL PUBLIC.</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Text 19"/>
          <p:cNvSpPr/>
          <p:nvPr/>
        </p:nvSpPr>
        <p:spPr>
          <a:xfrm>
            <a:off x="11292840" y="6519672"/>
            <a:ext cx="36576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a:ea typeface="+mn-ea"/>
                <a:cs typeface="+mn-cs"/>
              </a:rPr>
              <a:t>10</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20040"/>
            <a:ext cx="84124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3A5F"/>
                </a:solidFill>
                <a:effectLst/>
                <a:uLnTx/>
                <a:uFillTx/>
                <a:latin typeface="Aptos Display" pitchFamily="34" charset="0"/>
                <a:ea typeface="Aptos Display" pitchFamily="34" charset="-122"/>
                <a:cs typeface="Aptos Display" pitchFamily="34" charset="-120"/>
              </a:rPr>
              <a:t>Objections you will hear - and honest answers</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21208" y="786384"/>
            <a:ext cx="89611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5B6670"/>
                </a:solidFill>
                <a:effectLst/>
                <a:uLnTx/>
                <a:uFillTx/>
                <a:latin typeface="Aptos"/>
                <a:ea typeface="+mn-ea"/>
                <a:cs typeface="+mn-cs"/>
              </a:rPr>
              <a:t>Every COI has been burned or bored by an advisor before you.</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10287000" y="228600"/>
            <a:ext cx="1417320" cy="329184"/>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p:cNvSpPr/>
          <p:nvPr/>
        </p:nvSpPr>
        <p:spPr>
          <a:xfrm>
            <a:off x="10396728" y="292608"/>
            <a:ext cx="1188720" cy="14630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ptos"/>
                <a:ea typeface="+mn-ea"/>
                <a:cs typeface="+mn-cs"/>
              </a:rPr>
              <a:t>New York Life</a:t>
            </a:r>
            <a:endParaRPr kumimoji="0" lang="en-US" sz="8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Shape 4"/>
          <p:cNvSpPr/>
          <p:nvPr/>
        </p:nvSpPr>
        <p:spPr>
          <a:xfrm>
            <a:off x="59436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Shape 5"/>
          <p:cNvSpPr/>
          <p:nvPr/>
        </p:nvSpPr>
        <p:spPr>
          <a:xfrm>
            <a:off x="594360" y="1234440"/>
            <a:ext cx="3520440" cy="384048"/>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73152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“I can’t favor one advisor”</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75895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“Understood - I’d expect you to refer based on fit, not loyalty. I only ask to be in the rotation for the situations where I do my best work.”</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8"/>
          <p:cNvSpPr/>
          <p:nvPr/>
        </p:nvSpPr>
        <p:spPr>
          <a:xfrm>
            <a:off x="434340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Shape 9"/>
          <p:cNvSpPr/>
          <p:nvPr/>
        </p:nvSpPr>
        <p:spPr>
          <a:xfrm>
            <a:off x="4343400" y="1234440"/>
            <a:ext cx="3520440" cy="384048"/>
          </a:xfrm>
          <a:prstGeom prst="rect">
            <a:avLst/>
          </a:prstGeom>
          <a:solidFill>
            <a:srgbClr val="1F8A9E"/>
          </a:solidFill>
          <a:ln w="12700">
            <a:solidFill>
              <a:srgbClr val="1F8A9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Text 10"/>
          <p:cNvSpPr/>
          <p:nvPr/>
        </p:nvSpPr>
        <p:spPr>
          <a:xfrm>
            <a:off x="448056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“My clients have advisors”</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Text 11"/>
          <p:cNvSpPr/>
          <p:nvPr/>
        </p:nvSpPr>
        <p:spPr>
          <a:xfrm>
            <a:off x="450799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“Most do. But when a client is unhappy, or an advisor retires, or a situation needs insurance expertise their advisor lacks - that’s the moment I’m asking you to remember me.”</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Shape 12"/>
          <p:cNvSpPr/>
          <p:nvPr/>
        </p:nvSpPr>
        <p:spPr>
          <a:xfrm>
            <a:off x="809244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Shape 13"/>
          <p:cNvSpPr/>
          <p:nvPr/>
        </p:nvSpPr>
        <p:spPr>
          <a:xfrm>
            <a:off x="8092440" y="1234440"/>
            <a:ext cx="3520440" cy="384048"/>
          </a:xfrm>
          <a:prstGeom prst="rect">
            <a:avLst/>
          </a:prstGeom>
          <a:solidFill>
            <a:srgbClr val="4F2A73"/>
          </a:solidFill>
          <a:ln w="12700">
            <a:solidFill>
              <a:srgbClr val="4F2A7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4"/>
          <p:cNvSpPr/>
          <p:nvPr/>
        </p:nvSpPr>
        <p:spPr>
          <a:xfrm>
            <a:off x="822960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“What’s in it for me?”</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Text 15"/>
          <p:cNvSpPr/>
          <p:nvPr/>
        </p:nvSpPr>
        <p:spPr>
          <a:xfrm>
            <a:off x="825703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“Referrals back, a partner who makes you look good, and one less worry about a client’s financial house. And you’ve seen how I work - that’s the real answer.”</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685800" y="5742432"/>
            <a:ext cx="1069848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3A5F"/>
                </a:solidFill>
                <a:effectLst/>
                <a:uLnTx/>
                <a:uFillTx/>
                <a:latin typeface="Aptos"/>
                <a:ea typeface="+mn-ea"/>
                <a:cs typeface="+mn-cs"/>
              </a:rPr>
              <a:t>Coach line: Objections from a COI are buying questions. Answer them like a professional, not a salesman.</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502920" y="6446520"/>
            <a:ext cx="11201400" cy="0"/>
          </a:xfrm>
          <a:prstGeom prst="line">
            <a:avLst/>
          </a:prstGeom>
          <a:no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Text 18"/>
          <p:cNvSpPr/>
          <p:nvPr/>
        </p:nvSpPr>
        <p:spPr>
          <a:xfrm>
            <a:off x="502920" y="6519672"/>
            <a:ext cx="67665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pitchFamily="34" charset="0"/>
                <a:ea typeface="Aptos" pitchFamily="34" charset="-122"/>
                <a:cs typeface="Aptos" pitchFamily="34" charset="-120"/>
              </a:rPr>
              <a:t>FOR INTERNAL USE ONLY. NOT FOR USE WITH THE GENERAL PUBLIC.</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Text 19"/>
          <p:cNvSpPr/>
          <p:nvPr/>
        </p:nvSpPr>
        <p:spPr>
          <a:xfrm>
            <a:off x="11292840" y="6519672"/>
            <a:ext cx="36576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a:ea typeface="+mn-ea"/>
                <a:cs typeface="+mn-cs"/>
              </a:rPr>
              <a:t>11</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20040"/>
            <a:ext cx="84124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63A5F"/>
                </a:solidFill>
                <a:effectLst/>
                <a:uLnTx/>
                <a:uFillTx/>
                <a:latin typeface="Aptos Display" pitchFamily="34" charset="0"/>
                <a:ea typeface="Aptos Display" pitchFamily="34" charset="-122"/>
                <a:cs typeface="Aptos Display" pitchFamily="34" charset="-120"/>
              </a:rPr>
              <a:t>Your 30-day COI action plan</a:t>
            </a:r>
            <a:endParaRPr kumimoji="0" lang="en-US" sz="2400" b="0" i="0" u="none" strike="noStrike" kern="1200" cap="none" spc="0" normalizeH="0" baseline="0" noProof="0" dirty="0">
              <a:ln>
                <a:noFill/>
              </a:ln>
              <a:solidFill>
                <a:prstClr val="black"/>
              </a:solidFill>
              <a:effectLst/>
              <a:uLnTx/>
              <a:uFillTx/>
              <a:latin typeface="Aptos"/>
              <a:ea typeface="+mn-ea"/>
              <a:cs typeface="+mn-cs"/>
            </a:endParaRPr>
          </a:p>
        </p:txBody>
      </p:sp>
      <p:sp>
        <p:nvSpPr>
          <p:cNvPr id="3" name="Text 1"/>
          <p:cNvSpPr/>
          <p:nvPr/>
        </p:nvSpPr>
        <p:spPr>
          <a:xfrm>
            <a:off x="521208" y="786384"/>
            <a:ext cx="89611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5B6670"/>
                </a:solidFill>
                <a:effectLst/>
                <a:uLnTx/>
                <a:uFillTx/>
                <a:latin typeface="Aptos"/>
                <a:ea typeface="+mn-ea"/>
                <a:cs typeface="+mn-cs"/>
              </a:rPr>
              <a:t>Leave with a calendar, not a feeling.</a:t>
            </a:r>
            <a:endParaRPr kumimoji="0" lang="en-US" sz="95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Shape 2"/>
          <p:cNvSpPr/>
          <p:nvPr/>
        </p:nvSpPr>
        <p:spPr>
          <a:xfrm>
            <a:off x="10287000" y="228600"/>
            <a:ext cx="1417320" cy="329184"/>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5" name="Text 3"/>
          <p:cNvSpPr/>
          <p:nvPr/>
        </p:nvSpPr>
        <p:spPr>
          <a:xfrm>
            <a:off x="10396728" y="292608"/>
            <a:ext cx="1188720" cy="14630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ptos"/>
                <a:ea typeface="+mn-ea"/>
                <a:cs typeface="+mn-cs"/>
              </a:rPr>
              <a:t>New York Life</a:t>
            </a:r>
            <a:endParaRPr kumimoji="0" lang="en-US" sz="800" b="0" i="0" u="none" strike="noStrike" kern="1200" cap="none" spc="0" normalizeH="0" baseline="0" noProof="0" dirty="0">
              <a:ln>
                <a:noFill/>
              </a:ln>
              <a:solidFill>
                <a:prstClr val="black"/>
              </a:solidFill>
              <a:effectLst/>
              <a:uLnTx/>
              <a:uFillTx/>
              <a:latin typeface="Aptos"/>
              <a:ea typeface="+mn-ea"/>
              <a:cs typeface="+mn-cs"/>
            </a:endParaRPr>
          </a:p>
        </p:txBody>
      </p:sp>
      <p:sp>
        <p:nvSpPr>
          <p:cNvPr id="6" name="Shape 4"/>
          <p:cNvSpPr/>
          <p:nvPr/>
        </p:nvSpPr>
        <p:spPr>
          <a:xfrm>
            <a:off x="59436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7" name="Shape 5"/>
          <p:cNvSpPr/>
          <p:nvPr/>
        </p:nvSpPr>
        <p:spPr>
          <a:xfrm>
            <a:off x="594360" y="1234440"/>
            <a:ext cx="3520440" cy="384048"/>
          </a:xfrm>
          <a:prstGeom prst="rect">
            <a:avLst/>
          </a:prstGeom>
          <a:solidFill>
            <a:srgbClr val="0B5CAB"/>
          </a:solidFill>
          <a:ln w="12700">
            <a:solidFill>
              <a:srgbClr val="0B5CA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8" name="Text 6"/>
          <p:cNvSpPr/>
          <p:nvPr/>
        </p:nvSpPr>
        <p:spPr>
          <a:xfrm>
            <a:off x="73152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Week 1</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9" name="Text 7"/>
          <p:cNvSpPr/>
          <p:nvPr/>
        </p:nvSpPr>
        <p:spPr>
          <a:xfrm>
            <a:off x="75895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List your top 20 clients. Capture the CPA and attorney for each. Where missing, use the Step 1 script at your next client touch.</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0" name="Shape 8"/>
          <p:cNvSpPr/>
          <p:nvPr/>
        </p:nvSpPr>
        <p:spPr>
          <a:xfrm>
            <a:off x="434340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1" name="Shape 9"/>
          <p:cNvSpPr/>
          <p:nvPr/>
        </p:nvSpPr>
        <p:spPr>
          <a:xfrm>
            <a:off x="4343400" y="1234440"/>
            <a:ext cx="3520440" cy="384048"/>
          </a:xfrm>
          <a:prstGeom prst="rect">
            <a:avLst/>
          </a:prstGeom>
          <a:solidFill>
            <a:srgbClr val="1F8A9E"/>
          </a:solidFill>
          <a:ln w="12700">
            <a:solidFill>
              <a:srgbClr val="1F8A9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Text 10"/>
          <p:cNvSpPr/>
          <p:nvPr/>
        </p:nvSpPr>
        <p:spPr>
          <a:xfrm>
            <a:off x="448056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Weeks 2-3</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3" name="Text 11"/>
          <p:cNvSpPr/>
          <p:nvPr/>
        </p:nvSpPr>
        <p:spPr>
          <a:xfrm>
            <a:off x="450799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Make five introduction calls using the shared-client frame. Book at least two coffees for late July. Send one referral or useful introduction out.</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4" name="Shape 12"/>
          <p:cNvSpPr/>
          <p:nvPr/>
        </p:nvSpPr>
        <p:spPr>
          <a:xfrm>
            <a:off x="8092440" y="1234440"/>
            <a:ext cx="3520440" cy="4206240"/>
          </a:xfrm>
          <a:prstGeom prst="roundRect">
            <a:avLst>
              <a:gd name="adj" fmla="val 1818"/>
            </a:avLst>
          </a:prstGeom>
          <a:solidFill>
            <a:srgbClr val="FFFFFF"/>
          </a:solid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5" name="Shape 13"/>
          <p:cNvSpPr/>
          <p:nvPr/>
        </p:nvSpPr>
        <p:spPr>
          <a:xfrm>
            <a:off x="8092440" y="1234440"/>
            <a:ext cx="3520440" cy="384048"/>
          </a:xfrm>
          <a:prstGeom prst="rect">
            <a:avLst/>
          </a:prstGeom>
          <a:solidFill>
            <a:srgbClr val="4F2A73"/>
          </a:solidFill>
          <a:ln w="12700">
            <a:solidFill>
              <a:srgbClr val="4F2A7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6" name="Text 14"/>
          <p:cNvSpPr/>
          <p:nvPr/>
        </p:nvSpPr>
        <p:spPr>
          <a:xfrm>
            <a:off x="8229600" y="1325880"/>
            <a:ext cx="324612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ptos"/>
                <a:ea typeface="+mn-ea"/>
                <a:cs typeface="+mn-cs"/>
              </a:rPr>
              <a:t>Week 4</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
        <p:nvSpPr>
          <p:cNvPr id="17" name="Text 15"/>
          <p:cNvSpPr/>
          <p:nvPr/>
        </p:nvSpPr>
        <p:spPr>
          <a:xfrm>
            <a:off x="8257032" y="1764792"/>
            <a:ext cx="3191256" cy="3547872"/>
          </a:xfrm>
          <a:prstGeom prst="rect">
            <a:avLst/>
          </a:prstGeom>
          <a:noFill/>
          <a:ln/>
        </p:spPr>
        <p:txBody>
          <a:bodyPr wrap="square" lIns="381" tIns="381" rIns="381" bIns="381"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2222"/>
                </a:solidFill>
                <a:effectLst/>
                <a:uLnTx/>
                <a:uFillTx/>
                <a:latin typeface="Aptos"/>
                <a:ea typeface="+mn-ea"/>
                <a:cs typeface="+mn-cs"/>
              </a:rPr>
              <a:t>Hold the meetings. End each with a scheduled next step. Report progress at the Monday standup - we will track COI meetings on the board.</a:t>
            </a:r>
            <a:endParaRPr kumimoji="0" lang="en-US" sz="1250" b="0" i="0" u="none" strike="noStrike" kern="1200" cap="none" spc="0" normalizeH="0" baseline="0" noProof="0" dirty="0">
              <a:ln>
                <a:noFill/>
              </a:ln>
              <a:solidFill>
                <a:prstClr val="black"/>
              </a:solidFill>
              <a:effectLst/>
              <a:uLnTx/>
              <a:uFillTx/>
              <a:latin typeface="Aptos"/>
              <a:ea typeface="+mn-ea"/>
              <a:cs typeface="+mn-cs"/>
            </a:endParaRPr>
          </a:p>
        </p:txBody>
      </p:sp>
      <p:sp>
        <p:nvSpPr>
          <p:cNvPr id="18" name="Text 16"/>
          <p:cNvSpPr/>
          <p:nvPr/>
        </p:nvSpPr>
        <p:spPr>
          <a:xfrm>
            <a:off x="685800" y="5742432"/>
            <a:ext cx="1069848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3A5F"/>
                </a:solidFill>
                <a:effectLst/>
                <a:uLnTx/>
                <a:uFillTx/>
                <a:latin typeface="Aptos"/>
                <a:ea typeface="+mn-ea"/>
                <a:cs typeface="+mn-cs"/>
              </a:rPr>
              <a:t>Coach line: Five COI relationships sending two referrals a year is ten warm prospects who already trust you. Do the math, then do the work.</a:t>
            </a:r>
            <a:endParaRPr kumimoji="0" lang="en-US" sz="1400" b="0" i="0" u="none" strike="noStrike" kern="1200" cap="none" spc="0" normalizeH="0" baseline="0" noProof="0" dirty="0">
              <a:ln>
                <a:noFill/>
              </a:ln>
              <a:solidFill>
                <a:prstClr val="black"/>
              </a:solidFill>
              <a:effectLst/>
              <a:uLnTx/>
              <a:uFillTx/>
              <a:latin typeface="Aptos"/>
              <a:ea typeface="+mn-ea"/>
              <a:cs typeface="+mn-cs"/>
            </a:endParaRPr>
          </a:p>
        </p:txBody>
      </p:sp>
      <p:sp>
        <p:nvSpPr>
          <p:cNvPr id="19" name="Shape 17"/>
          <p:cNvSpPr/>
          <p:nvPr/>
        </p:nvSpPr>
        <p:spPr>
          <a:xfrm>
            <a:off x="502920" y="6446520"/>
            <a:ext cx="11201400" cy="0"/>
          </a:xfrm>
          <a:prstGeom prst="line">
            <a:avLst/>
          </a:prstGeom>
          <a:noFill/>
          <a:ln w="12700">
            <a:solidFill>
              <a:srgbClr val="D9DEE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20" name="Text 18"/>
          <p:cNvSpPr/>
          <p:nvPr/>
        </p:nvSpPr>
        <p:spPr>
          <a:xfrm>
            <a:off x="502920" y="6519672"/>
            <a:ext cx="67665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pitchFamily="34" charset="0"/>
                <a:ea typeface="Aptos" pitchFamily="34" charset="-122"/>
                <a:cs typeface="Aptos" pitchFamily="34" charset="-120"/>
              </a:rPr>
              <a:t>FOR INTERNAL USE ONLY. NOT FOR USE WITH THE GENERAL PUBLIC.</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
        <p:nvSpPr>
          <p:cNvPr id="21" name="Text 19"/>
          <p:cNvSpPr/>
          <p:nvPr/>
        </p:nvSpPr>
        <p:spPr>
          <a:xfrm>
            <a:off x="11292840" y="6519672"/>
            <a:ext cx="36576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5B6670"/>
                </a:solidFill>
                <a:effectLst/>
                <a:uLnTx/>
                <a:uFillTx/>
                <a:latin typeface="Aptos"/>
                <a:ea typeface="+mn-ea"/>
                <a:cs typeface="+mn-cs"/>
              </a:rPr>
              <a:t>12</a:t>
            </a:r>
            <a:endParaRPr kumimoji="0" lang="en-US" sz="750" b="0" i="0" u="none" strike="noStrike" kern="1200" cap="none" spc="0" normalizeH="0" baseline="0" noProof="0" dirty="0">
              <a:ln>
                <a:noFill/>
              </a:ln>
              <a:solidFill>
                <a:prstClr val="black"/>
              </a:solidFill>
              <a:effectLst/>
              <a:uLnTx/>
              <a:uFillTx/>
              <a:latin typeface="Aptos"/>
              <a:ea typeface="+mn-ea"/>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D4757F-A3BB-EAF7-80FD-0DA192D5B250}"/>
              </a:ext>
            </a:extLst>
          </p:cNvPr>
          <p:cNvSpPr>
            <a:spLocks noGrp="1"/>
          </p:cNvSpPr>
          <p:nvPr>
            <p:ph type="sldNum" sz="quarter" idx="4294967295"/>
          </p:nvPr>
        </p:nvSpPr>
        <p:spPr>
          <a:xfrm>
            <a:off x="11579107" y="6232230"/>
            <a:ext cx="430079" cy="365125"/>
          </a:xfrm>
          <a:prstGeom prst="rect">
            <a:avLst/>
          </a:prstGeom>
        </p:spPr>
        <p:txBody>
          <a:bodyPr lIns="91440" tIns="45720" rIns="91440" bIns="45720" anchor="t"/>
          <a:lstStyle/>
          <a:p>
            <a:endParaRPr lang="en-US">
              <a:cs typeface="Arial"/>
            </a:endParaRPr>
          </a:p>
        </p:txBody>
      </p:sp>
    </p:spTree>
    <p:custDataLst>
      <p:tags r:id="rId1"/>
    </p:custDataLst>
    <p:extLst>
      <p:ext uri="{BB962C8B-B14F-4D97-AF65-F5344CB8AC3E}">
        <p14:creationId xmlns:p14="http://schemas.microsoft.com/office/powerpoint/2010/main" val="24984048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NYL LIGHT BACKGROUND 16&quot;9" val="f6b4XTqc"/>
  <p:tag name="ARTICULATE_DESIGN_ID_1_NYL LIGHT BACKGROUND 16-9" val="BFT0Q3hc"/>
  <p:tag name="ARTICULATE_DESIGN_ID_ELEVATE LIGHT BLUE BACKGROUND 16-9" val="56JHHY8a"/>
  <p:tag name="ARTICULATE_PROJECT_OPEN" val="0"/>
  <p:tag name="ARTICULATE_SLIDE_COUNT" val="3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Light Blue">
  <a:themeElements>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fontScheme name="Custom 1">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anchor="ctr">
        <a:spAutoFit/>
      </a:bodyPr>
      <a:lstStyle>
        <a:defPPr algn="l">
          <a:defRPr sz="2000" dirty="0">
            <a:latin typeface="+mn-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Light Blue">
  <a:themeElements>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fontScheme name="Georgia">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Light Blue">
  <a:themeElements>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fontScheme name="Custom 1">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anchor="ctr">
        <a:spAutoFit/>
      </a:bodyPr>
      <a:lstStyle>
        <a:defPPr algn="l">
          <a:defRPr sz="2000" dirty="0">
            <a:latin typeface="+mn-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647f6b69-869e-4c41-9d5e-fe8f13ced780">
      <UserInfo>
        <DisplayName>Ferguson, Michael S. (Mike)</DisplayName>
        <AccountId>25</AccountId>
        <AccountType/>
      </UserInfo>
      <UserInfo>
        <DisplayName>Cirrincione, Deborah (Debbie)</DisplayName>
        <AccountId>147</AccountId>
        <AccountType/>
      </UserInfo>
      <UserInfo>
        <DisplayName>Gulisano, James F. (Jamie)</DisplayName>
        <AccountId>28</AccountId>
        <AccountType/>
      </UserInfo>
      <UserInfo>
        <DisplayName>Mariutto, Jennifer M.</DisplayName>
        <AccountId>16</AccountId>
        <AccountType/>
      </UserInfo>
    </SharedWithUsers>
    <lcf76f155ced4ddcb4097134ff3c332f xmlns="abd4c5a8-5e9b-4ebb-86d5-bd1c985aa943">
      <Terms xmlns="http://schemas.microsoft.com/office/infopath/2007/PartnerControls"/>
    </lcf76f155ced4ddcb4097134ff3c332f>
    <TaxCatchAll xmlns="647f6b69-869e-4c41-9d5e-fe8f13ced78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0FF98AD7B18894893F9BA7B26E8F221" ma:contentTypeVersion="16" ma:contentTypeDescription="Create a new document." ma:contentTypeScope="" ma:versionID="5630d7bc11b528ee56e498a81dee2f34">
  <xsd:schema xmlns:xsd="http://www.w3.org/2001/XMLSchema" xmlns:xs="http://www.w3.org/2001/XMLSchema" xmlns:p="http://schemas.microsoft.com/office/2006/metadata/properties" xmlns:ns2="abd4c5a8-5e9b-4ebb-86d5-bd1c985aa943" xmlns:ns3="647f6b69-869e-4c41-9d5e-fe8f13ced780" targetNamespace="http://schemas.microsoft.com/office/2006/metadata/properties" ma:root="true" ma:fieldsID="f33788119400f79395c509cf4b427a15" ns2:_="" ns3:_="">
    <xsd:import namespace="abd4c5a8-5e9b-4ebb-86d5-bd1c985aa943"/>
    <xsd:import namespace="647f6b69-869e-4c41-9d5e-fe8f13ced78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d4c5a8-5e9b-4ebb-86d5-bd1c985aa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2829bdbf-11ca-4188-ad5e-419b837c316a"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47f6b69-869e-4c41-9d5e-fe8f13ced78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ca427226-213a-430f-b387-c3c8fb506ff3}" ma:internalName="TaxCatchAll" ma:showField="CatchAllData" ma:web="647f6b69-869e-4c41-9d5e-fe8f13ced78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C258A8F-586B-499B-90F0-AA26C728EB82}">
  <ds:schemaRefs>
    <ds:schemaRef ds:uri="http://schemas.microsoft.com/office/2006/metadata/properties"/>
    <ds:schemaRef ds:uri="http://schemas.microsoft.com/office/2006/documentManagement/types"/>
    <ds:schemaRef ds:uri="http://purl.org/dc/terms/"/>
    <ds:schemaRef ds:uri="http://purl.org/dc/dcmitype/"/>
    <ds:schemaRef ds:uri="http://www.w3.org/XML/1998/namespace"/>
    <ds:schemaRef ds:uri="http://purl.org/dc/elements/1.1/"/>
    <ds:schemaRef ds:uri="647f6b69-869e-4c41-9d5e-fe8f13ced780"/>
    <ds:schemaRef ds:uri="http://schemas.microsoft.com/office/infopath/2007/PartnerControls"/>
    <ds:schemaRef ds:uri="http://schemas.openxmlformats.org/package/2006/metadata/core-properties"/>
    <ds:schemaRef ds:uri="abd4c5a8-5e9b-4ebb-86d5-bd1c985aa943"/>
  </ds:schemaRefs>
</ds:datastoreItem>
</file>

<file path=customXml/itemProps2.xml><?xml version="1.0" encoding="utf-8"?>
<ds:datastoreItem xmlns:ds="http://schemas.openxmlformats.org/officeDocument/2006/customXml" ds:itemID="{EF327CDC-FC1B-45F8-B39E-D812521109CB}">
  <ds:schemaRefs>
    <ds:schemaRef ds:uri="http://schemas.microsoft.com/sharepoint/v3/contenttype/forms"/>
  </ds:schemaRefs>
</ds:datastoreItem>
</file>

<file path=customXml/itemProps3.xml><?xml version="1.0" encoding="utf-8"?>
<ds:datastoreItem xmlns:ds="http://schemas.openxmlformats.org/officeDocument/2006/customXml" ds:itemID="{05059A10-470E-4EB6-85FC-05DF2D468150}">
  <ds:schemaRefs>
    <ds:schemaRef ds:uri="647f6b69-869e-4c41-9d5e-fe8f13ced780"/>
    <ds:schemaRef ds:uri="abd4c5a8-5e9b-4ebb-86d5-bd1c985aa94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179</TotalTime>
  <Words>2977</Words>
  <Application>Microsoft Office PowerPoint</Application>
  <PresentationFormat>Widescreen</PresentationFormat>
  <Paragraphs>319</Paragraphs>
  <Slides>15</Slides>
  <Notes>14</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15</vt:i4>
      </vt:variant>
    </vt:vector>
  </HeadingPairs>
  <TitlesOfParts>
    <vt:vector size="29" baseType="lpstr">
      <vt:lpstr>Alda Pro</vt:lpstr>
      <vt:lpstr>Aptos</vt:lpstr>
      <vt:lpstr>Arial</vt:lpstr>
      <vt:lpstr>Arial Narrow</vt:lpstr>
      <vt:lpstr>Calibri</vt:lpstr>
      <vt:lpstr>Effra</vt:lpstr>
      <vt:lpstr>Effra Medium</vt:lpstr>
      <vt:lpstr>Effra Pro</vt:lpstr>
      <vt:lpstr>Georgia</vt:lpstr>
      <vt:lpstr>System Font Regular</vt:lpstr>
      <vt:lpstr>Wingdings</vt:lpstr>
      <vt:lpstr>1_Light Blue</vt:lpstr>
      <vt:lpstr>Light Blue</vt:lpstr>
      <vt:lpstr>2_Light Blue</vt:lpstr>
      <vt:lpstr>PowerPoint Presentation</vt:lpstr>
      <vt:lpstr>New Org:  What’s important week of  July 6</vt:lpstr>
      <vt:lpstr>Start 3Q with timely reasons to connect</vt:lpstr>
      <vt:lpstr>PowerPoint Presentation</vt:lpstr>
      <vt:lpstr>Executive Council Rocky Mountain Crocs™ Giveaway Experience</vt:lpstr>
      <vt:lpstr>President's Council Beachfront Boutique Experience</vt:lpstr>
      <vt:lpstr>Awards Your Way</vt:lpstr>
      <vt:lpstr>EWL Momentum Maker continues through July 31</vt:lpstr>
      <vt:lpstr>3Q 2026 Registered Rep MasterClass </vt:lpstr>
      <vt:lpstr>3Q Life Fundamentals Series</vt:lpstr>
      <vt:lpstr>Target Markets Upcoming Webinars</vt:lpstr>
      <vt:lpstr>NYLIFE Securities Essentials Webinar</vt:lpstr>
      <vt:lpstr>Join us July 8 for the new agent educational call</vt:lpstr>
      <vt:lpstr>Golden Futures Awards Program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Mariutto, Jennifer M.</dc:creator>
  <cp:lastModifiedBy>Bueti, Grazia (Grace)</cp:lastModifiedBy>
  <cp:revision>17</cp:revision>
  <cp:lastPrinted>2026-05-27T22:34:09Z</cp:lastPrinted>
  <dcterms:created xsi:type="dcterms:W3CDTF">2022-07-12T13:52:57Z</dcterms:created>
  <dcterms:modified xsi:type="dcterms:W3CDTF">2026-07-01T19:31:07Z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0x01010080FF98AD7B18894893F9BA7B26E8F221</vt:lpwstr>
  </property>
  <property fmtid="{D5CDD505-2E9C-101B-9397-08002B2CF9AE}" pid="3" name="MediaServiceImageTags">
    <vt:lpwstr/>
  </property>
  <property fmtid="{D5CDD505-2E9C-101B-9397-08002B2CF9AE}" pid="4" name="ArticulateGUID">
    <vt:lpwstr>93C0923A-4E14-470D-A1D5-300874841ADD</vt:lpwstr>
  </property>
  <property fmtid="{D5CDD505-2E9C-101B-9397-08002B2CF9AE}" pid="5" name="ArticulatePath">
    <vt:lpwstr>https://newyorklife-my.sharepoint.com/personal/ssubramani07_newyorklife_com/Documents/Desktop/Agency Comms/New Org Slides/New Org and manager slide deck/NewOrgSlides_for_Management_Update</vt:lpwstr>
  </property>
  <property fmtid="{D5CDD505-2E9C-101B-9397-08002B2CF9AE}" pid="6" name="MSIP_Label_8f0b5d98-aa4b-42ad-b5be-1e75bbcbb7d7_ActionId">
    <vt:lpwstr>4c43cdb1-80ab-4e5b-baad-d5201017abba</vt:lpwstr>
  </property>
  <property fmtid="{D5CDD505-2E9C-101B-9397-08002B2CF9AE}" pid="7" name="MSIP_Label_8f0b5d98-aa4b-42ad-b5be-1e75bbcbb7d7_SiteId">
    <vt:lpwstr>a651e8f0-93d2-41c2-88b6-e8c5a1ad2375</vt:lpwstr>
  </property>
  <property fmtid="{D5CDD505-2E9C-101B-9397-08002B2CF9AE}" pid="8" name="MSIP_Label_8f0b5d98-aa4b-42ad-b5be-1e75bbcbb7d7_Method">
    <vt:lpwstr>Standard</vt:lpwstr>
  </property>
  <property fmtid="{D5CDD505-2E9C-101B-9397-08002B2CF9AE}" pid="9" name="MSIP_Label_8f0b5d98-aa4b-42ad-b5be-1e75bbcbb7d7_Name">
    <vt:lpwstr>Internal-pilot</vt:lpwstr>
  </property>
  <property fmtid="{D5CDD505-2E9C-101B-9397-08002B2CF9AE}" pid="10" name="MSIP_Label_8f0b5d98-aa4b-42ad-b5be-1e75bbcbb7d7_ContentBits">
    <vt:lpwstr>0</vt:lpwstr>
  </property>
  <property fmtid="{D5CDD505-2E9C-101B-9397-08002B2CF9AE}" pid="11" name="MSIP_Label_8f0b5d98-aa4b-42ad-b5be-1e75bbcbb7d7_Enabled">
    <vt:lpwstr>true</vt:lpwstr>
  </property>
  <property fmtid="{D5CDD505-2E9C-101B-9397-08002B2CF9AE}" pid="12" name="MSIP_Label_8f0b5d98-aa4b-42ad-b5be-1e75bbcbb7d7_Tag">
    <vt:lpwstr>10, 3, 0, 2</vt:lpwstr>
  </property>
  <property fmtid="{D5CDD505-2E9C-101B-9397-08002B2CF9AE}" pid="13" name="MSIP_Label_8f0b5d98-aa4b-42ad-b5be-1e75bbcbb7d7_SetDate">
    <vt:lpwstr>2025-07-31T18:26:42Z</vt:lpwstr>
  </property>
</Properties>
</file>