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slideLayouts/slideLayout7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3.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2.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3.xml" ContentType="application/vnd.openxmlformats-officedocument.drawingml.chart+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856" r:id="rId4"/>
    <p:sldMasterId id="2147486181" r:id="rId5"/>
    <p:sldMasterId id="2147486191" r:id="rId6"/>
    <p:sldMasterId id="2147486223" r:id="rId7"/>
    <p:sldMasterId id="2147486233" r:id="rId8"/>
  </p:sldMasterIdLst>
  <p:notesMasterIdLst>
    <p:notesMasterId r:id="rId62"/>
  </p:notesMasterIdLst>
  <p:handoutMasterIdLst>
    <p:handoutMasterId r:id="rId63"/>
  </p:handoutMasterIdLst>
  <p:sldIdLst>
    <p:sldId id="388" r:id="rId9"/>
    <p:sldId id="2147483645" r:id="rId10"/>
    <p:sldId id="2147483646" r:id="rId11"/>
    <p:sldId id="2147483647" r:id="rId12"/>
    <p:sldId id="256" r:id="rId13"/>
    <p:sldId id="257" r:id="rId14"/>
    <p:sldId id="258" r:id="rId15"/>
    <p:sldId id="259" r:id="rId16"/>
    <p:sldId id="260" r:id="rId17"/>
    <p:sldId id="261" r:id="rId18"/>
    <p:sldId id="276" r:id="rId19"/>
    <p:sldId id="400" r:id="rId20"/>
    <p:sldId id="423" r:id="rId21"/>
    <p:sldId id="441" r:id="rId22"/>
    <p:sldId id="2147483643" r:id="rId23"/>
    <p:sldId id="440" r:id="rId24"/>
    <p:sldId id="425" r:id="rId25"/>
    <p:sldId id="422" r:id="rId26"/>
    <p:sldId id="2147475696" r:id="rId27"/>
    <p:sldId id="442" r:id="rId28"/>
    <p:sldId id="320" r:id="rId29"/>
    <p:sldId id="2147483644" r:id="rId30"/>
    <p:sldId id="262" r:id="rId31"/>
    <p:sldId id="263" r:id="rId32"/>
    <p:sldId id="264" r:id="rId33"/>
    <p:sldId id="265" r:id="rId34"/>
    <p:sldId id="266" r:id="rId35"/>
    <p:sldId id="267" r:id="rId36"/>
    <p:sldId id="268" r:id="rId37"/>
    <p:sldId id="269" r:id="rId38"/>
    <p:sldId id="270" r:id="rId39"/>
    <p:sldId id="271" r:id="rId40"/>
    <p:sldId id="272" r:id="rId41"/>
    <p:sldId id="284" r:id="rId42"/>
    <p:sldId id="285" r:id="rId43"/>
    <p:sldId id="286" r:id="rId44"/>
    <p:sldId id="287" r:id="rId45"/>
    <p:sldId id="273" r:id="rId46"/>
    <p:sldId id="274" r:id="rId47"/>
    <p:sldId id="275" r:id="rId48"/>
    <p:sldId id="277" r:id="rId49"/>
    <p:sldId id="278" r:id="rId50"/>
    <p:sldId id="279" r:id="rId51"/>
    <p:sldId id="280" r:id="rId52"/>
    <p:sldId id="281" r:id="rId53"/>
    <p:sldId id="282" r:id="rId54"/>
    <p:sldId id="283" r:id="rId55"/>
    <p:sldId id="288" r:id="rId56"/>
    <p:sldId id="289" r:id="rId57"/>
    <p:sldId id="290" r:id="rId58"/>
    <p:sldId id="291" r:id="rId59"/>
    <p:sldId id="292" r:id="rId60"/>
    <p:sldId id="319" r:id="rId61"/>
  </p:sldIdLst>
  <p:sldSz cx="12192000" cy="6858000"/>
  <p:notesSz cx="7102475" cy="9388475"/>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5B82AEEB-27C9-4347-8BF2-F4521B8C3795}">
          <p14:sldIdLst>
            <p14:sldId id="388"/>
            <p14:sldId id="2147483645"/>
            <p14:sldId id="2147483646"/>
            <p14:sldId id="2147483647"/>
            <p14:sldId id="256"/>
            <p14:sldId id="257"/>
            <p14:sldId id="258"/>
            <p14:sldId id="259"/>
            <p14:sldId id="260"/>
            <p14:sldId id="261"/>
          </p14:sldIdLst>
        </p14:section>
        <p14:section name="Content" id="{7F40F47A-1A74-41D4-A581-0833D369880F}">
          <p14:sldIdLst>
            <p14:sldId id="276"/>
            <p14:sldId id="400"/>
            <p14:sldId id="423"/>
            <p14:sldId id="441"/>
            <p14:sldId id="2147483643"/>
            <p14:sldId id="440"/>
            <p14:sldId id="425"/>
            <p14:sldId id="422"/>
            <p14:sldId id="2147475696"/>
            <p14:sldId id="442"/>
            <p14:sldId id="320"/>
            <p14:sldId id="2147483644"/>
            <p14:sldId id="262"/>
            <p14:sldId id="263"/>
            <p14:sldId id="264"/>
            <p14:sldId id="265"/>
            <p14:sldId id="266"/>
            <p14:sldId id="267"/>
            <p14:sldId id="268"/>
            <p14:sldId id="269"/>
            <p14:sldId id="270"/>
            <p14:sldId id="271"/>
            <p14:sldId id="272"/>
            <p14:sldId id="284"/>
            <p14:sldId id="285"/>
            <p14:sldId id="286"/>
            <p14:sldId id="287"/>
            <p14:sldId id="273"/>
            <p14:sldId id="274"/>
            <p14:sldId id="275"/>
            <p14:sldId id="277"/>
            <p14:sldId id="278"/>
            <p14:sldId id="279"/>
            <p14:sldId id="280"/>
            <p14:sldId id="281"/>
            <p14:sldId id="282"/>
            <p14:sldId id="283"/>
            <p14:sldId id="288"/>
            <p14:sldId id="289"/>
            <p14:sldId id="290"/>
            <p14:sldId id="291"/>
            <p14:sldId id="292"/>
            <p14:sldId id="319"/>
          </p14:sldIdLst>
        </p14:section>
      </p14:sectionLst>
    </p:ext>
    <p:ext uri="{EFAFB233-063F-42B5-8137-9DF3F51BA10A}">
      <p15:sldGuideLst xmlns:p15="http://schemas.microsoft.com/office/powerpoint/2012/main">
        <p15:guide id="1" pos="1248" userDrawn="1">
          <p15:clr>
            <a:srgbClr val="A4A3A4"/>
          </p15:clr>
        </p15:guide>
        <p15:guide id="2" orient="horz" pos="23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C88B104-0603-DB14-FB19-8B061BAFB446}" name="Cirrincione, Deborah (Debbie)" initials="DC" userId="S::DCIRRINCI@newyorklife.com::208aada5-06cf-41ed-b292-2a173ac4d61d" providerId="AD"/>
  <p188:author id="{56DAEC0E-8B9A-EFBA-CEC8-9C86098D70B1}" name="Jean, Natasha" initials="JN" userId="S::njean@newyorklife.com::c457da75-332c-4d7b-9013-a1cb9b90886b" providerId="AD"/>
  <p188:author id="{E6325B11-2B13-A17C-AE9E-D23D2ADBA2C1}" name="Scanlan, Dawn M." initials="SD" userId="S::dhamon@newyorklife.com::12c7cd20-34bf-4117-b7b9-e4f7d0c77492" providerId="AD"/>
  <p188:author id="{03F8FB18-B39D-0050-A8EB-A1A2407ED5D9}" name="Oliveira, Maile M." initials="OM" userId="S::mmbrown@newyorklife.com::64802ba7-84bf-436a-b409-1db34b4cff98" providerId="AD"/>
  <p188:author id="{AB61541C-3827-2330-99F1-4B1E43CD5285}" name="Matzko, Donna J." initials="" userId="S::DMATZKO@newyorklife.com::a0ae713f-cc26-46c7-b8b9-c2ba1a6c18be" providerId="AD"/>
  <p188:author id="{A2B39C1C-877D-7914-D47E-BFD3482E12A9}" name="Murphy, Karen A." initials="KM" userId="S::kamurphy@newyorklife.com::e908a998-6e67-445b-bceb-e3f9243fa633" providerId="AD"/>
  <p188:author id="{27656B1E-4F6E-DB6E-9EE4-2BF187666295}" name="Chambers, Maryann" initials="CM" userId="S::mchambers02@newyorklife.com::859f9a9e-0f02-4620-8509-0bbdd26e0cb9" providerId="AD"/>
  <p188:author id="{0512EF21-C40B-D3CF-1B69-C0088690A08D}" name="Roughan, Sarah" initials="SR" userId="S::SROUGHAN@newyorklife.com::8091c5e4-3c9e-4ce8-a969-a2efd2174472" providerId="AD"/>
  <p188:author id="{61F13D22-0E0E-EE5D-D595-8ADB3788527F}" name="Cattan, Lauren E." initials="" userId="S::lecattan@newyorklife.com::ddd6e1fa-c82a-41c8-9d29-262da4981243" providerId="AD"/>
  <p188:author id="{D388B223-0728-409D-78CA-D25481D8D6FC}" name="Getaz, Marjorie V." initials="GV" userId="S::mgetaz@newyorklife.com::ea5e04bc-0316-4f07-ac82-b5c547970c0d" providerId="AD"/>
  <p188:author id="{6DDBDE29-0235-14EA-0B7D-479B808A7EF1}" name="Schwartz, Grace" initials="" userId="S::gschwartz02@newyorklife.com::482043fe-9bcb-4f4e-8db6-5fe4cb5439ed" providerId="AD"/>
  <p188:author id="{D8734834-E2EB-99E0-93D8-641F24B0AD46}" name="Falvo, Christopher (Chris)" initials="FC" userId="S::cfalvo@newyorklife.com::ad72e406-7e4b-4df6-bc2b-fdbd41892401" providerId="AD"/>
  <p188:author id="{1D1EE235-820B-D8C7-6AA2-316059E7D001}" name="Rose-Curley, Kelly R." initials="RCKR" userId="S::krosecurley@newyorklife.com::35c7f804-a584-4833-8966-5d1db731baab" providerId="AD"/>
  <p188:author id="{50BFF837-3C3A-0E2C-0ED1-FB27565BFCDC}" name="Mariutto, Jennifer M." initials="MM" userId="S::jiannibel@newyorklife.com::c1f1ff73-0556-4c3e-b648-cf17dbe126d2" providerId="AD"/>
  <p188:author id="{EEDAC642-367D-31E6-1752-92D684194A65}" name="Hourihan, Karla M." initials="KH" userId="S::KSUNDSTRO@newyorklife.com::595e3252-aeba-4609-af9d-4f36f617beb2" providerId="AD"/>
  <p188:author id="{F55A2946-8F83-058E-720D-40DF22326A19}" name="Bueti, Grazia (Grace)" initials="B(" userId="S::gbueti@newyorklife.com::c20da38d-4933-4cf1-8bc7-708859dc483f" providerId="AD"/>
  <p188:author id="{5DDDD84C-5F01-C273-2A72-188E082B6E60}" name="Schwartz, Deborah A." initials="DS" userId="S::daschwartz@newyorklife.com::f76e2373-eaaf-4e13-b974-65290e356216" providerId="AD"/>
  <p188:author id="{0E703F4D-9169-B7B3-CD1E-EB37DC168934}" name="Ura, Edit" initials="UE" userId="S::eura@newyorklife.com::a6f2eeb4-940e-4b7f-893a-1553909b3f48" providerId="AD"/>
  <p188:author id="{BA2DDC52-7CE2-0A0C-F0C4-5916F422448A}" name="Bulk, Andrew H. (Hunter)" initials="AB" userId="S::abulk@newyorklife.com::9ca1aaf4-2bdd-45d0-8ed4-7c68d5a17e49" providerId="AD"/>
  <p188:author id="{9C713C55-CBBA-9A64-B8F3-87D958DADF30}" name="Crimmins, Sheila A." initials="CS" userId="S::scrimmins@newyorklife.com::bf709f57-f968-48e4-ba64-4008d5d65a86" providerId="AD"/>
  <p188:author id="{2F65DD55-5C00-7671-AA59-1964AADD4DB0}" name="Bean, Darla L." initials="" userId="S::DBEAN@newyorklife.com::1cdda7fb-ded0-4ae6-9a0b-8ecf3341de13" providerId="AD"/>
  <p188:author id="{0A64D957-4C8C-1539-6B98-92C68A0D1D4A}" name="Kuzma, Matthew P." initials="" userId="S::mkuzma@newyorklife.com::e3edd6ba-4461-45fe-afc9-84ff9b2b1683" providerId="AD"/>
  <p188:author id="{98F39958-7A0C-819B-092A-654262FBFA68}" name="Nabors, Lisa (Lisa Renee)" initials="" userId="S::lnabors@newyorklife.com::2428def2-c02b-428d-91d0-cc587022f317" providerId="AD"/>
  <p188:author id="{047C695E-CC98-0A8A-B34A-0ECA6D510BB4}" name="Brown, Traci" initials="BT" userId="S::tbrown02@newyorklife.com::dbff7f98-554c-4297-ba8f-c5886a4da67b" providerId="AD"/>
  <p188:author id="{B6F96364-211C-8C43-AE38-CDEBEB04EC9F}" name="Mitra, Debapriya" initials="DM" userId="S::dmitra@newyorklife.com::21b21f98-a826-4455-9c9d-cb7d150c14fb" providerId="AD"/>
  <p188:author id="{C1456E67-7030-936D-33B0-32CE3A81C3D8}" name="Macchia, John" initials="" userId="S::jmacchia01@newyorklife.com::1f860ba1-b7e6-45b3-ba8f-232cf36abb01" providerId="AD"/>
  <p188:author id="{C8928A67-B20B-D87E-5540-087A347196AA}" name="Gilrein, Sean" initials="SG" userId="S::SGILREIN@newyorklife.com::8345e0ee-d86a-4f4d-938c-9dbb6e7c199d" providerId="AD"/>
  <p188:author id="{60874968-7C58-CE39-5BBD-0D797E532F25}" name="Cirrincione, Deborah (Debbie)" initials="dc" userId="Cirrincione, Deborah (Debbie)" providerId="None"/>
  <p188:author id="{7A0C5C6A-4A62-41D9-4F3E-3F1EBCA67392}" name="Klink, Edward E." initials="" userId="S::eeklink@newyorklife.com::d55b7f20-6b1a-488e-bc4e-45dcf68636ce" providerId="AD"/>
  <p188:author id="{9929BA6B-C613-F00B-8D48-206035D02269}" name="Gomes, Ligiane M. (Ligi)" initials="" userId="S::lgomes@newyorklife.com::2f659f96-c90e-4564-93aa-b062b87100ea" providerId="AD"/>
  <p188:author id="{83CD0270-DF0C-A16E-33B4-C536F7B4706C}" name="Essig, Daniel (Danny)" initials="DE" userId="S::DESSIG@newyorklife.com::f32510c9-2efe-4bb9-aa71-daecbbe6a660" providerId="AD"/>
  <p188:author id="{3A22EB70-5E1C-70AC-9010-295C37A89265}" name="Fidz, Anna M." initials="" userId="S::afidz@newyorklife.com::403b62f2-a980-47af-8223-793a05db5331" providerId="AD"/>
  <p188:author id="{4F22687A-C5BE-8C0B-B553-3927C7BEA320}" name="Cook, Erin E." initials="EC" userId="S::eedowney@newyorklife.com::4ccbf6e1-c364-4b3c-a7a8-4026f8918c02" providerId="AD"/>
  <p188:author id="{49D67B7C-B5F7-6980-A774-191BA199960A}" name="Armstrong-Walker, Diana L." initials="DA" userId="S::dlarmstrongw@newyorklife.com::d378a642-fb86-4375-bb7b-45919c3cc48f" providerId="AD"/>
  <p188:author id="{C91B6384-E527-0C03-4389-92D94BB2B7CF}" name="McGuirk, Sheehan M." initials="MS" userId="S::smmcguirk@newyorklife.com::79890cd6-8da1-4f61-9db7-93e67eab352f" providerId="AD"/>
  <p188:author id="{DC977B89-0EAF-5F3D-1266-F0CEED641F58}" name="Gassaway, Debra (Debbie)" initials="" userId="S::dgassaway@newyorklife.com::811452f0-8070-42fd-a663-809a5b3624d3" providerId="AD"/>
  <p188:author id="{5E10B28E-48F4-BFAA-3974-64ECAB236F61}" name="Crimmins, Sheila A." initials="" userId="S::SCRIMMINS@newyorklife.com::bf709f57-f968-48e4-ba64-4008d5d65a86" providerId="AD"/>
  <p188:author id="{BE250D9C-0FC2-4FB7-F358-F4665534E3A1}" name="Shortall, Matthew" initials="SM" userId="S::mshortall@newyorklife.com::d61067b8-2dcf-49a2-837a-c6ef30972e27" providerId="AD"/>
  <p188:author id="{4FE8B29C-AF9E-63CB-0734-2F82018A51EB}" name="Liftman, Stephanie M." initials="" userId="S::smschneider@newyorklife.com::efc14625-f729-4af2-9e74-6b90b22b429d" providerId="AD"/>
  <p188:author id="{0C2A559E-9C6C-0970-3F23-A3AA10F90442}" name="Amendola, Anthony J." initials="AA" userId="S::aamendola@newyorklife.com::8d9d6dd4-fd66-429c-9e35-a7518ede12fb" providerId="AD"/>
  <p188:author id="{670EE99F-FA4B-F0B4-EAEC-1FF4C6FC0808}" name="Niehoff, Elizabeth H. (Liz)" initials="" userId="S::ehniehoff@newyorklife.com::2ad97e79-e416-461d-82b2-97d0b67ac1b1" providerId="AD"/>
  <p188:author id="{8A7325A0-1279-11C4-F94B-A403B22E1209}" name="Belo, Rose Marie" initials="" userId="S::rbelo@newyorklife.com::5312c633-4b08-4e98-985d-c547bb9a124f" providerId="AD"/>
  <p188:author id="{D8E169A0-C7FF-473C-B3AD-1168C85C0385}" name="Laramee, Elaine R." initials="" userId="S::ELARAMEE@newyorklife.com::ed7f34df-5a18-4770-8d58-27343b68b770" providerId="AD"/>
  <p188:author id="{8AA8C5A0-FBF5-2187-E641-BE707A338C8E}" name="Gilrein, Sean" initials="GS" userId="S::sgilrein@newyorklife.com::8345e0ee-d86a-4f4d-938c-9dbb6e7c199d" providerId="AD"/>
  <p188:author id="{E03D09A5-F491-365F-185C-D85A4EE8EFAA}" name="Ruggeri, Renee M." initials="RR" userId="S::rmruggeri@newyorklife.com::8c8a01f5-9c3d-41b4-80e7-fc45fe604ed3" providerId="AD"/>
  <p188:author id="{3DF8EDA6-F86C-B98A-543E-360DCC21BB87}" name="Bean, Darla L." initials="BD" userId="S::dbean@newyorklife.com::1cdda7fb-ded0-4ae6-9a0b-8ecf3341de13" providerId="AD"/>
  <p188:author id="{C9110DAB-FD2B-50BE-50C7-7AD79071ACD7}" name="Petruccelli, Michael R. (Mike)" initials="" userId="S::mpetruccelli@newyorklife.com::6782a3d9-3f74-4bdf-838d-3b731992a725" providerId="AD"/>
  <p188:author id="{44669BAB-D232-6235-700B-B5070BD4784F}" name="Aligaen, Rina M." initials="" userId="S::rmaligaen@newyorklife.com::4d14e425-8ff4-45db-ab59-805e6bbc9a26" providerId="AD"/>
  <p188:author id="{E6EB99AD-729A-A869-0A78-480BA10A9DDD}" name="Weiser, Donna" initials="" userId="S::dweiser@newyorklife.com::8c69d483-485e-4e52-bf1a-586a7cc2347f" providerId="AD"/>
  <p188:author id="{BDA5E4AD-99DB-EE25-F4CE-ADFC14485082}" name="Antoniello, Christopher (Chris)" initials="" userId="S::cantoniello@newyorklife.com::712220fb-5d91-4258-9539-9653d43a755a" providerId="AD"/>
  <p188:author id="{C1B340AF-8CAB-C24A-19FE-71E0B22B6927}" name="Hill-Ries, Lisa N." initials="HL" userId="S::lnhillries@newyorklife.com::ab99e0e4-2b3a-4625-b0e9-1b0cffed9825" providerId="AD"/>
  <p188:author id="{AA45C8AF-5EAE-ED19-6D1B-21528F2279DA}" name="Rubin, Kathleen M. (Kathy)" initials="" userId="S::KRUBIN@newyorklife.com::12ebbc21-f07a-48bc-a611-e3954683d7c0" providerId="AD"/>
  <p188:author id="{80A621B0-98DD-DB02-6DA8-A0C392D002CD}" name="Rubin, Kathleen M. (Kathy)" initials="R(" userId="S::krubin@newyorklife.com::12ebbc21-f07a-48bc-a611-e3954683d7c0" providerId="AD"/>
  <p188:author id="{1D5EECB4-62E1-82F7-98F7-2ABE559C17BD}" name="Hase, Melanie L. (Melli)" initials="MH" userId="S::mlhase@newyorklife.com::97460e0e-4c90-446b-b934-aa22cb2ed870" providerId="AD"/>
  <p188:author id="{252F77B8-3706-DFAE-3C76-A25A02541A7F}" name="Laramee, Elaine R." initials="LE" userId="S::elaramee@newyorklife.com::ed7f34df-5a18-4770-8d58-27343b68b770" providerId="AD"/>
  <p188:author id="{899231BF-295E-7C78-33C6-B9E4F60BE1EF}" name="Parker-Magyar, Alexander V." initials="" userId="S::avparkermagy@newyorklife.com::b2a07cd5-f592-4539-94aa-2a41e6a238e9" providerId="AD"/>
  <p188:author id="{EEF746C8-7549-9BD7-F3D3-EFB000BA5F6C}" name="Holbert, Michelle E. (Shelley)" initials="MH" userId="S::mholbert@newyorklife.com::23f080fe-79e7-4e1e-86a3-fde953166fbf" providerId="AD"/>
  <p188:author id="{24BA49C8-92E0-50E2-A4FA-9651F8610C6E}" name="Roughan, Sarah" initials="RS" userId="S::sroughan@newyorklife.com::8091c5e4-3c9e-4ce8-a969-a2efd2174472" providerId="AD"/>
  <p188:author id="{05C777CA-1AA9-7018-66C4-30CABF602BD9}" name="Brown, Peggy W." initials="BP" userId="S::pwbrown@newyorklife.com::1aecf54a-6bf6-4592-8b93-f373f4acaca2" providerId="AD"/>
  <p188:author id="{23AF9CCA-78FA-50A7-D504-0D454CD01A46}" name="Curtin, Lauren A." initials="" userId="S::lgilmore@newyorklife.com::6f6c4c81-7c45-40a8-b3f5-7e6ddd073395" providerId="AD"/>
  <p188:author id="{4820F8CA-0D7D-75D3-F9C2-5A9B9094B06F}" name="Lombardi, Ronald" initials="" userId="S::rlombardi@newyorklife.com::90020542-9349-4a1c-98f6-ac728adb002c" providerId="AD"/>
  <p188:author id="{EB8FBDCB-B405-9C57-DD28-EC16DFE1FEA5}" name="Falvo, Christopher (Chris)" initials="CF" userId="S::CFALVO@newyorklife.com::ad72e406-7e4b-4df6-bc2b-fdbd41892401" providerId="AD"/>
  <p188:author id="{F01B96D6-87F5-F019-5EB5-4F939888460F}" name="Mariutto, Jennifer M." initials="JM" userId="S::JIANNIBEL@newyorklife.com::c1f1ff73-0556-4c3e-b648-cf17dbe126d2" providerId="AD"/>
  <p188:author id="{68B046DB-94B6-1D44-553A-1D134A7BA8DC}" name="Essig, Daniel (Danny)" initials="ED" userId="S::dessig@newyorklife.com::f32510c9-2efe-4bb9-aa71-daecbbe6a660" providerId="AD"/>
  <p188:author id="{0C2CE8DF-280C-8473-CC3F-0CAA48B56FE8}" name="Gulisano, James F. (Jamie)" initials="" userId="S::JGULISANO@newyorklife.com::9c98f369-4b8b-4fec-acab-a272b9024458" providerId="AD"/>
  <p188:author id="{181863E0-D98D-3C17-17AD-016BAEF37155}" name="Ferguson, Michael S. (Mike)" initials="F(" userId="S::mferguson01@newyorklife.com::3572e4fa-3fa2-48c8-b0ce-39fda1969879" providerId="AD"/>
  <p188:author id="{C0B5DBE0-FF85-AE3E-4531-56962B7CF052}" name="Mcdermott, Patrick B." initials="" userId="S::PMCDERMOT@newyorklife.com::abc56b72-56a0-49c6-bee4-46c6d1d4f69d" providerId="AD"/>
  <p188:author id="{DA07D0E3-359E-887B-A92C-C1E38B730533}" name="Cirrincione, Deborah (Debbie)" initials="CD" userId="S::dcirrinci@newyorklife.com::208aada5-06cf-41ed-b292-2a173ac4d61d" providerId="AD"/>
  <p188:author id="{CF15BEE4-1643-3CCA-D837-251CF4390522}" name="Rowland, Njeri C." initials="NR" userId="S::nrowland@newyorklife.com::7526444e-40cd-4685-9189-6a7ffe474f76" providerId="AD"/>
  <p188:author id="{73371CE5-7D96-BD6C-078D-B3A6D6FAA8B9}" name="Bednarz, Christine A." initials="BCA" userId="S::cabednarz@newyorklife.com::8da3e2fc-0a9f-4d26-abe3-9a25ded5506f" providerId="AD"/>
  <p188:author id="{BA766DE9-407E-EF14-8BB4-753AB4536BF1}" name="Ramirez, Elena" initials="" userId="S::eramirez01@newyorklife.com::23d85afb-dd90-43d4-81ae-ec36a7bcb17c" providerId="AD"/>
  <p188:author id="{A760F5EA-D132-CBB7-7F81-35BF0FE07E30}" name="Scanlan, Dawn M." initials="DS" userId="S::DHAMON@newyorklife.com::12c7cd20-34bf-4117-b7b9-e4f7d0c77492" providerId="AD"/>
  <p188:author id="{9D80C2EB-5545-7878-D0C2-C959B1F1ADB7}" name="Ferguson, Michael S. (Mike)" initials="MF" userId="S::MFERGUSON01@newyorklife.com::3572e4fa-3fa2-48c8-b0ce-39fda1969879" providerId="AD"/>
  <p188:author id="{81825AEE-7DF5-D32C-1742-6673EC338428}" name="Hourihan, Karla M." initials="HK" userId="S::ksundstro@newyorklife.com::595e3252-aeba-4609-af9d-4f36f617beb2" providerId="AD"/>
  <p188:author id="{4B87E1EF-0466-3982-449B-38629DF1EE7F}" name="Forand, Patrick W." initials="FP" userId="S::pforand@newyorklife.com::151abf93-ee6a-4408-8c4a-0fc8c7dedff4" providerId="AD"/>
  <p188:author id="{6D3F07FA-114C-E68A-CE88-D43B6543403C}" name="Leblanc, Alice M." initials="LA" userId="S::amleblanc@newyorklife.com::33e02965-ec6b-40a7-a9cc-4a2ef90d62ff" providerId="AD"/>
  <p188:author id="{233E4CFA-658D-8295-4ADF-C95E00CF94E1}" name="Csillag, Carmen" initials="" userId="S::ccsillag@newyorklife.com::5bab7689-479a-4c08-9af9-59f51916266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A62"/>
    <a:srgbClr val="EE60D3"/>
    <a:srgbClr val="000000"/>
    <a:srgbClr val="0468FF"/>
    <a:srgbClr val="E82CC4"/>
    <a:srgbClr val="0A3C53"/>
    <a:srgbClr val="0042E8"/>
    <a:srgbClr val="66A7FF"/>
    <a:srgbClr val="7FE9A5"/>
    <a:srgbClr val="A5CA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427" autoAdjust="0"/>
  </p:normalViewPr>
  <p:slideViewPr>
    <p:cSldViewPr snapToGrid="0">
      <p:cViewPr varScale="1">
        <p:scale>
          <a:sx n="84" d="100"/>
          <a:sy n="84" d="100"/>
        </p:scale>
        <p:origin x="1596" y="96"/>
      </p:cViewPr>
      <p:guideLst>
        <p:guide pos="1248"/>
        <p:guide orient="horz" pos="23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tags" Target="tags/tag1.xml"/><Relationship Id="rId69"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Purchasing Power</c:v>
                </c:pt>
              </c:strCache>
            </c:strRef>
          </c:tx>
          <c:spPr>
            <a:ln w="38100" cap="flat">
              <a:solidFill>
                <a:srgbClr val="00D4AA"/>
              </a:solidFill>
              <a:prstDash val="solid"/>
              <a:round/>
            </a:ln>
            <a:effectLst/>
          </c:spPr>
          <c:marker>
            <c:symbol val="circle"/>
            <c:size val="6"/>
            <c:spPr>
              <a:solidFill>
                <a:srgbClr val="00D4AA"/>
              </a:solidFill>
              <a:ln w="9525" cap="flat">
                <a:solidFill>
                  <a:srgbClr val="00D4AA"/>
                </a:solidFill>
                <a:prstDash val="solid"/>
                <a:round/>
              </a:ln>
              <a:effectLst/>
            </c:spPr>
          </c:marker>
          <c:cat>
            <c:strRef>
              <c:f>Sheet1!$A$2:$A$8</c:f>
              <c:strCache>
                <c:ptCount val="7"/>
                <c:pt idx="0">
                  <c:v>1971</c:v>
                </c:pt>
                <c:pt idx="1">
                  <c:v>1980</c:v>
                </c:pt>
                <c:pt idx="2">
                  <c:v>1990</c:v>
                </c:pt>
                <c:pt idx="3">
                  <c:v>2000</c:v>
                </c:pt>
                <c:pt idx="4">
                  <c:v>2010</c:v>
                </c:pt>
                <c:pt idx="5">
                  <c:v>2020</c:v>
                </c:pt>
                <c:pt idx="6">
                  <c:v>2026</c:v>
                </c:pt>
              </c:strCache>
            </c:strRef>
          </c:cat>
          <c:val>
            <c:numRef>
              <c:f>Sheet1!$B$2:$B$8</c:f>
              <c:numCache>
                <c:formatCode>General</c:formatCode>
                <c:ptCount val="7"/>
                <c:pt idx="0">
                  <c:v>100</c:v>
                </c:pt>
                <c:pt idx="1">
                  <c:v>42</c:v>
                </c:pt>
                <c:pt idx="2">
                  <c:v>33</c:v>
                </c:pt>
                <c:pt idx="3">
                  <c:v>26</c:v>
                </c:pt>
                <c:pt idx="4">
                  <c:v>19</c:v>
                </c:pt>
                <c:pt idx="5">
                  <c:v>14</c:v>
                </c:pt>
                <c:pt idx="6">
                  <c:v>13</c:v>
                </c:pt>
              </c:numCache>
            </c:numRef>
          </c:val>
          <c:smooth val="0"/>
          <c:extLst>
            <c:ext xmlns:c16="http://schemas.microsoft.com/office/drawing/2014/chart" uri="{C3380CC4-5D6E-409C-BE32-E72D297353CC}">
              <c16:uniqueId val="{00000000-EB9F-47F6-BC20-6B9CEBFFF47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52D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4"/>
        <c:crosses val="autoZero"/>
        <c:crossBetween val="between"/>
      </c:valAx>
      <c:spPr>
        <a:solidFill>
          <a:srgbClr val="151926"/>
        </a:solidFill>
        <a:ln>
          <a:noFill/>
        </a:ln>
        <a:effectLst/>
      </c:spPr>
    </c:plotArea>
    <c:plotVisOnly val="1"/>
    <c:dispBlanksAs val="span"/>
    <c:showDLblsOverMax val="1"/>
  </c:chart>
  <c:spPr>
    <a:solidFill>
      <a:srgbClr val="15192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M2 Money Supply ($T)</c:v>
                </c:pt>
              </c:strCache>
            </c:strRef>
          </c:tx>
          <c:spPr>
            <a:solidFill>
              <a:srgbClr val="00D4AA"/>
            </a:solidFill>
            <a:effectLst/>
          </c:spPr>
          <c:invertIfNegative val="0"/>
          <c:dLbls>
            <c:numFmt formatCode="#,##0" sourceLinked="0"/>
            <c:spPr>
              <a:noFill/>
              <a:ln>
                <a:noFill/>
              </a:ln>
              <a:effectLst/>
            </c:spPr>
            <c:txPr>
              <a:bodyPr/>
              <a:lstStyle/>
              <a:p>
                <a:pPr>
                  <a:defRPr sz="800" b="0" i="0" u="none" strike="noStrike">
                    <a:solidFill>
                      <a:srgbClr val="8B95A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2000</c:v>
                </c:pt>
                <c:pt idx="1">
                  <c:v>2005</c:v>
                </c:pt>
                <c:pt idx="2">
                  <c:v>2010</c:v>
                </c:pt>
                <c:pt idx="3">
                  <c:v>2015</c:v>
                </c:pt>
                <c:pt idx="4">
                  <c:v>2019</c:v>
                </c:pt>
                <c:pt idx="5">
                  <c:v>2020</c:v>
                </c:pt>
                <c:pt idx="6">
                  <c:v>2022</c:v>
                </c:pt>
                <c:pt idx="7">
                  <c:v>2025</c:v>
                </c:pt>
              </c:strCache>
            </c:strRef>
          </c:cat>
          <c:val>
            <c:numRef>
              <c:f>Sheet1!$B$2:$B$9</c:f>
              <c:numCache>
                <c:formatCode>General</c:formatCode>
                <c:ptCount val="8"/>
                <c:pt idx="0">
                  <c:v>4.5999999999999996</c:v>
                </c:pt>
                <c:pt idx="1">
                  <c:v>6.5</c:v>
                </c:pt>
                <c:pt idx="2">
                  <c:v>8.8000000000000007</c:v>
                </c:pt>
                <c:pt idx="3">
                  <c:v>12.2</c:v>
                </c:pt>
                <c:pt idx="4">
                  <c:v>15.3</c:v>
                </c:pt>
                <c:pt idx="5">
                  <c:v>19.100000000000001</c:v>
                </c:pt>
                <c:pt idx="6">
                  <c:v>21.4</c:v>
                </c:pt>
                <c:pt idx="7">
                  <c:v>21.8</c:v>
                </c:pt>
              </c:numCache>
            </c:numRef>
          </c:val>
          <c:extLst>
            <c:ext xmlns:c16="http://schemas.microsoft.com/office/drawing/2014/chart" uri="{C3380CC4-5D6E-409C-BE32-E72D297353CC}">
              <c16:uniqueId val="{00000000-3287-4A3F-AB49-2EB1816F177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52D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478"/>
                </a:solidFill>
                <a:latin typeface="Arial"/>
              </a:defRPr>
            </a:pPr>
            <a:endParaRPr lang="en-US"/>
          </a:p>
        </c:txPr>
        <c:crossAx val="2094734554"/>
        <c:crosses val="autoZero"/>
        <c:crossBetween val="between"/>
      </c:valAx>
      <c:spPr>
        <a:solidFill>
          <a:srgbClr val="151926"/>
        </a:solidFill>
        <a:ln>
          <a:noFill/>
        </a:ln>
        <a:effectLst/>
      </c:spPr>
    </c:plotArea>
    <c:plotVisOnly val="1"/>
    <c:dispBlanksAs val="span"/>
    <c:showDLblsOverMax val="1"/>
  </c:chart>
  <c:spPr>
    <a:solidFill>
      <a:srgbClr val="15192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Nominal Return</c:v>
                </c:pt>
              </c:strCache>
            </c:strRef>
          </c:tx>
          <c:spPr>
            <a:solidFill>
              <a:srgbClr val="00D4AA"/>
            </a:solidFill>
            <a:effectLst/>
          </c:spPr>
          <c:invertIfNegative val="0"/>
          <c:dLbls>
            <c:numFmt formatCode="#,##0" sourceLinked="0"/>
            <c:spPr>
              <a:noFill/>
              <a:ln>
                <a:noFill/>
              </a:ln>
              <a:effectLst/>
            </c:spPr>
            <c:txPr>
              <a:bodyPr/>
              <a:lstStyle/>
              <a:p>
                <a:pPr>
                  <a:defRPr sz="800" b="0" i="0" u="none" strike="noStrike">
                    <a:solidFill>
                      <a:srgbClr val="8B95A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S&amp;P 500</c:v>
                </c:pt>
                <c:pt idx="1">
                  <c:v>10-Yr Treasury</c:v>
                </c:pt>
                <c:pt idx="2">
                  <c:v>Corp Bonds</c:v>
                </c:pt>
                <c:pt idx="3">
                  <c:v>Savings Acct</c:v>
                </c:pt>
                <c:pt idx="4">
                  <c:v>Cash</c:v>
                </c:pt>
              </c:strCache>
            </c:strRef>
          </c:cat>
          <c:val>
            <c:numRef>
              <c:f>Sheet1!$B$2:$B$6</c:f>
              <c:numCache>
                <c:formatCode>General</c:formatCode>
                <c:ptCount val="5"/>
                <c:pt idx="0">
                  <c:v>10.199999999999999</c:v>
                </c:pt>
                <c:pt idx="1">
                  <c:v>4.5</c:v>
                </c:pt>
                <c:pt idx="2">
                  <c:v>5.0999999999999996</c:v>
                </c:pt>
                <c:pt idx="3">
                  <c:v>0.5</c:v>
                </c:pt>
                <c:pt idx="4">
                  <c:v>0</c:v>
                </c:pt>
              </c:numCache>
            </c:numRef>
          </c:val>
          <c:extLst>
            <c:ext xmlns:c16="http://schemas.microsoft.com/office/drawing/2014/chart" uri="{C3380CC4-5D6E-409C-BE32-E72D297353CC}">
              <c16:uniqueId val="{00000000-FF73-4C4C-B0BF-5AEB7E494C70}"/>
            </c:ext>
          </c:extLst>
        </c:ser>
        <c:ser>
          <c:idx val="1"/>
          <c:order val="1"/>
          <c:tx>
            <c:strRef>
              <c:f>Sheet1!$C$1</c:f>
              <c:strCache>
                <c:ptCount val="1"/>
                <c:pt idx="0">
                  <c:v>Real Return (at 3% CPI)</c:v>
                </c:pt>
              </c:strCache>
            </c:strRef>
          </c:tx>
          <c:spPr>
            <a:solidFill>
              <a:srgbClr val="FF8C42"/>
            </a:solidFill>
            <a:effectLst/>
          </c:spPr>
          <c:invertIfNegative val="0"/>
          <c:dLbls>
            <c:numFmt formatCode="#,##0" sourceLinked="0"/>
            <c:spPr>
              <a:noFill/>
              <a:ln>
                <a:noFill/>
              </a:ln>
              <a:effectLst/>
            </c:spPr>
            <c:txPr>
              <a:bodyPr/>
              <a:lstStyle/>
              <a:p>
                <a:pPr>
                  <a:defRPr sz="800" b="0" i="0" u="none" strike="noStrike">
                    <a:solidFill>
                      <a:srgbClr val="8B95A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S&amp;P 500</c:v>
                </c:pt>
                <c:pt idx="1">
                  <c:v>10-Yr Treasury</c:v>
                </c:pt>
                <c:pt idx="2">
                  <c:v>Corp Bonds</c:v>
                </c:pt>
                <c:pt idx="3">
                  <c:v>Savings Acct</c:v>
                </c:pt>
                <c:pt idx="4">
                  <c:v>Cash</c:v>
                </c:pt>
              </c:strCache>
            </c:strRef>
          </c:cat>
          <c:val>
            <c:numRef>
              <c:f>Sheet1!$C$2:$C$6</c:f>
              <c:numCache>
                <c:formatCode>General</c:formatCode>
                <c:ptCount val="5"/>
                <c:pt idx="0">
                  <c:v>7.2</c:v>
                </c:pt>
                <c:pt idx="1">
                  <c:v>1.5</c:v>
                </c:pt>
                <c:pt idx="2">
                  <c:v>2.1</c:v>
                </c:pt>
                <c:pt idx="3">
                  <c:v>-2.5</c:v>
                </c:pt>
                <c:pt idx="4">
                  <c:v>-3</c:v>
                </c:pt>
              </c:numCache>
            </c:numRef>
          </c:val>
          <c:extLst>
            <c:ext xmlns:c16="http://schemas.microsoft.com/office/drawing/2014/chart" uri="{C3380CC4-5D6E-409C-BE32-E72D297353CC}">
              <c16:uniqueId val="{00000001-FF73-4C4C-B0BF-5AEB7E494C7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52D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478"/>
                </a:solidFill>
                <a:latin typeface="Arial"/>
              </a:defRPr>
            </a:pPr>
            <a:endParaRPr lang="en-US"/>
          </a:p>
        </c:txPr>
        <c:crossAx val="2094734554"/>
        <c:crosses val="autoZero"/>
        <c:crossBetween val="between"/>
      </c:valAx>
      <c:spPr>
        <a:solidFill>
          <a:srgbClr val="151926"/>
        </a:solidFill>
        <a:ln>
          <a:noFill/>
        </a:ln>
        <a:effectLst/>
      </c:spPr>
    </c:plotArea>
    <c:legend>
      <c:legendPos val="t"/>
      <c:overlay val="0"/>
      <c:txPr>
        <a:bodyPr/>
        <a:lstStyle/>
        <a:p>
          <a:pPr>
            <a:defRPr sz="1000">
              <a:solidFill>
                <a:srgbClr val="8B95A8"/>
              </a:solidFill>
            </a:defRPr>
          </a:pPr>
          <a:endParaRPr lang="en-US"/>
        </a:p>
      </c:txPr>
    </c:legend>
    <c:plotVisOnly val="1"/>
    <c:dispBlanksAs val="span"/>
    <c:showDLblsOverMax val="1"/>
  </c:chart>
  <c:spPr>
    <a:solidFill>
      <a:srgbClr val="151926"/>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8B95A8"/>
                </a:solidFill>
                <a:latin typeface="Arial"/>
              </a:defRPr>
            </a:pPr>
            <a:r>
              <a:rPr lang="en-US" sz="1200" b="0" i="0" u="none" strike="noStrike">
                <a:solidFill>
                  <a:srgbClr val="8B95A8"/>
                </a:solidFill>
                <a:latin typeface="Arial"/>
              </a:rPr>
              <a:t>Traditional 60/40</a:t>
            </a:r>
          </a:p>
        </c:rich>
      </c:tx>
      <c:overlay val="0"/>
    </c:title>
    <c:autoTitleDeleted val="0"/>
    <c:plotArea>
      <c:layout/>
      <c:doughnutChart>
        <c:varyColors val="1"/>
        <c:ser>
          <c:idx val="0"/>
          <c:order val="0"/>
          <c:tx>
            <c:strRef>
              <c:f>Sheet1!$B$1</c:f>
              <c:strCache>
                <c:ptCount val="1"/>
                <c:pt idx="0">
                  <c:v>Traditional 60/40</c:v>
                </c:pt>
              </c:strCache>
            </c:strRef>
          </c:tx>
          <c:spPr>
            <a:solidFill>
              <a:schemeClr val="accent1"/>
            </a:solidFill>
            <a:ln w="9525" cap="flat">
              <a:solidFill>
                <a:srgbClr val="F9F9F9"/>
              </a:solidFill>
              <a:prstDash val="solid"/>
              <a:round/>
            </a:ln>
            <a:effectLst/>
          </c:spPr>
          <c:dPt>
            <c:idx val="0"/>
            <c:bubble3D val="0"/>
            <c:spPr>
              <a:solidFill>
                <a:srgbClr val="00D4AA"/>
              </a:solidFill>
              <a:effectLst/>
            </c:spPr>
            <c:extLst>
              <c:ext xmlns:c16="http://schemas.microsoft.com/office/drawing/2014/chart" uri="{C3380CC4-5D6E-409C-BE32-E72D297353CC}">
                <c16:uniqueId val="{00000001-4973-4BA7-9967-072524350CC7}"/>
              </c:ext>
            </c:extLst>
          </c:dPt>
          <c:dPt>
            <c:idx val="1"/>
            <c:bubble3D val="0"/>
            <c:spPr>
              <a:solidFill>
                <a:srgbClr val="1C7293"/>
              </a:solidFill>
              <a:effectLst/>
            </c:spPr>
            <c:extLst>
              <c:ext xmlns:c16="http://schemas.microsoft.com/office/drawing/2014/chart" uri="{C3380CC4-5D6E-409C-BE32-E72D297353CC}">
                <c16:uniqueId val="{00000003-4973-4BA7-9967-072524350CC7}"/>
              </c:ext>
            </c:extLst>
          </c:dPt>
          <c:dPt>
            <c:idx val="2"/>
            <c:bubble3D val="0"/>
            <c:spPr>
              <a:solidFill>
                <a:srgbClr val="FF4757"/>
              </a:solidFill>
              <a:effectLst/>
            </c:spPr>
            <c:extLst>
              <c:ext xmlns:c16="http://schemas.microsoft.com/office/drawing/2014/chart" uri="{C3380CC4-5D6E-409C-BE32-E72D297353CC}">
                <c16:uniqueId val="{00000005-4973-4BA7-9967-072524350CC7}"/>
              </c:ext>
            </c:extLst>
          </c:dPt>
          <c:dPt>
            <c:idx val="3"/>
            <c:bubble3D val="0"/>
            <c:spPr>
              <a:solidFill>
                <a:srgbClr val="5A6478"/>
              </a:solidFill>
              <a:effectLst/>
            </c:spPr>
            <c:extLst>
              <c:ext xmlns:c16="http://schemas.microsoft.com/office/drawing/2014/chart" uri="{C3380CC4-5D6E-409C-BE32-E72D297353CC}">
                <c16:uniqueId val="{00000007-4973-4BA7-9967-072524350CC7}"/>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973-4BA7-9967-072524350CC7}"/>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973-4BA7-9967-072524350CC7}"/>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973-4BA7-9967-072524350CC7}"/>
                </c:ext>
              </c:extLst>
            </c:dLbl>
            <c:dLbl>
              <c:idx val="3"/>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973-4BA7-9967-072524350CC7}"/>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US Equities</c:v>
                </c:pt>
                <c:pt idx="1">
                  <c:v>Int'l Equities</c:v>
                </c:pt>
                <c:pt idx="2">
                  <c:v>Long-Duration Bonds</c:v>
                </c:pt>
                <c:pt idx="3">
                  <c:v>Cash</c:v>
                </c:pt>
              </c:strCache>
            </c:strRef>
          </c:cat>
          <c:val>
            <c:numRef>
              <c:f>Sheet1!$B$2:$B$5</c:f>
              <c:numCache>
                <c:formatCode>General</c:formatCode>
                <c:ptCount val="4"/>
                <c:pt idx="0">
                  <c:v>40</c:v>
                </c:pt>
                <c:pt idx="1">
                  <c:v>20</c:v>
                </c:pt>
                <c:pt idx="2">
                  <c:v>35</c:v>
                </c:pt>
                <c:pt idx="3">
                  <c:v>5</c:v>
                </c:pt>
              </c:numCache>
            </c:numRef>
          </c:val>
          <c:extLst>
            <c:ext xmlns:c16="http://schemas.microsoft.com/office/drawing/2014/chart" uri="{C3380CC4-5D6E-409C-BE32-E72D297353CC}">
              <c16:uniqueId val="{00000008-4973-4BA7-9967-072524350CC7}"/>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solidFill>
                <a:srgbClr val="5A6478"/>
              </a:solidFil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8B95A8"/>
                </a:solidFill>
                <a:latin typeface="Arial"/>
              </a:defRPr>
            </a:pPr>
            <a:r>
              <a:rPr lang="en-US" sz="1200" b="0" i="0" u="none" strike="noStrike">
                <a:solidFill>
                  <a:srgbClr val="8B95A8"/>
                </a:solidFill>
                <a:latin typeface="Arial"/>
              </a:rPr>
              <a:t>Inflation-Aware Portfolio</a:t>
            </a:r>
          </a:p>
        </c:rich>
      </c:tx>
      <c:overlay val="0"/>
    </c:title>
    <c:autoTitleDeleted val="0"/>
    <c:plotArea>
      <c:layout/>
      <c:doughnutChart>
        <c:varyColors val="1"/>
        <c:ser>
          <c:idx val="0"/>
          <c:order val="0"/>
          <c:tx>
            <c:strRef>
              <c:f>Sheet1!$B$1</c:f>
              <c:strCache>
                <c:ptCount val="1"/>
                <c:pt idx="0">
                  <c:v>Inflation-Aware</c:v>
                </c:pt>
              </c:strCache>
            </c:strRef>
          </c:tx>
          <c:spPr>
            <a:solidFill>
              <a:schemeClr val="accent1"/>
            </a:solidFill>
            <a:ln w="9525" cap="flat">
              <a:solidFill>
                <a:srgbClr val="F9F9F9"/>
              </a:solidFill>
              <a:prstDash val="solid"/>
              <a:round/>
            </a:ln>
            <a:effectLst/>
          </c:spPr>
          <c:dPt>
            <c:idx val="0"/>
            <c:bubble3D val="0"/>
            <c:spPr>
              <a:solidFill>
                <a:srgbClr val="00D4AA"/>
              </a:solidFill>
              <a:effectLst/>
            </c:spPr>
            <c:extLst>
              <c:ext xmlns:c16="http://schemas.microsoft.com/office/drawing/2014/chart" uri="{C3380CC4-5D6E-409C-BE32-E72D297353CC}">
                <c16:uniqueId val="{00000001-4A23-41A3-9483-2B7066BD3D05}"/>
              </c:ext>
            </c:extLst>
          </c:dPt>
          <c:dPt>
            <c:idx val="1"/>
            <c:bubble3D val="0"/>
            <c:spPr>
              <a:solidFill>
                <a:srgbClr val="1C7293"/>
              </a:solidFill>
              <a:effectLst/>
            </c:spPr>
            <c:extLst>
              <c:ext xmlns:c16="http://schemas.microsoft.com/office/drawing/2014/chart" uri="{C3380CC4-5D6E-409C-BE32-E72D297353CC}">
                <c16:uniqueId val="{00000003-4A23-41A3-9483-2B7066BD3D05}"/>
              </c:ext>
            </c:extLst>
          </c:dPt>
          <c:dPt>
            <c:idx val="2"/>
            <c:bubble3D val="0"/>
            <c:spPr>
              <a:solidFill>
                <a:srgbClr val="FFD700"/>
              </a:solidFill>
              <a:effectLst/>
            </c:spPr>
            <c:extLst>
              <c:ext xmlns:c16="http://schemas.microsoft.com/office/drawing/2014/chart" uri="{C3380CC4-5D6E-409C-BE32-E72D297353CC}">
                <c16:uniqueId val="{00000005-4A23-41A3-9483-2B7066BD3D05}"/>
              </c:ext>
            </c:extLst>
          </c:dPt>
          <c:dPt>
            <c:idx val="3"/>
            <c:bubble3D val="0"/>
            <c:spPr>
              <a:solidFill>
                <a:srgbClr val="FF8C42"/>
              </a:solidFill>
              <a:effectLst/>
            </c:spPr>
            <c:extLst>
              <c:ext xmlns:c16="http://schemas.microsoft.com/office/drawing/2014/chart" uri="{C3380CC4-5D6E-409C-BE32-E72D297353CC}">
                <c16:uniqueId val="{00000007-4A23-41A3-9483-2B7066BD3D05}"/>
              </c:ext>
            </c:extLst>
          </c:dPt>
          <c:dPt>
            <c:idx val="4"/>
            <c:bubble3D val="0"/>
            <c:spPr>
              <a:solidFill>
                <a:srgbClr val="FF8C42"/>
              </a:solidFill>
              <a:effectLst/>
            </c:spPr>
            <c:extLst>
              <c:ext xmlns:c16="http://schemas.microsoft.com/office/drawing/2014/chart" uri="{C3380CC4-5D6E-409C-BE32-E72D297353CC}">
                <c16:uniqueId val="{00000009-4A23-41A3-9483-2B7066BD3D05}"/>
              </c:ext>
            </c:extLst>
          </c:dPt>
          <c:dPt>
            <c:idx val="5"/>
            <c:bubble3D val="0"/>
            <c:spPr>
              <a:solidFill>
                <a:srgbClr val="2ED573"/>
              </a:solidFill>
              <a:effectLst/>
            </c:spPr>
            <c:extLst>
              <c:ext xmlns:c16="http://schemas.microsoft.com/office/drawing/2014/chart" uri="{C3380CC4-5D6E-409C-BE32-E72D297353CC}">
                <c16:uniqueId val="{0000000B-4A23-41A3-9483-2B7066BD3D05}"/>
              </c:ext>
            </c:extLst>
          </c:dPt>
          <c:dPt>
            <c:idx val="6"/>
            <c:bubble3D val="0"/>
            <c:spPr>
              <a:solidFill>
                <a:srgbClr val="FFD700"/>
              </a:solidFill>
              <a:effectLst/>
            </c:spPr>
            <c:extLst>
              <c:ext xmlns:c16="http://schemas.microsoft.com/office/drawing/2014/chart" uri="{C3380CC4-5D6E-409C-BE32-E72D297353CC}">
                <c16:uniqueId val="{0000000D-4A23-41A3-9483-2B7066BD3D05}"/>
              </c:ext>
            </c:extLst>
          </c:dPt>
          <c:dPt>
            <c:idx val="7"/>
            <c:bubble3D val="0"/>
            <c:spPr>
              <a:solidFill>
                <a:srgbClr val="00D4AA"/>
              </a:solidFill>
              <a:effectLst/>
            </c:spPr>
            <c:extLst>
              <c:ext xmlns:c16="http://schemas.microsoft.com/office/drawing/2014/chart" uri="{C3380CC4-5D6E-409C-BE32-E72D297353CC}">
                <c16:uniqueId val="{0000000F-4A23-41A3-9483-2B7066BD3D05}"/>
              </c:ext>
            </c:extLst>
          </c:dPt>
          <c:dPt>
            <c:idx val="8"/>
            <c:bubble3D val="0"/>
            <c:spPr>
              <a:solidFill>
                <a:srgbClr val="5A6478"/>
              </a:solidFill>
              <a:effectLst/>
            </c:spPr>
            <c:extLst>
              <c:ext xmlns:c16="http://schemas.microsoft.com/office/drawing/2014/chart" uri="{C3380CC4-5D6E-409C-BE32-E72D297353CC}">
                <c16:uniqueId val="{00000011-4A23-41A3-9483-2B7066BD3D05}"/>
              </c:ext>
            </c:extLst>
          </c:dPt>
          <c:dLbls>
            <c:dLbl>
              <c:idx val="0"/>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A23-41A3-9483-2B7066BD3D05}"/>
                </c:ext>
              </c:extLst>
            </c:dLbl>
            <c:dLbl>
              <c:idx val="1"/>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A23-41A3-9483-2B7066BD3D05}"/>
                </c:ext>
              </c:extLst>
            </c:dLbl>
            <c:dLbl>
              <c:idx val="2"/>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A23-41A3-9483-2B7066BD3D05}"/>
                </c:ext>
              </c:extLst>
            </c:dLbl>
            <c:dLbl>
              <c:idx val="3"/>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A23-41A3-9483-2B7066BD3D05}"/>
                </c:ext>
              </c:extLst>
            </c:dLbl>
            <c:dLbl>
              <c:idx val="4"/>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A23-41A3-9483-2B7066BD3D05}"/>
                </c:ext>
              </c:extLst>
            </c:dLbl>
            <c:dLbl>
              <c:idx val="5"/>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4A23-41A3-9483-2B7066BD3D05}"/>
                </c:ext>
              </c:extLst>
            </c:dLbl>
            <c:dLbl>
              <c:idx val="6"/>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4A23-41A3-9483-2B7066BD3D05}"/>
                </c:ext>
              </c:extLst>
            </c:dLbl>
            <c:dLbl>
              <c:idx val="7"/>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4A23-41A3-9483-2B7066BD3D05}"/>
                </c:ext>
              </c:extLst>
            </c:dLbl>
            <c:dLbl>
              <c:idx val="8"/>
              <c:numFmt formatCode="0%" sourceLinked="0"/>
              <c:spPr/>
              <c:txPr>
                <a:bodyPr/>
                <a:lstStyle/>
                <a:p>
                  <a:pPr>
                    <a:defRPr sz="8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1-4A23-41A3-9483-2B7066BD3D0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Sheet1!$A$2:$A$10</c:f>
              <c:strCache>
                <c:ptCount val="9"/>
                <c:pt idx="0">
                  <c:v>US Equities</c:v>
                </c:pt>
                <c:pt idx="1">
                  <c:v>Int'l Equities</c:v>
                </c:pt>
                <c:pt idx="2">
                  <c:v>TIPS</c:v>
                </c:pt>
                <c:pt idx="3">
                  <c:v>Short Duration Bonds</c:v>
                </c:pt>
                <c:pt idx="4">
                  <c:v>Commodities</c:v>
                </c:pt>
                <c:pt idx="5">
                  <c:v>REITs</c:v>
                </c:pt>
                <c:pt idx="6">
                  <c:v>Gold</c:v>
                </c:pt>
                <c:pt idx="7">
                  <c:v>Floating Rate</c:v>
                </c:pt>
                <c:pt idx="8">
                  <c:v>Cash</c:v>
                </c:pt>
              </c:strCache>
            </c:strRef>
          </c:cat>
          <c:val>
            <c:numRef>
              <c:f>Sheet1!$B$2:$B$10</c:f>
              <c:numCache>
                <c:formatCode>General</c:formatCode>
                <c:ptCount val="9"/>
                <c:pt idx="0">
                  <c:v>30</c:v>
                </c:pt>
                <c:pt idx="1">
                  <c:v>15</c:v>
                </c:pt>
                <c:pt idx="2">
                  <c:v>10</c:v>
                </c:pt>
                <c:pt idx="3">
                  <c:v>12</c:v>
                </c:pt>
                <c:pt idx="4">
                  <c:v>7</c:v>
                </c:pt>
                <c:pt idx="5">
                  <c:v>8</c:v>
                </c:pt>
                <c:pt idx="6">
                  <c:v>7</c:v>
                </c:pt>
                <c:pt idx="7">
                  <c:v>6</c:v>
                </c:pt>
                <c:pt idx="8">
                  <c:v>5</c:v>
                </c:pt>
              </c:numCache>
            </c:numRef>
          </c:val>
          <c:extLst>
            <c:ext xmlns:c16="http://schemas.microsoft.com/office/drawing/2014/chart" uri="{C3380CC4-5D6E-409C-BE32-E72D297353CC}">
              <c16:uniqueId val="{00000012-4A23-41A3-9483-2B7066BD3D05}"/>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800">
              <a:solidFill>
                <a:srgbClr val="5A6478"/>
              </a:solidFill>
            </a:defRPr>
          </a:pPr>
          <a:endParaRPr lang="en-US"/>
        </a:p>
      </c:txPr>
    </c:legend>
    <c:plotVisOnly val="1"/>
    <c:dispBlanksAs val="span"/>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39839A-6710-2204-4CDA-C3A65EC879F4}"/>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a:extLst>
              <a:ext uri="{FF2B5EF4-FFF2-40B4-BE49-F238E27FC236}">
                <a16:creationId xmlns:a16="http://schemas.microsoft.com/office/drawing/2014/main" id="{E99578DC-03E8-1058-6D53-36643595872A}"/>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E7A4511B-ADED-4F45-B3F1-92161E2FB2AD}" type="datetimeFigureOut">
              <a:rPr lang="en-US" smtClean="0"/>
              <a:t>8/16/2026</a:t>
            </a:fld>
            <a:endParaRPr lang="en-US"/>
          </a:p>
        </p:txBody>
      </p:sp>
      <p:sp>
        <p:nvSpPr>
          <p:cNvPr id="4" name="Footer Placeholder 3">
            <a:extLst>
              <a:ext uri="{FF2B5EF4-FFF2-40B4-BE49-F238E27FC236}">
                <a16:creationId xmlns:a16="http://schemas.microsoft.com/office/drawing/2014/main" id="{D79651AB-85DF-CC16-069D-ADF98F769CC6}"/>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D9EB7D0-D96F-0021-E271-E06D345388B0}"/>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8F3748A2-8B31-4D5F-8B5A-39B51195A439}" type="slidenum">
              <a:rPr lang="en-US" smtClean="0"/>
              <a:t>‹#›</a:t>
            </a:fld>
            <a:endParaRPr lang="en-US"/>
          </a:p>
        </p:txBody>
      </p:sp>
    </p:spTree>
    <p:extLst>
      <p:ext uri="{BB962C8B-B14F-4D97-AF65-F5344CB8AC3E}">
        <p14:creationId xmlns:p14="http://schemas.microsoft.com/office/powerpoint/2010/main" val="23305770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957" userDrawn="1">
          <p15:clr>
            <a:srgbClr val="F26B43"/>
          </p15:clr>
        </p15:guide>
        <p15:guide id="2" pos="223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EA976E3E-BBA1-487D-B81E-A53C96360150}" type="datetimeFigureOut">
              <a:t>8/16/2026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B8F2EEE2-46E2-47E5-8287-018A51779D44}" type="slidenum">
              <a:t>‹#›</a:t>
            </a:fld>
            <a:endParaRPr lang="en-US"/>
          </a:p>
        </p:txBody>
      </p:sp>
    </p:spTree>
    <p:extLst>
      <p:ext uri="{BB962C8B-B14F-4D97-AF65-F5344CB8AC3E}">
        <p14:creationId xmlns:p14="http://schemas.microsoft.com/office/powerpoint/2010/main" val="2113819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mailto:ipt@newyorklife.co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a:t>
            </a:fld>
            <a:endParaRPr lang="en-US"/>
          </a:p>
        </p:txBody>
      </p:sp>
    </p:spTree>
    <p:extLst>
      <p:ext uri="{BB962C8B-B14F-4D97-AF65-F5344CB8AC3E}">
        <p14:creationId xmlns:p14="http://schemas.microsoft.com/office/powerpoint/2010/main" val="992921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meeting with recognition. These are August month-to-date numbers for the New Orleans General Office, pulled from the current MTD recognition report.</a:t>
            </a:r>
          </a:p>
          <a:p>
            <a:endParaRPr/>
          </a:p>
          <a:p>
            <a:r>
              <a:t>Three ways to show up on this board: first year commission (FYC), applied cases, and paid cases. Call out that the lists are different people - Lawrence Cabirac leads FYC and also appears on paid cases; Casey Crouch leads applied cases by a wide margin at 13. That is the point: there is more than one path onto this slide.</a:t>
            </a:r>
          </a:p>
          <a:p>
            <a:endParaRPr/>
          </a:p>
          <a:p>
            <a:r>
              <a:t>Read every name out loud. Ask the two or three at the top what changed in their week - the answer is almost always activity, not luck.</a:t>
            </a:r>
          </a:p>
          <a:p>
            <a:endParaRPr/>
          </a:p>
          <a:p>
            <a:r>
              <a:t>Presenter note: if the office wants to honor someone not captured in the production report, duplicate this slide before the meeting and add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the frame. Stocks ground out a third straight weekly gain, but underneath the surface the story changed: soft inflation data cooled September rate-hike fears, while a sharp drop in retail sales and a slump in consumer sentiment raised questions about the consumer.</a:t>
            </a:r>
          </a:p>
          <a:p>
            <a:endParaRPr/>
          </a:p>
          <a:p>
            <a:r>
              <a:t>The week ahead is data-light on the macro side but heavy on retail earnings - Home Depot, Lowe's, Target, TJX and Walmart all report. Wednesday's FOMC minutes are the single most-watched item.</a:t>
            </a:r>
          </a:p>
          <a:p>
            <a:endParaRPr/>
          </a:p>
          <a:p>
            <a:r>
              <a:t>Tell the room this section takes about ten minutes and the last slide is the one they can use with clients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breadth. The headline index move was small (+0.4%), but the Russell 2000 gaining 3.15% to a record is the real signal - participation widened beyond mega-cap technology for the first time in weeks.</a:t>
            </a:r>
          </a:p>
          <a:p>
            <a:endParaRPr/>
          </a:p>
          <a:p>
            <a:r>
              <a:t>Explain the Dow's decline honestly: it is a price-weighted index concentrated in healthcare and industrials, both of which lagged. It is not a sign the rally broke.</a:t>
            </a:r>
          </a:p>
          <a:p>
            <a:endParaRPr/>
          </a:p>
          <a:p>
            <a:r>
              <a:t>Point at the VIX near 14.85. Low volatility is not the same as low risk. That is the natural bridge into planning conversations.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data stories collided last week and they point opposite directions.</a:t>
            </a:r>
          </a:p>
          <a:p>
            <a:endParaRPr/>
          </a:p>
          <a:p>
            <a:r>
              <a:t>The inflation story improved. Both CPI and PPI came in softer than expected, and that is what pushed September rate-hike odds down and let stocks finish higher. Note that core CPI at 2.5% annual is meaningfully better than the 3.4% headline - energy is doing most of the damage, and energy is still 14.7% higher than a year ago.</a:t>
            </a:r>
          </a:p>
          <a:p>
            <a:endParaRPr/>
          </a:p>
          <a:p>
            <a:r>
              <a:t>The consumer story weakened. Retail sales fell 0.6%, the worst month in over a year, and sentiment dropped to 51. Some of the retail decline is a timing shift around Amazon Prime Day, so do not overstate it - but pair it with sentiment and it is worth watching.</a:t>
            </a:r>
          </a:p>
          <a:p>
            <a:endParaRPr/>
          </a:p>
          <a:p>
            <a:r>
              <a:t>NYLIM's framing is useful here: constructive, but a narrower path forward. Use that language. It is honest without being alarming.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this quickly - the week is data-light by design, which raises the weight of each item.</a:t>
            </a:r>
          </a:p>
          <a:p>
            <a:endParaRPr/>
          </a:p>
          <a:p>
            <a:r>
              <a:t>Monday and Tuesday are housing. Mortgage rates are still elevated and both Home Depot and Lowe's report this week, so housing starts and permits on Tuesday morning set the tone for those calls.</a:t>
            </a:r>
          </a:p>
          <a:p>
            <a:endParaRPr/>
          </a:p>
          <a:p>
            <a:r>
              <a:t>Wednesday at 2 pm is the item to circle. These are the minutes from the July 28-29 meeting where the Committee held the funds rate at 3.50%-3.75% in a split decision with three dissents in favor of a hike. BofA economists caution the minutes are somewhat stale given the soft data since, but the market wants to know how many other members were leaning toward a hike and what the bar is for September.</a:t>
            </a:r>
          </a:p>
          <a:p>
            <a:endParaRPr/>
          </a:p>
          <a:p>
            <a:r>
              <a:t>Friday's flash PMIs are the freshest August data anyone will have going into Jackson Hole the following week.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retail week, and it lands three trading days after the worst retail sales print in over a year. That contrast is the story.</a:t>
            </a:r>
          </a:p>
          <a:p>
            <a:endParaRPr/>
          </a:p>
          <a:p>
            <a:r>
              <a:t>Home Depot Tuesday and Lowe's Wednesday are the housing read. Oppenheimer's Brian Nagel is below consensus on Home Depot at $4.66 and warns against expecting green shoots in home improvement while mortgage rates stay high.</a:t>
            </a:r>
          </a:p>
          <a:p>
            <a:endParaRPr/>
          </a:p>
          <a:p>
            <a:r>
              <a:t>Walmart Thursday is the one that matters most. Jefferies expects an in-line quarter and flags improving e-commerce margins and advertising revenue as underappreciated. Walmart tells you whether households are trading down, and trading down usually shows up in Walmart's numbers before it shows up anywhere else.</a:t>
            </a:r>
          </a:p>
          <a:p>
            <a:endParaRPr/>
          </a:p>
          <a:p>
            <a:r>
              <a:t>One structural note worth mentioning: Reddit joins the S&amp;P 500 this week. Index inclusion drives mechanical buying and is not a fundamental signal.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sure the room understands the direction of the debate, because it is the opposite of what most clients assume. The dissents at the July meeting were in favor of raising rates, not cutting. Inflation at 3.4% headline with a funds rate of 3.50%-3.75% leaves very little real cushion.</a:t>
            </a:r>
          </a:p>
          <a:p>
            <a:endParaRPr/>
          </a:p>
          <a:p>
            <a:r>
              <a:t>Soft data since July has taken the September hike largely off the table, but "off the table" is not the same as "cuts are coming."</a:t>
            </a:r>
          </a:p>
          <a:p>
            <a:endParaRPr/>
          </a:p>
          <a:p>
            <a:r>
              <a:t>The practical point for agents: an environment where rates stay higher for longer is a good environment to talk about guaranteed accumulation and guaranteed income. Do not sell fear about the Fed. Sell the value of certainty in a plan when the rate path is genuinely uncertain.</a:t>
            </a:r>
          </a:p>
          <a:p>
            <a:endParaRPr/>
          </a:p>
          <a:p>
            <a:r>
              <a:t>NYLIM's Global Market Strategy team published "Steeper Curves, Building Risks" - worth reading before client conversations this week.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"why should I care" slide for clients who only see the S&amp;P number.</a:t>
            </a:r>
          </a:p>
          <a:p>
            <a:endParaRPr/>
          </a:p>
          <a:p>
            <a:r>
              <a:t>Point one: for most of 2026 the rally was narrow and technology-led. Last week small caps led by a wide margin and set a record. Broader participation is a healthier market structure.</a:t>
            </a:r>
          </a:p>
          <a:p>
            <a:endParaRPr/>
          </a:p>
          <a:p>
            <a:r>
              <a:t>Point two: relative sector strength shifted - technology stayed first, financials moved to second, health care to third, industrials entered the top five, and energy fell from second to sixth as oil prices eased.</a:t>
            </a:r>
          </a:p>
          <a:p>
            <a:endParaRPr/>
          </a:p>
          <a:p>
            <a:r>
              <a:t>Point three: the consumer is the open question. Retail sales fell 0.6% and sentiment dropped to 51 right before five major retailers report. That is the tension to watch this week.</a:t>
            </a:r>
          </a:p>
          <a:p>
            <a:endParaRPr/>
          </a:p>
          <a:p>
            <a:r>
              <a:t>Close with the diversification line. It is the single most useful thing an agent can say about last week.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as a script. Read it close to verbatim if that helps - it is written for clients, not for professionals.</a:t>
            </a:r>
          </a:p>
          <a:p>
            <a:endParaRPr/>
          </a:p>
          <a:p>
            <a:r>
              <a:t>Keep the tone calm and specific. Clients do not need index levels. They need three things: what happened, what it means for their money, and what we are watching next.</a:t>
            </a:r>
          </a:p>
          <a:p>
            <a:endParaRPr/>
          </a:p>
          <a:p>
            <a:r>
              <a:t>The most important line is the fifth one. When a client hears "rates are staying high," the instinctive reaction is anxiety. Reframe it: for someone whose plan includes guaranteed accumulation or guaranteed income, a higher rate environment is not a threat.</a:t>
            </a:r>
          </a:p>
          <a:p>
            <a:endParaRPr/>
          </a:p>
          <a:p>
            <a:r>
              <a:t>Do not promise a market direction. Do not editorialize about the Fed. Stay on the data.</a:t>
            </a:r>
          </a:p>
          <a:p>
            <a:endParaRPr/>
          </a:p>
          <a:p>
            <a:r>
              <a:t>Suggested close: "Nothing that happened last week is a reason to change your plan. If anything changed in your life, that is the reason to call me."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defRPr/>
            </a:pPr>
            <a:r>
              <a:rPr lang="en-US" b="1"/>
              <a:t>New Org Section: </a:t>
            </a:r>
            <a:r>
              <a:rPr lang="en-US"/>
              <a:t>For SPs and Partners presenting to </a:t>
            </a:r>
            <a:r>
              <a:rPr lang="en-US" b="1"/>
              <a:t>New Org agents</a:t>
            </a:r>
            <a:r>
              <a:rPr lang="en-US"/>
              <a:t>. These slides are visible to EPs and MPs.</a:t>
            </a:r>
            <a:endParaRPr lang="en-US" b="1"/>
          </a:p>
          <a:p>
            <a:endParaRPr lang="en-US"/>
          </a:p>
        </p:txBody>
      </p:sp>
      <p:sp>
        <p:nvSpPr>
          <p:cNvPr id="4" name="Slide Number Placeholder 3"/>
          <p:cNvSpPr>
            <a:spLocks noGrp="1"/>
          </p:cNvSpPr>
          <p:nvPr>
            <p:ph type="sldNum" sz="quarter" idx="5"/>
          </p:nvPr>
        </p:nvSpPr>
        <p:spPr/>
        <p:txBody>
          <a:bodyPr/>
          <a:lstStyle/>
          <a:p>
            <a:fld id="{B8F2EEE2-46E2-47E5-8287-018A51779D44}" type="slidenum">
              <a:rPr lang="en-US" smtClean="0"/>
              <a:t>11</a:t>
            </a:fld>
            <a:endParaRPr lang="en-US"/>
          </a:p>
        </p:txBody>
      </p:sp>
    </p:spTree>
    <p:extLst>
      <p:ext uri="{BB962C8B-B14F-4D97-AF65-F5344CB8AC3E}">
        <p14:creationId xmlns:p14="http://schemas.microsoft.com/office/powerpoint/2010/main" val="3982663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New riders expand AD126 SVUL Accumulator 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rial" panose="020B0604020202020204" pitchFamily="34" charset="0"/>
                <a:cs typeface="Arial" panose="020B0604020202020204" pitchFamily="34" charset="0"/>
              </a:rPr>
              <a:t>Beginning </a:t>
            </a:r>
            <a:r>
              <a:rPr lang="en-US" b="0">
                <a:latin typeface="Arial" panose="020B0604020202020204" pitchFamily="34" charset="0"/>
                <a:cs typeface="Arial" panose="020B0604020202020204" pitchFamily="34" charset="0"/>
              </a:rPr>
              <a:t>August 8, 2026, </a:t>
            </a:r>
            <a:r>
              <a:rPr lang="en-US" b="1">
                <a:latin typeface="Arial" panose="020B0604020202020204" pitchFamily="34" charset="0"/>
                <a:cs typeface="Arial" panose="020B0604020202020204" pitchFamily="34" charset="0"/>
              </a:rPr>
              <a:t>AD126 SVUL Accumulator II</a:t>
            </a:r>
            <a:r>
              <a:rPr lang="en-US">
                <a:latin typeface="Arial" panose="020B0604020202020204" pitchFamily="34" charset="0"/>
                <a:cs typeface="Arial" panose="020B0604020202020204" pitchFamily="34" charset="0"/>
              </a:rPr>
              <a:t> will offer two new riders that enhance its value for estate and legacy planning. The Extended No Lapse Guarantee Rider provides long-term death benefit guarantees through age 105 or 121 and includes a limited opportunity for eligible inforce policies to add the rider through September 8. The Estate Protection Rider will also be available on new policies, providing additional death benefit protection during the first four policy years. Additional details and resources are available on Info Central.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 </a:t>
            </a:r>
            <a:r>
              <a:rPr lang="en-US">
                <a:latin typeface="Arial" panose="020B0604020202020204" pitchFamily="34" charset="0"/>
                <a:cs typeface="Arial" panose="020B0604020202020204" pitchFamily="34" charset="0"/>
              </a:rPr>
              <a:t>PLAN@newyorklife.com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Info Central page: </a:t>
            </a:r>
            <a:r>
              <a:rPr lang="en-US">
                <a:latin typeface="Arial" panose="020B0604020202020204" pitchFamily="34" charset="0"/>
                <a:cs typeface="Arial" panose="020B0604020202020204" pitchFamily="34" charset="0"/>
              </a:rPr>
              <a:t>https://www.today.newyorklife.com/agencyportal/s/article/New-Extended-No-Lapse-Guarantee-Rider-Launching-on-AD126-SVUL-Accumulator-II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12% DCA Rate Info Central page: </a:t>
            </a:r>
            <a:r>
              <a:rPr lang="en-US" b="0">
                <a:latin typeface="Arial" panose="020B0604020202020204" pitchFamily="34" charset="0"/>
                <a:ea typeface="Calibri"/>
                <a:cs typeface="Arial" panose="020B0604020202020204" pitchFamily="34" charset="0"/>
              </a:rPr>
              <a:t>https://www.today.newyorklife.com/agencyportal/s/article/Limited-Time-12-DCA-Rates-for-VA-and-VUL</a:t>
            </a:r>
            <a:endParaRPr lang="en-US" b="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9679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4547D-BD93-27D0-797F-1FA430637B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77DBF-3711-DB01-FC9C-327AC5BBB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A372D-1873-8DDC-0261-1EE34E4ACB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Don’t miss the next Advanced Life Sales Series webinar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Join us for the next installment of the Advanced Life Sales Series, featuring planning strategies and considerations for working with business owners.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Additional details and speakers will be announced soon.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https://nylife.zoom.us/webinar/register/WN_FF6BT7-AS4Sf9qKgXgSYvQ#/registration</a:t>
            </a:r>
          </a:p>
        </p:txBody>
      </p:sp>
      <p:sp>
        <p:nvSpPr>
          <p:cNvPr id="4" name="Slide Number Placeholder 3">
            <a:extLst>
              <a:ext uri="{FF2B5EF4-FFF2-40B4-BE49-F238E27FC236}">
                <a16:creationId xmlns:a16="http://schemas.microsoft.com/office/drawing/2014/main" id="{23F179D3-EA15-A06C-4CFB-817AF8D83A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3273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September National PLAN Webinar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Date: Wednesday, September 2, 2026</a:t>
            </a:r>
            <a:br>
              <a:rPr kumimoji="0" lang="en-US" sz="1200" b="0" i="0" u="none" strike="noStrike" kern="1200" cap="none" spc="0" normalizeH="0" baseline="0" noProof="0">
                <a:ln>
                  <a:noFill/>
                </a:ln>
                <a:solidFill>
                  <a:srgbClr val="FFFFFF"/>
                </a:solidFill>
                <a:effectLst/>
                <a:uLnTx/>
                <a:uFillTx/>
                <a:latin typeface="Arial"/>
                <a:ea typeface="+mn-ea"/>
                <a:cs typeface="+mn-cs"/>
              </a:rPr>
            </a:br>
            <a:r>
              <a:rPr kumimoji="0" lang="en-US" sz="1200" b="1" i="0" u="none" strike="noStrike" kern="1200" cap="none" spc="0" normalizeH="0" baseline="0" noProof="0">
                <a:ln>
                  <a:noFill/>
                </a:ln>
                <a:solidFill>
                  <a:srgbClr val="FFFFFF"/>
                </a:solidFill>
                <a:effectLst/>
                <a:uLnTx/>
                <a:uFillTx/>
                <a:latin typeface="Arial"/>
                <a:ea typeface="+mn-ea"/>
                <a:cs typeface="+mn-cs"/>
              </a:rPr>
              <a:t>Time: 2:00 p.m. ET</a:t>
            </a: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a:latin typeface="Arial" panose="020B0604020202020204" pitchFamily="34" charset="0"/>
                <a:ea typeface="Calibri"/>
                <a:cs typeface="Arial" panose="020B0604020202020204" pitchFamily="34" charset="0"/>
              </a:rPr>
              <a:t>In recognition of Life Insurance Awareness Month, join </a:t>
            </a:r>
            <a:r>
              <a:rPr lang="en-US" b="1">
                <a:latin typeface="Arial" panose="020B0604020202020204" pitchFamily="34" charset="0"/>
                <a:ea typeface="Calibri"/>
                <a:cs typeface="Arial" panose="020B0604020202020204" pitchFamily="34" charset="0"/>
              </a:rPr>
              <a:t>John Egan </a:t>
            </a:r>
            <a:r>
              <a:rPr lang="en-US" b="0">
                <a:latin typeface="Arial" panose="020B0604020202020204" pitchFamily="34" charset="0"/>
                <a:ea typeface="Calibri"/>
                <a:cs typeface="Arial" panose="020B0604020202020204" pitchFamily="34" charset="0"/>
              </a:rPr>
              <a:t>and President’s Council agent </a:t>
            </a:r>
            <a:r>
              <a:rPr lang="en-US" b="1">
                <a:latin typeface="Arial" panose="020B0604020202020204" pitchFamily="34" charset="0"/>
                <a:ea typeface="Calibri"/>
                <a:cs typeface="Arial" panose="020B0604020202020204" pitchFamily="34" charset="0"/>
              </a:rPr>
              <a:t>Maria Jimenez</a:t>
            </a:r>
            <a:r>
              <a:rPr lang="en-US" b="0">
                <a:latin typeface="Arial" panose="020B0604020202020204" pitchFamily="34" charset="0"/>
                <a:ea typeface="Calibri"/>
                <a:cs typeface="Arial" panose="020B0604020202020204" pitchFamily="34" charset="0"/>
              </a:rPr>
              <a:t>, the company’s top case writer, for a practical conversation focused on improving case rate. Hear how Maria approaches Whole Life conversations, positions the value with clients, and connects the solution to their needs.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ea typeface="Calibri"/>
                <a:cs typeface="Arial" panose="020B0604020202020204" pitchFamily="34" charset="0"/>
              </a:rPr>
              <a:t>Contact:</a:t>
            </a:r>
            <a:r>
              <a:rPr lang="en-US">
                <a:latin typeface="Arial" panose="020B0604020202020204" pitchFamily="34" charset="0"/>
                <a:ea typeface="Calibri"/>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https://nylife.zoom.us/webinar/register/2417863690902/WN_uW9yHbM3RMqv7UMXimh5AA#/registration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2338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Life Fundamentals Series</a:t>
            </a:r>
          </a:p>
          <a:p>
            <a:endParaRPr lang="en-US" b="1">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The 3Q Life Fundamentals Series is a seven-session program designed to build confidence and strengthen foundational life insurance knowledge. Sessions are held every </a:t>
            </a:r>
            <a:r>
              <a:rPr lang="en-US" b="1">
                <a:latin typeface="Arial" panose="020B0604020202020204" pitchFamily="34" charset="0"/>
                <a:cs typeface="Arial" panose="020B0604020202020204" pitchFamily="34" charset="0"/>
              </a:rPr>
              <a:t>Tuesday at 1:00 PM ET </a:t>
            </a:r>
            <a:r>
              <a:rPr lang="en-US">
                <a:latin typeface="Arial" panose="020B0604020202020204" pitchFamily="34" charset="0"/>
                <a:cs typeface="Arial" panose="020B0604020202020204" pitchFamily="34" charset="0"/>
              </a:rPr>
              <a:t>and cover key product concepts, sales strategies, and practical applications across the life insurance portfolio.</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Led by product experts, the series is open to agents and managers looking to expand their product expertise and enhance client conversations. Each session is 60 minutes, and registration is available through the QR code.</a:t>
            </a:r>
          </a:p>
          <a:p>
            <a:endParaRPr lang="en-US">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a:latin typeface="Arial" panose="020B0604020202020204" pitchFamily="34" charset="0"/>
                <a:cs typeface="Arial" panose="020B0604020202020204" pitchFamily="34" charset="0"/>
              </a:rPr>
              <a:t>Contact: </a:t>
            </a:r>
            <a:r>
              <a:rPr lang="en-US" b="0">
                <a:latin typeface="Arial" panose="020B0604020202020204" pitchFamily="34" charset="0"/>
                <a:cs typeface="Arial" panose="020B0604020202020204" pitchFamily="34" charset="0"/>
              </a:rPr>
              <a:t>PLAN@newyorklife.com</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https://nylife.zoom.us/webinar/register/WN_4__InmH2QIqT5801tAJuKg</a:t>
            </a:r>
          </a:p>
          <a:p>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panose="020B0604020202020204" pitchFamily="34" charset="0"/>
                <a:cs typeface="Arial" panose="020B0604020202020204" pitchFamily="34" charset="0"/>
              </a:rPr>
              <a:t>3Q 2026 Registered Rep </a:t>
            </a:r>
            <a:r>
              <a:rPr lang="en-US" b="1" err="1">
                <a:latin typeface="Arial" panose="020B0604020202020204" pitchFamily="34" charset="0"/>
                <a:cs typeface="Arial" panose="020B0604020202020204" pitchFamily="34" charset="0"/>
              </a:rPr>
              <a:t>MasterClass</a:t>
            </a:r>
            <a:r>
              <a:rPr lang="en-US" b="1">
                <a:latin typeface="Arial" panose="020B0604020202020204" pitchFamily="34" charset="0"/>
                <a:cs typeface="Arial" panose="020B0604020202020204" pitchFamily="34" charset="0"/>
              </a:rPr>
              <a:t> </a:t>
            </a:r>
          </a:p>
          <a:p>
            <a:endParaRPr lang="en-US" b="1">
              <a:latin typeface="Arial" panose="020B0604020202020204" pitchFamily="34" charset="0"/>
              <a:cs typeface="Arial" panose="020B0604020202020204" pitchFamily="34" charset="0"/>
            </a:endParaRPr>
          </a:p>
          <a:p>
            <a:r>
              <a:rPr lang="en-US" b="0">
                <a:latin typeface="Arial" panose="020B0604020202020204" pitchFamily="34" charset="0"/>
                <a:cs typeface="Arial" panose="020B0604020202020204" pitchFamily="34" charset="0"/>
              </a:rPr>
              <a:t>Starting Tuesday July 14 at 3pm EST running for 10 weeks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Contact: </a:t>
            </a:r>
            <a:r>
              <a:rPr lang="en-US" b="0">
                <a:latin typeface="Arial" panose="020B0604020202020204" pitchFamily="34" charset="0"/>
                <a:cs typeface="Arial" panose="020B0604020202020204" pitchFamily="34" charset="0"/>
              </a:rPr>
              <a:t>PLAN@newyorklife.com</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Registration link: </a:t>
            </a:r>
            <a:r>
              <a:rPr lang="en-US">
                <a:latin typeface="Arial" panose="020B0604020202020204" pitchFamily="34" charset="0"/>
                <a:cs typeface="Arial" panose="020B0604020202020204" pitchFamily="34" charset="0"/>
              </a:rPr>
              <a:t>https://nylife.zoom.us/webinar/register/WN_Wm0kOIhQTUG-ZypKnrJrVQ#/registration</a:t>
            </a:r>
          </a:p>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239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2DEA0-C447-52D5-9C44-BC2BD42B7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A885F-7920-0FFB-02C4-8B348022C61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9F0A6D-D052-2B0B-EBB0-B36A6225CB4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 -- --</a:t>
            </a:r>
            <a:endParaRPr lang="en-US" sz="1200" b="1" kern="1200">
              <a:solidFill>
                <a:schemeClr val="tx1"/>
              </a:solidFill>
              <a:effectLst/>
              <a:latin typeface="+mn-lt"/>
              <a:ea typeface="+mn-ea"/>
              <a:cs typeface="+mn-cs"/>
            </a:endParaRPr>
          </a:p>
          <a:p>
            <a:r>
              <a:rPr lang="en-US" sz="1200" b="1" kern="1200">
                <a:solidFill>
                  <a:schemeClr val="tx1"/>
                </a:solidFill>
                <a:effectLst/>
                <a:latin typeface="+mn-lt"/>
                <a:ea typeface="+mn-ea"/>
                <a:cs typeface="+mn-cs"/>
              </a:rPr>
              <a:t>AAMU Strong: Mentorship &amp; Collaboration </a:t>
            </a:r>
          </a:p>
          <a:p>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lvl="0" indent="0" defTabSz="914400" fontAlgn="auto">
              <a:spcBef>
                <a:spcPts val="0"/>
              </a:spcBef>
              <a:spcAft>
                <a:spcPts val="0"/>
              </a:spcAft>
              <a:buNone/>
              <a:defRPr/>
            </a:pPr>
            <a:r>
              <a:rPr lang="en-US" sz="1200"/>
              <a:t>Learn about one of the most powerful tools to successful collaboration. New York Life now has many different forms of relationships agents can form from Mentorships to formalized Teams.</a:t>
            </a:r>
          </a:p>
          <a:p>
            <a:pPr marL="0" lvl="0" indent="0" defTabSz="914400" fontAlgn="auto">
              <a:spcBef>
                <a:spcPts val="0"/>
              </a:spcBef>
              <a:spcAft>
                <a:spcPts val="0"/>
              </a:spcAft>
              <a:buNone/>
              <a:defRPr/>
            </a:pPr>
            <a:endParaRPr lang="en-US" sz="1200"/>
          </a:p>
          <a:p>
            <a:r>
              <a:rPr lang="en-US" sz="1200" i="0" kern="1200">
                <a:solidFill>
                  <a:schemeClr val="tx1"/>
                </a:solidFill>
                <a:effectLst/>
                <a:latin typeface="+mn-lt"/>
                <a:ea typeface="+mn-ea"/>
                <a:cs typeface="+mn-cs"/>
              </a:rPr>
              <a:t>Guest:  Jenna Jernigan, Agent Collaboration and Partnership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Contact: </a:t>
            </a:r>
            <a:r>
              <a:rPr lang="en-US" sz="1200" b="0"/>
              <a:t>africanamericanmarket@newyorklife.com</a:t>
            </a:r>
            <a:br>
              <a:rPr lang="en-US" sz="1200">
                <a:cs typeface="+mn-lt"/>
              </a:rPr>
            </a:br>
            <a:r>
              <a:rPr lang="en-US" sz="1200" b="1"/>
              <a:t>Registration: </a:t>
            </a:r>
            <a:r>
              <a:rPr lang="en-US" sz="1200" b="0"/>
              <a:t>https://nylife.zoom.us/meeting/register/XQiOaW_ESyiCmTwOsLKtVw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a:ea typeface="Calibri"/>
              <a:cs typeface="Calibri"/>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 -- --</a:t>
            </a:r>
          </a:p>
          <a:p>
            <a:r>
              <a:rPr lang="en-US" sz="1200" b="1" kern="1200">
                <a:solidFill>
                  <a:schemeClr val="tx1"/>
                </a:solidFill>
                <a:effectLst/>
                <a:latin typeface="+mn-lt"/>
                <a:ea typeface="+mn-ea"/>
                <a:cs typeface="+mn-cs"/>
              </a:rPr>
              <a:t>Korean Market Agents Resource Lab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Monthly in-language training and development hour on tools and resources followed by Q&amp;A</a:t>
            </a:r>
          </a:p>
          <a:p>
            <a:pPr marL="0" marR="0" lvl="0" indent="0" algn="l" defTabSz="914400" rtl="0" eaLnBrk="1" fontAlgn="ctr" latinLnBrk="0" hangingPunct="1">
              <a:lnSpc>
                <a:spcPct val="100000"/>
              </a:lnSpc>
              <a:spcBef>
                <a:spcPts val="0"/>
              </a:spcBef>
              <a:spcAft>
                <a:spcPts val="0"/>
              </a:spcAft>
              <a:buClrTx/>
              <a:buSzTx/>
              <a:buFontTx/>
              <a:buNone/>
              <a:tabLst/>
              <a:defRPr/>
            </a:pPr>
            <a:endParaRPr lang="en-US" sz="1200">
              <a:ea typeface="Calibri"/>
              <a:cs typeface="Calibri"/>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br>
              <a:rPr lang="en-US" sz="1200">
                <a:cs typeface="+mn-lt"/>
              </a:rPr>
            </a:br>
            <a:r>
              <a:rPr lang="en-US" sz="1200" b="1"/>
              <a:t>Registration:</a:t>
            </a:r>
            <a:r>
              <a:rPr lang="en-US" sz="1200" b="0">
                <a:ea typeface="Calibri"/>
                <a:cs typeface="Calibri"/>
              </a:rPr>
              <a:t> https://nylife.zoom.us/meeting/register/Xo5x6s4hShq4FiHBPSzXpw</a:t>
            </a:r>
            <a:endParaRPr lang="en-US" sz="1200" b="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Submitted by: John Macchia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a typeface="Calibri"/>
                <a:cs typeface="Calibri"/>
              </a:rPr>
              <a:t>-- -- --</a:t>
            </a:r>
          </a:p>
          <a:p>
            <a:pPr fontAlgn="ctr" latinLnBrk="0"/>
            <a:r>
              <a:rPr lang="en-US" sz="1200" b="1" i="0" u="none" strike="noStrike" kern="1200">
                <a:solidFill>
                  <a:schemeClr val="tx1"/>
                </a:solidFill>
                <a:effectLst/>
                <a:latin typeface="+mn-lt"/>
                <a:ea typeface="+mn-ea"/>
                <a:cs typeface="+mn-cs"/>
              </a:rPr>
              <a:t>South Asian Market Key to Success</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(for New Org, </a:t>
            </a:r>
            <a:r>
              <a:rPr lang="en-US" sz="1200" kern="1200" err="1">
                <a:solidFill>
                  <a:schemeClr val="tx1"/>
                </a:solidFill>
                <a:effectLst/>
                <a:latin typeface="+mn-lt"/>
                <a:ea typeface="+mn-ea"/>
                <a:cs typeface="+mn-cs"/>
              </a:rPr>
              <a:t>Estab</a:t>
            </a:r>
            <a:r>
              <a:rPr lang="en-US" sz="1200" kern="1200">
                <a:solidFill>
                  <a:schemeClr val="tx1"/>
                </a:solidFill>
                <a:effectLst/>
                <a:latin typeface="+mn-lt"/>
                <a:ea typeface="+mn-ea"/>
                <a:cs typeface="+mn-cs"/>
              </a:rPr>
              <a:t> and Second Line Managers)</a:t>
            </a:r>
            <a:endParaRPr lang="en-US" sz="1200" b="1" i="0" u="none" strike="noStrike" kern="1200">
              <a:solidFill>
                <a:schemeClr val="tx1"/>
              </a:solidFill>
              <a:effectLst/>
              <a:latin typeface="+mn-lt"/>
              <a:ea typeface="+mn-ea"/>
              <a:cs typeface="+mn-cs"/>
            </a:endParaRPr>
          </a:p>
          <a:p>
            <a:pPr fontAlgn="ctr" latinLnBrk="0"/>
            <a:endParaRPr lang="en-US" sz="1200" b="1" i="0" u="none" strike="noStrike" kern="1200">
              <a:solidFill>
                <a:schemeClr val="tx1"/>
              </a:solidFill>
              <a:effectLst/>
              <a:latin typeface="+mn-lt"/>
              <a:ea typeface="+mn-ea"/>
              <a:cs typeface="+mn-cs"/>
            </a:endParaRPr>
          </a:p>
          <a:p>
            <a:pPr fontAlgn="ctr" latinLnBrk="0"/>
            <a:r>
              <a:rPr lang="en-US" sz="1200" b="0" i="0" kern="1200">
                <a:solidFill>
                  <a:schemeClr val="tx1"/>
                </a:solidFill>
                <a:effectLst/>
                <a:latin typeface="+mn-lt"/>
                <a:ea typeface="+mn-ea"/>
                <a:cs typeface="+mn-cs"/>
              </a:rPr>
              <a:t>Webinar designed to empower agents with actionable strategies, industry insights and opportunities to elevate their business.</a:t>
            </a:r>
          </a:p>
          <a:p>
            <a:pPr fontAlgn="ctr" latinLnBrk="0"/>
            <a:endParaRPr lang="en-US" sz="1200" b="1" i="0" kern="1200">
              <a:solidFill>
                <a:schemeClr val="tx1"/>
              </a:solidFill>
              <a:effectLst/>
              <a:latin typeface="+mn-lt"/>
              <a:ea typeface="+mn-ea"/>
              <a:cs typeface="+mn-cs"/>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a:t>Contact: </a:t>
            </a:r>
            <a:r>
              <a:rPr lang="en-US" sz="1200" kern="1200">
                <a:solidFill>
                  <a:schemeClr val="tx1"/>
                </a:solidFill>
                <a:effectLst/>
                <a:latin typeface="+mn-lt"/>
                <a:ea typeface="Geneva" charset="0"/>
                <a:cs typeface="Geneva" charset="0"/>
              </a:rPr>
              <a:t>targetmarkets@newyorklife.com</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a:solidFill>
                  <a:schemeClr val="tx1"/>
                </a:solidFill>
                <a:effectLst/>
                <a:latin typeface="+mn-lt"/>
                <a:ea typeface="Geneva" charset="0"/>
              </a:rPr>
              <a:t>Registration: </a:t>
            </a:r>
            <a:r>
              <a:rPr lang="en-US" sz="1200" b="0" kern="1200">
                <a:solidFill>
                  <a:schemeClr val="tx1"/>
                </a:solidFill>
                <a:effectLst/>
                <a:latin typeface="+mn-lt"/>
                <a:ea typeface="Geneva" charset="0"/>
              </a:rPr>
              <a:t>https://nylife.zoom.us/webinar/register/WN_f3aeTgdpSBuor2kFCC1CoA</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1200">
                <a:ea typeface="Calibri"/>
                <a:cs typeface="Calibri"/>
              </a:rPr>
              <a:t>Submitted by: John Macchia</a:t>
            </a:r>
          </a:p>
        </p:txBody>
      </p:sp>
      <p:sp>
        <p:nvSpPr>
          <p:cNvPr id="4" name="Slide Number Placeholder 3">
            <a:extLst>
              <a:ext uri="{FF2B5EF4-FFF2-40B4-BE49-F238E27FC236}">
                <a16:creationId xmlns:a16="http://schemas.microsoft.com/office/drawing/2014/main" id="{3C2BFE04-EE13-3BD5-AE80-0EF5B654A8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5F9CFDD-3617-F247-94E7-B6D03232F67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71006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Hello, IPT will be doing a 4 part series on Morningstar.  The first will feature a basic walkthrough and the rest of the sessions will focus around using Morningstar as a sales tool.  Please email </a:t>
            </a:r>
            <a:r>
              <a:rPr lang="en-US" dirty="0">
                <a:hlinkClick r:id="rId3"/>
              </a:rPr>
              <a:t>ipt@newyorklife.com</a:t>
            </a:r>
            <a:r>
              <a:rPr lang="en-US" dirty="0"/>
              <a:t> for questions.</a:t>
            </a:r>
          </a:p>
          <a:p>
            <a:br>
              <a:rPr lang="en-US" dirty="0"/>
            </a:br>
            <a:r>
              <a:rPr lang="en-US" dirty="0"/>
              <a:t>Here is the zoom link: https://nylife.zoom.us/webinar/register/WN_T41aXq9TSn6kRa619U-Vxg#/registration</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solidFill>
                  <a:schemeClr val="bg1"/>
                </a:solidFill>
              </a:rPr>
              <a:t>One on One Sessions: https://calendly.com/d/cmvp-63d-k47/morningstar-ipt-support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Geneva" pitchFamily="-109"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Geneva" pitchFamily="-109" charset="-128"/>
              <a:cs typeface="+mn-cs"/>
            </a:endParaRPr>
          </a:p>
        </p:txBody>
      </p:sp>
    </p:spTree>
    <p:extLst>
      <p:ext uri="{BB962C8B-B14F-4D97-AF65-F5344CB8AC3E}">
        <p14:creationId xmlns:p14="http://schemas.microsoft.com/office/powerpoint/2010/main" val="4192228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F954F-8530-20DA-6558-A2D7093166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A366B-0E10-23E1-2001-515701423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69A846-F4F6-92D2-05BE-A50C8CB2DF7A}"/>
              </a:ext>
            </a:extLst>
          </p:cNvPr>
          <p:cNvSpPr>
            <a:spLocks noGrp="1"/>
          </p:cNvSpPr>
          <p:nvPr>
            <p:ph type="body" idx="1"/>
          </p:nvPr>
        </p:nvSpPr>
        <p:spPr/>
        <p:txBody>
          <a:bodyPr/>
          <a:lstStyle/>
          <a:p>
            <a:r>
              <a:rPr lang="en-US" b="1">
                <a:latin typeface="Arial" panose="020B0604020202020204" pitchFamily="34" charset="0"/>
                <a:cs typeface="Arial" panose="020B0604020202020204" pitchFamily="34" charset="0"/>
              </a:rPr>
              <a:t>See what’s new with Asset Flex AD126</a:t>
            </a:r>
          </a:p>
          <a:p>
            <a:endParaRPr lang="en-US" b="1">
              <a:latin typeface="Arial" panose="020B0604020202020204" pitchFamily="34" charset="0"/>
              <a:cs typeface="Arial" panose="020B0604020202020204" pitchFamily="34" charset="0"/>
            </a:endParaRPr>
          </a:p>
          <a:p>
            <a:r>
              <a:rPr lang="en-US" b="0">
                <a:latin typeface="Arial" panose="020B0604020202020204" pitchFamily="34" charset="0"/>
                <a:cs typeface="Arial" panose="020B0604020202020204" pitchFamily="34" charset="0"/>
              </a:rPr>
              <a:t>Asset Flex AD126 is now available with added flexibility for clients, including a new indemnity cash benefit option alongside the existing reimbursement option. Reimbursement pricing has also improved in approximately 85% of scenarios. Encourage your team to watch the new video and use the resources on Info Central to get familiar with the enhancements and support client conversations.</a:t>
            </a:r>
          </a:p>
          <a:p>
            <a:endParaRPr lang="en-US" b="1">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 and video:</a:t>
            </a:r>
            <a:r>
              <a:rPr lang="en-US">
                <a:latin typeface="Arial" panose="020B0604020202020204" pitchFamily="34" charset="0"/>
                <a:cs typeface="Arial" panose="020B0604020202020204" pitchFamily="34" charset="0"/>
              </a:rPr>
              <a:t> https://www.today.newyorklife.com/agencyportal/s/article/Asset-Flex-AD126-launches-with-added-benefit-option-and-improved-reimbursement-pricing</a:t>
            </a:r>
          </a:p>
          <a:p>
            <a:endParaRPr 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CA9514E-2030-5A8D-3590-2C564FCE82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870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1C798-0E53-C628-0E78-8CDE244C06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10D6A-48D4-11B2-AD7D-70EC882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1B919-60C6-9C77-36EF-BA342ADB6B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CA5066-8F79-27CF-EEDB-8C3F26185132}"/>
              </a:ext>
            </a:extLst>
          </p:cNvPr>
          <p:cNvSpPr>
            <a:spLocks noGrp="1"/>
          </p:cNvSpPr>
          <p:nvPr>
            <p:ph type="sldNum" sz="quarter" idx="5"/>
          </p:nvPr>
        </p:nvSpPr>
        <p:spPr/>
        <p:txBody>
          <a:bodyPr/>
          <a:lstStyle/>
          <a:p>
            <a:fld id="{B8F2EEE2-46E2-47E5-8287-018A51779D44}" type="slidenum">
              <a:rPr lang="en-US" smtClean="0"/>
              <a:t>21</a:t>
            </a:fld>
            <a:endParaRPr lang="en-US"/>
          </a:p>
        </p:txBody>
      </p:sp>
    </p:spTree>
    <p:extLst>
      <p:ext uri="{BB962C8B-B14F-4D97-AF65-F5344CB8AC3E}">
        <p14:creationId xmlns:p14="http://schemas.microsoft.com/office/powerpoint/2010/main" val="559827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FE67C-D359-6C85-5493-C0C778EC2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C269D-541C-5930-875A-CBB5989F7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82AF7-067D-8589-A5DF-A9795F2535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tx1"/>
                </a:solidFill>
                <a:effectLst/>
                <a:latin typeface="Arial" panose="020B0604020202020204" pitchFamily="34" charset="0"/>
                <a:ea typeface="+mn-ea"/>
                <a:cs typeface="Arial" panose="020B0604020202020204" pitchFamily="34" charset="0"/>
              </a:rPr>
              <a:t>President's Council Beachfront Boutique Experience – Open to 2026 President’s Council agent qualifiers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Compete with your President’s Council peers during the Third Quarter of 2026 (July 1 –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tx1"/>
              </a:solidFill>
              <a:effectLst/>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who finish in the 100 on the 3Q paid insurance solution </a:t>
            </a:r>
            <a:r>
              <a:rPr lang="en-US" sz="1200" b="0">
                <a:solidFill>
                  <a:schemeClr val="bg1"/>
                </a:solidFill>
                <a:latin typeface="Arial" panose="020B0604020202020204" pitchFamily="34" charset="0"/>
                <a:cs typeface="Arial" panose="020B0604020202020204" pitchFamily="34" charset="0"/>
              </a:rPr>
              <a:t>premium leaderboard will qualify to receive a retail credit to spend at a private New York Life shopping event at the President’s Council meeting on October 6 &amp; 7.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a:solidFill>
                  <a:schemeClr val="bg1"/>
                </a:solidFill>
                <a:latin typeface="Arial" panose="020B0604020202020204" pitchFamily="34" charset="0"/>
                <a:cs typeface="Arial" panose="020B0604020202020204" pitchFamily="34" charset="0"/>
              </a:rPr>
              <a:t>The top 10 will also qualify for a premium chickee hut rental on October 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Includes Life, </a:t>
            </a:r>
            <a:r>
              <a:rPr lang="en-US" sz="1200" err="1">
                <a:latin typeface="Arial" panose="020B0604020202020204" pitchFamily="34" charset="0"/>
                <a:cs typeface="Arial" panose="020B0604020202020204" pitchFamily="34" charset="0"/>
              </a:rPr>
              <a:t>LTCi</a:t>
            </a:r>
            <a:r>
              <a:rPr lang="en-US" sz="1200">
                <a:latin typeface="Arial" panose="020B0604020202020204" pitchFamily="34" charset="0"/>
                <a:cs typeface="Arial" panose="020B0604020202020204" pitchFamily="34" charset="0"/>
              </a:rPr>
              <a:t>, and DI. Recurring base premium and riders are calculated at 100%; OPP and single premium policies are calculated at 10%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latin typeface="Arial" panose="020B0604020202020204" pitchFamily="34" charset="0"/>
                <a:cs typeface="Arial" panose="020B0604020202020204" pitchFamily="34" charset="0"/>
              </a:rPr>
              <a:t>Excludes premium from Annuity and COLI/BOLI products, DIOP and Group Insurance cases and LTC in DE state.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kern="1200">
                <a:solidFill>
                  <a:schemeClr val="tx1"/>
                </a:solidFill>
                <a:effectLst/>
                <a:latin typeface="Arial" panose="020B0604020202020204" pitchFamily="34" charset="0"/>
                <a:ea typeface="+mn-ea"/>
                <a:cs typeface="Arial" panose="020B0604020202020204" pitchFamily="34" charset="0"/>
              </a:rPr>
              <a:t>Agents must be </a:t>
            </a:r>
            <a:r>
              <a:rPr lang="en-US" sz="1200" b="0" kern="1200" err="1">
                <a:solidFill>
                  <a:schemeClr val="tx1"/>
                </a:solidFill>
                <a:effectLst/>
                <a:latin typeface="Arial" panose="020B0604020202020204" pitchFamily="34" charset="0"/>
                <a:ea typeface="+mn-ea"/>
                <a:cs typeface="Arial" panose="020B0604020202020204" pitchFamily="34" charset="0"/>
              </a:rPr>
              <a:t>prorata</a:t>
            </a:r>
            <a:r>
              <a:rPr lang="en-US" sz="1200" b="0" kern="1200">
                <a:solidFill>
                  <a:schemeClr val="tx1"/>
                </a:solidFill>
                <a:effectLst/>
                <a:latin typeface="Arial" panose="020B0604020202020204" pitchFamily="34" charset="0"/>
                <a:ea typeface="+mn-ea"/>
                <a:cs typeface="Arial" panose="020B0604020202020204" pitchFamily="34" charset="0"/>
              </a:rPr>
              <a:t> proactive by September 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experience encompasses an elevated retail shopping event with a $300 retail credit,  complete with refreshments and private access to the resort's premier ladies and gentlemen’s boutiques, </a:t>
            </a:r>
            <a:r>
              <a:rPr lang="en-US" sz="1200" b="1" kern="1200">
                <a:solidFill>
                  <a:schemeClr val="tx1"/>
                </a:solidFill>
                <a:effectLst/>
                <a:latin typeface="Arial" panose="020B0604020202020204" pitchFamily="34" charset="0"/>
                <a:ea typeface="+mn-ea"/>
                <a:cs typeface="Arial" panose="020B0604020202020204" pitchFamily="34" charset="0"/>
              </a:rPr>
              <a:t>Sweet Waters</a:t>
            </a:r>
            <a:r>
              <a:rPr lang="en-US" sz="1200" kern="1200">
                <a:solidFill>
                  <a:schemeClr val="tx1"/>
                </a:solidFill>
                <a:effectLst/>
                <a:latin typeface="Arial" panose="020B0604020202020204" pitchFamily="34" charset="0"/>
                <a:ea typeface="+mn-ea"/>
                <a:cs typeface="Arial" panose="020B0604020202020204" pitchFamily="34" charset="0"/>
              </a:rPr>
              <a:t> and </a:t>
            </a:r>
            <a:r>
              <a:rPr lang="en-US" sz="1200" b="1" kern="1200">
                <a:solidFill>
                  <a:schemeClr val="tx1"/>
                </a:solidFill>
                <a:effectLst/>
                <a:latin typeface="Arial" panose="020B0604020202020204" pitchFamily="34" charset="0"/>
                <a:ea typeface="+mn-ea"/>
                <a:cs typeface="Arial" panose="020B0604020202020204" pitchFamily="34" charset="0"/>
              </a:rPr>
              <a:t>Cross Winds</a:t>
            </a:r>
            <a:r>
              <a:rPr lang="en-US" sz="1200" kern="1200">
                <a:solidFill>
                  <a:schemeClr val="tx1"/>
                </a:solidFill>
                <a:effectLst/>
                <a:latin typeface="Arial" panose="020B0604020202020204" pitchFamily="34" charset="0"/>
                <a:ea typeface="+mn-ea"/>
                <a:cs typeface="Arial" panose="020B0604020202020204" pitchFamily="34" charset="0"/>
              </a:rPr>
              <a:t>. Browse stylish women's apparel, swimwear, and accessories from brands such as </a:t>
            </a:r>
            <a:r>
              <a:rPr lang="en-US" sz="1200" b="1" kern="1200">
                <a:solidFill>
                  <a:schemeClr val="tx1"/>
                </a:solidFill>
                <a:effectLst/>
                <a:latin typeface="Arial" panose="020B0604020202020204" pitchFamily="34" charset="0"/>
                <a:ea typeface="+mn-ea"/>
                <a:cs typeface="Arial" panose="020B0604020202020204" pitchFamily="34" charset="0"/>
              </a:rPr>
              <a:t>Lilly Pulitzer</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lululemon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Versace</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Gucci</a:t>
            </a:r>
            <a:r>
              <a:rPr lang="en-US" sz="1200" kern="1200">
                <a:solidFill>
                  <a:schemeClr val="tx1"/>
                </a:solidFill>
                <a:effectLst/>
                <a:latin typeface="Arial" panose="020B0604020202020204" pitchFamily="34" charset="0"/>
                <a:ea typeface="+mn-ea"/>
                <a:cs typeface="Arial" panose="020B0604020202020204" pitchFamily="34" charset="0"/>
              </a:rPr>
              <a:t>®, or explore the latest men's fashion and accessories from designers including </a:t>
            </a:r>
            <a:r>
              <a:rPr lang="en-US" sz="1200" b="1" kern="1200">
                <a:solidFill>
                  <a:schemeClr val="tx1"/>
                </a:solidFill>
                <a:effectLst/>
                <a:latin typeface="Arial" panose="020B0604020202020204" pitchFamily="34" charset="0"/>
                <a:ea typeface="+mn-ea"/>
                <a:cs typeface="Arial" panose="020B0604020202020204" pitchFamily="34" charset="0"/>
              </a:rPr>
              <a:t>BUGATCHI</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Tommy Bahama</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Maui Jim</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Ray-Ban</a:t>
            </a:r>
            <a:r>
              <a:rPr lang="en-US" sz="1200" kern="1200">
                <a:solidFill>
                  <a:schemeClr val="tx1"/>
                </a:solidFill>
                <a:effectLst/>
                <a:latin typeface="Arial" panose="020B0604020202020204" pitchFamily="34" charset="0"/>
                <a:ea typeface="+mn-ea"/>
                <a:cs typeface="Arial" panose="020B0604020202020204" pitchFamily="34" charset="0"/>
              </a:rPr>
              <a:t>®</a:t>
            </a:r>
            <a:r>
              <a:rPr lang="en-US" sz="1200" b="1" kern="1200">
                <a:solidFill>
                  <a:schemeClr val="tx1"/>
                </a:solidFill>
                <a:effectLst/>
                <a:latin typeface="Arial" panose="020B0604020202020204" pitchFamily="34" charset="0"/>
                <a:ea typeface="+mn-ea"/>
                <a:cs typeface="Arial" panose="020B0604020202020204" pitchFamily="34" charset="0"/>
              </a:rPr>
              <a:t>, and lululemon</a:t>
            </a:r>
            <a:r>
              <a:rPr lang="en-US" sz="1200" kern="1200">
                <a:solidFill>
                  <a:schemeClr val="tx1"/>
                </a:solidFill>
                <a:effectLst/>
                <a:latin typeface="Arial" panose="020B0604020202020204" pitchFamily="34" charset="0"/>
                <a:ea typeface="+mn-ea"/>
                <a:cs typeface="Arial" panose="020B0604020202020204" pitchFamily="34" charset="0"/>
              </a:rPr>
              <a:t>®. Personal shoppers will also be available to help agents make the most of their experience.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Arial" panose="020B0604020202020204" pitchFamily="34" charset="0"/>
                <a:ea typeface="+mn-ea"/>
                <a:cs typeface="Arial" panose="020B0604020202020204" pitchFamily="34" charset="0"/>
              </a:rPr>
              <a:t>The top 10 leaderboard agents will also qualify for a premium chickee hut rental on the JW Marriott’s breathtaking beach on Wednesday, October 7. This Balinese-inspired shaded retreat accommodates up to six guests and is ideally located between the beach and pool. Rental includes a queen daybed, chairs, and towel service.</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sz="1200" kern="1200">
                <a:solidFill>
                  <a:schemeClr val="tx1"/>
                </a:solidFill>
                <a:effectLst/>
                <a:latin typeface="Arial" panose="020B0604020202020204" pitchFamily="34" charset="0"/>
                <a:ea typeface="+mn-ea"/>
                <a:cs typeface="Arial" panose="020B0604020202020204" pitchFamily="34" charset="0"/>
              </a:rPr>
              <a:t>Qualifying agents must attend the President’s Council Meeting to receive the retail credit and chickee hut rental.</a:t>
            </a:r>
          </a:p>
          <a:p>
            <a:endParaRPr lang="en-US" sz="1200" kern="1200">
              <a:solidFill>
                <a:schemeClr val="tx1"/>
              </a:solidFill>
              <a:effectLst/>
              <a:latin typeface="Arial" panose="020B0604020202020204" pitchFamily="34" charset="0"/>
              <a:ea typeface="+mn-ea"/>
              <a:cs typeface="Arial" panose="020B0604020202020204" pitchFamily="34" charset="0"/>
            </a:endParaRPr>
          </a:p>
          <a:p>
            <a:r>
              <a:rPr lang="en-US" b="1">
                <a:latin typeface="Arial" panose="020B0604020202020204" pitchFamily="34" charset="0"/>
                <a:cs typeface="Arial" panose="020B0604020202020204" pitchFamily="34" charset="0"/>
              </a:rPr>
              <a:t>Contact:</a:t>
            </a:r>
            <a:r>
              <a:rPr lang="en-US">
                <a:latin typeface="Arial" panose="020B0604020202020204" pitchFamily="34" charset="0"/>
                <a:cs typeface="Arial" panose="020B0604020202020204" pitchFamily="34" charset="0"/>
              </a:rPr>
              <a:t> PLAN@newyorklife.com</a:t>
            </a:r>
          </a:p>
          <a:p>
            <a:endParaRPr lang="en-US">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Info Central Page:</a:t>
            </a:r>
            <a:r>
              <a:rPr lang="en-US">
                <a:latin typeface="Arial" panose="020B0604020202020204" pitchFamily="34" charset="0"/>
                <a:cs typeface="Arial" panose="020B0604020202020204" pitchFamily="34" charset="0"/>
              </a:rPr>
              <a:t> https://www.today.newyorklife.com/agencyportal/s/article/Council-Perks-President-s-Council-Beachfront-Boutique-Experience</a:t>
            </a:r>
          </a:p>
          <a:p>
            <a:endParaRPr lang="en-US"/>
          </a:p>
        </p:txBody>
      </p:sp>
      <p:sp>
        <p:nvSpPr>
          <p:cNvPr id="4" name="Slide Number Placeholder 3">
            <a:extLst>
              <a:ext uri="{FF2B5EF4-FFF2-40B4-BE49-F238E27FC236}">
                <a16:creationId xmlns:a16="http://schemas.microsoft.com/office/drawing/2014/main" id="{F7EF9496-6858-06A6-54B2-593BA4C183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F2EEE2-46E2-47E5-8287-018A51779D4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16095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Set the tone: "This isn't a theoretical economics lecture — this is about protecting your clients' wealth. Every portfolio you manage is exposed to inflation risk, and today we're going to make sure you understand exactly how and what to do about it." Ask: "By a show of hands, how many of you have had a client ask about inflation in the last 12 months?" Let them respond — this primes engagement.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Emphasize that Section 5 is the payoff — everything before builds to the action steps. Say: "By the end of this session, you'll have a concrete framework for discussing inflation with clients and specific portfolio adjustments to recommend. This isn't academic — it's practical." Total: ~45 minutes with Q&amp;A.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"Let's start with the basics — but I promise you, even the basics will surprise some of you. Inflation is not just 'prices going up.' That's a symptom, not the cause."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talking point: The distinction matters because if you think inflation IS rising prices, your only response is to track price indices. If you understand inflation is monetary, you can anticipate it by watching money supply and Fed policy — which gives you and your clients a huge edge. Ask the room: "How many of you define inflation as rising prices?" Then reveal the monetary definition.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metric briefly. Key point: CPI-U is what clients see on the news, but PCE is what the Fed actually targets. The critical insight for FAs is that NONE of these capture asset price inflation — when stocks and real estate inflate, that's inflation too, but it doesn't show up in CPI. This means the official number systematically understates what your clients actually experience. Say: "When a client says 'inflation doesn't feel like 3%,' they're not wrong. The index doesn't capture their reality."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MOMENT — Ask the room to vote: A, B, or C. Give them 10 seconds. Then reveal: The answer is C — approximately 87%. A dollar in 1971 buys roughly 13 cents worth of goods today. This is the power of compounding inflation over decades. Say: "If your clients had just held cash since 1971, they'd have lost 87% of their purchasing power. That's the stakes we're dealing with." Pause for effect.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chart. The decline is relentless and compounding. Key point: this happened during a period when the U.S. was considered the world's strongest economy. It's not a failure of growth — it's a feature of fiat currency. The 87% figure should stick in their minds. Tell the audience: "Your clients who are 'playing it safe' in cash are losing ground every single year. Not occasionally. Every year."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that we know what inflation is, let's talk about what causes it. Understanding the cause tells you how long it might last and how to position for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'causes' section. Walk through the chart slowly. Emphasize the COVID surge — 25% of all dollars ever created in a single year. The equation MV=PQ is the simplest way to understand why inflation followed: the money supply expanded far faster than real output. The 12-18 month lag is crucial — it means by the time inflation appears in CPI, the monetary cause is already in the rearview mirror. This is why watching M2 gives you a leading indicator.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driver with a brief example. The key insight for FAs: these four drivers can coexist and reinforce each other. The 2021-2023 inflation was a 'perfect storm' — demand-pull (stimulus), cost-push (supply chains + oil), monetary expansion (QE), and expectations (once people believe inflation is persistent, they behave in ways that make it persistent). Ask: "Which of these four do you think is hardest to control?" Answer: Built-in expectations — which is why the Fed watches inflation expectations so closely.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 is the single most important institution for inflation. Walk through the dual mandate and why it creates tension. Then cover each lever briefly. Key insight for FAs: The Fed's forward guidance is often more impactful than actual rate moves — markets front-run expected policy changes. This is why you need to track Fed communication, not just decisions. Ask: "How many of you have seen a client make a big portfolio move right after a Fed announcement? That's forward guidance at work — or the lack of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FISCAL DOMINANCE — the pivot of the whole session.</a:t>
            </a:r>
          </a:p>
          <a:p>
            <a:endParaRPr/>
          </a:p>
          <a:p>
            <a:r>
              <a:t>Say: "The slide before this one is the version of the Fed you learned about. This is the version that's actually operating."</a:t>
            </a:r>
          </a:p>
          <a:p>
            <a:endParaRPr/>
          </a:p>
          <a:p>
            <a:r>
              <a:t>Walk the two cards. The textbook Fed chooses between prices and jobs. The real Fed has a third constraint nobody put in the mandate: the Treasury has to be able to roll its debt. When net interest is the fastest-growing line in the federal budget, the tool you use to fight inflation is the same tool that widens the deficit that helps cause it. That's a trap, not a policy choice.</a:t>
            </a:r>
          </a:p>
          <a:p>
            <a:endParaRPr/>
          </a:p>
          <a:p>
            <a:r>
              <a:t>The middle number is the one that lands. The average rate on marketable federal debt went from 1.58% to 3.38% in five years. That's not a forecast — that's the existing debt repricing as it rolls. Every year more of the old cheap debt matures and gets refinanced at today's rate.</a:t>
            </a:r>
          </a:p>
          <a:p>
            <a:endParaRPr/>
          </a:p>
          <a:p>
            <a:r>
              <a:t>Ask the room: "If you were the Fed, and you knew every hike raised the government's largest expense — how enthusiastic would you be about holding rates high for a long time?" Let them sit with it.</a:t>
            </a:r>
          </a:p>
          <a:p>
            <a:endParaRPr/>
          </a:p>
          <a:p>
            <a:r>
              <a:t>This is Lyn Alden's framing. Worth recommending by name — Broken Money, and her monthly letter at lynalden.com. Credible, independent, no product to sell you.</a:t>
            </a:r>
          </a:p>
          <a:p>
            <a:endParaRPr/>
          </a:p>
          <a:p>
            <a:r>
              <a:t>PERSONAL HOOK (optional): This is where the LTCM story lands. 1998, I was on a commodities desk. The NY Fed pulled fourteen banks into a room and made them recapitalize a hedge fund. We were horrified — private firms forced to subsidize a competitor's leverage. I had no idea what precedent that set. Twenty-five years later the put is free, automatic, and everybody prices it in.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1940s — the most important slide in the new section.</a:t>
            </a:r>
          </a:p>
          <a:p>
            <a:endParaRPr/>
          </a:p>
          <a:p>
            <a:r>
              <a:t>Say: "Everybody in this room reaches for the 1970s when they think about inflation. I want to argue that's the wrong decade."</a:t>
            </a:r>
          </a:p>
          <a:p>
            <a:endParaRPr/>
          </a:p>
          <a:p>
            <a:r>
              <a:t>Left card: this has been done before. Debt peaked around 106% of GDP in 1946. By 1974 it was roughly 23%. Nobody defaulted. There was no austerity program. It was inflated away, deliberately, by holding nominal rates below the inflation rate for about two decades. Reinhart and Sbrancia — an NBER paper, not a newsletter — put the transfer at 3 to 4 percent of GDP per year.</a:t>
            </a:r>
          </a:p>
          <a:p>
            <a:endParaRPr/>
          </a:p>
          <a:p>
            <a:r>
              <a:t>Right card is where it gets uncomfortable. Ask: "Who paid for that?" Let them answer. The answer is bondholders and savers. They got every nominal dollar they were promised. They did not get the purchasing power.</a:t>
            </a:r>
          </a:p>
          <a:p>
            <a:endParaRPr/>
          </a:p>
          <a:p>
            <a:r>
              <a:t>Read the red line out loud and pause: "The bondholder is not a bystander here. The bondholder is the designated payer."</a:t>
            </a:r>
          </a:p>
          <a:p>
            <a:endParaRPr/>
          </a:p>
          <a:p>
            <a:r>
              <a:t>Then connect it: "The client sitting across from you with 40% in long-duration bonds because it's the 'safe' allocation — in this scenario that client isn't a victim of the mechanism. That client IS the mechanism."</a:t>
            </a:r>
          </a:p>
          <a:p>
            <a:endParaRPr/>
          </a:p>
          <a:p>
            <a:r>
              <a:t>Bottom bar is the takeaway: 1970s were cost-push, cured by Volcker at 20%. 1940s were debt-driven, cured by financial repression. Pick the wrong analog and you position for the wrong decade — waiting for a rate shock that never comes while negative real rates quietly grind the portfolio down.</a:t>
            </a:r>
          </a:p>
          <a:p>
            <a:endParaRPr/>
          </a:p>
          <a:p>
            <a:r>
              <a:t>This slide is what justifies everything in Section 5. It turns your hedges from an opinion into a response to a documented mechanism.</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ARITHMETIC — deliver this one flat. No drama. The numbers do the work.</a:t>
            </a:r>
          </a:p>
          <a:p>
            <a:endParaRPr/>
          </a:p>
          <a:p>
            <a:r>
              <a:t>Say: "I'm not going to editorialize. I'm going to read four numbers, tell you who published them, and let you decide what they mean."</a:t>
            </a:r>
          </a:p>
          <a:p>
            <a:endParaRPr/>
          </a:p>
          <a:p>
            <a:r>
              <a:t>$970B — FY2025 net interest, per the Treasury's own Monthly Treasury Statement. Nearly triple FY2020's $345B. Larger than defense. Point out: this is not a projection, it's a receipt.</a:t>
            </a:r>
          </a:p>
          <a:p>
            <a:endParaRPr/>
          </a:p>
          <a:p>
            <a:r>
              <a:t>Q4 2032 and 4.42% — both from the June 2026 Trustees Report. IMPORTANT: if anyone has read older material, the numbers moved. The 2025 report said 2033 and 77%. The current report says Q4 2032 and 78%, and the 75-year deficit widened from 3.82% to 4.42%. Always cite the current report — this is revised annually and someone will check.</a:t>
            </a:r>
          </a:p>
          <a:p>
            <a:endParaRPr/>
          </a:p>
          <a:p>
            <a:r>
              <a:t>3,220 tonnes — World Gold Council. This is the answer to the advisor with folded arms who thinks gold is a goldbug asset. The world's central banks roughly doubled their accumulation rate after 2022. The catalyst was watching Russia's reserves get frozen — sovereigns concluded that reserves held inside someone else's system aren't entirely theirs. That's a structural change in the demand curve, not a narrative.</a:t>
            </a:r>
          </a:p>
          <a:p>
            <a:endParaRPr/>
          </a:p>
          <a:p>
            <a:r>
              <a:t>The bottom bar is the professional discipline point, and it matters more than the numbers: cite the source, never the pundit. There is a whole industry selling this thesis with a subscription attached. You don't need them. Treasury, SSA and the WGC publish all of it for free, and a primary-source citation is something you can defend in any conversation.</a:t>
            </a:r>
          </a:p>
          <a:p>
            <a:endParaRPr/>
          </a:p>
          <a:p>
            <a:r>
              <a:t>If anyone asks for reading: Lyn Alden first. Lawrence Lepard for the harder-money version, with the caveat that he runs a fund positioned for exactly this outcome — read him knowing that.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COUNTERWEIGHT — do not skip this slide, even if you are running long. Cut something else.</a:t>
            </a:r>
          </a:p>
          <a:p>
            <a:endParaRPr/>
          </a:p>
          <a:p>
            <a:r>
              <a:t>Say: "I've spent fifteen minutes making a case. Now I'm going to argue against myself, and I want you to notice that I can."</a:t>
            </a:r>
          </a:p>
          <a:p>
            <a:endParaRPr/>
          </a:p>
          <a:p>
            <a:r>
              <a:t>Walk the four. Japan is the strongest: 250%+ debt to GDP for thirty years and the problem was deflation the whole time. High debt does not mechanically produce high inflation — if it did, Japan would have hyperinflated in 2005. Demographics are genuinely disinflationary and aren't reversing. Productivity: MV=PQ is an identity and it cuts both ways — if AI actually delivers, Q rises to meet M. Reserve status is real and there is no ready substitute for the Treasury market.</a:t>
            </a:r>
          </a:p>
          <a:p>
            <a:endParaRPr/>
          </a:p>
          <a:p>
            <a:r>
              <a:t>Then the point of the whole session, bottom bar. Read it slowly.</a:t>
            </a:r>
          </a:p>
          <a:p>
            <a:endParaRPr/>
          </a:p>
          <a:p>
            <a:r>
              <a:t>The allocation changes in Section 5 do not require the thesis to be right. Shortening duration, adding TIPS, holding 5-10% in real assets — defensible if inflation runs at 2%, defensible if it runs at 6%. They are diversification, not a bet. That is the difference between a fiduciary and a forecaster.</a:t>
            </a:r>
          </a:p>
          <a:p>
            <a:endParaRPr/>
          </a:p>
          <a:p>
            <a:r>
              <a:t>Say the last line and stop: "Never sell a client a prediction. Sell them a portfolio that survives being wrong."</a:t>
            </a:r>
          </a:p>
          <a:p>
            <a:endParaRPr/>
          </a:p>
          <a:p>
            <a:r>
              <a:t>Then ask: "Which of those four counterarguments do you find most persuasive?" — and actually listen. The advisor who can name the strongest objection to their own book is the one who won't blow up a client relationship when the market goes against them for eighteen months.</a:t>
            </a:r>
          </a:p>
          <a:p>
            <a:endParaRPr/>
          </a:p>
          <a:p>
            <a:r>
              <a:t>If someone pushes hard on the bear case, that's a good outcome. Tell them so.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the part that hits closest to home — how inflation actually affects the portfolios you manage every day."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it real for FAs. Walk through each asset class. Key point: cash and savings accounts have NEGATIVE real returns during inflation. That's not a small problem — that's wealth destruction. Even 10-year Treasuries barely break even in real terms. Only equities have consistently outpaced inflation. Ask: "How many of your conservative clients are in 'safe' fixed income that's losing real value every year?" Let that sink in.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your audience will photograph. Walk through both columns. The key uncomfortable truth: the standard conservative advice — move to bonds and cash as clients age — systematically destroys wealth during inflation. The 60/40 portfolio, the gold standard of wealth management, has a structural blind spot. This sets up the strategies section perfectly. Say: "Everything your clients think of as 'safe' is exactly what inflation destroys."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"Let's get specific. How does inflation actually show up in the portfolios you manage for real clients?"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MOMENT — Give them 60 seconds of silence to think. This is uncomfortable, which is the point. After the pause, ask 2-3 volunteers to share. Typical answers will include: 'Too much in long-duration bonds,' 'Over-allocated to cash,' 'No inflation hedges at all.' Use their answers to tee up the strategies section: 'Now let me show you exactly what to do about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is the payoff. Everything we've covered builds to this — the specific tools and strategies you can use to protect your clients. Let's go through each one."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TIPS are the most direct inflation hedge, but they have a critical flaw: phantom income. The IRS taxes the inflation adjustment to principal even though the investor doesn't receive it until maturity. This makes TIPS far more effective in tax-advantaged accounts. Walk through the mechanics: principal adjusts with CPI, coupon is paid on the adjusted principal. The real yield at purchase is your guaranteed real return. In taxable accounts, consider I-Bonds instead (up to $10K/year, tax-deferred).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Commodities are the most direct inflation hedge because they ARE what's inflating. When CPI goes up, it's largely because commodities went up first. Key points: energy is a leading indicator, precious metals are a monetary hedge, and broad indices are the simplest implementation. The total allocation should be 5-10% — enough to matter, not enough to dominate risk. Warn against single-commodity concentration — it's speculation, not hedging.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estate is the inflation hedge your clients already understand. The magic is in the leverage: fixed-rate debt becomes cheaper in real terms as inflation rises. Walk through the three options. REITs are the easiest to implement. Direct real estate is the most powerful but requires more capital and management. Infrastructure is underappreciated — toll roads with inflation-linked revenue are beautiful hedges. The key insight at the bottom is critical — fixed-rate debt + inflation = wealth transfer from lender to borrower.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is controversial — some FAs love it, others dismiss it. Frame it as insurance, not speculation. The key relationship is with real interest rates: when real rates go negative (nominal rate &lt; inflation), gold tends to surge. This is exactly when your clients need it most. The 'insurance framing' is the most effective way to discuss gold with skeptical clients — everyone understands paying for protection. Physical ETFs (GLD, IAU) are the cleanest implementation. Avoid gold miner stocks if the goal is pure inflation hedging — they add equity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 rate is the unsung hero of inflation protection. When rates rise to fight inflation, long-duration bonds get crushed but floating rate actually benefits — coupon payments increase. Walk through the table: a 1% rate increase destroys $20K on a $100K 20-year portfolio. That's real money. The action is simple: shorten duration and add floating rate. This is the easiest sell to conservative clients because it's still 'bonds' — just the right kind of bonds.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slide. Walk through the comparison. The traditional 60/40 has ZERO dedicated inflation hedges — it's entirely dependent on equities keeping pace. The inflation-aware portfolio allocates ~38% to assets that directly benefit from or protect against inflation. Key shifts: long bonds are replaced by a mix of TIPS, short duration, and floating rate; commodities and gold are added; REITs provide real asset exposure. Note: this is a framework, not a recommendation — customize for each client's risk tolerance and tax situation.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last slide is your takeaway. I designed it to be printable — pin it to your desk, use it when a client asks about inflation, and refer to it when reviewing allocations."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audience: "This is designed to be printed and kept at your desk. The left side gives you the indicators to watch and how to adjust by inflation regime. The right side gives you responses to the most common client objections and a 5-step action plan you can implement this week." Encourage them to take a photo or ask for the digital copy.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strong. Read the quote slowly. Then: "Every portfolio you manage is exposed to inflation. The question is not whether you should act — it's whether you'll act before your clients feel the pain, or after. The tools are on the cheat sheet. Use them this week." Open for Q&amp;A. If time permits, ask: "What's the one thing you'll change in your client portfolios after today?"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lvl1pPr>
              <a:defRPr>
                <a:latin typeface="+mj-lt"/>
              </a:defRPr>
            </a:lvl1pPr>
          </a:lstStyle>
          <a:p>
            <a:r>
              <a:rPr lang="en-US"/>
              <a:t>Click to edit Master title style</a:t>
            </a:r>
          </a:p>
        </p:txBody>
      </p:sp>
    </p:spTree>
    <p:extLst>
      <p:ext uri="{BB962C8B-B14F-4D97-AF65-F5344CB8AC3E}">
        <p14:creationId xmlns:p14="http://schemas.microsoft.com/office/powerpoint/2010/main" val="20919069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69323673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
        <p:nvSpPr>
          <p:cNvPr id="4" name="TextBox 3">
            <a:extLst>
              <a:ext uri="{FF2B5EF4-FFF2-40B4-BE49-F238E27FC236}">
                <a16:creationId xmlns:a16="http://schemas.microsoft.com/office/drawing/2014/main" id="{324A4B02-5F61-61C6-B6B7-D67C131CE9A7}"/>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82358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Tree>
    <p:extLst>
      <p:ext uri="{BB962C8B-B14F-4D97-AF65-F5344CB8AC3E}">
        <p14:creationId xmlns:p14="http://schemas.microsoft.com/office/powerpoint/2010/main" val="34005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34049539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9192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999082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
        <p:nvSpPr>
          <p:cNvPr id="3" name="TextBox 2">
            <a:extLst>
              <a:ext uri="{FF2B5EF4-FFF2-40B4-BE49-F238E27FC236}">
                <a16:creationId xmlns:a16="http://schemas.microsoft.com/office/drawing/2014/main" id="{B6733DA5-7CEB-156D-B682-AC4F46921F76}"/>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1069983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
        <p:nvSpPr>
          <p:cNvPr id="2" name="TextBox 1">
            <a:extLst>
              <a:ext uri="{FF2B5EF4-FFF2-40B4-BE49-F238E27FC236}">
                <a16:creationId xmlns:a16="http://schemas.microsoft.com/office/drawing/2014/main" id="{16E22BEF-0925-1E3B-D20F-77CDF40128C3}"/>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81178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09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
        <p:nvSpPr>
          <p:cNvPr id="9" name="Text Placeholder 4"/>
          <p:cNvSpPr>
            <a:spLocks noGrp="1"/>
          </p:cNvSpPr>
          <p:nvPr>
            <p:ph type="body" sz="quarter" idx="11"/>
          </p:nvPr>
        </p:nvSpPr>
        <p:spPr>
          <a:xfrm>
            <a:off x="390144" y="792481"/>
            <a:ext cx="11379200" cy="893233"/>
          </a:xfrm>
        </p:spPr>
        <p:txBody>
          <a:bodyPr/>
          <a:lstStyle>
            <a:lvl1pPr marL="0" indent="0">
              <a:buNone/>
              <a:defRPr>
                <a:solidFill>
                  <a:schemeClr val="bg2"/>
                </a:solidFill>
                <a:latin typeface="+mj-lt"/>
              </a:defRPr>
            </a:lvl1pPr>
            <a:lvl2pPr marL="609585" indent="0">
              <a:buNone/>
              <a:defRPr/>
            </a:lvl2pPr>
          </a:lstStyle>
          <a:p>
            <a:pPr lvl="0"/>
            <a:r>
              <a:rPr lang="en-US"/>
              <a:t>Click to edit Master text styles</a:t>
            </a:r>
          </a:p>
        </p:txBody>
      </p:sp>
    </p:spTree>
    <p:extLst>
      <p:ext uri="{BB962C8B-B14F-4D97-AF65-F5344CB8AC3E}">
        <p14:creationId xmlns:p14="http://schemas.microsoft.com/office/powerpoint/2010/main" val="917642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Content Light Blue">
    <p:bg>
      <p:bgPr>
        <a:solidFill>
          <a:srgbClr val="B2D4E4">
            <a:alpha val="60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0144" y="182880"/>
            <a:ext cx="10711748" cy="682752"/>
          </a:xfrm>
        </p:spPr>
        <p:txBody>
          <a:bodyPr/>
          <a:lstStyle>
            <a:lvl1pPr>
              <a:defRPr>
                <a:solidFill>
                  <a:srgbClr val="0A3C53"/>
                </a:solidFill>
                <a:latin typeface="Alda Pro" pitchFamily="50" charset="0"/>
              </a:defRPr>
            </a:lvl1pPr>
          </a:lstStyle>
          <a:p>
            <a:r>
              <a:rPr lang="en-US"/>
              <a:t>Click to edit Master title style</a:t>
            </a:r>
          </a:p>
        </p:txBody>
      </p:sp>
      <p:sp>
        <p:nvSpPr>
          <p:cNvPr id="3" name="Content Placeholder 2"/>
          <p:cNvSpPr>
            <a:spLocks noGrp="1"/>
          </p:cNvSpPr>
          <p:nvPr>
            <p:ph idx="1"/>
          </p:nvPr>
        </p:nvSpPr>
        <p:spPr/>
        <p:txBody>
          <a:bodyPr/>
          <a:lstStyle>
            <a:lvl1pPr>
              <a:defRPr sz="2667">
                <a:solidFill>
                  <a:schemeClr val="bg1"/>
                </a:solidFill>
                <a:latin typeface="Effra Pro" panose="020B0603020203020204" pitchFamily="34" charset="0"/>
              </a:defRPr>
            </a:lvl1pPr>
            <a:lvl2pPr>
              <a:defRPr sz="2400">
                <a:solidFill>
                  <a:schemeClr val="bg1"/>
                </a:solidFill>
                <a:latin typeface="Effra Pro" panose="020B0603020203020204" pitchFamily="34" charset="0"/>
              </a:defRPr>
            </a:lvl2pPr>
            <a:lvl3pPr>
              <a:defRPr sz="2133">
                <a:solidFill>
                  <a:schemeClr val="bg1"/>
                </a:solidFill>
                <a:latin typeface="Effra Pro" panose="020B0603020203020204" pitchFamily="34" charset="0"/>
              </a:defRPr>
            </a:lvl3pPr>
            <a:lvl4pPr>
              <a:defRPr sz="2133">
                <a:solidFill>
                  <a:schemeClr val="bg1"/>
                </a:solidFill>
                <a:latin typeface="Effra Pro" panose="020B0603020203020204" pitchFamily="34" charset="0"/>
              </a:defRPr>
            </a:lvl4pPr>
            <a:lvl5pPr>
              <a:defRPr sz="2133">
                <a:solidFill>
                  <a:schemeClr val="bg1"/>
                </a:solidFill>
                <a:latin typeface="Effra Pro" panose="020B0603020203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p:cNvSpPr>
            <a:spLocks noGrp="1"/>
          </p:cNvSpPr>
          <p:nvPr>
            <p:ph type="body" sz="quarter" idx="10"/>
          </p:nvPr>
        </p:nvSpPr>
        <p:spPr>
          <a:xfrm>
            <a:off x="390143" y="931977"/>
            <a:ext cx="11408507" cy="651540"/>
          </a:xfrm>
        </p:spPr>
        <p:txBody>
          <a:bodyPr/>
          <a:lstStyle>
            <a:lvl1pPr marL="0" indent="0">
              <a:buNone/>
              <a:defRPr sz="2400" b="0">
                <a:solidFill>
                  <a:srgbClr val="0A3C53"/>
                </a:solidFill>
                <a:latin typeface="Effra Pro" panose="020B0603020203020204" pitchFamily="34" charset="0"/>
              </a:defRPr>
            </a:lvl1pPr>
            <a:lvl2pPr marL="609585" indent="0">
              <a:buNone/>
              <a:defRPr/>
            </a:lvl2pPr>
          </a:lstStyle>
          <a:p>
            <a:pPr lvl="0"/>
            <a:r>
              <a:rPr lang="en-US"/>
              <a:t>Click to edit Master text styles</a:t>
            </a:r>
          </a:p>
        </p:txBody>
      </p:sp>
      <p:sp>
        <p:nvSpPr>
          <p:cNvPr id="11" name="Slide Number Placeholder 9">
            <a:extLst>
              <a:ext uri="{FF2B5EF4-FFF2-40B4-BE49-F238E27FC236}">
                <a16:creationId xmlns:a16="http://schemas.microsoft.com/office/drawing/2014/main" id="{A981E5D6-0803-8921-6403-BB6DB0BD12B1}"/>
              </a:ext>
            </a:extLst>
          </p:cNvPr>
          <p:cNvSpPr>
            <a:spLocks noGrp="1"/>
          </p:cNvSpPr>
          <p:nvPr>
            <p:ph type="sldNum" sz="quarter" idx="4294967295"/>
          </p:nvPr>
        </p:nvSpPr>
        <p:spPr>
          <a:xfrm>
            <a:off x="11493849" y="6583399"/>
            <a:ext cx="304800" cy="138499"/>
          </a:xfrm>
          <a:prstGeom prst="rect">
            <a:avLst/>
          </a:prstGeom>
        </p:spPr>
        <p:txBody>
          <a:bodyPr vert="horz" wrap="square" lIns="0" tIns="0" rIns="0" bIns="0" rtlCol="0" anchor="ctr">
            <a:spAutoFit/>
          </a:bodyPr>
          <a:lstStyle>
            <a:lvl1pPr algn="r" fontAlgn="auto">
              <a:spcBef>
                <a:spcPts val="0"/>
              </a:spcBef>
              <a:spcAft>
                <a:spcPts val="0"/>
              </a:spcAft>
              <a:defRPr sz="900" smtClean="0">
                <a:solidFill>
                  <a:srgbClr val="0A3C53"/>
                </a:solidFill>
                <a:latin typeface="Effra Pro" panose="020B0603020203020204" pitchFamily="34" charset="0"/>
              </a:defRPr>
            </a:lvl1pPr>
          </a:lstStyle>
          <a:p>
            <a:pPr>
              <a:defRPr/>
            </a:pPr>
            <a:fld id="{2EDAC284-59FC-4EEB-A7F8-63017E0BC0CE}" type="slidenum">
              <a:rPr lang="en-US" smtClean="0"/>
              <a:pPr>
                <a:defRPr/>
              </a:pPr>
              <a:t>‹#›</a:t>
            </a:fld>
            <a:endParaRPr lang="en-US"/>
          </a:p>
        </p:txBody>
      </p:sp>
      <p:sp>
        <p:nvSpPr>
          <p:cNvPr id="13" name="TextBox 12">
            <a:extLst>
              <a:ext uri="{FF2B5EF4-FFF2-40B4-BE49-F238E27FC236}">
                <a16:creationId xmlns:a16="http://schemas.microsoft.com/office/drawing/2014/main" id="{EADC3663-FD28-443D-8635-94D971D411BB}"/>
              </a:ext>
            </a:extLst>
          </p:cNvPr>
          <p:cNvSpPr txBox="1"/>
          <p:nvPr userDrawn="1"/>
        </p:nvSpPr>
        <p:spPr>
          <a:xfrm>
            <a:off x="6451386" y="6574485"/>
            <a:ext cx="4889500" cy="138499"/>
          </a:xfrm>
          <a:prstGeom prst="rect">
            <a:avLst/>
          </a:prstGeom>
          <a:noFill/>
        </p:spPr>
        <p:txBody>
          <a:bodyPr wrap="square" lIns="0" tIns="0" rIns="0" bIns="0" rtlCol="0">
            <a:spAutoFit/>
          </a:bodyPr>
          <a:lstStyle/>
          <a:p>
            <a:pPr algn="r"/>
            <a:r>
              <a:rPr lang="en-US" sz="900">
                <a:solidFill>
                  <a:srgbClr val="0A3C53"/>
                </a:solidFill>
                <a:latin typeface="Effra Pro" panose="020B0603020203020204" pitchFamily="34" charset="0"/>
              </a:rPr>
              <a:t>For internal use only. Not to be used with the public.</a:t>
            </a:r>
          </a:p>
        </p:txBody>
      </p:sp>
      <p:pic>
        <p:nvPicPr>
          <p:cNvPr id="7" name="Picture 6">
            <a:extLst>
              <a:ext uri="{FF2B5EF4-FFF2-40B4-BE49-F238E27FC236}">
                <a16:creationId xmlns:a16="http://schemas.microsoft.com/office/drawing/2014/main" id="{E67FCA87-8478-5E28-4661-20EA3D9955E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455563" y="6192317"/>
            <a:ext cx="1343086" cy="226210"/>
          </a:xfrm>
          <a:prstGeom prst="rect">
            <a:avLst/>
          </a:prstGeom>
        </p:spPr>
      </p:pic>
    </p:spTree>
    <p:extLst>
      <p:ext uri="{BB962C8B-B14F-4D97-AF65-F5344CB8AC3E}">
        <p14:creationId xmlns:p14="http://schemas.microsoft.com/office/powerpoint/2010/main" val="2007329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8B75A9B-B3DF-4E82-DCCD-EBC806BB84DF}"/>
              </a:ext>
            </a:extLst>
          </p:cNvPr>
          <p:cNvSpPr>
            <a:spLocks noGrp="1"/>
          </p:cNvSpPr>
          <p:nvPr>
            <p:ph type="title" hasCustomPrompt="1"/>
          </p:nvPr>
        </p:nvSpPr>
        <p:spPr>
          <a:xfrm>
            <a:off x="393349" y="181536"/>
            <a:ext cx="11392252" cy="682752"/>
          </a:xfrm>
          <a:prstGeom prst="rect">
            <a:avLst/>
          </a:prstGeom>
        </p:spPr>
        <p:txBody>
          <a:bodyPr/>
          <a:lstStyle>
            <a:lvl1pPr>
              <a:defRPr sz="3200"/>
            </a:lvl1pPr>
          </a:lstStyle>
          <a:p>
            <a:r>
              <a:rPr lang="en-US"/>
              <a:t>Main headline 6 words or less (Aldo Pro font size 32) </a:t>
            </a:r>
          </a:p>
        </p:txBody>
      </p:sp>
      <p:sp>
        <p:nvSpPr>
          <p:cNvPr id="4" name="Text Placeholder 7">
            <a:extLst>
              <a:ext uri="{FF2B5EF4-FFF2-40B4-BE49-F238E27FC236}">
                <a16:creationId xmlns:a16="http://schemas.microsoft.com/office/drawing/2014/main" id="{59976597-673F-23E0-5762-7820B1E50AB7}"/>
              </a:ext>
            </a:extLst>
          </p:cNvPr>
          <p:cNvSpPr>
            <a:spLocks noGrp="1"/>
          </p:cNvSpPr>
          <p:nvPr>
            <p:ph type="body" sz="quarter" idx="13" hasCustomPrompt="1"/>
          </p:nvPr>
        </p:nvSpPr>
        <p:spPr>
          <a:xfrm>
            <a:off x="393349" y="849214"/>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Tree>
    <p:extLst>
      <p:ext uri="{BB962C8B-B14F-4D97-AF65-F5344CB8AC3E}">
        <p14:creationId xmlns:p14="http://schemas.microsoft.com/office/powerpoint/2010/main" val="404687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5485F8-9E68-60E9-6BC9-9B7F6C1A3D7F}"/>
              </a:ext>
            </a:extLst>
          </p:cNvPr>
          <p:cNvSpPr>
            <a:spLocks noGrp="1"/>
          </p:cNvSpPr>
          <p:nvPr>
            <p:ph type="body" sz="quarter" idx="13" hasCustomPrompt="1"/>
          </p:nvPr>
        </p:nvSpPr>
        <p:spPr>
          <a:xfrm>
            <a:off x="393350" y="850392"/>
            <a:ext cx="11405302" cy="558800"/>
          </a:xfrm>
          <a:prstGeom prst="rect">
            <a:avLst/>
          </a:prstGeom>
        </p:spPr>
        <p:txBody>
          <a:bodyPr lIns="0" tIns="0" rIns="0" bIns="0"/>
          <a:lstStyle>
            <a:lvl1pPr marL="0" indent="0">
              <a:buFontTx/>
              <a:buNone/>
              <a:defRPr sz="2800">
                <a:solidFill>
                  <a:srgbClr val="2E86AF"/>
                </a:solidFill>
                <a:latin typeface="Effra Pro" panose="020B0603020203020204" pitchFamily="34" charset="0"/>
              </a:defRPr>
            </a:lvl1pPr>
          </a:lstStyle>
          <a:p>
            <a:pPr lvl="0"/>
            <a:r>
              <a:rPr lang="en-US"/>
              <a:t>Sub headline (Effra Pro font size 28)</a:t>
            </a:r>
          </a:p>
        </p:txBody>
      </p:sp>
      <p:sp>
        <p:nvSpPr>
          <p:cNvPr id="9" name="Text Placeholder 4">
            <a:extLst>
              <a:ext uri="{FF2B5EF4-FFF2-40B4-BE49-F238E27FC236}">
                <a16:creationId xmlns:a16="http://schemas.microsoft.com/office/drawing/2014/main" id="{D1702492-ECB9-C99D-17F0-C5C3BE0BBEB3}"/>
              </a:ext>
            </a:extLst>
          </p:cNvPr>
          <p:cNvSpPr>
            <a:spLocks noGrp="1"/>
          </p:cNvSpPr>
          <p:nvPr>
            <p:ph type="body" sz="quarter" idx="14"/>
          </p:nvPr>
        </p:nvSpPr>
        <p:spPr>
          <a:xfrm>
            <a:off x="393349" y="1560513"/>
            <a:ext cx="5938478" cy="2761230"/>
          </a:xfrm>
          <a:prstGeom prst="rect">
            <a:avLst/>
          </a:prstGeom>
        </p:spPr>
        <p:txBody>
          <a:bodyPr/>
          <a:lstStyle>
            <a:lvl1pPr>
              <a:defRPr sz="20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1">
            <a:extLst>
              <a:ext uri="{FF2B5EF4-FFF2-40B4-BE49-F238E27FC236}">
                <a16:creationId xmlns:a16="http://schemas.microsoft.com/office/drawing/2014/main" id="{068AFAD1-74BD-2231-701D-CCA497B9D0AC}"/>
              </a:ext>
            </a:extLst>
          </p:cNvPr>
          <p:cNvSpPr>
            <a:spLocks noGrp="1"/>
          </p:cNvSpPr>
          <p:nvPr>
            <p:ph type="title" hasCustomPrompt="1"/>
          </p:nvPr>
        </p:nvSpPr>
        <p:spPr>
          <a:xfrm>
            <a:off x="393349" y="181536"/>
            <a:ext cx="11392252" cy="682752"/>
          </a:xfrm>
          <a:prstGeom prst="rect">
            <a:avLst/>
          </a:prstGeom>
        </p:spPr>
        <p:txBody>
          <a:bodyPr lIns="0" tIns="0" rIns="0" bIns="0"/>
          <a:lstStyle>
            <a:lvl1pPr>
              <a:defRPr sz="3200"/>
            </a:lvl1pPr>
          </a:lstStyle>
          <a:p>
            <a:r>
              <a:rPr lang="en-US"/>
              <a:t>Main headline 6 words or less (Alda Pro font size 32) </a:t>
            </a:r>
          </a:p>
        </p:txBody>
      </p:sp>
    </p:spTree>
    <p:extLst>
      <p:ext uri="{BB962C8B-B14F-4D97-AF65-F5344CB8AC3E}">
        <p14:creationId xmlns:p14="http://schemas.microsoft.com/office/powerpoint/2010/main" val="309522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626269" y="1554480"/>
            <a:ext cx="10939462"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7BBB44ED-3F55-29A4-DD1E-8FC01AD0F44D}"/>
              </a:ext>
            </a:extLst>
          </p:cNvPr>
          <p:cNvSpPr>
            <a:spLocks noGrp="1"/>
          </p:cNvSpPr>
          <p:nvPr>
            <p:ph type="title"/>
          </p:nvPr>
        </p:nvSpPr>
        <p:spPr>
          <a:xfrm>
            <a:off x="626269" y="493776"/>
            <a:ext cx="10939462" cy="804672"/>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8919090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9237144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C41D-E07D-AC42-3ADA-41F9686525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564432-A0A1-A1EC-BE8B-DF9098DB24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B30ABD-1267-8F91-58D1-F5027B5D7525}"/>
              </a:ext>
            </a:extLst>
          </p:cNvPr>
          <p:cNvSpPr>
            <a:spLocks noGrp="1"/>
          </p:cNvSpPr>
          <p:nvPr>
            <p:ph type="dt" sz="half" idx="10"/>
          </p:nvPr>
        </p:nvSpPr>
        <p:spPr/>
        <p:txBody>
          <a:bodyPr/>
          <a:lstStyle/>
          <a:p>
            <a:fld id="{26E70DFE-6B25-4129-B1A6-5C9ECF8727B4}" type="datetimeFigureOut">
              <a:rPr lang="en-US" smtClean="0"/>
              <a:t>8/16/2026</a:t>
            </a:fld>
            <a:endParaRPr lang="en-US"/>
          </a:p>
        </p:txBody>
      </p:sp>
      <p:sp>
        <p:nvSpPr>
          <p:cNvPr id="5" name="Footer Placeholder 4">
            <a:extLst>
              <a:ext uri="{FF2B5EF4-FFF2-40B4-BE49-F238E27FC236}">
                <a16:creationId xmlns:a16="http://schemas.microsoft.com/office/drawing/2014/main" id="{AF9BADA3-6B63-F320-CCEA-26966BC50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1749FF-542E-06B9-9AB6-CFC2CE3FF3C7}"/>
              </a:ext>
            </a:extLst>
          </p:cNvPr>
          <p:cNvSpPr>
            <a:spLocks noGrp="1"/>
          </p:cNvSpPr>
          <p:nvPr>
            <p:ph type="sldNum" sz="quarter" idx="12"/>
          </p:nvPr>
        </p:nvSpPr>
        <p:spPr/>
        <p:txBody>
          <a:bodyPr/>
          <a:lstStyle/>
          <a:p>
            <a:fld id="{8FC3D706-5921-4A76-AD3B-CF5E1494855C}" type="slidenum">
              <a:rPr lang="en-US" smtClean="0"/>
              <a:t>‹#›</a:t>
            </a:fld>
            <a:endParaRPr lang="en-US"/>
          </a:p>
        </p:txBody>
      </p:sp>
    </p:spTree>
    <p:extLst>
      <p:ext uri="{BB962C8B-B14F-4D97-AF65-F5344CB8AC3E}">
        <p14:creationId xmlns:p14="http://schemas.microsoft.com/office/powerpoint/2010/main" val="3986850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093B52"/>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20372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White Bkg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p>
        </p:txBody>
      </p:sp>
      <p:sp>
        <p:nvSpPr>
          <p:cNvPr id="5" name="Slide Number Placeholder 9"/>
          <p:cNvSpPr>
            <a:spLocks noGrp="1"/>
          </p:cNvSpPr>
          <p:nvPr>
            <p:ph type="sldNum" sz="quarter" idx="4"/>
          </p:nvPr>
        </p:nvSpPr>
        <p:spPr>
          <a:xfrm>
            <a:off x="11520115" y="6367265"/>
            <a:ext cx="304800" cy="205184"/>
          </a:xfrm>
          <a:prstGeom prst="rect">
            <a:avLst/>
          </a:prstGeom>
        </p:spPr>
        <p:txBody>
          <a:bodyPr vert="horz" wrap="square" lIns="0" tIns="0" rIns="0" bIns="0" rtlCol="0" anchor="ctr">
            <a:spAutoFit/>
          </a:bodyPr>
          <a:lstStyle>
            <a:lvl1pPr algn="ctr" fontAlgn="auto">
              <a:spcBef>
                <a:spcPts val="0"/>
              </a:spcBef>
              <a:spcAft>
                <a:spcPts val="0"/>
              </a:spcAft>
              <a:defRPr sz="1333" smtClean="0">
                <a:solidFill>
                  <a:schemeClr val="tx1"/>
                </a:solidFill>
                <a:latin typeface="+mn-lt"/>
              </a:defRPr>
            </a:lvl1pPr>
          </a:lstStyle>
          <a:p>
            <a:pPr>
              <a:defRPr/>
            </a:pPr>
            <a:fld id="{2EDAC284-59FC-4EEB-A7F8-63017E0BC0CE}" type="slidenum">
              <a:rPr lang="en-US" smtClean="0"/>
              <a:pPr>
                <a:defRPr/>
              </a:pPr>
              <a:t>‹#›</a:t>
            </a:fld>
            <a:endParaRPr lang="en-US"/>
          </a:p>
        </p:txBody>
      </p:sp>
    </p:spTree>
    <p:extLst>
      <p:ext uri="{BB962C8B-B14F-4D97-AF65-F5344CB8AC3E}">
        <p14:creationId xmlns:p14="http://schemas.microsoft.com/office/powerpoint/2010/main" val="2187822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Webinar/Event Layout 2 headsho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FDB92-AB9D-4418-6216-59EE5F676AE4}"/>
              </a:ext>
            </a:extLst>
          </p:cNvPr>
          <p:cNvSpPr>
            <a:spLocks noGrp="1"/>
          </p:cNvSpPr>
          <p:nvPr>
            <p:ph type="title" hasCustomPrompt="1"/>
          </p:nvPr>
        </p:nvSpPr>
        <p:spPr>
          <a:xfrm>
            <a:off x="393350" y="181536"/>
            <a:ext cx="11392252" cy="682752"/>
          </a:xfrm>
          <a:prstGeom prst="rect">
            <a:avLst/>
          </a:prstGeom>
        </p:spPr>
        <p:txBody>
          <a:bodyPr/>
          <a:lstStyle>
            <a:lvl1pPr>
              <a:defRPr sz="3200"/>
            </a:lvl1pPr>
          </a:lstStyle>
          <a:p>
            <a:r>
              <a:rPr lang="en-US"/>
              <a:t>Add in event or webinar title</a:t>
            </a:r>
          </a:p>
        </p:txBody>
      </p:sp>
      <p:sp>
        <p:nvSpPr>
          <p:cNvPr id="3" name="Text Placeholder 7">
            <a:extLst>
              <a:ext uri="{FF2B5EF4-FFF2-40B4-BE49-F238E27FC236}">
                <a16:creationId xmlns:a16="http://schemas.microsoft.com/office/drawing/2014/main" id="{BE10FE7A-E00A-3D90-5D24-0526DDFBAB55}"/>
              </a:ext>
            </a:extLst>
          </p:cNvPr>
          <p:cNvSpPr>
            <a:spLocks noGrp="1"/>
          </p:cNvSpPr>
          <p:nvPr>
            <p:ph type="body" sz="quarter" idx="13" hasCustomPrompt="1"/>
          </p:nvPr>
        </p:nvSpPr>
        <p:spPr>
          <a:xfrm>
            <a:off x="393350" y="775859"/>
            <a:ext cx="11520487" cy="558800"/>
          </a:xfrm>
          <a:prstGeom prst="rect">
            <a:avLst/>
          </a:prstGeom>
        </p:spPr>
        <p:txBody>
          <a:bodyPr/>
          <a:lstStyle>
            <a:lvl1pPr marL="0" indent="0">
              <a:buFontTx/>
              <a:buNone/>
              <a:defRPr sz="2800">
                <a:solidFill>
                  <a:srgbClr val="2E86AF"/>
                </a:solidFill>
                <a:latin typeface="Effra Pro" panose="020B0603020203020204" pitchFamily="34" charset="0"/>
              </a:defRPr>
            </a:lvl1pPr>
          </a:lstStyle>
          <a:p>
            <a:pPr lvl="0"/>
            <a:r>
              <a:rPr lang="en-US"/>
              <a:t>Month day, year and time ET of the event goes here</a:t>
            </a:r>
          </a:p>
        </p:txBody>
      </p:sp>
      <p:sp>
        <p:nvSpPr>
          <p:cNvPr id="4" name="Text Placeholder 4">
            <a:extLst>
              <a:ext uri="{FF2B5EF4-FFF2-40B4-BE49-F238E27FC236}">
                <a16:creationId xmlns:a16="http://schemas.microsoft.com/office/drawing/2014/main" id="{A5E1522F-5BA1-E933-7822-5CBA84429D67}"/>
              </a:ext>
            </a:extLst>
          </p:cNvPr>
          <p:cNvSpPr>
            <a:spLocks noGrp="1"/>
          </p:cNvSpPr>
          <p:nvPr>
            <p:ph type="body" sz="quarter" idx="14" hasCustomPrompt="1"/>
          </p:nvPr>
        </p:nvSpPr>
        <p:spPr>
          <a:xfrm>
            <a:off x="393349" y="1674814"/>
            <a:ext cx="5471120" cy="2791679"/>
          </a:xfrm>
          <a:prstGeom prst="rect">
            <a:avLst/>
          </a:prstGeom>
        </p:spPr>
        <p:txBody>
          <a:bodyPr/>
          <a:lstStyle>
            <a:lvl1pPr marL="0" indent="0">
              <a:buFont typeface="Arial" panose="020B0604020202020204" pitchFamily="34" charset="0"/>
              <a:buNone/>
              <a:defRPr sz="2000">
                <a:solidFill>
                  <a:schemeClr val="bg2"/>
                </a:solidFill>
              </a:defRPr>
            </a:lvl1pPr>
            <a:lvl2pPr marL="914354" indent="-304784">
              <a:buFont typeface="Arial" panose="020B0604020202020204" pitchFamily="34" charset="0"/>
              <a:buChar char="•"/>
              <a:defRPr sz="1600">
                <a:solidFill>
                  <a:schemeClr val="bg2"/>
                </a:solidFill>
              </a:defRPr>
            </a:lvl2pPr>
            <a:lvl3pPr>
              <a:defRPr sz="2000">
                <a:solidFill>
                  <a:schemeClr val="bg2"/>
                </a:solidFill>
              </a:defRPr>
            </a:lvl3pPr>
            <a:lvl4pPr>
              <a:defRPr sz="1800">
                <a:solidFill>
                  <a:schemeClr val="bg2"/>
                </a:solidFill>
              </a:defRPr>
            </a:lvl4pPr>
            <a:lvl5pPr>
              <a:defRPr sz="1800">
                <a:solidFill>
                  <a:schemeClr val="bg2"/>
                </a:solidFill>
              </a:defRPr>
            </a:lvl5pPr>
          </a:lstStyle>
          <a:p>
            <a:pPr lvl="0"/>
            <a:r>
              <a:rPr lang="en-US"/>
              <a:t>Briefly describe the event or webinar. </a:t>
            </a:r>
            <a:br>
              <a:rPr lang="en-US"/>
            </a:br>
            <a:r>
              <a:rPr lang="en-US"/>
              <a:t>Share some (2-3 benefits or things that will be highlighted below.)</a:t>
            </a:r>
          </a:p>
          <a:p>
            <a:pPr lvl="0"/>
            <a:r>
              <a:rPr lang="en-US" b="1" u="sng">
                <a:solidFill>
                  <a:schemeClr val="bg2"/>
                </a:solidFill>
                <a:latin typeface="Effra Pro" panose="020B0603020203020204" pitchFamily="34" charset="0"/>
              </a:rPr>
              <a:t>Benefits</a:t>
            </a:r>
          </a:p>
          <a:p>
            <a:pPr marL="742932" lvl="1" indent="-285744">
              <a:buFont typeface="Arial" panose="020B0604020202020204" pitchFamily="34" charset="0"/>
              <a:buChar char="•"/>
            </a:pPr>
            <a:r>
              <a:rPr lang="en-US">
                <a:solidFill>
                  <a:schemeClr val="bg2"/>
                </a:solidFill>
                <a:latin typeface="Effra Pro" panose="020B0603020203020204" pitchFamily="34" charset="0"/>
              </a:rPr>
              <a:t>Benefit one</a:t>
            </a:r>
          </a:p>
          <a:p>
            <a:pPr marL="742932" lvl="1" indent="-285744">
              <a:buFont typeface="Arial" panose="020B0604020202020204" pitchFamily="34" charset="0"/>
              <a:buChar char="•"/>
            </a:pPr>
            <a:r>
              <a:rPr lang="en-US">
                <a:solidFill>
                  <a:schemeClr val="bg2"/>
                </a:solidFill>
                <a:latin typeface="Effra Pro" panose="020B0603020203020204" pitchFamily="34" charset="0"/>
              </a:rPr>
              <a:t>Benefit two</a:t>
            </a:r>
          </a:p>
          <a:p>
            <a:pPr marL="742932" lvl="1" indent="-285744">
              <a:buFont typeface="Arial" panose="020B0604020202020204" pitchFamily="34" charset="0"/>
              <a:buChar char="•"/>
            </a:pPr>
            <a:r>
              <a:rPr lang="en-US">
                <a:solidFill>
                  <a:schemeClr val="bg2"/>
                </a:solidFill>
                <a:latin typeface="Effra Pro" panose="020B0603020203020204" pitchFamily="34" charset="0"/>
              </a:rPr>
              <a:t>Benefit three </a:t>
            </a:r>
          </a:p>
          <a:p>
            <a:pPr lvl="0"/>
            <a:br>
              <a:rPr lang="en-US"/>
            </a:br>
            <a:r>
              <a:rPr lang="en-US"/>
              <a:t>	</a:t>
            </a:r>
          </a:p>
        </p:txBody>
      </p:sp>
    </p:spTree>
    <p:extLst>
      <p:ext uri="{BB962C8B-B14F-4D97-AF65-F5344CB8AC3E}">
        <p14:creationId xmlns:p14="http://schemas.microsoft.com/office/powerpoint/2010/main" val="1595082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1210862028"/>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9793136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12659396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235542432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1208787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40828350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13858424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5977697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6927845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50000">
              <a:srgbClr val="80BAFF"/>
            </a:gs>
            <a:gs pos="20000">
              <a:srgbClr val="A9D4FF"/>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554480"/>
            <a:ext cx="11118687" cy="4247212"/>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5739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11310706"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742660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10707"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
        <p:nvSpPr>
          <p:cNvPr id="4" name="Text Placeholder 2">
            <a:extLst>
              <a:ext uri="{FF2B5EF4-FFF2-40B4-BE49-F238E27FC236}">
                <a16:creationId xmlns:a16="http://schemas.microsoft.com/office/drawing/2014/main" id="{1F647544-7E2B-E34D-527D-A4300AF41D96}"/>
              </a:ext>
            </a:extLst>
          </p:cNvPr>
          <p:cNvSpPr>
            <a:spLocks noGrp="1"/>
          </p:cNvSpPr>
          <p:nvPr>
            <p:ph idx="1"/>
          </p:nvPr>
        </p:nvSpPr>
        <p:spPr>
          <a:xfrm>
            <a:off x="421041" y="1862652"/>
            <a:ext cx="6227185" cy="4119486"/>
          </a:xfrm>
          <a:prstGeom prst="rect">
            <a:avLst/>
          </a:prstGeom>
        </p:spPr>
        <p:txBody>
          <a:bodyPr vert="horz" lIns="0" tIns="0" rIns="0" bIns="0" rtlCol="0" anchor="t" anchorCtr="0">
            <a:noAutofit/>
          </a:bodyPr>
          <a:lstStyle>
            <a:lvl1pPr>
              <a:lnSpc>
                <a:spcPct val="100000"/>
              </a:lnSpc>
              <a:spcAft>
                <a:spcPts val="200"/>
              </a:spcAft>
              <a:defRPr sz="2400"/>
            </a:lvl1pPr>
            <a:lvl2pPr>
              <a:lnSpc>
                <a:spcPct val="100000"/>
              </a:lnSpc>
              <a:spcAft>
                <a:spcPts val="200"/>
              </a:spcAft>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595E3170-2F17-5F40-7220-F26FEAC353E1}"/>
              </a:ext>
            </a:extLst>
          </p:cNvPr>
          <p:cNvSpPr>
            <a:spLocks noGrp="1"/>
          </p:cNvSpPr>
          <p:nvPr>
            <p:ph sz="quarter" idx="11"/>
          </p:nvPr>
        </p:nvSpPr>
        <p:spPr>
          <a:xfrm>
            <a:off x="421042" y="1178214"/>
            <a:ext cx="11310706" cy="544803"/>
          </a:xfrm>
        </p:spPr>
        <p:txBody>
          <a:bodyPr/>
          <a:lstStyle>
            <a:lvl1pPr marL="0" indent="0">
              <a:buFontTx/>
              <a:buNone/>
              <a:defRPr sz="2400" b="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5" name="Picture Placeholder 6">
            <a:extLst>
              <a:ext uri="{FF2B5EF4-FFF2-40B4-BE49-F238E27FC236}">
                <a16:creationId xmlns:a16="http://schemas.microsoft.com/office/drawing/2014/main" id="{F3E6C896-7B66-FFF3-FB62-5A0427DB2BE3}"/>
              </a:ext>
            </a:extLst>
          </p:cNvPr>
          <p:cNvSpPr>
            <a:spLocks noGrp="1"/>
          </p:cNvSpPr>
          <p:nvPr>
            <p:ph type="pic" sz="quarter" idx="28"/>
          </p:nvPr>
        </p:nvSpPr>
        <p:spPr>
          <a:xfrm>
            <a:off x="7013986" y="1862651"/>
            <a:ext cx="4717762" cy="4119485"/>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Tree>
    <p:extLst>
      <p:ext uri="{BB962C8B-B14F-4D97-AF65-F5344CB8AC3E}">
        <p14:creationId xmlns:p14="http://schemas.microsoft.com/office/powerpoint/2010/main" val="3751210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_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BE21-AC1E-A39A-9EC5-25B22524EE8B}"/>
              </a:ext>
            </a:extLst>
          </p:cNvPr>
          <p:cNvSpPr>
            <a:spLocks noGrp="1"/>
          </p:cNvSpPr>
          <p:nvPr>
            <p:ph type="title"/>
          </p:nvPr>
        </p:nvSpPr>
        <p:spPr>
          <a:xfrm>
            <a:off x="421041" y="493777"/>
            <a:ext cx="11349918" cy="544802"/>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EC76EF1-D67A-1BE2-0FC5-2F3856DE6ABB}"/>
              </a:ext>
            </a:extLst>
          </p:cNvPr>
          <p:cNvSpPr>
            <a:spLocks noGrp="1"/>
          </p:cNvSpPr>
          <p:nvPr>
            <p:ph type="sldNum" sz="quarter" idx="10"/>
          </p:nvPr>
        </p:nvSpPr>
        <p:spPr>
          <a:xfrm>
            <a:off x="11731748" y="6232230"/>
            <a:ext cx="288523" cy="365125"/>
          </a:xfrm>
          <a:prstGeom prst="rect">
            <a:avLst/>
          </a:prstGeom>
        </p:spPr>
        <p:txBody>
          <a:bodyPr anchor="ctr" anchorCtr="0"/>
          <a:lstStyle/>
          <a:p>
            <a:fld id="{A1371F83-EA4D-3B47-99B9-95D90583DC1D}" type="slidenum">
              <a:rPr lang="en-US" smtClean="0"/>
              <a:pPr/>
              <a:t>‹#›</a:t>
            </a:fld>
            <a:endParaRPr lang="en-US"/>
          </a:p>
        </p:txBody>
      </p:sp>
    </p:spTree>
    <p:extLst>
      <p:ext uri="{BB962C8B-B14F-4D97-AF65-F5344CB8AC3E}">
        <p14:creationId xmlns:p14="http://schemas.microsoft.com/office/powerpoint/2010/main" val="29740380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20C4-4478-382D-05FF-85794C8C0CCC}"/>
              </a:ext>
            </a:extLst>
          </p:cNvPr>
          <p:cNvSpPr>
            <a:spLocks noGrp="1"/>
          </p:cNvSpPr>
          <p:nvPr>
            <p:ph type="title"/>
          </p:nvPr>
        </p:nvSpPr>
        <p:spPr>
          <a:xfrm>
            <a:off x="421041" y="2112264"/>
            <a:ext cx="11310707" cy="1316736"/>
          </a:xfrm>
        </p:spPr>
        <p:txBody>
          <a:bodyPr lIns="0" anchor="t" anchorCtr="0"/>
          <a:lstStyle>
            <a:lvl1pPr>
              <a:defRPr sz="3600"/>
            </a:lvl1pPr>
          </a:lstStyle>
          <a:p>
            <a:endParaRPr lang="en-US"/>
          </a:p>
        </p:txBody>
      </p:sp>
      <p:sp>
        <p:nvSpPr>
          <p:cNvPr id="7" name="Slide Number Placeholder 6">
            <a:extLst>
              <a:ext uri="{FF2B5EF4-FFF2-40B4-BE49-F238E27FC236}">
                <a16:creationId xmlns:a16="http://schemas.microsoft.com/office/drawing/2014/main" id="{C78F216D-F511-3806-58E4-70B64425F9AC}"/>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5" name="Picture Placeholder 4">
            <a:extLst>
              <a:ext uri="{FF2B5EF4-FFF2-40B4-BE49-F238E27FC236}">
                <a16:creationId xmlns:a16="http://schemas.microsoft.com/office/drawing/2014/main" id="{122546D2-6DCC-4B92-4F74-EEFCF41484C3}"/>
              </a:ext>
            </a:extLst>
          </p:cNvPr>
          <p:cNvSpPr>
            <a:spLocks noGrp="1"/>
          </p:cNvSpPr>
          <p:nvPr>
            <p:ph type="pic" sz="quarter" idx="11"/>
          </p:nvPr>
        </p:nvSpPr>
        <p:spPr>
          <a:xfrm>
            <a:off x="0" y="3429001"/>
            <a:ext cx="12192000" cy="3429000"/>
          </a:xfrm>
          <a:solidFill>
            <a:srgbClr val="A5EFBF">
              <a:alpha val="50104"/>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Rectangle 2">
            <a:extLst>
              <a:ext uri="{FF2B5EF4-FFF2-40B4-BE49-F238E27FC236}">
                <a16:creationId xmlns:a16="http://schemas.microsoft.com/office/drawing/2014/main" id="{5F0A83BD-EA1F-5017-6CEE-A40FC06D4ED6}"/>
              </a:ext>
            </a:extLst>
          </p:cNvPr>
          <p:cNvSpPr/>
          <p:nvPr userDrawn="1"/>
        </p:nvSpPr>
        <p:spPr>
          <a:xfrm>
            <a:off x="0" y="260645"/>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874045E6-C8A5-8E48-4B01-744857D6A0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1041" y="372774"/>
            <a:ext cx="365760" cy="365760"/>
          </a:xfrm>
          <a:prstGeom prst="rect">
            <a:avLst/>
          </a:prstGeom>
          <a:effectLst/>
        </p:spPr>
      </p:pic>
      <p:sp>
        <p:nvSpPr>
          <p:cNvPr id="6" name="Slide Number Placeholder 5">
            <a:extLst>
              <a:ext uri="{FF2B5EF4-FFF2-40B4-BE49-F238E27FC236}">
                <a16:creationId xmlns:a16="http://schemas.microsoft.com/office/drawing/2014/main" id="{BE2371F3-74FC-356C-C3B5-554AFEE46143}"/>
              </a:ext>
            </a:extLst>
          </p:cNvPr>
          <p:cNvSpPr txBox="1">
            <a:spLocks/>
          </p:cNvSpPr>
          <p:nvPr userDrawn="1"/>
        </p:nvSpPr>
        <p:spPr>
          <a:xfrm>
            <a:off x="11590192" y="6232230"/>
            <a:ext cx="430079" cy="365125"/>
          </a:xfrm>
          <a:prstGeom prst="rect">
            <a:avLst/>
          </a:prstGeom>
        </p:spPr>
        <p:txBody>
          <a:bodyPr vert="horz" lIns="0" tIns="0" rIns="0" bIns="0" rtlCol="0" anchor="ctr" anchorCtr="0">
            <a:noAutofit/>
          </a:bodyPr>
          <a:lstStyle>
            <a:defPPr>
              <a:defRPr lang="en-US"/>
            </a:defPPr>
            <a:lvl1pPr marL="0" algn="r" defTabSz="914400" rtl="0" eaLnBrk="1" latinLnBrk="0" hangingPunct="1">
              <a:defRPr sz="800" kern="1200">
                <a:solidFill>
                  <a:srgbClr val="000A62"/>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1371F83-EA4D-3B47-99B9-95D90583DC1D}" type="slidenum">
              <a:rPr lang="en-US" smtClean="0"/>
              <a:pPr/>
              <a:t>‹#›</a:t>
            </a:fld>
            <a:endParaRPr lang="en-US"/>
          </a:p>
        </p:txBody>
      </p:sp>
      <p:pic>
        <p:nvPicPr>
          <p:cNvPr id="8" name="Picture 7" descr="A blue and black logo&#10;&#10;AI-generated content may be incorrect.">
            <a:extLst>
              <a:ext uri="{FF2B5EF4-FFF2-40B4-BE49-F238E27FC236}">
                <a16:creationId xmlns:a16="http://schemas.microsoft.com/office/drawing/2014/main" id="{80845217-587B-A060-7CB9-E345665DF5E4}"/>
              </a:ext>
            </a:extLst>
          </p:cNvPr>
          <p:cNvPicPr>
            <a:picLocks noChangeAspect="1"/>
          </p:cNvPicPr>
          <p:nvPr userDrawn="1"/>
        </p:nvPicPr>
        <p:blipFill>
          <a:blip r:embed="rId3"/>
          <a:stretch>
            <a:fillRect/>
          </a:stretch>
        </p:blipFill>
        <p:spPr>
          <a:xfrm>
            <a:off x="10649018" y="418494"/>
            <a:ext cx="1082730" cy="274320"/>
          </a:xfrm>
          <a:prstGeom prst="rect">
            <a:avLst/>
          </a:prstGeom>
        </p:spPr>
      </p:pic>
    </p:spTree>
    <p:extLst>
      <p:ext uri="{BB962C8B-B14F-4D97-AF65-F5344CB8AC3E}">
        <p14:creationId xmlns:p14="http://schemas.microsoft.com/office/powerpoint/2010/main" val="38562785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pic>
        <p:nvPicPr>
          <p:cNvPr id="4" name="Picture 3" descr="A blue and grey square&#10;&#10;AI-generated content may be incorrect.">
            <a:extLst>
              <a:ext uri="{FF2B5EF4-FFF2-40B4-BE49-F238E27FC236}">
                <a16:creationId xmlns:a16="http://schemas.microsoft.com/office/drawing/2014/main" id="{A45A496B-8688-1C88-8157-65704DD5C56E}"/>
              </a:ext>
            </a:extLst>
          </p:cNvPr>
          <p:cNvPicPr>
            <a:picLocks noChangeAspect="1"/>
          </p:cNvPicPr>
          <p:nvPr userDrawn="1"/>
        </p:nvPicPr>
        <p:blipFill>
          <a:blip r:embed="rId2">
            <a:alphaModFix amt="20000"/>
          </a:blip>
          <a:stretch>
            <a:fillRect/>
          </a:stretch>
        </p:blipFill>
        <p:spPr>
          <a:xfrm>
            <a:off x="0" y="616856"/>
            <a:ext cx="6265333" cy="6241143"/>
          </a:xfrm>
          <a:prstGeom prst="rect">
            <a:avLst/>
          </a:prstGeom>
        </p:spPr>
      </p:pic>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21041" y="2226833"/>
            <a:ext cx="5231052" cy="3494697"/>
          </a:xfrm>
        </p:spPr>
        <p:txBody>
          <a:bodyPr lIns="0" anchor="t" anchorCtr="0"/>
          <a:lstStyle>
            <a:lvl1pPr algn="l">
              <a:defRPr sz="3600"/>
            </a:lvl1pPr>
          </a:lstStyle>
          <a:p>
            <a:endParaRPr lang="en-US"/>
          </a:p>
        </p:txBody>
      </p:sp>
      <p:sp>
        <p:nvSpPr>
          <p:cNvPr id="3" name="Rectangle 2">
            <a:extLst>
              <a:ext uri="{FF2B5EF4-FFF2-40B4-BE49-F238E27FC236}">
                <a16:creationId xmlns:a16="http://schemas.microsoft.com/office/drawing/2014/main" id="{EA7CC410-7E59-D0D1-24AA-F2A7D7F90721}"/>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46F51BD7-01B2-6816-2200-76CA08A3A35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21041" y="6231595"/>
            <a:ext cx="365760" cy="365760"/>
          </a:xfrm>
          <a:prstGeom prst="rect">
            <a:avLst/>
          </a:prstGeom>
          <a:effectLst/>
        </p:spPr>
      </p:pic>
      <p:sp>
        <p:nvSpPr>
          <p:cNvPr id="6" name="Slide Number Placeholder 5">
            <a:extLst>
              <a:ext uri="{FF2B5EF4-FFF2-40B4-BE49-F238E27FC236}">
                <a16:creationId xmlns:a16="http://schemas.microsoft.com/office/drawing/2014/main" id="{BB0C9B92-1175-00F8-933D-C77BF2556C5D}"/>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8" name="Picture 7" descr="A blue and black logo&#10;&#10;AI-generated content may be incorrect.">
            <a:extLst>
              <a:ext uri="{FF2B5EF4-FFF2-40B4-BE49-F238E27FC236}">
                <a16:creationId xmlns:a16="http://schemas.microsoft.com/office/drawing/2014/main" id="{3EAEFD7F-7EBC-AE96-0954-ED1288FEF9BA}"/>
              </a:ext>
            </a:extLst>
          </p:cNvPr>
          <p:cNvPicPr>
            <a:picLocks noChangeAspect="1"/>
          </p:cNvPicPr>
          <p:nvPr userDrawn="1"/>
        </p:nvPicPr>
        <p:blipFill>
          <a:blip r:embed="rId4"/>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1221411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402110" y="2485075"/>
            <a:ext cx="1132963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1152832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05574"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3592749"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p:nvPr>
        </p:nvSpPr>
        <p:spPr>
          <a:xfrm>
            <a:off x="6379925"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p:nvPr>
        </p:nvSpPr>
        <p:spPr>
          <a:xfrm>
            <a:off x="9166867" y="2028874"/>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05574"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3592749"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0" name="Text Placeholder 13">
            <a:extLst>
              <a:ext uri="{FF2B5EF4-FFF2-40B4-BE49-F238E27FC236}">
                <a16:creationId xmlns:a16="http://schemas.microsoft.com/office/drawing/2014/main" id="{94058031-53F3-4D10-D0AF-0FE4EB33A3E6}"/>
              </a:ext>
            </a:extLst>
          </p:cNvPr>
          <p:cNvSpPr>
            <a:spLocks noGrp="1"/>
          </p:cNvSpPr>
          <p:nvPr>
            <p:ph type="body" sz="quarter" idx="25"/>
          </p:nvPr>
        </p:nvSpPr>
        <p:spPr>
          <a:xfrm>
            <a:off x="6379925" y="2889936"/>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11" name="Text Placeholder 13">
            <a:extLst>
              <a:ext uri="{FF2B5EF4-FFF2-40B4-BE49-F238E27FC236}">
                <a16:creationId xmlns:a16="http://schemas.microsoft.com/office/drawing/2014/main" id="{99BE3125-69F9-1FA8-98C5-37BFCFE5524E}"/>
              </a:ext>
            </a:extLst>
          </p:cNvPr>
          <p:cNvSpPr>
            <a:spLocks noGrp="1"/>
          </p:cNvSpPr>
          <p:nvPr>
            <p:ph type="body" sz="quarter" idx="26"/>
          </p:nvPr>
        </p:nvSpPr>
        <p:spPr>
          <a:xfrm>
            <a:off x="9166867" y="2867782"/>
            <a:ext cx="2219326" cy="283893"/>
          </a:xfrm>
        </p:spPr>
        <p:txBody>
          <a:bodyPr/>
          <a:lstStyle>
            <a:lvl1pPr marL="0" indent="0" algn="ctr">
              <a:spcBef>
                <a:spcPts val="0"/>
              </a:spcBef>
              <a:buFont typeface="Arial" panose="020B0604020202020204" pitchFamily="34" charset="0"/>
              <a:buNone/>
              <a:defRPr sz="2200" b="0" i="0">
                <a:solidFill>
                  <a:schemeClr val="bg1"/>
                </a:solidFill>
                <a:latin typeface="Effra" panose="020B0606080202020204" pitchFamily="34" charset="77"/>
              </a:defRPr>
            </a:lvl1pPr>
          </a:lstStyle>
          <a:p>
            <a:pPr lvl="0"/>
            <a:endParaRPr lang="en-US"/>
          </a:p>
        </p:txBody>
      </p:sp>
      <p:sp>
        <p:nvSpPr>
          <p:cNvPr id="4" name="Title 3">
            <a:extLst>
              <a:ext uri="{FF2B5EF4-FFF2-40B4-BE49-F238E27FC236}">
                <a16:creationId xmlns:a16="http://schemas.microsoft.com/office/drawing/2014/main" id="{860EC2BC-0ECF-2B5F-26DD-296C059C2687}"/>
              </a:ext>
            </a:extLst>
          </p:cNvPr>
          <p:cNvSpPr>
            <a:spLocks noGrp="1"/>
          </p:cNvSpPr>
          <p:nvPr>
            <p:ph type="title"/>
          </p:nvPr>
        </p:nvSpPr>
        <p:spPr>
          <a:xfrm>
            <a:off x="402110" y="493776"/>
            <a:ext cx="11329638" cy="804672"/>
          </a:xfrm>
        </p:spPr>
        <p:txBody>
          <a:bodyPr/>
          <a:lstStyle/>
          <a:p>
            <a:endParaRPr lang="en-US"/>
          </a:p>
        </p:txBody>
      </p:sp>
    </p:spTree>
    <p:extLst>
      <p:ext uri="{BB962C8B-B14F-4D97-AF65-F5344CB8AC3E}">
        <p14:creationId xmlns:p14="http://schemas.microsoft.com/office/powerpoint/2010/main" val="28187995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15116305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20783869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COL TEXT">
    <p:bg>
      <p:bgPr>
        <a:gradFill flip="none" rotWithShape="1">
          <a:gsLst>
            <a:gs pos="83000">
              <a:srgbClr val="8FC3FF"/>
            </a:gs>
            <a:gs pos="100000">
              <a:srgbClr val="80BAFF"/>
            </a:gs>
            <a:gs pos="26000">
              <a:srgbClr val="A9D4FF"/>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1484"/>
            <a:ext cx="1132963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946683" y="1651477"/>
            <a:ext cx="4892040"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2672" y="1651477"/>
            <a:ext cx="4892644" cy="365760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cxnSp>
        <p:nvCxnSpPr>
          <p:cNvPr id="3" name="Straight Connector 2">
            <a:extLst>
              <a:ext uri="{FF2B5EF4-FFF2-40B4-BE49-F238E27FC236}">
                <a16:creationId xmlns:a16="http://schemas.microsoft.com/office/drawing/2014/main" id="{27CD526F-4567-7702-B3D6-894A2BD0D911}"/>
              </a:ext>
            </a:extLst>
          </p:cNvPr>
          <p:cNvCxnSpPr>
            <a:cxnSpLocks/>
          </p:cNvCxnSpPr>
          <p:nvPr userDrawn="1"/>
        </p:nvCxnSpPr>
        <p:spPr>
          <a:xfrm>
            <a:off x="6096000" y="1651477"/>
            <a:ext cx="0" cy="3657600"/>
          </a:xfrm>
          <a:prstGeom prst="line">
            <a:avLst/>
          </a:prstGeom>
          <a:ln>
            <a:solidFill>
              <a:schemeClr val="bg1">
                <a:alpha val="75403"/>
              </a:schemeClr>
            </a:solidFill>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B132B79D-72D9-6412-E927-80F98D2ADD81}"/>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405843970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2920"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8165588" y="1346081"/>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20"/>
            <a:ext cx="3566160" cy="4297680"/>
          </a:xfrm>
          <a:prstGeom prst="rect">
            <a:avLst/>
          </a:prstGeom>
          <a:solidFill>
            <a:srgbClr val="0468FF">
              <a:alpha val="1511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348468" y="1583666"/>
            <a:ext cx="3200400"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 name="Title 1">
            <a:extLst>
              <a:ext uri="{FF2B5EF4-FFF2-40B4-BE49-F238E27FC236}">
                <a16:creationId xmlns:a16="http://schemas.microsoft.com/office/drawing/2014/main" id="{3B21EAA1-25DB-EC70-28BC-970F59ABF417}"/>
              </a:ext>
            </a:extLst>
          </p:cNvPr>
          <p:cNvSpPr>
            <a:spLocks noGrp="1"/>
          </p:cNvSpPr>
          <p:nvPr>
            <p:ph type="title"/>
          </p:nvPr>
        </p:nvSpPr>
        <p:spPr>
          <a:xfrm>
            <a:off x="402110" y="492029"/>
            <a:ext cx="11329638" cy="804672"/>
          </a:xfrm>
        </p:spPr>
        <p:txBody>
          <a:bodyPr/>
          <a:lstStyle/>
          <a:p>
            <a:endParaRPr lang="en-US"/>
          </a:p>
        </p:txBody>
      </p:sp>
    </p:spTree>
    <p:extLst>
      <p:ext uri="{BB962C8B-B14F-4D97-AF65-F5344CB8AC3E}">
        <p14:creationId xmlns:p14="http://schemas.microsoft.com/office/powerpoint/2010/main" val="22116682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COL TEX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264819"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14040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015980"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389238" y="1341109"/>
            <a:ext cx="2715768"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121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391060"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270011"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138853" y="1569710"/>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Effra" panose="020B0606080202020204" pitchFamily="34" charset="77"/>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ext Placeholder 15">
            <a:extLst>
              <a:ext uri="{FF2B5EF4-FFF2-40B4-BE49-F238E27FC236}">
                <a16:creationId xmlns:a16="http://schemas.microsoft.com/office/drawing/2014/main" id="{7ADFF41F-5C73-70FE-F753-E671F31D67A0}"/>
              </a:ext>
            </a:extLst>
          </p:cNvPr>
          <p:cNvSpPr>
            <a:spLocks noGrp="1"/>
          </p:cNvSpPr>
          <p:nvPr>
            <p:ph type="body" sz="quarter" idx="11"/>
          </p:nvPr>
        </p:nvSpPr>
        <p:spPr>
          <a:xfrm>
            <a:off x="3391060"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3" name="Text Placeholder 15">
            <a:extLst>
              <a:ext uri="{FF2B5EF4-FFF2-40B4-BE49-F238E27FC236}">
                <a16:creationId xmlns:a16="http://schemas.microsoft.com/office/drawing/2014/main" id="{3BDE4155-1874-CB5D-1ED7-788DA6ACCC68}"/>
              </a:ext>
            </a:extLst>
          </p:cNvPr>
          <p:cNvSpPr>
            <a:spLocks noGrp="1"/>
          </p:cNvSpPr>
          <p:nvPr>
            <p:ph type="body" sz="quarter" idx="12"/>
          </p:nvPr>
        </p:nvSpPr>
        <p:spPr>
          <a:xfrm>
            <a:off x="6270011"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
        <p:nvSpPr>
          <p:cNvPr id="15" name="Text Placeholder 15">
            <a:extLst>
              <a:ext uri="{FF2B5EF4-FFF2-40B4-BE49-F238E27FC236}">
                <a16:creationId xmlns:a16="http://schemas.microsoft.com/office/drawing/2014/main" id="{9C60B4CB-06A4-CB4C-1C9A-05528D708689}"/>
              </a:ext>
            </a:extLst>
          </p:cNvPr>
          <p:cNvSpPr>
            <a:spLocks noGrp="1"/>
          </p:cNvSpPr>
          <p:nvPr>
            <p:ph type="body" sz="quarter" idx="13"/>
          </p:nvPr>
        </p:nvSpPr>
        <p:spPr>
          <a:xfrm>
            <a:off x="512111" y="493776"/>
            <a:ext cx="2468880" cy="738803"/>
          </a:xfrm>
        </p:spPr>
        <p:txBody>
          <a:bodyPr/>
          <a:lstStyle>
            <a:lvl1pPr marL="0" indent="0">
              <a:lnSpc>
                <a:spcPct val="100000"/>
              </a:lnSpc>
              <a:spcBef>
                <a:spcPts val="0"/>
              </a:spcBef>
              <a:buNone/>
              <a:defRPr sz="2400" b="0">
                <a:latin typeface="+mj-lt"/>
              </a:defRPr>
            </a:lvl1pPr>
          </a:lstStyle>
          <a:p>
            <a:pPr lvl="0"/>
            <a:endParaRPr lang="en-US"/>
          </a:p>
        </p:txBody>
      </p:sp>
      <p:sp>
        <p:nvSpPr>
          <p:cNvPr id="16" name="Text Placeholder 15">
            <a:extLst>
              <a:ext uri="{FF2B5EF4-FFF2-40B4-BE49-F238E27FC236}">
                <a16:creationId xmlns:a16="http://schemas.microsoft.com/office/drawing/2014/main" id="{DC1FFA80-C1C7-7395-7E6C-0CE39D3D9B2E}"/>
              </a:ext>
            </a:extLst>
          </p:cNvPr>
          <p:cNvSpPr>
            <a:spLocks noGrp="1"/>
          </p:cNvSpPr>
          <p:nvPr>
            <p:ph type="body" sz="quarter" idx="19"/>
          </p:nvPr>
        </p:nvSpPr>
        <p:spPr>
          <a:xfrm>
            <a:off x="9138853" y="493776"/>
            <a:ext cx="2468879" cy="738803"/>
          </a:xfrm>
        </p:spPr>
        <p:txBody>
          <a:bodyPr/>
          <a:lstStyle>
            <a:lvl1pPr marL="0" indent="0">
              <a:lnSpc>
                <a:spcPct val="100000"/>
              </a:lnSpc>
              <a:spcBef>
                <a:spcPts val="0"/>
              </a:spcBef>
              <a:buNone/>
              <a:defRPr sz="2400" b="0">
                <a:latin typeface="+mj-lt"/>
              </a:defRPr>
            </a:lvl1pPr>
          </a:lstStyle>
          <a:p>
            <a:pPr lvl="0"/>
            <a:endParaRPr lang="en-US"/>
          </a:p>
        </p:txBody>
      </p:sp>
    </p:spTree>
    <p:extLst>
      <p:ext uri="{BB962C8B-B14F-4D97-AF65-F5344CB8AC3E}">
        <p14:creationId xmlns:p14="http://schemas.microsoft.com/office/powerpoint/2010/main" val="16160135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COL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2419"/>
            <a:ext cx="411480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84991" y="1580164"/>
            <a:ext cx="374903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5158440" y="1342419"/>
            <a:ext cx="6382113" cy="4297680"/>
          </a:xfrm>
        </p:spPr>
        <p:txBody>
          <a:bodyPr/>
          <a:lstStyle/>
          <a:p>
            <a:endParaRPr lang="en-US"/>
          </a:p>
        </p:txBody>
      </p:sp>
      <p:sp>
        <p:nvSpPr>
          <p:cNvPr id="2" name="Title 1">
            <a:extLst>
              <a:ext uri="{FF2B5EF4-FFF2-40B4-BE49-F238E27FC236}">
                <a16:creationId xmlns:a16="http://schemas.microsoft.com/office/drawing/2014/main" id="{41C34C18-9CF5-12C3-5CCD-69AF7F33FF20}"/>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41692342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4296664" y="640080"/>
            <a:ext cx="6714837" cy="4573487"/>
          </a:xfrm>
        </p:spPr>
        <p:txBody>
          <a:bodyPr/>
          <a:lstStyle/>
          <a:p>
            <a:endParaRPr lang="en-US"/>
          </a:p>
        </p:txBody>
      </p:sp>
    </p:spTree>
    <p:extLst>
      <p:ext uri="{BB962C8B-B14F-4D97-AF65-F5344CB8AC3E}">
        <p14:creationId xmlns:p14="http://schemas.microsoft.com/office/powerpoint/2010/main" val="217548230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CHART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402110"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2" name="Rectangle 21">
            <a:extLst>
              <a:ext uri="{FF2B5EF4-FFF2-40B4-BE49-F238E27FC236}">
                <a16:creationId xmlns:a16="http://schemas.microsoft.com/office/drawing/2014/main" id="{86B6F805-150A-A1F2-BDDF-F0ECD943C483}"/>
              </a:ext>
            </a:extLst>
          </p:cNvPr>
          <p:cNvSpPr/>
          <p:nvPr userDrawn="1"/>
        </p:nvSpPr>
        <p:spPr>
          <a:xfrm>
            <a:off x="6316149" y="1344167"/>
            <a:ext cx="5415599" cy="429768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hart Placeholder 25">
            <a:extLst>
              <a:ext uri="{FF2B5EF4-FFF2-40B4-BE49-F238E27FC236}">
                <a16:creationId xmlns:a16="http://schemas.microsoft.com/office/drawing/2014/main" id="{68BAC7D2-2741-9ADD-AD1B-E1004A99320F}"/>
              </a:ext>
            </a:extLst>
          </p:cNvPr>
          <p:cNvSpPr>
            <a:spLocks noGrp="1"/>
          </p:cNvSpPr>
          <p:nvPr>
            <p:ph type="chart" sz="quarter" idx="18"/>
          </p:nvPr>
        </p:nvSpPr>
        <p:spPr>
          <a:xfrm>
            <a:off x="6500204" y="1580168"/>
            <a:ext cx="5047488" cy="3794760"/>
          </a:xfrm>
        </p:spPr>
        <p:txBody>
          <a:bodyPr/>
          <a:lstStyle/>
          <a:p>
            <a:endParaRPr lang="en-US"/>
          </a:p>
        </p:txBody>
      </p:sp>
      <p:sp>
        <p:nvSpPr>
          <p:cNvPr id="2" name="Chart Placeholder 25">
            <a:extLst>
              <a:ext uri="{FF2B5EF4-FFF2-40B4-BE49-F238E27FC236}">
                <a16:creationId xmlns:a16="http://schemas.microsoft.com/office/drawing/2014/main" id="{61C651FA-1AC0-20FA-C672-4990AB30FD96}"/>
              </a:ext>
            </a:extLst>
          </p:cNvPr>
          <p:cNvSpPr>
            <a:spLocks noGrp="1"/>
          </p:cNvSpPr>
          <p:nvPr>
            <p:ph type="chart" sz="quarter" idx="19"/>
          </p:nvPr>
        </p:nvSpPr>
        <p:spPr>
          <a:xfrm>
            <a:off x="586165" y="1580168"/>
            <a:ext cx="5047488" cy="3794760"/>
          </a:xfrm>
        </p:spPr>
        <p:txBody>
          <a:bodyPr/>
          <a:lstStyle/>
          <a:p>
            <a:endParaRPr lang="en-US"/>
          </a:p>
        </p:txBody>
      </p:sp>
      <p:sp>
        <p:nvSpPr>
          <p:cNvPr id="3" name="Title 2">
            <a:extLst>
              <a:ext uri="{FF2B5EF4-FFF2-40B4-BE49-F238E27FC236}">
                <a16:creationId xmlns:a16="http://schemas.microsoft.com/office/drawing/2014/main" id="{AC5761DD-9774-F1E8-E80A-2C2D06D1756E}"/>
              </a:ext>
            </a:extLst>
          </p:cNvPr>
          <p:cNvSpPr>
            <a:spLocks noGrp="1"/>
          </p:cNvSpPr>
          <p:nvPr>
            <p:ph type="title"/>
          </p:nvPr>
        </p:nvSpPr>
        <p:spPr>
          <a:xfrm>
            <a:off x="402110" y="492033"/>
            <a:ext cx="11329638" cy="804672"/>
          </a:xfrm>
        </p:spPr>
        <p:txBody>
          <a:bodyPr/>
          <a:lstStyle/>
          <a:p>
            <a:endParaRPr lang="en-US"/>
          </a:p>
        </p:txBody>
      </p:sp>
    </p:spTree>
    <p:extLst>
      <p:ext uri="{BB962C8B-B14F-4D97-AF65-F5344CB8AC3E}">
        <p14:creationId xmlns:p14="http://schemas.microsoft.com/office/powerpoint/2010/main" val="5599501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493776"/>
            <a:ext cx="508429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29319709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SECTION">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AB7E120C-7643-AF2C-5BAE-6690BF438C6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0" y="3429000"/>
            <a:ext cx="12192000" cy="3429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02110" y="2280621"/>
            <a:ext cx="11188082" cy="1042318"/>
          </a:xfrm>
        </p:spPr>
        <p:txBody>
          <a:bodyPr/>
          <a:lstStyle>
            <a:lvl1pPr>
              <a:defRPr sz="3600"/>
            </a:lvl1pPr>
          </a:lstStyle>
          <a:p>
            <a:endParaRPr lang="en-US"/>
          </a:p>
        </p:txBody>
      </p:sp>
      <p:pic>
        <p:nvPicPr>
          <p:cNvPr id="9" name="Graphic 8">
            <a:extLst>
              <a:ext uri="{FF2B5EF4-FFF2-40B4-BE49-F238E27FC236}">
                <a16:creationId xmlns:a16="http://schemas.microsoft.com/office/drawing/2014/main" id="{7A6D5DA3-EFC1-742C-A22F-4583CA13D7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110" y="457200"/>
            <a:ext cx="868683" cy="868683"/>
          </a:xfrm>
          <a:prstGeom prst="rect">
            <a:avLst/>
          </a:prstGeom>
        </p:spPr>
      </p:pic>
      <p:pic>
        <p:nvPicPr>
          <p:cNvPr id="15" name="Picture 14" descr="A blue and black logo&#10;&#10;AI-generated content may be incorrect.">
            <a:extLst>
              <a:ext uri="{FF2B5EF4-FFF2-40B4-BE49-F238E27FC236}">
                <a16:creationId xmlns:a16="http://schemas.microsoft.com/office/drawing/2014/main" id="{EF0F2233-C1DA-DC3C-977B-89CAB353B3AA}"/>
              </a:ext>
            </a:extLst>
          </p:cNvPr>
          <p:cNvPicPr>
            <a:picLocks noChangeAspect="1"/>
          </p:cNvPicPr>
          <p:nvPr userDrawn="1"/>
        </p:nvPicPr>
        <p:blipFill>
          <a:blip r:embed="rId4"/>
          <a:stretch>
            <a:fillRect/>
          </a:stretch>
        </p:blipFill>
        <p:spPr>
          <a:xfrm>
            <a:off x="10415751" y="457200"/>
            <a:ext cx="1315997" cy="333421"/>
          </a:xfrm>
          <a:prstGeom prst="rect">
            <a:avLst/>
          </a:prstGeom>
        </p:spPr>
      </p:pic>
    </p:spTree>
    <p:extLst>
      <p:ext uri="{BB962C8B-B14F-4D97-AF65-F5344CB8AC3E}">
        <p14:creationId xmlns:p14="http://schemas.microsoft.com/office/powerpoint/2010/main" val="6853039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IGHLIGHTS">
    <p:spTree>
      <p:nvGrpSpPr>
        <p:cNvPr id="1" name=""/>
        <p:cNvGrpSpPr/>
        <p:nvPr/>
      </p:nvGrpSpPr>
      <p:grpSpPr>
        <a:xfrm>
          <a:off x="0" y="0"/>
          <a:ext cx="0" cy="0"/>
          <a:chOff x="0" y="0"/>
          <a:chExt cx="0" cy="0"/>
        </a:xfrm>
      </p:grpSpPr>
      <p:pic>
        <p:nvPicPr>
          <p:cNvPr id="2" name="Picture 1" descr="A blue and grey square&#10;&#10;AI-generated content may be incorrect.">
            <a:extLst>
              <a:ext uri="{FF2B5EF4-FFF2-40B4-BE49-F238E27FC236}">
                <a16:creationId xmlns:a16="http://schemas.microsoft.com/office/drawing/2014/main" id="{524E236F-CC73-E2D0-C020-8D9957279446}"/>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p:nvPr>
        </p:nvSpPr>
        <p:spPr>
          <a:xfrm>
            <a:off x="864973" y="1960256"/>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p:nvPr>
        </p:nvSpPr>
        <p:spPr>
          <a:xfrm>
            <a:off x="864973" y="3643093"/>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8" name="Text Placeholder 13">
            <a:extLst>
              <a:ext uri="{FF2B5EF4-FFF2-40B4-BE49-F238E27FC236}">
                <a16:creationId xmlns:a16="http://schemas.microsoft.com/office/drawing/2014/main" id="{6D94F9F4-274D-B690-9371-0E5B46109201}"/>
              </a:ext>
            </a:extLst>
          </p:cNvPr>
          <p:cNvSpPr>
            <a:spLocks noGrp="1"/>
          </p:cNvSpPr>
          <p:nvPr>
            <p:ph type="body" sz="quarter" idx="23"/>
          </p:nvPr>
        </p:nvSpPr>
        <p:spPr>
          <a:xfrm>
            <a:off x="864973" y="2799164"/>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9" name="Text Placeholder 13">
            <a:extLst>
              <a:ext uri="{FF2B5EF4-FFF2-40B4-BE49-F238E27FC236}">
                <a16:creationId xmlns:a16="http://schemas.microsoft.com/office/drawing/2014/main" id="{E6E582D6-6481-778E-C4B6-82C6FC97D280}"/>
              </a:ext>
            </a:extLst>
          </p:cNvPr>
          <p:cNvSpPr>
            <a:spLocks noGrp="1"/>
          </p:cNvSpPr>
          <p:nvPr>
            <p:ph type="body" sz="quarter" idx="24"/>
          </p:nvPr>
        </p:nvSpPr>
        <p:spPr>
          <a:xfrm>
            <a:off x="864973" y="4482001"/>
            <a:ext cx="4794421" cy="283893"/>
          </a:xfrm>
        </p:spPr>
        <p:txBody>
          <a:bodyPr/>
          <a:lstStyle>
            <a:lvl1pPr marL="0" indent="0" algn="l">
              <a:spcBef>
                <a:spcPts val="0"/>
              </a:spcBef>
              <a:buFont typeface="Arial" panose="020B0604020202020204" pitchFamily="34" charset="0"/>
              <a:buNone/>
              <a:defRPr sz="2200" b="0" i="0">
                <a:solidFill>
                  <a:schemeClr val="tx1"/>
                </a:solidFill>
                <a:latin typeface="Arial" panose="020B0604020202020204" pitchFamily="34" charset="0"/>
                <a:cs typeface="Arial" panose="020B0604020202020204" pitchFamily="34" charset="0"/>
              </a:defRPr>
            </a:lvl1pPr>
          </a:lstStyle>
          <a:p>
            <a:pPr lvl="0"/>
            <a:endParaRPr lang="en-US"/>
          </a:p>
        </p:txBody>
      </p:sp>
      <p:sp>
        <p:nvSpPr>
          <p:cNvPr id="7" name="Picture Placeholder 6">
            <a:extLst>
              <a:ext uri="{FF2B5EF4-FFF2-40B4-BE49-F238E27FC236}">
                <a16:creationId xmlns:a16="http://schemas.microsoft.com/office/drawing/2014/main" id="{3B5274B7-679A-8613-5BC3-023EF3052A36}"/>
              </a:ext>
            </a:extLst>
          </p:cNvPr>
          <p:cNvSpPr>
            <a:spLocks noGrp="1"/>
          </p:cNvSpPr>
          <p:nvPr>
            <p:ph type="pic" sz="quarter" idx="28"/>
          </p:nvPr>
        </p:nvSpPr>
        <p:spPr>
          <a:xfrm>
            <a:off x="6270625" y="1517515"/>
            <a:ext cx="5143500" cy="3657600"/>
          </a:xfrm>
          <a:solidFill>
            <a:srgbClr val="A5EFBF">
              <a:alpha val="49821"/>
            </a:srgbClr>
          </a:solidFill>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Title 3">
            <a:extLst>
              <a:ext uri="{FF2B5EF4-FFF2-40B4-BE49-F238E27FC236}">
                <a16:creationId xmlns:a16="http://schemas.microsoft.com/office/drawing/2014/main" id="{E059A8AE-FA6A-9E41-D199-5D700F8750AF}"/>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20674495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COL MIXE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9810897-7BDF-E407-873E-DF057D6B84CE}"/>
              </a:ext>
            </a:extLst>
          </p:cNvPr>
          <p:cNvSpPr/>
          <p:nvPr userDrawn="1"/>
        </p:nvSpPr>
        <p:spPr>
          <a:xfrm>
            <a:off x="649224" y="1346073"/>
            <a:ext cx="5843016"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5039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3" name="Picture Placeholder 4">
            <a:extLst>
              <a:ext uri="{FF2B5EF4-FFF2-40B4-BE49-F238E27FC236}">
                <a16:creationId xmlns:a16="http://schemas.microsoft.com/office/drawing/2014/main" id="{73CE8AA2-1ED4-00D8-F3A4-6E085E753FE3}"/>
              </a:ext>
            </a:extLst>
          </p:cNvPr>
          <p:cNvSpPr>
            <a:spLocks noGrp="1"/>
          </p:cNvSpPr>
          <p:nvPr>
            <p:ph type="pic" sz="quarter" idx="16"/>
          </p:nvPr>
        </p:nvSpPr>
        <p:spPr>
          <a:xfrm>
            <a:off x="6492240" y="1342236"/>
            <a:ext cx="5047488" cy="4297680"/>
          </a:xfrm>
          <a:solidFill>
            <a:srgbClr val="A5EFBF">
              <a:alpha val="50016"/>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24" name="Text Placeholder 13">
            <a:extLst>
              <a:ext uri="{FF2B5EF4-FFF2-40B4-BE49-F238E27FC236}">
                <a16:creationId xmlns:a16="http://schemas.microsoft.com/office/drawing/2014/main" id="{77249610-5178-9FDD-8DC2-AAD1391462B3}"/>
              </a:ext>
            </a:extLst>
          </p:cNvPr>
          <p:cNvSpPr>
            <a:spLocks noGrp="1"/>
          </p:cNvSpPr>
          <p:nvPr>
            <p:ph type="body" sz="quarter" idx="17"/>
          </p:nvPr>
        </p:nvSpPr>
        <p:spPr>
          <a:xfrm>
            <a:off x="3776472" y="1580163"/>
            <a:ext cx="2468879" cy="3749039"/>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3" name="Title 2">
            <a:extLst>
              <a:ext uri="{FF2B5EF4-FFF2-40B4-BE49-F238E27FC236}">
                <a16:creationId xmlns:a16="http://schemas.microsoft.com/office/drawing/2014/main" id="{DD52571E-88FD-10EE-A2C6-754293C0DC78}"/>
              </a:ext>
            </a:extLst>
          </p:cNvPr>
          <p:cNvSpPr>
            <a:spLocks noGrp="1"/>
          </p:cNvSpPr>
          <p:nvPr>
            <p:ph type="title"/>
          </p:nvPr>
        </p:nvSpPr>
        <p:spPr>
          <a:xfrm>
            <a:off x="402110" y="492027"/>
            <a:ext cx="11329638" cy="804672"/>
          </a:xfrm>
        </p:spPr>
        <p:txBody>
          <a:bodyPr/>
          <a:lstStyle/>
          <a:p>
            <a:endParaRPr lang="en-US"/>
          </a:p>
        </p:txBody>
      </p:sp>
      <p:cxnSp>
        <p:nvCxnSpPr>
          <p:cNvPr id="5" name="Straight Connector 4">
            <a:extLst>
              <a:ext uri="{FF2B5EF4-FFF2-40B4-BE49-F238E27FC236}">
                <a16:creationId xmlns:a16="http://schemas.microsoft.com/office/drawing/2014/main" id="{E6BB2486-B7E2-2B4A-1796-A7E1717418CE}"/>
              </a:ext>
            </a:extLst>
          </p:cNvPr>
          <p:cNvCxnSpPr>
            <a:cxnSpLocks/>
          </p:cNvCxnSpPr>
          <p:nvPr userDrawn="1"/>
        </p:nvCxnSpPr>
        <p:spPr>
          <a:xfrm>
            <a:off x="3549289" y="1580163"/>
            <a:ext cx="0" cy="3749039"/>
          </a:xfrm>
          <a:prstGeom prst="line">
            <a:avLst/>
          </a:prstGeom>
          <a:ln>
            <a:solidFill>
              <a:schemeClr val="bg1">
                <a:alpha val="75096"/>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37465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43159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7973568"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649224" y="1342420"/>
            <a:ext cx="3566160"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832104"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4495800"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8156448" y="1525300"/>
            <a:ext cx="3200400" cy="1870023"/>
          </a:xfrm>
          <a:solidFill>
            <a:srgbClr val="A5EFBF">
              <a:alpha val="49701"/>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832104"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4495800"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8156448" y="3621967"/>
            <a:ext cx="3200400" cy="178308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7" name="Title 6">
            <a:extLst>
              <a:ext uri="{FF2B5EF4-FFF2-40B4-BE49-F238E27FC236}">
                <a16:creationId xmlns:a16="http://schemas.microsoft.com/office/drawing/2014/main" id="{84689C92-8851-0117-5163-F217DA8C9D35}"/>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30054196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COL MIXE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00C496D-F884-9501-A570-0275EFCE0BE1}"/>
              </a:ext>
            </a:extLst>
          </p:cNvPr>
          <p:cNvSpPr/>
          <p:nvPr userDrawn="1"/>
        </p:nvSpPr>
        <p:spPr>
          <a:xfrm>
            <a:off x="3306928"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4D9C015-2AF1-3B84-9F7D-493CC6714B2B}"/>
              </a:ext>
            </a:extLst>
          </p:cNvPr>
          <p:cNvSpPr/>
          <p:nvPr userDrawn="1"/>
        </p:nvSpPr>
        <p:spPr>
          <a:xfrm>
            <a:off x="6211746"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30EBCB-CFCE-201F-955D-E252D246E802}"/>
              </a:ext>
            </a:extLst>
          </p:cNvPr>
          <p:cNvSpPr/>
          <p:nvPr userDrawn="1"/>
        </p:nvSpPr>
        <p:spPr>
          <a:xfrm>
            <a:off x="9116564"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810897-7BDF-E407-873E-DF057D6B84CE}"/>
              </a:ext>
            </a:extLst>
          </p:cNvPr>
          <p:cNvSpPr/>
          <p:nvPr userDrawn="1"/>
        </p:nvSpPr>
        <p:spPr>
          <a:xfrm>
            <a:off x="402110" y="1342418"/>
            <a:ext cx="2615184" cy="4297680"/>
          </a:xfrm>
          <a:prstGeom prst="rect">
            <a:avLst/>
          </a:prstGeom>
          <a:solidFill>
            <a:srgbClr val="0468FF">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60C0E5AE-E763-B624-A79D-1CCA08C94A64}"/>
              </a:ext>
            </a:extLst>
          </p:cNvPr>
          <p:cNvSpPr>
            <a:spLocks noGrp="1"/>
          </p:cNvSpPr>
          <p:nvPr>
            <p:ph type="pic" sz="quarter" idx="11"/>
          </p:nvPr>
        </p:nvSpPr>
        <p:spPr>
          <a:xfrm>
            <a:off x="566702"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3" name="Picture Placeholder 4">
            <a:extLst>
              <a:ext uri="{FF2B5EF4-FFF2-40B4-BE49-F238E27FC236}">
                <a16:creationId xmlns:a16="http://schemas.microsoft.com/office/drawing/2014/main" id="{2AB57776-502D-C872-42C9-3E3CE4333A21}"/>
              </a:ext>
            </a:extLst>
          </p:cNvPr>
          <p:cNvSpPr>
            <a:spLocks noGrp="1"/>
          </p:cNvSpPr>
          <p:nvPr>
            <p:ph type="pic" sz="quarter" idx="12"/>
          </p:nvPr>
        </p:nvSpPr>
        <p:spPr>
          <a:xfrm>
            <a:off x="3478485"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8C8E3307-DCC6-156B-3901-30E8E5F97F42}"/>
              </a:ext>
            </a:extLst>
          </p:cNvPr>
          <p:cNvSpPr>
            <a:spLocks noGrp="1"/>
          </p:cNvSpPr>
          <p:nvPr>
            <p:ph type="pic" sz="quarter" idx="13"/>
          </p:nvPr>
        </p:nvSpPr>
        <p:spPr>
          <a:xfrm>
            <a:off x="6358308"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2297C1E0-0407-DD10-8E51-CDCC6D0EB569}"/>
              </a:ext>
            </a:extLst>
          </p:cNvPr>
          <p:cNvSpPr>
            <a:spLocks noGrp="1"/>
          </p:cNvSpPr>
          <p:nvPr>
            <p:ph type="pic" sz="quarter" idx="14"/>
          </p:nvPr>
        </p:nvSpPr>
        <p:spPr>
          <a:xfrm>
            <a:off x="9281156" y="1525300"/>
            <a:ext cx="2286000" cy="1670540"/>
          </a:xfrm>
          <a:solidFill>
            <a:srgbClr val="A5EFBF">
              <a:alpha val="49617"/>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228A861A-2D60-BEFF-E3E7-942A09345AEF}"/>
              </a:ext>
            </a:extLst>
          </p:cNvPr>
          <p:cNvSpPr>
            <a:spLocks noGrp="1"/>
          </p:cNvSpPr>
          <p:nvPr>
            <p:ph type="body" sz="quarter" idx="15"/>
          </p:nvPr>
        </p:nvSpPr>
        <p:spPr>
          <a:xfrm>
            <a:off x="566702"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9" name="Text Placeholder 13">
            <a:extLst>
              <a:ext uri="{FF2B5EF4-FFF2-40B4-BE49-F238E27FC236}">
                <a16:creationId xmlns:a16="http://schemas.microsoft.com/office/drawing/2014/main" id="{76A9CD2A-15B6-4504-D5C6-4AC1E2A0F2AE}"/>
              </a:ext>
            </a:extLst>
          </p:cNvPr>
          <p:cNvSpPr>
            <a:spLocks noGrp="1"/>
          </p:cNvSpPr>
          <p:nvPr>
            <p:ph type="body" sz="quarter" idx="16"/>
          </p:nvPr>
        </p:nvSpPr>
        <p:spPr>
          <a:xfrm>
            <a:off x="3478485"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0" name="Text Placeholder 13">
            <a:extLst>
              <a:ext uri="{FF2B5EF4-FFF2-40B4-BE49-F238E27FC236}">
                <a16:creationId xmlns:a16="http://schemas.microsoft.com/office/drawing/2014/main" id="{00E6EAC3-7DAA-BD2D-11FC-3D105F645284}"/>
              </a:ext>
            </a:extLst>
          </p:cNvPr>
          <p:cNvSpPr>
            <a:spLocks noGrp="1"/>
          </p:cNvSpPr>
          <p:nvPr>
            <p:ph type="body" sz="quarter" idx="17"/>
          </p:nvPr>
        </p:nvSpPr>
        <p:spPr>
          <a:xfrm>
            <a:off x="6358308"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21" name="Text Placeholder 13">
            <a:extLst>
              <a:ext uri="{FF2B5EF4-FFF2-40B4-BE49-F238E27FC236}">
                <a16:creationId xmlns:a16="http://schemas.microsoft.com/office/drawing/2014/main" id="{C2DFA204-BAD7-7D75-D24E-452D9A532AD5}"/>
              </a:ext>
            </a:extLst>
          </p:cNvPr>
          <p:cNvSpPr>
            <a:spLocks noGrp="1"/>
          </p:cNvSpPr>
          <p:nvPr>
            <p:ph type="body" sz="quarter" idx="18"/>
          </p:nvPr>
        </p:nvSpPr>
        <p:spPr>
          <a:xfrm>
            <a:off x="9281156" y="3445540"/>
            <a:ext cx="2286000" cy="1965960"/>
          </a:xfrm>
        </p:spPr>
        <p:txBody>
          <a:bodyPr lIns="0" rIns="0"/>
          <a:lstStyle>
            <a:lvl1pPr marL="174625" indent="-174625">
              <a:spcBef>
                <a:spcPts val="0"/>
              </a:spcBef>
              <a:spcAft>
                <a:spcPts val="1200"/>
              </a:spcAft>
              <a:buFont typeface="Arial" panose="020B0604020202020204" pitchFamily="34" charset="0"/>
              <a:buChar char="•"/>
              <a:tabLst/>
              <a:defRPr sz="2200" b="0" i="0">
                <a:latin typeface="Arial" panose="020B0604020202020204" pitchFamily="34" charset="0"/>
                <a:cs typeface="Arial" panose="020B0604020202020204" pitchFamily="34" charset="0"/>
              </a:defRPr>
            </a:lvl1pPr>
            <a:lvl2pPr marL="0" indent="0">
              <a:spcBef>
                <a:spcPts val="0"/>
              </a:spcBef>
              <a:spcAft>
                <a:spcPts val="1200"/>
              </a:spcAft>
              <a:buFont typeface="Arial" panose="020B0604020202020204" pitchFamily="34" charset="0"/>
              <a:buChar char="•"/>
              <a:defRPr sz="2000"/>
            </a:lvl2pPr>
            <a:lvl3pPr marL="0" indent="0">
              <a:spcBef>
                <a:spcPts val="0"/>
              </a:spcBef>
              <a:spcAft>
                <a:spcPts val="1200"/>
              </a:spcAft>
              <a:buFont typeface="Arial" panose="020B0604020202020204" pitchFamily="34" charset="0"/>
              <a:buChar char="•"/>
              <a:defRPr sz="2000"/>
            </a:lvl3pPr>
            <a:lvl4pPr marL="0" indent="0">
              <a:spcBef>
                <a:spcPts val="0"/>
              </a:spcBef>
              <a:spcAft>
                <a:spcPts val="1200"/>
              </a:spcAft>
              <a:buFont typeface="Arial" panose="020B0604020202020204" pitchFamily="34" charset="0"/>
              <a:buChar char="•"/>
              <a:defRPr sz="2000"/>
            </a:lvl4pPr>
            <a:lvl5pPr marL="0" indent="0">
              <a:spcBef>
                <a:spcPts val="0"/>
              </a:spcBef>
              <a:spcAft>
                <a:spcPts val="1200"/>
              </a:spcAft>
              <a:buFont typeface="Arial" panose="020B0604020202020204" pitchFamily="34" charset="0"/>
              <a:buChar char="•"/>
              <a:defRPr sz="2000"/>
            </a:lvl5pPr>
          </a:lstStyle>
          <a:p>
            <a:pPr lvl="0"/>
            <a:endParaRPr lang="en-US"/>
          </a:p>
        </p:txBody>
      </p:sp>
      <p:sp>
        <p:nvSpPr>
          <p:cNvPr id="12" name="Title 11">
            <a:extLst>
              <a:ext uri="{FF2B5EF4-FFF2-40B4-BE49-F238E27FC236}">
                <a16:creationId xmlns:a16="http://schemas.microsoft.com/office/drawing/2014/main" id="{4997C2CC-41A2-BC8E-5F1C-6E00E82B39D8}"/>
              </a:ext>
            </a:extLst>
          </p:cNvPr>
          <p:cNvSpPr>
            <a:spLocks noGrp="1"/>
          </p:cNvSpPr>
          <p:nvPr>
            <p:ph type="title"/>
          </p:nvPr>
        </p:nvSpPr>
        <p:spPr>
          <a:xfrm>
            <a:off x="402110" y="492028"/>
            <a:ext cx="11329638" cy="804672"/>
          </a:xfrm>
        </p:spPr>
        <p:txBody>
          <a:bodyPr/>
          <a:lstStyle/>
          <a:p>
            <a:endParaRPr lang="en-US"/>
          </a:p>
        </p:txBody>
      </p:sp>
    </p:spTree>
    <p:extLst>
      <p:ext uri="{BB962C8B-B14F-4D97-AF65-F5344CB8AC3E}">
        <p14:creationId xmlns:p14="http://schemas.microsoft.com/office/powerpoint/2010/main" val="872807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ROFILE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
        <p:nvSpPr>
          <p:cNvPr id="2" name="Picture Placeholder 4">
            <a:extLst>
              <a:ext uri="{FF2B5EF4-FFF2-40B4-BE49-F238E27FC236}">
                <a16:creationId xmlns:a16="http://schemas.microsoft.com/office/drawing/2014/main" id="{C96B32D9-F8CD-542A-2195-7D4080183F9E}"/>
              </a:ext>
            </a:extLst>
          </p:cNvPr>
          <p:cNvSpPr>
            <a:spLocks noGrp="1"/>
          </p:cNvSpPr>
          <p:nvPr>
            <p:ph type="pic" sz="quarter" idx="11"/>
          </p:nvPr>
        </p:nvSpPr>
        <p:spPr>
          <a:xfrm>
            <a:off x="1315442"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4" name="Picture Placeholder 4">
            <a:extLst>
              <a:ext uri="{FF2B5EF4-FFF2-40B4-BE49-F238E27FC236}">
                <a16:creationId xmlns:a16="http://schemas.microsoft.com/office/drawing/2014/main" id="{7004F6B9-BCB9-ED24-F5EE-BBBA9CECD9F8}"/>
              </a:ext>
            </a:extLst>
          </p:cNvPr>
          <p:cNvSpPr>
            <a:spLocks noGrp="1"/>
          </p:cNvSpPr>
          <p:nvPr>
            <p:ph type="pic" sz="quarter" idx="12"/>
          </p:nvPr>
        </p:nvSpPr>
        <p:spPr>
          <a:xfrm>
            <a:off x="3897379"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5" name="Picture Placeholder 4">
            <a:extLst>
              <a:ext uri="{FF2B5EF4-FFF2-40B4-BE49-F238E27FC236}">
                <a16:creationId xmlns:a16="http://schemas.microsoft.com/office/drawing/2014/main" id="{3B4A5297-598E-E3C8-0A95-51540BC3D260}"/>
              </a:ext>
            </a:extLst>
          </p:cNvPr>
          <p:cNvSpPr>
            <a:spLocks noGrp="1"/>
          </p:cNvSpPr>
          <p:nvPr>
            <p:ph type="pic" sz="quarter" idx="13"/>
          </p:nvPr>
        </p:nvSpPr>
        <p:spPr>
          <a:xfrm>
            <a:off x="6479316"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7" name="Picture Placeholder 4">
            <a:extLst>
              <a:ext uri="{FF2B5EF4-FFF2-40B4-BE49-F238E27FC236}">
                <a16:creationId xmlns:a16="http://schemas.microsoft.com/office/drawing/2014/main" id="{E7B78071-5E94-8078-4AD2-0AE8834DEAB9}"/>
              </a:ext>
            </a:extLst>
          </p:cNvPr>
          <p:cNvSpPr>
            <a:spLocks noGrp="1"/>
          </p:cNvSpPr>
          <p:nvPr>
            <p:ph type="pic" sz="quarter" idx="14"/>
          </p:nvPr>
        </p:nvSpPr>
        <p:spPr>
          <a:xfrm>
            <a:off x="9061254" y="1360622"/>
            <a:ext cx="1515829" cy="1870023"/>
          </a:xfrm>
          <a:solidFill>
            <a:srgbClr val="A5EFBF">
              <a:alpha val="50259"/>
            </a:srgbClr>
          </a:solidFill>
          <a:effectLst/>
        </p:spPr>
        <p:txBody>
          <a:bodyPr anchor="ctr"/>
          <a:lstStyle>
            <a:lvl1pPr algn="ctr">
              <a:buNone/>
              <a:defRPr sz="2000" b="0" i="0">
                <a:solidFill>
                  <a:schemeClr val="bg1"/>
                </a:solidFill>
                <a:latin typeface="Effra" panose="020B0606080202020204" pitchFamily="34" charset="77"/>
              </a:defRPr>
            </a:lvl1pPr>
          </a:lstStyle>
          <a:p>
            <a:endParaRPr lang="en-US"/>
          </a:p>
        </p:txBody>
      </p:sp>
      <p:sp>
        <p:nvSpPr>
          <p:cNvPr id="14" name="Text Placeholder 13">
            <a:extLst>
              <a:ext uri="{FF2B5EF4-FFF2-40B4-BE49-F238E27FC236}">
                <a16:creationId xmlns:a16="http://schemas.microsoft.com/office/drawing/2014/main" id="{A0A893A3-72C6-A8CF-AB7E-ED43F26A18DB}"/>
              </a:ext>
            </a:extLst>
          </p:cNvPr>
          <p:cNvSpPr>
            <a:spLocks noGrp="1"/>
          </p:cNvSpPr>
          <p:nvPr>
            <p:ph type="body" sz="quarter" idx="15" hasCustomPrompt="1"/>
          </p:nvPr>
        </p:nvSpPr>
        <p:spPr>
          <a:xfrm>
            <a:off x="852727"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5" name="Text Placeholder 13">
            <a:extLst>
              <a:ext uri="{FF2B5EF4-FFF2-40B4-BE49-F238E27FC236}">
                <a16:creationId xmlns:a16="http://schemas.microsoft.com/office/drawing/2014/main" id="{29371B8C-BFB5-17AF-B719-A573F3253DFC}"/>
              </a:ext>
            </a:extLst>
          </p:cNvPr>
          <p:cNvSpPr>
            <a:spLocks noGrp="1"/>
          </p:cNvSpPr>
          <p:nvPr>
            <p:ph type="body" sz="quarter" idx="16" hasCustomPrompt="1"/>
          </p:nvPr>
        </p:nvSpPr>
        <p:spPr>
          <a:xfrm>
            <a:off x="852727"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6" name="Text Placeholder 13">
            <a:extLst>
              <a:ext uri="{FF2B5EF4-FFF2-40B4-BE49-F238E27FC236}">
                <a16:creationId xmlns:a16="http://schemas.microsoft.com/office/drawing/2014/main" id="{58854FFC-2A65-06A1-12DD-C2777EFB103C}"/>
              </a:ext>
            </a:extLst>
          </p:cNvPr>
          <p:cNvSpPr>
            <a:spLocks noGrp="1"/>
          </p:cNvSpPr>
          <p:nvPr>
            <p:ph type="body" sz="quarter" idx="17" hasCustomPrompt="1"/>
          </p:nvPr>
        </p:nvSpPr>
        <p:spPr>
          <a:xfrm>
            <a:off x="3434664"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7" name="Text Placeholder 13">
            <a:extLst>
              <a:ext uri="{FF2B5EF4-FFF2-40B4-BE49-F238E27FC236}">
                <a16:creationId xmlns:a16="http://schemas.microsoft.com/office/drawing/2014/main" id="{D049AA64-036D-670D-E038-1F7A37DA315F}"/>
              </a:ext>
            </a:extLst>
          </p:cNvPr>
          <p:cNvSpPr>
            <a:spLocks noGrp="1"/>
          </p:cNvSpPr>
          <p:nvPr>
            <p:ph type="body" sz="quarter" idx="18" hasCustomPrompt="1"/>
          </p:nvPr>
        </p:nvSpPr>
        <p:spPr>
          <a:xfrm>
            <a:off x="3434664"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18" name="Text Placeholder 13">
            <a:extLst>
              <a:ext uri="{FF2B5EF4-FFF2-40B4-BE49-F238E27FC236}">
                <a16:creationId xmlns:a16="http://schemas.microsoft.com/office/drawing/2014/main" id="{42F73FA2-C232-05D4-4B8C-ACE371E4B843}"/>
              </a:ext>
            </a:extLst>
          </p:cNvPr>
          <p:cNvSpPr>
            <a:spLocks noGrp="1"/>
          </p:cNvSpPr>
          <p:nvPr>
            <p:ph type="body" sz="quarter" idx="19" hasCustomPrompt="1"/>
          </p:nvPr>
        </p:nvSpPr>
        <p:spPr>
          <a:xfrm>
            <a:off x="6016601"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19" name="Text Placeholder 13">
            <a:extLst>
              <a:ext uri="{FF2B5EF4-FFF2-40B4-BE49-F238E27FC236}">
                <a16:creationId xmlns:a16="http://schemas.microsoft.com/office/drawing/2014/main" id="{3A5DBFD9-96F8-94D0-529B-2B5E24342EA7}"/>
              </a:ext>
            </a:extLst>
          </p:cNvPr>
          <p:cNvSpPr>
            <a:spLocks noGrp="1"/>
          </p:cNvSpPr>
          <p:nvPr>
            <p:ph type="body" sz="quarter" idx="20" hasCustomPrompt="1"/>
          </p:nvPr>
        </p:nvSpPr>
        <p:spPr>
          <a:xfrm>
            <a:off x="6016601"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
        <p:nvSpPr>
          <p:cNvPr id="20" name="Text Placeholder 13">
            <a:extLst>
              <a:ext uri="{FF2B5EF4-FFF2-40B4-BE49-F238E27FC236}">
                <a16:creationId xmlns:a16="http://schemas.microsoft.com/office/drawing/2014/main" id="{6DBE7ACC-CAA4-1F8B-5784-8A7C4DB08D46}"/>
              </a:ext>
            </a:extLst>
          </p:cNvPr>
          <p:cNvSpPr>
            <a:spLocks noGrp="1"/>
          </p:cNvSpPr>
          <p:nvPr>
            <p:ph type="body" sz="quarter" idx="21" hasCustomPrompt="1"/>
          </p:nvPr>
        </p:nvSpPr>
        <p:spPr>
          <a:xfrm>
            <a:off x="8598539" y="3496246"/>
            <a:ext cx="2441259" cy="283893"/>
          </a:xfrm>
        </p:spPr>
        <p:txBody>
          <a:bodyPr/>
          <a:lstStyle>
            <a:lvl1pPr marL="0" indent="0" algn="ctr">
              <a:spcBef>
                <a:spcPts val="0"/>
              </a:spcBef>
              <a:buFont typeface="Arial" panose="020B0604020202020204" pitchFamily="34" charset="0"/>
              <a:buNone/>
              <a:defRPr sz="2200" b="1" i="0">
                <a:latin typeface="Arial" panose="020B0604020202020204" pitchFamily="34" charset="0"/>
                <a:cs typeface="Arial" panose="020B0604020202020204" pitchFamily="34" charset="0"/>
              </a:defRPr>
            </a:lvl1pPr>
          </a:lstStyle>
          <a:p>
            <a:pPr lvl="0"/>
            <a:r>
              <a:rPr lang="en-US"/>
              <a:t>Name</a:t>
            </a:r>
          </a:p>
        </p:txBody>
      </p:sp>
      <p:sp>
        <p:nvSpPr>
          <p:cNvPr id="21" name="Text Placeholder 13">
            <a:extLst>
              <a:ext uri="{FF2B5EF4-FFF2-40B4-BE49-F238E27FC236}">
                <a16:creationId xmlns:a16="http://schemas.microsoft.com/office/drawing/2014/main" id="{A71A8F6A-A550-86DB-BEF7-D9A808A01C43}"/>
              </a:ext>
            </a:extLst>
          </p:cNvPr>
          <p:cNvSpPr>
            <a:spLocks noGrp="1"/>
          </p:cNvSpPr>
          <p:nvPr>
            <p:ph type="body" sz="quarter" idx="22" hasCustomPrompt="1"/>
          </p:nvPr>
        </p:nvSpPr>
        <p:spPr>
          <a:xfrm>
            <a:off x="8598539" y="3855322"/>
            <a:ext cx="2441259" cy="283893"/>
          </a:xfrm>
        </p:spPr>
        <p:txBody>
          <a:bodyPr/>
          <a:lstStyle>
            <a:lvl1pPr marL="0" indent="0" algn="ctr">
              <a:spcBef>
                <a:spcPts val="0"/>
              </a:spcBef>
              <a:buFont typeface="Arial" panose="020B0604020202020204" pitchFamily="34" charset="0"/>
              <a:buNone/>
              <a:defRPr sz="1600" b="0" i="0">
                <a:latin typeface="Arial" panose="020B0604020202020204" pitchFamily="34" charset="0"/>
                <a:cs typeface="Arial" panose="020B0604020202020204" pitchFamily="34" charset="0"/>
              </a:defRPr>
            </a:lvl1pPr>
          </a:lstStyle>
          <a:p>
            <a:pPr lvl="0"/>
            <a:r>
              <a:rPr lang="en-US"/>
              <a:t>GO/Title</a:t>
            </a:r>
          </a:p>
        </p:txBody>
      </p:sp>
    </p:spTree>
    <p:extLst>
      <p:ext uri="{BB962C8B-B14F-4D97-AF65-F5344CB8AC3E}">
        <p14:creationId xmlns:p14="http://schemas.microsoft.com/office/powerpoint/2010/main" val="35741623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FULL PIC">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54E264-2E68-0859-A429-BDAC7C8826B9}"/>
              </a:ext>
            </a:extLst>
          </p:cNvPr>
          <p:cNvSpPr>
            <a:spLocks noGrp="1"/>
          </p:cNvSpPr>
          <p:nvPr>
            <p:ph type="pic" idx="1"/>
          </p:nvPr>
        </p:nvSpPr>
        <p:spPr>
          <a:xfrm>
            <a:off x="0" y="0"/>
            <a:ext cx="12191999" cy="6858000"/>
          </a:xfrm>
          <a:solidFill>
            <a:srgbClr val="A5EFBF">
              <a:alpha val="49884"/>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5CEA0256-834D-1158-7BFE-3BB66AB3ACD8}"/>
              </a:ext>
            </a:extLst>
          </p:cNvPr>
          <p:cNvSpPr>
            <a:spLocks noGrp="1"/>
          </p:cNvSpPr>
          <p:nvPr>
            <p:ph type="sldNum" sz="quarter" idx="12"/>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32365526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21556671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731748" y="6232230"/>
            <a:ext cx="288523" cy="365125"/>
          </a:xfrm>
          <a:prstGeom prst="rect">
            <a:avLst/>
          </a:prstGeom>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18462106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a:xfrm>
            <a:off x="11731748" y="6232230"/>
            <a:ext cx="288523" cy="365125"/>
          </a:xfrm>
          <a:prstGeom prst="rect">
            <a:avLst/>
          </a:prstGeom>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10817156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over No 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F75F61-2287-D7E7-AD82-03153BB900E0}"/>
              </a:ext>
            </a:extLst>
          </p:cNvPr>
          <p:cNvPicPr>
            <a:picLocks noChangeAspect="1"/>
          </p:cNvPicPr>
          <p:nvPr userDrawn="1"/>
        </p:nvPicPr>
        <p:blipFill>
          <a:blip r:embed="rId2"/>
          <a:srcRect/>
          <a:stretch/>
        </p:blipFill>
        <p:spPr>
          <a:xfrm>
            <a:off x="458530" y="462713"/>
            <a:ext cx="11274939" cy="5932574"/>
          </a:xfrm>
          <a:prstGeom prst="rect">
            <a:avLst/>
          </a:prstGeom>
        </p:spPr>
      </p:pic>
      <p:pic>
        <p:nvPicPr>
          <p:cNvPr id="19" name="Graphic 18">
            <a:extLst>
              <a:ext uri="{FF2B5EF4-FFF2-40B4-BE49-F238E27FC236}">
                <a16:creationId xmlns:a16="http://schemas.microsoft.com/office/drawing/2014/main" id="{1DFD2D1D-3ADB-0050-2627-4DDDD1607E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0" y="457200"/>
            <a:ext cx="868683" cy="868683"/>
          </a:xfrm>
          <a:prstGeom prst="rect">
            <a:avLst/>
          </a:prstGeom>
        </p:spPr>
      </p:pic>
      <p:sp>
        <p:nvSpPr>
          <p:cNvPr id="3" name="Content Placeholder 2">
            <a:extLst>
              <a:ext uri="{FF2B5EF4-FFF2-40B4-BE49-F238E27FC236}">
                <a16:creationId xmlns:a16="http://schemas.microsoft.com/office/drawing/2014/main" id="{3FA7034E-0EB8-678B-611F-573F36D3C2CD}"/>
              </a:ext>
            </a:extLst>
          </p:cNvPr>
          <p:cNvSpPr>
            <a:spLocks noGrp="1"/>
          </p:cNvSpPr>
          <p:nvPr>
            <p:ph idx="14" hasCustomPrompt="1"/>
          </p:nvPr>
        </p:nvSpPr>
        <p:spPr>
          <a:xfrm>
            <a:off x="5300132" y="4408061"/>
            <a:ext cx="5969000" cy="364204"/>
          </a:xfrm>
          <a:prstGeom prst="rect">
            <a:avLst/>
          </a:prstGeom>
        </p:spPr>
        <p:txBody>
          <a:bodyPr lIns="0" tIns="0" rIns="0" bIns="0" anchor="b" anchorCtr="0"/>
          <a:lstStyle>
            <a:lvl1pPr marL="0" indent="0">
              <a:lnSpc>
                <a:spcPct val="120000"/>
              </a:lnSpc>
              <a:spcBef>
                <a:spcPts val="600"/>
              </a:spcBef>
              <a:buNone/>
              <a:defRPr sz="1600">
                <a:solidFill>
                  <a:schemeClr val="tx1"/>
                </a:solidFill>
                <a:latin typeface="+mj-lt"/>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Optional Subheading</a:t>
            </a:r>
          </a:p>
        </p:txBody>
      </p:sp>
      <p:sp>
        <p:nvSpPr>
          <p:cNvPr id="4" name="Title 1">
            <a:extLst>
              <a:ext uri="{FF2B5EF4-FFF2-40B4-BE49-F238E27FC236}">
                <a16:creationId xmlns:a16="http://schemas.microsoft.com/office/drawing/2014/main" id="{3B14B21E-98B1-E57D-4A00-0F38F24ADDC0}"/>
              </a:ext>
            </a:extLst>
          </p:cNvPr>
          <p:cNvSpPr>
            <a:spLocks noGrp="1"/>
          </p:cNvSpPr>
          <p:nvPr>
            <p:ph type="title" hasCustomPrompt="1"/>
          </p:nvPr>
        </p:nvSpPr>
        <p:spPr>
          <a:xfrm>
            <a:off x="5300132" y="2870648"/>
            <a:ext cx="5969000" cy="1354217"/>
          </a:xfrm>
          <a:prstGeom prst="rect">
            <a:avLst/>
          </a:prstGeom>
        </p:spPr>
        <p:txBody>
          <a:bodyPr lIns="0" tIns="0" rIns="0" bIns="0" anchor="b" anchorCtr="0"/>
          <a:lstStyle>
            <a:lvl1pPr marL="0" indent="0">
              <a:lnSpc>
                <a:spcPct val="100000"/>
              </a:lnSpc>
              <a:tabLst>
                <a:tab pos="2225675" algn="l"/>
              </a:tabLst>
              <a:defRPr sz="4400">
                <a:solidFill>
                  <a:schemeClr val="tx1"/>
                </a:solidFill>
              </a:defRPr>
            </a:lvl1pPr>
          </a:lstStyle>
          <a:p>
            <a:r>
              <a:rPr lang="en-US"/>
              <a:t>Presentation</a:t>
            </a:r>
            <a:br>
              <a:rPr lang="en-US"/>
            </a:br>
            <a:r>
              <a:rPr lang="en-US"/>
              <a:t>Heading</a:t>
            </a:r>
          </a:p>
        </p:txBody>
      </p:sp>
      <p:sp>
        <p:nvSpPr>
          <p:cNvPr id="5" name="Content Placeholder 2">
            <a:extLst>
              <a:ext uri="{FF2B5EF4-FFF2-40B4-BE49-F238E27FC236}">
                <a16:creationId xmlns:a16="http://schemas.microsoft.com/office/drawing/2014/main" id="{8E86221C-59C6-093A-D248-6D5255DF9984}"/>
              </a:ext>
            </a:extLst>
          </p:cNvPr>
          <p:cNvSpPr>
            <a:spLocks noGrp="1"/>
          </p:cNvSpPr>
          <p:nvPr>
            <p:ph idx="15" hasCustomPrompt="1"/>
          </p:nvPr>
        </p:nvSpPr>
        <p:spPr>
          <a:xfrm>
            <a:off x="5300132" y="4878902"/>
            <a:ext cx="5969000" cy="158763"/>
          </a:xfrm>
          <a:prstGeom prst="rect">
            <a:avLst/>
          </a:prstGeom>
        </p:spPr>
        <p:txBody>
          <a:bodyPr lIns="0" tIns="0" rIns="0" bIns="0" anchor="b" anchorCtr="0"/>
          <a:lstStyle>
            <a:lvl1pPr marL="0" indent="0">
              <a:lnSpc>
                <a:spcPct val="120000"/>
              </a:lnSpc>
              <a:spcBef>
                <a:spcPts val="600"/>
              </a:spcBef>
              <a:buNone/>
              <a:defRPr sz="1050">
                <a:solidFill>
                  <a:schemeClr val="tx1"/>
                </a:solidFill>
              </a:defRPr>
            </a:lvl1pPr>
            <a:lvl2pPr marL="457200" indent="0">
              <a:lnSpc>
                <a:spcPct val="120000"/>
              </a:lnSpc>
              <a:spcBef>
                <a:spcPts val="600"/>
              </a:spcBef>
              <a:buFont typeface="Arial" panose="020B0604020202020204" pitchFamily="34" charset="0"/>
              <a:buNone/>
              <a:defRPr sz="1800">
                <a:solidFill>
                  <a:schemeClr val="accent3"/>
                </a:solidFill>
              </a:defRPr>
            </a:lvl2pPr>
            <a:lvl3pPr marL="914400" indent="0">
              <a:lnSpc>
                <a:spcPct val="120000"/>
              </a:lnSpc>
              <a:spcBef>
                <a:spcPts val="600"/>
              </a:spcBef>
              <a:buNone/>
              <a:defRPr sz="1600"/>
            </a:lvl3pPr>
            <a:lvl4pPr marL="1371600" indent="0">
              <a:lnSpc>
                <a:spcPct val="120000"/>
              </a:lnSpc>
              <a:spcBef>
                <a:spcPts val="600"/>
              </a:spcBef>
              <a:buNone/>
              <a:defRPr sz="1400"/>
            </a:lvl4pPr>
            <a:lvl5pPr marL="1828800" indent="0">
              <a:lnSpc>
                <a:spcPct val="120000"/>
              </a:lnSpc>
              <a:spcBef>
                <a:spcPts val="600"/>
              </a:spcBef>
              <a:buNone/>
              <a:defRPr sz="1400"/>
            </a:lvl5pPr>
          </a:lstStyle>
          <a:p>
            <a:pPr lvl="0"/>
            <a:r>
              <a:rPr lang="en-US"/>
              <a:t>Date</a:t>
            </a:r>
          </a:p>
        </p:txBody>
      </p:sp>
    </p:spTree>
    <p:extLst>
      <p:ext uri="{BB962C8B-B14F-4D97-AF65-F5344CB8AC3E}">
        <p14:creationId xmlns:p14="http://schemas.microsoft.com/office/powerpoint/2010/main" val="1263166571"/>
      </p:ext>
    </p:extLst>
  </p:cSld>
  <p:clrMapOvr>
    <a:masterClrMapping/>
  </p:clrMapOvr>
  <p:extLst>
    <p:ext uri="{DCECCB84-F9BA-43D5-87BE-67443E8EF086}">
      <p15:sldGuideLst xmlns:p15="http://schemas.microsoft.com/office/powerpoint/2012/main">
        <p15:guide id="1" pos="3360">
          <p15:clr>
            <a:srgbClr val="A4A3A4"/>
          </p15:clr>
        </p15:guide>
        <p15:guide id="2" pos="7104">
          <p15:clr>
            <a:srgbClr val="A4A3A4"/>
          </p15:clr>
        </p15:guide>
        <p15:guide id="3" orient="horz" pos="1344">
          <p15:clr>
            <a:srgbClr val="A4A3A4"/>
          </p15:clr>
        </p15:guide>
        <p15:guide id="4" orient="horz" pos="3744">
          <p15:clr>
            <a:srgbClr val="A4A3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Blank">
    <p:bg>
      <p:bgPr>
        <a:gradFill>
          <a:gsLst>
            <a:gs pos="83000">
              <a:srgbClr val="8FC3FF"/>
            </a:gs>
            <a:gs pos="100000">
              <a:srgbClr val="80BAFF"/>
            </a:gs>
            <a:gs pos="26000">
              <a:srgbClr val="A9D4FF"/>
            </a:gs>
          </a:gsLst>
          <a:path path="circle">
            <a:fillToRect l="50000" t="50000" r="50000" b="5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57138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0068497"/>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967565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46671-891F-05B5-E76C-0E97C7654478}"/>
              </a:ext>
            </a:extLst>
          </p:cNvPr>
          <p:cNvSpPr>
            <a:spLocks noGrp="1"/>
          </p:cNvSpPr>
          <p:nvPr>
            <p:ph type="title" hasCustomPrompt="1"/>
          </p:nvPr>
        </p:nvSpPr>
        <p:spPr>
          <a:xfrm>
            <a:off x="439946" y="381000"/>
            <a:ext cx="11294854" cy="496033"/>
          </a:xfrm>
        </p:spPr>
        <p:txBody>
          <a:bodyPr wrap="square">
            <a:noAutofit/>
          </a:bodyPr>
          <a:lstStyle>
            <a:lvl1pPr>
              <a:spcBef>
                <a:spcPts val="800"/>
              </a:spcBef>
              <a:defRPr sz="3200">
                <a:solidFill>
                  <a:schemeClr val="tx1"/>
                </a:solidFill>
              </a:defRPr>
            </a:lvl1pPr>
          </a:lstStyle>
          <a:p>
            <a:r>
              <a:rPr lang="en-US"/>
              <a:t>Main heading</a:t>
            </a:r>
          </a:p>
        </p:txBody>
      </p:sp>
      <p:sp>
        <p:nvSpPr>
          <p:cNvPr id="3" name="Content Placeholder 2">
            <a:extLst>
              <a:ext uri="{FF2B5EF4-FFF2-40B4-BE49-F238E27FC236}">
                <a16:creationId xmlns:a16="http://schemas.microsoft.com/office/drawing/2014/main" id="{6C62AF48-D0E9-35B2-E289-CB02A3E2F065}"/>
              </a:ext>
            </a:extLst>
          </p:cNvPr>
          <p:cNvSpPr>
            <a:spLocks noGrp="1"/>
          </p:cNvSpPr>
          <p:nvPr>
            <p:ph idx="1"/>
          </p:nvPr>
        </p:nvSpPr>
        <p:spPr>
          <a:xfrm>
            <a:off x="457200" y="1714500"/>
            <a:ext cx="11277600" cy="4114800"/>
          </a:xfrm>
          <a:prstGeom prst="rect">
            <a:avLst/>
          </a:prstGeom>
        </p:spPr>
        <p:txBody>
          <a:bodyPr/>
          <a:lstStyle>
            <a:lvl1pPr>
              <a:lnSpc>
                <a:spcPct val="120000"/>
              </a:lnSpc>
              <a:spcBef>
                <a:spcPts val="600"/>
              </a:spcBef>
              <a:defRPr sz="2000">
                <a:solidFill>
                  <a:srgbClr val="000000"/>
                </a:solidFill>
              </a:defRPr>
            </a:lvl1pPr>
            <a:lvl2pPr marL="685800" indent="-228600">
              <a:lnSpc>
                <a:spcPct val="120000"/>
              </a:lnSpc>
              <a:spcBef>
                <a:spcPts val="600"/>
              </a:spcBef>
              <a:buFont typeface="System Font Regular"/>
              <a:buChar char="⎼"/>
              <a:defRPr sz="1800">
                <a:solidFill>
                  <a:srgbClr val="000000"/>
                </a:solidFill>
              </a:defRPr>
            </a:lvl2pPr>
            <a:lvl3pPr>
              <a:lnSpc>
                <a:spcPct val="120000"/>
              </a:lnSpc>
              <a:spcBef>
                <a:spcPts val="600"/>
              </a:spcBef>
              <a:defRPr sz="1600">
                <a:solidFill>
                  <a:srgbClr val="000000"/>
                </a:solidFill>
              </a:defRPr>
            </a:lvl3pPr>
            <a:lvl4pPr marL="1600200" indent="-228600">
              <a:lnSpc>
                <a:spcPct val="120000"/>
              </a:lnSpc>
              <a:spcBef>
                <a:spcPts val="600"/>
              </a:spcBef>
              <a:buFont typeface="System Font Regular"/>
              <a:buChar char="⎼"/>
              <a:defRPr sz="1400">
                <a:solidFill>
                  <a:srgbClr val="000000"/>
                </a:solidFill>
              </a:defRPr>
            </a:lvl4pPr>
            <a:lvl5pPr>
              <a:lnSpc>
                <a:spcPct val="120000"/>
              </a:lnSpc>
              <a:spcBef>
                <a:spcPts val="600"/>
              </a:spcBef>
              <a:defRPr sz="1400">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9D31BAC0-BC8B-E413-6089-9DD81A14F6B4}"/>
              </a:ext>
            </a:extLst>
          </p:cNvPr>
          <p:cNvSpPr>
            <a:spLocks noGrp="1"/>
          </p:cNvSpPr>
          <p:nvPr>
            <p:ph type="body" sz="quarter" idx="12" hasCustomPrompt="1"/>
          </p:nvPr>
        </p:nvSpPr>
        <p:spPr>
          <a:xfrm>
            <a:off x="439946" y="953242"/>
            <a:ext cx="11294854" cy="496033"/>
          </a:xfrm>
          <a:prstGeom prst="rect">
            <a:avLst/>
          </a:prstGeom>
        </p:spPr>
        <p:txBody>
          <a:bodyPr wrap="square">
            <a:noAutofit/>
          </a:bodyPr>
          <a:lstStyle>
            <a:lvl1pPr marL="0" indent="0">
              <a:lnSpc>
                <a:spcPct val="110000"/>
              </a:lnSpc>
              <a:spcBef>
                <a:spcPts val="800"/>
              </a:spcBef>
              <a:spcAft>
                <a:spcPts val="0"/>
              </a:spcAft>
              <a:buNone/>
              <a:defRPr sz="2200" spc="0">
                <a:solidFill>
                  <a:schemeClr val="tx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subheading or intro line</a:t>
            </a:r>
          </a:p>
        </p:txBody>
      </p:sp>
    </p:spTree>
    <p:extLst>
      <p:ext uri="{BB962C8B-B14F-4D97-AF65-F5344CB8AC3E}">
        <p14:creationId xmlns:p14="http://schemas.microsoft.com/office/powerpoint/2010/main" val="2600870424"/>
      </p:ext>
    </p:extLst>
  </p:cSld>
  <p:clrMapOvr>
    <a:masterClrMapping/>
  </p:clrMapOvr>
  <p:extLst>
    <p:ext uri="{DCECCB84-F9BA-43D5-87BE-67443E8EF086}">
      <p15:sldGuideLst xmlns:p15="http://schemas.microsoft.com/office/powerpoint/2012/main">
        <p15:guide id="1" orient="horz" pos="1080">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609806" y="1488141"/>
            <a:ext cx="5038854" cy="4233390"/>
          </a:xfrm>
        </p:spPr>
        <p:txBody>
          <a:bodyPr lIns="0" anchor="t" anchorCtr="0"/>
          <a:lstStyle>
            <a:lvl1pPr algn="l">
              <a:defRPr sz="44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3" name="Picture 2" descr="A blue and grey square&#10;&#10;AI-generated content may be incorrect.">
            <a:extLst>
              <a:ext uri="{FF2B5EF4-FFF2-40B4-BE49-F238E27FC236}">
                <a16:creationId xmlns:a16="http://schemas.microsoft.com/office/drawing/2014/main" id="{CDBA8C77-70CA-13DB-6585-126480192E47}"/>
              </a:ext>
            </a:extLst>
          </p:cNvPr>
          <p:cNvPicPr>
            <a:picLocks noChangeAspect="1"/>
          </p:cNvPicPr>
          <p:nvPr userDrawn="1"/>
        </p:nvPicPr>
        <p:blipFill>
          <a:blip r:embed="rId2">
            <a:alphaModFix amt="70000"/>
          </a:blip>
          <a:stretch>
            <a:fillRect/>
          </a:stretch>
        </p:blipFill>
        <p:spPr>
          <a:xfrm>
            <a:off x="0" y="616857"/>
            <a:ext cx="6265333" cy="6241143"/>
          </a:xfrm>
          <a:prstGeom prst="rect">
            <a:avLst/>
          </a:prstGeom>
        </p:spPr>
      </p:pic>
    </p:spTree>
    <p:extLst>
      <p:ext uri="{BB962C8B-B14F-4D97-AF65-F5344CB8AC3E}">
        <p14:creationId xmlns:p14="http://schemas.microsoft.com/office/powerpoint/2010/main" val="265319474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7C06F-3A45-C2D3-0C85-2FD896706BE6}"/>
              </a:ext>
            </a:extLst>
          </p:cNvPr>
          <p:cNvSpPr>
            <a:spLocks noGrp="1"/>
          </p:cNvSpPr>
          <p:nvPr>
            <p:ph type="ctrTitle"/>
          </p:nvPr>
        </p:nvSpPr>
        <p:spPr>
          <a:xfrm>
            <a:off x="678766" y="2485075"/>
            <a:ext cx="10834468" cy="943925"/>
          </a:xfrm>
        </p:spPr>
        <p:txBody>
          <a:bodyPr lIns="0" anchor="t" anchorCtr="0"/>
          <a:lstStyle>
            <a:lvl1pPr algn="ctr">
              <a:defRPr sz="5000"/>
            </a:lvl1pPr>
          </a:lstStyle>
          <a:p>
            <a:endParaRPr lang="en-US"/>
          </a:p>
        </p:txBody>
      </p:sp>
      <p:sp>
        <p:nvSpPr>
          <p:cNvPr id="7" name="Slide Number Placeholder 6">
            <a:extLst>
              <a:ext uri="{FF2B5EF4-FFF2-40B4-BE49-F238E27FC236}">
                <a16:creationId xmlns:a16="http://schemas.microsoft.com/office/drawing/2014/main" id="{FA8C3873-535F-49FE-D601-EC949D8E4006}"/>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Tree>
    <p:extLst>
      <p:ext uri="{BB962C8B-B14F-4D97-AF65-F5344CB8AC3E}">
        <p14:creationId xmlns:p14="http://schemas.microsoft.com/office/powerpoint/2010/main" val="12083496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COL TEXT A">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marL="0" indent="0">
              <a:buNone/>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8" name="Title 7">
            <a:extLst>
              <a:ext uri="{FF2B5EF4-FFF2-40B4-BE49-F238E27FC236}">
                <a16:creationId xmlns:a16="http://schemas.microsoft.com/office/drawing/2014/main" id="{55693EF2-8722-D131-EA6A-161C518F1622}"/>
              </a:ext>
            </a:extLst>
          </p:cNvPr>
          <p:cNvSpPr>
            <a:spLocks noGrp="1"/>
          </p:cNvSpPr>
          <p:nvPr>
            <p:ph type="title"/>
          </p:nvPr>
        </p:nvSpPr>
        <p:spPr>
          <a:xfrm>
            <a:off x="6665369" y="493776"/>
            <a:ext cx="4754880" cy="1219201"/>
          </a:xfrm>
        </p:spPr>
        <p:txBody>
          <a:bodyPr/>
          <a:lstStyle/>
          <a:p>
            <a:endParaRPr lang="en-US"/>
          </a:p>
        </p:txBody>
      </p:sp>
    </p:spTree>
    <p:extLst>
      <p:ext uri="{BB962C8B-B14F-4D97-AF65-F5344CB8AC3E}">
        <p14:creationId xmlns:p14="http://schemas.microsoft.com/office/powerpoint/2010/main" val="8176885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 TEXT B">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72864C1-3601-6187-77DA-9D9215AFC840}"/>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3" name="Content Placeholder 2">
            <a:extLst>
              <a:ext uri="{FF2B5EF4-FFF2-40B4-BE49-F238E27FC236}">
                <a16:creationId xmlns:a16="http://schemas.microsoft.com/office/drawing/2014/main" id="{2152F376-714B-C424-0086-85769E648601}"/>
              </a:ext>
            </a:extLst>
          </p:cNvPr>
          <p:cNvSpPr>
            <a:spLocks noGrp="1"/>
          </p:cNvSpPr>
          <p:nvPr>
            <p:ph sz="quarter" idx="11"/>
          </p:nvPr>
        </p:nvSpPr>
        <p:spPr>
          <a:xfrm>
            <a:off x="6704466" y="1920240"/>
            <a:ext cx="4754880" cy="2843408"/>
          </a:xfrm>
        </p:spPr>
        <p:txBody>
          <a:bodyPr/>
          <a:lstStyle>
            <a:lvl1pPr>
              <a:defRPr sz="2200" b="0" i="0">
                <a:latin typeface="Effra Medium" panose="020B0606080202020204" pitchFamily="34" charset="77"/>
              </a:defRPr>
            </a:lvl1pPr>
            <a:lvl2pPr marL="685800" indent="-220663">
              <a:buFont typeface="Wingdings" pitchFamily="2" charset="2"/>
              <a:buChar char="§"/>
              <a:tabLst/>
              <a:defRPr sz="2000"/>
            </a:lvl2pPr>
            <a:lvl3pPr marL="685800" indent="-220663">
              <a:buFont typeface="Wingdings" pitchFamily="2" charset="2"/>
              <a:buChar char="§"/>
              <a:tabLst/>
              <a:defRPr sz="2200"/>
            </a:lvl3pPr>
            <a:lvl4pPr marL="685800" indent="-220663">
              <a:buFont typeface="Wingdings" pitchFamily="2" charset="2"/>
              <a:buChar char="§"/>
              <a:tabLst/>
              <a:defRPr sz="2200"/>
            </a:lvl4pPr>
            <a:lvl5pPr marL="685800" indent="-220663">
              <a:buFont typeface="Wingdings" pitchFamily="2" charset="2"/>
              <a:buChar char="§"/>
              <a:tabLst/>
              <a:defRPr sz="2200"/>
            </a:lvl5pPr>
          </a:lstStyle>
          <a:p>
            <a:pPr lvl="0"/>
            <a:endParaRPr lang="en-US"/>
          </a:p>
        </p:txBody>
      </p:sp>
      <p:sp>
        <p:nvSpPr>
          <p:cNvPr id="5" name="Title 4">
            <a:extLst>
              <a:ext uri="{FF2B5EF4-FFF2-40B4-BE49-F238E27FC236}">
                <a16:creationId xmlns:a16="http://schemas.microsoft.com/office/drawing/2014/main" id="{2D529423-01B6-FD0F-9F4A-0764671527B0}"/>
              </a:ext>
            </a:extLst>
          </p:cNvPr>
          <p:cNvSpPr>
            <a:spLocks noGrp="1"/>
          </p:cNvSpPr>
          <p:nvPr>
            <p:ph type="title"/>
          </p:nvPr>
        </p:nvSpPr>
        <p:spPr>
          <a:xfrm>
            <a:off x="6665369" y="493776"/>
            <a:ext cx="4754880" cy="1219200"/>
          </a:xfrm>
        </p:spPr>
        <p:txBody>
          <a:bodyPr/>
          <a:lstStyle/>
          <a:p>
            <a:endParaRPr lang="en-US"/>
          </a:p>
        </p:txBody>
      </p:sp>
    </p:spTree>
    <p:extLst>
      <p:ext uri="{BB962C8B-B14F-4D97-AF65-F5344CB8AC3E}">
        <p14:creationId xmlns:p14="http://schemas.microsoft.com/office/powerpoint/2010/main" val="379794812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6C28B780-3A50-0A40-CDE0-D8FE581DEB63}"/>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sp>
        <p:nvSpPr>
          <p:cNvPr id="7" name="Picture Placeholder 2">
            <a:extLst>
              <a:ext uri="{FF2B5EF4-FFF2-40B4-BE49-F238E27FC236}">
                <a16:creationId xmlns:a16="http://schemas.microsoft.com/office/drawing/2014/main" id="{CA992317-2EB7-BE94-DA22-137A68110825}"/>
              </a:ext>
            </a:extLst>
          </p:cNvPr>
          <p:cNvSpPr>
            <a:spLocks noGrp="1"/>
          </p:cNvSpPr>
          <p:nvPr>
            <p:ph type="pic" idx="14"/>
          </p:nvPr>
        </p:nvSpPr>
        <p:spPr>
          <a:xfrm>
            <a:off x="6096000" y="0"/>
            <a:ext cx="6096000" cy="6858000"/>
          </a:xfrm>
          <a:solidFill>
            <a:srgbClr val="A5EFBF">
              <a:alpha val="50000"/>
            </a:srgbClr>
          </a:solidFill>
        </p:spPr>
        <p:txBody>
          <a:bodyPr lIns="0" anchor="ctr" anchorCtr="0"/>
          <a:lstStyle>
            <a:lvl1pPr marL="0" indent="0" algn="ctr">
              <a:buFont typeface="Arial" panose="020B0604020202020204" pitchFamily="34" charset="0"/>
              <a:buNone/>
              <a:defRPr sz="2000" b="0" i="0">
                <a:solidFill>
                  <a:schemeClr val="bg1"/>
                </a:solidFill>
                <a:latin typeface="Effra" panose="020B0606080202020204" pitchFamily="34"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3" name="Title 2">
            <a:extLst>
              <a:ext uri="{FF2B5EF4-FFF2-40B4-BE49-F238E27FC236}">
                <a16:creationId xmlns:a16="http://schemas.microsoft.com/office/drawing/2014/main" id="{EC3CB6E0-0218-7DCC-B7E5-3C90E485F68E}"/>
              </a:ext>
            </a:extLst>
          </p:cNvPr>
          <p:cNvSpPr>
            <a:spLocks noGrp="1"/>
          </p:cNvSpPr>
          <p:nvPr>
            <p:ph type="title"/>
          </p:nvPr>
        </p:nvSpPr>
        <p:spPr>
          <a:xfrm>
            <a:off x="457200" y="493776"/>
            <a:ext cx="5029200" cy="2487168"/>
          </a:xfrm>
        </p:spPr>
        <p:txBody>
          <a:bodyPr/>
          <a:lstStyle>
            <a:lvl1pPr>
              <a:defRPr sz="3600">
                <a:solidFill>
                  <a:srgbClr val="000A62"/>
                </a:solidFill>
              </a:defRPr>
            </a:lvl1pPr>
          </a:lstStyle>
          <a:p>
            <a:endParaRPr lang="en-US"/>
          </a:p>
        </p:txBody>
      </p:sp>
    </p:spTree>
    <p:extLst>
      <p:ext uri="{BB962C8B-B14F-4D97-AF65-F5344CB8AC3E}">
        <p14:creationId xmlns:p14="http://schemas.microsoft.com/office/powerpoint/2010/main" val="7189437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2" name="Graphic 1">
            <a:extLst>
              <a:ext uri="{FF2B5EF4-FFF2-40B4-BE49-F238E27FC236}">
                <a16:creationId xmlns:a16="http://schemas.microsoft.com/office/drawing/2014/main" id="{8F53EAEA-39FB-5B87-7263-2C114FEFF040}"/>
              </a:ext>
            </a:extLst>
          </p:cNvPr>
          <p:cNvPicPr>
            <a:picLocks noChangeAspect="1"/>
          </p:cNvPicPr>
          <p:nvPr userDrawn="1"/>
        </p:nvPicPr>
        <p:blipFill>
          <a:blip r:embed="rId3"/>
          <a:srcRect/>
          <a:stretch/>
        </p:blipFill>
        <p:spPr>
          <a:xfrm>
            <a:off x="4856245" y="2183735"/>
            <a:ext cx="2479509" cy="2490530"/>
          </a:xfrm>
          <a:prstGeom prst="rect">
            <a:avLst/>
          </a:prstGeom>
          <a:effectLst/>
        </p:spPr>
      </p:pic>
    </p:spTree>
    <p:extLst>
      <p:ext uri="{BB962C8B-B14F-4D97-AF65-F5344CB8AC3E}">
        <p14:creationId xmlns:p14="http://schemas.microsoft.com/office/powerpoint/2010/main" val="38288960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reserve="1">
  <p:cSld name="1_LOGO">
    <p:spTree>
      <p:nvGrpSpPr>
        <p:cNvPr id="1" name=""/>
        <p:cNvGrpSpPr/>
        <p:nvPr/>
      </p:nvGrpSpPr>
      <p:grpSpPr>
        <a:xfrm>
          <a:off x="0" y="0"/>
          <a:ext cx="0" cy="0"/>
          <a:chOff x="0" y="0"/>
          <a:chExt cx="0" cy="0"/>
        </a:xfrm>
      </p:grpSpPr>
      <p:pic>
        <p:nvPicPr>
          <p:cNvPr id="11" name="Picture 10" descr="A blue and grey square&#10;&#10;AI-generated content may be incorrect.">
            <a:extLst>
              <a:ext uri="{FF2B5EF4-FFF2-40B4-BE49-F238E27FC236}">
                <a16:creationId xmlns:a16="http://schemas.microsoft.com/office/drawing/2014/main" id="{2DF24091-7EBA-FD4B-03D5-2769DDC4F69B}"/>
              </a:ext>
            </a:extLst>
          </p:cNvPr>
          <p:cNvPicPr>
            <a:picLocks noChangeAspect="1"/>
          </p:cNvPicPr>
          <p:nvPr userDrawn="1"/>
        </p:nvPicPr>
        <p:blipFill>
          <a:blip r:embed="rId2">
            <a:alphaModFix amt="20000"/>
          </a:blip>
          <a:stretch>
            <a:fillRect/>
          </a:stretch>
        </p:blipFill>
        <p:spPr>
          <a:xfrm>
            <a:off x="0" y="304800"/>
            <a:ext cx="6578600" cy="6553200"/>
          </a:xfrm>
          <a:prstGeom prst="rect">
            <a:avLst/>
          </a:prstGeom>
        </p:spPr>
      </p:pic>
      <p:sp>
        <p:nvSpPr>
          <p:cNvPr id="5" name="Slide Number Placeholder 4">
            <a:extLst>
              <a:ext uri="{FF2B5EF4-FFF2-40B4-BE49-F238E27FC236}">
                <a16:creationId xmlns:a16="http://schemas.microsoft.com/office/drawing/2014/main" id="{A3A316E3-CAB5-B928-EE34-9F06B6E0FB69}"/>
              </a:ext>
            </a:extLst>
          </p:cNvPr>
          <p:cNvSpPr>
            <a:spLocks noGrp="1"/>
          </p:cNvSpPr>
          <p:nvPr>
            <p:ph type="sldNum" sz="quarter" idx="10"/>
          </p:nvPr>
        </p:nvSpPr>
        <p:spPr>
          <a:xfrm>
            <a:off x="11650342" y="6232230"/>
            <a:ext cx="430079" cy="365125"/>
          </a:xfrm>
          <a:prstGeom prst="rect">
            <a:avLst/>
          </a:prstGeom>
        </p:spPr>
        <p:txBody>
          <a:bodyPr lIns="0" anchor="ctr" anchorCtr="0"/>
          <a:lstStyle/>
          <a:p>
            <a:fld id="{A1371F83-EA4D-3B47-99B9-95D90583DC1D}" type="slidenum">
              <a:rPr lang="en-US" smtClean="0"/>
              <a:t>‹#›</a:t>
            </a:fld>
            <a:endParaRPr lang="en-US"/>
          </a:p>
        </p:txBody>
      </p:sp>
      <p:pic>
        <p:nvPicPr>
          <p:cNvPr id="4" name="Picture 3" descr="A blue and black logo&#10;&#10;AI-generated content may be incorrect.">
            <a:extLst>
              <a:ext uri="{FF2B5EF4-FFF2-40B4-BE49-F238E27FC236}">
                <a16:creationId xmlns:a16="http://schemas.microsoft.com/office/drawing/2014/main" id="{998306C0-7B5B-AB98-EC2E-C89EC1D1A8F9}"/>
              </a:ext>
            </a:extLst>
          </p:cNvPr>
          <p:cNvPicPr>
            <a:picLocks noChangeAspect="1"/>
          </p:cNvPicPr>
          <p:nvPr userDrawn="1"/>
        </p:nvPicPr>
        <p:blipFill>
          <a:blip r:embed="rId3"/>
          <a:stretch>
            <a:fillRect/>
          </a:stretch>
        </p:blipFill>
        <p:spPr>
          <a:xfrm>
            <a:off x="2919977" y="2624326"/>
            <a:ext cx="6352045" cy="1609347"/>
          </a:xfrm>
          <a:prstGeom prst="rect">
            <a:avLst/>
          </a:prstGeom>
        </p:spPr>
      </p:pic>
    </p:spTree>
    <p:extLst>
      <p:ext uri="{BB962C8B-B14F-4D97-AF65-F5344CB8AC3E}">
        <p14:creationId xmlns:p14="http://schemas.microsoft.com/office/powerpoint/2010/main" val="27356299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FD5C82-2B6A-9AA6-4865-DCCB468D4BC5}"/>
              </a:ext>
            </a:extLst>
          </p:cNvPr>
          <p:cNvSpPr>
            <a:spLocks noGrp="1"/>
          </p:cNvSpPr>
          <p:nvPr>
            <p:ph type="sldNum" sz="quarter" idx="10"/>
          </p:nvPr>
        </p:nvSpPr>
        <p:spPr>
          <a:xfrm>
            <a:off x="11650342" y="6232230"/>
            <a:ext cx="430079" cy="365125"/>
          </a:xfrm>
          <a:prstGeom prst="rect">
            <a:avLst/>
          </a:prstGeom>
        </p:spPr>
        <p:txBody>
          <a:bodyPr/>
          <a:lstStyle/>
          <a:p>
            <a:fld id="{A1371F83-EA4D-3B47-99B9-95D90583DC1D}" type="slidenum">
              <a:rPr lang="en-US" smtClean="0"/>
              <a:pPr/>
              <a:t>‹#›</a:t>
            </a:fld>
            <a:endParaRPr lang="en-US"/>
          </a:p>
        </p:txBody>
      </p:sp>
    </p:spTree>
    <p:extLst>
      <p:ext uri="{BB962C8B-B14F-4D97-AF65-F5344CB8AC3E}">
        <p14:creationId xmlns:p14="http://schemas.microsoft.com/office/powerpoint/2010/main" val="153091480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6525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3.png"/><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2.emf"/><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1.png"/><Relationship Id="rId5" Type="http://schemas.openxmlformats.org/officeDocument/2006/relationships/slideLayout" Target="../slideLayouts/slideLayout25.xml"/><Relationship Id="rId10" Type="http://schemas.openxmlformats.org/officeDocument/2006/relationships/theme" Target="../theme/theme2.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34" Type="http://schemas.openxmlformats.org/officeDocument/2006/relationships/image" Target="../media/image1.png"/><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image" Target="../media/image2.emf"/><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3.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image" Target="../media/image3.png"/><Relationship Id="rId8"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3.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image" Target="../media/image6.svg"/><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image" Target="../media/image2.emf"/><Relationship Id="rId5" Type="http://schemas.openxmlformats.org/officeDocument/2006/relationships/slideLayout" Target="../slideLayouts/slideLayout65.xml"/><Relationship Id="rId10" Type="http://schemas.openxmlformats.org/officeDocument/2006/relationships/theme" Target="../theme/theme4.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22"/>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200" y="493776"/>
            <a:ext cx="11275835"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275834"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23"/>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0" name="Rectangle 9">
            <a:extLst>
              <a:ext uri="{FF2B5EF4-FFF2-40B4-BE49-F238E27FC236}">
                <a16:creationId xmlns:a16="http://schemas.microsoft.com/office/drawing/2014/main" id="{F3B603B8-6657-DBEA-8218-6D5AF03436ED}"/>
              </a:ext>
            </a:extLst>
          </p:cNvPr>
          <p:cNvSpPr/>
          <p:nvPr userDrawn="1"/>
        </p:nvSpPr>
        <p:spPr>
          <a:xfrm>
            <a:off x="0" y="6128899"/>
            <a:ext cx="12192000" cy="559648"/>
          </a:xfrm>
          <a:prstGeom prst="rect">
            <a:avLst/>
          </a:prstGeom>
          <a:gradFill flip="none" rotWithShape="1">
            <a:gsLst>
              <a:gs pos="96000">
                <a:schemeClr val="bg1">
                  <a:alpha val="50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blue and black logo&#10;&#10;AI-generated content may be incorrect.">
            <a:extLst>
              <a:ext uri="{FF2B5EF4-FFF2-40B4-BE49-F238E27FC236}">
                <a16:creationId xmlns:a16="http://schemas.microsoft.com/office/drawing/2014/main" id="{16D4158C-5B8E-5DB6-2358-80EF43FEA6C9}"/>
              </a:ext>
            </a:extLst>
          </p:cNvPr>
          <p:cNvPicPr>
            <a:picLocks noChangeAspect="1"/>
          </p:cNvPicPr>
          <p:nvPr userDrawn="1"/>
        </p:nvPicPr>
        <p:blipFill>
          <a:blip r:embed="rId24"/>
          <a:stretch>
            <a:fillRect/>
          </a:stretch>
        </p:blipFill>
        <p:spPr>
          <a:xfrm>
            <a:off x="10064218" y="6251684"/>
            <a:ext cx="1239653" cy="314078"/>
          </a:xfrm>
          <a:prstGeom prst="rect">
            <a:avLst/>
          </a:prstGeom>
        </p:spPr>
      </p:pic>
      <p:sp>
        <p:nvSpPr>
          <p:cNvPr id="4" name="TextBox 3">
            <a:extLst>
              <a:ext uri="{FF2B5EF4-FFF2-40B4-BE49-F238E27FC236}">
                <a16:creationId xmlns:a16="http://schemas.microsoft.com/office/drawing/2014/main" id="{9C1E0DA9-3015-34A0-4456-518524F4A5A9}"/>
              </a:ext>
            </a:extLst>
          </p:cNvPr>
          <p:cNvSpPr txBox="1"/>
          <p:nvPr userDrawn="1"/>
        </p:nvSpPr>
        <p:spPr>
          <a:xfrm>
            <a:off x="11303871" y="6303527"/>
            <a:ext cx="429164" cy="210391"/>
          </a:xfrm>
          <a:prstGeom prst="rect">
            <a:avLst/>
          </a:prstGeom>
          <a:noFill/>
        </p:spPr>
        <p:txBody>
          <a:bodyPr wrap="square" lIns="0" tIns="0" rIns="0" bIns="0" rtlCol="0" anchor="t" anchorCtr="0">
            <a:noAutofit/>
          </a:bodyPr>
          <a:lstStyle/>
          <a:p>
            <a:pPr marL="0" algn="r" defTabSz="914400" rtl="0" eaLnBrk="1" latinLnBrk="0" hangingPunct="1"/>
            <a:fld id="{B14C4DC2-5DCA-497B-95BC-EA9B7B01D74F}" type="slidenum">
              <a:rPr lang="en-ID" sz="1000" b="0" kern="1200" smtClean="0">
                <a:solidFill>
                  <a:schemeClr val="bg2">
                    <a:lumMod val="25000"/>
                  </a:schemeClr>
                </a:solidFill>
                <a:latin typeface="+mn-lt"/>
                <a:ea typeface="+mn-ea"/>
                <a:cs typeface="+mn-cs"/>
              </a:rPr>
              <a:pPr marL="0" algn="r" defTabSz="914400" rtl="0" eaLnBrk="1" latinLnBrk="0" hangingPunct="1"/>
              <a:t>‹#›</a:t>
            </a:fld>
            <a:endParaRPr lang="en-ID" sz="1000" b="0" kern="1200">
              <a:solidFill>
                <a:schemeClr val="bg2">
                  <a:lumMod val="25000"/>
                </a:schemeClr>
              </a:solidFill>
              <a:latin typeface="+mn-lt"/>
              <a:ea typeface="+mn-ea"/>
              <a:cs typeface="+mn-cs"/>
            </a:endParaRPr>
          </a:p>
        </p:txBody>
      </p:sp>
    </p:spTree>
    <p:extLst>
      <p:ext uri="{BB962C8B-B14F-4D97-AF65-F5344CB8AC3E}">
        <p14:creationId xmlns:p14="http://schemas.microsoft.com/office/powerpoint/2010/main" val="3754868560"/>
      </p:ext>
    </p:extLst>
  </p:cSld>
  <p:clrMap bg1="lt1" tx1="dk1" bg2="lt2" tx2="dk2" accent1="accent1" accent2="accent2" accent3="accent3" accent4="accent4" accent5="accent5" accent6="accent6" hlink="hlink" folHlink="folHlink"/>
  <p:sldLayoutIdLst>
    <p:sldLayoutId id="2147485857" r:id="rId1"/>
    <p:sldLayoutId id="2147486010" r:id="rId2"/>
    <p:sldLayoutId id="2147485862" r:id="rId3"/>
    <p:sldLayoutId id="2147485863" r:id="rId4"/>
    <p:sldLayoutId id="2147485865" r:id="rId5"/>
    <p:sldLayoutId id="2147485866" r:id="rId6"/>
    <p:sldLayoutId id="2147485873" r:id="rId7"/>
    <p:sldLayoutId id="2147485881" r:id="rId8"/>
    <p:sldLayoutId id="2147485882" r:id="rId9"/>
    <p:sldLayoutId id="2147485883" r:id="rId10"/>
    <p:sldLayoutId id="2147483703" r:id="rId11"/>
    <p:sldLayoutId id="2147486060" r:id="rId12"/>
    <p:sldLayoutId id="2147486073" r:id="rId13"/>
    <p:sldLayoutId id="2147486095" r:id="rId14"/>
    <p:sldLayoutId id="2147486175" r:id="rId15"/>
    <p:sldLayoutId id="2147486176" r:id="rId16"/>
    <p:sldLayoutId id="2147486177" r:id="rId17"/>
    <p:sldLayoutId id="2147486178" r:id="rId18"/>
    <p:sldLayoutId id="2147486179" r:id="rId19"/>
    <p:sldLayoutId id="2147486180" r:id="rId20"/>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000"/>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00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396">
          <p15:clr>
            <a:srgbClr val="F26B43"/>
          </p15:clr>
        </p15:guide>
        <p15:guide id="3" pos="7287">
          <p15:clr>
            <a:srgbClr val="F26B43"/>
          </p15:clr>
        </p15:guide>
        <p15:guide id="4" orient="horz" pos="3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266E34C-F502-134A-A6E8-BEE726C9500E}"/>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a:extLst>
              <a:ext uri="{FF2B5EF4-FFF2-40B4-BE49-F238E27FC236}">
                <a16:creationId xmlns:a16="http://schemas.microsoft.com/office/drawing/2014/main" id="{627F9DBD-C578-1BC4-D502-322F3D2B8C73}"/>
              </a:ext>
            </a:extLst>
          </p:cNvPr>
          <p:cNvPicPr>
            <a:picLocks noChangeAspect="1"/>
          </p:cNvPicPr>
          <p:nvPr/>
        </p:nvPicPr>
        <p:blipFill>
          <a:blip r:embed="rId11"/>
          <a:srcRect/>
          <a:stretch/>
        </p:blipFill>
        <p:spPr>
          <a:xfrm>
            <a:off x="457200" y="6186192"/>
            <a:ext cx="455176" cy="457200"/>
          </a:xfrm>
          <a:prstGeom prst="rect">
            <a:avLst/>
          </a:prstGeom>
          <a:effectLst/>
        </p:spPr>
      </p:pic>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199" y="493776"/>
            <a:ext cx="11336693"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33669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C25DD03-798E-DA9C-D9CE-8905DBA17BC8}"/>
              </a:ext>
            </a:extLst>
          </p:cNvPr>
          <p:cNvSpPr>
            <a:spLocks noGrp="1"/>
          </p:cNvSpPr>
          <p:nvPr userDrawn="1">
            <p:ph type="sldNum" sz="quarter" idx="4"/>
          </p:nvPr>
        </p:nvSpPr>
        <p:spPr>
          <a:xfrm>
            <a:off x="11650342" y="6232230"/>
            <a:ext cx="430079" cy="365125"/>
          </a:xfrm>
          <a:prstGeom prst="rect">
            <a:avLst/>
          </a:prstGeom>
        </p:spPr>
        <p:txBody>
          <a:bodyPr vert="horz" lIns="0" tIns="0" rIns="0" bIns="0" rtlCol="0" anchor="ctr" anchorCtr="0">
            <a:noAutofit/>
          </a:bodyPr>
          <a:lstStyle>
            <a:lvl1pPr algn="r">
              <a:defRPr sz="10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2"/>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5" name="Picture 4" descr="A blue and black logo&#10;&#10;AI-generated content may be incorrect.">
            <a:extLst>
              <a:ext uri="{FF2B5EF4-FFF2-40B4-BE49-F238E27FC236}">
                <a16:creationId xmlns:a16="http://schemas.microsoft.com/office/drawing/2014/main" id="{F237A442-77B1-39AF-2F30-661CC1C646CD}"/>
              </a:ext>
            </a:extLst>
          </p:cNvPr>
          <p:cNvPicPr>
            <a:picLocks noChangeAspect="1"/>
          </p:cNvPicPr>
          <p:nvPr userDrawn="1"/>
        </p:nvPicPr>
        <p:blipFill>
          <a:blip r:embed="rId13"/>
          <a:stretch>
            <a:fillRect/>
          </a:stretch>
        </p:blipFill>
        <p:spPr>
          <a:xfrm>
            <a:off x="10554240" y="6251684"/>
            <a:ext cx="1239653" cy="314078"/>
          </a:xfrm>
          <a:prstGeom prst="rect">
            <a:avLst/>
          </a:prstGeom>
        </p:spPr>
      </p:pic>
    </p:spTree>
    <p:extLst>
      <p:ext uri="{BB962C8B-B14F-4D97-AF65-F5344CB8AC3E}">
        <p14:creationId xmlns:p14="http://schemas.microsoft.com/office/powerpoint/2010/main" val="2469548628"/>
      </p:ext>
    </p:extLst>
  </p:cSld>
  <p:clrMap bg1="lt1" tx1="dk1" bg2="lt2" tx2="dk2" accent1="accent1" accent2="accent2" accent3="accent3" accent4="accent4" accent5="accent5" accent6="accent6" hlink="hlink" folHlink="folHlink"/>
  <p:sldLayoutIdLst>
    <p:sldLayoutId id="2147486182" r:id="rId1"/>
    <p:sldLayoutId id="2147486183" r:id="rId2"/>
    <p:sldLayoutId id="2147486184" r:id="rId3"/>
    <p:sldLayoutId id="2147486185" r:id="rId4"/>
    <p:sldLayoutId id="2147486186" r:id="rId5"/>
    <p:sldLayoutId id="2147486187" r:id="rId6"/>
    <p:sldLayoutId id="2147486188" r:id="rId7"/>
    <p:sldLayoutId id="2147486189" r:id="rId8"/>
    <p:sldLayoutId id="2147486190" r:id="rId9"/>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288">
          <p15:clr>
            <a:srgbClr val="F26B43"/>
          </p15:clr>
        </p15:guide>
        <p15:guide id="3" pos="7287">
          <p15:clr>
            <a:srgbClr val="F26B43"/>
          </p15:clr>
        </p15:guide>
        <p15:guide id="4" orient="horz" pos="375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8000">
              <a:srgbClr val="80BAFF"/>
            </a:gs>
            <a:gs pos="25000">
              <a:srgbClr val="A9D4FF"/>
            </a:gs>
          </a:gsLst>
          <a:lin ang="5400000" scaled="0"/>
          <a:tileRect/>
        </a:gradFill>
        <a:effectLst/>
      </p:bgPr>
    </p:bg>
    <p:spTree>
      <p:nvGrpSpPr>
        <p:cNvPr id="1" name=""/>
        <p:cNvGrpSpPr/>
        <p:nvPr/>
      </p:nvGrpSpPr>
      <p:grpSpPr>
        <a:xfrm>
          <a:off x="0" y="0"/>
          <a:ext cx="0" cy="0"/>
          <a:chOff x="0" y="0"/>
          <a:chExt cx="0" cy="0"/>
        </a:xfrm>
      </p:grpSpPr>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21041" y="493776"/>
            <a:ext cx="11310707"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21041" y="1554480"/>
            <a:ext cx="11310707"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33"/>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Rectangle 3">
            <a:extLst>
              <a:ext uri="{FF2B5EF4-FFF2-40B4-BE49-F238E27FC236}">
                <a16:creationId xmlns:a16="http://schemas.microsoft.com/office/drawing/2014/main" id="{97CD32D6-D755-6652-D69F-0CF2C70CA1D3}"/>
              </a:ext>
            </a:extLst>
          </p:cNvPr>
          <p:cNvSpPr/>
          <p:nvPr userDrawn="1"/>
        </p:nvSpPr>
        <p:spPr>
          <a:xfrm>
            <a:off x="0" y="6128899"/>
            <a:ext cx="12192000" cy="559648"/>
          </a:xfrm>
          <a:prstGeom prst="rect">
            <a:avLst/>
          </a:prstGeom>
          <a:gradFill flip="none" rotWithShape="1">
            <a:gsLst>
              <a:gs pos="75000">
                <a:schemeClr val="bg1">
                  <a:alpha val="61000"/>
                </a:schemeClr>
              </a:gs>
              <a:gs pos="25000">
                <a:schemeClr val="bg1">
                  <a:alpha val="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1">
            <a:extLst>
              <a:ext uri="{FF2B5EF4-FFF2-40B4-BE49-F238E27FC236}">
                <a16:creationId xmlns:a16="http://schemas.microsoft.com/office/drawing/2014/main" id="{74D42C50-4918-03C5-725C-6A2874C0E0B6}"/>
              </a:ext>
            </a:extLst>
          </p:cNvPr>
          <p:cNvPicPr>
            <a:picLocks noChangeAspect="1"/>
          </p:cNvPicPr>
          <p:nvPr userDrawn="1"/>
        </p:nvPicPr>
        <p:blipFill>
          <a:blip r:embed="rId34"/>
          <a:srcRect/>
          <a:stretch/>
        </p:blipFill>
        <p:spPr>
          <a:xfrm>
            <a:off x="457200" y="6186192"/>
            <a:ext cx="455176" cy="457200"/>
          </a:xfrm>
          <a:prstGeom prst="rect">
            <a:avLst/>
          </a:prstGeom>
          <a:effectLst/>
        </p:spPr>
      </p:pic>
      <p:pic>
        <p:nvPicPr>
          <p:cNvPr id="12" name="Picture 11" descr="A blue and black logo&#10;&#10;AI-generated content may be incorrect.">
            <a:extLst>
              <a:ext uri="{FF2B5EF4-FFF2-40B4-BE49-F238E27FC236}">
                <a16:creationId xmlns:a16="http://schemas.microsoft.com/office/drawing/2014/main" id="{5BDFB2C8-D430-2730-C0D7-BD2A391AAE90}"/>
              </a:ext>
            </a:extLst>
          </p:cNvPr>
          <p:cNvPicPr>
            <a:picLocks noChangeAspect="1"/>
          </p:cNvPicPr>
          <p:nvPr userDrawn="1"/>
        </p:nvPicPr>
        <p:blipFill>
          <a:blip r:embed="rId35"/>
          <a:stretch>
            <a:fillRect/>
          </a:stretch>
        </p:blipFill>
        <p:spPr>
          <a:xfrm>
            <a:off x="10554240" y="6251684"/>
            <a:ext cx="1239653" cy="314078"/>
          </a:xfrm>
          <a:prstGeom prst="rect">
            <a:avLst/>
          </a:prstGeom>
        </p:spPr>
      </p:pic>
    </p:spTree>
    <p:extLst>
      <p:ext uri="{BB962C8B-B14F-4D97-AF65-F5344CB8AC3E}">
        <p14:creationId xmlns:p14="http://schemas.microsoft.com/office/powerpoint/2010/main" val="3338423448"/>
      </p:ext>
    </p:extLst>
  </p:cSld>
  <p:clrMap bg1="lt1" tx1="dk1" bg2="lt2" tx2="dk2" accent1="accent1" accent2="accent2" accent3="accent3" accent4="accent4" accent5="accent5" accent6="accent6" hlink="hlink" folHlink="folHlink"/>
  <p:sldLayoutIdLst>
    <p:sldLayoutId id="2147486192" r:id="rId1"/>
    <p:sldLayoutId id="2147486193" r:id="rId2"/>
    <p:sldLayoutId id="2147486194" r:id="rId3"/>
    <p:sldLayoutId id="2147486195" r:id="rId4"/>
    <p:sldLayoutId id="2147486196" r:id="rId5"/>
    <p:sldLayoutId id="2147486197" r:id="rId6"/>
    <p:sldLayoutId id="2147486198" r:id="rId7"/>
    <p:sldLayoutId id="2147486199" r:id="rId8"/>
    <p:sldLayoutId id="2147486200" r:id="rId9"/>
    <p:sldLayoutId id="2147486201" r:id="rId10"/>
    <p:sldLayoutId id="2147486202" r:id="rId11"/>
    <p:sldLayoutId id="2147486203" r:id="rId12"/>
    <p:sldLayoutId id="2147486204" r:id="rId13"/>
    <p:sldLayoutId id="2147486205" r:id="rId14"/>
    <p:sldLayoutId id="2147486206" r:id="rId15"/>
    <p:sldLayoutId id="2147486207" r:id="rId16"/>
    <p:sldLayoutId id="2147486208" r:id="rId17"/>
    <p:sldLayoutId id="2147486209" r:id="rId18"/>
    <p:sldLayoutId id="2147486210" r:id="rId19"/>
    <p:sldLayoutId id="2147486211" r:id="rId20"/>
    <p:sldLayoutId id="2147486212" r:id="rId21"/>
    <p:sldLayoutId id="2147486213" r:id="rId22"/>
    <p:sldLayoutId id="2147486214" r:id="rId23"/>
    <p:sldLayoutId id="2147486215" r:id="rId24"/>
    <p:sldLayoutId id="2147486216" r:id="rId25"/>
    <p:sldLayoutId id="2147486217" r:id="rId26"/>
    <p:sldLayoutId id="2147486218" r:id="rId27"/>
    <p:sldLayoutId id="2147486219" r:id="rId28"/>
    <p:sldLayoutId id="2147486220" r:id="rId29"/>
    <p:sldLayoutId id="2147486221" r:id="rId30"/>
    <p:sldLayoutId id="2147486222" r:id="rId31"/>
  </p:sldLayoutIdLst>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3000">
              <a:srgbClr val="73ACED"/>
            </a:gs>
            <a:gs pos="100000">
              <a:srgbClr val="699DD8"/>
            </a:gs>
            <a:gs pos="26000">
              <a:srgbClr val="9AC8FF"/>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1" name="Cut Out" hidden="1">
            <a:extLst>
              <a:ext uri="{FF2B5EF4-FFF2-40B4-BE49-F238E27FC236}">
                <a16:creationId xmlns:a16="http://schemas.microsoft.com/office/drawing/2014/main" id="{645A4865-68ED-9412-B75A-3F8ACB57FB6E}"/>
              </a:ext>
            </a:extLst>
          </p:cNvPr>
          <p:cNvGrpSpPr/>
          <p:nvPr userDrawn="1"/>
        </p:nvGrpSpPr>
        <p:grpSpPr>
          <a:xfrm>
            <a:off x="-247316" y="391974"/>
            <a:ext cx="5968819" cy="6782282"/>
            <a:chOff x="-247316" y="391974"/>
            <a:chExt cx="5968819" cy="6782282"/>
          </a:xfrm>
        </p:grpSpPr>
        <p:sp>
          <p:nvSpPr>
            <p:cNvPr id="64" name="Freeform 63">
              <a:extLst>
                <a:ext uri="{FF2B5EF4-FFF2-40B4-BE49-F238E27FC236}">
                  <a16:creationId xmlns:a16="http://schemas.microsoft.com/office/drawing/2014/main" id="{6AAF9C22-8F00-F0CC-F430-DDD56142D83E}"/>
                </a:ext>
              </a:extLst>
            </p:cNvPr>
            <p:cNvSpPr/>
            <p:nvPr userDrawn="1"/>
          </p:nvSpPr>
          <p:spPr>
            <a:xfrm rot="20700000">
              <a:off x="4501782" y="391974"/>
              <a:ext cx="1219721" cy="6782282"/>
            </a:xfrm>
            <a:custGeom>
              <a:avLst/>
              <a:gdLst>
                <a:gd name="connsiteX0" fmla="*/ 1219721 w 1219721"/>
                <a:gd name="connsiteY0" fmla="*/ 0 h 6782282"/>
                <a:gd name="connsiteX1" fmla="*/ 1219720 w 1219721"/>
                <a:gd name="connsiteY1" fmla="*/ 6782282 h 6782282"/>
                <a:gd name="connsiteX2" fmla="*/ 0 w 1219721"/>
                <a:gd name="connsiteY2" fmla="*/ 6455459 h 6782282"/>
                <a:gd name="connsiteX3" fmla="*/ 0 w 1219721"/>
                <a:gd name="connsiteY3" fmla="*/ 1216910 h 6782282"/>
                <a:gd name="connsiteX4" fmla="*/ 1216910 w 1219721"/>
                <a:gd name="connsiteY4" fmla="*/ 0 h 67822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721" h="6782282">
                  <a:moveTo>
                    <a:pt x="1219721" y="0"/>
                  </a:moveTo>
                  <a:lnTo>
                    <a:pt x="1219720" y="6782282"/>
                  </a:lnTo>
                  <a:lnTo>
                    <a:pt x="0" y="6455459"/>
                  </a:lnTo>
                  <a:lnTo>
                    <a:pt x="0" y="1216910"/>
                  </a:lnTo>
                  <a:lnTo>
                    <a:pt x="121691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66">
              <a:extLst>
                <a:ext uri="{FF2B5EF4-FFF2-40B4-BE49-F238E27FC236}">
                  <a16:creationId xmlns:a16="http://schemas.microsoft.com/office/drawing/2014/main" id="{07F2DA9D-A2E1-6623-5534-DE193CE69237}"/>
                </a:ext>
              </a:extLst>
            </p:cNvPr>
            <p:cNvSpPr/>
            <p:nvPr userDrawn="1"/>
          </p:nvSpPr>
          <p:spPr>
            <a:xfrm rot="20700000">
              <a:off x="3086241" y="2413806"/>
              <a:ext cx="1219717" cy="4725406"/>
            </a:xfrm>
            <a:custGeom>
              <a:avLst/>
              <a:gdLst>
                <a:gd name="connsiteX0" fmla="*/ 1219717 w 1219717"/>
                <a:gd name="connsiteY0" fmla="*/ 0 h 4725406"/>
                <a:gd name="connsiteX1" fmla="*/ 1219717 w 1219717"/>
                <a:gd name="connsiteY1" fmla="*/ 4725406 h 4725406"/>
                <a:gd name="connsiteX2" fmla="*/ 0 w 1219717"/>
                <a:gd name="connsiteY2" fmla="*/ 4398584 h 4725406"/>
                <a:gd name="connsiteX3" fmla="*/ 0 w 1219717"/>
                <a:gd name="connsiteY3" fmla="*/ 1219718 h 4725406"/>
              </a:gdLst>
              <a:ahLst/>
              <a:cxnLst>
                <a:cxn ang="0">
                  <a:pos x="connsiteX0" y="connsiteY0"/>
                </a:cxn>
                <a:cxn ang="0">
                  <a:pos x="connsiteX1" y="connsiteY1"/>
                </a:cxn>
                <a:cxn ang="0">
                  <a:pos x="connsiteX2" y="connsiteY2"/>
                </a:cxn>
                <a:cxn ang="0">
                  <a:pos x="connsiteX3" y="connsiteY3"/>
                </a:cxn>
              </a:cxnLst>
              <a:rect l="l" t="t" r="r" b="b"/>
              <a:pathLst>
                <a:path w="1219717" h="4725406">
                  <a:moveTo>
                    <a:pt x="1219717" y="0"/>
                  </a:moveTo>
                  <a:lnTo>
                    <a:pt x="1219717" y="4725406"/>
                  </a:lnTo>
                  <a:lnTo>
                    <a:pt x="0" y="4398584"/>
                  </a:lnTo>
                  <a:lnTo>
                    <a:pt x="0" y="1219718"/>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Freeform 69">
              <a:extLst>
                <a:ext uri="{FF2B5EF4-FFF2-40B4-BE49-F238E27FC236}">
                  <a16:creationId xmlns:a16="http://schemas.microsoft.com/office/drawing/2014/main" id="{507EE6BD-3353-5291-18D0-AE718EEBDDB9}"/>
                </a:ext>
              </a:extLst>
            </p:cNvPr>
            <p:cNvSpPr/>
            <p:nvPr userDrawn="1"/>
          </p:nvSpPr>
          <p:spPr>
            <a:xfrm rot="20700000">
              <a:off x="1675953" y="4431391"/>
              <a:ext cx="1219720" cy="2672853"/>
            </a:xfrm>
            <a:custGeom>
              <a:avLst/>
              <a:gdLst>
                <a:gd name="connsiteX0" fmla="*/ 1219720 w 1219720"/>
                <a:gd name="connsiteY0" fmla="*/ 0 h 2672853"/>
                <a:gd name="connsiteX1" fmla="*/ 1219720 w 1219720"/>
                <a:gd name="connsiteY1" fmla="*/ 2672853 h 2672853"/>
                <a:gd name="connsiteX2" fmla="*/ 0 w 1219720"/>
                <a:gd name="connsiteY2" fmla="*/ 2346030 h 2672853"/>
                <a:gd name="connsiteX3" fmla="*/ 0 w 1219720"/>
                <a:gd name="connsiteY3" fmla="*/ 1219720 h 2672853"/>
              </a:gdLst>
              <a:ahLst/>
              <a:cxnLst>
                <a:cxn ang="0">
                  <a:pos x="connsiteX0" y="connsiteY0"/>
                </a:cxn>
                <a:cxn ang="0">
                  <a:pos x="connsiteX1" y="connsiteY1"/>
                </a:cxn>
                <a:cxn ang="0">
                  <a:pos x="connsiteX2" y="connsiteY2"/>
                </a:cxn>
                <a:cxn ang="0">
                  <a:pos x="connsiteX3" y="connsiteY3"/>
                </a:cxn>
              </a:cxnLst>
              <a:rect l="l" t="t" r="r" b="b"/>
              <a:pathLst>
                <a:path w="1219720" h="2672853">
                  <a:moveTo>
                    <a:pt x="1219720" y="0"/>
                  </a:moveTo>
                  <a:lnTo>
                    <a:pt x="1219720" y="2672853"/>
                  </a:lnTo>
                  <a:lnTo>
                    <a:pt x="0" y="2346030"/>
                  </a:lnTo>
                  <a:lnTo>
                    <a:pt x="0" y="121972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56">
              <a:extLst>
                <a:ext uri="{FF2B5EF4-FFF2-40B4-BE49-F238E27FC236}">
                  <a16:creationId xmlns:a16="http://schemas.microsoft.com/office/drawing/2014/main" id="{7868CEA2-789D-E697-16FE-ACD6F7B6F760}"/>
                </a:ext>
              </a:extLst>
            </p:cNvPr>
            <p:cNvSpPr/>
            <p:nvPr userDrawn="1"/>
          </p:nvSpPr>
          <p:spPr>
            <a:xfrm rot="20700000">
              <a:off x="-247316" y="1017576"/>
              <a:ext cx="5315676" cy="1216909"/>
            </a:xfrm>
            <a:custGeom>
              <a:avLst/>
              <a:gdLst>
                <a:gd name="connsiteX0" fmla="*/ 5315676 w 5315676"/>
                <a:gd name="connsiteY0" fmla="*/ 0 h 1216909"/>
                <a:gd name="connsiteX1" fmla="*/ 4098766 w 5315676"/>
                <a:gd name="connsiteY1" fmla="*/ 1216909 h 1216909"/>
                <a:gd name="connsiteX2" fmla="*/ 4098766 w 5315676"/>
                <a:gd name="connsiteY2" fmla="*/ 1214099 h 1216909"/>
                <a:gd name="connsiteX3" fmla="*/ 0 w 5315676"/>
                <a:gd name="connsiteY3" fmla="*/ 1214099 h 1216909"/>
                <a:gd name="connsiteX4" fmla="*/ 325317 w 5315676"/>
                <a:gd name="connsiteY4" fmla="*/ 0 h 1216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5676" h="1216909">
                  <a:moveTo>
                    <a:pt x="5315676" y="0"/>
                  </a:moveTo>
                  <a:lnTo>
                    <a:pt x="4098766" y="1216909"/>
                  </a:lnTo>
                  <a:lnTo>
                    <a:pt x="4098766" y="1214099"/>
                  </a:lnTo>
                  <a:lnTo>
                    <a:pt x="0" y="1214099"/>
                  </a:lnTo>
                  <a:lnTo>
                    <a:pt x="325317"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A355C7A9-C0A5-8D5F-EB91-F99F6596BF4C}"/>
                </a:ext>
              </a:extLst>
            </p:cNvPr>
            <p:cNvSpPr/>
            <p:nvPr userDrawn="1"/>
          </p:nvSpPr>
          <p:spPr>
            <a:xfrm rot="20700000">
              <a:off x="-226351" y="2847108"/>
              <a:ext cx="4127824" cy="1222528"/>
            </a:xfrm>
            <a:custGeom>
              <a:avLst/>
              <a:gdLst>
                <a:gd name="connsiteX0" fmla="*/ 4127824 w 4127824"/>
                <a:gd name="connsiteY0" fmla="*/ 0 h 1222528"/>
                <a:gd name="connsiteX1" fmla="*/ 4127824 w 4127824"/>
                <a:gd name="connsiteY1" fmla="*/ 2811 h 1222528"/>
                <a:gd name="connsiteX2" fmla="*/ 2908106 w 4127824"/>
                <a:gd name="connsiteY2" fmla="*/ 1222528 h 1222528"/>
                <a:gd name="connsiteX3" fmla="*/ 2908106 w 4127824"/>
                <a:gd name="connsiteY3" fmla="*/ 1214099 h 1222528"/>
                <a:gd name="connsiteX4" fmla="*/ 0 w 4127824"/>
                <a:gd name="connsiteY4" fmla="*/ 1214099 h 1222528"/>
                <a:gd name="connsiteX5" fmla="*/ 325317 w 4127824"/>
                <a:gd name="connsiteY5" fmla="*/ 0 h 122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27824" h="1222528">
                  <a:moveTo>
                    <a:pt x="4127824" y="0"/>
                  </a:moveTo>
                  <a:lnTo>
                    <a:pt x="4127824" y="2811"/>
                  </a:lnTo>
                  <a:lnTo>
                    <a:pt x="2908106" y="1222528"/>
                  </a:lnTo>
                  <a:lnTo>
                    <a:pt x="2908106" y="1214099"/>
                  </a:lnTo>
                  <a:lnTo>
                    <a:pt x="0" y="1214099"/>
                  </a:lnTo>
                  <a:lnTo>
                    <a:pt x="325317"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a:extLst>
                <a:ext uri="{FF2B5EF4-FFF2-40B4-BE49-F238E27FC236}">
                  <a16:creationId xmlns:a16="http://schemas.microsoft.com/office/drawing/2014/main" id="{1568EE0E-6087-7F47-4FC1-A508563439ED}"/>
                </a:ext>
              </a:extLst>
            </p:cNvPr>
            <p:cNvSpPr/>
            <p:nvPr userDrawn="1"/>
          </p:nvSpPr>
          <p:spPr>
            <a:xfrm rot="20700000">
              <a:off x="-206161" y="4676366"/>
              <a:ext cx="2942781" cy="1222530"/>
            </a:xfrm>
            <a:custGeom>
              <a:avLst/>
              <a:gdLst>
                <a:gd name="connsiteX0" fmla="*/ 2942781 w 2942781"/>
                <a:gd name="connsiteY0" fmla="*/ 0 h 1222530"/>
                <a:gd name="connsiteX1" fmla="*/ 2942781 w 2942781"/>
                <a:gd name="connsiteY1" fmla="*/ 2811 h 1222530"/>
                <a:gd name="connsiteX2" fmla="*/ 1723060 w 2942781"/>
                <a:gd name="connsiteY2" fmla="*/ 1222530 h 1222530"/>
                <a:gd name="connsiteX3" fmla="*/ 1723060 w 2942781"/>
                <a:gd name="connsiteY3" fmla="*/ 1214099 h 1222530"/>
                <a:gd name="connsiteX4" fmla="*/ 0 w 2942781"/>
                <a:gd name="connsiteY4" fmla="*/ 1214098 h 1222530"/>
                <a:gd name="connsiteX5" fmla="*/ 325316 w 2942781"/>
                <a:gd name="connsiteY5" fmla="*/ 0 h 122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42781" h="1222530">
                  <a:moveTo>
                    <a:pt x="2942781" y="0"/>
                  </a:moveTo>
                  <a:lnTo>
                    <a:pt x="2942781" y="2811"/>
                  </a:lnTo>
                  <a:lnTo>
                    <a:pt x="1723060" y="1222530"/>
                  </a:lnTo>
                  <a:lnTo>
                    <a:pt x="1723060" y="1214099"/>
                  </a:lnTo>
                  <a:lnTo>
                    <a:pt x="0" y="1214098"/>
                  </a:lnTo>
                  <a:lnTo>
                    <a:pt x="325316"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94D09C11-7276-B67A-A1A1-4C875D1ABA68}"/>
              </a:ext>
            </a:extLst>
          </p:cNvPr>
          <p:cNvSpPr>
            <a:spLocks noGrp="1"/>
          </p:cNvSpPr>
          <p:nvPr userDrawn="1">
            <p:ph type="title"/>
          </p:nvPr>
        </p:nvSpPr>
        <p:spPr>
          <a:xfrm>
            <a:off x="457199" y="493776"/>
            <a:ext cx="11336693" cy="804672"/>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64A7CC43-E171-1153-2B75-F702D7B914A8}"/>
              </a:ext>
            </a:extLst>
          </p:cNvPr>
          <p:cNvSpPr>
            <a:spLocks noGrp="1"/>
          </p:cNvSpPr>
          <p:nvPr userDrawn="1">
            <p:ph type="body" idx="1"/>
          </p:nvPr>
        </p:nvSpPr>
        <p:spPr>
          <a:xfrm>
            <a:off x="457201" y="1554480"/>
            <a:ext cx="11336692" cy="4247212"/>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hidden="1">
            <a:extLst>
              <a:ext uri="{FF2B5EF4-FFF2-40B4-BE49-F238E27FC236}">
                <a16:creationId xmlns:a16="http://schemas.microsoft.com/office/drawing/2014/main" id="{0BF76C95-9667-2357-762F-B7B15D7BA3E7}"/>
              </a:ext>
            </a:extLst>
          </p:cNvPr>
          <p:cNvPicPr>
            <a:picLocks noChangeAspect="1"/>
          </p:cNvPicPr>
          <p:nvPr userDrawn="1"/>
        </p:nvPicPr>
        <p:blipFill>
          <a:blip r:embed="rId11"/>
          <a:stretch>
            <a:fillRect/>
          </a:stretch>
        </p:blipFill>
        <p:spPr>
          <a:xfrm>
            <a:off x="199931" y="-813939"/>
            <a:ext cx="2208828" cy="563207"/>
          </a:xfrm>
          <a:prstGeom prst="rect">
            <a:avLst/>
          </a:prstGeom>
        </p:spPr>
      </p:pic>
      <p:grpSp>
        <p:nvGrpSpPr>
          <p:cNvPr id="38" name="Full Size" hidden="1">
            <a:extLst>
              <a:ext uri="{FF2B5EF4-FFF2-40B4-BE49-F238E27FC236}">
                <a16:creationId xmlns:a16="http://schemas.microsoft.com/office/drawing/2014/main" id="{CBF5D916-2559-D87A-6071-0827F3911641}"/>
              </a:ext>
            </a:extLst>
          </p:cNvPr>
          <p:cNvGrpSpPr/>
          <p:nvPr userDrawn="1"/>
        </p:nvGrpSpPr>
        <p:grpSpPr>
          <a:xfrm rot="-19800000">
            <a:off x="-13122649" y="-4850920"/>
            <a:ext cx="20342655" cy="21641432"/>
            <a:chOff x="-289533" y="-2834540"/>
            <a:chExt cx="9192657" cy="9779562"/>
          </a:xfrm>
        </p:grpSpPr>
        <p:sp>
          <p:nvSpPr>
            <p:cNvPr id="39" name="Freeform 38">
              <a:extLst>
                <a:ext uri="{FF2B5EF4-FFF2-40B4-BE49-F238E27FC236}">
                  <a16:creationId xmlns:a16="http://schemas.microsoft.com/office/drawing/2014/main" id="{09460502-8A0D-F9D8-E3FC-D3C35053B797}"/>
                </a:ext>
              </a:extLst>
            </p:cNvPr>
            <p:cNvSpPr/>
            <p:nvPr userDrawn="1"/>
          </p:nvSpPr>
          <p:spPr>
            <a:xfrm rot="18900000">
              <a:off x="8351944" y="-2834540"/>
              <a:ext cx="551180" cy="7708900"/>
            </a:xfrm>
            <a:custGeom>
              <a:avLst/>
              <a:gdLst>
                <a:gd name="connsiteX0" fmla="*/ 551180 w 551180"/>
                <a:gd name="connsiteY0" fmla="*/ 0 h 7708900"/>
                <a:gd name="connsiteX1" fmla="*/ 551180 w 551180"/>
                <a:gd name="connsiteY1" fmla="*/ 7708900 h 7708900"/>
                <a:gd name="connsiteX2" fmla="*/ 0 w 551180"/>
                <a:gd name="connsiteY2" fmla="*/ 7708900 h 7708900"/>
                <a:gd name="connsiteX3" fmla="*/ 0 w 551180"/>
                <a:gd name="connsiteY3" fmla="*/ 549910 h 7708900"/>
                <a:gd name="connsiteX4" fmla="*/ 549910 w 551180"/>
                <a:gd name="connsiteY4" fmla="*/ 0 h 7708900"/>
                <a:gd name="connsiteX5" fmla="*/ 551180 w 551180"/>
                <a:gd name="connsiteY5" fmla="*/ 0 h 770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180" h="7708900">
                  <a:moveTo>
                    <a:pt x="551180" y="0"/>
                  </a:moveTo>
                  <a:lnTo>
                    <a:pt x="551180" y="7708900"/>
                  </a:lnTo>
                  <a:lnTo>
                    <a:pt x="0" y="7708900"/>
                  </a:lnTo>
                  <a:lnTo>
                    <a:pt x="0" y="549910"/>
                  </a:lnTo>
                  <a:lnTo>
                    <a:pt x="549910" y="0"/>
                  </a:lnTo>
                  <a:lnTo>
                    <a:pt x="551180" y="0"/>
                  </a:lnTo>
                  <a:close/>
                </a:path>
              </a:pathLst>
            </a:custGeom>
            <a:solidFill>
              <a:srgbClr val="66A4FF">
                <a:alpha val="7502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a:extLst>
                <a:ext uri="{FF2B5EF4-FFF2-40B4-BE49-F238E27FC236}">
                  <a16:creationId xmlns:a16="http://schemas.microsoft.com/office/drawing/2014/main" id="{A5626CB4-BBEE-998F-0B0A-69DF05DFB1D9}"/>
                </a:ext>
              </a:extLst>
            </p:cNvPr>
            <p:cNvSpPr/>
            <p:nvPr userDrawn="1"/>
          </p:nvSpPr>
          <p:spPr>
            <a:xfrm rot="18900000">
              <a:off x="8350599" y="-1797133"/>
              <a:ext cx="551179" cy="7707629"/>
            </a:xfrm>
            <a:custGeom>
              <a:avLst/>
              <a:gdLst>
                <a:gd name="connsiteX0" fmla="*/ 551179 w 551179"/>
                <a:gd name="connsiteY0" fmla="*/ 0 h 7707629"/>
                <a:gd name="connsiteX1" fmla="*/ 551179 w 551179"/>
                <a:gd name="connsiteY1" fmla="*/ 7707629 h 7707629"/>
                <a:gd name="connsiteX2" fmla="*/ 0 w 551179"/>
                <a:gd name="connsiteY2" fmla="*/ 7707629 h 7707629"/>
                <a:gd name="connsiteX3" fmla="*/ 0 w 551179"/>
                <a:gd name="connsiteY3" fmla="*/ 551179 h 7707629"/>
                <a:gd name="connsiteX4" fmla="*/ 551179 w 551179"/>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79" h="7707629">
                  <a:moveTo>
                    <a:pt x="551179" y="0"/>
                  </a:moveTo>
                  <a:lnTo>
                    <a:pt x="551179" y="7707629"/>
                  </a:lnTo>
                  <a:lnTo>
                    <a:pt x="0" y="7707629"/>
                  </a:lnTo>
                  <a:lnTo>
                    <a:pt x="0" y="551179"/>
                  </a:lnTo>
                  <a:lnTo>
                    <a:pt x="551179" y="0"/>
                  </a:lnTo>
                  <a:close/>
                </a:path>
              </a:pathLst>
            </a:custGeom>
            <a:solidFill>
              <a:srgbClr val="CDE1FF">
                <a:alpha val="747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40">
              <a:extLst>
                <a:ext uri="{FF2B5EF4-FFF2-40B4-BE49-F238E27FC236}">
                  <a16:creationId xmlns:a16="http://schemas.microsoft.com/office/drawing/2014/main" id="{6C2146AF-D932-DAFB-A40A-398827AB05D0}"/>
                </a:ext>
              </a:extLst>
            </p:cNvPr>
            <p:cNvSpPr/>
            <p:nvPr userDrawn="1"/>
          </p:nvSpPr>
          <p:spPr>
            <a:xfrm rot="18900000">
              <a:off x="8350597" y="-762607"/>
              <a:ext cx="551180" cy="7707629"/>
            </a:xfrm>
            <a:custGeom>
              <a:avLst/>
              <a:gdLst>
                <a:gd name="connsiteX0" fmla="*/ 551180 w 551180"/>
                <a:gd name="connsiteY0" fmla="*/ 0 h 7707629"/>
                <a:gd name="connsiteX1" fmla="*/ 551180 w 551180"/>
                <a:gd name="connsiteY1" fmla="*/ 7707629 h 7707629"/>
                <a:gd name="connsiteX2" fmla="*/ 0 w 551180"/>
                <a:gd name="connsiteY2" fmla="*/ 7707629 h 7707629"/>
                <a:gd name="connsiteX3" fmla="*/ 0 w 551180"/>
                <a:gd name="connsiteY3" fmla="*/ 551180 h 7707629"/>
                <a:gd name="connsiteX4" fmla="*/ 551180 w 551180"/>
                <a:gd name="connsiteY4" fmla="*/ 0 h 7707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180" h="7707629">
                  <a:moveTo>
                    <a:pt x="551180" y="0"/>
                  </a:moveTo>
                  <a:lnTo>
                    <a:pt x="551180" y="7707629"/>
                  </a:lnTo>
                  <a:lnTo>
                    <a:pt x="0" y="7707629"/>
                  </a:lnTo>
                  <a:lnTo>
                    <a:pt x="0" y="551180"/>
                  </a:lnTo>
                  <a:lnTo>
                    <a:pt x="551180" y="0"/>
                  </a:lnTo>
                  <a:close/>
                </a:path>
              </a:pathLst>
            </a:custGeom>
            <a:solidFill>
              <a:srgbClr val="F3F8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a:extLst>
                <a:ext uri="{FF2B5EF4-FFF2-40B4-BE49-F238E27FC236}">
                  <a16:creationId xmlns:a16="http://schemas.microsoft.com/office/drawing/2014/main" id="{F07F8016-2972-8815-07A3-91499D9D4BAE}"/>
                </a:ext>
              </a:extLst>
            </p:cNvPr>
            <p:cNvSpPr/>
            <p:nvPr userDrawn="1"/>
          </p:nvSpPr>
          <p:spPr>
            <a:xfrm rot="18900000">
              <a:off x="-288451" y="744955"/>
              <a:ext cx="7707630" cy="549910"/>
            </a:xfrm>
            <a:custGeom>
              <a:avLst/>
              <a:gdLst>
                <a:gd name="connsiteX0" fmla="*/ 7707630 w 7707630"/>
                <a:gd name="connsiteY0" fmla="*/ 0 h 549910"/>
                <a:gd name="connsiteX1" fmla="*/ 7157720 w 7707630"/>
                <a:gd name="connsiteY1" fmla="*/ 549910 h 549910"/>
                <a:gd name="connsiteX2" fmla="*/ 7157720 w 7707630"/>
                <a:gd name="connsiteY2" fmla="*/ 548640 h 549910"/>
                <a:gd name="connsiteX3" fmla="*/ 0 w 7707630"/>
                <a:gd name="connsiteY3" fmla="*/ 548640 h 549910"/>
                <a:gd name="connsiteX4" fmla="*/ 0 w 7707630"/>
                <a:gd name="connsiteY4" fmla="*/ 0 h 549910"/>
                <a:gd name="connsiteX5" fmla="*/ 7707630 w 7707630"/>
                <a:gd name="connsiteY5" fmla="*/ 0 h 54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07630" h="549910">
                  <a:moveTo>
                    <a:pt x="7707630" y="0"/>
                  </a:moveTo>
                  <a:lnTo>
                    <a:pt x="7157720" y="549910"/>
                  </a:lnTo>
                  <a:lnTo>
                    <a:pt x="7157720" y="548640"/>
                  </a:lnTo>
                  <a:lnTo>
                    <a:pt x="0" y="548640"/>
                  </a:lnTo>
                  <a:lnTo>
                    <a:pt x="0" y="0"/>
                  </a:lnTo>
                  <a:lnTo>
                    <a:pt x="7707630" y="0"/>
                  </a:lnTo>
                  <a:close/>
                </a:path>
              </a:pathLst>
            </a:custGeom>
            <a:solidFill>
              <a:srgbClr val="3486FF">
                <a:alpha val="74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42">
              <a:extLst>
                <a:ext uri="{FF2B5EF4-FFF2-40B4-BE49-F238E27FC236}">
                  <a16:creationId xmlns:a16="http://schemas.microsoft.com/office/drawing/2014/main" id="{82852362-83F5-9AD4-AD9F-53F2E0292D33}"/>
                </a:ext>
              </a:extLst>
            </p:cNvPr>
            <p:cNvSpPr/>
            <p:nvPr userDrawn="1"/>
          </p:nvSpPr>
          <p:spPr>
            <a:xfrm rot="18900000">
              <a:off x="-289533" y="1780457"/>
              <a:ext cx="7708899" cy="552449"/>
            </a:xfrm>
            <a:custGeom>
              <a:avLst/>
              <a:gdLst>
                <a:gd name="connsiteX0" fmla="*/ 7708899 w 7708899"/>
                <a:gd name="connsiteY0" fmla="*/ 0 h 552449"/>
                <a:gd name="connsiteX1" fmla="*/ 7708899 w 7708899"/>
                <a:gd name="connsiteY1" fmla="*/ 1270 h 552449"/>
                <a:gd name="connsiteX2" fmla="*/ 7157720 w 7708899"/>
                <a:gd name="connsiteY2" fmla="*/ 552449 h 552449"/>
                <a:gd name="connsiteX3" fmla="*/ 7157720 w 7708899"/>
                <a:gd name="connsiteY3" fmla="*/ 548640 h 552449"/>
                <a:gd name="connsiteX4" fmla="*/ 0 w 7708899"/>
                <a:gd name="connsiteY4" fmla="*/ 548640 h 552449"/>
                <a:gd name="connsiteX5" fmla="*/ 0 w 7708899"/>
                <a:gd name="connsiteY5" fmla="*/ 0 h 552449"/>
                <a:gd name="connsiteX6" fmla="*/ 7708899 w 7708899"/>
                <a:gd name="connsiteY6" fmla="*/ 0 h 552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49">
                  <a:moveTo>
                    <a:pt x="7708899" y="0"/>
                  </a:moveTo>
                  <a:lnTo>
                    <a:pt x="7708899" y="1270"/>
                  </a:lnTo>
                  <a:lnTo>
                    <a:pt x="7157720" y="552449"/>
                  </a:lnTo>
                  <a:lnTo>
                    <a:pt x="7157720" y="548640"/>
                  </a:lnTo>
                  <a:lnTo>
                    <a:pt x="0" y="548640"/>
                  </a:lnTo>
                  <a:lnTo>
                    <a:pt x="0" y="0"/>
                  </a:lnTo>
                  <a:lnTo>
                    <a:pt x="7708899" y="0"/>
                  </a:lnTo>
                  <a:close/>
                </a:path>
              </a:pathLst>
            </a:custGeom>
            <a:solidFill>
              <a:srgbClr val="99C2FF">
                <a:alpha val="751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43">
              <a:extLst>
                <a:ext uri="{FF2B5EF4-FFF2-40B4-BE49-F238E27FC236}">
                  <a16:creationId xmlns:a16="http://schemas.microsoft.com/office/drawing/2014/main" id="{E7216B24-9E3B-FE57-A75D-569327BB05D9}"/>
                </a:ext>
              </a:extLst>
            </p:cNvPr>
            <p:cNvSpPr/>
            <p:nvPr userDrawn="1"/>
          </p:nvSpPr>
          <p:spPr>
            <a:xfrm rot="18900000">
              <a:off x="-289533" y="2814982"/>
              <a:ext cx="7708899" cy="552450"/>
            </a:xfrm>
            <a:custGeom>
              <a:avLst/>
              <a:gdLst>
                <a:gd name="connsiteX0" fmla="*/ 7708899 w 7708899"/>
                <a:gd name="connsiteY0" fmla="*/ 0 h 552450"/>
                <a:gd name="connsiteX1" fmla="*/ 7708899 w 7708899"/>
                <a:gd name="connsiteY1" fmla="*/ 1270 h 552450"/>
                <a:gd name="connsiteX2" fmla="*/ 7157719 w 7708899"/>
                <a:gd name="connsiteY2" fmla="*/ 552450 h 552450"/>
                <a:gd name="connsiteX3" fmla="*/ 7157719 w 7708899"/>
                <a:gd name="connsiteY3" fmla="*/ 548640 h 552450"/>
                <a:gd name="connsiteX4" fmla="*/ 0 w 7708899"/>
                <a:gd name="connsiteY4" fmla="*/ 548640 h 552450"/>
                <a:gd name="connsiteX5" fmla="*/ 0 w 7708899"/>
                <a:gd name="connsiteY5" fmla="*/ 0 h 552450"/>
                <a:gd name="connsiteX6" fmla="*/ 7708899 w 7708899"/>
                <a:gd name="connsiteY6" fmla="*/ 0 h 55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899" h="552450">
                  <a:moveTo>
                    <a:pt x="7708899" y="0"/>
                  </a:moveTo>
                  <a:lnTo>
                    <a:pt x="7708899" y="1270"/>
                  </a:lnTo>
                  <a:lnTo>
                    <a:pt x="7157719" y="552450"/>
                  </a:lnTo>
                  <a:lnTo>
                    <a:pt x="7157719" y="548640"/>
                  </a:lnTo>
                  <a:lnTo>
                    <a:pt x="0" y="548640"/>
                  </a:lnTo>
                  <a:lnTo>
                    <a:pt x="0" y="0"/>
                  </a:lnTo>
                  <a:lnTo>
                    <a:pt x="7708899" y="0"/>
                  </a:lnTo>
                  <a:close/>
                </a:path>
              </a:pathLst>
            </a:custGeom>
            <a:solidFill>
              <a:srgbClr val="D9E9FF">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Rectangle 7">
            <a:extLst>
              <a:ext uri="{FF2B5EF4-FFF2-40B4-BE49-F238E27FC236}">
                <a16:creationId xmlns:a16="http://schemas.microsoft.com/office/drawing/2014/main" id="{C138A1B3-3BF3-59B5-BC62-D71A42E3DCAE}"/>
              </a:ext>
            </a:extLst>
          </p:cNvPr>
          <p:cNvSpPr/>
          <p:nvPr userDrawn="1"/>
        </p:nvSpPr>
        <p:spPr>
          <a:xfrm>
            <a:off x="0" y="6119783"/>
            <a:ext cx="12192000" cy="590019"/>
          </a:xfrm>
          <a:prstGeom prst="rect">
            <a:avLst/>
          </a:prstGeom>
          <a:solidFill>
            <a:schemeClr val="bg1">
              <a:alpha val="5979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4EF89E6-B423-961F-9EA6-282EA3254A55}"/>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402110" y="6231912"/>
            <a:ext cx="365760" cy="365760"/>
          </a:xfrm>
          <a:prstGeom prst="rect">
            <a:avLst/>
          </a:prstGeom>
          <a:effectLst/>
        </p:spPr>
      </p:pic>
      <p:sp>
        <p:nvSpPr>
          <p:cNvPr id="10" name="Slide Number Placeholder 5">
            <a:extLst>
              <a:ext uri="{FF2B5EF4-FFF2-40B4-BE49-F238E27FC236}">
                <a16:creationId xmlns:a16="http://schemas.microsoft.com/office/drawing/2014/main" id="{1D245A44-8C53-1922-627A-B81AD5688085}"/>
              </a:ext>
            </a:extLst>
          </p:cNvPr>
          <p:cNvSpPr>
            <a:spLocks noGrp="1"/>
          </p:cNvSpPr>
          <p:nvPr>
            <p:ph type="sldNum" sz="quarter" idx="4"/>
          </p:nvPr>
        </p:nvSpPr>
        <p:spPr>
          <a:xfrm>
            <a:off x="11731748" y="6232230"/>
            <a:ext cx="288523" cy="365125"/>
          </a:xfrm>
          <a:prstGeom prst="rect">
            <a:avLst/>
          </a:prstGeom>
        </p:spPr>
        <p:txBody>
          <a:bodyPr vert="horz" lIns="0" tIns="0" rIns="0" bIns="0" rtlCol="0" anchor="ctr" anchorCtr="0">
            <a:noAutofit/>
          </a:bodyPr>
          <a:lstStyle>
            <a:lvl1pPr algn="r">
              <a:defRPr sz="800">
                <a:solidFill>
                  <a:srgbClr val="000A62"/>
                </a:solidFill>
                <a:latin typeface="Arial" panose="020B0604020202020204" pitchFamily="34" charset="0"/>
                <a:cs typeface="Arial" panose="020B0604020202020204" pitchFamily="34" charset="0"/>
              </a:defRPr>
            </a:lvl1pPr>
          </a:lstStyle>
          <a:p>
            <a:fld id="{A1371F83-EA4D-3B47-99B9-95D90583DC1D}" type="slidenum">
              <a:rPr lang="en-US" smtClean="0"/>
              <a:pPr/>
              <a:t>‹#›</a:t>
            </a:fld>
            <a:endParaRPr lang="en-US" sz="800"/>
          </a:p>
        </p:txBody>
      </p:sp>
      <p:pic>
        <p:nvPicPr>
          <p:cNvPr id="11" name="Picture 10" descr="A blue and black logo&#10;&#10;AI-generated content may be incorrect.">
            <a:extLst>
              <a:ext uri="{FF2B5EF4-FFF2-40B4-BE49-F238E27FC236}">
                <a16:creationId xmlns:a16="http://schemas.microsoft.com/office/drawing/2014/main" id="{4F45A68D-EFC0-33D2-D772-6ECD1B4C7C71}"/>
              </a:ext>
            </a:extLst>
          </p:cNvPr>
          <p:cNvPicPr>
            <a:picLocks noChangeAspect="1"/>
          </p:cNvPicPr>
          <p:nvPr userDrawn="1"/>
        </p:nvPicPr>
        <p:blipFill>
          <a:blip r:embed="rId13"/>
          <a:stretch>
            <a:fillRect/>
          </a:stretch>
        </p:blipFill>
        <p:spPr>
          <a:xfrm>
            <a:off x="10649018" y="6277632"/>
            <a:ext cx="1082730" cy="274320"/>
          </a:xfrm>
          <a:prstGeom prst="rect">
            <a:avLst/>
          </a:prstGeom>
        </p:spPr>
      </p:pic>
    </p:spTree>
    <p:extLst>
      <p:ext uri="{BB962C8B-B14F-4D97-AF65-F5344CB8AC3E}">
        <p14:creationId xmlns:p14="http://schemas.microsoft.com/office/powerpoint/2010/main" val="3779254268"/>
      </p:ext>
    </p:extLst>
  </p:cSld>
  <p:clrMap bg1="lt1" tx1="dk1" bg2="lt2" tx2="dk2" accent1="accent1" accent2="accent2" accent3="accent3" accent4="accent4" accent5="accent5" accent6="accent6" hlink="hlink" folHlink="folHlink"/>
  <p:sldLayoutIdLst>
    <p:sldLayoutId id="2147486224" r:id="rId1"/>
    <p:sldLayoutId id="2147486225" r:id="rId2"/>
    <p:sldLayoutId id="2147486226" r:id="rId3"/>
    <p:sldLayoutId id="2147486227" r:id="rId4"/>
    <p:sldLayoutId id="2147486228" r:id="rId5"/>
    <p:sldLayoutId id="2147486229" r:id="rId6"/>
    <p:sldLayoutId id="2147486230" r:id="rId7"/>
    <p:sldLayoutId id="2147486231" r:id="rId8"/>
    <p:sldLayoutId id="2147486232" r:id="rId9"/>
  </p:sldLayoutIdLst>
  <p:hf hdr="0" ftr="0" dt="0"/>
  <p:txStyles>
    <p:titleStyle>
      <a:lvl1pPr algn="l" defTabSz="914400" rtl="0" eaLnBrk="1" latinLnBrk="0" hangingPunct="1">
        <a:lnSpc>
          <a:spcPct val="90000"/>
        </a:lnSpc>
        <a:spcBef>
          <a:spcPct val="0"/>
        </a:spcBef>
        <a:buNone/>
        <a:defRPr sz="3200" kern="1200">
          <a:solidFill>
            <a:srgbClr val="000A62"/>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b="0" i="0" kern="1200">
          <a:solidFill>
            <a:srgbClr val="000A6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rgbClr val="000A6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16">
          <p15:clr>
            <a:srgbClr val="F26B43"/>
          </p15:clr>
        </p15:guide>
        <p15:guide id="2" pos="288">
          <p15:clr>
            <a:srgbClr val="F26B43"/>
          </p15:clr>
        </p15:guide>
        <p15:guide id="3" pos="7287">
          <p15:clr>
            <a:srgbClr val="F26B43"/>
          </p15:clr>
        </p15:guide>
        <p15:guide id="4" orient="horz" pos="375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5388"/>
      </p:ext>
    </p:extLst>
  </p:cSld>
  <p:clrMap bg1="lt1" tx1="dk1" bg2="lt2" tx2="dk2" accent1="accent1" accent2="accent2" accent3="accent3" accent4="accent4" accent5="accent5" accent6="accent6" hlink="hlink" folHlink="folHlink"/>
  <p:sldLayoutIdLst>
    <p:sldLayoutId id="2147486234"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6.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1.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0.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1.xml"/><Relationship Id="rId5" Type="http://schemas.openxmlformats.org/officeDocument/2006/relationships/image" Target="../media/image17.jpe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6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6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1.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70.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70.xml"/><Relationship Id="rId6" Type="http://schemas.openxmlformats.org/officeDocument/2006/relationships/image" Target="../media/image37.png"/><Relationship Id="rId5" Type="http://schemas.openxmlformats.org/officeDocument/2006/relationships/image" Target="../media/image35.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70.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70.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0.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70.xml"/></Relationships>
</file>

<file path=ppt/slides/_rels/slide2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9.xml"/><Relationship Id="rId1" Type="http://schemas.openxmlformats.org/officeDocument/2006/relationships/slideLayout" Target="../slideLayouts/slideLayout70.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70.xml"/></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1.xml"/><Relationship Id="rId1" Type="http://schemas.openxmlformats.org/officeDocument/2006/relationships/slideLayout" Target="../slideLayouts/slideLayout70.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7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0.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70.xml"/></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9.xml"/><Relationship Id="rId1" Type="http://schemas.openxmlformats.org/officeDocument/2006/relationships/slideLayout" Target="../slideLayouts/slideLayout70.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70.xml"/><Relationship Id="rId4" Type="http://schemas.openxmlformats.org/officeDocument/2006/relationships/image" Target="../media/image46.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70.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70.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7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0.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70.xml"/><Relationship Id="rId6" Type="http://schemas.openxmlformats.org/officeDocument/2006/relationships/image" Target="../media/image49.png"/><Relationship Id="rId5" Type="http://schemas.openxmlformats.org/officeDocument/2006/relationships/image" Target="../media/image44.png"/><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0.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7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0.xml"/></Relationships>
</file>

<file path=ppt/slides/_rels/slide4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9.xml"/><Relationship Id="rId1" Type="http://schemas.openxmlformats.org/officeDocument/2006/relationships/slideLayout" Target="../slideLayouts/slideLayout70.xml"/><Relationship Id="rId4" Type="http://schemas.openxmlformats.org/officeDocument/2006/relationships/chart" Target="../charts/chart5.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0.xml"/><Relationship Id="rId1" Type="http://schemas.openxmlformats.org/officeDocument/2006/relationships/slideLayout" Target="../slideLayouts/slideLayout7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0.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70.xml"/><Relationship Id="rId5" Type="http://schemas.openxmlformats.org/officeDocument/2006/relationships/image" Target="../media/image36.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2DE8A6-7F5D-DA8D-6277-B03F5352FC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9916" y="457171"/>
            <a:ext cx="11272168" cy="5610254"/>
          </a:xfrm>
          <a:prstGeom prst="rect">
            <a:avLst/>
          </a:prstGeom>
        </p:spPr>
      </p:pic>
      <p:sp>
        <p:nvSpPr>
          <p:cNvPr id="4" name="Title 2">
            <a:extLst>
              <a:ext uri="{FF2B5EF4-FFF2-40B4-BE49-F238E27FC236}">
                <a16:creationId xmlns:a16="http://schemas.microsoft.com/office/drawing/2014/main" id="{6FBE3A7A-2278-7A8C-92B9-784ED78AA5D5}"/>
              </a:ext>
            </a:extLst>
          </p:cNvPr>
          <p:cNvSpPr txBox="1">
            <a:spLocks/>
          </p:cNvSpPr>
          <p:nvPr/>
        </p:nvSpPr>
        <p:spPr>
          <a:xfrm>
            <a:off x="411483" y="4324124"/>
            <a:ext cx="3868058" cy="110799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3200" kern="1200">
                <a:solidFill>
                  <a:schemeClr val="bg1"/>
                </a:solidFill>
                <a:latin typeface="+mj-lt"/>
                <a:ea typeface="+mj-ea"/>
                <a:cs typeface="+mj-cs"/>
              </a:defRPr>
            </a:lvl1pPr>
          </a:lstStyle>
          <a:p>
            <a:r>
              <a:rPr lang="en-US" sz="3600">
                <a:solidFill>
                  <a:schemeClr val="tx1"/>
                </a:solidFill>
              </a:rPr>
              <a:t>What’s important this week</a:t>
            </a:r>
          </a:p>
        </p:txBody>
      </p:sp>
      <p:pic>
        <p:nvPicPr>
          <p:cNvPr id="10" name="Graphic 9">
            <a:extLst>
              <a:ext uri="{FF2B5EF4-FFF2-40B4-BE49-F238E27FC236}">
                <a16:creationId xmlns:a16="http://schemas.microsoft.com/office/drawing/2014/main" id="{1E2BA9F7-3E19-DF27-0E67-641BC67A60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457200"/>
            <a:ext cx="868683" cy="868683"/>
          </a:xfrm>
          <a:prstGeom prst="rect">
            <a:avLst/>
          </a:prstGeom>
        </p:spPr>
      </p:pic>
    </p:spTree>
    <p:extLst>
      <p:ext uri="{BB962C8B-B14F-4D97-AF65-F5344CB8AC3E}">
        <p14:creationId xmlns:p14="http://schemas.microsoft.com/office/powerpoint/2010/main" val="1095865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9060"/>
          </a:xfrm>
          <a:prstGeom prst="rect">
            <a:avLst/>
          </a:prstGeom>
          <a:solidFill>
            <a:srgbClr val="FFC7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600000" y="419100"/>
            <a:ext cx="9000000" cy="564322"/>
          </a:xfrm>
          <a:prstGeom prst="rect">
            <a:avLst/>
          </a:prstGeom>
          <a:noFill/>
        </p:spPr>
        <p:txBody>
          <a:bodyPr wrap="square" lIns="45720" tIns="18288" rIns="45720" bIns="18288" anchor="t">
            <a:spAutoFit/>
          </a:bodyPr>
          <a:lstStyle/>
          <a:p>
            <a:pPr algn="ctr"/>
            <a:r>
              <a:rPr sz="3667" b="1">
                <a:solidFill>
                  <a:srgbClr val="FFFFFF"/>
                </a:solidFill>
                <a:latin typeface="Arial"/>
              </a:rPr>
              <a:t>Top Performers</a:t>
            </a:r>
          </a:p>
        </p:txBody>
      </p:sp>
      <p:sp>
        <p:nvSpPr>
          <p:cNvPr id="5" name="TextBox 4"/>
          <p:cNvSpPr txBox="1"/>
          <p:nvPr/>
        </p:nvSpPr>
        <p:spPr>
          <a:xfrm>
            <a:off x="1600000" y="1021081"/>
            <a:ext cx="9000000" cy="205121"/>
          </a:xfrm>
          <a:prstGeom prst="rect">
            <a:avLst/>
          </a:prstGeom>
          <a:noFill/>
        </p:spPr>
        <p:txBody>
          <a:bodyPr wrap="square" lIns="45720" tIns="18288" rIns="45720" bIns="18288" anchor="t">
            <a:spAutoFit/>
          </a:bodyPr>
          <a:lstStyle/>
          <a:p>
            <a:pPr algn="ctr"/>
            <a:r>
              <a:rPr sz="1333" b="0">
                <a:solidFill>
                  <a:srgbClr val="E5F1FF"/>
                </a:solidFill>
                <a:latin typeface="Arial"/>
              </a:rPr>
              <a:t>August month-to-date production - New Orleans General Office</a:t>
            </a:r>
          </a:p>
        </p:txBody>
      </p:sp>
      <p:sp>
        <p:nvSpPr>
          <p:cNvPr id="6" name="TextBox 5"/>
          <p:cNvSpPr txBox="1"/>
          <p:nvPr/>
        </p:nvSpPr>
        <p:spPr>
          <a:xfrm>
            <a:off x="658368" y="1490472"/>
            <a:ext cx="3048000" cy="237744"/>
          </a:xfrm>
          <a:prstGeom prst="rect">
            <a:avLst/>
          </a:prstGeom>
          <a:noFill/>
        </p:spPr>
        <p:txBody>
          <a:bodyPr wrap="square" lIns="45720" tIns="18288" rIns="45720" bIns="18288" anchor="t">
            <a:spAutoFit/>
          </a:bodyPr>
          <a:lstStyle/>
          <a:p>
            <a:pPr algn="l"/>
            <a:r>
              <a:rPr sz="1300" b="1">
                <a:solidFill>
                  <a:srgbClr val="FFC72C"/>
                </a:solidFill>
                <a:latin typeface="Arial"/>
              </a:rPr>
              <a:t>First Year Commission</a:t>
            </a:r>
          </a:p>
        </p:txBody>
      </p:sp>
      <p:sp>
        <p:nvSpPr>
          <p:cNvPr id="7" name="Rounded Rectangle 6"/>
          <p:cNvSpPr/>
          <p:nvPr/>
        </p:nvSpPr>
        <p:spPr>
          <a:xfrm>
            <a:off x="658368" y="186690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6008" y="195453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6008" y="195453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1</a:t>
            </a:r>
          </a:p>
        </p:txBody>
      </p:sp>
      <p:sp>
        <p:nvSpPr>
          <p:cNvPr id="10" name="TextBox 9"/>
          <p:cNvSpPr txBox="1"/>
          <p:nvPr/>
        </p:nvSpPr>
        <p:spPr>
          <a:xfrm>
            <a:off x="1228368" y="1920240"/>
            <a:ext cx="2428000" cy="213905"/>
          </a:xfrm>
          <a:prstGeom prst="rect">
            <a:avLst/>
          </a:prstGeom>
          <a:noFill/>
        </p:spPr>
        <p:txBody>
          <a:bodyPr wrap="square" lIns="45720" tIns="18288" rIns="45720" bIns="18288" anchor="t">
            <a:spAutoFit/>
          </a:bodyPr>
          <a:lstStyle/>
          <a:p>
            <a:pPr algn="l"/>
            <a:r>
              <a:rPr sz="1150" b="1" dirty="0" err="1">
                <a:solidFill>
                  <a:srgbClr val="FFFFFF"/>
                </a:solidFill>
                <a:latin typeface="Arial"/>
              </a:rPr>
              <a:t>Cabirac</a:t>
            </a:r>
            <a:r>
              <a:rPr sz="1150" b="1" dirty="0">
                <a:solidFill>
                  <a:srgbClr val="FFFFFF"/>
                </a:solidFill>
                <a:latin typeface="Arial"/>
              </a:rPr>
              <a:t>, J</a:t>
            </a:r>
            <a:r>
              <a:rPr lang="en-US" sz="1150" b="1" dirty="0">
                <a:solidFill>
                  <a:srgbClr val="FFFFFF"/>
                </a:solidFill>
                <a:latin typeface="Arial"/>
              </a:rPr>
              <a:t>ames</a:t>
            </a:r>
            <a:endParaRPr sz="1150" b="1" dirty="0">
              <a:solidFill>
                <a:srgbClr val="FFFFFF"/>
              </a:solidFill>
              <a:latin typeface="Arial"/>
            </a:endParaRPr>
          </a:p>
        </p:txBody>
      </p:sp>
      <p:sp>
        <p:nvSpPr>
          <p:cNvPr id="11" name="TextBox 10"/>
          <p:cNvSpPr txBox="1"/>
          <p:nvPr/>
        </p:nvSpPr>
        <p:spPr>
          <a:xfrm>
            <a:off x="1228368" y="213360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$34,126 FYC</a:t>
            </a:r>
          </a:p>
        </p:txBody>
      </p:sp>
      <p:sp>
        <p:nvSpPr>
          <p:cNvPr id="12" name="Rounded Rectangle 11"/>
          <p:cNvSpPr/>
          <p:nvPr/>
        </p:nvSpPr>
        <p:spPr>
          <a:xfrm>
            <a:off x="658368" y="242697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6008" y="251460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6008" y="251460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2</a:t>
            </a:r>
          </a:p>
        </p:txBody>
      </p:sp>
      <p:sp>
        <p:nvSpPr>
          <p:cNvPr id="15" name="TextBox 14"/>
          <p:cNvSpPr txBox="1"/>
          <p:nvPr/>
        </p:nvSpPr>
        <p:spPr>
          <a:xfrm>
            <a:off x="1228368" y="248031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Batiste-Webber, Buena</a:t>
            </a:r>
          </a:p>
        </p:txBody>
      </p:sp>
      <p:sp>
        <p:nvSpPr>
          <p:cNvPr id="16" name="TextBox 15"/>
          <p:cNvSpPr txBox="1"/>
          <p:nvPr/>
        </p:nvSpPr>
        <p:spPr>
          <a:xfrm>
            <a:off x="1228368" y="269367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$17,228 FYC</a:t>
            </a:r>
          </a:p>
        </p:txBody>
      </p:sp>
      <p:sp>
        <p:nvSpPr>
          <p:cNvPr id="17" name="Rounded Rectangle 16"/>
          <p:cNvSpPr/>
          <p:nvPr/>
        </p:nvSpPr>
        <p:spPr>
          <a:xfrm>
            <a:off x="658368" y="298704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26008" y="307467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6008" y="307467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3</a:t>
            </a:r>
          </a:p>
        </p:txBody>
      </p:sp>
      <p:sp>
        <p:nvSpPr>
          <p:cNvPr id="20" name="TextBox 19"/>
          <p:cNvSpPr txBox="1"/>
          <p:nvPr/>
        </p:nvSpPr>
        <p:spPr>
          <a:xfrm>
            <a:off x="1228368" y="304038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Shelton, Clifford</a:t>
            </a:r>
          </a:p>
        </p:txBody>
      </p:sp>
      <p:sp>
        <p:nvSpPr>
          <p:cNvPr id="21" name="TextBox 20"/>
          <p:cNvSpPr txBox="1"/>
          <p:nvPr/>
        </p:nvSpPr>
        <p:spPr>
          <a:xfrm>
            <a:off x="1228368" y="325374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$12,740 FYC</a:t>
            </a:r>
          </a:p>
        </p:txBody>
      </p:sp>
      <p:sp>
        <p:nvSpPr>
          <p:cNvPr id="22" name="Rounded Rectangle 21"/>
          <p:cNvSpPr/>
          <p:nvPr/>
        </p:nvSpPr>
        <p:spPr>
          <a:xfrm>
            <a:off x="658368" y="354711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6008" y="363474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008" y="363474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4</a:t>
            </a:r>
          </a:p>
        </p:txBody>
      </p:sp>
      <p:sp>
        <p:nvSpPr>
          <p:cNvPr id="25" name="TextBox 24"/>
          <p:cNvSpPr txBox="1"/>
          <p:nvPr/>
        </p:nvSpPr>
        <p:spPr>
          <a:xfrm>
            <a:off x="1228368" y="360045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Savage, Zachary</a:t>
            </a:r>
          </a:p>
        </p:txBody>
      </p:sp>
      <p:sp>
        <p:nvSpPr>
          <p:cNvPr id="26" name="TextBox 25"/>
          <p:cNvSpPr txBox="1"/>
          <p:nvPr/>
        </p:nvSpPr>
        <p:spPr>
          <a:xfrm>
            <a:off x="1228368" y="381381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$8,067 FYC</a:t>
            </a:r>
          </a:p>
        </p:txBody>
      </p:sp>
      <p:sp>
        <p:nvSpPr>
          <p:cNvPr id="27" name="Rounded Rectangle 26"/>
          <p:cNvSpPr/>
          <p:nvPr/>
        </p:nvSpPr>
        <p:spPr>
          <a:xfrm>
            <a:off x="658368" y="410718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26008" y="419481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6008" y="419481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5</a:t>
            </a:r>
          </a:p>
        </p:txBody>
      </p:sp>
      <p:sp>
        <p:nvSpPr>
          <p:cNvPr id="30" name="TextBox 29"/>
          <p:cNvSpPr txBox="1"/>
          <p:nvPr/>
        </p:nvSpPr>
        <p:spPr>
          <a:xfrm>
            <a:off x="1228368" y="416052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Crouch, Casey</a:t>
            </a:r>
          </a:p>
        </p:txBody>
      </p:sp>
      <p:sp>
        <p:nvSpPr>
          <p:cNvPr id="31" name="TextBox 30"/>
          <p:cNvSpPr txBox="1"/>
          <p:nvPr/>
        </p:nvSpPr>
        <p:spPr>
          <a:xfrm>
            <a:off x="1228368" y="437388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$3,868 FYC</a:t>
            </a:r>
          </a:p>
        </p:txBody>
      </p:sp>
      <p:sp>
        <p:nvSpPr>
          <p:cNvPr id="32" name="TextBox 31"/>
          <p:cNvSpPr txBox="1"/>
          <p:nvPr/>
        </p:nvSpPr>
        <p:spPr>
          <a:xfrm>
            <a:off x="4572000" y="1490472"/>
            <a:ext cx="3048000" cy="237744"/>
          </a:xfrm>
          <a:prstGeom prst="rect">
            <a:avLst/>
          </a:prstGeom>
          <a:noFill/>
        </p:spPr>
        <p:txBody>
          <a:bodyPr wrap="square" lIns="45720" tIns="18288" rIns="45720" bIns="18288" anchor="t">
            <a:spAutoFit/>
          </a:bodyPr>
          <a:lstStyle/>
          <a:p>
            <a:pPr algn="l"/>
            <a:r>
              <a:rPr sz="1300" b="1">
                <a:solidFill>
                  <a:srgbClr val="FFC72C"/>
                </a:solidFill>
                <a:latin typeface="Arial"/>
              </a:rPr>
              <a:t>Applied Cases</a:t>
            </a:r>
          </a:p>
        </p:txBody>
      </p:sp>
      <p:sp>
        <p:nvSpPr>
          <p:cNvPr id="33" name="Rounded Rectangle 32"/>
          <p:cNvSpPr/>
          <p:nvPr/>
        </p:nvSpPr>
        <p:spPr>
          <a:xfrm>
            <a:off x="4572000" y="186690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739640" y="195453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39640" y="195453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1</a:t>
            </a:r>
          </a:p>
        </p:txBody>
      </p:sp>
      <p:sp>
        <p:nvSpPr>
          <p:cNvPr id="36" name="TextBox 35"/>
          <p:cNvSpPr txBox="1"/>
          <p:nvPr/>
        </p:nvSpPr>
        <p:spPr>
          <a:xfrm>
            <a:off x="5142000" y="192024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Crouch, Casey</a:t>
            </a:r>
          </a:p>
        </p:txBody>
      </p:sp>
      <p:sp>
        <p:nvSpPr>
          <p:cNvPr id="37" name="TextBox 36"/>
          <p:cNvSpPr txBox="1"/>
          <p:nvPr/>
        </p:nvSpPr>
        <p:spPr>
          <a:xfrm>
            <a:off x="5142000" y="213360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13.00 applied</a:t>
            </a:r>
          </a:p>
        </p:txBody>
      </p:sp>
      <p:sp>
        <p:nvSpPr>
          <p:cNvPr id="38" name="Rounded Rectangle 37"/>
          <p:cNvSpPr/>
          <p:nvPr/>
        </p:nvSpPr>
        <p:spPr>
          <a:xfrm>
            <a:off x="4572000" y="242697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4739640" y="251460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39640" y="251460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2</a:t>
            </a:r>
          </a:p>
        </p:txBody>
      </p:sp>
      <p:sp>
        <p:nvSpPr>
          <p:cNvPr id="41" name="TextBox 40"/>
          <p:cNvSpPr txBox="1"/>
          <p:nvPr/>
        </p:nvSpPr>
        <p:spPr>
          <a:xfrm>
            <a:off x="5142000" y="248031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Trepagnier, Harrison</a:t>
            </a:r>
          </a:p>
        </p:txBody>
      </p:sp>
      <p:sp>
        <p:nvSpPr>
          <p:cNvPr id="42" name="TextBox 41"/>
          <p:cNvSpPr txBox="1"/>
          <p:nvPr/>
        </p:nvSpPr>
        <p:spPr>
          <a:xfrm>
            <a:off x="5142000" y="269367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4.59 applied</a:t>
            </a:r>
          </a:p>
        </p:txBody>
      </p:sp>
      <p:sp>
        <p:nvSpPr>
          <p:cNvPr id="43" name="Rounded Rectangle 42"/>
          <p:cNvSpPr/>
          <p:nvPr/>
        </p:nvSpPr>
        <p:spPr>
          <a:xfrm>
            <a:off x="4572000" y="298704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739640" y="307467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39640" y="307467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3</a:t>
            </a:r>
          </a:p>
        </p:txBody>
      </p:sp>
      <p:sp>
        <p:nvSpPr>
          <p:cNvPr id="46" name="TextBox 45"/>
          <p:cNvSpPr txBox="1"/>
          <p:nvPr/>
        </p:nvSpPr>
        <p:spPr>
          <a:xfrm>
            <a:off x="5142000" y="304038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Malone, Brooks</a:t>
            </a:r>
          </a:p>
        </p:txBody>
      </p:sp>
      <p:sp>
        <p:nvSpPr>
          <p:cNvPr id="47" name="TextBox 46"/>
          <p:cNvSpPr txBox="1"/>
          <p:nvPr/>
        </p:nvSpPr>
        <p:spPr>
          <a:xfrm>
            <a:off x="5142000" y="325374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4.50 applied</a:t>
            </a:r>
          </a:p>
        </p:txBody>
      </p:sp>
      <p:sp>
        <p:nvSpPr>
          <p:cNvPr id="48" name="Rounded Rectangle 47"/>
          <p:cNvSpPr/>
          <p:nvPr/>
        </p:nvSpPr>
        <p:spPr>
          <a:xfrm>
            <a:off x="4572000" y="354711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739640" y="363474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739640" y="363474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4</a:t>
            </a:r>
          </a:p>
        </p:txBody>
      </p:sp>
      <p:sp>
        <p:nvSpPr>
          <p:cNvPr id="51" name="TextBox 50"/>
          <p:cNvSpPr txBox="1"/>
          <p:nvPr/>
        </p:nvSpPr>
        <p:spPr>
          <a:xfrm>
            <a:off x="5142000" y="360045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Johnson, Chamon</a:t>
            </a:r>
          </a:p>
        </p:txBody>
      </p:sp>
      <p:sp>
        <p:nvSpPr>
          <p:cNvPr id="52" name="TextBox 51"/>
          <p:cNvSpPr txBox="1"/>
          <p:nvPr/>
        </p:nvSpPr>
        <p:spPr>
          <a:xfrm>
            <a:off x="5142000" y="381381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4.00 applied</a:t>
            </a:r>
          </a:p>
        </p:txBody>
      </p:sp>
      <p:sp>
        <p:nvSpPr>
          <p:cNvPr id="53" name="Rounded Rectangle 52"/>
          <p:cNvSpPr/>
          <p:nvPr/>
        </p:nvSpPr>
        <p:spPr>
          <a:xfrm>
            <a:off x="4572000" y="410718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4739640" y="419481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39640" y="419481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5</a:t>
            </a:r>
          </a:p>
        </p:txBody>
      </p:sp>
      <p:sp>
        <p:nvSpPr>
          <p:cNvPr id="56" name="TextBox 55"/>
          <p:cNvSpPr txBox="1"/>
          <p:nvPr/>
        </p:nvSpPr>
        <p:spPr>
          <a:xfrm>
            <a:off x="5142000" y="416052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Ballard, William</a:t>
            </a:r>
          </a:p>
        </p:txBody>
      </p:sp>
      <p:sp>
        <p:nvSpPr>
          <p:cNvPr id="57" name="TextBox 56"/>
          <p:cNvSpPr txBox="1"/>
          <p:nvPr/>
        </p:nvSpPr>
        <p:spPr>
          <a:xfrm>
            <a:off x="5142000" y="437388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4.00 applied</a:t>
            </a:r>
          </a:p>
        </p:txBody>
      </p:sp>
      <p:sp>
        <p:nvSpPr>
          <p:cNvPr id="58" name="Rounded Rectangle 57"/>
          <p:cNvSpPr/>
          <p:nvPr/>
        </p:nvSpPr>
        <p:spPr>
          <a:xfrm>
            <a:off x="4572000" y="466725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4739640" y="475488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39640" y="475488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6</a:t>
            </a:r>
          </a:p>
        </p:txBody>
      </p:sp>
      <p:sp>
        <p:nvSpPr>
          <p:cNvPr id="61" name="TextBox 60"/>
          <p:cNvSpPr txBox="1"/>
          <p:nvPr/>
        </p:nvSpPr>
        <p:spPr>
          <a:xfrm>
            <a:off x="5142000" y="472059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Woodrick, Jeanne</a:t>
            </a:r>
          </a:p>
        </p:txBody>
      </p:sp>
      <p:sp>
        <p:nvSpPr>
          <p:cNvPr id="62" name="TextBox 61"/>
          <p:cNvSpPr txBox="1"/>
          <p:nvPr/>
        </p:nvSpPr>
        <p:spPr>
          <a:xfrm>
            <a:off x="5142000" y="493395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4.00 applied</a:t>
            </a:r>
          </a:p>
        </p:txBody>
      </p:sp>
      <p:sp>
        <p:nvSpPr>
          <p:cNvPr id="63" name="TextBox 62"/>
          <p:cNvSpPr txBox="1"/>
          <p:nvPr/>
        </p:nvSpPr>
        <p:spPr>
          <a:xfrm>
            <a:off x="8485632" y="1490472"/>
            <a:ext cx="3048000" cy="237744"/>
          </a:xfrm>
          <a:prstGeom prst="rect">
            <a:avLst/>
          </a:prstGeom>
          <a:noFill/>
        </p:spPr>
        <p:txBody>
          <a:bodyPr wrap="square" lIns="45720" tIns="18288" rIns="45720" bIns="18288" anchor="t">
            <a:spAutoFit/>
          </a:bodyPr>
          <a:lstStyle/>
          <a:p>
            <a:pPr algn="l"/>
            <a:r>
              <a:rPr sz="1300" b="1">
                <a:solidFill>
                  <a:srgbClr val="FFC72C"/>
                </a:solidFill>
                <a:latin typeface="Arial"/>
              </a:rPr>
              <a:t>Paid Cases</a:t>
            </a:r>
          </a:p>
        </p:txBody>
      </p:sp>
      <p:sp>
        <p:nvSpPr>
          <p:cNvPr id="64" name="Rounded Rectangle 63"/>
          <p:cNvSpPr/>
          <p:nvPr/>
        </p:nvSpPr>
        <p:spPr>
          <a:xfrm>
            <a:off x="8485632" y="186690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653272" y="195453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653272" y="195453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1</a:t>
            </a:r>
          </a:p>
        </p:txBody>
      </p:sp>
      <p:sp>
        <p:nvSpPr>
          <p:cNvPr id="67" name="TextBox 66"/>
          <p:cNvSpPr txBox="1"/>
          <p:nvPr/>
        </p:nvSpPr>
        <p:spPr>
          <a:xfrm>
            <a:off x="9055632" y="192024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Henly, Christopher</a:t>
            </a:r>
          </a:p>
        </p:txBody>
      </p:sp>
      <p:sp>
        <p:nvSpPr>
          <p:cNvPr id="68" name="TextBox 67"/>
          <p:cNvSpPr txBox="1"/>
          <p:nvPr/>
        </p:nvSpPr>
        <p:spPr>
          <a:xfrm>
            <a:off x="9055632" y="213360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4.50 paid</a:t>
            </a:r>
          </a:p>
        </p:txBody>
      </p:sp>
      <p:sp>
        <p:nvSpPr>
          <p:cNvPr id="69" name="Rounded Rectangle 68"/>
          <p:cNvSpPr/>
          <p:nvPr/>
        </p:nvSpPr>
        <p:spPr>
          <a:xfrm>
            <a:off x="8485632" y="242697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653272" y="251460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653272" y="251460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2</a:t>
            </a:r>
          </a:p>
        </p:txBody>
      </p:sp>
      <p:sp>
        <p:nvSpPr>
          <p:cNvPr id="72" name="TextBox 71"/>
          <p:cNvSpPr txBox="1"/>
          <p:nvPr/>
        </p:nvSpPr>
        <p:spPr>
          <a:xfrm>
            <a:off x="9055632" y="2480310"/>
            <a:ext cx="2428000" cy="213905"/>
          </a:xfrm>
          <a:prstGeom prst="rect">
            <a:avLst/>
          </a:prstGeom>
          <a:noFill/>
        </p:spPr>
        <p:txBody>
          <a:bodyPr wrap="square" lIns="45720" tIns="18288" rIns="45720" bIns="18288" anchor="t">
            <a:spAutoFit/>
          </a:bodyPr>
          <a:lstStyle/>
          <a:p>
            <a:pPr algn="l"/>
            <a:r>
              <a:rPr sz="1150" b="1" dirty="0" err="1">
                <a:solidFill>
                  <a:srgbClr val="FFFFFF"/>
                </a:solidFill>
                <a:latin typeface="Arial"/>
              </a:rPr>
              <a:t>Cabirac</a:t>
            </a:r>
            <a:r>
              <a:rPr sz="1150" b="1" dirty="0">
                <a:solidFill>
                  <a:srgbClr val="FFFFFF"/>
                </a:solidFill>
                <a:latin typeface="Arial"/>
              </a:rPr>
              <a:t>, J</a:t>
            </a:r>
            <a:r>
              <a:rPr lang="en-US" sz="1150" b="1" dirty="0">
                <a:solidFill>
                  <a:srgbClr val="FFFFFF"/>
                </a:solidFill>
                <a:latin typeface="Arial"/>
              </a:rPr>
              <a:t>ames</a:t>
            </a:r>
            <a:endParaRPr sz="1150" b="1" dirty="0">
              <a:solidFill>
                <a:srgbClr val="FFFFFF"/>
              </a:solidFill>
              <a:latin typeface="Arial"/>
            </a:endParaRPr>
          </a:p>
        </p:txBody>
      </p:sp>
      <p:sp>
        <p:nvSpPr>
          <p:cNvPr id="73" name="TextBox 72"/>
          <p:cNvSpPr txBox="1"/>
          <p:nvPr/>
        </p:nvSpPr>
        <p:spPr>
          <a:xfrm>
            <a:off x="9055632" y="269367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3.00 paid</a:t>
            </a:r>
          </a:p>
        </p:txBody>
      </p:sp>
      <p:sp>
        <p:nvSpPr>
          <p:cNvPr id="74" name="Rounded Rectangle 73"/>
          <p:cNvSpPr/>
          <p:nvPr/>
        </p:nvSpPr>
        <p:spPr>
          <a:xfrm>
            <a:off x="8485632" y="298704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8653272" y="307467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653272" y="307467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3</a:t>
            </a:r>
          </a:p>
        </p:txBody>
      </p:sp>
      <p:sp>
        <p:nvSpPr>
          <p:cNvPr id="77" name="TextBox 76"/>
          <p:cNvSpPr txBox="1"/>
          <p:nvPr/>
        </p:nvSpPr>
        <p:spPr>
          <a:xfrm>
            <a:off x="9055632" y="304038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Capasso, Michael</a:t>
            </a:r>
          </a:p>
        </p:txBody>
      </p:sp>
      <p:sp>
        <p:nvSpPr>
          <p:cNvPr id="78" name="TextBox 77"/>
          <p:cNvSpPr txBox="1"/>
          <p:nvPr/>
        </p:nvSpPr>
        <p:spPr>
          <a:xfrm>
            <a:off x="9055632" y="325374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3P   -   3.00 paid</a:t>
            </a:r>
          </a:p>
        </p:txBody>
      </p:sp>
      <p:sp>
        <p:nvSpPr>
          <p:cNvPr id="79" name="Rounded Rectangle 78"/>
          <p:cNvSpPr/>
          <p:nvPr/>
        </p:nvSpPr>
        <p:spPr>
          <a:xfrm>
            <a:off x="8485632" y="354711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653272" y="363474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8653272" y="363474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4</a:t>
            </a:r>
          </a:p>
        </p:txBody>
      </p:sp>
      <p:sp>
        <p:nvSpPr>
          <p:cNvPr id="82" name="TextBox 81"/>
          <p:cNvSpPr txBox="1"/>
          <p:nvPr/>
        </p:nvSpPr>
        <p:spPr>
          <a:xfrm>
            <a:off x="9055632" y="360045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Schulman, Jordan</a:t>
            </a:r>
          </a:p>
        </p:txBody>
      </p:sp>
      <p:sp>
        <p:nvSpPr>
          <p:cNvPr id="83" name="TextBox 82"/>
          <p:cNvSpPr txBox="1"/>
          <p:nvPr/>
        </p:nvSpPr>
        <p:spPr>
          <a:xfrm>
            <a:off x="9055632" y="381381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1P   -   2.00 paid</a:t>
            </a:r>
          </a:p>
        </p:txBody>
      </p:sp>
      <p:sp>
        <p:nvSpPr>
          <p:cNvPr id="84" name="Rounded Rectangle 83"/>
          <p:cNvSpPr/>
          <p:nvPr/>
        </p:nvSpPr>
        <p:spPr>
          <a:xfrm>
            <a:off x="8485632" y="410718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8653272" y="419481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653272" y="419481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5</a:t>
            </a:r>
          </a:p>
        </p:txBody>
      </p:sp>
      <p:sp>
        <p:nvSpPr>
          <p:cNvPr id="87" name="TextBox 86"/>
          <p:cNvSpPr txBox="1"/>
          <p:nvPr/>
        </p:nvSpPr>
        <p:spPr>
          <a:xfrm>
            <a:off x="9055632" y="4160520"/>
            <a:ext cx="2428000" cy="213905"/>
          </a:xfrm>
          <a:prstGeom prst="rect">
            <a:avLst/>
          </a:prstGeom>
          <a:noFill/>
        </p:spPr>
        <p:txBody>
          <a:bodyPr wrap="square" lIns="45720" tIns="18288" rIns="45720" bIns="18288" anchor="t">
            <a:spAutoFit/>
          </a:bodyPr>
          <a:lstStyle/>
          <a:p>
            <a:pPr algn="l"/>
            <a:r>
              <a:rPr sz="1150" b="1" dirty="0">
                <a:solidFill>
                  <a:srgbClr val="FFFFFF"/>
                </a:solidFill>
                <a:latin typeface="Arial"/>
              </a:rPr>
              <a:t>Woodrick, Jeanne</a:t>
            </a:r>
          </a:p>
        </p:txBody>
      </p:sp>
      <p:sp>
        <p:nvSpPr>
          <p:cNvPr id="88" name="TextBox 87"/>
          <p:cNvSpPr txBox="1"/>
          <p:nvPr/>
        </p:nvSpPr>
        <p:spPr>
          <a:xfrm>
            <a:off x="9055632" y="437388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2P   -   2.00 paid</a:t>
            </a:r>
          </a:p>
        </p:txBody>
      </p:sp>
      <p:sp>
        <p:nvSpPr>
          <p:cNvPr id="89" name="Rounded Rectangle 88"/>
          <p:cNvSpPr/>
          <p:nvPr/>
        </p:nvSpPr>
        <p:spPr>
          <a:xfrm>
            <a:off x="8485632" y="4667250"/>
            <a:ext cx="3048000" cy="480060"/>
          </a:xfrm>
          <a:prstGeom prst="roundRect">
            <a:avLst/>
          </a:prstGeom>
          <a:solidFill>
            <a:srgbClr val="004B91"/>
          </a:solidFill>
          <a:ln w="12700">
            <a:solidFill>
              <a:srgbClr val="2D8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653272" y="4754881"/>
            <a:ext cx="320040" cy="320040"/>
          </a:xfrm>
          <a:prstGeom prst="ellipse">
            <a:avLst/>
          </a:prstGeom>
          <a:solidFill>
            <a:srgbClr val="FFC72C"/>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653272" y="4754881"/>
            <a:ext cx="320040" cy="320040"/>
          </a:xfrm>
          <a:prstGeom prst="rect">
            <a:avLst/>
          </a:prstGeom>
          <a:noFill/>
        </p:spPr>
        <p:txBody>
          <a:bodyPr wrap="square" lIns="45720" tIns="18288" rIns="45720" bIns="18288" anchor="ctr">
            <a:spAutoFit/>
          </a:bodyPr>
          <a:lstStyle/>
          <a:p>
            <a:pPr algn="ctr"/>
            <a:r>
              <a:rPr sz="917" b="1">
                <a:solidFill>
                  <a:srgbClr val="00417D"/>
                </a:solidFill>
                <a:latin typeface="Arial"/>
              </a:rPr>
              <a:t>6</a:t>
            </a:r>
          </a:p>
        </p:txBody>
      </p:sp>
      <p:sp>
        <p:nvSpPr>
          <p:cNvPr id="92" name="TextBox 91"/>
          <p:cNvSpPr txBox="1"/>
          <p:nvPr/>
        </p:nvSpPr>
        <p:spPr>
          <a:xfrm>
            <a:off x="9055632" y="4720590"/>
            <a:ext cx="2428000" cy="192360"/>
          </a:xfrm>
          <a:prstGeom prst="rect">
            <a:avLst/>
          </a:prstGeom>
          <a:noFill/>
        </p:spPr>
        <p:txBody>
          <a:bodyPr wrap="square" lIns="45720" tIns="18288" rIns="45720" bIns="18288" anchor="t">
            <a:spAutoFit/>
          </a:bodyPr>
          <a:lstStyle/>
          <a:p>
            <a:pPr algn="l"/>
            <a:r>
              <a:rPr sz="1150" b="1">
                <a:solidFill>
                  <a:srgbClr val="FFFFFF"/>
                </a:solidFill>
                <a:latin typeface="Arial"/>
              </a:rPr>
              <a:t>Savage, Zachary</a:t>
            </a:r>
          </a:p>
        </p:txBody>
      </p:sp>
      <p:sp>
        <p:nvSpPr>
          <p:cNvPr id="93" name="TextBox 92"/>
          <p:cNvSpPr txBox="1"/>
          <p:nvPr/>
        </p:nvSpPr>
        <p:spPr>
          <a:xfrm>
            <a:off x="9055632" y="4933950"/>
            <a:ext cx="2428000" cy="125740"/>
          </a:xfrm>
          <a:prstGeom prst="rect">
            <a:avLst/>
          </a:prstGeom>
          <a:noFill/>
        </p:spPr>
        <p:txBody>
          <a:bodyPr wrap="square" lIns="45720" tIns="18288" rIns="45720" bIns="18288" anchor="t">
            <a:spAutoFit/>
          </a:bodyPr>
          <a:lstStyle/>
          <a:p>
            <a:pPr algn="l"/>
            <a:r>
              <a:rPr sz="817" b="0">
                <a:solidFill>
                  <a:srgbClr val="E5F1FF"/>
                </a:solidFill>
                <a:latin typeface="Arial"/>
              </a:rPr>
              <a:t>Class CC   -   2.00 paid</a:t>
            </a:r>
          </a:p>
        </p:txBody>
      </p:sp>
      <p:sp>
        <p:nvSpPr>
          <p:cNvPr id="94" name="TextBox 93"/>
          <p:cNvSpPr txBox="1"/>
          <p:nvPr/>
        </p:nvSpPr>
        <p:spPr>
          <a:xfrm>
            <a:off x="3600000" y="6339840"/>
            <a:ext cx="5000000" cy="205121"/>
          </a:xfrm>
          <a:prstGeom prst="rect">
            <a:avLst/>
          </a:prstGeom>
          <a:noFill/>
        </p:spPr>
        <p:txBody>
          <a:bodyPr wrap="square" lIns="45720" tIns="18288" rIns="45720" bIns="18288" anchor="t">
            <a:spAutoFit/>
          </a:bodyPr>
          <a:lstStyle/>
          <a:p>
            <a:pPr algn="ctr"/>
            <a:r>
              <a:rPr sz="1100" b="0">
                <a:solidFill>
                  <a:srgbClr val="E5F1FF"/>
                </a:solidFill>
                <a:latin typeface="Arial"/>
              </a:rPr>
              <a:t>Concrete wins. Keep the momentum going.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E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0056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2240280"/>
            <a:ext cx="8503920" cy="685800"/>
          </a:xfrm>
          <a:prstGeom prst="rect">
            <a:avLst/>
          </a:prstGeom>
          <a:noFill/>
        </p:spPr>
        <p:txBody>
          <a:bodyPr wrap="square" lIns="45720" tIns="18288" rIns="45720" bIns="18288" anchor="t">
            <a:spAutoFit/>
          </a:bodyPr>
          <a:lstStyle/>
          <a:p>
            <a:pPr algn="ctr"/>
            <a:r>
              <a:rPr sz="4800" b="1">
                <a:solidFill>
                  <a:srgbClr val="FFFFFF"/>
                </a:solidFill>
                <a:latin typeface="Arial"/>
              </a:rPr>
              <a:t>Market Week Overview</a:t>
            </a:r>
          </a:p>
        </p:txBody>
      </p:sp>
      <p:sp>
        <p:nvSpPr>
          <p:cNvPr id="5" name="TextBox 4"/>
          <p:cNvSpPr txBox="1"/>
          <p:nvPr/>
        </p:nvSpPr>
        <p:spPr>
          <a:xfrm>
            <a:off x="3063240" y="3310128"/>
            <a:ext cx="6035040" cy="292608"/>
          </a:xfrm>
          <a:prstGeom prst="rect">
            <a:avLst/>
          </a:prstGeom>
          <a:noFill/>
        </p:spPr>
        <p:txBody>
          <a:bodyPr wrap="square" lIns="45720" tIns="18288" rIns="45720" bIns="18288" anchor="t">
            <a:spAutoFit/>
          </a:bodyPr>
          <a:lstStyle/>
          <a:p>
            <a:pPr algn="ctr"/>
            <a:r>
              <a:rPr sz="1800" b="0">
                <a:solidFill>
                  <a:srgbClr val="FFFFFF"/>
                </a:solidFill>
                <a:latin typeface="Arial"/>
              </a:rPr>
              <a:t>Week ended Friday, August 14, 2026</a:t>
            </a:r>
          </a:p>
        </p:txBody>
      </p:sp>
      <p:sp>
        <p:nvSpPr>
          <p:cNvPr id="6" name="TextBox 5"/>
          <p:cNvSpPr txBox="1"/>
          <p:nvPr/>
        </p:nvSpPr>
        <p:spPr>
          <a:xfrm>
            <a:off x="3063240" y="3749039"/>
            <a:ext cx="6035040" cy="292608"/>
          </a:xfrm>
          <a:prstGeom prst="rect">
            <a:avLst/>
          </a:prstGeom>
          <a:noFill/>
        </p:spPr>
        <p:txBody>
          <a:bodyPr wrap="square" lIns="45720" tIns="18288" rIns="45720" bIns="18288" anchor="t">
            <a:spAutoFit/>
          </a:bodyPr>
          <a:lstStyle/>
          <a:p>
            <a:pPr algn="ctr"/>
            <a:r>
              <a:rPr sz="1800" b="0">
                <a:solidFill>
                  <a:srgbClr val="FFFFFF"/>
                </a:solidFill>
                <a:latin typeface="Arial"/>
              </a:rPr>
              <a:t>Week Ahead: August 17 - August 21,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Week in Review: U.S. Markets Overview</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Third straight weekly gain for the S&amp;P 500, led by small caps.</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57400"/>
            <a:ext cx="6812280" cy="3520440"/>
          </a:xfrm>
          <a:prstGeom prst="rect">
            <a:avLst/>
          </a:prstGeom>
          <a:noFill/>
        </p:spPr>
        <p:txBody>
          <a:bodyPr wrap="square" lIns="45720" tIns="18288" rIns="45720" bIns="18288" anchor="t">
            <a:spAutoFit/>
          </a:bodyPr>
          <a:lstStyle/>
          <a:p>
            <a:pPr algn="l">
              <a:spcAft>
                <a:spcPts val="700"/>
              </a:spcAft>
            </a:pPr>
            <a:r>
              <a:rPr sz="1550" b="0">
                <a:solidFill>
                  <a:srgbClr val="000962"/>
                </a:solidFill>
                <a:latin typeface="Arial"/>
              </a:rPr>
              <a:t>S&amp;P 500 closed at 7,785.76 on Friday, up 0.4% for the week - a third consecutive weekly gain after setting a record above 7,800 midweek.</a:t>
            </a:r>
          </a:p>
          <a:p>
            <a:pPr algn="l">
              <a:spcAft>
                <a:spcPts val="700"/>
              </a:spcAft>
            </a:pPr>
            <a:r>
              <a:rPr sz="1550" b="0">
                <a:solidFill>
                  <a:srgbClr val="000962"/>
                </a:solidFill>
                <a:latin typeface="Arial"/>
              </a:rPr>
              <a:t>Nasdaq Composite added 0.1% to 26,729.16, also a third straight weekly gain, supported by continued AI infrastructure spending.</a:t>
            </a:r>
          </a:p>
          <a:p>
            <a:pPr algn="l">
              <a:spcAft>
                <a:spcPts val="700"/>
              </a:spcAft>
            </a:pPr>
            <a:r>
              <a:rPr sz="1550" b="0">
                <a:solidFill>
                  <a:srgbClr val="000962"/>
                </a:solidFill>
                <a:latin typeface="Arial"/>
              </a:rPr>
              <a:t>Dow Jones Industrial Average fell 0.6% to 53,732.41, snapping a two-week winning streak on weakness in healthcare and traditional industrials.</a:t>
            </a:r>
          </a:p>
          <a:p>
            <a:pPr algn="l">
              <a:spcAft>
                <a:spcPts val="700"/>
              </a:spcAft>
            </a:pPr>
            <a:r>
              <a:rPr sz="1550" b="0">
                <a:solidFill>
                  <a:srgbClr val="000962"/>
                </a:solidFill>
                <a:latin typeface="Arial"/>
              </a:rPr>
              <a:t>Russell 2000 surged 3.15% to a record 3,068.42, sharply outperforming large caps as domestically focused small caps led.</a:t>
            </a:r>
          </a:p>
          <a:p>
            <a:pPr algn="l">
              <a:spcAft>
                <a:spcPts val="700"/>
              </a:spcAft>
            </a:pPr>
            <a:r>
              <a:rPr sz="1550" b="0">
                <a:solidFill>
                  <a:srgbClr val="000962"/>
                </a:solidFill>
                <a:latin typeface="Arial"/>
              </a:rPr>
              <a:t>10-year Treasury yield ended at 4.68%; the 2-year finished at 4.17%. The VIX closed near multi-month lows around 14.85.</a:t>
            </a:r>
          </a:p>
        </p:txBody>
      </p:sp>
      <p:sp>
        <p:nvSpPr>
          <p:cNvPr id="11" name="Rectangle 10"/>
          <p:cNvSpPr/>
          <p:nvPr/>
        </p:nvSpPr>
        <p:spPr>
          <a:xfrm>
            <a:off x="8001000" y="2029968"/>
            <a:ext cx="2926080" cy="26060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267712"/>
            <a:ext cx="2468880" cy="256032"/>
          </a:xfrm>
          <a:prstGeom prst="rect">
            <a:avLst/>
          </a:prstGeom>
          <a:noFill/>
        </p:spPr>
        <p:txBody>
          <a:bodyPr wrap="square" lIns="45720" tIns="18288" rIns="45720" bIns="18288" anchor="t">
            <a:spAutoFit/>
          </a:bodyPr>
          <a:lstStyle/>
          <a:p>
            <a:pPr algn="l"/>
            <a:r>
              <a:rPr sz="1600" b="1">
                <a:solidFill>
                  <a:srgbClr val="0468FF"/>
                </a:solidFill>
                <a:latin typeface="Arial"/>
              </a:rPr>
              <a:t>Plain English</a:t>
            </a:r>
          </a:p>
        </p:txBody>
      </p:sp>
      <p:sp>
        <p:nvSpPr>
          <p:cNvPr id="13" name="TextBox 12"/>
          <p:cNvSpPr txBox="1"/>
          <p:nvPr/>
        </p:nvSpPr>
        <p:spPr>
          <a:xfrm>
            <a:off x="8229600" y="2697480"/>
            <a:ext cx="2468880" cy="1806040"/>
          </a:xfrm>
          <a:prstGeom prst="rect">
            <a:avLst/>
          </a:prstGeom>
          <a:noFill/>
        </p:spPr>
        <p:txBody>
          <a:bodyPr wrap="square" lIns="45720" tIns="18288" rIns="45720" bIns="18288" anchor="t">
            <a:spAutoFit/>
          </a:bodyPr>
          <a:lstStyle/>
          <a:p>
            <a:pPr algn="l"/>
            <a:r>
              <a:rPr sz="1550" b="0">
                <a:solidFill>
                  <a:srgbClr val="000962"/>
                </a:solidFill>
                <a:latin typeface="Arial"/>
              </a:rPr>
              <a:t>Markets kept climbing, and for once the gains were broad instead of just the biggest tech names. Low volatility is comfortable - it is also when discipline slips.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Key Economic Data Released Last Week</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Inflation cooled. The consumer did not cooperate.</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57400"/>
            <a:ext cx="6812280" cy="3520440"/>
          </a:xfrm>
          <a:prstGeom prst="rect">
            <a:avLst/>
          </a:prstGeom>
          <a:noFill/>
        </p:spPr>
        <p:txBody>
          <a:bodyPr wrap="square" lIns="45720" tIns="18288" rIns="45720" bIns="18288" anchor="t">
            <a:spAutoFit/>
          </a:bodyPr>
          <a:lstStyle/>
          <a:p>
            <a:pPr algn="l">
              <a:spcAft>
                <a:spcPts val="700"/>
              </a:spcAft>
            </a:pPr>
            <a:r>
              <a:rPr sz="1450" b="0">
                <a:solidFill>
                  <a:srgbClr val="000962"/>
                </a:solidFill>
                <a:latin typeface="Arial"/>
              </a:rPr>
              <a:t>July CPI (Aug 12): +0.1% for the month, 3.4% year over year, down 0.1 point from June. Core CPI +0.2%, 2.5% annual - also down 0.1 point.</a:t>
            </a:r>
          </a:p>
          <a:p>
            <a:pPr algn="l">
              <a:spcAft>
                <a:spcPts val="700"/>
              </a:spcAft>
            </a:pPr>
            <a:r>
              <a:rPr sz="1450" b="0">
                <a:solidFill>
                  <a:srgbClr val="000962"/>
                </a:solidFill>
                <a:latin typeface="Arial"/>
              </a:rPr>
              <a:t>Energy fell 1.5% on the month but remains 14.7% above a year ago. Shelter and food each rose 0.1%; medical care +0.4% and airfares +2.2%.</a:t>
            </a:r>
          </a:p>
          <a:p>
            <a:pPr algn="l">
              <a:spcAft>
                <a:spcPts val="700"/>
              </a:spcAft>
            </a:pPr>
            <a:r>
              <a:rPr sz="1450" b="0">
                <a:solidFill>
                  <a:srgbClr val="000962"/>
                </a:solidFill>
                <a:latin typeface="Arial"/>
              </a:rPr>
              <a:t>July PPI (Aug 13): final demand unchanged on the month and 4.7% year over year, down from 5.5% in June and below the 4.9% forecast.</a:t>
            </a:r>
          </a:p>
          <a:p>
            <a:pPr algn="l">
              <a:spcAft>
                <a:spcPts val="700"/>
              </a:spcAft>
            </a:pPr>
            <a:r>
              <a:rPr sz="1450" b="0">
                <a:solidFill>
                  <a:srgbClr val="000962"/>
                </a:solidFill>
                <a:latin typeface="Arial"/>
              </a:rPr>
              <a:t>July retail sales (Aug 14): -0.6% to $763.6 billion, the steepest monthly drop in more than a year, though still +5.0% versus July 2025.</a:t>
            </a:r>
          </a:p>
          <a:p>
            <a:pPr algn="l">
              <a:spcAft>
                <a:spcPts val="700"/>
              </a:spcAft>
            </a:pPr>
            <a:r>
              <a:rPr sz="1450" b="0">
                <a:solidFill>
                  <a:srgbClr val="000962"/>
                </a:solidFill>
                <a:latin typeface="Arial"/>
              </a:rPr>
              <a:t>University of Michigan consumer sentiment fell roughly 8% to a preliminary 51 in early August, ending a two-month rising streak.</a:t>
            </a:r>
          </a:p>
        </p:txBody>
      </p:sp>
      <p:sp>
        <p:nvSpPr>
          <p:cNvPr id="11" name="Rectangle 10"/>
          <p:cNvSpPr/>
          <p:nvPr/>
        </p:nvSpPr>
        <p:spPr>
          <a:xfrm>
            <a:off x="8001000" y="2029968"/>
            <a:ext cx="2926080" cy="26060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267712"/>
            <a:ext cx="2468880" cy="256032"/>
          </a:xfrm>
          <a:prstGeom prst="rect">
            <a:avLst/>
          </a:prstGeom>
          <a:noFill/>
        </p:spPr>
        <p:txBody>
          <a:bodyPr wrap="square" lIns="45720" tIns="18288" rIns="45720" bIns="18288" anchor="t">
            <a:spAutoFit/>
          </a:bodyPr>
          <a:lstStyle/>
          <a:p>
            <a:pPr algn="l"/>
            <a:r>
              <a:rPr sz="1600" b="1">
                <a:solidFill>
                  <a:srgbClr val="0468FF"/>
                </a:solidFill>
                <a:latin typeface="Arial"/>
              </a:rPr>
              <a:t>NYLIM view</a:t>
            </a:r>
          </a:p>
        </p:txBody>
      </p:sp>
      <p:sp>
        <p:nvSpPr>
          <p:cNvPr id="13" name="TextBox 12"/>
          <p:cNvSpPr txBox="1"/>
          <p:nvPr/>
        </p:nvSpPr>
        <p:spPr>
          <a:xfrm>
            <a:off x="8229600" y="2697480"/>
            <a:ext cx="2468880" cy="1806040"/>
          </a:xfrm>
          <a:prstGeom prst="rect">
            <a:avLst/>
          </a:prstGeom>
          <a:noFill/>
        </p:spPr>
        <p:txBody>
          <a:bodyPr wrap="square" lIns="45720" tIns="18288" rIns="45720" bIns="18288" anchor="t">
            <a:spAutoFit/>
          </a:bodyPr>
          <a:lstStyle/>
          <a:p>
            <a:pPr algn="l"/>
            <a:r>
              <a:rPr sz="1350" b="0">
                <a:solidFill>
                  <a:srgbClr val="000962"/>
                </a:solidFill>
                <a:latin typeface="Arial"/>
              </a:rPr>
              <a:t>New York Life Investment Management's Macro Pulse describes a market where resilience remains the story, but the path is narrowing - persistent inflation and elevated rates leave less margin for error.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Economic Reports Calendar: Week Ahead</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August 17-21, 2026: housing data all week, Fed minutes Wednesday.</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658368" y="1965960"/>
            <a:ext cx="1051560" cy="237744"/>
          </a:xfrm>
          <a:prstGeom prst="rect">
            <a:avLst/>
          </a:prstGeom>
          <a:noFill/>
        </p:spPr>
        <p:txBody>
          <a:bodyPr wrap="square" lIns="45720" tIns="18288" rIns="45720" bIns="18288" anchor="t">
            <a:spAutoFit/>
          </a:bodyPr>
          <a:lstStyle/>
          <a:p>
            <a:pPr algn="l"/>
            <a:r>
              <a:rPr sz="950" b="1">
                <a:solidFill>
                  <a:srgbClr val="0468FF"/>
                </a:solidFill>
                <a:latin typeface="Arial"/>
              </a:rPr>
              <a:t>Date</a:t>
            </a:r>
          </a:p>
        </p:txBody>
      </p:sp>
      <p:sp>
        <p:nvSpPr>
          <p:cNvPr id="11" name="TextBox 10"/>
          <p:cNvSpPr txBox="1"/>
          <p:nvPr/>
        </p:nvSpPr>
        <p:spPr>
          <a:xfrm>
            <a:off x="1709928" y="1965960"/>
            <a:ext cx="2788920" cy="237744"/>
          </a:xfrm>
          <a:prstGeom prst="rect">
            <a:avLst/>
          </a:prstGeom>
          <a:noFill/>
        </p:spPr>
        <p:txBody>
          <a:bodyPr wrap="square" lIns="45720" tIns="18288" rIns="45720" bIns="18288" anchor="t">
            <a:spAutoFit/>
          </a:bodyPr>
          <a:lstStyle/>
          <a:p>
            <a:pPr algn="l"/>
            <a:r>
              <a:rPr sz="950" b="1">
                <a:solidFill>
                  <a:srgbClr val="0468FF"/>
                </a:solidFill>
                <a:latin typeface="Arial"/>
              </a:rPr>
              <a:t>Report</a:t>
            </a:r>
          </a:p>
        </p:txBody>
      </p:sp>
      <p:sp>
        <p:nvSpPr>
          <p:cNvPr id="12" name="TextBox 11"/>
          <p:cNvSpPr txBox="1"/>
          <p:nvPr/>
        </p:nvSpPr>
        <p:spPr>
          <a:xfrm>
            <a:off x="4498848" y="1965960"/>
            <a:ext cx="2971800" cy="237744"/>
          </a:xfrm>
          <a:prstGeom prst="rect">
            <a:avLst/>
          </a:prstGeom>
          <a:noFill/>
        </p:spPr>
        <p:txBody>
          <a:bodyPr wrap="square" lIns="45720" tIns="18288" rIns="45720" bIns="18288" anchor="t">
            <a:spAutoFit/>
          </a:bodyPr>
          <a:lstStyle/>
          <a:p>
            <a:pPr algn="l"/>
            <a:r>
              <a:rPr sz="950" b="1">
                <a:solidFill>
                  <a:srgbClr val="0468FF"/>
                </a:solidFill>
                <a:latin typeface="Arial"/>
              </a:rPr>
              <a:t>Detail</a:t>
            </a:r>
          </a:p>
        </p:txBody>
      </p:sp>
      <p:sp>
        <p:nvSpPr>
          <p:cNvPr id="13" name="TextBox 12"/>
          <p:cNvSpPr txBox="1"/>
          <p:nvPr/>
        </p:nvSpPr>
        <p:spPr>
          <a:xfrm>
            <a:off x="7470648" y="1965960"/>
            <a:ext cx="3977639" cy="237744"/>
          </a:xfrm>
          <a:prstGeom prst="rect">
            <a:avLst/>
          </a:prstGeom>
          <a:noFill/>
        </p:spPr>
        <p:txBody>
          <a:bodyPr wrap="square" lIns="45720" tIns="18288" rIns="45720" bIns="18288" anchor="t">
            <a:spAutoFit/>
          </a:bodyPr>
          <a:lstStyle/>
          <a:p>
            <a:pPr algn="l"/>
            <a:r>
              <a:rPr sz="950" b="1">
                <a:solidFill>
                  <a:srgbClr val="0468FF"/>
                </a:solidFill>
                <a:latin typeface="Arial"/>
              </a:rPr>
              <a:t>Why it matters</a:t>
            </a:r>
          </a:p>
        </p:txBody>
      </p:sp>
      <p:sp>
        <p:nvSpPr>
          <p:cNvPr id="14" name="Rectangle 13"/>
          <p:cNvSpPr/>
          <p:nvPr/>
        </p:nvSpPr>
        <p:spPr>
          <a:xfrm>
            <a:off x="658368" y="231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 y="235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Mon 8/17</a:t>
            </a:r>
          </a:p>
        </p:txBody>
      </p:sp>
      <p:sp>
        <p:nvSpPr>
          <p:cNvPr id="16" name="TextBox 15"/>
          <p:cNvSpPr txBox="1"/>
          <p:nvPr/>
        </p:nvSpPr>
        <p:spPr>
          <a:xfrm>
            <a:off x="1746504" y="235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Empire State Manufacturing (Aug), NAHB Housing Index (Aug)</a:t>
            </a:r>
          </a:p>
        </p:txBody>
      </p:sp>
      <p:sp>
        <p:nvSpPr>
          <p:cNvPr id="17" name="TextBox 16"/>
          <p:cNvSpPr txBox="1"/>
          <p:nvPr/>
        </p:nvSpPr>
        <p:spPr>
          <a:xfrm>
            <a:off x="4535424" y="235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8:30 am and 10:00 am ET</a:t>
            </a:r>
          </a:p>
        </p:txBody>
      </p:sp>
      <p:sp>
        <p:nvSpPr>
          <p:cNvPr id="18" name="TextBox 17"/>
          <p:cNvSpPr txBox="1"/>
          <p:nvPr/>
        </p:nvSpPr>
        <p:spPr>
          <a:xfrm>
            <a:off x="7507224" y="235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First read on August factory and builder sentiment.</a:t>
            </a:r>
          </a:p>
        </p:txBody>
      </p:sp>
      <p:sp>
        <p:nvSpPr>
          <p:cNvPr id="19" name="Rectangle 18"/>
          <p:cNvSpPr/>
          <p:nvPr/>
        </p:nvSpPr>
        <p:spPr>
          <a:xfrm>
            <a:off x="658368" y="280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284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Tue 8/18</a:t>
            </a:r>
          </a:p>
        </p:txBody>
      </p:sp>
      <p:sp>
        <p:nvSpPr>
          <p:cNvPr id="21" name="TextBox 20"/>
          <p:cNvSpPr txBox="1"/>
          <p:nvPr/>
        </p:nvSpPr>
        <p:spPr>
          <a:xfrm>
            <a:off x="1746504" y="284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Housing starts, Building permits, Import prices (Jul)</a:t>
            </a:r>
          </a:p>
        </p:txBody>
      </p:sp>
      <p:sp>
        <p:nvSpPr>
          <p:cNvPr id="22" name="TextBox 21"/>
          <p:cNvSpPr txBox="1"/>
          <p:nvPr/>
        </p:nvSpPr>
        <p:spPr>
          <a:xfrm>
            <a:off x="4535424" y="284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8:30 am ET</a:t>
            </a:r>
          </a:p>
        </p:txBody>
      </p:sp>
      <p:sp>
        <p:nvSpPr>
          <p:cNvPr id="23" name="TextBox 22"/>
          <p:cNvSpPr txBox="1"/>
          <p:nvPr/>
        </p:nvSpPr>
        <p:spPr>
          <a:xfrm>
            <a:off x="7507224" y="284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Housing supply pipeline and imported inflation.</a:t>
            </a:r>
          </a:p>
        </p:txBody>
      </p:sp>
      <p:sp>
        <p:nvSpPr>
          <p:cNvPr id="24" name="Rectangle 23"/>
          <p:cNvSpPr/>
          <p:nvPr/>
        </p:nvSpPr>
        <p:spPr>
          <a:xfrm>
            <a:off x="658368" y="329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333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Tue 8/18</a:t>
            </a:r>
          </a:p>
        </p:txBody>
      </p:sp>
      <p:sp>
        <p:nvSpPr>
          <p:cNvPr id="26" name="TextBox 25"/>
          <p:cNvSpPr txBox="1"/>
          <p:nvPr/>
        </p:nvSpPr>
        <p:spPr>
          <a:xfrm>
            <a:off x="1746504" y="333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Industrial production, Capacity utilization, Pending home sales (Jul)</a:t>
            </a:r>
          </a:p>
        </p:txBody>
      </p:sp>
      <p:sp>
        <p:nvSpPr>
          <p:cNvPr id="27" name="TextBox 26"/>
          <p:cNvSpPr txBox="1"/>
          <p:nvPr/>
        </p:nvSpPr>
        <p:spPr>
          <a:xfrm>
            <a:off x="4535424" y="333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9:15 am and 10:00 am ET</a:t>
            </a:r>
          </a:p>
        </p:txBody>
      </p:sp>
      <p:sp>
        <p:nvSpPr>
          <p:cNvPr id="28" name="TextBox 27"/>
          <p:cNvSpPr txBox="1"/>
          <p:nvPr/>
        </p:nvSpPr>
        <p:spPr>
          <a:xfrm>
            <a:off x="7507224" y="333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Factory output and forward housing demand.</a:t>
            </a:r>
          </a:p>
        </p:txBody>
      </p:sp>
      <p:sp>
        <p:nvSpPr>
          <p:cNvPr id="29" name="Rectangle 28"/>
          <p:cNvSpPr/>
          <p:nvPr/>
        </p:nvSpPr>
        <p:spPr>
          <a:xfrm>
            <a:off x="658368" y="378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382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Wed 8/19</a:t>
            </a:r>
          </a:p>
        </p:txBody>
      </p:sp>
      <p:sp>
        <p:nvSpPr>
          <p:cNvPr id="31" name="TextBox 30"/>
          <p:cNvSpPr txBox="1"/>
          <p:nvPr/>
        </p:nvSpPr>
        <p:spPr>
          <a:xfrm>
            <a:off x="1746504" y="382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FOMC minutes, July 28-29 meeting</a:t>
            </a:r>
          </a:p>
        </p:txBody>
      </p:sp>
      <p:sp>
        <p:nvSpPr>
          <p:cNvPr id="32" name="TextBox 31"/>
          <p:cNvSpPr txBox="1"/>
          <p:nvPr/>
        </p:nvSpPr>
        <p:spPr>
          <a:xfrm>
            <a:off x="4535424" y="382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2:00 pm ET - the week's main event</a:t>
            </a:r>
          </a:p>
        </p:txBody>
      </p:sp>
      <p:sp>
        <p:nvSpPr>
          <p:cNvPr id="33" name="TextBox 32"/>
          <p:cNvSpPr txBox="1"/>
          <p:nvPr/>
        </p:nvSpPr>
        <p:spPr>
          <a:xfrm>
            <a:off x="7507224" y="382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How many members wanted a hike, and what triggers September.</a:t>
            </a:r>
          </a:p>
        </p:txBody>
      </p:sp>
      <p:sp>
        <p:nvSpPr>
          <p:cNvPr id="34" name="Rectangle 33"/>
          <p:cNvSpPr/>
          <p:nvPr/>
        </p:nvSpPr>
        <p:spPr>
          <a:xfrm>
            <a:off x="658368" y="427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 y="431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Thu 8/20</a:t>
            </a:r>
          </a:p>
        </p:txBody>
      </p:sp>
      <p:sp>
        <p:nvSpPr>
          <p:cNvPr id="36" name="TextBox 35"/>
          <p:cNvSpPr txBox="1"/>
          <p:nvPr/>
        </p:nvSpPr>
        <p:spPr>
          <a:xfrm>
            <a:off x="1746504" y="431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Weekly jobless claims (wk ending 8/15), Philadelphia Fed Index (Aug)</a:t>
            </a:r>
          </a:p>
        </p:txBody>
      </p:sp>
      <p:sp>
        <p:nvSpPr>
          <p:cNvPr id="37" name="TextBox 36"/>
          <p:cNvSpPr txBox="1"/>
          <p:nvPr/>
        </p:nvSpPr>
        <p:spPr>
          <a:xfrm>
            <a:off x="4535424" y="431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8:30 am ET</a:t>
            </a:r>
          </a:p>
        </p:txBody>
      </p:sp>
      <p:sp>
        <p:nvSpPr>
          <p:cNvPr id="38" name="TextBox 37"/>
          <p:cNvSpPr txBox="1"/>
          <p:nvPr/>
        </p:nvSpPr>
        <p:spPr>
          <a:xfrm>
            <a:off x="7507224" y="431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Layoff pulse and regional manufacturing.</a:t>
            </a:r>
          </a:p>
        </p:txBody>
      </p:sp>
      <p:sp>
        <p:nvSpPr>
          <p:cNvPr id="39" name="Rectangle 38"/>
          <p:cNvSpPr/>
          <p:nvPr/>
        </p:nvSpPr>
        <p:spPr>
          <a:xfrm>
            <a:off x="658368" y="476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 y="4800008"/>
            <a:ext cx="1014984" cy="418424"/>
          </a:xfrm>
          <a:prstGeom prst="rect">
            <a:avLst/>
          </a:prstGeom>
          <a:noFill/>
        </p:spPr>
        <p:txBody>
          <a:bodyPr wrap="square" lIns="45720" tIns="18288" rIns="45720" bIns="18288" anchor="t">
            <a:spAutoFit/>
          </a:bodyPr>
          <a:lstStyle/>
          <a:p>
            <a:pPr algn="l"/>
            <a:r>
              <a:rPr sz="900" b="0">
                <a:solidFill>
                  <a:srgbClr val="000962"/>
                </a:solidFill>
                <a:latin typeface="Arial"/>
              </a:rPr>
              <a:t>Fri 8/21</a:t>
            </a:r>
          </a:p>
        </p:txBody>
      </p:sp>
      <p:sp>
        <p:nvSpPr>
          <p:cNvPr id="41" name="TextBox 40"/>
          <p:cNvSpPr txBox="1"/>
          <p:nvPr/>
        </p:nvSpPr>
        <p:spPr>
          <a:xfrm>
            <a:off x="1746504" y="4800008"/>
            <a:ext cx="2752344" cy="418424"/>
          </a:xfrm>
          <a:prstGeom prst="rect">
            <a:avLst/>
          </a:prstGeom>
          <a:noFill/>
        </p:spPr>
        <p:txBody>
          <a:bodyPr wrap="square" lIns="45720" tIns="18288" rIns="45720" bIns="18288" anchor="t">
            <a:spAutoFit/>
          </a:bodyPr>
          <a:lstStyle/>
          <a:p>
            <a:pPr algn="l"/>
            <a:r>
              <a:rPr sz="900" b="0">
                <a:solidFill>
                  <a:srgbClr val="000962"/>
                </a:solidFill>
                <a:latin typeface="Arial"/>
              </a:rPr>
              <a:t>S&amp;P Global Flash Manufacturing and Services PMI (Aug)</a:t>
            </a:r>
          </a:p>
        </p:txBody>
      </p:sp>
      <p:sp>
        <p:nvSpPr>
          <p:cNvPr id="42" name="TextBox 41"/>
          <p:cNvSpPr txBox="1"/>
          <p:nvPr/>
        </p:nvSpPr>
        <p:spPr>
          <a:xfrm>
            <a:off x="4535424" y="4800008"/>
            <a:ext cx="2935224" cy="418424"/>
          </a:xfrm>
          <a:prstGeom prst="rect">
            <a:avLst/>
          </a:prstGeom>
          <a:noFill/>
        </p:spPr>
        <p:txBody>
          <a:bodyPr wrap="square" lIns="45720" tIns="18288" rIns="45720" bIns="18288" anchor="t">
            <a:spAutoFit/>
          </a:bodyPr>
          <a:lstStyle/>
          <a:p>
            <a:pPr algn="l"/>
            <a:r>
              <a:rPr sz="900" b="0">
                <a:solidFill>
                  <a:srgbClr val="000962"/>
                </a:solidFill>
                <a:latin typeface="Arial"/>
              </a:rPr>
              <a:t>9:45 am ET</a:t>
            </a:r>
          </a:p>
        </p:txBody>
      </p:sp>
      <p:sp>
        <p:nvSpPr>
          <p:cNvPr id="43" name="TextBox 42"/>
          <p:cNvSpPr txBox="1"/>
          <p:nvPr/>
        </p:nvSpPr>
        <p:spPr>
          <a:xfrm>
            <a:off x="7507224" y="4800008"/>
            <a:ext cx="3941063" cy="418424"/>
          </a:xfrm>
          <a:prstGeom prst="rect">
            <a:avLst/>
          </a:prstGeom>
          <a:noFill/>
        </p:spPr>
        <p:txBody>
          <a:bodyPr wrap="square" lIns="45720" tIns="18288" rIns="45720" bIns="18288" anchor="t">
            <a:spAutoFit/>
          </a:bodyPr>
          <a:lstStyle/>
          <a:p>
            <a:pPr algn="l"/>
            <a:r>
              <a:rPr sz="900" b="0">
                <a:solidFill>
                  <a:srgbClr val="000962"/>
                </a:solidFill>
                <a:latin typeface="Arial"/>
              </a:rPr>
              <a:t>Freshest read on August growth momentum.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Earnings Calendar: Week Ahead</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Retail week: the consumer gets graded from five different angles.</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658368" y="1965960"/>
            <a:ext cx="1000000" cy="237744"/>
          </a:xfrm>
          <a:prstGeom prst="rect">
            <a:avLst/>
          </a:prstGeom>
          <a:noFill/>
        </p:spPr>
        <p:txBody>
          <a:bodyPr wrap="square" lIns="45720" tIns="18288" rIns="45720" bIns="18288" anchor="t">
            <a:spAutoFit/>
          </a:bodyPr>
          <a:lstStyle/>
          <a:p>
            <a:pPr algn="l"/>
            <a:r>
              <a:rPr sz="950" b="1">
                <a:solidFill>
                  <a:srgbClr val="0468FF"/>
                </a:solidFill>
                <a:latin typeface="Arial"/>
              </a:rPr>
              <a:t>Date</a:t>
            </a:r>
          </a:p>
        </p:txBody>
      </p:sp>
      <p:sp>
        <p:nvSpPr>
          <p:cNvPr id="11" name="TextBox 10"/>
          <p:cNvSpPr txBox="1"/>
          <p:nvPr/>
        </p:nvSpPr>
        <p:spPr>
          <a:xfrm>
            <a:off x="1658368" y="1965960"/>
            <a:ext cx="2200000" cy="237744"/>
          </a:xfrm>
          <a:prstGeom prst="rect">
            <a:avLst/>
          </a:prstGeom>
          <a:noFill/>
        </p:spPr>
        <p:txBody>
          <a:bodyPr wrap="square" lIns="45720" tIns="18288" rIns="45720" bIns="18288" anchor="t">
            <a:spAutoFit/>
          </a:bodyPr>
          <a:lstStyle/>
          <a:p>
            <a:pPr algn="l"/>
            <a:r>
              <a:rPr sz="950" b="1">
                <a:solidFill>
                  <a:srgbClr val="0468FF"/>
                </a:solidFill>
                <a:latin typeface="Arial"/>
              </a:rPr>
              <a:t>Company</a:t>
            </a:r>
          </a:p>
        </p:txBody>
      </p:sp>
      <p:sp>
        <p:nvSpPr>
          <p:cNvPr id="12" name="TextBox 11"/>
          <p:cNvSpPr txBox="1"/>
          <p:nvPr/>
        </p:nvSpPr>
        <p:spPr>
          <a:xfrm>
            <a:off x="3858368" y="1965960"/>
            <a:ext cx="1750000" cy="237744"/>
          </a:xfrm>
          <a:prstGeom prst="rect">
            <a:avLst/>
          </a:prstGeom>
          <a:noFill/>
        </p:spPr>
        <p:txBody>
          <a:bodyPr wrap="square" lIns="45720" tIns="18288" rIns="45720" bIns="18288" anchor="t">
            <a:spAutoFit/>
          </a:bodyPr>
          <a:lstStyle/>
          <a:p>
            <a:pPr algn="l"/>
            <a:r>
              <a:rPr sz="950" b="1">
                <a:solidFill>
                  <a:srgbClr val="0468FF"/>
                </a:solidFill>
                <a:latin typeface="Arial"/>
              </a:rPr>
              <a:t>Consensus EPS</a:t>
            </a:r>
          </a:p>
        </p:txBody>
      </p:sp>
      <p:sp>
        <p:nvSpPr>
          <p:cNvPr id="13" name="TextBox 12"/>
          <p:cNvSpPr txBox="1"/>
          <p:nvPr/>
        </p:nvSpPr>
        <p:spPr>
          <a:xfrm>
            <a:off x="5608368" y="1965960"/>
            <a:ext cx="2300000" cy="237744"/>
          </a:xfrm>
          <a:prstGeom prst="rect">
            <a:avLst/>
          </a:prstGeom>
          <a:noFill/>
        </p:spPr>
        <p:txBody>
          <a:bodyPr wrap="square" lIns="45720" tIns="18288" rIns="45720" bIns="18288" anchor="t">
            <a:spAutoFit/>
          </a:bodyPr>
          <a:lstStyle/>
          <a:p>
            <a:pPr algn="l"/>
            <a:r>
              <a:rPr sz="950" b="1">
                <a:solidFill>
                  <a:srgbClr val="0468FF"/>
                </a:solidFill>
                <a:latin typeface="Arial"/>
              </a:rPr>
              <a:t>Revenue / prior</a:t>
            </a:r>
          </a:p>
        </p:txBody>
      </p:sp>
      <p:sp>
        <p:nvSpPr>
          <p:cNvPr id="14" name="TextBox 13"/>
          <p:cNvSpPr txBox="1"/>
          <p:nvPr/>
        </p:nvSpPr>
        <p:spPr>
          <a:xfrm>
            <a:off x="7908368" y="1965960"/>
            <a:ext cx="3539919" cy="237744"/>
          </a:xfrm>
          <a:prstGeom prst="rect">
            <a:avLst/>
          </a:prstGeom>
          <a:noFill/>
        </p:spPr>
        <p:txBody>
          <a:bodyPr wrap="square" lIns="45720" tIns="18288" rIns="45720" bIns="18288" anchor="t">
            <a:spAutoFit/>
          </a:bodyPr>
          <a:lstStyle/>
          <a:p>
            <a:pPr algn="l"/>
            <a:r>
              <a:rPr sz="950" b="1">
                <a:solidFill>
                  <a:srgbClr val="0468FF"/>
                </a:solidFill>
                <a:latin typeface="Arial"/>
              </a:rPr>
              <a:t>What to watch</a:t>
            </a:r>
          </a:p>
        </p:txBody>
      </p:sp>
      <p:sp>
        <p:nvSpPr>
          <p:cNvPr id="15" name="Rectangle 14"/>
          <p:cNvSpPr/>
          <p:nvPr/>
        </p:nvSpPr>
        <p:spPr>
          <a:xfrm>
            <a:off x="658368" y="231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 y="235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Tue 8/18</a:t>
            </a:r>
          </a:p>
        </p:txBody>
      </p:sp>
      <p:sp>
        <p:nvSpPr>
          <p:cNvPr id="17" name="TextBox 16"/>
          <p:cNvSpPr txBox="1"/>
          <p:nvPr/>
        </p:nvSpPr>
        <p:spPr>
          <a:xfrm>
            <a:off x="1694944" y="235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Home Depot (HD) - before open</a:t>
            </a:r>
          </a:p>
        </p:txBody>
      </p:sp>
      <p:sp>
        <p:nvSpPr>
          <p:cNvPr id="18" name="TextBox 17"/>
          <p:cNvSpPr txBox="1"/>
          <p:nvPr/>
        </p:nvSpPr>
        <p:spPr>
          <a:xfrm>
            <a:off x="3894944" y="235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$4.73</a:t>
            </a:r>
          </a:p>
        </p:txBody>
      </p:sp>
      <p:sp>
        <p:nvSpPr>
          <p:cNvPr id="19" name="TextBox 18"/>
          <p:cNvSpPr txBox="1"/>
          <p:nvPr/>
        </p:nvSpPr>
        <p:spPr>
          <a:xfrm>
            <a:off x="5644944" y="235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$47.2B est., +4.2% y/y</a:t>
            </a:r>
          </a:p>
        </p:txBody>
      </p:sp>
      <p:sp>
        <p:nvSpPr>
          <p:cNvPr id="20" name="TextBox 19"/>
          <p:cNvSpPr txBox="1"/>
          <p:nvPr/>
        </p:nvSpPr>
        <p:spPr>
          <a:xfrm>
            <a:off x="7944944" y="235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Big-ticket demand with mortgage rates high.</a:t>
            </a:r>
          </a:p>
        </p:txBody>
      </p:sp>
      <p:sp>
        <p:nvSpPr>
          <p:cNvPr id="21" name="Rectangle 20"/>
          <p:cNvSpPr/>
          <p:nvPr/>
        </p:nvSpPr>
        <p:spPr>
          <a:xfrm>
            <a:off x="658368" y="280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4944" y="284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Wed 8/19</a:t>
            </a:r>
          </a:p>
        </p:txBody>
      </p:sp>
      <p:sp>
        <p:nvSpPr>
          <p:cNvPr id="23" name="TextBox 22"/>
          <p:cNvSpPr txBox="1"/>
          <p:nvPr/>
        </p:nvSpPr>
        <p:spPr>
          <a:xfrm>
            <a:off x="1694944" y="284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Lowe's (LOW), Target (TGT), TJX</a:t>
            </a:r>
          </a:p>
        </p:txBody>
      </p:sp>
      <p:sp>
        <p:nvSpPr>
          <p:cNvPr id="24" name="TextBox 23"/>
          <p:cNvSpPr txBox="1"/>
          <p:nvPr/>
        </p:nvSpPr>
        <p:spPr>
          <a:xfrm>
            <a:off x="3894944" y="284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$4.23 / $2.32 / $1.19</a:t>
            </a:r>
          </a:p>
        </p:txBody>
      </p:sp>
      <p:sp>
        <p:nvSpPr>
          <p:cNvPr id="25" name="TextBox 24"/>
          <p:cNvSpPr txBox="1"/>
          <p:nvPr/>
        </p:nvSpPr>
        <p:spPr>
          <a:xfrm>
            <a:off x="5644944" y="284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TGT sales est. $26.1B, +3.6%</a:t>
            </a:r>
          </a:p>
        </p:txBody>
      </p:sp>
      <p:sp>
        <p:nvSpPr>
          <p:cNvPr id="26" name="TextBox 25"/>
          <p:cNvSpPr txBox="1"/>
          <p:nvPr/>
        </p:nvSpPr>
        <p:spPr>
          <a:xfrm>
            <a:off x="7944944" y="284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Discretionary vs. off-price share shift.</a:t>
            </a:r>
          </a:p>
        </p:txBody>
      </p:sp>
      <p:sp>
        <p:nvSpPr>
          <p:cNvPr id="27" name="Rectangle 26"/>
          <p:cNvSpPr/>
          <p:nvPr/>
        </p:nvSpPr>
        <p:spPr>
          <a:xfrm>
            <a:off x="658368" y="329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944" y="333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Wed 8/19</a:t>
            </a:r>
          </a:p>
        </p:txBody>
      </p:sp>
      <p:sp>
        <p:nvSpPr>
          <p:cNvPr id="29" name="TextBox 28"/>
          <p:cNvSpPr txBox="1"/>
          <p:nvPr/>
        </p:nvSpPr>
        <p:spPr>
          <a:xfrm>
            <a:off x="1694944" y="333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Analog Devices (ADI), Estee Lauder (EL)</a:t>
            </a:r>
          </a:p>
        </p:txBody>
      </p:sp>
      <p:sp>
        <p:nvSpPr>
          <p:cNvPr id="30" name="TextBox 29"/>
          <p:cNvSpPr txBox="1"/>
          <p:nvPr/>
        </p:nvSpPr>
        <p:spPr>
          <a:xfrm>
            <a:off x="3894944" y="333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$3.34 / $0.32</a:t>
            </a:r>
          </a:p>
        </p:txBody>
      </p:sp>
      <p:sp>
        <p:nvSpPr>
          <p:cNvPr id="31" name="TextBox 30"/>
          <p:cNvSpPr txBox="1"/>
          <p:nvPr/>
        </p:nvSpPr>
        <p:spPr>
          <a:xfrm>
            <a:off x="5644944" y="333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Semis and global beauty</a:t>
            </a:r>
          </a:p>
        </p:txBody>
      </p:sp>
      <p:sp>
        <p:nvSpPr>
          <p:cNvPr id="32" name="TextBox 31"/>
          <p:cNvSpPr txBox="1"/>
          <p:nvPr/>
        </p:nvSpPr>
        <p:spPr>
          <a:xfrm>
            <a:off x="7944944" y="333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Chip demand breadth; China consumer.</a:t>
            </a:r>
          </a:p>
        </p:txBody>
      </p:sp>
      <p:sp>
        <p:nvSpPr>
          <p:cNvPr id="33" name="Rectangle 32"/>
          <p:cNvSpPr/>
          <p:nvPr/>
        </p:nvSpPr>
        <p:spPr>
          <a:xfrm>
            <a:off x="658368" y="378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4944" y="382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Thu 8/20</a:t>
            </a:r>
          </a:p>
        </p:txBody>
      </p:sp>
      <p:sp>
        <p:nvSpPr>
          <p:cNvPr id="35" name="TextBox 34"/>
          <p:cNvSpPr txBox="1"/>
          <p:nvPr/>
        </p:nvSpPr>
        <p:spPr>
          <a:xfrm>
            <a:off x="1694944" y="382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Walmart (WMT) - before open</a:t>
            </a:r>
          </a:p>
        </p:txBody>
      </p:sp>
      <p:sp>
        <p:nvSpPr>
          <p:cNvPr id="36" name="TextBox 35"/>
          <p:cNvSpPr txBox="1"/>
          <p:nvPr/>
        </p:nvSpPr>
        <p:spPr>
          <a:xfrm>
            <a:off x="3894944" y="382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$0.74 (+8.8% y/y)</a:t>
            </a:r>
          </a:p>
        </p:txBody>
      </p:sp>
      <p:sp>
        <p:nvSpPr>
          <p:cNvPr id="37" name="TextBox 36"/>
          <p:cNvSpPr txBox="1"/>
          <p:nvPr/>
        </p:nvSpPr>
        <p:spPr>
          <a:xfrm>
            <a:off x="5644944" y="382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$186.9B est., +6.3% y/y</a:t>
            </a:r>
          </a:p>
        </p:txBody>
      </p:sp>
      <p:sp>
        <p:nvSpPr>
          <p:cNvPr id="38" name="TextBox 37"/>
          <p:cNvSpPr txBox="1"/>
          <p:nvPr/>
        </p:nvSpPr>
        <p:spPr>
          <a:xfrm>
            <a:off x="7944944" y="382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The single best read on the U.S. consumer.</a:t>
            </a:r>
          </a:p>
        </p:txBody>
      </p:sp>
      <p:sp>
        <p:nvSpPr>
          <p:cNvPr id="39" name="Rectangle 38"/>
          <p:cNvSpPr/>
          <p:nvPr/>
        </p:nvSpPr>
        <p:spPr>
          <a:xfrm>
            <a:off x="658368" y="4273432"/>
            <a:ext cx="10789919" cy="45500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94944" y="431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Thu 8/20</a:t>
            </a:r>
          </a:p>
        </p:txBody>
      </p:sp>
      <p:sp>
        <p:nvSpPr>
          <p:cNvPr id="41" name="TextBox 40"/>
          <p:cNvSpPr txBox="1"/>
          <p:nvPr/>
        </p:nvSpPr>
        <p:spPr>
          <a:xfrm>
            <a:off x="1694944" y="431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Deere (DE), Ross Stores (ROST)</a:t>
            </a:r>
          </a:p>
        </p:txBody>
      </p:sp>
      <p:sp>
        <p:nvSpPr>
          <p:cNvPr id="42" name="TextBox 41"/>
          <p:cNvSpPr txBox="1"/>
          <p:nvPr/>
        </p:nvSpPr>
        <p:spPr>
          <a:xfrm>
            <a:off x="3894944" y="431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$4.69 / $1.94</a:t>
            </a:r>
          </a:p>
        </p:txBody>
      </p:sp>
      <p:sp>
        <p:nvSpPr>
          <p:cNvPr id="43" name="TextBox 42"/>
          <p:cNvSpPr txBox="1"/>
          <p:nvPr/>
        </p:nvSpPr>
        <p:spPr>
          <a:xfrm>
            <a:off x="5644944" y="431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Ag equipment and off-price</a:t>
            </a:r>
          </a:p>
        </p:txBody>
      </p:sp>
      <p:sp>
        <p:nvSpPr>
          <p:cNvPr id="44" name="TextBox 43"/>
          <p:cNvSpPr txBox="1"/>
          <p:nvPr/>
        </p:nvSpPr>
        <p:spPr>
          <a:xfrm>
            <a:off x="7944944" y="431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Farm economy; trade-down behavior.</a:t>
            </a:r>
          </a:p>
        </p:txBody>
      </p:sp>
      <p:sp>
        <p:nvSpPr>
          <p:cNvPr id="45" name="Rectangle 44"/>
          <p:cNvSpPr/>
          <p:nvPr/>
        </p:nvSpPr>
        <p:spPr>
          <a:xfrm>
            <a:off x="658368" y="4763432"/>
            <a:ext cx="10789919" cy="455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94944" y="4800008"/>
            <a:ext cx="963424" cy="418424"/>
          </a:xfrm>
          <a:prstGeom prst="rect">
            <a:avLst/>
          </a:prstGeom>
          <a:noFill/>
        </p:spPr>
        <p:txBody>
          <a:bodyPr wrap="square" lIns="45720" tIns="18288" rIns="45720" bIns="18288" anchor="t">
            <a:spAutoFit/>
          </a:bodyPr>
          <a:lstStyle/>
          <a:p>
            <a:pPr algn="l"/>
            <a:r>
              <a:rPr sz="900" b="0">
                <a:solidFill>
                  <a:srgbClr val="000962"/>
                </a:solidFill>
                <a:latin typeface="Arial"/>
              </a:rPr>
              <a:t>Fri 8/21</a:t>
            </a:r>
          </a:p>
        </p:txBody>
      </p:sp>
      <p:sp>
        <p:nvSpPr>
          <p:cNvPr id="47" name="TextBox 46"/>
          <p:cNvSpPr txBox="1"/>
          <p:nvPr/>
        </p:nvSpPr>
        <p:spPr>
          <a:xfrm>
            <a:off x="1694944" y="4800008"/>
            <a:ext cx="2163424" cy="418424"/>
          </a:xfrm>
          <a:prstGeom prst="rect">
            <a:avLst/>
          </a:prstGeom>
          <a:noFill/>
        </p:spPr>
        <p:txBody>
          <a:bodyPr wrap="square" lIns="45720" tIns="18288" rIns="45720" bIns="18288" anchor="t">
            <a:spAutoFit/>
          </a:bodyPr>
          <a:lstStyle/>
          <a:p>
            <a:pPr algn="l"/>
            <a:r>
              <a:rPr sz="900" b="0">
                <a:solidFill>
                  <a:srgbClr val="000962"/>
                </a:solidFill>
                <a:latin typeface="Arial"/>
              </a:rPr>
              <a:t>BJ's Wholesale (BJ)</a:t>
            </a:r>
          </a:p>
        </p:txBody>
      </p:sp>
      <p:sp>
        <p:nvSpPr>
          <p:cNvPr id="48" name="TextBox 47"/>
          <p:cNvSpPr txBox="1"/>
          <p:nvPr/>
        </p:nvSpPr>
        <p:spPr>
          <a:xfrm>
            <a:off x="3894944" y="4800008"/>
            <a:ext cx="1713424" cy="418424"/>
          </a:xfrm>
          <a:prstGeom prst="rect">
            <a:avLst/>
          </a:prstGeom>
          <a:noFill/>
        </p:spPr>
        <p:txBody>
          <a:bodyPr wrap="square" lIns="45720" tIns="18288" rIns="45720" bIns="18288" anchor="t">
            <a:spAutoFit/>
          </a:bodyPr>
          <a:lstStyle/>
          <a:p>
            <a:pPr algn="l"/>
            <a:r>
              <a:rPr sz="900" b="0">
                <a:solidFill>
                  <a:srgbClr val="000962"/>
                </a:solidFill>
                <a:latin typeface="Arial"/>
              </a:rPr>
              <a:t>$1.17</a:t>
            </a:r>
          </a:p>
        </p:txBody>
      </p:sp>
      <p:sp>
        <p:nvSpPr>
          <p:cNvPr id="49" name="TextBox 48"/>
          <p:cNvSpPr txBox="1"/>
          <p:nvPr/>
        </p:nvSpPr>
        <p:spPr>
          <a:xfrm>
            <a:off x="5644944" y="4800008"/>
            <a:ext cx="2263424" cy="418424"/>
          </a:xfrm>
          <a:prstGeom prst="rect">
            <a:avLst/>
          </a:prstGeom>
          <a:noFill/>
        </p:spPr>
        <p:txBody>
          <a:bodyPr wrap="square" lIns="45720" tIns="18288" rIns="45720" bIns="18288" anchor="t">
            <a:spAutoFit/>
          </a:bodyPr>
          <a:lstStyle/>
          <a:p>
            <a:pPr algn="l"/>
            <a:r>
              <a:rPr sz="900" b="0">
                <a:solidFill>
                  <a:srgbClr val="000962"/>
                </a:solidFill>
                <a:latin typeface="Arial"/>
              </a:rPr>
              <a:t>Warehouse club</a:t>
            </a:r>
          </a:p>
        </p:txBody>
      </p:sp>
      <p:sp>
        <p:nvSpPr>
          <p:cNvPr id="50" name="TextBox 49"/>
          <p:cNvSpPr txBox="1"/>
          <p:nvPr/>
        </p:nvSpPr>
        <p:spPr>
          <a:xfrm>
            <a:off x="7944944" y="4800008"/>
            <a:ext cx="3503343" cy="418424"/>
          </a:xfrm>
          <a:prstGeom prst="rect">
            <a:avLst/>
          </a:prstGeom>
          <a:noFill/>
        </p:spPr>
        <p:txBody>
          <a:bodyPr wrap="square" lIns="45720" tIns="18288" rIns="45720" bIns="18288" anchor="t">
            <a:spAutoFit/>
          </a:bodyPr>
          <a:lstStyle/>
          <a:p>
            <a:pPr algn="l"/>
            <a:r>
              <a:rPr sz="900" b="0">
                <a:solidFill>
                  <a:srgbClr val="000962"/>
                </a:solidFill>
                <a:latin typeface="Arial"/>
              </a:rPr>
              <a:t>Membership renewal and food inflation.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Fed, Rates &amp; Macro Watch</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A Fed that was leaning toward hiking just got softer data.</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57400"/>
            <a:ext cx="6812280" cy="3520440"/>
          </a:xfrm>
          <a:prstGeom prst="rect">
            <a:avLst/>
          </a:prstGeom>
          <a:noFill/>
        </p:spPr>
        <p:txBody>
          <a:bodyPr wrap="square" lIns="45720" tIns="18288" rIns="45720" bIns="18288" anchor="t">
            <a:spAutoFit/>
          </a:bodyPr>
          <a:lstStyle/>
          <a:p>
            <a:pPr algn="l">
              <a:spcAft>
                <a:spcPts val="700"/>
              </a:spcAft>
            </a:pPr>
            <a:r>
              <a:rPr sz="1450" b="0">
                <a:solidFill>
                  <a:srgbClr val="000962"/>
                </a:solidFill>
                <a:latin typeface="Arial"/>
              </a:rPr>
              <a:t>The FOMC held the federal funds rate at 3.50%-3.75% on July 29 in a split decision. Three officials dissented in favor of a rate hike.</a:t>
            </a:r>
          </a:p>
          <a:p>
            <a:pPr algn="l">
              <a:spcAft>
                <a:spcPts val="700"/>
              </a:spcAft>
            </a:pPr>
            <a:r>
              <a:rPr sz="1450" b="0">
                <a:solidFill>
                  <a:srgbClr val="000962"/>
                </a:solidFill>
                <a:latin typeface="Arial"/>
              </a:rPr>
              <a:t>The statement described activity expanding at a solid pace with strong productivity and capital investment, but called inflation elevated.</a:t>
            </a:r>
          </a:p>
          <a:p>
            <a:pPr algn="l">
              <a:spcAft>
                <a:spcPts val="700"/>
              </a:spcAft>
            </a:pPr>
            <a:r>
              <a:rPr sz="1450" b="0">
                <a:solidFill>
                  <a:srgbClr val="000962"/>
                </a:solidFill>
                <a:latin typeface="Arial"/>
              </a:rPr>
              <a:t>Softer July CPI, PPI and a weak jobs report have since pulled September rate-hike expectations back down.</a:t>
            </a:r>
          </a:p>
          <a:p>
            <a:pPr algn="l">
              <a:spcAft>
                <a:spcPts val="700"/>
              </a:spcAft>
            </a:pPr>
            <a:r>
              <a:rPr sz="1450" b="0">
                <a:solidFill>
                  <a:srgbClr val="000962"/>
                </a:solidFill>
                <a:latin typeface="Arial"/>
              </a:rPr>
              <a:t>Wednesday's minutes are the last scheduled Fed communication before Chair Warsh's Jackson Hole keynote on August 27-29.</a:t>
            </a:r>
          </a:p>
          <a:p>
            <a:pPr algn="l">
              <a:spcAft>
                <a:spcPts val="700"/>
              </a:spcAft>
            </a:pPr>
            <a:r>
              <a:rPr sz="1450" b="0">
                <a:solidFill>
                  <a:srgbClr val="000962"/>
                </a:solidFill>
                <a:latin typeface="Arial"/>
              </a:rPr>
              <a:t>No FOMC meeting until September 15-16. The 10-year at 4.68% and 2-year at 4.17% leave the curve modestly positive.</a:t>
            </a:r>
          </a:p>
        </p:txBody>
      </p:sp>
      <p:sp>
        <p:nvSpPr>
          <p:cNvPr id="11" name="Rectangle 10"/>
          <p:cNvSpPr/>
          <p:nvPr/>
        </p:nvSpPr>
        <p:spPr>
          <a:xfrm>
            <a:off x="8001000" y="2029968"/>
            <a:ext cx="2926080" cy="26060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2267712"/>
            <a:ext cx="2468880" cy="256032"/>
          </a:xfrm>
          <a:prstGeom prst="rect">
            <a:avLst/>
          </a:prstGeom>
          <a:noFill/>
        </p:spPr>
        <p:txBody>
          <a:bodyPr wrap="square" lIns="45720" tIns="18288" rIns="45720" bIns="18288" anchor="t">
            <a:spAutoFit/>
          </a:bodyPr>
          <a:lstStyle/>
          <a:p>
            <a:pPr algn="l"/>
            <a:r>
              <a:rPr sz="1600" b="1">
                <a:solidFill>
                  <a:srgbClr val="0468FF"/>
                </a:solidFill>
                <a:latin typeface="Arial"/>
              </a:rPr>
              <a:t>Advisor angle</a:t>
            </a:r>
          </a:p>
        </p:txBody>
      </p:sp>
      <p:sp>
        <p:nvSpPr>
          <p:cNvPr id="13" name="TextBox 12"/>
          <p:cNvSpPr txBox="1"/>
          <p:nvPr/>
        </p:nvSpPr>
        <p:spPr>
          <a:xfrm>
            <a:off x="8229600" y="2697480"/>
            <a:ext cx="2468880" cy="1806040"/>
          </a:xfrm>
          <a:prstGeom prst="rect">
            <a:avLst/>
          </a:prstGeom>
          <a:noFill/>
        </p:spPr>
        <p:txBody>
          <a:bodyPr wrap="square" lIns="45720" tIns="18288" rIns="45720" bIns="18288" anchor="t">
            <a:spAutoFit/>
          </a:bodyPr>
          <a:lstStyle/>
          <a:p>
            <a:pPr algn="l"/>
            <a:r>
              <a:rPr sz="1350" b="0">
                <a:solidFill>
                  <a:srgbClr val="000962"/>
                </a:solidFill>
                <a:latin typeface="Arial"/>
              </a:rPr>
              <a:t>The debate is whether the Fed hikes, not cuts. Clients hearing 'rates stay high' should hear opportunity in guaranteed products, not a reason to sit in cash indefinitely.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Sector &amp; Theme Spotlight</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Leadership rotated. Small caps and financials joined the rally.</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1000000" y="1874520"/>
            <a:ext cx="10058400" cy="384048"/>
          </a:xfrm>
          <a:prstGeom prst="rect">
            <a:avLst/>
          </a:prstGeom>
          <a:noFill/>
        </p:spPr>
        <p:txBody>
          <a:bodyPr wrap="square" lIns="45720" tIns="18288" rIns="45720" bIns="18288" anchor="t">
            <a:spAutoFit/>
          </a:bodyPr>
          <a:lstStyle/>
          <a:p>
            <a:pPr algn="l"/>
            <a:r>
              <a:rPr sz="1600" b="1">
                <a:solidFill>
                  <a:srgbClr val="000962"/>
                </a:solidFill>
                <a:latin typeface="Arial"/>
              </a:rPr>
              <a:t>Three shifts worth explaining to clients this week.</a:t>
            </a:r>
          </a:p>
        </p:txBody>
      </p:sp>
      <p:sp>
        <p:nvSpPr>
          <p:cNvPr id="11" name="Rectangle 10"/>
          <p:cNvSpPr/>
          <p:nvPr/>
        </p:nvSpPr>
        <p:spPr>
          <a:xfrm>
            <a:off x="1051560" y="2743200"/>
            <a:ext cx="2880360" cy="10058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61288" y="2816352"/>
            <a:ext cx="2633472" cy="137160"/>
          </a:xfrm>
          <a:prstGeom prst="rect">
            <a:avLst/>
          </a:prstGeom>
          <a:noFill/>
        </p:spPr>
        <p:txBody>
          <a:bodyPr wrap="square" lIns="45720" tIns="18288" rIns="45720" bIns="18288" anchor="t">
            <a:spAutoFit/>
          </a:bodyPr>
          <a:lstStyle/>
          <a:p>
            <a:pPr algn="l"/>
            <a:r>
              <a:rPr sz="1050" b="0">
                <a:solidFill>
                  <a:srgbClr val="000962"/>
                </a:solidFill>
                <a:latin typeface="Arial"/>
              </a:rPr>
              <a:t>Broadening rally</a:t>
            </a:r>
          </a:p>
        </p:txBody>
      </p:sp>
      <p:sp>
        <p:nvSpPr>
          <p:cNvPr id="13" name="TextBox 12"/>
          <p:cNvSpPr txBox="1"/>
          <p:nvPr/>
        </p:nvSpPr>
        <p:spPr>
          <a:xfrm>
            <a:off x="1161288" y="2990088"/>
            <a:ext cx="2633472" cy="201168"/>
          </a:xfrm>
          <a:prstGeom prst="rect">
            <a:avLst/>
          </a:prstGeom>
          <a:noFill/>
        </p:spPr>
        <p:txBody>
          <a:bodyPr wrap="square" lIns="45720" tIns="18288" rIns="45720" bIns="18288" anchor="t">
            <a:spAutoFit/>
          </a:bodyPr>
          <a:lstStyle/>
          <a:p>
            <a:pPr algn="l"/>
            <a:r>
              <a:rPr sz="1500" b="1">
                <a:solidFill>
                  <a:srgbClr val="0468FF"/>
                </a:solidFill>
                <a:latin typeface="Arial"/>
              </a:rPr>
              <a:t>Russell 2000 +3.15%</a:t>
            </a:r>
          </a:p>
        </p:txBody>
      </p:sp>
      <p:sp>
        <p:nvSpPr>
          <p:cNvPr id="14" name="TextBox 13"/>
          <p:cNvSpPr txBox="1"/>
          <p:nvPr/>
        </p:nvSpPr>
        <p:spPr>
          <a:xfrm>
            <a:off x="1161288" y="3236976"/>
            <a:ext cx="2633472" cy="320040"/>
          </a:xfrm>
          <a:prstGeom prst="rect">
            <a:avLst/>
          </a:prstGeom>
          <a:noFill/>
        </p:spPr>
        <p:txBody>
          <a:bodyPr wrap="square" lIns="45720" tIns="18288" rIns="45720" bIns="18288" anchor="t">
            <a:spAutoFit/>
          </a:bodyPr>
          <a:lstStyle/>
          <a:p>
            <a:pPr algn="l"/>
            <a:r>
              <a:rPr sz="950" b="0">
                <a:solidFill>
                  <a:srgbClr val="000962"/>
                </a:solidFill>
                <a:latin typeface="Arial"/>
              </a:rPr>
              <a:t>Small caps hit a record and led every major index</a:t>
            </a:r>
          </a:p>
        </p:txBody>
      </p:sp>
      <p:sp>
        <p:nvSpPr>
          <p:cNvPr id="15" name="Rectangle 14"/>
          <p:cNvSpPr/>
          <p:nvPr/>
        </p:nvSpPr>
        <p:spPr>
          <a:xfrm>
            <a:off x="4617720" y="2743200"/>
            <a:ext cx="2880360" cy="10058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27448" y="2816352"/>
            <a:ext cx="2633472" cy="137160"/>
          </a:xfrm>
          <a:prstGeom prst="rect">
            <a:avLst/>
          </a:prstGeom>
          <a:noFill/>
        </p:spPr>
        <p:txBody>
          <a:bodyPr wrap="square" lIns="45720" tIns="18288" rIns="45720" bIns="18288" anchor="t">
            <a:spAutoFit/>
          </a:bodyPr>
          <a:lstStyle/>
          <a:p>
            <a:pPr algn="l"/>
            <a:r>
              <a:rPr sz="1050" b="0">
                <a:solidFill>
                  <a:srgbClr val="000962"/>
                </a:solidFill>
                <a:latin typeface="Arial"/>
              </a:rPr>
              <a:t>Sector rotation</a:t>
            </a:r>
          </a:p>
        </p:txBody>
      </p:sp>
      <p:sp>
        <p:nvSpPr>
          <p:cNvPr id="17" name="TextBox 16"/>
          <p:cNvSpPr txBox="1"/>
          <p:nvPr/>
        </p:nvSpPr>
        <p:spPr>
          <a:xfrm>
            <a:off x="4727448" y="2990088"/>
            <a:ext cx="2633472" cy="201168"/>
          </a:xfrm>
          <a:prstGeom prst="rect">
            <a:avLst/>
          </a:prstGeom>
          <a:noFill/>
        </p:spPr>
        <p:txBody>
          <a:bodyPr wrap="square" lIns="45720" tIns="18288" rIns="45720" bIns="18288" anchor="t">
            <a:spAutoFit/>
          </a:bodyPr>
          <a:lstStyle/>
          <a:p>
            <a:pPr algn="l"/>
            <a:r>
              <a:rPr sz="1500" b="1">
                <a:solidFill>
                  <a:srgbClr val="0468FF"/>
                </a:solidFill>
                <a:latin typeface="Arial"/>
              </a:rPr>
              <a:t>Financials, Health Care up</a:t>
            </a:r>
          </a:p>
        </p:txBody>
      </p:sp>
      <p:sp>
        <p:nvSpPr>
          <p:cNvPr id="18" name="TextBox 17"/>
          <p:cNvSpPr txBox="1"/>
          <p:nvPr/>
        </p:nvSpPr>
        <p:spPr>
          <a:xfrm>
            <a:off x="4727448" y="3236976"/>
            <a:ext cx="2633472" cy="320040"/>
          </a:xfrm>
          <a:prstGeom prst="rect">
            <a:avLst/>
          </a:prstGeom>
          <a:noFill/>
        </p:spPr>
        <p:txBody>
          <a:bodyPr wrap="square" lIns="45720" tIns="18288" rIns="45720" bIns="18288" anchor="t">
            <a:spAutoFit/>
          </a:bodyPr>
          <a:lstStyle/>
          <a:p>
            <a:pPr algn="l"/>
            <a:r>
              <a:rPr sz="950" b="0">
                <a:solidFill>
                  <a:srgbClr val="000962"/>
                </a:solidFill>
                <a:latin typeface="Arial"/>
              </a:rPr>
              <a:t>Energy dropped from second to sixth in relative strength</a:t>
            </a:r>
          </a:p>
        </p:txBody>
      </p:sp>
      <p:sp>
        <p:nvSpPr>
          <p:cNvPr id="19" name="Rectangle 18"/>
          <p:cNvSpPr/>
          <p:nvPr/>
        </p:nvSpPr>
        <p:spPr>
          <a:xfrm>
            <a:off x="8183880" y="2743200"/>
            <a:ext cx="2880360" cy="1005840"/>
          </a:xfrm>
          <a:prstGeom prst="rect">
            <a:avLst/>
          </a:prstGeom>
          <a:solidFill>
            <a:srgbClr val="EB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93608" y="2816352"/>
            <a:ext cx="2633472" cy="137160"/>
          </a:xfrm>
          <a:prstGeom prst="rect">
            <a:avLst/>
          </a:prstGeom>
          <a:noFill/>
        </p:spPr>
        <p:txBody>
          <a:bodyPr wrap="square" lIns="45720" tIns="18288" rIns="45720" bIns="18288" anchor="t">
            <a:spAutoFit/>
          </a:bodyPr>
          <a:lstStyle/>
          <a:p>
            <a:pPr algn="l"/>
            <a:r>
              <a:rPr sz="1050" b="0">
                <a:solidFill>
                  <a:srgbClr val="000962"/>
                </a:solidFill>
                <a:latin typeface="Arial"/>
              </a:rPr>
              <a:t>Consumer question</a:t>
            </a:r>
          </a:p>
        </p:txBody>
      </p:sp>
      <p:sp>
        <p:nvSpPr>
          <p:cNvPr id="21" name="TextBox 20"/>
          <p:cNvSpPr txBox="1"/>
          <p:nvPr/>
        </p:nvSpPr>
        <p:spPr>
          <a:xfrm>
            <a:off x="8293608" y="2990088"/>
            <a:ext cx="2633472" cy="201168"/>
          </a:xfrm>
          <a:prstGeom prst="rect">
            <a:avLst/>
          </a:prstGeom>
          <a:noFill/>
        </p:spPr>
        <p:txBody>
          <a:bodyPr wrap="square" lIns="45720" tIns="18288" rIns="45720" bIns="18288" anchor="t">
            <a:spAutoFit/>
          </a:bodyPr>
          <a:lstStyle/>
          <a:p>
            <a:pPr algn="l"/>
            <a:r>
              <a:rPr sz="1500" b="1">
                <a:solidFill>
                  <a:srgbClr val="0468FF"/>
                </a:solidFill>
                <a:latin typeface="Arial"/>
              </a:rPr>
              <a:t>Retail sales -0.6%</a:t>
            </a:r>
          </a:p>
        </p:txBody>
      </p:sp>
      <p:sp>
        <p:nvSpPr>
          <p:cNvPr id="22" name="TextBox 21"/>
          <p:cNvSpPr txBox="1"/>
          <p:nvPr/>
        </p:nvSpPr>
        <p:spPr>
          <a:xfrm>
            <a:off x="8293608" y="3236976"/>
            <a:ext cx="2633472" cy="320040"/>
          </a:xfrm>
          <a:prstGeom prst="rect">
            <a:avLst/>
          </a:prstGeom>
          <a:noFill/>
        </p:spPr>
        <p:txBody>
          <a:bodyPr wrap="square" lIns="45720" tIns="18288" rIns="45720" bIns="18288" anchor="t">
            <a:spAutoFit/>
          </a:bodyPr>
          <a:lstStyle/>
          <a:p>
            <a:pPr algn="l"/>
            <a:r>
              <a:rPr sz="950" b="0">
                <a:solidFill>
                  <a:srgbClr val="000962"/>
                </a:solidFill>
                <a:latin typeface="Arial"/>
              </a:rPr>
              <a:t>Sentiment at 51 sets up a high-stakes retail earnings week</a:t>
            </a:r>
          </a:p>
        </p:txBody>
      </p:sp>
      <p:sp>
        <p:nvSpPr>
          <p:cNvPr id="23" name="TextBox 22"/>
          <p:cNvSpPr txBox="1"/>
          <p:nvPr/>
        </p:nvSpPr>
        <p:spPr>
          <a:xfrm>
            <a:off x="1051560" y="4251960"/>
            <a:ext cx="10058400" cy="594360"/>
          </a:xfrm>
          <a:prstGeom prst="rect">
            <a:avLst/>
          </a:prstGeom>
          <a:noFill/>
        </p:spPr>
        <p:txBody>
          <a:bodyPr wrap="square" lIns="45720" tIns="18288" rIns="45720" bIns="18288" anchor="t">
            <a:spAutoFit/>
          </a:bodyPr>
          <a:lstStyle/>
          <a:p>
            <a:pPr algn="l"/>
            <a:r>
              <a:rPr sz="1400" b="0">
                <a:solidFill>
                  <a:srgbClr val="000962"/>
                </a:solidFill>
                <a:latin typeface="Arial"/>
              </a:rPr>
              <a:t>Talking point: a rally that widens out is generally healthier than one carried by a handful of names. It also means diversification is finally being rewarded again - which is exactly what a plan is built to capture.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7E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40680"/>
            <a:ext cx="12191695" cy="438912"/>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327648"/>
            <a:ext cx="12191695" cy="146304"/>
          </a:xfrm>
          <a:prstGeom prst="rect">
            <a:avLst/>
          </a:prstGeom>
          <a:solidFill>
            <a:srgbClr val="B6D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621792"/>
            <a:ext cx="10881360" cy="530352"/>
          </a:xfrm>
          <a:prstGeom prst="rect">
            <a:avLst/>
          </a:prstGeom>
          <a:noFill/>
        </p:spPr>
        <p:txBody>
          <a:bodyPr wrap="square" lIns="45720" tIns="18288" rIns="45720" bIns="18288" anchor="t">
            <a:spAutoFit/>
          </a:bodyPr>
          <a:lstStyle/>
          <a:p>
            <a:pPr algn="l"/>
            <a:r>
              <a:rPr sz="3200" b="1">
                <a:solidFill>
                  <a:srgbClr val="0468FF"/>
                </a:solidFill>
                <a:latin typeface="Arial"/>
              </a:rPr>
              <a:t>Client Talking Points: What This Means for You</a:t>
            </a:r>
          </a:p>
        </p:txBody>
      </p:sp>
      <p:sp>
        <p:nvSpPr>
          <p:cNvPr id="6" name="TextBox 5"/>
          <p:cNvSpPr txBox="1"/>
          <p:nvPr/>
        </p:nvSpPr>
        <p:spPr>
          <a:xfrm>
            <a:off x="713232" y="1353312"/>
            <a:ext cx="10881360" cy="310896"/>
          </a:xfrm>
          <a:prstGeom prst="rect">
            <a:avLst/>
          </a:prstGeom>
          <a:noFill/>
        </p:spPr>
        <p:txBody>
          <a:bodyPr wrap="square" lIns="45720" tIns="18288" rIns="45720" bIns="18288" anchor="t">
            <a:spAutoFit/>
          </a:bodyPr>
          <a:lstStyle/>
          <a:p>
            <a:pPr algn="l"/>
            <a:r>
              <a:rPr sz="1600" b="0">
                <a:solidFill>
                  <a:srgbClr val="000962"/>
                </a:solidFill>
                <a:latin typeface="Arial"/>
              </a:rPr>
              <a:t>Plain-English language for client conversations this week.</a:t>
            </a:r>
          </a:p>
        </p:txBody>
      </p:sp>
      <p:sp>
        <p:nvSpPr>
          <p:cNvPr id="7" name="TextBox 6"/>
          <p:cNvSpPr txBox="1"/>
          <p:nvPr/>
        </p:nvSpPr>
        <p:spPr>
          <a:xfrm>
            <a:off x="521207" y="6327648"/>
            <a:ext cx="5394960" cy="146304"/>
          </a:xfrm>
          <a:prstGeom prst="rect">
            <a:avLst/>
          </a:prstGeom>
          <a:noFill/>
        </p:spPr>
        <p:txBody>
          <a:bodyPr wrap="square" lIns="45720" tIns="18288" rIns="45720" bIns="18288" anchor="t">
            <a:spAutoFit/>
          </a:bodyPr>
          <a:lstStyle/>
          <a:p>
            <a:pPr algn="l"/>
            <a:r>
              <a:rPr sz="550" b="0">
                <a:solidFill>
                  <a:srgbClr val="46648C"/>
                </a:solidFill>
                <a:latin typeface="Arial"/>
              </a:rPr>
              <a:t>Internal use only. For agent use only. Not for use with the public.</a:t>
            </a:r>
          </a:p>
        </p:txBody>
      </p:sp>
      <p:sp>
        <p:nvSpPr>
          <p:cNvPr id="8" name="TextBox 7"/>
          <p:cNvSpPr txBox="1"/>
          <p:nvPr/>
        </p:nvSpPr>
        <p:spPr>
          <a:xfrm>
            <a:off x="10497312" y="6263640"/>
            <a:ext cx="768096" cy="182880"/>
          </a:xfrm>
          <a:prstGeom prst="rect">
            <a:avLst/>
          </a:prstGeom>
          <a:noFill/>
        </p:spPr>
        <p:txBody>
          <a:bodyPr wrap="square" lIns="45720" tIns="18288" rIns="45720" bIns="18288" anchor="t">
            <a:spAutoFit/>
          </a:bodyPr>
          <a:lstStyle/>
          <a:p>
            <a:pPr algn="r"/>
            <a:r>
              <a:rPr sz="850" b="1">
                <a:solidFill>
                  <a:srgbClr val="000962"/>
                </a:solidFill>
                <a:latin typeface="Arial"/>
              </a:rPr>
              <a:t>ELEVATE</a:t>
            </a:r>
          </a:p>
        </p:txBody>
      </p:sp>
      <p:sp>
        <p:nvSpPr>
          <p:cNvPr id="9" name="TextBox 8"/>
          <p:cNvSpPr txBox="1"/>
          <p:nvPr/>
        </p:nvSpPr>
        <p:spPr>
          <a:xfrm>
            <a:off x="11228832" y="6272784"/>
            <a:ext cx="384048" cy="164592"/>
          </a:xfrm>
          <a:prstGeom prst="rect">
            <a:avLst/>
          </a:prstGeom>
          <a:noFill/>
        </p:spPr>
        <p:txBody>
          <a:bodyPr wrap="square" lIns="45720" tIns="18288" rIns="45720" bIns="18288" anchor="t">
            <a:spAutoFit/>
          </a:bodyPr>
          <a:lstStyle/>
          <a:p>
            <a:pPr algn="l"/>
            <a:r>
              <a:rPr sz="580" b="0">
                <a:solidFill>
                  <a:srgbClr val="000962"/>
                </a:solidFill>
                <a:latin typeface="Arial"/>
              </a:rPr>
              <a:t>NEW ORG</a:t>
            </a:r>
          </a:p>
        </p:txBody>
      </p:sp>
      <p:sp>
        <p:nvSpPr>
          <p:cNvPr id="10" name="TextBox 9"/>
          <p:cNvSpPr txBox="1"/>
          <p:nvPr/>
        </p:nvSpPr>
        <p:spPr>
          <a:xfrm>
            <a:off x="868680" y="2011680"/>
            <a:ext cx="10424160" cy="3383280"/>
          </a:xfrm>
          <a:prstGeom prst="rect">
            <a:avLst/>
          </a:prstGeom>
          <a:noFill/>
        </p:spPr>
        <p:txBody>
          <a:bodyPr wrap="square" lIns="45720" tIns="18288" rIns="45720" bIns="18288" anchor="t">
            <a:spAutoFit/>
          </a:bodyPr>
          <a:lstStyle/>
          <a:p>
            <a:pPr algn="l">
              <a:spcAft>
                <a:spcPts val="700"/>
              </a:spcAft>
            </a:pPr>
            <a:r>
              <a:rPr sz="1400" b="0">
                <a:solidFill>
                  <a:srgbClr val="000962"/>
                </a:solidFill>
                <a:latin typeface="Arial"/>
              </a:rPr>
              <a:t>Markets had another good week. Stocks rose for the third week in a row, and smaller U.S. companies did especially well after lagging for most of the year.</a:t>
            </a:r>
          </a:p>
          <a:p>
            <a:pPr algn="l">
              <a:spcAft>
                <a:spcPts val="700"/>
              </a:spcAft>
            </a:pPr>
            <a:r>
              <a:rPr sz="1400" b="0">
                <a:solidFill>
                  <a:srgbClr val="000962"/>
                </a:solidFill>
                <a:latin typeface="Arial"/>
              </a:rPr>
              <a:t>Price increases slowed a little. Inflation came in at 3.4% over the past year, down slightly from June. That is progress, but prices are still rising faster than the Federal Reserve would like.</a:t>
            </a:r>
          </a:p>
          <a:p>
            <a:pPr algn="l">
              <a:spcAft>
                <a:spcPts val="700"/>
              </a:spcAft>
            </a:pPr>
            <a:r>
              <a:rPr sz="1400" b="0">
                <a:solidFill>
                  <a:srgbClr val="000962"/>
                </a:solidFill>
                <a:latin typeface="Arial"/>
              </a:rPr>
              <a:t>People shopped less last month. Retail spending fell 0.6% in July and confidence surveys dropped. One month is not a trend, but it is worth watching.</a:t>
            </a:r>
          </a:p>
          <a:p>
            <a:pPr algn="l">
              <a:spcAft>
                <a:spcPts val="700"/>
              </a:spcAft>
            </a:pPr>
            <a:r>
              <a:rPr sz="1400" b="0">
                <a:solidFill>
                  <a:srgbClr val="000962"/>
                </a:solidFill>
                <a:latin typeface="Arial"/>
              </a:rPr>
              <a:t>Interest rates are likely to stay where they are for now. The Fed is not signaling cuts. If anything, some officials wanted to raise rates in July.</a:t>
            </a:r>
          </a:p>
          <a:p>
            <a:pPr algn="l">
              <a:spcAft>
                <a:spcPts val="700"/>
              </a:spcAft>
            </a:pPr>
            <a:r>
              <a:rPr sz="1400" b="0">
                <a:solidFill>
                  <a:srgbClr val="000962"/>
                </a:solidFill>
                <a:latin typeface="Arial"/>
              </a:rPr>
              <a:t>What this means for you: nothing about last week changes a well-built plan. Higher-for-longer rates can actually work in your favor if part of your money is in products with guarantees.</a:t>
            </a:r>
          </a:p>
          <a:p>
            <a:pPr algn="l">
              <a:spcAft>
                <a:spcPts val="700"/>
              </a:spcAft>
            </a:pPr>
            <a:r>
              <a:rPr sz="1400" b="0">
                <a:solidFill>
                  <a:srgbClr val="000962"/>
                </a:solidFill>
                <a:latin typeface="Arial"/>
              </a:rPr>
              <a:t>What we are watching this week: the Fed's meeting notes on Wednesday, and results from Walmart, Target and Home Depot that tell us how households are really doing.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0188B79-DFBA-30A1-4A8A-02C3307CF19D}"/>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E45B6932-9BA9-2103-14A2-C3C2D1AFD3D1}"/>
              </a:ext>
            </a:extLst>
          </p:cNvPr>
          <p:cNvSpPr>
            <a:spLocks noGrp="1"/>
          </p:cNvSpPr>
          <p:nvPr>
            <p:ph type="title"/>
          </p:nvPr>
        </p:nvSpPr>
        <p:spPr>
          <a:xfrm>
            <a:off x="457200" y="2390819"/>
            <a:ext cx="7988157" cy="1828193"/>
          </a:xfrm>
        </p:spPr>
        <p:txBody>
          <a:bodyPr wrap="square" lIns="0" tIns="0" rIns="0" bIns="0" anchor="t">
            <a:spAutoFit/>
          </a:bodyPr>
          <a:lstStyle/>
          <a:p>
            <a:r>
              <a:rPr lang="en-US" sz="4400" dirty="0">
                <a:latin typeface="Georgia"/>
              </a:rPr>
              <a:t>New Org: </a:t>
            </a:r>
            <a:br>
              <a:rPr lang="en-US" sz="4400" dirty="0"/>
            </a:br>
            <a:r>
              <a:rPr lang="en-US" sz="4400" dirty="0">
                <a:latin typeface="Georgia"/>
              </a:rPr>
              <a:t>What’s important week of </a:t>
            </a:r>
            <a:br>
              <a:rPr lang="en-US" sz="4400" dirty="0">
                <a:latin typeface="Georgia"/>
              </a:rPr>
            </a:br>
            <a:r>
              <a:rPr lang="en-US" sz="4400" dirty="0">
                <a:latin typeface="Georgia"/>
              </a:rPr>
              <a:t>August 17</a:t>
            </a:r>
            <a:endParaRPr lang="en-US" sz="4400" dirty="0"/>
          </a:p>
        </p:txBody>
      </p:sp>
    </p:spTree>
    <p:custDataLst>
      <p:tags r:id="rId1"/>
    </p:custDataLst>
    <p:extLst>
      <p:ext uri="{BB962C8B-B14F-4D97-AF65-F5344CB8AC3E}">
        <p14:creationId xmlns:p14="http://schemas.microsoft.com/office/powerpoint/2010/main" val="350097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EF632E7E-9E8F-F5C7-ED86-93497593BAFA}"/>
              </a:ext>
            </a:extLst>
          </p:cNvPr>
          <p:cNvSpPr/>
          <p:nvPr/>
        </p:nvSpPr>
        <p:spPr>
          <a:xfrm>
            <a:off x="439946" y="1570892"/>
            <a:ext cx="6265654" cy="902677"/>
          </a:xfrm>
          <a:prstGeom prst="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t>New riders expand AD126 SVUL Accumulator II</a:t>
            </a:r>
          </a:p>
        </p:txBody>
      </p:sp>
      <p:sp>
        <p:nvSpPr>
          <p:cNvPr id="3" name="Content Placeholder 2">
            <a:extLst>
              <a:ext uri="{FF2B5EF4-FFF2-40B4-BE49-F238E27FC236}">
                <a16:creationId xmlns:a16="http://schemas.microsoft.com/office/drawing/2014/main" id="{E25B9398-7CAF-3473-56BC-DB01DD6366B2}"/>
              </a:ext>
            </a:extLst>
          </p:cNvPr>
          <p:cNvSpPr>
            <a:spLocks noGrp="1"/>
          </p:cNvSpPr>
          <p:nvPr>
            <p:ph idx="1"/>
          </p:nvPr>
        </p:nvSpPr>
        <p:spPr>
          <a:xfrm>
            <a:off x="547991" y="1694346"/>
            <a:ext cx="5911423" cy="4225427"/>
          </a:xfrm>
        </p:spPr>
        <p:txBody>
          <a:bodyPr anchor="t" anchorCtr="0"/>
          <a:lstStyle/>
          <a:p>
            <a:pPr marL="117475" indent="0">
              <a:lnSpc>
                <a:spcPct val="100000"/>
              </a:lnSpc>
              <a:spcBef>
                <a:spcPts val="0"/>
              </a:spcBef>
              <a:spcAft>
                <a:spcPts val="2400"/>
              </a:spcAft>
              <a:buNone/>
            </a:pPr>
            <a:r>
              <a:rPr lang="en-US" b="1">
                <a:solidFill>
                  <a:schemeClr val="bg1"/>
                </a:solidFill>
              </a:rPr>
              <a:t>Two new riders strengthen SVUL Accumulator II for estate and legacy planning.</a:t>
            </a:r>
          </a:p>
          <a:p>
            <a:pPr marL="574675">
              <a:lnSpc>
                <a:spcPct val="100000"/>
              </a:lnSpc>
              <a:spcBef>
                <a:spcPts val="0"/>
              </a:spcBef>
              <a:spcAft>
                <a:spcPts val="600"/>
              </a:spcAft>
            </a:pPr>
            <a:r>
              <a:rPr lang="en-US" b="1"/>
              <a:t>Extended No Lapse Guarantee Rider:</a:t>
            </a:r>
            <a:r>
              <a:rPr lang="en-US"/>
              <a:t> </a:t>
            </a:r>
            <a:br>
              <a:rPr lang="en-US"/>
            </a:br>
            <a:r>
              <a:rPr lang="en-US"/>
              <a:t>Long-term death benefit guarantees through age 105 or 121</a:t>
            </a:r>
          </a:p>
          <a:p>
            <a:pPr marL="1031875" lvl="1">
              <a:lnSpc>
                <a:spcPct val="100000"/>
              </a:lnSpc>
              <a:spcBef>
                <a:spcPts val="0"/>
              </a:spcBef>
              <a:spcAft>
                <a:spcPts val="1200"/>
              </a:spcAft>
            </a:pPr>
            <a:r>
              <a:rPr lang="en-US" b="1" err="1"/>
              <a:t>Inforce</a:t>
            </a:r>
            <a:r>
              <a:rPr lang="en-US" b="1"/>
              <a:t> window: </a:t>
            </a:r>
            <a:r>
              <a:rPr lang="en-US"/>
              <a:t>Eligible policies may add ENLG through September 8, 2026</a:t>
            </a:r>
          </a:p>
          <a:p>
            <a:pPr marL="574675">
              <a:lnSpc>
                <a:spcPct val="100000"/>
              </a:lnSpc>
              <a:spcBef>
                <a:spcPts val="0"/>
              </a:spcBef>
              <a:spcAft>
                <a:spcPts val="1200"/>
              </a:spcAft>
            </a:pPr>
            <a:r>
              <a:rPr lang="en-US" b="1"/>
              <a:t>Estate Protection Rider:</a:t>
            </a:r>
            <a:r>
              <a:rPr lang="en-US"/>
              <a:t> Adds early-year death benefit protection for new policies</a:t>
            </a:r>
          </a:p>
          <a:p>
            <a:pPr marL="574675">
              <a:lnSpc>
                <a:spcPct val="100000"/>
              </a:lnSpc>
              <a:spcBef>
                <a:spcPts val="0"/>
              </a:spcBef>
              <a:spcAft>
                <a:spcPts val="1200"/>
              </a:spcAft>
            </a:pPr>
            <a:r>
              <a:rPr lang="en-US" b="1"/>
              <a:t>Availability:</a:t>
            </a:r>
            <a:r>
              <a:rPr lang="en-US"/>
              <a:t> New business in all jurisdictions except NY and CA</a:t>
            </a:r>
          </a:p>
          <a:p>
            <a:pPr marL="346075" indent="0">
              <a:lnSpc>
                <a:spcPct val="100000"/>
              </a:lnSpc>
              <a:spcBef>
                <a:spcPts val="0"/>
              </a:spcBef>
              <a:spcAft>
                <a:spcPts val="1200"/>
              </a:spcAft>
              <a:buNone/>
            </a:pPr>
            <a:endParaRPr lang="en-US"/>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sz="2200">
                <a:cs typeface="Arial"/>
              </a:rPr>
              <a:t>Added guarantees and estate protection </a:t>
            </a:r>
            <a:r>
              <a:rPr lang="en-US">
                <a:cs typeface="Arial"/>
              </a:rPr>
              <a:t>began August</a:t>
            </a:r>
            <a:r>
              <a:rPr lang="en-US" sz="2200">
                <a:cs typeface="Arial"/>
              </a:rPr>
              <a:t> 8, 2026</a:t>
            </a:r>
          </a:p>
        </p:txBody>
      </p:sp>
      <p:sp>
        <p:nvSpPr>
          <p:cNvPr id="6" name="Rectangle 5">
            <a:extLst>
              <a:ext uri="{FF2B5EF4-FFF2-40B4-BE49-F238E27FC236}">
                <a16:creationId xmlns:a16="http://schemas.microsoft.com/office/drawing/2014/main" id="{2ACF6A73-1F0C-85F7-4172-765FE2E8E0F1}"/>
              </a:ext>
            </a:extLst>
          </p:cNvPr>
          <p:cNvSpPr/>
          <p:nvPr/>
        </p:nvSpPr>
        <p:spPr bwMode="ltGray">
          <a:xfrm>
            <a:off x="6794339" y="4820094"/>
            <a:ext cx="4940456"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7" name="Isosceles Triangle 6">
            <a:extLst>
              <a:ext uri="{FF2B5EF4-FFF2-40B4-BE49-F238E27FC236}">
                <a16:creationId xmlns:a16="http://schemas.microsoft.com/office/drawing/2014/main" id="{9A0F3B12-BCB3-05D9-454C-F2B2A33C5129}"/>
              </a:ext>
            </a:extLst>
          </p:cNvPr>
          <p:cNvSpPr/>
          <p:nvPr/>
        </p:nvSpPr>
        <p:spPr bwMode="ltGray">
          <a:xfrm rot="5400000">
            <a:off x="10181335" y="524780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8" name="TextBox 7">
            <a:extLst>
              <a:ext uri="{FF2B5EF4-FFF2-40B4-BE49-F238E27FC236}">
                <a16:creationId xmlns:a16="http://schemas.microsoft.com/office/drawing/2014/main" id="{182C7AF3-11CB-838A-C8FE-D12840D9B880}"/>
              </a:ext>
            </a:extLst>
          </p:cNvPr>
          <p:cNvSpPr txBox="1"/>
          <p:nvPr/>
        </p:nvSpPr>
        <p:spPr>
          <a:xfrm>
            <a:off x="7173596" y="5119598"/>
            <a:ext cx="2921747"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details and resources on Info Central.</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11" name="Picture 10">
            <a:extLst>
              <a:ext uri="{FF2B5EF4-FFF2-40B4-BE49-F238E27FC236}">
                <a16:creationId xmlns:a16="http://schemas.microsoft.com/office/drawing/2014/main" id="{D706297D-6EB6-89C9-4086-88328093B0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3340" y="4820093"/>
            <a:ext cx="1091455" cy="1091455"/>
          </a:xfrm>
          <a:prstGeom prst="rect">
            <a:avLst/>
          </a:prstGeom>
        </p:spPr>
      </p:pic>
      <p:pic>
        <p:nvPicPr>
          <p:cNvPr id="13" name="Picture 12">
            <a:extLst>
              <a:ext uri="{FF2B5EF4-FFF2-40B4-BE49-F238E27FC236}">
                <a16:creationId xmlns:a16="http://schemas.microsoft.com/office/drawing/2014/main" id="{621B4BF7-7445-9D41-C8BF-23125A9051DD}"/>
              </a:ext>
            </a:extLst>
          </p:cNvPr>
          <p:cNvPicPr>
            <a:picLocks noChangeAspect="1"/>
          </p:cNvPicPr>
          <p:nvPr/>
        </p:nvPicPr>
        <p:blipFill>
          <a:blip r:embed="rId4" cstate="print">
            <a:extLst>
              <a:ext uri="{28A0092B-C50C-407E-A947-70E740481C1C}">
                <a14:useLocalDpi xmlns:a14="http://schemas.microsoft.com/office/drawing/2010/main" val="0"/>
              </a:ext>
            </a:extLst>
          </a:blip>
          <a:srcRect t="3690" r="3935" b="4951"/>
          <a:stretch>
            <a:fillRect/>
          </a:stretch>
        </p:blipFill>
        <p:spPr>
          <a:xfrm>
            <a:off x="6794339" y="1570892"/>
            <a:ext cx="4940456" cy="3137363"/>
          </a:xfrm>
          <a:prstGeom prst="rect">
            <a:avLst/>
          </a:prstGeom>
        </p:spPr>
      </p:pic>
    </p:spTree>
    <p:extLst>
      <p:ext uri="{BB962C8B-B14F-4D97-AF65-F5344CB8AC3E}">
        <p14:creationId xmlns:p14="http://schemas.microsoft.com/office/powerpoint/2010/main" val="66879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B7E60C1-13AF-B5F4-5ED5-998A57E7E87D}"/>
              </a:ext>
            </a:extLst>
          </p:cNvPr>
          <p:cNvSpPr/>
          <p:nvPr/>
        </p:nvSpPr>
        <p:spPr>
          <a:xfrm>
            <a:off x="421041" y="4113791"/>
            <a:ext cx="7725265" cy="1844773"/>
          </a:xfrm>
          <a:prstGeom prst="rect">
            <a:avLst/>
          </a:prstGeom>
          <a:solidFill>
            <a:srgbClr val="0042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8" name="Rectangle: Rounded Corners 7">
            <a:extLst>
              <a:ext uri="{FF2B5EF4-FFF2-40B4-BE49-F238E27FC236}">
                <a16:creationId xmlns:a16="http://schemas.microsoft.com/office/drawing/2014/main" id="{00546E32-6201-D13F-7DBC-FDA6C8E4906C}"/>
              </a:ext>
            </a:extLst>
          </p:cNvPr>
          <p:cNvSpPr/>
          <p:nvPr/>
        </p:nvSpPr>
        <p:spPr>
          <a:xfrm>
            <a:off x="739098" y="1110297"/>
            <a:ext cx="10637467" cy="2802250"/>
          </a:xfrm>
          <a:prstGeom prst="roundRect">
            <a:avLst>
              <a:gd name="adj" fmla="val 50000"/>
            </a:avLst>
          </a:prstGeom>
          <a:solidFill>
            <a:schemeClr val="bg1">
              <a:alpha val="3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0" name="Circle Badge"/>
          <p:cNvSpPr/>
          <p:nvPr/>
        </p:nvSpPr>
        <p:spPr>
          <a:xfrm>
            <a:off x="828498" y="1216291"/>
            <a:ext cx="2619918" cy="2619918"/>
          </a:xfrm>
          <a:prstGeom prst="ellipse">
            <a:avLst/>
          </a:prstGeom>
          <a:solidFill>
            <a:srgbClr val="000A62"/>
          </a:solidFill>
          <a:ln w="0">
            <a:noFill/>
          </a:ln>
        </p:spPr>
        <p:txBody>
          <a:bodyPr wrap="square" lIns="0" tIns="0" rIns="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a:ln>
                  <a:noFill/>
                </a:ln>
                <a:solidFill>
                  <a:srgbClr val="FFFFFF"/>
                </a:solidFill>
                <a:effectLst/>
                <a:uLnTx/>
                <a:uFillTx/>
                <a:latin typeface="Arial Black"/>
                <a:ea typeface="+mn-ea"/>
                <a:cs typeface="Arial Black"/>
              </a:rPr>
              <a:t>12</a:t>
            </a:r>
            <a:r>
              <a:rPr kumimoji="0" lang="en-US" sz="7200" b="1" i="0" u="none" strike="noStrike" kern="1200" cap="none" spc="0" normalizeH="0" baseline="30000" noProof="0">
                <a:ln>
                  <a:noFill/>
                </a:ln>
                <a:solidFill>
                  <a:srgbClr val="FFFFFF"/>
                </a:solidFill>
                <a:effectLst/>
                <a:uLnTx/>
                <a:uFillTx/>
                <a:latin typeface="Arial Black"/>
                <a:ea typeface="+mn-ea"/>
                <a:cs typeface="Arial Black"/>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A9D4FF"/>
                </a:solidFill>
                <a:effectLst/>
                <a:uLnTx/>
                <a:uFillTx/>
                <a:latin typeface="Arial"/>
                <a:ea typeface="+mn-ea"/>
                <a:cs typeface="Arial"/>
              </a:rPr>
              <a:t>DCA SPECIAL RATE</a:t>
            </a:r>
          </a:p>
        </p:txBody>
      </p:sp>
      <p:sp>
        <p:nvSpPr>
          <p:cNvPr id="11" name="Circle Ring"/>
          <p:cNvSpPr/>
          <p:nvPr/>
        </p:nvSpPr>
        <p:spPr>
          <a:xfrm>
            <a:off x="739098" y="1139954"/>
            <a:ext cx="2772593" cy="2772593"/>
          </a:xfrm>
          <a:prstGeom prst="ellipse">
            <a:avLst/>
          </a:prstGeom>
          <a:noFill/>
          <a:ln w="63500">
            <a:solidFill>
              <a:srgbClr val="0468F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12" name="Details"/>
          <p:cNvSpPr/>
          <p:nvPr/>
        </p:nvSpPr>
        <p:spPr>
          <a:xfrm>
            <a:off x="4205255" y="1268614"/>
            <a:ext cx="5968184" cy="1357356"/>
          </a:xfrm>
          <a:prstGeom prst="rect">
            <a:avLst/>
          </a:prstGeom>
          <a:noFill/>
          <a:ln>
            <a:noFill/>
          </a:ln>
        </p:spPr>
        <p:txBody>
          <a:bodyPr wrap="square" lIns="0" tIns="0" rIns="0" bIns="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400" b="1" i="0" u="none" strike="noStrike" kern="1200" cap="none" spc="0" normalizeH="0" baseline="0" noProof="0">
                <a:ln>
                  <a:noFill/>
                </a:ln>
                <a:solidFill>
                  <a:srgbClr val="000A62"/>
                </a:solidFill>
                <a:effectLst/>
                <a:uLnTx/>
                <a:uFillTx/>
                <a:latin typeface="Arial"/>
                <a:ea typeface="+mn-ea"/>
                <a:cs typeface="Arial"/>
              </a:rPr>
              <a:t>Dollar Cost Averaging special rate</a:t>
            </a:r>
          </a:p>
          <a:p>
            <a:pPr marL="342900" marR="0" lvl="0" indent="-342900" algn="l" defTabSz="9144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E2DFDD">
                    <a:lumMod val="10000"/>
                  </a:srgbClr>
                </a:solidFill>
                <a:effectLst/>
                <a:uLnTx/>
                <a:uFillTx/>
                <a:latin typeface="Arial"/>
                <a:ea typeface="+mn-ea"/>
                <a:cs typeface="Arial"/>
              </a:rPr>
              <a:t>Variable Universal Life &amp; Market Wealth Plus</a:t>
            </a:r>
          </a:p>
          <a:p>
            <a:pPr marL="342900" marR="0" lvl="0" indent="-342900" algn="l" defTabSz="914400" rtl="0" eaLnBrk="1" fontAlgn="auto" latinLnBrk="0" hangingPunct="1">
              <a:lnSpc>
                <a:spcPct val="100000"/>
              </a:lnSpc>
              <a:spcBef>
                <a:spcPts val="0"/>
              </a:spcBef>
              <a:spcAft>
                <a:spcPts val="6000"/>
              </a:spcAft>
              <a:buClrTx/>
              <a:buSzTx/>
              <a:buFont typeface="Arial" panose="020B0604020202020204" pitchFamily="34" charset="0"/>
              <a:buChar char="•"/>
              <a:tabLst/>
              <a:defRPr/>
            </a:pPr>
            <a:r>
              <a:rPr kumimoji="0" lang="en-US" sz="2000" b="0" i="0" u="none" strike="noStrike" kern="1200" cap="none" spc="0" normalizeH="0" baseline="0" noProof="0">
                <a:ln>
                  <a:noFill/>
                </a:ln>
                <a:solidFill>
                  <a:srgbClr val="E2DFDD">
                    <a:lumMod val="10000"/>
                  </a:srgbClr>
                </a:solidFill>
                <a:effectLst/>
                <a:uLnTx/>
                <a:uFillTx/>
                <a:latin typeface="Arial"/>
                <a:ea typeface="+mn-ea"/>
                <a:cs typeface="Arial"/>
              </a:rPr>
              <a:t>Premier and Premier Plus Variable Annuity</a:t>
            </a:r>
          </a:p>
        </p:txBody>
      </p:sp>
      <p:sp>
        <p:nvSpPr>
          <p:cNvPr id="13" name="Tag"/>
          <p:cNvSpPr/>
          <p:nvPr/>
        </p:nvSpPr>
        <p:spPr>
          <a:xfrm>
            <a:off x="3818024" y="2499699"/>
            <a:ext cx="6709299" cy="457200"/>
          </a:xfrm>
          <a:prstGeom prst="roundRect">
            <a:avLst>
              <a:gd name="adj" fmla="val 50000"/>
            </a:avLst>
          </a:prstGeom>
          <a:solidFill>
            <a:srgbClr val="0468FF"/>
          </a:solidFill>
          <a:ln w="0">
            <a:noFill/>
          </a:ln>
        </p:spPr>
        <p:txBody>
          <a:bodyPr wrap="square" lIns="91440" tIns="0" rIns="91440" bIns="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Arial"/>
              </a:rPr>
              <a:t>12% DCA SPECIAL RATE ENDS AUGUST 21</a:t>
            </a:r>
          </a:p>
        </p:txBody>
      </p:sp>
      <p:sp>
        <p:nvSpPr>
          <p:cNvPr id="2" name="Rectangle 1">
            <a:extLst>
              <a:ext uri="{FF2B5EF4-FFF2-40B4-BE49-F238E27FC236}">
                <a16:creationId xmlns:a16="http://schemas.microsoft.com/office/drawing/2014/main" id="{654754B8-BC83-D693-C522-32D9FFEAD440}"/>
              </a:ext>
            </a:extLst>
          </p:cNvPr>
          <p:cNvSpPr/>
          <p:nvPr/>
        </p:nvSpPr>
        <p:spPr bwMode="ltGray">
          <a:xfrm>
            <a:off x="8264323" y="4113791"/>
            <a:ext cx="3543761" cy="1844773"/>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5" name="Isosceles Triangle 4">
            <a:extLst>
              <a:ext uri="{FF2B5EF4-FFF2-40B4-BE49-F238E27FC236}">
                <a16:creationId xmlns:a16="http://schemas.microsoft.com/office/drawing/2014/main" id="{3DEA177D-30AC-494E-08D8-BA23C0D166ED}"/>
              </a:ext>
            </a:extLst>
          </p:cNvPr>
          <p:cNvSpPr/>
          <p:nvPr/>
        </p:nvSpPr>
        <p:spPr bwMode="ltGray">
          <a:xfrm rot="5400000">
            <a:off x="9590354" y="491816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TextBox 5">
            <a:extLst>
              <a:ext uri="{FF2B5EF4-FFF2-40B4-BE49-F238E27FC236}">
                <a16:creationId xmlns:a16="http://schemas.microsoft.com/office/drawing/2014/main" id="{08352170-9DEE-A0D1-B60C-48189720B316}"/>
              </a:ext>
            </a:extLst>
          </p:cNvPr>
          <p:cNvSpPr txBox="1"/>
          <p:nvPr/>
        </p:nvSpPr>
        <p:spPr>
          <a:xfrm>
            <a:off x="8533572" y="4420624"/>
            <a:ext cx="1069091" cy="123110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details on Info Central.</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7" name="Picture 6">
            <a:extLst>
              <a:ext uri="{FF2B5EF4-FFF2-40B4-BE49-F238E27FC236}">
                <a16:creationId xmlns:a16="http://schemas.microsoft.com/office/drawing/2014/main" id="{51ABFF0F-9D15-9097-95A5-EEA1C650E7C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963310" y="4113791"/>
            <a:ext cx="1844773" cy="1844773"/>
          </a:xfrm>
          <a:prstGeom prst="rect">
            <a:avLst/>
          </a:prstGeom>
        </p:spPr>
      </p:pic>
      <p:sp>
        <p:nvSpPr>
          <p:cNvPr id="14" name="TextBox 13">
            <a:extLst>
              <a:ext uri="{FF2B5EF4-FFF2-40B4-BE49-F238E27FC236}">
                <a16:creationId xmlns:a16="http://schemas.microsoft.com/office/drawing/2014/main" id="{DB75CEE2-1121-7FC8-8EF0-71DEFC9E4EC1}"/>
              </a:ext>
            </a:extLst>
          </p:cNvPr>
          <p:cNvSpPr txBox="1"/>
          <p:nvPr/>
        </p:nvSpPr>
        <p:spPr>
          <a:xfrm>
            <a:off x="3297263" y="4502698"/>
            <a:ext cx="4678509" cy="106695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DCA Plus client mailing reminder</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Select clients received an email promoting the 12% DCA Plus rate. Review your Sales Central client list and follow up with clients who may benefit.</a:t>
            </a:r>
          </a:p>
        </p:txBody>
      </p:sp>
      <p:sp>
        <p:nvSpPr>
          <p:cNvPr id="17" name="Title 16">
            <a:extLst>
              <a:ext uri="{FF2B5EF4-FFF2-40B4-BE49-F238E27FC236}">
                <a16:creationId xmlns:a16="http://schemas.microsoft.com/office/drawing/2014/main" id="{1BC51D4F-1CFD-EF5F-44B0-0EF2C7783897}"/>
              </a:ext>
            </a:extLst>
          </p:cNvPr>
          <p:cNvSpPr>
            <a:spLocks noGrp="1"/>
          </p:cNvSpPr>
          <p:nvPr>
            <p:ph type="title"/>
          </p:nvPr>
        </p:nvSpPr>
        <p:spPr/>
        <p:txBody>
          <a:bodyPr/>
          <a:lstStyle/>
          <a:p>
            <a:r>
              <a:rPr lang="en-US"/>
              <a:t>12% DCA – Offer ends this week</a:t>
            </a:r>
          </a:p>
        </p:txBody>
      </p:sp>
      <p:pic>
        <p:nvPicPr>
          <p:cNvPr id="18" name="Picture 17">
            <a:extLst>
              <a:ext uri="{FF2B5EF4-FFF2-40B4-BE49-F238E27FC236}">
                <a16:creationId xmlns:a16="http://schemas.microsoft.com/office/drawing/2014/main" id="{8EE8FAAC-470C-44C5-AEBC-6F037E97762C}"/>
              </a:ext>
            </a:extLst>
          </p:cNvPr>
          <p:cNvPicPr>
            <a:picLocks noChangeAspect="1"/>
          </p:cNvPicPr>
          <p:nvPr/>
        </p:nvPicPr>
        <p:blipFill>
          <a:blip r:embed="rId4" cstate="print">
            <a:extLst>
              <a:ext uri="{28A0092B-C50C-407E-A947-70E740481C1C}">
                <a14:useLocalDpi xmlns:a14="http://schemas.microsoft.com/office/drawing/2010/main" val="0"/>
              </a:ext>
            </a:extLst>
          </a:blip>
          <a:srcRect b="1667"/>
          <a:stretch>
            <a:fillRect/>
          </a:stretch>
        </p:blipFill>
        <p:spPr>
          <a:xfrm>
            <a:off x="421041" y="4113791"/>
            <a:ext cx="2644194" cy="1844773"/>
          </a:xfrm>
          <a:prstGeom prst="rect">
            <a:avLst/>
          </a:prstGeom>
        </p:spPr>
      </p:pic>
      <p:sp>
        <p:nvSpPr>
          <p:cNvPr id="21" name="TextBox 20">
            <a:extLst>
              <a:ext uri="{FF2B5EF4-FFF2-40B4-BE49-F238E27FC236}">
                <a16:creationId xmlns:a16="http://schemas.microsoft.com/office/drawing/2014/main" id="{0DC375DA-342E-AF6C-6CCA-76AE5DF9CA82}"/>
              </a:ext>
            </a:extLst>
          </p:cNvPr>
          <p:cNvSpPr txBox="1"/>
          <p:nvPr/>
        </p:nvSpPr>
        <p:spPr>
          <a:xfrm>
            <a:off x="4892534" y="3078553"/>
            <a:ext cx="4560277" cy="646331"/>
          </a:xfrm>
          <a:prstGeom prst="rect">
            <a:avLst/>
          </a:prstGeom>
          <a:noFill/>
        </p:spPr>
        <p:txBody>
          <a:bodyPr wrap="square">
            <a:spAutoFit/>
          </a:bodyPr>
          <a:lstStyle/>
          <a:p>
            <a:pPr marL="404813" marR="0" lvl="0" indent="0" algn="ctr"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a:ln>
                  <a:noFill/>
                </a:ln>
                <a:solidFill>
                  <a:srgbClr val="000A62"/>
                </a:solidFill>
                <a:effectLst/>
                <a:uLnTx/>
                <a:uFillTx/>
                <a:latin typeface="Arial"/>
                <a:ea typeface="+mn-ea"/>
                <a:cs typeface="Arial"/>
              </a:rPr>
              <a:t>Take advantage of this limited-time opportunity before it expires.</a:t>
            </a:r>
            <a:endParaRPr kumimoji="0" lang="en-US" sz="2400" b="1" i="0" u="none" strike="noStrike" kern="1200" cap="none" spc="0" normalizeH="0" baseline="0" noProof="0">
              <a:ln>
                <a:noFill/>
              </a:ln>
              <a:solidFill>
                <a:srgbClr val="000A62"/>
              </a:solidFill>
              <a:effectLst/>
              <a:uLnTx/>
              <a:uFillTx/>
              <a:latin typeface="Arial"/>
              <a:ea typeface="+mn-ea"/>
              <a:cs typeface="Arial"/>
            </a:endParaRPr>
          </a:p>
        </p:txBody>
      </p:sp>
    </p:spTree>
    <p:extLst>
      <p:ext uri="{BB962C8B-B14F-4D97-AF65-F5344CB8AC3E}">
        <p14:creationId xmlns:p14="http://schemas.microsoft.com/office/powerpoint/2010/main" val="2642034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0E69-FD0A-BCD5-269B-D007C6CC4F1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B27DF09-63CC-B129-F1B7-8A63651FD6E4}"/>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81030964-0D78-06DE-1E07-0752CF3EBBAB}"/>
              </a:ext>
            </a:extLst>
          </p:cNvPr>
          <p:cNvSpPr>
            <a:spLocks noGrp="1"/>
          </p:cNvSpPr>
          <p:nvPr>
            <p:ph type="title"/>
          </p:nvPr>
        </p:nvSpPr>
        <p:spPr/>
        <p:txBody>
          <a:bodyPr/>
          <a:lstStyle/>
          <a:p>
            <a:r>
              <a:rPr lang="en-US"/>
              <a:t>Don’t miss the next Advanced Life Sales Series webinar</a:t>
            </a:r>
          </a:p>
        </p:txBody>
      </p:sp>
      <p:sp>
        <p:nvSpPr>
          <p:cNvPr id="3" name="Content Placeholder 2">
            <a:extLst>
              <a:ext uri="{FF2B5EF4-FFF2-40B4-BE49-F238E27FC236}">
                <a16:creationId xmlns:a16="http://schemas.microsoft.com/office/drawing/2014/main" id="{5AC208E5-8149-36EE-5B88-FDBD98698493}"/>
              </a:ext>
            </a:extLst>
          </p:cNvPr>
          <p:cNvSpPr>
            <a:spLocks noGrp="1"/>
          </p:cNvSpPr>
          <p:nvPr>
            <p:ph idx="1"/>
          </p:nvPr>
        </p:nvSpPr>
        <p:spPr>
          <a:xfrm>
            <a:off x="457199" y="2499397"/>
            <a:ext cx="7076095" cy="2683856"/>
          </a:xfrm>
        </p:spPr>
        <p:txBody>
          <a:bodyPr/>
          <a:lstStyle/>
          <a:p>
            <a:pPr marL="0" indent="0">
              <a:lnSpc>
                <a:spcPct val="100000"/>
              </a:lnSpc>
              <a:spcBef>
                <a:spcPts val="0"/>
              </a:spcBef>
              <a:spcAft>
                <a:spcPts val="600"/>
              </a:spcAft>
              <a:buNone/>
            </a:pPr>
            <a:r>
              <a:rPr lang="en-US" sz="1800" b="1"/>
              <a:t>Join Brad Trevino for a practical discussion on planning opportunities for business owners:</a:t>
            </a:r>
          </a:p>
          <a:p>
            <a:pPr>
              <a:lnSpc>
                <a:spcPct val="100000"/>
              </a:lnSpc>
              <a:spcBef>
                <a:spcPts val="0"/>
              </a:spcBef>
              <a:spcAft>
                <a:spcPts val="400"/>
              </a:spcAft>
            </a:pPr>
            <a:r>
              <a:rPr lang="en-US" sz="1800"/>
              <a:t>Business succession and exit planning</a:t>
            </a:r>
          </a:p>
          <a:p>
            <a:pPr>
              <a:lnSpc>
                <a:spcPct val="100000"/>
              </a:lnSpc>
              <a:spcBef>
                <a:spcPts val="0"/>
              </a:spcBef>
              <a:spcAft>
                <a:spcPts val="400"/>
              </a:spcAft>
            </a:pPr>
            <a:r>
              <a:rPr lang="en-US" sz="1800"/>
              <a:t>Ownership transfer and inheritance equalization</a:t>
            </a:r>
          </a:p>
          <a:p>
            <a:pPr>
              <a:lnSpc>
                <a:spcPct val="100000"/>
              </a:lnSpc>
              <a:spcBef>
                <a:spcPts val="0"/>
              </a:spcBef>
              <a:spcAft>
                <a:spcPts val="400"/>
              </a:spcAft>
            </a:pPr>
            <a:r>
              <a:rPr lang="en-US" sz="1800"/>
              <a:t>Supplemental retirement income using life insurance</a:t>
            </a:r>
          </a:p>
          <a:p>
            <a:pPr>
              <a:lnSpc>
                <a:spcPct val="100000"/>
              </a:lnSpc>
              <a:spcBef>
                <a:spcPts val="0"/>
              </a:spcBef>
              <a:spcAft>
                <a:spcPts val="600"/>
              </a:spcAft>
            </a:pPr>
            <a:r>
              <a:rPr lang="en-US" sz="1800"/>
              <a:t>Gain actionable ideas to start meaningful conversations and uncover new planning opportunities with business-owner clients.</a:t>
            </a:r>
          </a:p>
        </p:txBody>
      </p:sp>
      <p:sp>
        <p:nvSpPr>
          <p:cNvPr id="4" name="Text Placeholder 3">
            <a:extLst>
              <a:ext uri="{FF2B5EF4-FFF2-40B4-BE49-F238E27FC236}">
                <a16:creationId xmlns:a16="http://schemas.microsoft.com/office/drawing/2014/main" id="{7364DE79-C889-4840-1EB4-A3789043FBCA}"/>
              </a:ext>
            </a:extLst>
          </p:cNvPr>
          <p:cNvSpPr>
            <a:spLocks noGrp="1"/>
          </p:cNvSpPr>
          <p:nvPr>
            <p:ph type="body" sz="quarter" idx="12"/>
          </p:nvPr>
        </p:nvSpPr>
        <p:spPr>
          <a:xfrm>
            <a:off x="439946" y="953242"/>
            <a:ext cx="11294854" cy="496033"/>
          </a:xfrm>
        </p:spPr>
        <p:txBody>
          <a:bodyPr/>
          <a:lstStyle/>
          <a:p>
            <a:r>
              <a:rPr lang="en-US" sz="2600"/>
              <a:t>Planning for the Business Owner</a:t>
            </a:r>
          </a:p>
        </p:txBody>
      </p:sp>
      <p:sp>
        <p:nvSpPr>
          <p:cNvPr id="7" name="Rectangle 6">
            <a:extLst>
              <a:ext uri="{FF2B5EF4-FFF2-40B4-BE49-F238E27FC236}">
                <a16:creationId xmlns:a16="http://schemas.microsoft.com/office/drawing/2014/main" id="{ED74C00D-9F7B-3F65-652E-7B7DEB94F195}"/>
              </a:ext>
            </a:extLst>
          </p:cNvPr>
          <p:cNvSpPr/>
          <p:nvPr/>
        </p:nvSpPr>
        <p:spPr bwMode="ltGray">
          <a:xfrm>
            <a:off x="439945" y="4820093"/>
            <a:ext cx="4915825"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Isosceles Triangle 11">
            <a:extLst>
              <a:ext uri="{FF2B5EF4-FFF2-40B4-BE49-F238E27FC236}">
                <a16:creationId xmlns:a16="http://schemas.microsoft.com/office/drawing/2014/main" id="{46C26FF9-3D02-8BD3-5347-CA3E6A1E40A4}"/>
              </a:ext>
            </a:extLst>
          </p:cNvPr>
          <p:cNvSpPr/>
          <p:nvPr/>
        </p:nvSpPr>
        <p:spPr bwMode="ltGray">
          <a:xfrm rot="5400000">
            <a:off x="4421120" y="5251916"/>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2EF3BFB8-753F-58ED-38B0-7E90816AE24F}"/>
              </a:ext>
            </a:extLst>
          </p:cNvPr>
          <p:cNvSpPr txBox="1"/>
          <p:nvPr/>
        </p:nvSpPr>
        <p:spPr>
          <a:xfrm>
            <a:off x="858523" y="5123711"/>
            <a:ext cx="3491402"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the Advanced Life Sales Series webinar.</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6" name="Rectangle 5">
            <a:extLst>
              <a:ext uri="{FF2B5EF4-FFF2-40B4-BE49-F238E27FC236}">
                <a16:creationId xmlns:a16="http://schemas.microsoft.com/office/drawing/2014/main" id="{6EC97203-69D5-70CD-8A7D-BDAB5085EA44}"/>
              </a:ext>
            </a:extLst>
          </p:cNvPr>
          <p:cNvSpPr/>
          <p:nvPr/>
        </p:nvSpPr>
        <p:spPr bwMode="ltGray">
          <a:xfrm>
            <a:off x="457199" y="1535039"/>
            <a:ext cx="6825344"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pic>
        <p:nvPicPr>
          <p:cNvPr id="9" name="Picture 8">
            <a:extLst>
              <a:ext uri="{FF2B5EF4-FFF2-40B4-BE49-F238E27FC236}">
                <a16:creationId xmlns:a16="http://schemas.microsoft.com/office/drawing/2014/main" id="{5B33E6F2-F8BE-E41F-7F8F-9A7F761098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B39507FA-44D0-AACB-A71F-F78BADB00D72}"/>
              </a:ext>
            </a:extLst>
          </p:cNvPr>
          <p:cNvSpPr txBox="1"/>
          <p:nvPr/>
        </p:nvSpPr>
        <p:spPr>
          <a:xfrm>
            <a:off x="1512437" y="1678125"/>
            <a:ext cx="4343399"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Wednesday, August 19, 2026</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Time: </a:t>
            </a:r>
            <a:r>
              <a:rPr kumimoji="0" lang="en-US" sz="1800" b="1" i="0" u="none" strike="noStrike" kern="1200" cap="none" spc="0" normalizeH="0" baseline="0" noProof="0">
                <a:ln>
                  <a:noFill/>
                </a:ln>
                <a:solidFill>
                  <a:srgbClr val="FFFFFF"/>
                </a:solidFill>
                <a:effectLst/>
                <a:uLnTx/>
                <a:uFillTx/>
                <a:latin typeface="Arial"/>
                <a:ea typeface="+mn-ea"/>
                <a:cs typeface="+mn-cs"/>
              </a:rPr>
              <a:t>3:00 p.m. – 4:00 p.m. ET</a:t>
            </a:r>
            <a:r>
              <a:rPr kumimoji="0" lang="en-US" sz="1800" b="0" i="0" u="none" strike="noStrike" kern="1200" cap="none" spc="0" normalizeH="0" baseline="30000" noProof="0">
                <a:ln>
                  <a:noFill/>
                </a:ln>
                <a:solidFill>
                  <a:srgbClr val="FFFFFF"/>
                </a:solidFill>
                <a:effectLst/>
                <a:uLnTx/>
                <a:uFillTx/>
                <a:latin typeface="Arial"/>
                <a:ea typeface="+mn-ea"/>
                <a:cs typeface="+mn-cs"/>
              </a:rPr>
              <a:t>*</a:t>
            </a:r>
          </a:p>
        </p:txBody>
      </p:sp>
      <p:pic>
        <p:nvPicPr>
          <p:cNvPr id="14" name="Picture 13">
            <a:extLst>
              <a:ext uri="{FF2B5EF4-FFF2-40B4-BE49-F238E27FC236}">
                <a16:creationId xmlns:a16="http://schemas.microsoft.com/office/drawing/2014/main" id="{CA97291C-9E54-B1CF-89A0-8F20968C74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4919733" y="4820092"/>
            <a:ext cx="1099680" cy="1099680"/>
          </a:xfrm>
          <a:prstGeom prst="rect">
            <a:avLst/>
          </a:prstGeom>
        </p:spPr>
      </p:pic>
      <p:sp>
        <p:nvSpPr>
          <p:cNvPr id="20" name="TextBox 19">
            <a:extLst>
              <a:ext uri="{FF2B5EF4-FFF2-40B4-BE49-F238E27FC236}">
                <a16:creationId xmlns:a16="http://schemas.microsoft.com/office/drawing/2014/main" id="{C1B888B7-9C1B-6E26-4342-A95460DAAF2F}"/>
              </a:ext>
            </a:extLst>
          </p:cNvPr>
          <p:cNvSpPr txBox="1"/>
          <p:nvPr/>
        </p:nvSpPr>
        <p:spPr>
          <a:xfrm>
            <a:off x="2807836" y="6311986"/>
            <a:ext cx="609600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*3:00 p.m. ET | 2:00 p.m. CT | 1:00 p.m. MT | 12:00 p.m. PT</a:t>
            </a:r>
          </a:p>
        </p:txBody>
      </p:sp>
      <p:sp>
        <p:nvSpPr>
          <p:cNvPr id="8" name="Rectangle 7">
            <a:extLst>
              <a:ext uri="{FF2B5EF4-FFF2-40B4-BE49-F238E27FC236}">
                <a16:creationId xmlns:a16="http://schemas.microsoft.com/office/drawing/2014/main" id="{504D0AB2-2E0D-8B33-2DF8-15CC73BD41D4}"/>
              </a:ext>
            </a:extLst>
          </p:cNvPr>
          <p:cNvSpPr/>
          <p:nvPr/>
        </p:nvSpPr>
        <p:spPr>
          <a:xfrm>
            <a:off x="7968667" y="1535038"/>
            <a:ext cx="3787960" cy="4369719"/>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TextBox 10">
            <a:extLst>
              <a:ext uri="{FF2B5EF4-FFF2-40B4-BE49-F238E27FC236}">
                <a16:creationId xmlns:a16="http://schemas.microsoft.com/office/drawing/2014/main" id="{B39F14F0-1AEB-09AD-8162-BDD8163CBCC0}"/>
              </a:ext>
            </a:extLst>
          </p:cNvPr>
          <p:cNvSpPr txBox="1"/>
          <p:nvPr/>
        </p:nvSpPr>
        <p:spPr>
          <a:xfrm>
            <a:off x="7986302" y="1541055"/>
            <a:ext cx="3761561"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16" name="TextBox 15">
            <a:extLst>
              <a:ext uri="{FF2B5EF4-FFF2-40B4-BE49-F238E27FC236}">
                <a16:creationId xmlns:a16="http://schemas.microsoft.com/office/drawing/2014/main" id="{4217B32F-CD1A-8142-9F4D-CDFA413BEDA2}"/>
              </a:ext>
            </a:extLst>
          </p:cNvPr>
          <p:cNvSpPr txBox="1"/>
          <p:nvPr/>
        </p:nvSpPr>
        <p:spPr>
          <a:xfrm>
            <a:off x="7934618" y="5165164"/>
            <a:ext cx="3787960" cy="67710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Brad Trevino </a:t>
            </a:r>
            <a:r>
              <a:rPr kumimoji="0" lang="en-IN" sz="1600" b="0" i="0" u="none" strike="noStrike" kern="1200" cap="none" spc="0" normalizeH="0" baseline="0" noProof="0">
                <a:ln>
                  <a:noFill/>
                </a:ln>
                <a:solidFill>
                  <a:srgbClr val="FFFFFF"/>
                </a:solidFill>
                <a:effectLst/>
                <a:uLnTx/>
                <a:uFillTx/>
                <a:latin typeface="Arial"/>
                <a:ea typeface="+mn-ea"/>
                <a:cs typeface="+mn-cs"/>
              </a:rPr>
              <a:t>JD, LL.M, MBA, MS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Corporate Vice President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Senior Advanced Planning Consultant</a:t>
            </a:r>
          </a:p>
        </p:txBody>
      </p:sp>
      <p:pic>
        <p:nvPicPr>
          <p:cNvPr id="17" name="Picture 16">
            <a:extLst>
              <a:ext uri="{FF2B5EF4-FFF2-40B4-BE49-F238E27FC236}">
                <a16:creationId xmlns:a16="http://schemas.microsoft.com/office/drawing/2014/main" id="{D6C824F2-649D-E5FE-F0F7-B8D99DCE0A5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354590" y="2086566"/>
            <a:ext cx="3016114" cy="3016114"/>
          </a:xfrm>
          <a:prstGeom prst="rect">
            <a:avLst/>
          </a:prstGeom>
        </p:spPr>
      </p:pic>
    </p:spTree>
    <p:extLst>
      <p:ext uri="{BB962C8B-B14F-4D97-AF65-F5344CB8AC3E}">
        <p14:creationId xmlns:p14="http://schemas.microsoft.com/office/powerpoint/2010/main" val="2644513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A29D-2359-3BF7-DFCF-3A5517FA79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8E2D3E4-4BE8-51E9-95D4-F92884983387}"/>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1D8CD15C-392F-B228-0725-63B8A0400B1A}"/>
              </a:ext>
            </a:extLst>
          </p:cNvPr>
          <p:cNvSpPr/>
          <p:nvPr/>
        </p:nvSpPr>
        <p:spPr bwMode="ltGray">
          <a:xfrm>
            <a:off x="457199" y="1535039"/>
            <a:ext cx="6825344" cy="840171"/>
          </a:xfrm>
          <a:prstGeom prst="rect">
            <a:avLst/>
          </a:prstGeom>
          <a:solidFill>
            <a:srgbClr val="0468FF"/>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2" name="Title 1">
            <a:extLst>
              <a:ext uri="{FF2B5EF4-FFF2-40B4-BE49-F238E27FC236}">
                <a16:creationId xmlns:a16="http://schemas.microsoft.com/office/drawing/2014/main" id="{AE28D651-C31B-68FE-AAE8-341ADB9C5EE7}"/>
              </a:ext>
            </a:extLst>
          </p:cNvPr>
          <p:cNvSpPr>
            <a:spLocks noGrp="1"/>
          </p:cNvSpPr>
          <p:nvPr>
            <p:ph type="title"/>
          </p:nvPr>
        </p:nvSpPr>
        <p:spPr/>
        <p:txBody>
          <a:bodyPr/>
          <a:lstStyle/>
          <a:p>
            <a:r>
              <a:rPr lang="en-US"/>
              <a:t>September National PLAN Webinar</a:t>
            </a:r>
          </a:p>
        </p:txBody>
      </p:sp>
      <p:sp>
        <p:nvSpPr>
          <p:cNvPr id="3" name="Content Placeholder 2">
            <a:extLst>
              <a:ext uri="{FF2B5EF4-FFF2-40B4-BE49-F238E27FC236}">
                <a16:creationId xmlns:a16="http://schemas.microsoft.com/office/drawing/2014/main" id="{3C14D308-26C3-9585-0D2E-BEBA273DDCF6}"/>
              </a:ext>
            </a:extLst>
          </p:cNvPr>
          <p:cNvSpPr>
            <a:spLocks noGrp="1"/>
          </p:cNvSpPr>
          <p:nvPr>
            <p:ph idx="1"/>
          </p:nvPr>
        </p:nvSpPr>
        <p:spPr>
          <a:xfrm>
            <a:off x="469788" y="2649239"/>
            <a:ext cx="6421814" cy="2203510"/>
          </a:xfrm>
        </p:spPr>
        <p:txBody>
          <a:bodyPr/>
          <a:lstStyle/>
          <a:p>
            <a:pPr marL="0" indent="0">
              <a:lnSpc>
                <a:spcPct val="114000"/>
              </a:lnSpc>
              <a:buNone/>
            </a:pPr>
            <a:r>
              <a:rPr lang="en-US" sz="1800"/>
              <a:t>In recognition of Life Insurance Awareness Month, join </a:t>
            </a:r>
            <a:br>
              <a:rPr lang="en-US" sz="1800"/>
            </a:br>
            <a:r>
              <a:rPr lang="en-US" sz="1800" b="1"/>
              <a:t>John Egan </a:t>
            </a:r>
            <a:r>
              <a:rPr lang="en-US" sz="1800"/>
              <a:t>and President’s Council agent </a:t>
            </a:r>
            <a:r>
              <a:rPr lang="en-US" sz="1800" b="1"/>
              <a:t>Maria Jimenez</a:t>
            </a:r>
            <a:r>
              <a:rPr lang="en-US" sz="1800"/>
              <a:t>, the company’s top case writer, for a practical conversation focused on improving case rate. Hear how Maria approaches Whole Life conversations, positions the value with clients, and connects the solution to their needs</a:t>
            </a:r>
            <a:r>
              <a:rPr lang="en-US"/>
              <a:t>.</a:t>
            </a:r>
          </a:p>
        </p:txBody>
      </p:sp>
      <p:sp>
        <p:nvSpPr>
          <p:cNvPr id="4" name="Text Placeholder 3">
            <a:extLst>
              <a:ext uri="{FF2B5EF4-FFF2-40B4-BE49-F238E27FC236}">
                <a16:creationId xmlns:a16="http://schemas.microsoft.com/office/drawing/2014/main" id="{57DCD786-5FC4-8337-868A-56420AAF834F}"/>
              </a:ext>
            </a:extLst>
          </p:cNvPr>
          <p:cNvSpPr>
            <a:spLocks noGrp="1"/>
          </p:cNvSpPr>
          <p:nvPr>
            <p:ph type="body" sz="quarter" idx="12"/>
          </p:nvPr>
        </p:nvSpPr>
        <p:spPr>
          <a:xfrm>
            <a:off x="439946" y="953242"/>
            <a:ext cx="11294854" cy="496033"/>
          </a:xfrm>
        </p:spPr>
        <p:txBody>
          <a:bodyPr/>
          <a:lstStyle/>
          <a:p>
            <a:r>
              <a:rPr lang="en-US" sz="2200"/>
              <a:t>Improve Your Case Rate. Write More WL Cases.</a:t>
            </a:r>
          </a:p>
        </p:txBody>
      </p:sp>
      <p:sp>
        <p:nvSpPr>
          <p:cNvPr id="7" name="Rectangle 6">
            <a:extLst>
              <a:ext uri="{FF2B5EF4-FFF2-40B4-BE49-F238E27FC236}">
                <a16:creationId xmlns:a16="http://schemas.microsoft.com/office/drawing/2014/main" id="{8E74B189-4B55-DB57-DC58-F5F26AA47966}"/>
              </a:ext>
            </a:extLst>
          </p:cNvPr>
          <p:cNvSpPr/>
          <p:nvPr/>
        </p:nvSpPr>
        <p:spPr bwMode="ltGray">
          <a:xfrm>
            <a:off x="439945" y="4820094"/>
            <a:ext cx="4915825"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8" name="Rectangle 7">
            <a:extLst>
              <a:ext uri="{FF2B5EF4-FFF2-40B4-BE49-F238E27FC236}">
                <a16:creationId xmlns:a16="http://schemas.microsoft.com/office/drawing/2014/main" id="{0E32CE6A-FD32-857C-6F15-6BDB10F076D7}"/>
              </a:ext>
            </a:extLst>
          </p:cNvPr>
          <p:cNvSpPr/>
          <p:nvPr/>
        </p:nvSpPr>
        <p:spPr>
          <a:xfrm>
            <a:off x="7968667" y="1535038"/>
            <a:ext cx="3787960" cy="4369719"/>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 name="Isosceles Triangle 11">
            <a:extLst>
              <a:ext uri="{FF2B5EF4-FFF2-40B4-BE49-F238E27FC236}">
                <a16:creationId xmlns:a16="http://schemas.microsoft.com/office/drawing/2014/main" id="{FA7D9749-D1E3-EB81-4DA6-3322E9907DBE}"/>
              </a:ext>
            </a:extLst>
          </p:cNvPr>
          <p:cNvSpPr/>
          <p:nvPr/>
        </p:nvSpPr>
        <p:spPr bwMode="ltGray">
          <a:xfrm rot="5400000">
            <a:off x="4421120" y="5251917"/>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13" name="TextBox 12">
            <a:extLst>
              <a:ext uri="{FF2B5EF4-FFF2-40B4-BE49-F238E27FC236}">
                <a16:creationId xmlns:a16="http://schemas.microsoft.com/office/drawing/2014/main" id="{4D8A75D9-214B-CCB7-6C1B-4903D07369F0}"/>
              </a:ext>
            </a:extLst>
          </p:cNvPr>
          <p:cNvSpPr txBox="1"/>
          <p:nvPr/>
        </p:nvSpPr>
        <p:spPr>
          <a:xfrm>
            <a:off x="858523" y="5123711"/>
            <a:ext cx="3491402"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to register for the September National PLAN webinar.</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A60FAFF4-7904-365E-1F8F-0B8357E0E2C7}"/>
              </a:ext>
            </a:extLst>
          </p:cNvPr>
          <p:cNvSpPr txBox="1"/>
          <p:nvPr/>
        </p:nvSpPr>
        <p:spPr>
          <a:xfrm>
            <a:off x="7986302" y="1541055"/>
            <a:ext cx="3761561" cy="430887"/>
          </a:xfrm>
          <a:prstGeom prst="rect">
            <a:avLst/>
          </a:prstGeom>
          <a:solidFill>
            <a:schemeClr val="tx1"/>
          </a:solidFill>
        </p:spPr>
        <p:txBody>
          <a:bodyPr wrap="square" lIns="182880" tIns="91440" rIns="91440" bIns="9144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Featured speaker</a:t>
            </a:r>
          </a:p>
        </p:txBody>
      </p:sp>
      <p:sp>
        <p:nvSpPr>
          <p:cNvPr id="27" name="TextBox 26">
            <a:extLst>
              <a:ext uri="{FF2B5EF4-FFF2-40B4-BE49-F238E27FC236}">
                <a16:creationId xmlns:a16="http://schemas.microsoft.com/office/drawing/2014/main" id="{F5254A35-7E00-FAF7-C55B-CB00FFDC5CF6}"/>
              </a:ext>
            </a:extLst>
          </p:cNvPr>
          <p:cNvSpPr txBox="1"/>
          <p:nvPr/>
        </p:nvSpPr>
        <p:spPr>
          <a:xfrm>
            <a:off x="8354590" y="5165164"/>
            <a:ext cx="3016114" cy="67710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Arial"/>
                <a:ea typeface="+mn-ea"/>
                <a:cs typeface="+mn-cs"/>
              </a:rPr>
              <a:t>Maria Jimenez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President’s Council Agent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FFFFFF"/>
                </a:solidFill>
                <a:effectLst/>
                <a:uLnTx/>
                <a:uFillTx/>
                <a:latin typeface="Arial"/>
                <a:ea typeface="+mn-ea"/>
                <a:cs typeface="+mn-cs"/>
              </a:rPr>
              <a:t>Queens GO</a:t>
            </a:r>
          </a:p>
        </p:txBody>
      </p:sp>
      <p:pic>
        <p:nvPicPr>
          <p:cNvPr id="9" name="Picture 8">
            <a:extLst>
              <a:ext uri="{FF2B5EF4-FFF2-40B4-BE49-F238E27FC236}">
                <a16:creationId xmlns:a16="http://schemas.microsoft.com/office/drawing/2014/main" id="{A55AA3A4-7622-385A-EFF4-8F90337BFF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311" y="1700896"/>
            <a:ext cx="508694" cy="508456"/>
          </a:xfrm>
          <a:prstGeom prst="rect">
            <a:avLst/>
          </a:prstGeom>
        </p:spPr>
      </p:pic>
      <p:sp>
        <p:nvSpPr>
          <p:cNvPr id="10" name="TextBox 9">
            <a:extLst>
              <a:ext uri="{FF2B5EF4-FFF2-40B4-BE49-F238E27FC236}">
                <a16:creationId xmlns:a16="http://schemas.microsoft.com/office/drawing/2014/main" id="{F511897D-EF22-0DCF-DFD6-FBD3163D7DEB}"/>
              </a:ext>
            </a:extLst>
          </p:cNvPr>
          <p:cNvSpPr txBox="1"/>
          <p:nvPr/>
        </p:nvSpPr>
        <p:spPr>
          <a:xfrm>
            <a:off x="1512437" y="1678125"/>
            <a:ext cx="4343399"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Date: Wednesday, September 2, 2026</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1" i="0" u="none" strike="noStrike" kern="1200" cap="none" spc="0" normalizeH="0" baseline="0" noProof="0">
                <a:ln>
                  <a:noFill/>
                </a:ln>
                <a:solidFill>
                  <a:srgbClr val="FFFFFF"/>
                </a:solidFill>
                <a:effectLst/>
                <a:uLnTx/>
                <a:uFillTx/>
                <a:latin typeface="Arial"/>
                <a:ea typeface="+mn-ea"/>
                <a:cs typeface="+mn-cs"/>
              </a:rPr>
              <a:t>Time: 2:00 p.m. ET</a:t>
            </a:r>
            <a:r>
              <a:rPr kumimoji="0" lang="en-US" sz="1800" b="0" i="0" u="none" strike="noStrike" kern="1200" cap="none" spc="0" normalizeH="0" baseline="30000" noProof="0">
                <a:ln>
                  <a:noFill/>
                </a:ln>
                <a:solidFill>
                  <a:srgbClr val="FFFFFF"/>
                </a:solidFill>
                <a:effectLst/>
                <a:uLnTx/>
                <a:uFillTx/>
                <a:latin typeface="Arial"/>
                <a:ea typeface="+mn-ea"/>
                <a:cs typeface="+mn-cs"/>
              </a:rPr>
              <a:t>*</a:t>
            </a:r>
          </a:p>
        </p:txBody>
      </p:sp>
      <p:pic>
        <p:nvPicPr>
          <p:cNvPr id="14" name="Picture 13">
            <a:extLst>
              <a:ext uri="{FF2B5EF4-FFF2-40B4-BE49-F238E27FC236}">
                <a16:creationId xmlns:a16="http://schemas.microsoft.com/office/drawing/2014/main" id="{8C3B9B2D-6B13-17EE-1845-2EE8305CD13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19733" y="4820092"/>
            <a:ext cx="1099680" cy="1099680"/>
          </a:xfrm>
          <a:prstGeom prst="rect">
            <a:avLst/>
          </a:prstGeom>
        </p:spPr>
      </p:pic>
      <p:pic>
        <p:nvPicPr>
          <p:cNvPr id="18" name="Picture 17">
            <a:extLst>
              <a:ext uri="{FF2B5EF4-FFF2-40B4-BE49-F238E27FC236}">
                <a16:creationId xmlns:a16="http://schemas.microsoft.com/office/drawing/2014/main" id="{D30634FF-5E55-EB0C-333F-21BE956917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4590" y="2086566"/>
            <a:ext cx="3016114" cy="3016114"/>
          </a:xfrm>
          <a:prstGeom prst="rect">
            <a:avLst/>
          </a:prstGeom>
        </p:spPr>
      </p:pic>
      <p:sp>
        <p:nvSpPr>
          <p:cNvPr id="20" name="TextBox 19">
            <a:extLst>
              <a:ext uri="{FF2B5EF4-FFF2-40B4-BE49-F238E27FC236}">
                <a16:creationId xmlns:a16="http://schemas.microsoft.com/office/drawing/2014/main" id="{3F539C49-EBA6-049C-5B65-719B4C8A3281}"/>
              </a:ext>
            </a:extLst>
          </p:cNvPr>
          <p:cNvSpPr txBox="1"/>
          <p:nvPr/>
        </p:nvSpPr>
        <p:spPr>
          <a:xfrm>
            <a:off x="2807836" y="6311986"/>
            <a:ext cx="6096000" cy="184666"/>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962"/>
                </a:solidFill>
                <a:effectLst/>
                <a:uLnTx/>
                <a:uFillTx/>
                <a:latin typeface="Arial"/>
                <a:ea typeface="+mn-ea"/>
                <a:cs typeface="+mn-cs"/>
              </a:rPr>
              <a:t>*2:00 p.m. ET | 1:00 p.m. CT | 12:00 p.m. MT | 11:00 a.m. PT</a:t>
            </a:r>
          </a:p>
        </p:txBody>
      </p:sp>
    </p:spTree>
    <p:extLst>
      <p:ext uri="{BB962C8B-B14F-4D97-AF65-F5344CB8AC3E}">
        <p14:creationId xmlns:p14="http://schemas.microsoft.com/office/powerpoint/2010/main" val="225705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a:xfrm>
            <a:off x="439946" y="381000"/>
            <a:ext cx="11097657" cy="496033"/>
          </a:xfrm>
        </p:spPr>
        <p:txBody>
          <a:bodyPr/>
          <a:lstStyle/>
          <a:p>
            <a:r>
              <a:rPr lang="en-US"/>
              <a:t>3Q Life Fundamentals Series </a:t>
            </a:r>
            <a:r>
              <a:rPr lang="en-US" sz="2400"/>
              <a:t>(Final 2 sessions)</a:t>
            </a:r>
          </a:p>
        </p:txBody>
      </p:sp>
      <p:sp>
        <p:nvSpPr>
          <p:cNvPr id="4" name="Text Placeholder 3">
            <a:extLst>
              <a:ext uri="{FF2B5EF4-FFF2-40B4-BE49-F238E27FC236}">
                <a16:creationId xmlns:a16="http://schemas.microsoft.com/office/drawing/2014/main" id="{A142F558-0E18-23AD-47E0-7C51F9F19FCB}"/>
              </a:ext>
            </a:extLst>
          </p:cNvPr>
          <p:cNvSpPr>
            <a:spLocks noGrp="1"/>
          </p:cNvSpPr>
          <p:nvPr>
            <p:ph type="body" sz="quarter" idx="12"/>
          </p:nvPr>
        </p:nvSpPr>
        <p:spPr>
          <a:xfrm>
            <a:off x="439946" y="953242"/>
            <a:ext cx="11294854" cy="496033"/>
          </a:xfrm>
        </p:spPr>
        <p:txBody>
          <a:bodyPr/>
          <a:lstStyle/>
          <a:p>
            <a:r>
              <a:rPr lang="en-US" sz="2200"/>
              <a:t>Strengthening the foundation for confident life </a:t>
            </a:r>
            <a:r>
              <a:rPr lang="en-US"/>
              <a:t>i</a:t>
            </a:r>
            <a:r>
              <a:rPr lang="en-US" sz="2200"/>
              <a:t>nsurance </a:t>
            </a:r>
            <a:r>
              <a:rPr lang="en-US"/>
              <a:t>c</a:t>
            </a:r>
            <a:r>
              <a:rPr lang="en-US" sz="2200"/>
              <a:t>onversations</a:t>
            </a:r>
          </a:p>
        </p:txBody>
      </p:sp>
      <p:sp>
        <p:nvSpPr>
          <p:cNvPr id="5" name="Rectangle 4">
            <a:extLst>
              <a:ext uri="{FF2B5EF4-FFF2-40B4-BE49-F238E27FC236}">
                <a16:creationId xmlns:a16="http://schemas.microsoft.com/office/drawing/2014/main" id="{AC012B3C-DF93-962F-D695-B41961C41222}"/>
              </a:ext>
            </a:extLst>
          </p:cNvPr>
          <p:cNvSpPr/>
          <p:nvPr/>
        </p:nvSpPr>
        <p:spPr>
          <a:xfrm>
            <a:off x="7472662" y="1525483"/>
            <a:ext cx="4279392" cy="273514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0C68089D-4E7B-E2AE-1BE9-9DDDEFA0195F}"/>
              </a:ext>
            </a:extLst>
          </p:cNvPr>
          <p:cNvSpPr/>
          <p:nvPr/>
        </p:nvSpPr>
        <p:spPr bwMode="ltGray">
          <a:xfrm>
            <a:off x="7467684" y="4330108"/>
            <a:ext cx="4279392" cy="1584377"/>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2" name="TextBox 11">
            <a:extLst>
              <a:ext uri="{FF2B5EF4-FFF2-40B4-BE49-F238E27FC236}">
                <a16:creationId xmlns:a16="http://schemas.microsoft.com/office/drawing/2014/main" id="{487B3734-2EE0-8E3C-1107-A4E6ADCF5D27}"/>
              </a:ext>
            </a:extLst>
          </p:cNvPr>
          <p:cNvSpPr txBox="1"/>
          <p:nvPr/>
        </p:nvSpPr>
        <p:spPr>
          <a:xfrm>
            <a:off x="7705656" y="4545215"/>
            <a:ext cx="2033814" cy="11541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A62"/>
                </a:solidFill>
                <a:effectLst/>
                <a:uLnTx/>
                <a:uFillTx/>
                <a:latin typeface="Arial"/>
                <a:ea typeface="+mn-ea"/>
                <a:cs typeface="+mn-cs"/>
              </a:rPr>
              <a:t>Register today to ensure prompt access to these highly anticipated events.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0A62"/>
                </a:solidFill>
                <a:effectLst/>
                <a:uLnTx/>
                <a:uFillTx/>
                <a:latin typeface="Arial"/>
                <a:ea typeface="+mn-ea"/>
                <a:cs typeface="+mn-cs"/>
              </a:rPr>
              <a:t>Events start at 1 pm ET* and run for 60 minutes</a:t>
            </a:r>
            <a:r>
              <a:rPr kumimoji="0" lang="en-US" sz="1400" b="0" i="0" u="none" strike="noStrike" kern="1200" cap="none" spc="0" normalizeH="0" baseline="0" noProof="0">
                <a:ln>
                  <a:noFill/>
                </a:ln>
                <a:solidFill>
                  <a:srgbClr val="000A62"/>
                </a:solidFill>
                <a:effectLst/>
                <a:uLnTx/>
                <a:uFillTx/>
                <a:latin typeface="Arial"/>
                <a:ea typeface="+mn-ea"/>
                <a:cs typeface="+mn-cs"/>
              </a:rPr>
              <a:t>.</a:t>
            </a:r>
            <a:endParaRPr kumimoji="0" lang="en-US" sz="1400" b="0" i="0" u="none" strike="noStrike" kern="1200" cap="none" spc="0" normalizeH="0" baseline="0" noProof="0">
              <a:ln>
                <a:noFill/>
              </a:ln>
              <a:solidFill>
                <a:srgbClr val="000A62"/>
              </a:solidFill>
              <a:effectLst/>
              <a:uLnTx/>
              <a:uFillTx/>
              <a:latin typeface="Arial"/>
              <a:ea typeface="+mn-ea"/>
              <a:cs typeface="Arial"/>
            </a:endParaRPr>
          </a:p>
        </p:txBody>
      </p:sp>
      <p:sp>
        <p:nvSpPr>
          <p:cNvPr id="13" name="Isosceles Triangle 12">
            <a:extLst>
              <a:ext uri="{FF2B5EF4-FFF2-40B4-BE49-F238E27FC236}">
                <a16:creationId xmlns:a16="http://schemas.microsoft.com/office/drawing/2014/main" id="{C49E910D-8AFE-EFDD-D605-0F37D98CD327}"/>
              </a:ext>
            </a:extLst>
          </p:cNvPr>
          <p:cNvSpPr/>
          <p:nvPr/>
        </p:nvSpPr>
        <p:spPr bwMode="ltGray">
          <a:xfrm rot="5400000">
            <a:off x="9842380" y="5004280"/>
            <a:ext cx="285220" cy="236032"/>
          </a:xfrm>
          <a:prstGeom prst="triangle">
            <a:avLst/>
          </a:prstGeom>
          <a:solidFill>
            <a:srgbClr val="000A62"/>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2"/>
              </a:solidFill>
              <a:effectLst/>
              <a:uLnTx/>
              <a:uFillTx/>
              <a:latin typeface="Arial"/>
              <a:ea typeface="+mn-ea"/>
              <a:cs typeface="+mn-cs"/>
            </a:endParaRPr>
          </a:p>
        </p:txBody>
      </p:sp>
      <p:sp>
        <p:nvSpPr>
          <p:cNvPr id="20" name="TextBox 19">
            <a:extLst>
              <a:ext uri="{FF2B5EF4-FFF2-40B4-BE49-F238E27FC236}">
                <a16:creationId xmlns:a16="http://schemas.microsoft.com/office/drawing/2014/main" id="{FAE8E11C-1283-DDBA-25BF-891F6AB7D4CC}"/>
              </a:ext>
            </a:extLst>
          </p:cNvPr>
          <p:cNvSpPr txBox="1"/>
          <p:nvPr/>
        </p:nvSpPr>
        <p:spPr>
          <a:xfrm>
            <a:off x="7705656" y="1845816"/>
            <a:ext cx="3936520" cy="2174954"/>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7-part quarterly series (Tuesdays)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Educates on NYL life products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Interactive sessions with </a:t>
            </a:r>
            <a:br>
              <a:rPr kumimoji="0" lang="en-US" sz="1800" b="0" i="0" u="none" strike="noStrike" kern="1200" cap="none" spc="0" normalizeH="0" baseline="0" noProof="0">
                <a:ln>
                  <a:noFill/>
                </a:ln>
                <a:solidFill>
                  <a:srgbClr val="FFFFFF"/>
                </a:solidFill>
                <a:effectLst/>
                <a:uLnTx/>
                <a:uFillTx/>
                <a:latin typeface="Arial"/>
                <a:ea typeface="+mn-ea"/>
                <a:cs typeface="+mn-cs"/>
              </a:rPr>
            </a:br>
            <a:r>
              <a:rPr kumimoji="0" lang="en-US" sz="1800" b="0" i="0" u="none" strike="noStrike" kern="1200" cap="none" spc="0" normalizeH="0" baseline="0" noProof="0">
                <a:ln>
                  <a:noFill/>
                </a:ln>
                <a:solidFill>
                  <a:srgbClr val="FFFFFF"/>
                </a:solidFill>
                <a:effectLst/>
                <a:uLnTx/>
                <a:uFillTx/>
                <a:latin typeface="Arial"/>
                <a:ea typeface="+mn-ea"/>
                <a:cs typeface="+mn-cs"/>
              </a:rPr>
              <a:t>product experts</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Provides ongoing education</a:t>
            </a:r>
          </a:p>
          <a:p>
            <a:pPr marL="285750" marR="0" lvl="0" indent="-285750" algn="l" defTabSz="914400" rtl="0" eaLnBrk="1" fontAlgn="auto" latinLnBrk="0" hangingPunct="1">
              <a:lnSpc>
                <a:spcPct val="100000"/>
              </a:lnSpc>
              <a:spcBef>
                <a:spcPts val="0"/>
              </a:spcBef>
              <a:spcAft>
                <a:spcPts val="1000"/>
              </a:spcAft>
              <a:buClrTx/>
              <a:buSzTx/>
              <a:buFont typeface="Wingdings" panose="05000000000000000000" pitchFamily="2" charset="2"/>
              <a:buChar char="ü"/>
              <a:tabLst/>
              <a:defRPr/>
            </a:pPr>
            <a:r>
              <a:rPr kumimoji="0" lang="en-US" sz="1800" b="0" i="0" u="none" strike="noStrike" kern="1200" cap="none" spc="0" normalizeH="0" baseline="0" noProof="0">
                <a:ln>
                  <a:noFill/>
                </a:ln>
                <a:solidFill>
                  <a:srgbClr val="FFFFFF"/>
                </a:solidFill>
                <a:effectLst/>
                <a:uLnTx/>
                <a:uFillTx/>
                <a:latin typeface="Arial"/>
                <a:ea typeface="+mn-ea"/>
                <a:cs typeface="+mn-cs"/>
              </a:rPr>
              <a:t>Open to agents and managers</a:t>
            </a:r>
          </a:p>
        </p:txBody>
      </p:sp>
      <p:graphicFrame>
        <p:nvGraphicFramePr>
          <p:cNvPr id="21" name="Table 20">
            <a:extLst>
              <a:ext uri="{FF2B5EF4-FFF2-40B4-BE49-F238E27FC236}">
                <a16:creationId xmlns:a16="http://schemas.microsoft.com/office/drawing/2014/main" id="{8D183E16-590B-51F4-1C8E-3E21D2EF3934}"/>
              </a:ext>
            </a:extLst>
          </p:cNvPr>
          <p:cNvGraphicFramePr>
            <a:graphicFrameLocks noGrp="1"/>
          </p:cNvGraphicFramePr>
          <p:nvPr/>
        </p:nvGraphicFramePr>
        <p:xfrm>
          <a:off x="438121" y="1525484"/>
          <a:ext cx="6925954" cy="4389004"/>
        </p:xfrm>
        <a:graphic>
          <a:graphicData uri="http://schemas.openxmlformats.org/drawingml/2006/table">
            <a:tbl>
              <a:tblPr/>
              <a:tblGrid>
                <a:gridCol w="615387">
                  <a:extLst>
                    <a:ext uri="{9D8B030D-6E8A-4147-A177-3AD203B41FA5}">
                      <a16:colId xmlns:a16="http://schemas.microsoft.com/office/drawing/2014/main" val="2782655341"/>
                    </a:ext>
                  </a:extLst>
                </a:gridCol>
                <a:gridCol w="1063796">
                  <a:extLst>
                    <a:ext uri="{9D8B030D-6E8A-4147-A177-3AD203B41FA5}">
                      <a16:colId xmlns:a16="http://schemas.microsoft.com/office/drawing/2014/main" val="1710925411"/>
                    </a:ext>
                  </a:extLst>
                </a:gridCol>
                <a:gridCol w="5246771">
                  <a:extLst>
                    <a:ext uri="{9D8B030D-6E8A-4147-A177-3AD203B41FA5}">
                      <a16:colId xmlns:a16="http://schemas.microsoft.com/office/drawing/2014/main" val="398805613"/>
                    </a:ext>
                  </a:extLst>
                </a:gridCol>
              </a:tblGrid>
              <a:tr h="538780">
                <a:tc gridSpan="3">
                  <a:txBody>
                    <a:bodyPr/>
                    <a:lstStyle/>
                    <a:p>
                      <a:pPr algn="l" fontAlgn="b">
                        <a:buNone/>
                      </a:pPr>
                      <a:r>
                        <a:rPr lang="en-US" sz="1800" b="1" i="0" u="none" strike="noStrike">
                          <a:solidFill>
                            <a:srgbClr val="80BAFF"/>
                          </a:solidFill>
                          <a:effectLst/>
                          <a:latin typeface="Georgia"/>
                          <a:cs typeface="Arial"/>
                        </a:rPr>
                        <a:t> </a:t>
                      </a:r>
                      <a:r>
                        <a:rPr lang="en-US" sz="1800" b="0" i="0" u="none" strike="noStrike">
                          <a:solidFill>
                            <a:schemeClr val="bg1"/>
                          </a:solidFill>
                          <a:effectLst/>
                          <a:latin typeface="Georgia"/>
                          <a:cs typeface="Arial"/>
                        </a:rPr>
                        <a:t>Life Insurance </a:t>
                      </a:r>
                    </a:p>
                  </a:txBody>
                  <a:tcPr marL="27432" marR="182880" marT="27432" marB="27432"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468FF"/>
                    </a:solidFill>
                  </a:tcPr>
                </a:tc>
                <a:tc hMerge="1">
                  <a:txBody>
                    <a:bodyPr/>
                    <a:lstStyle/>
                    <a:p>
                      <a:pPr algn="l" fontAlgn="b">
                        <a:buNone/>
                      </a:pP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tc hMerge="1">
                  <a:txBody>
                    <a:bodyPr/>
                    <a:lstStyle/>
                    <a:p>
                      <a:endParaRPr/>
                    </a:p>
                  </a:txBody>
                  <a:tcPr marL="27432" marR="27432" marT="27432" marB="27432" anchor="b">
                    <a:lnL>
                      <a:noFill/>
                    </a:lnL>
                    <a:lnR>
                      <a:noFill/>
                    </a:lnR>
                    <a:lnT w="1270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1339364757"/>
                  </a:ext>
                </a:extLst>
              </a:tr>
              <a:tr h="550032">
                <a:tc>
                  <a:txBody>
                    <a:bodyPr/>
                    <a:lstStyle/>
                    <a:p>
                      <a:pPr algn="l" fontAlgn="b">
                        <a:buNone/>
                      </a:pPr>
                      <a:r>
                        <a:rPr lang="en-US" sz="1400" b="1" i="0" u="none" strike="noStrike">
                          <a:solidFill>
                            <a:schemeClr val="bg1">
                              <a:lumMod val="75000"/>
                            </a:schemeClr>
                          </a:solidFill>
                          <a:effectLst/>
                          <a:latin typeface="Arial"/>
                          <a:cs typeface="Arial"/>
                        </a:rPr>
                        <a:t>7/14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75000"/>
                            </a:schemeClr>
                          </a:solidFill>
                          <a:effectLst/>
                          <a:latin typeface="Arial"/>
                          <a:cs typeface="Arial"/>
                        </a:rPr>
                        <a:t>Session 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0" i="0" u="none" strike="noStrike">
                          <a:solidFill>
                            <a:schemeClr val="bg1">
                              <a:lumMod val="75000"/>
                            </a:schemeClr>
                          </a:solidFill>
                          <a:effectLst/>
                          <a:latin typeface="Arial"/>
                          <a:cs typeface="Arial"/>
                        </a:rPr>
                        <a:t>Term Life Overview and Key Concepts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909707572"/>
                  </a:ext>
                </a:extLst>
              </a:tr>
              <a:tr h="550032">
                <a:tc>
                  <a:txBody>
                    <a:bodyPr/>
                    <a:lstStyle/>
                    <a:p>
                      <a:pPr algn="l" fontAlgn="b">
                        <a:buNone/>
                      </a:pPr>
                      <a:r>
                        <a:rPr lang="en-US" sz="1400" b="1" i="0" u="none" strike="noStrike">
                          <a:solidFill>
                            <a:schemeClr val="bg1">
                              <a:lumMod val="75000"/>
                            </a:schemeClr>
                          </a:solidFill>
                          <a:effectLst/>
                          <a:latin typeface="Arial"/>
                          <a:cs typeface="Arial"/>
                        </a:rPr>
                        <a:t>7/21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75000"/>
                            </a:schemeClr>
                          </a:solidFill>
                          <a:effectLst/>
                          <a:latin typeface="Arial"/>
                          <a:cs typeface="Arial"/>
                        </a:rPr>
                        <a:t>Session 2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lvl="0" algn="l">
                        <a:buNone/>
                      </a:pPr>
                      <a:r>
                        <a:rPr lang="en-US" sz="1400" b="0" i="0" u="none" strike="noStrike" baseline="0" noProof="0">
                          <a:solidFill>
                            <a:schemeClr val="bg1">
                              <a:lumMod val="75000"/>
                            </a:schemeClr>
                          </a:solidFill>
                          <a:effectLst/>
                          <a:latin typeface="Arial"/>
                          <a:cs typeface="Arial"/>
                        </a:rPr>
                        <a:t>Integrating WL into Planning </a:t>
                      </a:r>
                      <a:r>
                        <a:rPr lang="en-US" sz="1400" b="0" i="0" u="none" strike="noStrike">
                          <a:solidFill>
                            <a:schemeClr val="bg1">
                              <a:lumMod val="75000"/>
                            </a:schemeClr>
                          </a:solidFill>
                          <a:effectLst/>
                          <a:latin typeface="Arial"/>
                          <a:cs typeface="Arial"/>
                        </a:rPr>
                        <a:t>Guest Speaker: Allen Hensley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381813382"/>
                  </a:ext>
                </a:extLst>
              </a:tr>
              <a:tr h="550032">
                <a:tc>
                  <a:txBody>
                    <a:bodyPr/>
                    <a:lstStyle/>
                    <a:p>
                      <a:pPr algn="l" fontAlgn="b">
                        <a:buNone/>
                      </a:pPr>
                      <a:r>
                        <a:rPr lang="en-US" sz="1400" b="1" i="0" u="none" strike="noStrike">
                          <a:solidFill>
                            <a:schemeClr val="bg1">
                              <a:lumMod val="85000"/>
                            </a:schemeClr>
                          </a:solidFill>
                          <a:effectLst/>
                          <a:latin typeface="Arial"/>
                          <a:cs typeface="Arial"/>
                        </a:rPr>
                        <a:t>7/28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85000"/>
                            </a:schemeClr>
                          </a:solidFill>
                          <a:effectLst/>
                          <a:latin typeface="Arial"/>
                          <a:cs typeface="Arial"/>
                        </a:rPr>
                        <a:t>Session 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0" i="0" u="none" strike="noStrike">
                          <a:solidFill>
                            <a:schemeClr val="bg1">
                              <a:lumMod val="85000"/>
                            </a:schemeClr>
                          </a:solidFill>
                          <a:effectLst/>
                          <a:latin typeface="Arial"/>
                          <a:cs typeface="Arial"/>
                        </a:rPr>
                        <a:t>Whole Life Product Overview &amp; Riders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868455849"/>
                  </a:ext>
                </a:extLst>
              </a:tr>
              <a:tr h="550032">
                <a:tc>
                  <a:txBody>
                    <a:bodyPr/>
                    <a:lstStyle/>
                    <a:p>
                      <a:pPr algn="l" fontAlgn="b">
                        <a:buNone/>
                      </a:pPr>
                      <a:r>
                        <a:rPr lang="en-US" sz="1400" b="1" i="0" u="none" strike="noStrike">
                          <a:solidFill>
                            <a:schemeClr val="bg1">
                              <a:lumMod val="85000"/>
                            </a:schemeClr>
                          </a:solidFill>
                          <a:effectLst/>
                          <a:latin typeface="Arial"/>
                          <a:cs typeface="Arial"/>
                        </a:rPr>
                        <a:t>8/4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1" i="0" u="none" strike="noStrike">
                          <a:solidFill>
                            <a:schemeClr val="bg1">
                              <a:lumMod val="85000"/>
                            </a:schemeClr>
                          </a:solidFill>
                          <a:effectLst/>
                          <a:latin typeface="Arial"/>
                          <a:cs typeface="Arial"/>
                        </a:rPr>
                        <a:t>Session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tc>
                  <a:txBody>
                    <a:bodyPr/>
                    <a:lstStyle/>
                    <a:p>
                      <a:pPr algn="l" fontAlgn="b">
                        <a:buNone/>
                      </a:pPr>
                      <a:r>
                        <a:rPr lang="en-US" sz="1400" b="0" i="0" u="none" strike="noStrike">
                          <a:solidFill>
                            <a:schemeClr val="bg1">
                              <a:lumMod val="85000"/>
                            </a:schemeClr>
                          </a:solidFill>
                          <a:effectLst/>
                          <a:latin typeface="Arial"/>
                          <a:cs typeface="Arial"/>
                        </a:rPr>
                        <a:t>Whole Life Key Sales Concepts: SLIRP, BOWL, &amp; FIR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317296599"/>
                  </a:ext>
                </a:extLst>
              </a:tr>
              <a:tr h="550032">
                <a:tc>
                  <a:txBody>
                    <a:bodyPr/>
                    <a:lstStyle/>
                    <a:p>
                      <a:pPr algn="l" fontAlgn="b">
                        <a:buNone/>
                      </a:pPr>
                      <a:r>
                        <a:rPr lang="en-US" sz="1400" b="1" i="0" u="none" strike="noStrike">
                          <a:solidFill>
                            <a:srgbClr val="D9D9D9"/>
                          </a:solidFill>
                          <a:effectLst/>
                          <a:latin typeface="Arial"/>
                          <a:cs typeface="Arial"/>
                        </a:rPr>
                        <a:t>8/11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6A6A6"/>
                    </a:solidFill>
                  </a:tcPr>
                </a:tc>
                <a:tc>
                  <a:txBody>
                    <a:bodyPr/>
                    <a:lstStyle/>
                    <a:p>
                      <a:pPr algn="l" fontAlgn="b">
                        <a:buNone/>
                      </a:pPr>
                      <a:r>
                        <a:rPr lang="en-US" sz="1400" b="1" i="0" u="none" strike="noStrike">
                          <a:solidFill>
                            <a:srgbClr val="D9D9D9"/>
                          </a:solidFill>
                          <a:effectLst/>
                          <a:latin typeface="Arial"/>
                          <a:cs typeface="Arial"/>
                        </a:rPr>
                        <a:t>Session 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6A6A6"/>
                    </a:solidFill>
                  </a:tcPr>
                </a:tc>
                <a:tc>
                  <a:txBody>
                    <a:bodyPr/>
                    <a:lstStyle/>
                    <a:p>
                      <a:pPr algn="l" fontAlgn="b">
                        <a:buNone/>
                      </a:pPr>
                      <a:r>
                        <a:rPr lang="en-US" sz="1400" b="0" i="0" u="none" strike="noStrike">
                          <a:solidFill>
                            <a:srgbClr val="D9D9D9"/>
                          </a:solidFill>
                          <a:effectLst/>
                          <a:latin typeface="Arial"/>
                          <a:cs typeface="Arial"/>
                        </a:rPr>
                        <a:t>Variable Universal Life Product Overview &amp; Key Concepts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325359472"/>
                  </a:ext>
                </a:extLst>
              </a:tr>
              <a:tr h="550032">
                <a:tc>
                  <a:txBody>
                    <a:bodyPr/>
                    <a:lstStyle/>
                    <a:p>
                      <a:pPr algn="l" fontAlgn="b">
                        <a:buNone/>
                      </a:pPr>
                      <a:r>
                        <a:rPr lang="en-US" sz="1400" b="1" i="0" u="none" strike="noStrike">
                          <a:solidFill>
                            <a:schemeClr val="tx1"/>
                          </a:solidFill>
                          <a:effectLst/>
                          <a:latin typeface="Arial"/>
                          <a:cs typeface="Arial"/>
                        </a:rPr>
                        <a:t>8/18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lvl="0" algn="l">
                        <a:buNone/>
                      </a:pPr>
                      <a:r>
                        <a:rPr lang="en-US" sz="1400" b="0" i="0" u="none" strike="noStrike" baseline="0" noProof="0">
                          <a:solidFill>
                            <a:srgbClr val="000962"/>
                          </a:solidFill>
                          <a:effectLst/>
                          <a:latin typeface="Arial"/>
                          <a:cs typeface="Arial"/>
                        </a:rPr>
                        <a:t>Universal Life Product Overview &amp; Key Concepts </a:t>
                      </a:r>
                      <a:endParaRPr 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257307086"/>
                  </a:ext>
                </a:extLst>
              </a:tr>
              <a:tr h="550032">
                <a:tc>
                  <a:txBody>
                    <a:bodyPr/>
                    <a:lstStyle/>
                    <a:p>
                      <a:pPr algn="l" fontAlgn="b">
                        <a:buNone/>
                      </a:pPr>
                      <a:r>
                        <a:rPr lang="en-US" sz="1400" b="1" i="0" u="none" strike="noStrike">
                          <a:solidFill>
                            <a:schemeClr val="tx1"/>
                          </a:solidFill>
                          <a:effectLst/>
                          <a:latin typeface="Arial"/>
                          <a:cs typeface="Arial"/>
                        </a:rPr>
                        <a:t>8/25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tc>
                  <a:txBody>
                    <a:bodyPr/>
                    <a:lstStyle/>
                    <a:p>
                      <a:pPr algn="l" fontAlgn="b">
                        <a:buNone/>
                      </a:pPr>
                      <a:r>
                        <a:rPr lang="en-US" sz="1400" b="1" i="0" u="none" strike="noStrike">
                          <a:solidFill>
                            <a:schemeClr val="bg1"/>
                          </a:solidFill>
                          <a:effectLst/>
                          <a:latin typeface="Arial"/>
                          <a:cs typeface="Arial"/>
                        </a:rPr>
                        <a:t>Session 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0A62"/>
                    </a:solidFill>
                  </a:tcPr>
                </a:tc>
                <a:tc>
                  <a:txBody>
                    <a:bodyPr/>
                    <a:lstStyle/>
                    <a:p>
                      <a:pPr algn="l" fontAlgn="b">
                        <a:buNone/>
                      </a:pPr>
                      <a:r>
                        <a:rPr lang="en-US" sz="1400" b="0" i="0" u="none" strike="noStrike" noProof="0">
                          <a:solidFill>
                            <a:schemeClr val="tx1"/>
                          </a:solidFill>
                          <a:effectLst/>
                          <a:latin typeface="Arial"/>
                          <a:cs typeface="Arial"/>
                        </a:rPr>
                        <a:t>Universal Life Product Case Study Live Demonstration</a:t>
                      </a:r>
                      <a:endParaRPr lang="en-US" sz="1400" b="0" i="0" u="none" strike="noStrike">
                        <a:solidFill>
                          <a:schemeClr val="tx1"/>
                        </a:solidFill>
                        <a:effectLst/>
                        <a:latin typeface="Arial"/>
                        <a:cs typeface="Aria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80BAFF"/>
                    </a:solidFill>
                  </a:tcPr>
                </a:tc>
                <a:extLst>
                  <a:ext uri="{0D108BD9-81ED-4DB2-BD59-A6C34878D82A}">
                    <a16:rowId xmlns:a16="http://schemas.microsoft.com/office/drawing/2014/main" val="4045166931"/>
                  </a:ext>
                </a:extLst>
              </a:tr>
            </a:tbl>
          </a:graphicData>
        </a:graphic>
      </p:graphicFrame>
      <p:sp>
        <p:nvSpPr>
          <p:cNvPr id="22" name="Oval 21">
            <a:extLst>
              <a:ext uri="{FF2B5EF4-FFF2-40B4-BE49-F238E27FC236}">
                <a16:creationId xmlns:a16="http://schemas.microsoft.com/office/drawing/2014/main" id="{368C2503-4095-733D-F6B7-7AFEC5322E0D}"/>
              </a:ext>
            </a:extLst>
          </p:cNvPr>
          <p:cNvSpPr/>
          <p:nvPr/>
        </p:nvSpPr>
        <p:spPr>
          <a:xfrm>
            <a:off x="10102924" y="177378"/>
            <a:ext cx="1633728" cy="163372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15" name="Picture 14">
            <a:extLst>
              <a:ext uri="{FF2B5EF4-FFF2-40B4-BE49-F238E27FC236}">
                <a16:creationId xmlns:a16="http://schemas.microsoft.com/office/drawing/2014/main" id="{0836EDC6-54CF-DB6A-C196-5918BC7605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137634" y="212088"/>
            <a:ext cx="1564308" cy="1564308"/>
          </a:xfrm>
          <a:prstGeom prst="rect">
            <a:avLst/>
          </a:prstGeom>
        </p:spPr>
      </p:pic>
      <p:sp>
        <p:nvSpPr>
          <p:cNvPr id="24" name="TextBox 23">
            <a:extLst>
              <a:ext uri="{FF2B5EF4-FFF2-40B4-BE49-F238E27FC236}">
                <a16:creationId xmlns:a16="http://schemas.microsoft.com/office/drawing/2014/main" id="{AD07A7B6-C5E1-11C2-D863-133019FB6B09}"/>
              </a:ext>
            </a:extLst>
          </p:cNvPr>
          <p:cNvSpPr txBox="1"/>
          <p:nvPr/>
        </p:nvSpPr>
        <p:spPr>
          <a:xfrm>
            <a:off x="2939918" y="6294493"/>
            <a:ext cx="60977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962"/>
                </a:solidFill>
                <a:effectLst/>
                <a:uLnTx/>
                <a:uFillTx/>
                <a:latin typeface="Arial"/>
                <a:ea typeface="+mn-ea"/>
                <a:cs typeface="+mn-cs"/>
              </a:rPr>
              <a:t>*12 pm CT, 11 am MT, 10 am PT, 9 am Alaska, 7 am Hawaii</a:t>
            </a:r>
            <a:endParaRPr kumimoji="0" lang="en-US" sz="1200" b="0" i="0" u="none" strike="noStrike" kern="1200" cap="none" spc="0" normalizeH="0" baseline="0" noProof="0">
              <a:ln>
                <a:noFill/>
              </a:ln>
              <a:solidFill>
                <a:srgbClr val="000962"/>
              </a:solidFill>
              <a:effectLst/>
              <a:uLnTx/>
              <a:uFillTx/>
              <a:latin typeface="Arial"/>
              <a:ea typeface="+mn-ea"/>
              <a:cs typeface="+mn-cs"/>
            </a:endParaRPr>
          </a:p>
        </p:txBody>
      </p:sp>
      <p:pic>
        <p:nvPicPr>
          <p:cNvPr id="28" name="Picture 27">
            <a:extLst>
              <a:ext uri="{FF2B5EF4-FFF2-40B4-BE49-F238E27FC236}">
                <a16:creationId xmlns:a16="http://schemas.microsoft.com/office/drawing/2014/main" id="{CB72208E-D156-0E31-463F-6BEC63D197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0510" y="4409402"/>
            <a:ext cx="1425787" cy="1425787"/>
          </a:xfrm>
          <a:prstGeom prst="rect">
            <a:avLst/>
          </a:prstGeom>
        </p:spPr>
      </p:pic>
    </p:spTree>
    <p:extLst>
      <p:ext uri="{BB962C8B-B14F-4D97-AF65-F5344CB8AC3E}">
        <p14:creationId xmlns:p14="http://schemas.microsoft.com/office/powerpoint/2010/main" val="2929852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D1EC-E6DF-75F1-BC66-F15187896DF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C48A1E0-38AB-A5E9-0A43-FEB5EC81FDD3}"/>
              </a:ext>
            </a:extLst>
          </p:cNvPr>
          <p:cNvSpPr/>
          <p:nvPr/>
        </p:nvSpPr>
        <p:spPr bwMode="ltGray">
          <a:xfrm>
            <a:off x="0" y="1049483"/>
            <a:ext cx="12192000" cy="4965608"/>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A891E7A3-22D9-62AE-9699-06F7E690844A}"/>
              </a:ext>
            </a:extLst>
          </p:cNvPr>
          <p:cNvSpPr>
            <a:spLocks noGrp="1"/>
          </p:cNvSpPr>
          <p:nvPr>
            <p:ph type="title"/>
          </p:nvPr>
        </p:nvSpPr>
        <p:spPr/>
        <p:txBody>
          <a:bodyPr/>
          <a:lstStyle/>
          <a:p>
            <a:r>
              <a:rPr lang="en-US"/>
              <a:t>3Q 2026 Registered Rep </a:t>
            </a:r>
            <a:r>
              <a:rPr lang="en-US" err="1"/>
              <a:t>MasterClass</a:t>
            </a:r>
            <a:r>
              <a:rPr lang="en-US"/>
              <a:t> </a:t>
            </a:r>
          </a:p>
        </p:txBody>
      </p:sp>
      <p:sp>
        <p:nvSpPr>
          <p:cNvPr id="17" name="Content Placeholder 3">
            <a:extLst>
              <a:ext uri="{FF2B5EF4-FFF2-40B4-BE49-F238E27FC236}">
                <a16:creationId xmlns:a16="http://schemas.microsoft.com/office/drawing/2014/main" id="{FF79574C-DD52-1545-8D02-144F14EBBA23}"/>
              </a:ext>
            </a:extLst>
          </p:cNvPr>
          <p:cNvSpPr>
            <a:spLocks noGrp="1"/>
          </p:cNvSpPr>
          <p:nvPr>
            <p:ph idx="1"/>
          </p:nvPr>
        </p:nvSpPr>
        <p:spPr>
          <a:xfrm>
            <a:off x="439946" y="1288815"/>
            <a:ext cx="7304275" cy="4726276"/>
          </a:xfrm>
        </p:spPr>
        <p:txBody>
          <a:bodyPr/>
          <a:lstStyle/>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1	</a:t>
            </a:r>
            <a:r>
              <a:rPr lang="en-US" sz="1600">
                <a:solidFill>
                  <a:schemeClr val="bg1">
                    <a:lumMod val="75000"/>
                  </a:schemeClr>
                </a:solidFill>
                <a:latin typeface="+mn-lt"/>
              </a:rPr>
              <a:t>NYLIFE Securities and Mutual Funds 	</a:t>
            </a:r>
            <a:r>
              <a:rPr lang="en-US" sz="1600" b="1">
                <a:solidFill>
                  <a:schemeClr val="bg1">
                    <a:lumMod val="75000"/>
                  </a:schemeClr>
                </a:solidFill>
                <a:latin typeface="+mn-lt"/>
              </a:rPr>
              <a:t>July 14</a:t>
            </a:r>
            <a:endParaRPr lang="en-US" sz="1600">
              <a:solidFill>
                <a:schemeClr val="bg1">
                  <a:lumMod val="75000"/>
                </a:schemeClr>
              </a:solidFill>
              <a:latin typeface="+mn-lt"/>
            </a:endParaRPr>
          </a:p>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2 	</a:t>
            </a:r>
            <a:r>
              <a:rPr lang="en-US" sz="1600">
                <a:solidFill>
                  <a:schemeClr val="bg1">
                    <a:lumMod val="75000"/>
                  </a:schemeClr>
                </a:solidFill>
                <a:latin typeface="+mn-lt"/>
              </a:rPr>
              <a:t>Variable Annuities, What You Need to Know	</a:t>
            </a:r>
            <a:r>
              <a:rPr lang="en-US" sz="1600" b="1">
                <a:solidFill>
                  <a:schemeClr val="bg1">
                    <a:lumMod val="75000"/>
                  </a:schemeClr>
                </a:solidFill>
                <a:latin typeface="+mn-lt"/>
              </a:rPr>
              <a:t>July 21</a:t>
            </a:r>
            <a:r>
              <a:rPr lang="en-US" sz="1600">
                <a:solidFill>
                  <a:schemeClr val="bg1">
                    <a:lumMod val="75000"/>
                  </a:schemeClr>
                </a:solidFill>
                <a:latin typeface="+mn-lt"/>
              </a:rPr>
              <a:t> </a:t>
            </a:r>
          </a:p>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3 	</a:t>
            </a:r>
            <a:r>
              <a:rPr lang="en-US" sz="1600">
                <a:solidFill>
                  <a:schemeClr val="bg1">
                    <a:lumMod val="75000"/>
                  </a:schemeClr>
                </a:solidFill>
                <a:latin typeface="+mn-lt"/>
              </a:rPr>
              <a:t>Positioning </a:t>
            </a:r>
            <a:r>
              <a:rPr lang="en-US" sz="1600" err="1">
                <a:solidFill>
                  <a:schemeClr val="bg1">
                    <a:lumMod val="75000"/>
                  </a:schemeClr>
                </a:solidFill>
                <a:latin typeface="+mn-lt"/>
              </a:rPr>
              <a:t>IndexFlex</a:t>
            </a:r>
            <a:r>
              <a:rPr lang="en-US" sz="1600">
                <a:solidFill>
                  <a:schemeClr val="bg1">
                    <a:lumMod val="75000"/>
                  </a:schemeClr>
                </a:solidFill>
                <a:latin typeface="+mn-lt"/>
              </a:rPr>
              <a:t> 	</a:t>
            </a:r>
            <a:r>
              <a:rPr lang="en-US" sz="1600" b="1">
                <a:solidFill>
                  <a:schemeClr val="bg1">
                    <a:lumMod val="75000"/>
                  </a:schemeClr>
                </a:solidFill>
                <a:latin typeface="+mn-lt"/>
              </a:rPr>
              <a:t>July 28</a:t>
            </a:r>
            <a:r>
              <a:rPr lang="en-US" sz="1600">
                <a:solidFill>
                  <a:schemeClr val="bg1">
                    <a:lumMod val="75000"/>
                  </a:schemeClr>
                </a:solidFill>
                <a:latin typeface="+mn-lt"/>
              </a:rPr>
              <a:t> </a:t>
            </a:r>
          </a:p>
          <a:p>
            <a:pPr marL="0" indent="0">
              <a:lnSpc>
                <a:spcPct val="100000"/>
              </a:lnSpc>
              <a:spcBef>
                <a:spcPts val="0"/>
              </a:spcBef>
              <a:spcAft>
                <a:spcPts val="1900"/>
              </a:spcAft>
              <a:buNone/>
              <a:tabLst>
                <a:tab pos="1319213" algn="l"/>
                <a:tab pos="5715000" algn="l"/>
              </a:tabLst>
            </a:pPr>
            <a:r>
              <a:rPr lang="en-US" sz="1600" b="1">
                <a:solidFill>
                  <a:schemeClr val="bg1">
                    <a:lumMod val="75000"/>
                  </a:schemeClr>
                </a:solidFill>
                <a:latin typeface="+mn-lt"/>
              </a:rPr>
              <a:t>Session 4 	</a:t>
            </a:r>
            <a:r>
              <a:rPr lang="en-US" sz="1600">
                <a:solidFill>
                  <a:schemeClr val="bg1">
                    <a:lumMod val="75000"/>
                  </a:schemeClr>
                </a:solidFill>
                <a:latin typeface="+mn-lt"/>
              </a:rPr>
              <a:t>Variable Annuity Riders	</a:t>
            </a:r>
            <a:r>
              <a:rPr lang="en-US" sz="1600" b="1">
                <a:solidFill>
                  <a:schemeClr val="bg1">
                    <a:lumMod val="75000"/>
                  </a:schemeClr>
                </a:solidFill>
                <a:latin typeface="+mn-lt"/>
              </a:rPr>
              <a:t>August 4</a:t>
            </a:r>
            <a:r>
              <a:rPr lang="en-US" sz="1600">
                <a:solidFill>
                  <a:schemeClr val="bg1">
                    <a:lumMod val="75000"/>
                  </a:schemeClr>
                </a:solidFill>
                <a:latin typeface="+mn-lt"/>
              </a:rPr>
              <a:t> </a:t>
            </a:r>
          </a:p>
          <a:p>
            <a:pPr marL="0" indent="0">
              <a:lnSpc>
                <a:spcPct val="100000"/>
              </a:lnSpc>
              <a:spcBef>
                <a:spcPts val="0"/>
              </a:spcBef>
              <a:spcAft>
                <a:spcPts val="1900"/>
              </a:spcAft>
              <a:buNone/>
              <a:tabLst>
                <a:tab pos="1319213" algn="l"/>
                <a:tab pos="5715000" algn="l"/>
              </a:tabLst>
            </a:pPr>
            <a:r>
              <a:rPr lang="en-US" sz="1600" b="1">
                <a:solidFill>
                  <a:srgbClr val="BFBFBF"/>
                </a:solidFill>
                <a:latin typeface="+mn-lt"/>
              </a:rPr>
              <a:t>Session 5 	</a:t>
            </a:r>
            <a:r>
              <a:rPr lang="en-US" sz="1600">
                <a:solidFill>
                  <a:srgbClr val="BFBFBF"/>
                </a:solidFill>
                <a:latin typeface="+mn-lt"/>
              </a:rPr>
              <a:t>Working in the Rollover Market 	</a:t>
            </a:r>
            <a:r>
              <a:rPr lang="en-US" sz="1600" b="1">
                <a:solidFill>
                  <a:srgbClr val="BFBFBF"/>
                </a:solidFill>
                <a:latin typeface="+mn-lt"/>
              </a:rPr>
              <a:t>August 11</a:t>
            </a:r>
            <a:r>
              <a:rPr lang="en-US" sz="1600">
                <a:solidFill>
                  <a:srgbClr val="BFBFBF"/>
                </a:solidFill>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6 	</a:t>
            </a:r>
            <a:r>
              <a:rPr lang="en-US" sz="1600">
                <a:latin typeface="+mn-lt"/>
              </a:rPr>
              <a:t>Positioning VUL 	</a:t>
            </a:r>
            <a:r>
              <a:rPr lang="en-US" sz="1600" b="1">
                <a:latin typeface="+mn-lt"/>
              </a:rPr>
              <a:t>August 18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7 	</a:t>
            </a:r>
            <a:r>
              <a:rPr lang="en-US" sz="1600">
                <a:latin typeface="+mn-lt"/>
              </a:rPr>
              <a:t>Understanding IRA Opportunities 	</a:t>
            </a:r>
            <a:r>
              <a:rPr lang="en-US" sz="1600" b="1">
                <a:latin typeface="+mn-lt"/>
              </a:rPr>
              <a:t>August 25</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8 	</a:t>
            </a:r>
            <a:r>
              <a:rPr lang="en-US" sz="1600">
                <a:latin typeface="+mn-lt"/>
              </a:rPr>
              <a:t>Annuity New Business and Suitability 	</a:t>
            </a:r>
            <a:r>
              <a:rPr lang="en-US" sz="1600" b="1">
                <a:latin typeface="+mn-lt"/>
              </a:rPr>
              <a:t>September 1</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9 	</a:t>
            </a:r>
            <a:r>
              <a:rPr lang="en-US" sz="1600">
                <a:latin typeface="+mn-lt"/>
              </a:rPr>
              <a:t>Small Business Solutions 	</a:t>
            </a:r>
            <a:r>
              <a:rPr lang="en-US" sz="1600" b="1">
                <a:latin typeface="+mn-lt"/>
              </a:rPr>
              <a:t>September 8</a:t>
            </a:r>
            <a:r>
              <a:rPr lang="en-US" sz="1600">
                <a:latin typeface="+mn-lt"/>
              </a:rPr>
              <a:t> </a:t>
            </a:r>
          </a:p>
          <a:p>
            <a:pPr marL="0" indent="0">
              <a:lnSpc>
                <a:spcPct val="100000"/>
              </a:lnSpc>
              <a:spcBef>
                <a:spcPts val="0"/>
              </a:spcBef>
              <a:spcAft>
                <a:spcPts val="1900"/>
              </a:spcAft>
              <a:buNone/>
              <a:tabLst>
                <a:tab pos="1319213" algn="l"/>
                <a:tab pos="5715000" algn="l"/>
              </a:tabLst>
            </a:pPr>
            <a:r>
              <a:rPr lang="en-US" sz="1600" b="1">
                <a:latin typeface="+mn-lt"/>
              </a:rPr>
              <a:t>Session 10 	</a:t>
            </a:r>
            <a:r>
              <a:rPr lang="en-US" sz="1600">
                <a:latin typeface="+mn-lt"/>
              </a:rPr>
              <a:t>Morningstar: Researching Funds	</a:t>
            </a:r>
            <a:r>
              <a:rPr lang="en-US" sz="1600" b="1">
                <a:latin typeface="+mn-lt"/>
              </a:rPr>
              <a:t>September 15</a:t>
            </a:r>
            <a:endParaRPr lang="en-US" sz="1600">
              <a:latin typeface="+mn-lt"/>
            </a:endParaRPr>
          </a:p>
        </p:txBody>
      </p:sp>
      <p:sp>
        <p:nvSpPr>
          <p:cNvPr id="18" name="Rectangle: Rounded Corners 17">
            <a:extLst>
              <a:ext uri="{FF2B5EF4-FFF2-40B4-BE49-F238E27FC236}">
                <a16:creationId xmlns:a16="http://schemas.microsoft.com/office/drawing/2014/main" id="{324F6DF4-0086-A451-ED23-21830850EEB3}"/>
              </a:ext>
            </a:extLst>
          </p:cNvPr>
          <p:cNvSpPr>
            <a:spLocks/>
          </p:cNvSpPr>
          <p:nvPr/>
        </p:nvSpPr>
        <p:spPr bwMode="ltGray">
          <a:xfrm>
            <a:off x="7778187" y="1258625"/>
            <a:ext cx="4230999" cy="4586590"/>
          </a:xfrm>
          <a:prstGeom prst="roundRect">
            <a:avLst>
              <a:gd name="adj" fmla="val 0"/>
            </a:avLst>
          </a:prstGeom>
          <a:solidFill>
            <a:srgbClr val="A5EFBF">
              <a:alpha val="70000"/>
            </a:srgb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962"/>
              </a:solidFill>
              <a:effectLst/>
              <a:uLnTx/>
              <a:uFillTx/>
              <a:latin typeface="Georgia" panose="02040502050405020303"/>
              <a:ea typeface="+mn-ea"/>
              <a:cs typeface="+mn-cs"/>
            </a:endParaRPr>
          </a:p>
        </p:txBody>
      </p:sp>
      <p:sp>
        <p:nvSpPr>
          <p:cNvPr id="19" name="TextBox 18">
            <a:extLst>
              <a:ext uri="{FF2B5EF4-FFF2-40B4-BE49-F238E27FC236}">
                <a16:creationId xmlns:a16="http://schemas.microsoft.com/office/drawing/2014/main" id="{AB88AD48-1343-C6FD-A829-0F4286BEB371}"/>
              </a:ext>
            </a:extLst>
          </p:cNvPr>
          <p:cNvSpPr txBox="1"/>
          <p:nvPr/>
        </p:nvSpPr>
        <p:spPr>
          <a:xfrm>
            <a:off x="7916261" y="4058202"/>
            <a:ext cx="2282533" cy="1631216"/>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080" rtl="0" eaLnBrk="1" fontAlgn="base" latinLnBrk="0" hangingPunct="1">
              <a:lnSpc>
                <a:spcPct val="100000"/>
              </a:lnSpc>
              <a:spcBef>
                <a:spcPct val="0"/>
              </a:spcBef>
              <a:spcAft>
                <a:spcPts val="1200"/>
              </a:spcAft>
              <a:buClrTx/>
              <a:buSzTx/>
              <a:buFontTx/>
              <a:buNone/>
              <a:tabLst/>
              <a:defRPr/>
            </a:pPr>
            <a:r>
              <a:rPr kumimoji="0" lang="en-US" sz="1600" b="0"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Register today to ensure prompt access to these highly anticipated events.</a:t>
            </a:r>
          </a:p>
          <a:p>
            <a:pPr marL="0" marR="0" lvl="1" indent="0" algn="l" defTabSz="1219080" rtl="0" eaLnBrk="1" fontAlgn="base" latinLnBrk="0" hangingPunct="1">
              <a:lnSpc>
                <a:spcPct val="100000"/>
              </a:lnSpc>
              <a:spcBef>
                <a:spcPct val="0"/>
              </a:spcBef>
              <a:spcAft>
                <a:spcPts val="800"/>
              </a:spcAft>
              <a:buClrTx/>
              <a:buSzTx/>
              <a:buFontTx/>
              <a:buNone/>
              <a:tabLst/>
              <a:defRPr/>
            </a:pPr>
            <a: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Events start at </a:t>
            </a:r>
            <a:b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3pm EST and run </a:t>
            </a:r>
            <a:b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br>
            <a:r>
              <a:rPr kumimoji="0" lang="en-US" sz="1600" b="1" i="0" u="none" strike="noStrike" kern="1200" cap="none" spc="0" normalizeH="0" baseline="0" noProof="0">
                <a:ln>
                  <a:noFill/>
                </a:ln>
                <a:solidFill>
                  <a:srgbClr val="000962"/>
                </a:solidFill>
                <a:effectLst/>
                <a:uLnTx/>
                <a:uFillTx/>
                <a:latin typeface="Arial" panose="020B0604020202020204" pitchFamily="34" charset="0"/>
                <a:ea typeface="Geneva" pitchFamily="-109" charset="-128"/>
                <a:cs typeface="Arial" panose="020B0604020202020204" pitchFamily="34" charset="0"/>
              </a:rPr>
              <a:t>60 minutes.</a:t>
            </a:r>
          </a:p>
        </p:txBody>
      </p:sp>
      <p:sp>
        <p:nvSpPr>
          <p:cNvPr id="20" name="TextBox 19">
            <a:extLst>
              <a:ext uri="{FF2B5EF4-FFF2-40B4-BE49-F238E27FC236}">
                <a16:creationId xmlns:a16="http://schemas.microsoft.com/office/drawing/2014/main" id="{754B7A9E-FAA5-21F6-F137-C961834A84FA}"/>
              </a:ext>
            </a:extLst>
          </p:cNvPr>
          <p:cNvSpPr txBox="1"/>
          <p:nvPr/>
        </p:nvSpPr>
        <p:spPr>
          <a:xfrm>
            <a:off x="7916261" y="2355648"/>
            <a:ext cx="4025191" cy="1215717"/>
          </a:xfrm>
          <a:prstGeom prst="rect">
            <a:avLst/>
          </a:prstGeom>
          <a:noFill/>
        </p:spPr>
        <p:txBody>
          <a:bodyPr wrap="square" lIns="0" tIns="0" rIns="0" bIns="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10-part quarterly series - Tuesdays at 3pm EST</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Educates on NYL products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Interactive sessions with product experts</a:t>
            </a:r>
          </a:p>
          <a:p>
            <a:pPr marL="257175" marR="0" lvl="0" indent="-257175" algn="l" defTabSz="1219110" rtl="0" eaLnBrk="1" fontAlgn="base" latinLnBrk="0" hangingPunct="1">
              <a:lnSpc>
                <a:spcPct val="100000"/>
              </a:lnSpc>
              <a:spcBef>
                <a:spcPct val="0"/>
              </a:spcBef>
              <a:spcAft>
                <a:spcPts val="60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srgbClr val="000962"/>
                </a:solidFill>
                <a:effectLst/>
                <a:uLnTx/>
                <a:uFillTx/>
                <a:latin typeface="Arial Narrow" panose="020B0606020202030204" pitchFamily="34" charset="0"/>
                <a:ea typeface="Geneva" pitchFamily="-109" charset="-128"/>
                <a:cs typeface="Arial" panose="020B0604020202020204" pitchFamily="34" charset="0"/>
              </a:rPr>
              <a:t>Provides ongoing education</a:t>
            </a:r>
          </a:p>
        </p:txBody>
      </p:sp>
      <p:sp>
        <p:nvSpPr>
          <p:cNvPr id="21" name="TextBox 20">
            <a:extLst>
              <a:ext uri="{FF2B5EF4-FFF2-40B4-BE49-F238E27FC236}">
                <a16:creationId xmlns:a16="http://schemas.microsoft.com/office/drawing/2014/main" id="{E3DFB1B1-15B3-8A27-60CE-8E847B48FC86}"/>
              </a:ext>
            </a:extLst>
          </p:cNvPr>
          <p:cNvSpPr txBox="1"/>
          <p:nvPr/>
        </p:nvSpPr>
        <p:spPr>
          <a:xfrm>
            <a:off x="7916261" y="1471251"/>
            <a:ext cx="1963321" cy="615553"/>
          </a:xfrm>
          <a:prstGeom prst="rect">
            <a:avLst/>
          </a:prstGeom>
          <a:noFill/>
        </p:spPr>
        <p:txBody>
          <a:bodyPr wrap="square" lIns="0" tIns="0" rIns="0" bIns="0" rtlCol="0">
            <a:spAutoFit/>
          </a:bodyPr>
          <a:lstStyle>
            <a:defPPr>
              <a:defRPr lang="en-US"/>
            </a:defPPr>
            <a:lvl1pPr algn="l" rtl="0" fontAlgn="base">
              <a:spcBef>
                <a:spcPct val="0"/>
              </a:spcBef>
              <a:spcAft>
                <a:spcPct val="0"/>
              </a:spcAft>
              <a:defRPr kern="1200">
                <a:solidFill>
                  <a:schemeClr val="tx1"/>
                </a:solidFill>
                <a:latin typeface="Arial" charset="0"/>
                <a:ea typeface="Geneva" pitchFamily="-109" charset="-128"/>
                <a:cs typeface="+mn-cs"/>
              </a:defRPr>
            </a:lvl1pPr>
            <a:lvl2pPr marL="609513" algn="l" rtl="0" fontAlgn="base">
              <a:spcBef>
                <a:spcPct val="0"/>
              </a:spcBef>
              <a:spcAft>
                <a:spcPct val="0"/>
              </a:spcAft>
              <a:defRPr kern="1200">
                <a:solidFill>
                  <a:schemeClr val="tx1"/>
                </a:solidFill>
                <a:latin typeface="Arial" charset="0"/>
                <a:ea typeface="Geneva" pitchFamily="-109" charset="-128"/>
                <a:cs typeface="+mn-cs"/>
              </a:defRPr>
            </a:lvl2pPr>
            <a:lvl3pPr marL="1219027" algn="l" rtl="0" fontAlgn="base">
              <a:spcBef>
                <a:spcPct val="0"/>
              </a:spcBef>
              <a:spcAft>
                <a:spcPct val="0"/>
              </a:spcAft>
              <a:defRPr kern="1200">
                <a:solidFill>
                  <a:schemeClr val="tx1"/>
                </a:solidFill>
                <a:latin typeface="Arial" charset="0"/>
                <a:ea typeface="Geneva" pitchFamily="-109" charset="-128"/>
                <a:cs typeface="+mn-cs"/>
              </a:defRPr>
            </a:lvl3pPr>
            <a:lvl4pPr marL="1828541" algn="l" rtl="0" fontAlgn="base">
              <a:spcBef>
                <a:spcPct val="0"/>
              </a:spcBef>
              <a:spcAft>
                <a:spcPct val="0"/>
              </a:spcAft>
              <a:defRPr kern="1200">
                <a:solidFill>
                  <a:schemeClr val="tx1"/>
                </a:solidFill>
                <a:latin typeface="Arial" charset="0"/>
                <a:ea typeface="Geneva" pitchFamily="-109" charset="-128"/>
                <a:cs typeface="+mn-cs"/>
              </a:defRPr>
            </a:lvl4pPr>
            <a:lvl5pPr marL="2438054" algn="l" rtl="0" fontAlgn="base">
              <a:spcBef>
                <a:spcPct val="0"/>
              </a:spcBef>
              <a:spcAft>
                <a:spcPct val="0"/>
              </a:spcAft>
              <a:defRPr kern="1200">
                <a:solidFill>
                  <a:schemeClr val="tx1"/>
                </a:solidFill>
                <a:latin typeface="Arial" charset="0"/>
                <a:ea typeface="Geneva" pitchFamily="-109" charset="-128"/>
                <a:cs typeface="+mn-cs"/>
              </a:defRPr>
            </a:lvl5pPr>
            <a:lvl6pPr marL="3047568" algn="l" defTabSz="1219027" rtl="0" eaLnBrk="1" latinLnBrk="0" hangingPunct="1">
              <a:defRPr kern="1200">
                <a:solidFill>
                  <a:schemeClr val="tx1"/>
                </a:solidFill>
                <a:latin typeface="Arial" charset="0"/>
                <a:ea typeface="Geneva" pitchFamily="-109" charset="-128"/>
                <a:cs typeface="+mn-cs"/>
              </a:defRPr>
            </a:lvl6pPr>
            <a:lvl7pPr marL="3657081" algn="l" defTabSz="1219027" rtl="0" eaLnBrk="1" latinLnBrk="0" hangingPunct="1">
              <a:defRPr kern="1200">
                <a:solidFill>
                  <a:schemeClr val="tx1"/>
                </a:solidFill>
                <a:latin typeface="Arial" charset="0"/>
                <a:ea typeface="Geneva" pitchFamily="-109" charset="-128"/>
                <a:cs typeface="+mn-cs"/>
              </a:defRPr>
            </a:lvl7pPr>
            <a:lvl8pPr marL="4266595" algn="l" defTabSz="1219027" rtl="0" eaLnBrk="1" latinLnBrk="0" hangingPunct="1">
              <a:defRPr kern="1200">
                <a:solidFill>
                  <a:schemeClr val="tx1"/>
                </a:solidFill>
                <a:latin typeface="Arial" charset="0"/>
                <a:ea typeface="Geneva" pitchFamily="-109" charset="-128"/>
                <a:cs typeface="+mn-cs"/>
              </a:defRPr>
            </a:lvl8pPr>
            <a:lvl9pPr marL="4876107" algn="l" defTabSz="1219027" rtl="0" eaLnBrk="1" latinLnBrk="0" hangingPunct="1">
              <a:defRPr kern="1200">
                <a:solidFill>
                  <a:schemeClr val="tx1"/>
                </a:solidFill>
                <a:latin typeface="Arial" charset="0"/>
                <a:ea typeface="Geneva" pitchFamily="-109" charset="-128"/>
                <a:cs typeface="+mn-cs"/>
              </a:defRPr>
            </a:lvl9pPr>
          </a:lstStyle>
          <a:p>
            <a:pPr marL="0" marR="0" lvl="0" indent="0" algn="l" defTabSz="121911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Strengthening </a:t>
            </a:r>
            <a:b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br>
            <a:r>
              <a:rPr kumimoji="0" lang="en-US" sz="2000" b="1" i="0" u="none" strike="noStrike" kern="1200" cap="none" spc="0" normalizeH="0" baseline="0" noProof="0">
                <a:ln>
                  <a:noFill/>
                </a:ln>
                <a:solidFill>
                  <a:srgbClr val="000A62"/>
                </a:solidFill>
                <a:effectLst/>
                <a:uLnTx/>
                <a:uFillTx/>
                <a:latin typeface="Arial" panose="020B0604020202020204" pitchFamily="34" charset="0"/>
                <a:ea typeface="Geneva" pitchFamily="-109" charset="-128"/>
                <a:cs typeface="Arial" panose="020B0604020202020204" pitchFamily="34" charset="0"/>
              </a:rPr>
              <a:t>the foundation</a:t>
            </a:r>
          </a:p>
        </p:txBody>
      </p:sp>
      <p:pic>
        <p:nvPicPr>
          <p:cNvPr id="23" name="Picture 22">
            <a:extLst>
              <a:ext uri="{FF2B5EF4-FFF2-40B4-BE49-F238E27FC236}">
                <a16:creationId xmlns:a16="http://schemas.microsoft.com/office/drawing/2014/main" id="{71ACF039-36BF-73CA-217C-F0225B2106E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336139" y="4111185"/>
            <a:ext cx="1535702" cy="1535702"/>
          </a:xfrm>
          <a:prstGeom prst="rect">
            <a:avLst/>
          </a:prstGeom>
        </p:spPr>
      </p:pic>
      <p:sp>
        <p:nvSpPr>
          <p:cNvPr id="24" name="Oval 23">
            <a:extLst>
              <a:ext uri="{FF2B5EF4-FFF2-40B4-BE49-F238E27FC236}">
                <a16:creationId xmlns:a16="http://schemas.microsoft.com/office/drawing/2014/main" id="{DCA4BDAC-5B8E-B537-63A2-6FC2E8D29CC2}"/>
              </a:ext>
            </a:extLst>
          </p:cNvPr>
          <p:cNvSpPr/>
          <p:nvPr/>
        </p:nvSpPr>
        <p:spPr>
          <a:xfrm>
            <a:off x="10051608" y="148766"/>
            <a:ext cx="2014099" cy="2014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pic>
        <p:nvPicPr>
          <p:cNvPr id="22" name="Picture 21" descr="A blue and white circle with a briefcase and pen&#10;&#10;AI-generated content may be incorrect.">
            <a:extLst>
              <a:ext uri="{FF2B5EF4-FFF2-40B4-BE49-F238E27FC236}">
                <a16:creationId xmlns:a16="http://schemas.microsoft.com/office/drawing/2014/main" id="{C5B1EE9C-2B23-DF11-22FF-DB25340CFD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6626" y="243784"/>
            <a:ext cx="1824062" cy="1824062"/>
          </a:xfrm>
          <a:prstGeom prst="rect">
            <a:avLst/>
          </a:prstGeom>
        </p:spPr>
      </p:pic>
      <p:cxnSp>
        <p:nvCxnSpPr>
          <p:cNvPr id="26" name="Straight Connector 25">
            <a:extLst>
              <a:ext uri="{FF2B5EF4-FFF2-40B4-BE49-F238E27FC236}">
                <a16:creationId xmlns:a16="http://schemas.microsoft.com/office/drawing/2014/main" id="{28ECE000-F42B-463A-60EE-414C9AB93711}"/>
              </a:ext>
            </a:extLst>
          </p:cNvPr>
          <p:cNvCxnSpPr/>
          <p:nvPr/>
        </p:nvCxnSpPr>
        <p:spPr>
          <a:xfrm>
            <a:off x="7916261" y="3792681"/>
            <a:ext cx="3957462"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6409CE8-508C-0FA5-FC66-6A89527F87C7}"/>
              </a:ext>
            </a:extLst>
          </p:cNvPr>
          <p:cNvCxnSpPr>
            <a:cxnSpLocks/>
          </p:cNvCxnSpPr>
          <p:nvPr/>
        </p:nvCxnSpPr>
        <p:spPr>
          <a:xfrm>
            <a:off x="439946" y="164176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D1B138C-FF22-B2BB-5AEC-E5808BAC91F7}"/>
              </a:ext>
            </a:extLst>
          </p:cNvPr>
          <p:cNvCxnSpPr>
            <a:cxnSpLocks/>
          </p:cNvCxnSpPr>
          <p:nvPr/>
        </p:nvCxnSpPr>
        <p:spPr>
          <a:xfrm>
            <a:off x="439946" y="213169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518D576-C74B-3D19-6CFD-8321970E82D2}"/>
              </a:ext>
            </a:extLst>
          </p:cNvPr>
          <p:cNvCxnSpPr>
            <a:cxnSpLocks/>
          </p:cNvCxnSpPr>
          <p:nvPr/>
        </p:nvCxnSpPr>
        <p:spPr>
          <a:xfrm>
            <a:off x="439946" y="262006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5BBB6C1-C395-883E-2769-4C24E020C37F}"/>
              </a:ext>
            </a:extLst>
          </p:cNvPr>
          <p:cNvCxnSpPr>
            <a:cxnSpLocks/>
          </p:cNvCxnSpPr>
          <p:nvPr/>
        </p:nvCxnSpPr>
        <p:spPr>
          <a:xfrm>
            <a:off x="439946" y="310843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43F1467E-70F0-C2D9-333D-287C7D290097}"/>
              </a:ext>
            </a:extLst>
          </p:cNvPr>
          <p:cNvCxnSpPr>
            <a:cxnSpLocks/>
          </p:cNvCxnSpPr>
          <p:nvPr/>
        </p:nvCxnSpPr>
        <p:spPr>
          <a:xfrm>
            <a:off x="439946" y="3589353"/>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BFB5270-800E-D12C-74BE-724FCE781B62}"/>
              </a:ext>
            </a:extLst>
          </p:cNvPr>
          <p:cNvCxnSpPr>
            <a:cxnSpLocks/>
          </p:cNvCxnSpPr>
          <p:nvPr/>
        </p:nvCxnSpPr>
        <p:spPr>
          <a:xfrm>
            <a:off x="439946" y="4058202"/>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4C31F94-D1A1-E7A3-7D6B-6A96933CCD1B}"/>
              </a:ext>
            </a:extLst>
          </p:cNvPr>
          <p:cNvCxnSpPr>
            <a:cxnSpLocks/>
          </p:cNvCxnSpPr>
          <p:nvPr/>
        </p:nvCxnSpPr>
        <p:spPr>
          <a:xfrm>
            <a:off x="439946" y="4546575"/>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D762039-FAF6-691C-76A5-7A552CA2AD65}"/>
              </a:ext>
            </a:extLst>
          </p:cNvPr>
          <p:cNvCxnSpPr>
            <a:cxnSpLocks/>
          </p:cNvCxnSpPr>
          <p:nvPr/>
        </p:nvCxnSpPr>
        <p:spPr>
          <a:xfrm>
            <a:off x="439946" y="5034948"/>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E1525A8-5451-835F-D171-D6DAA1D0FF21}"/>
              </a:ext>
            </a:extLst>
          </p:cNvPr>
          <p:cNvCxnSpPr>
            <a:cxnSpLocks/>
          </p:cNvCxnSpPr>
          <p:nvPr/>
        </p:nvCxnSpPr>
        <p:spPr>
          <a:xfrm>
            <a:off x="439946" y="5523321"/>
            <a:ext cx="7135027" cy="0"/>
          </a:xfrm>
          <a:prstGeom prst="line">
            <a:avLst/>
          </a:prstGeom>
          <a:ln w="12700">
            <a:solidFill>
              <a:srgbClr val="000A6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159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8684-2E2C-AE0D-865E-8F0A5FDC439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9061A01-8878-B1B9-79CF-1C7AB3489866}"/>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254A1512-A0EF-5042-9748-ED80A387980E}"/>
              </a:ext>
            </a:extLst>
          </p:cNvPr>
          <p:cNvSpPr/>
          <p:nvPr/>
        </p:nvSpPr>
        <p:spPr>
          <a:xfrm>
            <a:off x="8078226" y="1568253"/>
            <a:ext cx="3623517" cy="3080393"/>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9" name="Rectangle 58">
            <a:extLst>
              <a:ext uri="{FF2B5EF4-FFF2-40B4-BE49-F238E27FC236}">
                <a16:creationId xmlns:a16="http://schemas.microsoft.com/office/drawing/2014/main" id="{93B0E50B-1729-FB09-4C0F-4EB2570D92F6}"/>
              </a:ext>
            </a:extLst>
          </p:cNvPr>
          <p:cNvSpPr/>
          <p:nvPr/>
        </p:nvSpPr>
        <p:spPr>
          <a:xfrm>
            <a:off x="4316091" y="1568253"/>
            <a:ext cx="3623517" cy="3080393"/>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9EC6A7F7-929E-AF39-DAD2-507A9C944A64}"/>
              </a:ext>
            </a:extLst>
          </p:cNvPr>
          <p:cNvSpPr>
            <a:spLocks noGrp="1"/>
          </p:cNvSpPr>
          <p:nvPr>
            <p:ph type="title"/>
          </p:nvPr>
        </p:nvSpPr>
        <p:spPr/>
        <p:txBody>
          <a:bodyPr/>
          <a:lstStyle/>
          <a:p>
            <a:r>
              <a:rPr lang="en-US"/>
              <a:t>Target Markets Upcoming Webinars</a:t>
            </a:r>
          </a:p>
        </p:txBody>
      </p:sp>
      <p:sp>
        <p:nvSpPr>
          <p:cNvPr id="12" name="Rectangle 11">
            <a:extLst>
              <a:ext uri="{FF2B5EF4-FFF2-40B4-BE49-F238E27FC236}">
                <a16:creationId xmlns:a16="http://schemas.microsoft.com/office/drawing/2014/main" id="{CE0935C1-5D78-F909-477B-1B6C7D02D0F4}"/>
              </a:ext>
            </a:extLst>
          </p:cNvPr>
          <p:cNvSpPr/>
          <p:nvPr/>
        </p:nvSpPr>
        <p:spPr>
          <a:xfrm>
            <a:off x="554448" y="1568253"/>
            <a:ext cx="3647633" cy="3080393"/>
          </a:xfrm>
          <a:prstGeom prst="rect">
            <a:avLst/>
          </a:prstGeom>
          <a:solidFill>
            <a:schemeClr val="accent2">
              <a:alpha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7" name="Text Placeholder 3">
            <a:extLst>
              <a:ext uri="{FF2B5EF4-FFF2-40B4-BE49-F238E27FC236}">
                <a16:creationId xmlns:a16="http://schemas.microsoft.com/office/drawing/2014/main" id="{AC3697A0-4629-A860-7A12-4B92CD52E5D3}"/>
              </a:ext>
            </a:extLst>
          </p:cNvPr>
          <p:cNvSpPr txBox="1">
            <a:spLocks/>
          </p:cNvSpPr>
          <p:nvPr/>
        </p:nvSpPr>
        <p:spPr>
          <a:xfrm>
            <a:off x="689088" y="1706814"/>
            <a:ext cx="3466101" cy="125698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600" b="1"/>
              <a:t>AAMU Strong: </a:t>
            </a:r>
            <a:br>
              <a:rPr lang="en-US" sz="1600" b="1"/>
            </a:br>
            <a:r>
              <a:rPr lang="en-US" sz="1600" b="1"/>
              <a:t>Mentorship &amp; Collaboration </a:t>
            </a:r>
            <a:br>
              <a:rPr lang="en-US" sz="1600" b="1">
                <a:ea typeface="Geneva" charset="0"/>
                <a:cs typeface="Geneva" charset="0"/>
              </a:rPr>
            </a:br>
            <a:endParaRPr lang="en-US" sz="900" b="1">
              <a:ea typeface="Geneva" charset="0"/>
              <a:cs typeface="Geneva" charset="0"/>
            </a:endParaRPr>
          </a:p>
          <a:p>
            <a:pPr marL="0" indent="0">
              <a:buNone/>
            </a:pPr>
            <a:r>
              <a:rPr lang="en-US" sz="1600">
                <a:solidFill>
                  <a:srgbClr val="000962"/>
                </a:solidFill>
                <a:ea typeface="Geneva"/>
                <a:cs typeface="Geneva" charset="0"/>
              </a:rPr>
              <a:t>Monday, </a:t>
            </a:r>
            <a:r>
              <a:rPr lang="en-US" sz="1600"/>
              <a:t>August</a:t>
            </a:r>
            <a:r>
              <a:rPr lang="en-US" sz="1600">
                <a:solidFill>
                  <a:srgbClr val="000962"/>
                </a:solidFill>
                <a:ea typeface="Geneva"/>
                <a:cs typeface="Geneva" charset="0"/>
              </a:rPr>
              <a:t>,17, 4 pm ET</a:t>
            </a:r>
          </a:p>
        </p:txBody>
      </p:sp>
      <p:sp>
        <p:nvSpPr>
          <p:cNvPr id="21" name="Text Placeholder 3">
            <a:extLst>
              <a:ext uri="{FF2B5EF4-FFF2-40B4-BE49-F238E27FC236}">
                <a16:creationId xmlns:a16="http://schemas.microsoft.com/office/drawing/2014/main" id="{BD2A1D4A-2CCA-6244-469A-4C3D666C411B}"/>
              </a:ext>
            </a:extLst>
          </p:cNvPr>
          <p:cNvSpPr txBox="1">
            <a:spLocks/>
          </p:cNvSpPr>
          <p:nvPr/>
        </p:nvSpPr>
        <p:spPr>
          <a:xfrm>
            <a:off x="685660" y="2799211"/>
            <a:ext cx="3362093" cy="2678856"/>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lvl="0" indent="0" defTabSz="914400" fontAlgn="auto">
              <a:spcBef>
                <a:spcPts val="0"/>
              </a:spcBef>
              <a:spcAft>
                <a:spcPts val="0"/>
              </a:spcAft>
              <a:buNone/>
              <a:defRPr/>
            </a:pPr>
            <a:r>
              <a:rPr lang="en-US" sz="1300"/>
              <a:t>Learn about one of the most powerful tools to successful collaboration. New York Life now has many different forms of relationships agents can form from Mentorships to formalized Teams.</a:t>
            </a:r>
          </a:p>
          <a:p>
            <a:pPr marL="0" lvl="0" indent="0" defTabSz="914400" fontAlgn="auto">
              <a:spcBef>
                <a:spcPts val="0"/>
              </a:spcBef>
              <a:spcAft>
                <a:spcPts val="0"/>
              </a:spcAft>
              <a:buNone/>
              <a:defRPr/>
            </a:pPr>
            <a:endParaRPr lang="en-US" sz="800"/>
          </a:p>
          <a:p>
            <a:pPr marL="0" lvl="0" indent="0" defTabSz="914400" fontAlgn="auto">
              <a:spcBef>
                <a:spcPts val="0"/>
              </a:spcBef>
              <a:spcAft>
                <a:spcPts val="0"/>
              </a:spcAft>
              <a:buNone/>
              <a:defRPr/>
            </a:pPr>
            <a:r>
              <a:rPr lang="en-US" sz="1300"/>
              <a:t>Guest: </a:t>
            </a:r>
          </a:p>
          <a:p>
            <a:pPr marL="0" lvl="0" indent="0" defTabSz="914400" fontAlgn="auto">
              <a:spcBef>
                <a:spcPts val="0"/>
              </a:spcBef>
              <a:spcAft>
                <a:spcPts val="0"/>
              </a:spcAft>
              <a:buNone/>
              <a:defRPr/>
            </a:pPr>
            <a:r>
              <a:rPr lang="en-US" sz="1400"/>
              <a:t>Jenna Jernigan</a:t>
            </a:r>
          </a:p>
          <a:p>
            <a:pPr marL="0" lvl="0" indent="0" defTabSz="914400" fontAlgn="auto">
              <a:spcBef>
                <a:spcPts val="0"/>
              </a:spcBef>
              <a:spcAft>
                <a:spcPts val="0"/>
              </a:spcAft>
              <a:buNone/>
              <a:defRPr/>
            </a:pPr>
            <a:r>
              <a:rPr lang="en-US" sz="1400"/>
              <a:t>Agent Collaboration and Partnership</a:t>
            </a:r>
          </a:p>
          <a:p>
            <a:pPr marL="0" lvl="0" indent="0" defTabSz="914400" fontAlgn="auto">
              <a:spcBef>
                <a:spcPts val="0"/>
              </a:spcBef>
              <a:spcAft>
                <a:spcPts val="0"/>
              </a:spcAft>
              <a:buNone/>
              <a:defRPr/>
            </a:pPr>
            <a:endParaRPr lang="en-US" sz="1400"/>
          </a:p>
        </p:txBody>
      </p:sp>
      <p:grpSp>
        <p:nvGrpSpPr>
          <p:cNvPr id="30" name="Group 29">
            <a:extLst>
              <a:ext uri="{FF2B5EF4-FFF2-40B4-BE49-F238E27FC236}">
                <a16:creationId xmlns:a16="http://schemas.microsoft.com/office/drawing/2014/main" id="{D72C0BDA-51FA-0746-2DC8-F4028B926C15}"/>
              </a:ext>
            </a:extLst>
          </p:cNvPr>
          <p:cNvGrpSpPr/>
          <p:nvPr/>
        </p:nvGrpSpPr>
        <p:grpSpPr>
          <a:xfrm>
            <a:off x="568722" y="4753187"/>
            <a:ext cx="3623517" cy="1099680"/>
            <a:chOff x="568722" y="4753187"/>
            <a:chExt cx="3623517" cy="1099680"/>
          </a:xfrm>
        </p:grpSpPr>
        <p:sp>
          <p:nvSpPr>
            <p:cNvPr id="3" name="Rectangle 2">
              <a:extLst>
                <a:ext uri="{FF2B5EF4-FFF2-40B4-BE49-F238E27FC236}">
                  <a16:creationId xmlns:a16="http://schemas.microsoft.com/office/drawing/2014/main" id="{BF01DC16-368F-C8A9-7444-BA7B6465799B}"/>
                </a:ext>
              </a:extLst>
            </p:cNvPr>
            <p:cNvSpPr/>
            <p:nvPr/>
          </p:nvSpPr>
          <p:spPr bwMode="ltGray">
            <a:xfrm>
              <a:off x="568722" y="4753188"/>
              <a:ext cx="36235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4" name="Isosceles Triangle 3">
              <a:extLst>
                <a:ext uri="{FF2B5EF4-FFF2-40B4-BE49-F238E27FC236}">
                  <a16:creationId xmlns:a16="http://schemas.microsoft.com/office/drawing/2014/main" id="{EE811A69-EA01-BC58-2A0B-A5AE7698C99B}"/>
                </a:ext>
              </a:extLst>
            </p:cNvPr>
            <p:cNvSpPr/>
            <p:nvPr/>
          </p:nvSpPr>
          <p:spPr bwMode="ltGray">
            <a:xfrm rot="5400000">
              <a:off x="2649814" y="518501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5" name="Rectangle 4">
              <a:extLst>
                <a:ext uri="{FF2B5EF4-FFF2-40B4-BE49-F238E27FC236}">
                  <a16:creationId xmlns:a16="http://schemas.microsoft.com/office/drawing/2014/main" id="{1A5736C6-B12B-AC30-576F-577C0BC0D3BD}"/>
                </a:ext>
              </a:extLst>
            </p:cNvPr>
            <p:cNvSpPr>
              <a:spLocks/>
            </p:cNvSpPr>
            <p:nvPr/>
          </p:nvSpPr>
          <p:spPr>
            <a:xfrm rot="10800000" flipV="1">
              <a:off x="3089132" y="4753187"/>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72398F74-7B02-BC3C-2B6A-714F2523EC8F}"/>
                </a:ext>
              </a:extLst>
            </p:cNvPr>
            <p:cNvSpPr txBox="1"/>
            <p:nvPr/>
          </p:nvSpPr>
          <p:spPr>
            <a:xfrm>
              <a:off x="784414" y="5033732"/>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today!</a:t>
              </a:r>
            </a:p>
          </p:txBody>
        </p:sp>
      </p:grpSp>
      <p:grpSp>
        <p:nvGrpSpPr>
          <p:cNvPr id="31" name="Group 30">
            <a:extLst>
              <a:ext uri="{FF2B5EF4-FFF2-40B4-BE49-F238E27FC236}">
                <a16:creationId xmlns:a16="http://schemas.microsoft.com/office/drawing/2014/main" id="{30B1D28A-E9F2-241D-B00C-B38A6C01E8FE}"/>
              </a:ext>
            </a:extLst>
          </p:cNvPr>
          <p:cNvGrpSpPr/>
          <p:nvPr/>
        </p:nvGrpSpPr>
        <p:grpSpPr>
          <a:xfrm>
            <a:off x="4301034" y="4753187"/>
            <a:ext cx="3623517" cy="1099680"/>
            <a:chOff x="568722" y="4753187"/>
            <a:chExt cx="3623517" cy="1099680"/>
          </a:xfrm>
        </p:grpSpPr>
        <p:sp>
          <p:nvSpPr>
            <p:cNvPr id="32" name="Rectangle 31">
              <a:extLst>
                <a:ext uri="{FF2B5EF4-FFF2-40B4-BE49-F238E27FC236}">
                  <a16:creationId xmlns:a16="http://schemas.microsoft.com/office/drawing/2014/main" id="{3B2D8B12-9081-7629-C761-35CB6A04C0BF}"/>
                </a:ext>
              </a:extLst>
            </p:cNvPr>
            <p:cNvSpPr/>
            <p:nvPr/>
          </p:nvSpPr>
          <p:spPr bwMode="ltGray">
            <a:xfrm>
              <a:off x="568722" y="4753188"/>
              <a:ext cx="36235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3" name="Isosceles Triangle 32">
              <a:extLst>
                <a:ext uri="{FF2B5EF4-FFF2-40B4-BE49-F238E27FC236}">
                  <a16:creationId xmlns:a16="http://schemas.microsoft.com/office/drawing/2014/main" id="{05610DDC-F7C2-60F9-E571-0484E8772EB7}"/>
                </a:ext>
              </a:extLst>
            </p:cNvPr>
            <p:cNvSpPr/>
            <p:nvPr/>
          </p:nvSpPr>
          <p:spPr bwMode="ltGray">
            <a:xfrm rot="5400000">
              <a:off x="2649814" y="518501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D2ED20B7-308E-EA3D-7DD9-6B675816E493}"/>
                </a:ext>
              </a:extLst>
            </p:cNvPr>
            <p:cNvSpPr>
              <a:spLocks/>
            </p:cNvSpPr>
            <p:nvPr/>
          </p:nvSpPr>
          <p:spPr>
            <a:xfrm rot="10800000" flipV="1">
              <a:off x="3089132" y="4753187"/>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35" name="TextBox 34">
              <a:extLst>
                <a:ext uri="{FF2B5EF4-FFF2-40B4-BE49-F238E27FC236}">
                  <a16:creationId xmlns:a16="http://schemas.microsoft.com/office/drawing/2014/main" id="{7948867C-AEC8-8D52-575F-7EE7D717A69B}"/>
                </a:ext>
              </a:extLst>
            </p:cNvPr>
            <p:cNvSpPr txBox="1"/>
            <p:nvPr/>
          </p:nvSpPr>
          <p:spPr>
            <a:xfrm>
              <a:off x="784414" y="5033732"/>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today!</a:t>
              </a:r>
            </a:p>
          </p:txBody>
        </p:sp>
      </p:grpSp>
      <p:grpSp>
        <p:nvGrpSpPr>
          <p:cNvPr id="36" name="Group 35">
            <a:extLst>
              <a:ext uri="{FF2B5EF4-FFF2-40B4-BE49-F238E27FC236}">
                <a16:creationId xmlns:a16="http://schemas.microsoft.com/office/drawing/2014/main" id="{A7D36467-EF81-708C-F943-624C65245F4F}"/>
              </a:ext>
            </a:extLst>
          </p:cNvPr>
          <p:cNvGrpSpPr/>
          <p:nvPr/>
        </p:nvGrpSpPr>
        <p:grpSpPr>
          <a:xfrm>
            <a:off x="8078225" y="4753187"/>
            <a:ext cx="3623517" cy="1099680"/>
            <a:chOff x="568722" y="4753187"/>
            <a:chExt cx="3623517" cy="1099680"/>
          </a:xfrm>
        </p:grpSpPr>
        <p:sp>
          <p:nvSpPr>
            <p:cNvPr id="37" name="Rectangle 36">
              <a:extLst>
                <a:ext uri="{FF2B5EF4-FFF2-40B4-BE49-F238E27FC236}">
                  <a16:creationId xmlns:a16="http://schemas.microsoft.com/office/drawing/2014/main" id="{4D309AE3-6A73-2743-011B-00314190E8E2}"/>
                </a:ext>
              </a:extLst>
            </p:cNvPr>
            <p:cNvSpPr/>
            <p:nvPr/>
          </p:nvSpPr>
          <p:spPr bwMode="ltGray">
            <a:xfrm>
              <a:off x="568722" y="4753188"/>
              <a:ext cx="3623517"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38" name="Isosceles Triangle 37">
              <a:extLst>
                <a:ext uri="{FF2B5EF4-FFF2-40B4-BE49-F238E27FC236}">
                  <a16:creationId xmlns:a16="http://schemas.microsoft.com/office/drawing/2014/main" id="{A970A2D8-FD6A-429A-01F6-FAF2C98D21E7}"/>
                </a:ext>
              </a:extLst>
            </p:cNvPr>
            <p:cNvSpPr/>
            <p:nvPr/>
          </p:nvSpPr>
          <p:spPr bwMode="ltGray">
            <a:xfrm rot="5400000">
              <a:off x="2649814" y="5185011"/>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39" name="Rectangle 38">
              <a:extLst>
                <a:ext uri="{FF2B5EF4-FFF2-40B4-BE49-F238E27FC236}">
                  <a16:creationId xmlns:a16="http://schemas.microsoft.com/office/drawing/2014/main" id="{17848F72-DE05-782A-0A56-B79BC497A9AF}"/>
                </a:ext>
              </a:extLst>
            </p:cNvPr>
            <p:cNvSpPr>
              <a:spLocks/>
            </p:cNvSpPr>
            <p:nvPr/>
          </p:nvSpPr>
          <p:spPr>
            <a:xfrm rot="10800000" flipV="1">
              <a:off x="3089132" y="4753187"/>
              <a:ext cx="1099679" cy="1099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Arial"/>
                <a:ea typeface="+mn-ea"/>
                <a:cs typeface="+mn-cs"/>
              </a:endParaRPr>
            </a:p>
          </p:txBody>
        </p:sp>
        <p:sp>
          <p:nvSpPr>
            <p:cNvPr id="45" name="TextBox 44">
              <a:extLst>
                <a:ext uri="{FF2B5EF4-FFF2-40B4-BE49-F238E27FC236}">
                  <a16:creationId xmlns:a16="http://schemas.microsoft.com/office/drawing/2014/main" id="{633E6BAE-7D09-B2C2-023E-F8CCDF9926F7}"/>
                </a:ext>
              </a:extLst>
            </p:cNvPr>
            <p:cNvSpPr txBox="1"/>
            <p:nvPr/>
          </p:nvSpPr>
          <p:spPr>
            <a:xfrm>
              <a:off x="784414" y="5033732"/>
              <a:ext cx="1696701"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A62"/>
                  </a:solidFill>
                  <a:effectLst/>
                  <a:uLnTx/>
                  <a:uFillTx/>
                  <a:latin typeface="Arial"/>
                  <a:ea typeface="+mn-ea"/>
                  <a:cs typeface="+mn-cs"/>
                </a:rPr>
                <a:t>Scan the QR code to register today!</a:t>
              </a:r>
            </a:p>
          </p:txBody>
        </p:sp>
      </p:grpSp>
      <p:sp>
        <p:nvSpPr>
          <p:cNvPr id="46" name="Text Placeholder 3">
            <a:extLst>
              <a:ext uri="{FF2B5EF4-FFF2-40B4-BE49-F238E27FC236}">
                <a16:creationId xmlns:a16="http://schemas.microsoft.com/office/drawing/2014/main" id="{452FA007-750C-1454-4C27-2B0ABAFFB0EC}"/>
              </a:ext>
            </a:extLst>
          </p:cNvPr>
          <p:cNvSpPr txBox="1">
            <a:spLocks/>
          </p:cNvSpPr>
          <p:nvPr/>
        </p:nvSpPr>
        <p:spPr>
          <a:xfrm>
            <a:off x="4448707" y="1712780"/>
            <a:ext cx="3310829" cy="827099"/>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s-ES" sz="1600" b="1"/>
              <a:t>Korean Market </a:t>
            </a:r>
            <a:br>
              <a:rPr lang="es-ES" sz="1600" b="1"/>
            </a:br>
            <a:r>
              <a:rPr lang="es-ES" sz="1600" b="1"/>
              <a:t>Agents Resource Lab </a:t>
            </a:r>
            <a:br>
              <a:rPr lang="en-US" sz="1600" b="1">
                <a:ea typeface="Geneva" charset="0"/>
                <a:cs typeface="Geneva" charset="0"/>
              </a:rPr>
            </a:br>
            <a:endParaRPr lang="en-US" sz="900" b="1">
              <a:ea typeface="Geneva" charset="0"/>
              <a:cs typeface="Geneva" charset="0"/>
            </a:endParaRPr>
          </a:p>
          <a:p>
            <a:pPr marL="0" indent="0">
              <a:buNone/>
            </a:pPr>
            <a:r>
              <a:rPr lang="en-US" sz="1600">
                <a:solidFill>
                  <a:srgbClr val="000962"/>
                </a:solidFill>
                <a:ea typeface="Geneva"/>
                <a:cs typeface="Geneva" charset="0"/>
              </a:rPr>
              <a:t>Monday, </a:t>
            </a:r>
            <a:r>
              <a:rPr lang="en-US" sz="1600"/>
              <a:t>August</a:t>
            </a:r>
            <a:r>
              <a:rPr lang="en-US" sz="1600">
                <a:solidFill>
                  <a:srgbClr val="000962"/>
                </a:solidFill>
                <a:ea typeface="Geneva"/>
                <a:cs typeface="Geneva" charset="0"/>
              </a:rPr>
              <a:t>,17, 4 pm ET</a:t>
            </a:r>
          </a:p>
          <a:p>
            <a:pPr marL="0" indent="0">
              <a:buNone/>
            </a:pPr>
            <a:r>
              <a:rPr lang="en-US" sz="1600" b="1">
                <a:solidFill>
                  <a:srgbClr val="000962"/>
                </a:solidFill>
                <a:ea typeface="Geneva"/>
                <a:cs typeface="Geneva" charset="0"/>
              </a:rPr>
              <a:t>  </a:t>
            </a:r>
            <a:endParaRPr lang="en-US" sz="1600">
              <a:solidFill>
                <a:srgbClr val="000962"/>
              </a:solidFill>
              <a:ea typeface="Geneva"/>
              <a:cs typeface="Arial"/>
            </a:endParaRPr>
          </a:p>
        </p:txBody>
      </p:sp>
      <p:sp>
        <p:nvSpPr>
          <p:cNvPr id="47" name="Text Placeholder 3">
            <a:extLst>
              <a:ext uri="{FF2B5EF4-FFF2-40B4-BE49-F238E27FC236}">
                <a16:creationId xmlns:a16="http://schemas.microsoft.com/office/drawing/2014/main" id="{1E88E4C7-A82B-D539-5B29-3F61EF925AA6}"/>
              </a:ext>
            </a:extLst>
          </p:cNvPr>
          <p:cNvSpPr txBox="1">
            <a:spLocks/>
          </p:cNvSpPr>
          <p:nvPr/>
        </p:nvSpPr>
        <p:spPr>
          <a:xfrm>
            <a:off x="4440585" y="2916907"/>
            <a:ext cx="3310829" cy="1006661"/>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endParaRPr lang="en-US" sz="1400">
              <a:ea typeface="Geneva" charset="0"/>
              <a:cs typeface="Geneva" charset="0"/>
            </a:endParaRPr>
          </a:p>
        </p:txBody>
      </p:sp>
      <p:sp>
        <p:nvSpPr>
          <p:cNvPr id="49" name="Text Placeholder 3">
            <a:extLst>
              <a:ext uri="{FF2B5EF4-FFF2-40B4-BE49-F238E27FC236}">
                <a16:creationId xmlns:a16="http://schemas.microsoft.com/office/drawing/2014/main" id="{78389495-D809-C3CE-56F5-B9320F4E04D8}"/>
              </a:ext>
            </a:extLst>
          </p:cNvPr>
          <p:cNvSpPr txBox="1">
            <a:spLocks/>
          </p:cNvSpPr>
          <p:nvPr/>
        </p:nvSpPr>
        <p:spPr>
          <a:xfrm>
            <a:off x="8211857" y="1709928"/>
            <a:ext cx="3411426" cy="1399080"/>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600" b="1"/>
              <a:t>South Asian Market </a:t>
            </a:r>
            <a:br>
              <a:rPr lang="en-US" sz="1600" b="1"/>
            </a:br>
            <a:r>
              <a:rPr lang="en-US" sz="1600" b="1"/>
              <a:t>Key to Success</a:t>
            </a:r>
            <a:br>
              <a:rPr lang="en-US" sz="1600" b="1">
                <a:ea typeface="Geneva" charset="0"/>
                <a:cs typeface="Geneva" charset="0"/>
              </a:rPr>
            </a:br>
            <a:endParaRPr lang="en-US" sz="900" b="1">
              <a:ea typeface="Geneva" charset="0"/>
              <a:cs typeface="Geneva" charset="0"/>
            </a:endParaRPr>
          </a:p>
          <a:p>
            <a:pPr marL="0" indent="0">
              <a:buNone/>
            </a:pPr>
            <a:r>
              <a:rPr lang="en-US" sz="1600">
                <a:solidFill>
                  <a:srgbClr val="000962"/>
                </a:solidFill>
                <a:ea typeface="Geneva"/>
                <a:cs typeface="Geneva" charset="0"/>
              </a:rPr>
              <a:t>Monday, </a:t>
            </a:r>
            <a:r>
              <a:rPr lang="en-US" sz="1600"/>
              <a:t>August</a:t>
            </a:r>
            <a:r>
              <a:rPr lang="en-US" sz="1600">
                <a:solidFill>
                  <a:srgbClr val="000962"/>
                </a:solidFill>
                <a:ea typeface="Geneva"/>
                <a:cs typeface="Geneva" charset="0"/>
              </a:rPr>
              <a:t>,17, 4 pm ET</a:t>
            </a:r>
          </a:p>
        </p:txBody>
      </p:sp>
      <p:sp>
        <p:nvSpPr>
          <p:cNvPr id="50" name="Text Placeholder 3">
            <a:extLst>
              <a:ext uri="{FF2B5EF4-FFF2-40B4-BE49-F238E27FC236}">
                <a16:creationId xmlns:a16="http://schemas.microsoft.com/office/drawing/2014/main" id="{65C2FD53-E40A-10C0-3A65-E75A59369F4F}"/>
              </a:ext>
            </a:extLst>
          </p:cNvPr>
          <p:cNvSpPr txBox="1">
            <a:spLocks/>
          </p:cNvSpPr>
          <p:nvPr/>
        </p:nvSpPr>
        <p:spPr>
          <a:xfrm>
            <a:off x="8211857" y="2770636"/>
            <a:ext cx="3195729" cy="2545997"/>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a:t>Webinar designed to empower agents with actionable strategies, industry insights and opportunities to elevate their business.</a:t>
            </a:r>
          </a:p>
        </p:txBody>
      </p:sp>
      <p:pic>
        <p:nvPicPr>
          <p:cNvPr id="7" name="Picture 4">
            <a:extLst>
              <a:ext uri="{FF2B5EF4-FFF2-40B4-BE49-F238E27FC236}">
                <a16:creationId xmlns:a16="http://schemas.microsoft.com/office/drawing/2014/main" id="{E0B24A5D-F0FE-AB1C-9398-26D22B9B7B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3166376" y="4850011"/>
            <a:ext cx="942975" cy="9429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462489F-7E51-4ABD-C85C-106E1923CE5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p:blipFill>
        <p:spPr bwMode="auto">
          <a:xfrm>
            <a:off x="10680307" y="4846320"/>
            <a:ext cx="942975" cy="942975"/>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3">
            <a:extLst>
              <a:ext uri="{FF2B5EF4-FFF2-40B4-BE49-F238E27FC236}">
                <a16:creationId xmlns:a16="http://schemas.microsoft.com/office/drawing/2014/main" id="{2D405242-F519-B973-0415-F9065CCCE256}"/>
              </a:ext>
            </a:extLst>
          </p:cNvPr>
          <p:cNvSpPr txBox="1">
            <a:spLocks/>
          </p:cNvSpPr>
          <p:nvPr/>
        </p:nvSpPr>
        <p:spPr>
          <a:xfrm>
            <a:off x="4440585" y="2813498"/>
            <a:ext cx="3369303" cy="2106614"/>
          </a:xfrm>
          <a:prstGeom prst="rect">
            <a:avLst/>
          </a:prstGeom>
        </p:spPr>
        <p:txBody>
          <a:bodyPr lIns="0" tIns="0" rIns="0" bIns="0" anchor="t"/>
          <a:lstStyle>
            <a:defPPr>
              <a:defRPr lang="en-US"/>
            </a:defPPr>
            <a:lvl1pPr marL="304792" indent="-304792" algn="l" defTabSz="1219170" rtl="0" eaLnBrk="1" fontAlgn="base" latinLnBrk="0" hangingPunct="1">
              <a:lnSpc>
                <a:spcPct val="100000"/>
              </a:lnSpc>
              <a:spcBef>
                <a:spcPct val="0"/>
              </a:spcBef>
              <a:spcAft>
                <a:spcPct val="0"/>
              </a:spcAft>
              <a:buFont typeface="Arial" panose="020B0604020202020204" pitchFamily="34" charset="0"/>
              <a:buChar char="•"/>
              <a:defRPr sz="3200" kern="1200">
                <a:solidFill>
                  <a:schemeClr val="tx1"/>
                </a:solidFill>
                <a:latin typeface="Arial" charset="0"/>
                <a:ea typeface="Geneva" pitchFamily="-109" charset="-128"/>
                <a:cs typeface="+mn-cs"/>
              </a:defRPr>
            </a:lvl1pPr>
            <a:lvl2pPr marL="609513" indent="-304792" algn="l" defTabSz="1219170" rtl="0" eaLnBrk="1" fontAlgn="base" latinLnBrk="0" hangingPunct="1">
              <a:lnSpc>
                <a:spcPct val="100000"/>
              </a:lnSpc>
              <a:spcBef>
                <a:spcPct val="0"/>
              </a:spcBef>
              <a:spcAft>
                <a:spcPct val="0"/>
              </a:spcAft>
              <a:buFont typeface="Tahoma" panose="020B0604030504040204" pitchFamily="34" charset="0"/>
              <a:buChar char="–"/>
              <a:defRPr sz="2933" kern="1200">
                <a:solidFill>
                  <a:schemeClr val="tx1"/>
                </a:solidFill>
                <a:latin typeface="Arial" charset="0"/>
                <a:ea typeface="Geneva" pitchFamily="-109" charset="-128"/>
                <a:cs typeface="+mn-cs"/>
              </a:defRPr>
            </a:lvl2pPr>
            <a:lvl3pPr marL="1219027" indent="-304792" algn="l" defTabSz="1219170" rtl="0" eaLnBrk="1" fontAlgn="base" latinLnBrk="0" hangingPunct="1">
              <a:lnSpc>
                <a:spcPct val="100000"/>
              </a:lnSpc>
              <a:spcBef>
                <a:spcPct val="0"/>
              </a:spcBef>
              <a:spcAft>
                <a:spcPct val="0"/>
              </a:spcAft>
              <a:buFont typeface="Arial" panose="020B0604020202020204" pitchFamily="34" charset="0"/>
              <a:buChar char="•"/>
              <a:defRPr sz="2667" kern="1200">
                <a:solidFill>
                  <a:schemeClr val="tx1"/>
                </a:solidFill>
                <a:latin typeface="Arial" charset="0"/>
                <a:ea typeface="Geneva" pitchFamily="-109" charset="-128"/>
                <a:cs typeface="+mn-cs"/>
              </a:defRPr>
            </a:lvl3pPr>
            <a:lvl4pPr marL="1828541" indent="-304792" algn="l" defTabSz="1219170" rtl="0" eaLnBrk="1" fontAlgn="base" latinLnBrk="0" hangingPunct="1">
              <a:lnSpc>
                <a:spcPct val="100000"/>
              </a:lnSpc>
              <a:spcBef>
                <a:spcPct val="0"/>
              </a:spcBef>
              <a:spcAft>
                <a:spcPct val="0"/>
              </a:spcAft>
              <a:buFont typeface="Tahoma" panose="020B0604030504040204" pitchFamily="34" charset="0"/>
              <a:buChar char="–"/>
              <a:defRPr sz="2400" kern="1200">
                <a:solidFill>
                  <a:schemeClr val="tx1"/>
                </a:solidFill>
                <a:latin typeface="Arial" charset="0"/>
                <a:ea typeface="Geneva" pitchFamily="-109" charset="-128"/>
                <a:cs typeface="+mn-cs"/>
              </a:defRPr>
            </a:lvl4pPr>
            <a:lvl5pPr marL="2438054" indent="-304792" algn="l" defTabSz="1219170" rtl="0" eaLnBrk="1" fontAlgn="base" latinLnBrk="0" hangingPunct="1">
              <a:lnSpc>
                <a:spcPct val="100000"/>
              </a:lnSpc>
              <a:spcBef>
                <a:spcPct val="0"/>
              </a:spcBef>
              <a:spcAft>
                <a:spcPct val="0"/>
              </a:spcAft>
              <a:buFont typeface="Arial" panose="020B0604020202020204" pitchFamily="34" charset="0"/>
              <a:buChar char="•"/>
              <a:defRPr sz="2133" kern="1200">
                <a:solidFill>
                  <a:schemeClr val="tx1"/>
                </a:solidFill>
                <a:latin typeface="Arial" charset="0"/>
                <a:ea typeface="Geneva" pitchFamily="-109" charset="-128"/>
                <a:cs typeface="+mn-cs"/>
              </a:defRPr>
            </a:lvl5pPr>
            <a:lvl6pPr marL="3047568"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6pPr>
            <a:lvl7pPr marL="3657081"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7pPr>
            <a:lvl8pPr marL="4266595"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8pPr>
            <a:lvl9pPr marL="4876107" indent="-304792" algn="l" defTabSz="1219027" rtl="0" eaLnBrk="1" latinLnBrk="0" hangingPunct="1">
              <a:lnSpc>
                <a:spcPct val="90000"/>
              </a:lnSpc>
              <a:spcBef>
                <a:spcPts val="667"/>
              </a:spcBef>
              <a:buFont typeface="Arial" panose="020B0604020202020204" pitchFamily="34" charset="0"/>
              <a:buChar char="•"/>
              <a:defRPr sz="2400" kern="1200">
                <a:solidFill>
                  <a:schemeClr val="tx1"/>
                </a:solidFill>
                <a:latin typeface="Arial" charset="0"/>
                <a:ea typeface="Geneva" pitchFamily="-109" charset="-128"/>
                <a:cs typeface="+mn-cs"/>
              </a:defRPr>
            </a:lvl9pPr>
          </a:lstStyle>
          <a:p>
            <a:pPr marL="0" indent="0">
              <a:buNone/>
            </a:pPr>
            <a:r>
              <a:rPr lang="en-US" sz="1400"/>
              <a:t>Monthly in-language training and development hour on tools and resources followed by Q&amp;A            </a:t>
            </a:r>
          </a:p>
        </p:txBody>
      </p:sp>
      <p:pic>
        <p:nvPicPr>
          <p:cNvPr id="11" name="Picture 4">
            <a:extLst>
              <a:ext uri="{FF2B5EF4-FFF2-40B4-BE49-F238E27FC236}">
                <a16:creationId xmlns:a16="http://schemas.microsoft.com/office/drawing/2014/main" id="{2839F585-CBEA-8AB8-1374-94995210F54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t="1047" b="1047"/>
          <a:stretch/>
        </p:blipFill>
        <p:spPr bwMode="auto">
          <a:xfrm>
            <a:off x="6900841" y="4846320"/>
            <a:ext cx="940883" cy="921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596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FFBACE8-8F1C-D177-9D8D-F3E362920E1A}"/>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BA2AC86A-BC68-E932-327B-2DB5FDC9CD3C}"/>
              </a:ext>
            </a:extLst>
          </p:cNvPr>
          <p:cNvSpPr>
            <a:spLocks noGrp="1"/>
          </p:cNvSpPr>
          <p:nvPr>
            <p:ph type="title"/>
          </p:nvPr>
        </p:nvSpPr>
        <p:spPr/>
        <p:txBody>
          <a:bodyPr vert="horz" lIns="91440" tIns="45720" rIns="91440" bIns="45720" rtlCol="0" anchor="t" anchorCtr="0">
            <a:noAutofit/>
          </a:bodyPr>
          <a:lstStyle/>
          <a:p>
            <a:r>
              <a:rPr lang="en-US" dirty="0"/>
              <a:t>Total Morningstar</a:t>
            </a:r>
          </a:p>
        </p:txBody>
      </p:sp>
      <p:sp>
        <p:nvSpPr>
          <p:cNvPr id="3" name="Text Placeholder 2">
            <a:extLst>
              <a:ext uri="{FF2B5EF4-FFF2-40B4-BE49-F238E27FC236}">
                <a16:creationId xmlns:a16="http://schemas.microsoft.com/office/drawing/2014/main" id="{024B73B6-F762-17C5-1F23-ADEC1D6A4ABF}"/>
              </a:ext>
            </a:extLst>
          </p:cNvPr>
          <p:cNvSpPr>
            <a:spLocks noGrp="1"/>
          </p:cNvSpPr>
          <p:nvPr>
            <p:ph type="body" sz="quarter" idx="13"/>
          </p:nvPr>
        </p:nvSpPr>
        <p:spPr>
          <a:xfrm>
            <a:off x="335756" y="666168"/>
            <a:ext cx="11520487" cy="558800"/>
          </a:xfrm>
        </p:spPr>
        <p:txBody>
          <a:bodyPr vert="horz" lIns="91440" tIns="45720" rIns="91440" bIns="45720" rtlCol="0" anchor="t">
            <a:noAutofit/>
          </a:bodyPr>
          <a:lstStyle/>
          <a:p>
            <a:r>
              <a:rPr lang="en-US" sz="2400" dirty="0">
                <a:solidFill>
                  <a:schemeClr val="tx1"/>
                </a:solidFill>
                <a:latin typeface="+mn-lt"/>
              </a:rPr>
              <a:t>Complete Guide to Morningstar Proposals &amp; Sales Concepts</a:t>
            </a:r>
          </a:p>
        </p:txBody>
      </p:sp>
      <p:sp>
        <p:nvSpPr>
          <p:cNvPr id="4" name="Text Placeholder 3">
            <a:extLst>
              <a:ext uri="{FF2B5EF4-FFF2-40B4-BE49-F238E27FC236}">
                <a16:creationId xmlns:a16="http://schemas.microsoft.com/office/drawing/2014/main" id="{F59BF68E-6704-A8F5-AB1B-D8995FE23CAB}"/>
              </a:ext>
            </a:extLst>
          </p:cNvPr>
          <p:cNvSpPr>
            <a:spLocks noGrp="1"/>
          </p:cNvSpPr>
          <p:nvPr>
            <p:ph type="body" sz="quarter" idx="14"/>
          </p:nvPr>
        </p:nvSpPr>
        <p:spPr>
          <a:xfrm>
            <a:off x="292700" y="1602210"/>
            <a:ext cx="5725839" cy="2973915"/>
          </a:xfrm>
          <a:ln>
            <a:noFill/>
          </a:ln>
        </p:spPr>
        <p:txBody>
          <a:bodyPr/>
          <a:lstStyle/>
          <a:p>
            <a:pPr>
              <a:spcBef>
                <a:spcPts val="0"/>
              </a:spcBef>
              <a:buNone/>
            </a:pPr>
            <a:r>
              <a:rPr lang="en-US" sz="1400" b="1" dirty="0">
                <a:solidFill>
                  <a:schemeClr val="tx1"/>
                </a:solidFill>
                <a:latin typeface="Arial"/>
                <a:cs typeface="Arial"/>
              </a:rPr>
              <a:t>Topics:</a:t>
            </a:r>
          </a:p>
          <a:p>
            <a:pPr>
              <a:spcBef>
                <a:spcPts val="0"/>
              </a:spcBef>
            </a:pPr>
            <a:r>
              <a:rPr lang="en-US" sz="1400" dirty="0">
                <a:solidFill>
                  <a:schemeClr val="tx1"/>
                </a:solidFill>
                <a:latin typeface="Arial"/>
                <a:cs typeface="Arial"/>
              </a:rPr>
              <a:t>September 8: Morningstar Proposal Building Walkthroughs</a:t>
            </a:r>
          </a:p>
          <a:p>
            <a:pPr>
              <a:spcBef>
                <a:spcPts val="0"/>
              </a:spcBef>
            </a:pPr>
            <a:r>
              <a:rPr lang="en-US" sz="1400" dirty="0">
                <a:solidFill>
                  <a:schemeClr val="tx1"/>
                </a:solidFill>
                <a:latin typeface="Arial"/>
                <a:cs typeface="Arial"/>
              </a:rPr>
              <a:t>September 15: Reading and Understanding Morningstar IPT Reports </a:t>
            </a:r>
          </a:p>
          <a:p>
            <a:pPr>
              <a:spcBef>
                <a:spcPts val="0"/>
              </a:spcBef>
            </a:pPr>
            <a:r>
              <a:rPr lang="en-US" sz="1400" dirty="0">
                <a:solidFill>
                  <a:schemeClr val="tx1"/>
                </a:solidFill>
                <a:latin typeface="Arial"/>
                <a:cs typeface="Arial"/>
              </a:rPr>
              <a:t>September 22: Morningstar Research &amp; Portfolio Concepts  </a:t>
            </a:r>
          </a:p>
          <a:p>
            <a:pPr>
              <a:spcBef>
                <a:spcPts val="0"/>
              </a:spcBef>
            </a:pPr>
            <a:r>
              <a:rPr lang="en-US" sz="1400" dirty="0">
                <a:solidFill>
                  <a:schemeClr val="tx1"/>
                </a:solidFill>
                <a:latin typeface="Arial"/>
                <a:cs typeface="Arial"/>
              </a:rPr>
              <a:t>September 29: Morningstar Proposal Full Use with Case Study</a:t>
            </a:r>
            <a:endParaRPr lang="en-US" sz="1400" dirty="0">
              <a:solidFill>
                <a:schemeClr val="tx1"/>
              </a:solidFill>
            </a:endParaRPr>
          </a:p>
          <a:p>
            <a:r>
              <a:rPr lang="en-US" sz="1400" b="1" dirty="0">
                <a:solidFill>
                  <a:schemeClr val="tx1"/>
                </a:solidFill>
                <a:latin typeface="Arial"/>
                <a:cs typeface="Arial"/>
              </a:rPr>
              <a:t>Host: Morningstar IPT Training Team</a:t>
            </a:r>
            <a:br>
              <a:rPr lang="en-US" sz="1400" dirty="0"/>
            </a:br>
            <a:r>
              <a:rPr lang="en-US" sz="1400" dirty="0">
                <a:solidFill>
                  <a:schemeClr val="tx1"/>
                </a:solidFill>
                <a:latin typeface="Arial"/>
                <a:cs typeface="Arial"/>
              </a:rPr>
              <a:t>Time: Each Session Starts at 2PM EST</a:t>
            </a:r>
          </a:p>
          <a:p>
            <a:r>
              <a:rPr lang="en-US" sz="1400" b="1" dirty="0">
                <a:solidFill>
                  <a:schemeClr val="tx1"/>
                </a:solidFill>
                <a:latin typeface="Arial"/>
                <a:cs typeface="Arial"/>
              </a:rPr>
              <a:t>Duration: </a:t>
            </a:r>
            <a:r>
              <a:rPr lang="en-US" sz="1400" dirty="0">
                <a:solidFill>
                  <a:schemeClr val="tx1"/>
                </a:solidFill>
                <a:latin typeface="Arial"/>
                <a:cs typeface="Arial"/>
              </a:rPr>
              <a:t>1 Hour Sessions: Choose Many or Just One</a:t>
            </a:r>
          </a:p>
          <a:p>
            <a:pPr defTabSz="914377" eaLnBrk="0" fontAlgn="base" hangingPunct="0">
              <a:spcBef>
                <a:spcPct val="0"/>
              </a:spcBef>
              <a:spcAft>
                <a:spcPct val="0"/>
              </a:spcAft>
            </a:pPr>
            <a:endParaRPr lang="en-US" altLang="en-US" sz="1400" b="1" dirty="0">
              <a:solidFill>
                <a:schemeClr val="tx1"/>
              </a:solidFill>
            </a:endParaRPr>
          </a:p>
          <a:p>
            <a:pPr defTabSz="914377" eaLnBrk="0" fontAlgn="base" hangingPunct="0">
              <a:spcBef>
                <a:spcPct val="0"/>
              </a:spcBef>
              <a:spcAft>
                <a:spcPct val="0"/>
              </a:spcAft>
            </a:pPr>
            <a:r>
              <a:rPr lang="en-US" altLang="en-US" sz="1400" b="1" dirty="0">
                <a:solidFill>
                  <a:schemeClr val="tx1"/>
                </a:solidFill>
              </a:rPr>
              <a:t>Live demo</a:t>
            </a:r>
            <a:r>
              <a:rPr lang="en-US" altLang="en-US" sz="1400" dirty="0">
                <a:solidFill>
                  <a:schemeClr val="tx1"/>
                </a:solidFill>
              </a:rPr>
              <a:t>: Leverage Advanced Morningstar Features!</a:t>
            </a:r>
          </a:p>
          <a:p>
            <a:pPr defTabSz="914377" eaLnBrk="0" fontAlgn="base" hangingPunct="0">
              <a:spcBef>
                <a:spcPct val="0"/>
              </a:spcBef>
              <a:spcAft>
                <a:spcPct val="0"/>
              </a:spcAft>
            </a:pPr>
            <a:r>
              <a:rPr lang="en-US" altLang="en-US" sz="1400" b="1" dirty="0">
                <a:solidFill>
                  <a:schemeClr val="tx1"/>
                </a:solidFill>
              </a:rPr>
              <a:t>Live chat: </a:t>
            </a:r>
            <a:r>
              <a:rPr lang="en-US" altLang="en-US" sz="1400" dirty="0">
                <a:solidFill>
                  <a:schemeClr val="tx1"/>
                </a:solidFill>
              </a:rPr>
              <a:t>Support Throughout!</a:t>
            </a:r>
            <a:endParaRPr lang="en-US" sz="1400" dirty="0"/>
          </a:p>
          <a:p>
            <a:endParaRPr lang="en-US" sz="1400" b="1" dirty="0">
              <a:solidFill>
                <a:schemeClr val="tx1"/>
              </a:solidFill>
              <a:latin typeface="Arial"/>
              <a:cs typeface="Arial"/>
            </a:endParaRPr>
          </a:p>
          <a:p>
            <a:endParaRPr lang="en-US" sz="1100" b="1" dirty="0"/>
          </a:p>
          <a:p>
            <a:br>
              <a:rPr lang="en-US" sz="1600" dirty="0"/>
            </a:br>
            <a:endParaRPr lang="en-US" dirty="0"/>
          </a:p>
        </p:txBody>
      </p:sp>
      <p:sp>
        <p:nvSpPr>
          <p:cNvPr id="5" name="Rectangle 4">
            <a:extLst>
              <a:ext uri="{FF2B5EF4-FFF2-40B4-BE49-F238E27FC236}">
                <a16:creationId xmlns:a16="http://schemas.microsoft.com/office/drawing/2014/main" id="{CE24BB7A-BFDB-1EBC-5564-FF9BB8AAFFEF}"/>
              </a:ext>
            </a:extLst>
          </p:cNvPr>
          <p:cNvSpPr/>
          <p:nvPr/>
        </p:nvSpPr>
        <p:spPr bwMode="ltGray">
          <a:xfrm>
            <a:off x="6057490" y="1623141"/>
            <a:ext cx="5609492" cy="4270980"/>
          </a:xfrm>
          <a:prstGeom prst="rect">
            <a:avLst/>
          </a:prstGeom>
          <a:solidFill>
            <a:schemeClr val="tx1"/>
          </a:solidFill>
          <a:ln w="12700" cap="flat" cmpd="sng" algn="ctr">
            <a:solidFill>
              <a:schemeClr val="tx1">
                <a:lumMod val="90000"/>
                <a:lumOff val="10000"/>
              </a:schemeClr>
            </a:solid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sp>
        <p:nvSpPr>
          <p:cNvPr id="6" name="Rectangle 5">
            <a:extLst>
              <a:ext uri="{FF2B5EF4-FFF2-40B4-BE49-F238E27FC236}">
                <a16:creationId xmlns:a16="http://schemas.microsoft.com/office/drawing/2014/main" id="{0E5CD4CF-D4B6-AFE4-F2C4-995306CF00A7}"/>
              </a:ext>
            </a:extLst>
          </p:cNvPr>
          <p:cNvSpPr/>
          <p:nvPr/>
        </p:nvSpPr>
        <p:spPr bwMode="ltGray">
          <a:xfrm>
            <a:off x="6031523" y="1582616"/>
            <a:ext cx="5635459" cy="346365"/>
          </a:xfrm>
          <a:prstGeom prst="rect">
            <a:avLst/>
          </a:prstGeom>
          <a:solidFill>
            <a:schemeClr val="bg1"/>
          </a:solidFill>
          <a:ln w="12700" cap="flat" cmpd="sng" algn="ctr">
            <a:no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Effra Pro" panose="020B0603020203020204" pitchFamily="34" charset="0"/>
              <a:ea typeface="Geneva" pitchFamily="-109" charset="-128"/>
              <a:cs typeface="+mn-cs"/>
            </a:endParaRPr>
          </a:p>
        </p:txBody>
      </p:sp>
      <p:sp>
        <p:nvSpPr>
          <p:cNvPr id="14" name="Rectangle 13">
            <a:extLst>
              <a:ext uri="{FF2B5EF4-FFF2-40B4-BE49-F238E27FC236}">
                <a16:creationId xmlns:a16="http://schemas.microsoft.com/office/drawing/2014/main" id="{1D1176BD-A21C-EEC5-4113-B3BB0A7F341F}"/>
              </a:ext>
            </a:extLst>
          </p:cNvPr>
          <p:cNvSpPr/>
          <p:nvPr/>
        </p:nvSpPr>
        <p:spPr bwMode="ltGray">
          <a:xfrm>
            <a:off x="244436" y="4464942"/>
            <a:ext cx="5467824" cy="728971"/>
          </a:xfrm>
          <a:prstGeom prst="rect">
            <a:avLst/>
          </a:prstGeom>
          <a:solidFill>
            <a:srgbClr val="000A62"/>
          </a:solidFill>
          <a:ln w="12700" cap="flat" cmpd="sng" algn="ctr">
            <a:solidFill>
              <a:schemeClr val="tx1"/>
            </a:solid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sp>
        <p:nvSpPr>
          <p:cNvPr id="16" name="TextBox 15">
            <a:extLst>
              <a:ext uri="{FF2B5EF4-FFF2-40B4-BE49-F238E27FC236}">
                <a16:creationId xmlns:a16="http://schemas.microsoft.com/office/drawing/2014/main" id="{85AF248A-CC00-7972-AF65-F147BE1932E2}"/>
              </a:ext>
            </a:extLst>
          </p:cNvPr>
          <p:cNvSpPr txBox="1"/>
          <p:nvPr/>
        </p:nvSpPr>
        <p:spPr>
          <a:xfrm>
            <a:off x="537812" y="4619724"/>
            <a:ext cx="2166060" cy="338554"/>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Effra Pro" panose="020B0603020203020204" pitchFamily="34" charset="0"/>
                <a:ea typeface="Geneva" pitchFamily="-109" charset="-128"/>
                <a:cs typeface="+mn-cs"/>
              </a:rPr>
              <a:t> Scan to register</a:t>
            </a:r>
          </a:p>
        </p:txBody>
      </p:sp>
      <p:sp>
        <p:nvSpPr>
          <p:cNvPr id="18" name="TextBox 17">
            <a:extLst>
              <a:ext uri="{FF2B5EF4-FFF2-40B4-BE49-F238E27FC236}">
                <a16:creationId xmlns:a16="http://schemas.microsoft.com/office/drawing/2014/main" id="{0395DD76-3C2D-BFFB-7A3A-3FB63010F497}"/>
              </a:ext>
            </a:extLst>
          </p:cNvPr>
          <p:cNvSpPr txBox="1"/>
          <p:nvPr/>
        </p:nvSpPr>
        <p:spPr>
          <a:xfrm>
            <a:off x="525018" y="5723155"/>
            <a:ext cx="3480759" cy="307777"/>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Effra Pro" panose="020B0603020203020204" pitchFamily="34" charset="0"/>
                <a:ea typeface="Geneva" pitchFamily="-109" charset="-128"/>
                <a:cs typeface="+mn-cs"/>
              </a:rPr>
              <a:t> </a:t>
            </a:r>
          </a:p>
        </p:txBody>
      </p:sp>
      <p:sp>
        <p:nvSpPr>
          <p:cNvPr id="19" name="Isosceles Triangle 18">
            <a:extLst>
              <a:ext uri="{FF2B5EF4-FFF2-40B4-BE49-F238E27FC236}">
                <a16:creationId xmlns:a16="http://schemas.microsoft.com/office/drawing/2014/main" id="{45D481DB-8DE7-76B7-EFA8-F6C5406A1E00}"/>
              </a:ext>
            </a:extLst>
          </p:cNvPr>
          <p:cNvSpPr/>
          <p:nvPr/>
        </p:nvSpPr>
        <p:spPr bwMode="ltGray">
          <a:xfrm rot="5400000">
            <a:off x="4509225" y="4736950"/>
            <a:ext cx="343665" cy="252879"/>
          </a:xfrm>
          <a:prstGeom prst="triangle">
            <a:avLst/>
          </a:prstGeom>
          <a:solidFill>
            <a:srgbClr val="A4C9DA"/>
          </a:solidFill>
          <a:ln w="12700" cap="flat" cmpd="sng" algn="ctr">
            <a:noFill/>
            <a:prstDash val="solid"/>
            <a:round/>
            <a:headEnd type="none" w="sm" len="sm"/>
            <a:tailEnd type="none" w="sm" len="sm"/>
          </a:ln>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lda Pro"/>
              <a:ea typeface="Geneva" pitchFamily="-109" charset="-128"/>
              <a:cs typeface="+mn-cs"/>
            </a:endParaRPr>
          </a:p>
        </p:txBody>
      </p:sp>
      <p:pic>
        <p:nvPicPr>
          <p:cNvPr id="21" name="Picture 20">
            <a:extLst>
              <a:ext uri="{FF2B5EF4-FFF2-40B4-BE49-F238E27FC236}">
                <a16:creationId xmlns:a16="http://schemas.microsoft.com/office/drawing/2014/main" id="{EC332520-366A-83F1-0A61-4B02D6ADF8AE}"/>
              </a:ext>
            </a:extLst>
          </p:cNvPr>
          <p:cNvPicPr>
            <a:picLocks noChangeAspect="1"/>
          </p:cNvPicPr>
          <p:nvPr/>
        </p:nvPicPr>
        <p:blipFill>
          <a:blip r:embed="rId3"/>
          <a:stretch>
            <a:fillRect/>
          </a:stretch>
        </p:blipFill>
        <p:spPr>
          <a:xfrm>
            <a:off x="7211005" y="1609893"/>
            <a:ext cx="3657788" cy="304816"/>
          </a:xfrm>
          <a:prstGeom prst="rect">
            <a:avLst/>
          </a:prstGeom>
        </p:spPr>
      </p:pic>
      <p:pic>
        <p:nvPicPr>
          <p:cNvPr id="23" name="Picture 22">
            <a:extLst>
              <a:ext uri="{FF2B5EF4-FFF2-40B4-BE49-F238E27FC236}">
                <a16:creationId xmlns:a16="http://schemas.microsoft.com/office/drawing/2014/main" id="{C769397E-5526-41F0-4002-E8C1F6DDF91D}"/>
              </a:ext>
            </a:extLst>
          </p:cNvPr>
          <p:cNvPicPr>
            <a:picLocks noChangeAspect="1"/>
          </p:cNvPicPr>
          <p:nvPr/>
        </p:nvPicPr>
        <p:blipFill>
          <a:blip r:embed="rId4"/>
          <a:stretch>
            <a:fillRect/>
          </a:stretch>
        </p:blipFill>
        <p:spPr>
          <a:xfrm>
            <a:off x="6995494" y="2317616"/>
            <a:ext cx="2561593" cy="3166687"/>
          </a:xfrm>
          <a:prstGeom prst="rect">
            <a:avLst/>
          </a:prstGeom>
        </p:spPr>
      </p:pic>
      <p:sp>
        <p:nvSpPr>
          <p:cNvPr id="11" name="TextBox 10">
            <a:extLst>
              <a:ext uri="{FF2B5EF4-FFF2-40B4-BE49-F238E27FC236}">
                <a16:creationId xmlns:a16="http://schemas.microsoft.com/office/drawing/2014/main" id="{0BE40B62-8B0B-3669-5767-B9E1B506469A}"/>
              </a:ext>
            </a:extLst>
          </p:cNvPr>
          <p:cNvSpPr txBox="1"/>
          <p:nvPr/>
        </p:nvSpPr>
        <p:spPr>
          <a:xfrm>
            <a:off x="9888044" y="2526556"/>
            <a:ext cx="1447980" cy="646331"/>
          </a:xfrm>
          <a:prstGeom prst="rect">
            <a:avLst/>
          </a:prstGeom>
          <a:noFill/>
        </p:spPr>
        <p:txBody>
          <a:bodyPr wrap="square" rtlCol="0">
            <a:spAutoFit/>
          </a:bodyPr>
          <a:lstStyle/>
          <a:p>
            <a:pPr algn="ctr"/>
            <a:r>
              <a:rPr lang="en-US">
                <a:solidFill>
                  <a:schemeClr val="bg1"/>
                </a:solidFill>
              </a:rPr>
              <a:t>One-on-one sessions</a:t>
            </a:r>
            <a:endParaRPr lang="en-US" dirty="0">
              <a:solidFill>
                <a:schemeClr val="bg1"/>
              </a:solidFill>
            </a:endParaRPr>
          </a:p>
        </p:txBody>
      </p:sp>
      <p:pic>
        <p:nvPicPr>
          <p:cNvPr id="13" name="Picture 12">
            <a:extLst>
              <a:ext uri="{FF2B5EF4-FFF2-40B4-BE49-F238E27FC236}">
                <a16:creationId xmlns:a16="http://schemas.microsoft.com/office/drawing/2014/main" id="{697AD4BE-7AC1-D096-605C-B29AE8A9227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80607" y="3622329"/>
            <a:ext cx="1789885" cy="1789885"/>
          </a:xfrm>
          <a:prstGeom prst="rect">
            <a:avLst/>
          </a:prstGeom>
        </p:spPr>
      </p:pic>
      <p:pic>
        <p:nvPicPr>
          <p:cNvPr id="8" name="Picture 7">
            <a:extLst>
              <a:ext uri="{FF2B5EF4-FFF2-40B4-BE49-F238E27FC236}">
                <a16:creationId xmlns:a16="http://schemas.microsoft.com/office/drawing/2014/main" id="{F57FB350-5536-20DF-2410-660CCE8D3C9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96781" y="4464942"/>
            <a:ext cx="888925" cy="746049"/>
          </a:xfrm>
          <a:prstGeom prst="rect">
            <a:avLst/>
          </a:prstGeom>
        </p:spPr>
      </p:pic>
      <p:sp>
        <p:nvSpPr>
          <p:cNvPr id="9" name="TextBox 8">
            <a:extLst>
              <a:ext uri="{FF2B5EF4-FFF2-40B4-BE49-F238E27FC236}">
                <a16:creationId xmlns:a16="http://schemas.microsoft.com/office/drawing/2014/main" id="{360C523A-21AE-C686-08DB-129089CAD45A}"/>
              </a:ext>
            </a:extLst>
          </p:cNvPr>
          <p:cNvSpPr txBox="1"/>
          <p:nvPr/>
        </p:nvSpPr>
        <p:spPr>
          <a:xfrm>
            <a:off x="244436" y="5763316"/>
            <a:ext cx="5773463" cy="261610"/>
          </a:xfrm>
          <a:prstGeom prst="rect">
            <a:avLst/>
          </a:prstGeom>
          <a:noFill/>
        </p:spPr>
        <p:txBody>
          <a:bodyPr wrap="square" rtlCol="0">
            <a:spAutoFit/>
          </a:bodyPr>
          <a:lstStyle/>
          <a:p>
            <a:r>
              <a:rPr lang="en-US" sz="1050" dirty="0"/>
              <a:t>SMRU 9058997.1 Exp 9/30/2026 For Internal Use Only</a:t>
            </a:r>
          </a:p>
        </p:txBody>
      </p:sp>
    </p:spTree>
    <p:extLst>
      <p:ext uri="{BB962C8B-B14F-4D97-AF65-F5344CB8AC3E}">
        <p14:creationId xmlns:p14="http://schemas.microsoft.com/office/powerpoint/2010/main" val="3468201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28D0F-CAC8-107D-A130-488FA7BADC3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CF93501-DF86-7D55-2EA8-31EF41E0A0E5}"/>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E3684F69-AE3C-C436-B848-AE31FBF10BB7}"/>
              </a:ext>
            </a:extLst>
          </p:cNvPr>
          <p:cNvSpPr>
            <a:spLocks noGrp="1"/>
          </p:cNvSpPr>
          <p:nvPr>
            <p:ph type="title"/>
          </p:nvPr>
        </p:nvSpPr>
        <p:spPr/>
        <p:txBody>
          <a:bodyPr/>
          <a:lstStyle/>
          <a:p>
            <a:r>
              <a:rPr lang="en-US"/>
              <a:t>See what’s new with Asset Flex AD126</a:t>
            </a:r>
          </a:p>
        </p:txBody>
      </p:sp>
      <p:sp>
        <p:nvSpPr>
          <p:cNvPr id="3" name="Content Placeholder 2">
            <a:extLst>
              <a:ext uri="{FF2B5EF4-FFF2-40B4-BE49-F238E27FC236}">
                <a16:creationId xmlns:a16="http://schemas.microsoft.com/office/drawing/2014/main" id="{1D511D59-C4C4-198B-DEB6-8990EBA16A1A}"/>
              </a:ext>
            </a:extLst>
          </p:cNvPr>
          <p:cNvSpPr>
            <a:spLocks noGrp="1"/>
          </p:cNvSpPr>
          <p:nvPr>
            <p:ph idx="1"/>
          </p:nvPr>
        </p:nvSpPr>
        <p:spPr>
          <a:xfrm>
            <a:off x="466357" y="1779115"/>
            <a:ext cx="6726945" cy="2812592"/>
          </a:xfrm>
        </p:spPr>
        <p:txBody>
          <a:bodyPr/>
          <a:lstStyle/>
          <a:p>
            <a:pPr marL="0" indent="0">
              <a:lnSpc>
                <a:spcPct val="100000"/>
              </a:lnSpc>
              <a:spcBef>
                <a:spcPts val="0"/>
              </a:spcBef>
              <a:spcAft>
                <a:spcPts val="1200"/>
              </a:spcAft>
              <a:buNone/>
            </a:pPr>
            <a:r>
              <a:rPr lang="en-US" b="1"/>
              <a:t>Key enhancements:</a:t>
            </a:r>
          </a:p>
          <a:p>
            <a:pPr>
              <a:lnSpc>
                <a:spcPct val="100000"/>
              </a:lnSpc>
              <a:spcBef>
                <a:spcPts val="0"/>
              </a:spcBef>
              <a:spcAft>
                <a:spcPts val="1200"/>
              </a:spcAft>
            </a:pPr>
            <a:r>
              <a:rPr lang="en-US"/>
              <a:t>New indemnity cash benefit option</a:t>
            </a:r>
          </a:p>
          <a:p>
            <a:pPr>
              <a:lnSpc>
                <a:spcPct val="100000"/>
              </a:lnSpc>
              <a:spcBef>
                <a:spcPts val="0"/>
              </a:spcBef>
              <a:spcAft>
                <a:spcPts val="1200"/>
              </a:spcAft>
            </a:pPr>
            <a:r>
              <a:rPr lang="en-US"/>
              <a:t>Reimbursement option remains available</a:t>
            </a:r>
          </a:p>
          <a:p>
            <a:pPr>
              <a:lnSpc>
                <a:spcPct val="100000"/>
              </a:lnSpc>
              <a:spcBef>
                <a:spcPts val="0"/>
              </a:spcBef>
              <a:spcAft>
                <a:spcPts val="1200"/>
              </a:spcAft>
            </a:pPr>
            <a:r>
              <a:rPr lang="en-US"/>
              <a:t>Improved reimbursement pricing in ~85% of scenarios</a:t>
            </a:r>
            <a:r>
              <a:rPr lang="en-US" baseline="30000"/>
              <a:t>*</a:t>
            </a:r>
          </a:p>
          <a:p>
            <a:pPr>
              <a:lnSpc>
                <a:spcPct val="100000"/>
              </a:lnSpc>
              <a:spcBef>
                <a:spcPts val="0"/>
              </a:spcBef>
              <a:spcAft>
                <a:spcPts val="1200"/>
              </a:spcAft>
            </a:pPr>
            <a:r>
              <a:rPr lang="en-US"/>
              <a:t>More flexibility for LTC planning conversations</a:t>
            </a:r>
          </a:p>
          <a:p>
            <a:pPr>
              <a:lnSpc>
                <a:spcPct val="100000"/>
              </a:lnSpc>
              <a:spcBef>
                <a:spcPts val="0"/>
              </a:spcBef>
              <a:spcAft>
                <a:spcPts val="1200"/>
              </a:spcAft>
            </a:pPr>
            <a:r>
              <a:rPr lang="en-US"/>
              <a:t>New AD126 video and resources on Info Central</a:t>
            </a:r>
          </a:p>
        </p:txBody>
      </p:sp>
      <p:sp>
        <p:nvSpPr>
          <p:cNvPr id="4" name="Text Placeholder 3">
            <a:extLst>
              <a:ext uri="{FF2B5EF4-FFF2-40B4-BE49-F238E27FC236}">
                <a16:creationId xmlns:a16="http://schemas.microsoft.com/office/drawing/2014/main" id="{8BB501DF-A33B-4F3A-76F2-6E2F74EBCE5C}"/>
              </a:ext>
            </a:extLst>
          </p:cNvPr>
          <p:cNvSpPr>
            <a:spLocks noGrp="1"/>
          </p:cNvSpPr>
          <p:nvPr>
            <p:ph type="body" sz="quarter" idx="12"/>
          </p:nvPr>
        </p:nvSpPr>
        <p:spPr>
          <a:xfrm>
            <a:off x="439946" y="953242"/>
            <a:ext cx="11294854" cy="496033"/>
          </a:xfrm>
        </p:spPr>
        <p:txBody>
          <a:bodyPr/>
          <a:lstStyle/>
          <a:p>
            <a:r>
              <a:rPr lang="en-US" sz="2400"/>
              <a:t>Use this new video to help your team understand the enhancements.</a:t>
            </a:r>
          </a:p>
        </p:txBody>
      </p:sp>
      <p:sp>
        <p:nvSpPr>
          <p:cNvPr id="13" name="Rectangle 12">
            <a:extLst>
              <a:ext uri="{FF2B5EF4-FFF2-40B4-BE49-F238E27FC236}">
                <a16:creationId xmlns:a16="http://schemas.microsoft.com/office/drawing/2014/main" id="{8664FC04-671C-10B5-620E-5522F74BE557}"/>
              </a:ext>
            </a:extLst>
          </p:cNvPr>
          <p:cNvSpPr/>
          <p:nvPr/>
        </p:nvSpPr>
        <p:spPr bwMode="ltGray">
          <a:xfrm>
            <a:off x="466357" y="4753559"/>
            <a:ext cx="6205376"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5" name="TextBox 14">
            <a:extLst>
              <a:ext uri="{FF2B5EF4-FFF2-40B4-BE49-F238E27FC236}">
                <a16:creationId xmlns:a16="http://schemas.microsoft.com/office/drawing/2014/main" id="{6147FA3E-AC85-DC42-0ED5-F1D4E56AE386}"/>
              </a:ext>
            </a:extLst>
          </p:cNvPr>
          <p:cNvSpPr txBox="1"/>
          <p:nvPr/>
        </p:nvSpPr>
        <p:spPr>
          <a:xfrm>
            <a:off x="697827" y="5057177"/>
            <a:ext cx="4619240" cy="49244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the Asset Flex AD126 video, program details and resources on Info Central.</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0C94BC0C-6335-A265-9C4A-E0C8990461B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819471" y="4753559"/>
            <a:ext cx="1099678" cy="1099678"/>
          </a:xfrm>
          <a:prstGeom prst="rect">
            <a:avLst/>
          </a:prstGeom>
        </p:spPr>
      </p:pic>
      <p:sp>
        <p:nvSpPr>
          <p:cNvPr id="22" name="Isosceles Triangle 21">
            <a:extLst>
              <a:ext uri="{FF2B5EF4-FFF2-40B4-BE49-F238E27FC236}">
                <a16:creationId xmlns:a16="http://schemas.microsoft.com/office/drawing/2014/main" id="{E4FED744-0D3A-4412-AF78-EDC222878C6F}"/>
              </a:ext>
            </a:extLst>
          </p:cNvPr>
          <p:cNvSpPr/>
          <p:nvPr/>
        </p:nvSpPr>
        <p:spPr bwMode="ltGray">
          <a:xfrm rot="5400000">
            <a:off x="5391104" y="5185382"/>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TextBox 5">
            <a:extLst>
              <a:ext uri="{FF2B5EF4-FFF2-40B4-BE49-F238E27FC236}">
                <a16:creationId xmlns:a16="http://schemas.microsoft.com/office/drawing/2014/main" id="{E7459E41-282D-67E4-6F5F-ACEBF5B6FCF1}"/>
              </a:ext>
            </a:extLst>
          </p:cNvPr>
          <p:cNvSpPr txBox="1"/>
          <p:nvPr/>
        </p:nvSpPr>
        <p:spPr>
          <a:xfrm>
            <a:off x="2939918" y="6294493"/>
            <a:ext cx="60977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000962"/>
                </a:solidFill>
                <a:effectLst/>
                <a:uLnTx/>
                <a:uFillTx/>
                <a:latin typeface="Arial"/>
                <a:ea typeface="+mn-ea"/>
                <a:cs typeface="+mn-cs"/>
              </a:rPr>
              <a:t>*</a:t>
            </a:r>
            <a:r>
              <a:rPr kumimoji="0" lang="en-US" sz="1200" b="0" i="0" u="none" strike="noStrike" kern="1200" cap="none" spc="0" normalizeH="0" baseline="0" noProof="0">
                <a:ln>
                  <a:noFill/>
                </a:ln>
                <a:solidFill>
                  <a:srgbClr val="000962"/>
                </a:solidFill>
                <a:effectLst/>
                <a:uLnTx/>
                <a:uFillTx/>
                <a:latin typeface="Arial"/>
                <a:ea typeface="+mn-ea"/>
                <a:cs typeface="+mn-cs"/>
              </a:rPr>
              <a:t>Results vary by client and policy factors.</a:t>
            </a:r>
          </a:p>
        </p:txBody>
      </p:sp>
      <p:pic>
        <p:nvPicPr>
          <p:cNvPr id="8" name="Picture 7">
            <a:extLst>
              <a:ext uri="{FF2B5EF4-FFF2-40B4-BE49-F238E27FC236}">
                <a16:creationId xmlns:a16="http://schemas.microsoft.com/office/drawing/2014/main" id="{29629121-012B-ECA0-9A6F-FD97DD1816D3}"/>
              </a:ext>
            </a:extLst>
          </p:cNvPr>
          <p:cNvPicPr>
            <a:picLocks noChangeAspect="1"/>
          </p:cNvPicPr>
          <p:nvPr/>
        </p:nvPicPr>
        <p:blipFill>
          <a:blip r:embed="rId4">
            <a:extLst>
              <a:ext uri="{28A0092B-C50C-407E-A947-70E740481C1C}">
                <a14:useLocalDpi xmlns:a14="http://schemas.microsoft.com/office/drawing/2010/main" val="0"/>
              </a:ext>
            </a:extLst>
          </a:blip>
          <a:srcRect l="9409" t="2345" r="15612"/>
          <a:stretch>
            <a:fillRect/>
          </a:stretch>
        </p:blipFill>
        <p:spPr>
          <a:xfrm>
            <a:off x="7086889" y="1825388"/>
            <a:ext cx="4638753" cy="4027850"/>
          </a:xfrm>
          <a:prstGeom prst="rect">
            <a:avLst/>
          </a:prstGeom>
        </p:spPr>
      </p:pic>
    </p:spTree>
    <p:extLst>
      <p:ext uri="{BB962C8B-B14F-4D97-AF65-F5344CB8AC3E}">
        <p14:creationId xmlns:p14="http://schemas.microsoft.com/office/powerpoint/2010/main" val="3562057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BAD80C-C231-99B1-1705-DE9FAE0DB89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D428A6-36E3-E29E-3971-0B1BE4FD3142}"/>
              </a:ext>
            </a:extLst>
          </p:cNvPr>
          <p:cNvSpPr>
            <a:spLocks/>
          </p:cNvSpPr>
          <p:nvPr/>
        </p:nvSpPr>
        <p:spPr>
          <a:xfrm>
            <a:off x="0" y="1937020"/>
            <a:ext cx="12192000" cy="2403392"/>
          </a:xfrm>
          <a:prstGeom prst="rect">
            <a:avLst/>
          </a:prstGeom>
          <a:solidFill>
            <a:schemeClr val="bg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endParaRPr lang="en-US" sz="1600" b="1">
              <a:solidFill>
                <a:srgbClr val="000962">
                  <a:lumMod val="90000"/>
                  <a:lumOff val="10000"/>
                </a:srgbClr>
              </a:solidFill>
            </a:endParaRPr>
          </a:p>
        </p:txBody>
      </p:sp>
      <p:sp>
        <p:nvSpPr>
          <p:cNvPr id="2" name="Title 1">
            <a:extLst>
              <a:ext uri="{FF2B5EF4-FFF2-40B4-BE49-F238E27FC236}">
                <a16:creationId xmlns:a16="http://schemas.microsoft.com/office/drawing/2014/main" id="{351C1D24-BECF-A424-4644-E9D9D433F50E}"/>
              </a:ext>
            </a:extLst>
          </p:cNvPr>
          <p:cNvSpPr>
            <a:spLocks noGrp="1"/>
          </p:cNvSpPr>
          <p:nvPr>
            <p:ph type="title"/>
          </p:nvPr>
        </p:nvSpPr>
        <p:spPr>
          <a:xfrm>
            <a:off x="457200" y="2390819"/>
            <a:ext cx="7810107" cy="1828193"/>
          </a:xfrm>
        </p:spPr>
        <p:txBody>
          <a:bodyPr wrap="square" lIns="0" tIns="0" rIns="0" bIns="0" anchor="t">
            <a:spAutoFit/>
          </a:bodyPr>
          <a:lstStyle/>
          <a:p>
            <a:r>
              <a:rPr lang="en-US" sz="4400" dirty="0" err="1">
                <a:latin typeface="Georgia"/>
              </a:rPr>
              <a:t>Estab</a:t>
            </a:r>
            <a:r>
              <a:rPr lang="en-US" sz="4400" dirty="0">
                <a:latin typeface="Georgia"/>
              </a:rPr>
              <a:t>: </a:t>
            </a:r>
            <a:br>
              <a:rPr lang="en-US" sz="4400" dirty="0"/>
            </a:br>
            <a:r>
              <a:rPr lang="en-US" sz="4400" dirty="0">
                <a:latin typeface="Georgia"/>
              </a:rPr>
              <a:t>What’s important week of </a:t>
            </a:r>
            <a:br>
              <a:rPr lang="en-US" sz="4400" dirty="0">
                <a:latin typeface="Georgia"/>
              </a:rPr>
            </a:br>
            <a:r>
              <a:rPr lang="en-US" sz="4400" dirty="0">
                <a:latin typeface="Georgia"/>
              </a:rPr>
              <a:t>August 17</a:t>
            </a:r>
            <a:endParaRPr lang="en-US" sz="4400" dirty="0"/>
          </a:p>
        </p:txBody>
      </p:sp>
    </p:spTree>
    <p:custDataLst>
      <p:tags r:id="rId1"/>
    </p:custDataLst>
    <p:extLst>
      <p:ext uri="{BB962C8B-B14F-4D97-AF65-F5344CB8AC3E}">
        <p14:creationId xmlns:p14="http://schemas.microsoft.com/office/powerpoint/2010/main" val="4117038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A3E10F-D3D1-3CB2-BB50-13A6D86CC14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1F197A6-0236-9ADA-CA12-18F26A1BE13E}"/>
              </a:ext>
            </a:extLst>
          </p:cNvPr>
          <p:cNvSpPr/>
          <p:nvPr/>
        </p:nvSpPr>
        <p:spPr bwMode="ltGray">
          <a:xfrm>
            <a:off x="0" y="1449275"/>
            <a:ext cx="12192000" cy="4565815"/>
          </a:xfrm>
          <a:prstGeom prst="rect">
            <a:avLst/>
          </a:prstGeom>
          <a:solidFill>
            <a:schemeClr val="bg1">
              <a:alpha val="50000"/>
            </a:schemeClr>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2" name="Title 1">
            <a:extLst>
              <a:ext uri="{FF2B5EF4-FFF2-40B4-BE49-F238E27FC236}">
                <a16:creationId xmlns:a16="http://schemas.microsoft.com/office/drawing/2014/main" id="{1BD64EE3-119D-01B4-A58F-EBAFA36019A5}"/>
              </a:ext>
            </a:extLst>
          </p:cNvPr>
          <p:cNvSpPr>
            <a:spLocks noGrp="1"/>
          </p:cNvSpPr>
          <p:nvPr>
            <p:ph type="title"/>
          </p:nvPr>
        </p:nvSpPr>
        <p:spPr/>
        <p:txBody>
          <a:bodyPr/>
          <a:lstStyle/>
          <a:p>
            <a:r>
              <a:rPr lang="en-US"/>
              <a:t>President’s Council Beachfront Boutique Experience</a:t>
            </a:r>
          </a:p>
        </p:txBody>
      </p:sp>
      <p:sp>
        <p:nvSpPr>
          <p:cNvPr id="3" name="Content Placeholder 2">
            <a:extLst>
              <a:ext uri="{FF2B5EF4-FFF2-40B4-BE49-F238E27FC236}">
                <a16:creationId xmlns:a16="http://schemas.microsoft.com/office/drawing/2014/main" id="{A891E303-D67B-C00E-95AD-933AC9F890D4}"/>
              </a:ext>
            </a:extLst>
          </p:cNvPr>
          <p:cNvSpPr>
            <a:spLocks noGrp="1"/>
          </p:cNvSpPr>
          <p:nvPr>
            <p:ph idx="1"/>
          </p:nvPr>
        </p:nvSpPr>
        <p:spPr>
          <a:xfrm>
            <a:off x="1330231" y="2784075"/>
            <a:ext cx="5656217" cy="2003453"/>
          </a:xfrm>
        </p:spPr>
        <p:txBody>
          <a:bodyPr/>
          <a:lstStyle/>
          <a:p>
            <a:pPr marL="0" indent="0">
              <a:lnSpc>
                <a:spcPct val="100000"/>
              </a:lnSpc>
              <a:spcBef>
                <a:spcPts val="0"/>
              </a:spcBef>
              <a:spcAft>
                <a:spcPts val="600"/>
              </a:spcAft>
              <a:buNone/>
            </a:pPr>
            <a:r>
              <a:rPr lang="en-US" b="1"/>
              <a:t>To qualify:</a:t>
            </a:r>
          </a:p>
          <a:p>
            <a:pPr>
              <a:lnSpc>
                <a:spcPct val="100000"/>
              </a:lnSpc>
              <a:spcBef>
                <a:spcPts val="0"/>
              </a:spcBef>
              <a:spcAft>
                <a:spcPts val="600"/>
              </a:spcAft>
            </a:pPr>
            <a:r>
              <a:rPr lang="en-US"/>
              <a:t>Qualification period: July 1 – September 30</a:t>
            </a:r>
          </a:p>
          <a:p>
            <a:pPr>
              <a:lnSpc>
                <a:spcPct val="100000"/>
              </a:lnSpc>
              <a:spcBef>
                <a:spcPts val="0"/>
              </a:spcBef>
              <a:spcAft>
                <a:spcPts val="600"/>
              </a:spcAft>
            </a:pPr>
            <a:r>
              <a:rPr lang="en-US"/>
              <a:t>2026 President’s Council qualifiers</a:t>
            </a:r>
          </a:p>
          <a:p>
            <a:pPr>
              <a:lnSpc>
                <a:spcPct val="100000"/>
              </a:lnSpc>
              <a:spcBef>
                <a:spcPts val="0"/>
              </a:spcBef>
              <a:spcAft>
                <a:spcPts val="600"/>
              </a:spcAft>
            </a:pPr>
            <a:r>
              <a:rPr lang="en-US" err="1"/>
              <a:t>Prorata</a:t>
            </a:r>
            <a:r>
              <a:rPr lang="en-US"/>
              <a:t> proactive by September 30</a:t>
            </a:r>
          </a:p>
          <a:p>
            <a:pPr>
              <a:lnSpc>
                <a:spcPct val="100000"/>
              </a:lnSpc>
              <a:spcBef>
                <a:spcPts val="0"/>
              </a:spcBef>
              <a:spcAft>
                <a:spcPts val="600"/>
              </a:spcAft>
            </a:pPr>
            <a:r>
              <a:rPr lang="en-US"/>
              <a:t>Must attend President’s Council</a:t>
            </a:r>
          </a:p>
        </p:txBody>
      </p:sp>
      <p:sp>
        <p:nvSpPr>
          <p:cNvPr id="4" name="Text Placeholder 3">
            <a:extLst>
              <a:ext uri="{FF2B5EF4-FFF2-40B4-BE49-F238E27FC236}">
                <a16:creationId xmlns:a16="http://schemas.microsoft.com/office/drawing/2014/main" id="{076DD2D6-579D-5E6D-1208-C8EA1C641A43}"/>
              </a:ext>
            </a:extLst>
          </p:cNvPr>
          <p:cNvSpPr>
            <a:spLocks noGrp="1"/>
          </p:cNvSpPr>
          <p:nvPr>
            <p:ph type="body" sz="quarter" idx="12"/>
          </p:nvPr>
        </p:nvSpPr>
        <p:spPr>
          <a:xfrm>
            <a:off x="439946" y="953242"/>
            <a:ext cx="11294854" cy="496033"/>
          </a:xfrm>
        </p:spPr>
        <p:txBody>
          <a:bodyPr/>
          <a:lstStyle/>
          <a:p>
            <a:r>
              <a:rPr lang="en-US" sz="2200"/>
              <a:t>An exclusive shopping experience for top performers</a:t>
            </a:r>
          </a:p>
        </p:txBody>
      </p:sp>
      <p:sp>
        <p:nvSpPr>
          <p:cNvPr id="5" name="Rectangle: Rounded Corners 4">
            <a:extLst>
              <a:ext uri="{FF2B5EF4-FFF2-40B4-BE49-F238E27FC236}">
                <a16:creationId xmlns:a16="http://schemas.microsoft.com/office/drawing/2014/main" id="{E028F65A-5562-8725-7BFB-95E2421A3116}"/>
              </a:ext>
            </a:extLst>
          </p:cNvPr>
          <p:cNvSpPr/>
          <p:nvPr/>
        </p:nvSpPr>
        <p:spPr>
          <a:xfrm>
            <a:off x="421040" y="1581641"/>
            <a:ext cx="11349918" cy="1033453"/>
          </a:xfrm>
          <a:prstGeom prst="roundRect">
            <a:avLst/>
          </a:prstGeom>
          <a:solidFill>
            <a:srgbClr val="046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eorgia" panose="02040502050405020303"/>
              <a:ea typeface="+mn-ea"/>
              <a:cs typeface="+mn-cs"/>
            </a:endParaRPr>
          </a:p>
        </p:txBody>
      </p:sp>
      <p:sp>
        <p:nvSpPr>
          <p:cNvPr id="11" name="TextBox 10">
            <a:extLst>
              <a:ext uri="{FF2B5EF4-FFF2-40B4-BE49-F238E27FC236}">
                <a16:creationId xmlns:a16="http://schemas.microsoft.com/office/drawing/2014/main" id="{2C93F745-C8ED-99A8-772E-E58F7191F666}"/>
              </a:ext>
            </a:extLst>
          </p:cNvPr>
          <p:cNvSpPr txBox="1"/>
          <p:nvPr/>
        </p:nvSpPr>
        <p:spPr>
          <a:xfrm>
            <a:off x="1330231" y="1596691"/>
            <a:ext cx="10186855" cy="1003352"/>
          </a:xfrm>
          <a:prstGeom prst="rect">
            <a:avLst/>
          </a:prstGeom>
          <a:noFill/>
        </p:spPr>
        <p:txBody>
          <a:bodyPr wrap="square" lIns="0" tIns="91440" rIns="274320" bIns="91440" anchor="ctr" anchorCtr="0">
            <a:spAutoFit/>
          </a:bodyPr>
          <a:lstStyle/>
          <a:p>
            <a:pPr marL="0" marR="0" lvl="0" indent="0" algn="l" defTabSz="914400" rtl="0" eaLnBrk="1" fontAlgn="auto" latinLnBrk="0" hangingPunct="1">
              <a:lnSpc>
                <a:spcPct val="114000"/>
              </a:lnSpc>
              <a:spcBef>
                <a:spcPts val="0"/>
              </a:spcBef>
              <a:spcAft>
                <a:spcPts val="0"/>
              </a:spcAft>
              <a:buClrTx/>
              <a:buSzTx/>
              <a:buFontTx/>
              <a:buNone/>
              <a:tabLst>
                <a:tab pos="3090863" algn="l"/>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Finish top 100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 the 3Q Paid Insurance Solution premium</a:t>
            </a:r>
            <a:r>
              <a:rPr kumimoji="0" lang="en-US" sz="16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1</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leaderboard and receive a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retail credit</a:t>
            </a:r>
            <a:r>
              <a:rPr kumimoji="0" lang="en-US" sz="1600" b="0" i="0" u="none" strike="noStrike" kern="1200" cap="none" spc="0" normalizeH="0" baseline="30000" noProof="0">
                <a:ln>
                  <a:noFill/>
                </a:ln>
                <a:solidFill>
                  <a:srgbClr val="FFFFFF"/>
                </a:solidFill>
                <a:effectLst/>
                <a:uLnTx/>
                <a:uFillTx/>
                <a:latin typeface="Arial" panose="020B0604020202020204" pitchFamily="34" charset="0"/>
                <a:ea typeface="+mn-ea"/>
                <a:cs typeface="Arial" panose="020B0604020202020204" pitchFamily="34" charset="0"/>
              </a:rPr>
              <a:t>2</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the private shopping event, October 6–7.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Finish in the top 10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and enjoy a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premium Balinese-inspired beach hut rental </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 </a:t>
            </a: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October 7</a:t>
            </a:r>
            <a:r>
              <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t>
            </a:r>
          </a:p>
        </p:txBody>
      </p:sp>
      <p:pic>
        <p:nvPicPr>
          <p:cNvPr id="12" name="Picture 11">
            <a:extLst>
              <a:ext uri="{FF2B5EF4-FFF2-40B4-BE49-F238E27FC236}">
                <a16:creationId xmlns:a16="http://schemas.microsoft.com/office/drawing/2014/main" id="{DE09C4B4-56FC-0EB6-B87A-FA913894A4D0}"/>
              </a:ext>
            </a:extLst>
          </p:cNvPr>
          <p:cNvPicPr>
            <a:picLocks noChangeAspect="1"/>
          </p:cNvPicPr>
          <p:nvPr/>
        </p:nvPicPr>
        <p:blipFill>
          <a:blip r:embed="rId3"/>
          <a:srcRect l="9355" t="323" r="8858" b="1"/>
          <a:stretch>
            <a:fillRect/>
          </a:stretch>
        </p:blipFill>
        <p:spPr>
          <a:xfrm>
            <a:off x="7837714" y="2738397"/>
            <a:ext cx="3894034" cy="3163861"/>
          </a:xfrm>
          <a:prstGeom prst="rect">
            <a:avLst/>
          </a:prstGeom>
        </p:spPr>
      </p:pic>
      <p:sp>
        <p:nvSpPr>
          <p:cNvPr id="13" name="Rectangle 12">
            <a:extLst>
              <a:ext uri="{FF2B5EF4-FFF2-40B4-BE49-F238E27FC236}">
                <a16:creationId xmlns:a16="http://schemas.microsoft.com/office/drawing/2014/main" id="{E2BF4D61-8A5F-47DD-4C46-62FE0A3F542B}"/>
              </a:ext>
            </a:extLst>
          </p:cNvPr>
          <p:cNvSpPr/>
          <p:nvPr/>
        </p:nvSpPr>
        <p:spPr bwMode="ltGray">
          <a:xfrm>
            <a:off x="1330231" y="4802579"/>
            <a:ext cx="5298819" cy="1099679"/>
          </a:xfrm>
          <a:prstGeom prst="rect">
            <a:avLst/>
          </a:prstGeom>
          <a:solidFill>
            <a:schemeClr val="accent3"/>
          </a:solidFill>
          <a:ln w="12700" cap="flat" cmpd="sng" algn="ctr">
            <a:noFill/>
            <a:prstDash val="solid"/>
            <a:round/>
            <a:headEnd type="none" w="sm" len="sm"/>
            <a:tailEnd type="none" w="sm" len="sm"/>
          </a:ln>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Geneva" pitchFamily="-109" charset="-128"/>
              <a:cs typeface="+mn-cs"/>
            </a:endParaRPr>
          </a:p>
        </p:txBody>
      </p:sp>
      <p:sp>
        <p:nvSpPr>
          <p:cNvPr id="15" name="TextBox 14">
            <a:extLst>
              <a:ext uri="{FF2B5EF4-FFF2-40B4-BE49-F238E27FC236}">
                <a16:creationId xmlns:a16="http://schemas.microsoft.com/office/drawing/2014/main" id="{FFA9E47F-648C-364C-405B-FE966AA84D11}"/>
              </a:ext>
            </a:extLst>
          </p:cNvPr>
          <p:cNvSpPr txBox="1"/>
          <p:nvPr/>
        </p:nvSpPr>
        <p:spPr>
          <a:xfrm>
            <a:off x="1674590" y="4991585"/>
            <a:ext cx="3610153"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965"/>
                </a:solidFill>
                <a:effectLst/>
                <a:uLnTx/>
                <a:uFillTx/>
                <a:latin typeface="Arial"/>
                <a:ea typeface="+mn-ea"/>
                <a:cs typeface="+mn-cs"/>
              </a:rPr>
              <a:t>Scan the QR code for complete rules, requirements, qualifying products, and official incentive details.</a:t>
            </a:r>
            <a:endParaRPr kumimoji="0" lang="en-US" sz="1600" b="0" i="0" u="none" strike="noStrike" kern="1200" cap="none" spc="0" normalizeH="0" baseline="0" noProof="0">
              <a:ln>
                <a:noFill/>
              </a:ln>
              <a:solidFill>
                <a:srgbClr val="7FB9FF"/>
              </a:solidFill>
              <a:effectLst/>
              <a:uLnTx/>
              <a:uFillTx/>
              <a:latin typeface="Arial"/>
              <a:ea typeface="+mn-ea"/>
              <a:cs typeface="+mn-cs"/>
            </a:endParaRPr>
          </a:p>
        </p:txBody>
      </p:sp>
      <p:pic>
        <p:nvPicPr>
          <p:cNvPr id="16" name="Picture 15">
            <a:extLst>
              <a:ext uri="{FF2B5EF4-FFF2-40B4-BE49-F238E27FC236}">
                <a16:creationId xmlns:a16="http://schemas.microsoft.com/office/drawing/2014/main" id="{6B953CE5-AEC0-FB93-A3E0-24592B94A3BC}"/>
              </a:ext>
            </a:extLst>
          </p:cNvPr>
          <p:cNvPicPr>
            <a:picLocks noChangeAspect="1"/>
          </p:cNvPicPr>
          <p:nvPr/>
        </p:nvPicPr>
        <p:blipFill>
          <a:blip r:embed="rId4"/>
          <a:srcRect/>
          <a:stretch/>
        </p:blipFill>
        <p:spPr>
          <a:xfrm>
            <a:off x="6093625" y="4802580"/>
            <a:ext cx="1099678" cy="1099678"/>
          </a:xfrm>
          <a:prstGeom prst="rect">
            <a:avLst/>
          </a:prstGeom>
        </p:spPr>
      </p:pic>
      <p:sp>
        <p:nvSpPr>
          <p:cNvPr id="18" name="Star: 24 Points 17">
            <a:extLst>
              <a:ext uri="{FF2B5EF4-FFF2-40B4-BE49-F238E27FC236}">
                <a16:creationId xmlns:a16="http://schemas.microsoft.com/office/drawing/2014/main" id="{AEF369C4-5E28-F038-D310-4AFB278063DF}"/>
              </a:ext>
            </a:extLst>
          </p:cNvPr>
          <p:cNvSpPr/>
          <p:nvPr/>
        </p:nvSpPr>
        <p:spPr>
          <a:xfrm>
            <a:off x="10420457" y="73667"/>
            <a:ext cx="1311291" cy="1311291"/>
          </a:xfrm>
          <a:prstGeom prst="star24">
            <a:avLst>
              <a:gd name="adj" fmla="val 41346"/>
            </a:avLst>
          </a:prstGeom>
          <a:solidFill>
            <a:srgbClr val="4D17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TextBox 18">
            <a:extLst>
              <a:ext uri="{FF2B5EF4-FFF2-40B4-BE49-F238E27FC236}">
                <a16:creationId xmlns:a16="http://schemas.microsoft.com/office/drawing/2014/main" id="{E01CB278-A765-CF56-D758-5AC16F075F65}"/>
              </a:ext>
            </a:extLst>
          </p:cNvPr>
          <p:cNvSpPr txBox="1"/>
          <p:nvPr/>
        </p:nvSpPr>
        <p:spPr>
          <a:xfrm>
            <a:off x="10481742" y="455401"/>
            <a:ext cx="1188720" cy="553998"/>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Arial"/>
                <a:ea typeface="+mn-ea"/>
                <a:cs typeface="+mn-cs"/>
              </a:rPr>
              <a:t>Council Perks!</a:t>
            </a:r>
          </a:p>
        </p:txBody>
      </p:sp>
      <p:pic>
        <p:nvPicPr>
          <p:cNvPr id="21" name="Picture 20">
            <a:extLst>
              <a:ext uri="{FF2B5EF4-FFF2-40B4-BE49-F238E27FC236}">
                <a16:creationId xmlns:a16="http://schemas.microsoft.com/office/drawing/2014/main" id="{0A8DAA0E-7E64-4442-F6D9-8A44B0F7348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601" y="1783671"/>
            <a:ext cx="597183" cy="597183"/>
          </a:xfrm>
          <a:prstGeom prst="rect">
            <a:avLst/>
          </a:prstGeom>
        </p:spPr>
      </p:pic>
      <p:sp>
        <p:nvSpPr>
          <p:cNvPr id="22" name="Isosceles Triangle 21">
            <a:extLst>
              <a:ext uri="{FF2B5EF4-FFF2-40B4-BE49-F238E27FC236}">
                <a16:creationId xmlns:a16="http://schemas.microsoft.com/office/drawing/2014/main" id="{2C35E674-FE6F-707C-668E-1CE5B5F15539}"/>
              </a:ext>
            </a:extLst>
          </p:cNvPr>
          <p:cNvSpPr/>
          <p:nvPr/>
        </p:nvSpPr>
        <p:spPr bwMode="ltGray">
          <a:xfrm rot="5400000">
            <a:off x="5533732" y="5241754"/>
            <a:ext cx="285220" cy="236032"/>
          </a:xfrm>
          <a:prstGeom prst="triangle">
            <a:avLst/>
          </a:prstGeom>
          <a:solidFill>
            <a:schemeClr val="tx1"/>
          </a:solidFill>
          <a:ln w="12700" cap="flat" cmpd="sng" algn="ctr">
            <a:noFill/>
            <a:prstDash val="solid"/>
            <a:round/>
            <a:headEnd type="none" w="sm" len="sm"/>
            <a:tailEnd type="none" w="sm" len="sm"/>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965"/>
              </a:solidFill>
              <a:effectLst/>
              <a:uLnTx/>
              <a:uFillTx/>
              <a:latin typeface="Arial"/>
              <a:ea typeface="+mn-ea"/>
              <a:cs typeface="+mn-cs"/>
            </a:endParaRPr>
          </a:p>
        </p:txBody>
      </p:sp>
      <p:sp>
        <p:nvSpPr>
          <p:cNvPr id="6" name="TextBox 5">
            <a:extLst>
              <a:ext uri="{FF2B5EF4-FFF2-40B4-BE49-F238E27FC236}">
                <a16:creationId xmlns:a16="http://schemas.microsoft.com/office/drawing/2014/main" id="{647CC8A0-1D1E-EDCC-01B5-C8DC70737E40}"/>
              </a:ext>
            </a:extLst>
          </p:cNvPr>
          <p:cNvSpPr txBox="1"/>
          <p:nvPr/>
        </p:nvSpPr>
        <p:spPr>
          <a:xfrm>
            <a:off x="1920130" y="6162299"/>
            <a:ext cx="8268899" cy="487313"/>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200"/>
              </a:spcAft>
              <a:buClrTx/>
              <a:buSzTx/>
              <a:buFontTx/>
              <a:buNone/>
              <a:tabLst>
                <a:tab pos="119063" algn="l"/>
              </a:tabLst>
              <a:defRPr/>
            </a:pPr>
            <a:r>
              <a:rPr kumimoji="0" lang="en-US" sz="1000" b="0" i="0" u="none" strike="noStrike" kern="1200" cap="none" spc="0" normalizeH="0" baseline="30000" noProof="0">
                <a:ln>
                  <a:noFill/>
                </a:ln>
                <a:solidFill>
                  <a:srgbClr val="000962"/>
                </a:solidFill>
                <a:effectLst/>
                <a:uLnTx/>
                <a:uFillTx/>
                <a:latin typeface="Arial"/>
                <a:ea typeface="+mn-ea"/>
                <a:cs typeface="+mn-cs"/>
              </a:rPr>
              <a:t>1</a:t>
            </a:r>
            <a:r>
              <a:rPr kumimoji="0" lang="en-US" sz="1000" b="0" i="0" u="none" strike="noStrike" kern="1200" cap="none" spc="0" normalizeH="0" baseline="0" noProof="0">
                <a:ln>
                  <a:noFill/>
                </a:ln>
                <a:solidFill>
                  <a:srgbClr val="000962"/>
                </a:solidFill>
                <a:effectLst/>
                <a:uLnTx/>
                <a:uFillTx/>
                <a:latin typeface="Arial"/>
                <a:ea typeface="+mn-ea"/>
                <a:cs typeface="+mn-cs"/>
              </a:rPr>
              <a:t>	Includes Life, </a:t>
            </a:r>
            <a:r>
              <a:rPr kumimoji="0" lang="en-US" sz="1000" b="0" i="0" u="none" strike="noStrike" kern="1200" cap="none" spc="0" normalizeH="0" baseline="0" noProof="0" err="1">
                <a:ln>
                  <a:noFill/>
                </a:ln>
                <a:solidFill>
                  <a:srgbClr val="000962"/>
                </a:solidFill>
                <a:effectLst/>
                <a:uLnTx/>
                <a:uFillTx/>
                <a:latin typeface="Arial"/>
                <a:ea typeface="+mn-ea"/>
                <a:cs typeface="+mn-cs"/>
              </a:rPr>
              <a:t>LTCi</a:t>
            </a:r>
            <a:r>
              <a:rPr kumimoji="0" lang="en-US" sz="1000" b="0" i="0" u="none" strike="noStrike" kern="1200" cap="none" spc="0" normalizeH="0" baseline="0" noProof="0">
                <a:ln>
                  <a:noFill/>
                </a:ln>
                <a:solidFill>
                  <a:srgbClr val="000962"/>
                </a:solidFill>
                <a:effectLst/>
                <a:uLnTx/>
                <a:uFillTx/>
                <a:latin typeface="Arial"/>
                <a:ea typeface="+mn-ea"/>
                <a:cs typeface="+mn-cs"/>
              </a:rPr>
              <a:t>, and DI. Recurring base premium and riders are calculated at 100%; OPP and single premium policies are calculated at 10%. </a:t>
            </a:r>
            <a:br>
              <a:rPr kumimoji="0" lang="en-US" sz="1000" b="0" i="0" u="none" strike="noStrike" kern="1200" cap="none" spc="0" normalizeH="0" baseline="0" noProof="0">
                <a:ln>
                  <a:noFill/>
                </a:ln>
                <a:solidFill>
                  <a:srgbClr val="000962"/>
                </a:solidFill>
                <a:effectLst/>
                <a:uLnTx/>
                <a:uFillTx/>
                <a:latin typeface="Arial"/>
                <a:ea typeface="+mn-ea"/>
                <a:cs typeface="+mn-cs"/>
              </a:rPr>
            </a:br>
            <a:r>
              <a:rPr kumimoji="0" lang="en-US" sz="1000" b="0" i="0" u="none" strike="noStrike" kern="1200" cap="none" spc="0" normalizeH="0" baseline="0" noProof="0">
                <a:ln>
                  <a:noFill/>
                </a:ln>
                <a:solidFill>
                  <a:srgbClr val="000962"/>
                </a:solidFill>
                <a:effectLst/>
                <a:uLnTx/>
                <a:uFillTx/>
                <a:latin typeface="Arial"/>
                <a:ea typeface="+mn-ea"/>
                <a:cs typeface="+mn-cs"/>
              </a:rPr>
              <a:t>	Excludes premium from Annuity and COLI/BOLI products, DIOP and Group Insurance cases and LTC in DE state.</a:t>
            </a:r>
          </a:p>
          <a:p>
            <a:pPr marL="0" marR="0" lvl="0" indent="0" algn="l" defTabSz="914400" rtl="0" eaLnBrk="1" fontAlgn="auto" latinLnBrk="0" hangingPunct="1">
              <a:lnSpc>
                <a:spcPct val="100000"/>
              </a:lnSpc>
              <a:spcBef>
                <a:spcPts val="0"/>
              </a:spcBef>
              <a:spcAft>
                <a:spcPts val="200"/>
              </a:spcAft>
              <a:buClrTx/>
              <a:buSzTx/>
              <a:buFontTx/>
              <a:buNone/>
              <a:tabLst>
                <a:tab pos="119063" algn="l"/>
              </a:tabLst>
              <a:defRPr/>
            </a:pPr>
            <a:r>
              <a:rPr kumimoji="0" lang="en-US" sz="1000" b="0" i="0" u="none" strike="noStrike" kern="1200" cap="none" spc="0" normalizeH="0" baseline="30000" noProof="0">
                <a:ln>
                  <a:noFill/>
                </a:ln>
                <a:solidFill>
                  <a:srgbClr val="000962"/>
                </a:solidFill>
                <a:effectLst/>
                <a:uLnTx/>
                <a:uFillTx/>
                <a:latin typeface="Arial"/>
                <a:ea typeface="+mn-ea"/>
                <a:cs typeface="+mn-cs"/>
              </a:rPr>
              <a:t>2</a:t>
            </a:r>
            <a:r>
              <a:rPr kumimoji="0" lang="en-US" sz="1000" b="0" i="0" u="none" strike="noStrike" kern="1200" cap="none" spc="0" normalizeH="0" baseline="0" noProof="0">
                <a:ln>
                  <a:noFill/>
                </a:ln>
                <a:solidFill>
                  <a:srgbClr val="000962"/>
                </a:solidFill>
                <a:effectLst/>
                <a:uLnTx/>
                <a:uFillTx/>
                <a:latin typeface="Arial"/>
                <a:ea typeface="+mn-ea"/>
                <a:cs typeface="+mn-cs"/>
              </a:rPr>
              <a:t> $300 retail credit</a:t>
            </a:r>
          </a:p>
        </p:txBody>
      </p:sp>
    </p:spTree>
    <p:extLst>
      <p:ext uri="{BB962C8B-B14F-4D97-AF65-F5344CB8AC3E}">
        <p14:creationId xmlns:p14="http://schemas.microsoft.com/office/powerpoint/2010/main" val="934531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pic>
        <p:nvPicPr>
          <p:cNvPr id="3" name="Image 0" descr="preencoded.png"/>
          <p:cNvPicPr>
            <a:picLocks noChangeAspect="1"/>
          </p:cNvPicPr>
          <p:nvPr/>
        </p:nvPicPr>
        <p:blipFill>
          <a:blip r:embed="rId3"/>
          <a:stretch>
            <a:fillRect/>
          </a:stretch>
        </p:blipFill>
        <p:spPr>
          <a:xfrm>
            <a:off x="731520" y="609600"/>
            <a:ext cx="548640" cy="548640"/>
          </a:xfrm>
          <a:prstGeom prst="rect">
            <a:avLst/>
          </a:prstGeom>
        </p:spPr>
      </p:pic>
      <p:pic>
        <p:nvPicPr>
          <p:cNvPr id="4" name="Image 1" descr="preencoded.png"/>
          <p:cNvPicPr>
            <a:picLocks noChangeAspect="1"/>
          </p:cNvPicPr>
          <p:nvPr/>
        </p:nvPicPr>
        <p:blipFill>
          <a:blip r:embed="rId4"/>
          <a:stretch>
            <a:fillRect/>
          </a:stretch>
        </p:blipFill>
        <p:spPr>
          <a:xfrm>
            <a:off x="1402080" y="609600"/>
            <a:ext cx="548640" cy="548640"/>
          </a:xfrm>
          <a:prstGeom prst="rect">
            <a:avLst/>
          </a:prstGeom>
        </p:spPr>
      </p:pic>
      <p:pic>
        <p:nvPicPr>
          <p:cNvPr id="5" name="Image 2" descr="preencoded.png"/>
          <p:cNvPicPr>
            <a:picLocks noChangeAspect="1"/>
          </p:cNvPicPr>
          <p:nvPr/>
        </p:nvPicPr>
        <p:blipFill>
          <a:blip r:embed="rId5"/>
          <a:stretch>
            <a:fillRect/>
          </a:stretch>
        </p:blipFill>
        <p:spPr>
          <a:xfrm>
            <a:off x="2072640" y="609600"/>
            <a:ext cx="548640" cy="548640"/>
          </a:xfrm>
          <a:prstGeom prst="rect">
            <a:avLst/>
          </a:prstGeom>
        </p:spPr>
      </p:pic>
      <p:sp>
        <p:nvSpPr>
          <p:cNvPr id="6" name="Text 1"/>
          <p:cNvSpPr/>
          <p:nvPr/>
        </p:nvSpPr>
        <p:spPr>
          <a:xfrm>
            <a:off x="731520" y="1706880"/>
            <a:ext cx="10728960" cy="1463040"/>
          </a:xfrm>
          <a:prstGeom prst="rect">
            <a:avLst/>
          </a:prstGeom>
          <a:noFill/>
          <a:ln/>
        </p:spPr>
        <p:txBody>
          <a:bodyPr wrap="square" lIns="0" tIns="0" rIns="0" bIns="0" rtlCol="0" anchor="ctr"/>
          <a:lstStyle/>
          <a:p>
            <a:pPr defTabSz="1219170"/>
            <a:r>
              <a:rPr lang="en-US" sz="5867" b="1" dirty="0">
                <a:solidFill>
                  <a:srgbClr val="FFFFFF"/>
                </a:solidFill>
                <a:latin typeface="Arial Black" pitchFamily="34" charset="0"/>
                <a:ea typeface="Arial Black" pitchFamily="34" charset="-122"/>
                <a:cs typeface="Arial Black" pitchFamily="34" charset="-120"/>
              </a:rPr>
              <a:t>MONETARY INFLATION</a:t>
            </a:r>
            <a:endParaRPr lang="en-US" sz="5867" dirty="0">
              <a:solidFill>
                <a:prstClr val="black"/>
              </a:solidFill>
              <a:latin typeface="Calibri" panose="020F0502020204030204"/>
            </a:endParaRPr>
          </a:p>
        </p:txBody>
      </p:sp>
      <p:sp>
        <p:nvSpPr>
          <p:cNvPr id="7" name="Text 2"/>
          <p:cNvSpPr/>
          <p:nvPr/>
        </p:nvSpPr>
        <p:spPr>
          <a:xfrm>
            <a:off x="731520" y="3108960"/>
            <a:ext cx="10728960" cy="853440"/>
          </a:xfrm>
          <a:prstGeom prst="rect">
            <a:avLst/>
          </a:prstGeom>
          <a:noFill/>
          <a:ln/>
        </p:spPr>
        <p:txBody>
          <a:bodyPr wrap="square" lIns="0" tIns="0" rIns="0" bIns="0" rtlCol="0" anchor="ctr"/>
          <a:lstStyle/>
          <a:p>
            <a:pPr defTabSz="1219170"/>
            <a:r>
              <a:rPr lang="en-US" sz="2933" dirty="0">
                <a:solidFill>
                  <a:srgbClr val="00D4AA"/>
                </a:solidFill>
                <a:latin typeface="Calibri" pitchFamily="34" charset="0"/>
                <a:ea typeface="Calibri" pitchFamily="34" charset="-122"/>
                <a:cs typeface="Calibri" pitchFamily="34" charset="-120"/>
              </a:rPr>
              <a:t>What Every Financial Advisor Must Know</a:t>
            </a:r>
            <a:endParaRPr lang="en-US" sz="2933" dirty="0">
              <a:solidFill>
                <a:prstClr val="black"/>
              </a:solidFill>
              <a:latin typeface="Calibri" panose="020F0502020204030204"/>
            </a:endParaRPr>
          </a:p>
        </p:txBody>
      </p:sp>
      <p:sp>
        <p:nvSpPr>
          <p:cNvPr id="8" name="Shape 3"/>
          <p:cNvSpPr/>
          <p:nvPr/>
        </p:nvSpPr>
        <p:spPr>
          <a:xfrm>
            <a:off x="731520" y="4084320"/>
            <a:ext cx="3048000" cy="48768"/>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9" name="Text 4"/>
          <p:cNvSpPr/>
          <p:nvPr/>
        </p:nvSpPr>
        <p:spPr>
          <a:xfrm>
            <a:off x="731520" y="4389120"/>
            <a:ext cx="10728960" cy="1219200"/>
          </a:xfrm>
          <a:prstGeom prst="rect">
            <a:avLst/>
          </a:prstGeom>
          <a:noFill/>
          <a:ln/>
        </p:spPr>
        <p:txBody>
          <a:bodyPr wrap="square" rtlCol="0" anchor="ctr"/>
          <a:lstStyle/>
          <a:p>
            <a:pPr defTabSz="1219170"/>
            <a:r>
              <a:rPr lang="en-US" sz="2133" dirty="0">
                <a:solidFill>
                  <a:srgbClr val="8B95A8"/>
                </a:solidFill>
                <a:latin typeface="Calibri" pitchFamily="34" charset="0"/>
                <a:ea typeface="Calibri" pitchFamily="34" charset="-122"/>
                <a:cs typeface="Calibri" pitchFamily="34" charset="-120"/>
              </a:rPr>
              <a:t>U.S. Monetary Policy &amp; Portfolio Strategy</a:t>
            </a:r>
            <a:endParaRPr lang="en-US" sz="2133" dirty="0">
              <a:solidFill>
                <a:prstClr val="black"/>
              </a:solidFill>
              <a:latin typeface="Calibri" panose="020F0502020204030204"/>
            </a:endParaRPr>
          </a:p>
          <a:p>
            <a:pPr defTabSz="1219170"/>
            <a:r>
              <a:rPr lang="en-US" sz="1867" dirty="0">
                <a:solidFill>
                  <a:srgbClr val="5A6478"/>
                </a:solidFill>
                <a:latin typeface="Calibri" pitchFamily="34" charset="0"/>
                <a:ea typeface="Calibri" pitchFamily="34" charset="-122"/>
                <a:cs typeface="Calibri" pitchFamily="34" charset="-120"/>
              </a:rPr>
              <a:t>45-Minute Advisor Training  |  2026</a:t>
            </a:r>
            <a:endParaRPr lang="en-US" sz="2133" dirty="0">
              <a:solidFill>
                <a:prstClr val="black"/>
              </a:solidFill>
              <a:latin typeface="Calibri" panose="020F0502020204030204"/>
            </a:endParaRPr>
          </a:p>
        </p:txBody>
      </p:sp>
      <p:sp>
        <p:nvSpPr>
          <p:cNvPr id="10" name="Shape 5"/>
          <p:cNvSpPr/>
          <p:nvPr/>
        </p:nvSpPr>
        <p:spPr>
          <a:xfrm>
            <a:off x="0" y="6784848"/>
            <a:ext cx="12192000" cy="73152"/>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731520" y="365760"/>
            <a:ext cx="10728960" cy="853440"/>
          </a:xfrm>
          <a:prstGeom prst="rect">
            <a:avLst/>
          </a:prstGeom>
          <a:noFill/>
          <a:ln/>
        </p:spPr>
        <p:txBody>
          <a:bodyPr wrap="square" lIns="0" tIns="0" rIns="0" bIns="0" rtlCol="0" anchor="ctr"/>
          <a:lstStyle/>
          <a:p>
            <a:pPr defTabSz="1219170"/>
            <a:r>
              <a:rPr lang="en-US" sz="4267" b="1" dirty="0">
                <a:solidFill>
                  <a:srgbClr val="FFFFFF"/>
                </a:solidFill>
                <a:latin typeface="Arial Black" pitchFamily="34" charset="0"/>
                <a:ea typeface="Arial Black" pitchFamily="34" charset="-122"/>
                <a:cs typeface="Arial Black" pitchFamily="34" charset="-120"/>
              </a:rPr>
              <a:t>TODAY'S PLAYBOOK</a:t>
            </a:r>
            <a:endParaRPr lang="en-US" sz="4267" dirty="0">
              <a:solidFill>
                <a:prstClr val="black"/>
              </a:solidFill>
              <a:latin typeface="Calibri" panose="020F0502020204030204"/>
            </a:endParaRPr>
          </a:p>
        </p:txBody>
      </p:sp>
      <p:sp>
        <p:nvSpPr>
          <p:cNvPr id="4" name="Text 2"/>
          <p:cNvSpPr/>
          <p:nvPr/>
        </p:nvSpPr>
        <p:spPr>
          <a:xfrm>
            <a:off x="731520" y="1463040"/>
            <a:ext cx="73152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01</a:t>
            </a:r>
            <a:endParaRPr lang="en-US" sz="2933" dirty="0">
              <a:solidFill>
                <a:prstClr val="black"/>
              </a:solidFill>
              <a:latin typeface="Calibri" panose="020F0502020204030204"/>
            </a:endParaRPr>
          </a:p>
        </p:txBody>
      </p:sp>
      <p:pic>
        <p:nvPicPr>
          <p:cNvPr id="5" name="Image 0" descr="preencoded.png"/>
          <p:cNvPicPr>
            <a:picLocks noChangeAspect="1"/>
          </p:cNvPicPr>
          <p:nvPr/>
        </p:nvPicPr>
        <p:blipFill>
          <a:blip r:embed="rId3"/>
          <a:stretch>
            <a:fillRect/>
          </a:stretch>
        </p:blipFill>
        <p:spPr>
          <a:xfrm>
            <a:off x="1463040" y="1524000"/>
            <a:ext cx="487680" cy="487680"/>
          </a:xfrm>
          <a:prstGeom prst="rect">
            <a:avLst/>
          </a:prstGeom>
        </p:spPr>
      </p:pic>
      <p:sp>
        <p:nvSpPr>
          <p:cNvPr id="6" name="Text 3"/>
          <p:cNvSpPr/>
          <p:nvPr/>
        </p:nvSpPr>
        <p:spPr>
          <a:xfrm>
            <a:off x="2133600" y="1463040"/>
            <a:ext cx="6705600" cy="670560"/>
          </a:xfrm>
          <a:prstGeom prst="rect">
            <a:avLst/>
          </a:prstGeom>
          <a:noFill/>
          <a:ln/>
        </p:spPr>
        <p:txBody>
          <a:bodyPr wrap="square" lIns="0" tIns="0" rIns="0" bIns="0" rtlCol="0" anchor="ctr"/>
          <a:lstStyle/>
          <a:p>
            <a:pPr defTabSz="1219170"/>
            <a:r>
              <a:rPr lang="en-US" sz="2000" b="1" dirty="0">
                <a:solidFill>
                  <a:srgbClr val="FFFFFF"/>
                </a:solidFill>
                <a:latin typeface="Calibri" pitchFamily="34" charset="0"/>
                <a:ea typeface="Calibri" pitchFamily="34" charset="-122"/>
                <a:cs typeface="Calibri" pitchFamily="34" charset="-120"/>
              </a:rPr>
              <a:t>What Is Monetary Inflation?</a:t>
            </a:r>
            <a:endParaRPr lang="en-US" sz="2000" dirty="0">
              <a:solidFill>
                <a:prstClr val="black"/>
              </a:solidFill>
              <a:latin typeface="Calibri" panose="020F0502020204030204"/>
            </a:endParaRPr>
          </a:p>
          <a:p>
            <a:pPr defTabSz="1219170"/>
            <a:r>
              <a:rPr lang="en-US" sz="1467" dirty="0">
                <a:solidFill>
                  <a:srgbClr val="5A6478"/>
                </a:solidFill>
                <a:latin typeface="Calibri" pitchFamily="34" charset="0"/>
                <a:ea typeface="Calibri" pitchFamily="34" charset="-122"/>
                <a:cs typeface="Calibri" pitchFamily="34" charset="-120"/>
              </a:rPr>
              <a:t>Definition, measurement, and the CPI reality check</a:t>
            </a:r>
            <a:endParaRPr lang="en-US" sz="2000" dirty="0">
              <a:solidFill>
                <a:prstClr val="black"/>
              </a:solidFill>
              <a:latin typeface="Calibri" panose="020F0502020204030204"/>
            </a:endParaRPr>
          </a:p>
        </p:txBody>
      </p:sp>
      <p:sp>
        <p:nvSpPr>
          <p:cNvPr id="7" name="Shape 4"/>
          <p:cNvSpPr/>
          <p:nvPr/>
        </p:nvSpPr>
        <p:spPr>
          <a:xfrm>
            <a:off x="9753600" y="1584960"/>
            <a:ext cx="1097280" cy="390144"/>
          </a:xfrm>
          <a:prstGeom prst="roundRect">
            <a:avLst>
              <a:gd name="adj" fmla="val 15625"/>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8" name="Text 5"/>
          <p:cNvSpPr/>
          <p:nvPr/>
        </p:nvSpPr>
        <p:spPr>
          <a:xfrm>
            <a:off x="9753600" y="1584960"/>
            <a:ext cx="1097280" cy="390144"/>
          </a:xfrm>
          <a:prstGeom prst="rect">
            <a:avLst/>
          </a:prstGeom>
          <a:noFill/>
          <a:ln/>
        </p:spPr>
        <p:txBody>
          <a:bodyPr wrap="square" lIns="0" tIns="0" rIns="0" bIns="0" rtlCol="0" anchor="ctr"/>
          <a:lstStyle/>
          <a:p>
            <a:pPr algn="ctr" defTabSz="1219170"/>
            <a:r>
              <a:rPr lang="en-US" sz="1333" dirty="0">
                <a:solidFill>
                  <a:srgbClr val="00D4AA"/>
                </a:solidFill>
                <a:latin typeface="Consolas" pitchFamily="34" charset="0"/>
                <a:ea typeface="Consolas" pitchFamily="34" charset="-122"/>
                <a:cs typeface="Consolas" pitchFamily="34" charset="-120"/>
              </a:rPr>
              <a:t>7 min</a:t>
            </a:r>
            <a:endParaRPr lang="en-US" sz="1333" dirty="0">
              <a:solidFill>
                <a:prstClr val="black"/>
              </a:solidFill>
              <a:latin typeface="Calibri" panose="020F0502020204030204"/>
            </a:endParaRPr>
          </a:p>
        </p:txBody>
      </p:sp>
      <p:sp>
        <p:nvSpPr>
          <p:cNvPr id="9" name="Text 6"/>
          <p:cNvSpPr/>
          <p:nvPr/>
        </p:nvSpPr>
        <p:spPr>
          <a:xfrm>
            <a:off x="731520" y="2316480"/>
            <a:ext cx="73152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02</a:t>
            </a:r>
            <a:endParaRPr lang="en-US" sz="2933" dirty="0">
              <a:solidFill>
                <a:prstClr val="black"/>
              </a:solidFill>
              <a:latin typeface="Calibri" panose="020F0502020204030204"/>
            </a:endParaRPr>
          </a:p>
        </p:txBody>
      </p:sp>
      <p:pic>
        <p:nvPicPr>
          <p:cNvPr id="10" name="Image 1" descr="preencoded.png"/>
          <p:cNvPicPr>
            <a:picLocks noChangeAspect="1"/>
          </p:cNvPicPr>
          <p:nvPr/>
        </p:nvPicPr>
        <p:blipFill>
          <a:blip r:embed="rId4"/>
          <a:stretch>
            <a:fillRect/>
          </a:stretch>
        </p:blipFill>
        <p:spPr>
          <a:xfrm>
            <a:off x="1463040" y="2377440"/>
            <a:ext cx="487680" cy="487680"/>
          </a:xfrm>
          <a:prstGeom prst="rect">
            <a:avLst/>
          </a:prstGeom>
        </p:spPr>
      </p:pic>
      <p:sp>
        <p:nvSpPr>
          <p:cNvPr id="11" name="Text 7"/>
          <p:cNvSpPr/>
          <p:nvPr/>
        </p:nvSpPr>
        <p:spPr>
          <a:xfrm>
            <a:off x="2133600" y="2316480"/>
            <a:ext cx="6705600" cy="670560"/>
          </a:xfrm>
          <a:prstGeom prst="rect">
            <a:avLst/>
          </a:prstGeom>
          <a:noFill/>
          <a:ln/>
        </p:spPr>
        <p:txBody>
          <a:bodyPr wrap="square" lIns="0" tIns="0" rIns="0" bIns="0" rtlCol="0" anchor="ctr"/>
          <a:lstStyle/>
          <a:p>
            <a:pPr defTabSz="1219170"/>
            <a:r>
              <a:rPr lang="en-US" sz="2000" b="1" dirty="0">
                <a:solidFill>
                  <a:srgbClr val="FFFFFF"/>
                </a:solidFill>
                <a:latin typeface="Calibri" pitchFamily="34" charset="0"/>
                <a:ea typeface="Calibri" pitchFamily="34" charset="-122"/>
                <a:cs typeface="Calibri" pitchFamily="34" charset="-120"/>
              </a:rPr>
              <a:t>What Causes Inflation?</a:t>
            </a:r>
            <a:endParaRPr lang="en-US" sz="2000" dirty="0">
              <a:solidFill>
                <a:prstClr val="black"/>
              </a:solidFill>
              <a:latin typeface="Calibri" panose="020F0502020204030204"/>
            </a:endParaRPr>
          </a:p>
          <a:p>
            <a:pPr defTabSz="1219170"/>
            <a:r>
              <a:rPr lang="en-US" sz="1467" dirty="0">
                <a:solidFill>
                  <a:srgbClr val="5A6478"/>
                </a:solidFill>
                <a:latin typeface="Calibri" pitchFamily="34" charset="0"/>
                <a:ea typeface="Calibri" pitchFamily="34" charset="-122"/>
                <a:cs typeface="Calibri" pitchFamily="34" charset="-120"/>
              </a:rPr>
              <a:t>The four engines, fiscal dominance, and the 1940s analog</a:t>
            </a:r>
            <a:endParaRPr lang="en-US" sz="2000" dirty="0">
              <a:solidFill>
                <a:prstClr val="black"/>
              </a:solidFill>
              <a:latin typeface="Calibri" panose="020F0502020204030204"/>
            </a:endParaRPr>
          </a:p>
        </p:txBody>
      </p:sp>
      <p:sp>
        <p:nvSpPr>
          <p:cNvPr id="12" name="Shape 8"/>
          <p:cNvSpPr/>
          <p:nvPr/>
        </p:nvSpPr>
        <p:spPr>
          <a:xfrm>
            <a:off x="9753600" y="2438400"/>
            <a:ext cx="1097280" cy="390144"/>
          </a:xfrm>
          <a:prstGeom prst="roundRect">
            <a:avLst>
              <a:gd name="adj" fmla="val 15625"/>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3" name="Text 9"/>
          <p:cNvSpPr/>
          <p:nvPr/>
        </p:nvSpPr>
        <p:spPr>
          <a:xfrm>
            <a:off x="9753600" y="2438400"/>
            <a:ext cx="1097280" cy="390144"/>
          </a:xfrm>
          <a:prstGeom prst="rect">
            <a:avLst/>
          </a:prstGeom>
          <a:noFill/>
          <a:ln/>
        </p:spPr>
        <p:txBody>
          <a:bodyPr wrap="square" lIns="0" tIns="0" rIns="0" bIns="0" rtlCol="0" anchor="ctr"/>
          <a:lstStyle/>
          <a:p>
            <a:pPr algn="ctr" defTabSz="1219170"/>
            <a:r>
              <a:rPr lang="en-US" sz="1333" dirty="0">
                <a:solidFill>
                  <a:srgbClr val="00D4AA"/>
                </a:solidFill>
                <a:latin typeface="Consolas" pitchFamily="34" charset="0"/>
                <a:ea typeface="Consolas" pitchFamily="34" charset="-122"/>
                <a:cs typeface="Consolas" pitchFamily="34" charset="-120"/>
              </a:rPr>
              <a:t>15 min</a:t>
            </a:r>
            <a:endParaRPr lang="en-US" sz="1333" dirty="0">
              <a:solidFill>
                <a:prstClr val="black"/>
              </a:solidFill>
              <a:latin typeface="Calibri" panose="020F0502020204030204"/>
            </a:endParaRPr>
          </a:p>
        </p:txBody>
      </p:sp>
      <p:sp>
        <p:nvSpPr>
          <p:cNvPr id="14" name="Text 10"/>
          <p:cNvSpPr/>
          <p:nvPr/>
        </p:nvSpPr>
        <p:spPr>
          <a:xfrm>
            <a:off x="731520" y="3169920"/>
            <a:ext cx="73152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03</a:t>
            </a:r>
            <a:endParaRPr lang="en-US" sz="2933" dirty="0">
              <a:solidFill>
                <a:prstClr val="black"/>
              </a:solidFill>
              <a:latin typeface="Calibri" panose="020F0502020204030204"/>
            </a:endParaRPr>
          </a:p>
        </p:txBody>
      </p:sp>
      <p:pic>
        <p:nvPicPr>
          <p:cNvPr id="15" name="Image 2" descr="preencoded.png"/>
          <p:cNvPicPr>
            <a:picLocks noChangeAspect="1"/>
          </p:cNvPicPr>
          <p:nvPr/>
        </p:nvPicPr>
        <p:blipFill>
          <a:blip r:embed="rId5"/>
          <a:stretch>
            <a:fillRect/>
          </a:stretch>
        </p:blipFill>
        <p:spPr>
          <a:xfrm>
            <a:off x="1463040" y="3230880"/>
            <a:ext cx="487680" cy="487680"/>
          </a:xfrm>
          <a:prstGeom prst="rect">
            <a:avLst/>
          </a:prstGeom>
        </p:spPr>
      </p:pic>
      <p:sp>
        <p:nvSpPr>
          <p:cNvPr id="16" name="Text 11"/>
          <p:cNvSpPr/>
          <p:nvPr/>
        </p:nvSpPr>
        <p:spPr>
          <a:xfrm>
            <a:off x="2133600" y="3169920"/>
            <a:ext cx="6705600" cy="670560"/>
          </a:xfrm>
          <a:prstGeom prst="rect">
            <a:avLst/>
          </a:prstGeom>
          <a:noFill/>
          <a:ln/>
        </p:spPr>
        <p:txBody>
          <a:bodyPr wrap="square" lIns="0" tIns="0" rIns="0" bIns="0" rtlCol="0" anchor="ctr"/>
          <a:lstStyle/>
          <a:p>
            <a:pPr defTabSz="1219170"/>
            <a:r>
              <a:rPr lang="en-US" sz="2000" b="1" dirty="0">
                <a:solidFill>
                  <a:srgbClr val="FFFFFF"/>
                </a:solidFill>
                <a:latin typeface="Calibri" pitchFamily="34" charset="0"/>
                <a:ea typeface="Calibri" pitchFamily="34" charset="-122"/>
                <a:cs typeface="Calibri" pitchFamily="34" charset="-120"/>
              </a:rPr>
              <a:t>Effects on the Economy &amp; Portfolios</a:t>
            </a:r>
            <a:endParaRPr lang="en-US" sz="2000" dirty="0">
              <a:solidFill>
                <a:prstClr val="black"/>
              </a:solidFill>
              <a:latin typeface="Calibri" panose="020F0502020204030204"/>
            </a:endParaRPr>
          </a:p>
          <a:p>
            <a:pPr defTabSz="1219170"/>
            <a:r>
              <a:rPr lang="en-US" sz="1467" dirty="0">
                <a:solidFill>
                  <a:srgbClr val="5A6478"/>
                </a:solidFill>
                <a:latin typeface="Calibri" pitchFamily="34" charset="0"/>
                <a:ea typeface="Calibri" pitchFamily="34" charset="-122"/>
                <a:cs typeface="Calibri" pitchFamily="34" charset="-120"/>
              </a:rPr>
              <a:t>Purchasing power erosion and the real return gap</a:t>
            </a:r>
            <a:endParaRPr lang="en-US" sz="2000" dirty="0">
              <a:solidFill>
                <a:prstClr val="black"/>
              </a:solidFill>
              <a:latin typeface="Calibri" panose="020F0502020204030204"/>
            </a:endParaRPr>
          </a:p>
        </p:txBody>
      </p:sp>
      <p:sp>
        <p:nvSpPr>
          <p:cNvPr id="17" name="Shape 12"/>
          <p:cNvSpPr/>
          <p:nvPr/>
        </p:nvSpPr>
        <p:spPr>
          <a:xfrm>
            <a:off x="9753600" y="3291840"/>
            <a:ext cx="1097280" cy="390144"/>
          </a:xfrm>
          <a:prstGeom prst="roundRect">
            <a:avLst>
              <a:gd name="adj" fmla="val 15625"/>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8" name="Text 13"/>
          <p:cNvSpPr/>
          <p:nvPr/>
        </p:nvSpPr>
        <p:spPr>
          <a:xfrm>
            <a:off x="9753600" y="3291840"/>
            <a:ext cx="1097280" cy="390144"/>
          </a:xfrm>
          <a:prstGeom prst="rect">
            <a:avLst/>
          </a:prstGeom>
          <a:noFill/>
          <a:ln/>
        </p:spPr>
        <p:txBody>
          <a:bodyPr wrap="square" lIns="0" tIns="0" rIns="0" bIns="0" rtlCol="0" anchor="ctr"/>
          <a:lstStyle/>
          <a:p>
            <a:pPr algn="ctr" defTabSz="1219170"/>
            <a:r>
              <a:rPr lang="en-US" sz="1333" dirty="0">
                <a:solidFill>
                  <a:srgbClr val="00D4AA"/>
                </a:solidFill>
                <a:latin typeface="Consolas" pitchFamily="34" charset="0"/>
                <a:ea typeface="Consolas" pitchFamily="34" charset="-122"/>
                <a:cs typeface="Consolas" pitchFamily="34" charset="-120"/>
              </a:rPr>
              <a:t>6 min</a:t>
            </a:r>
            <a:endParaRPr lang="en-US" sz="1333" dirty="0">
              <a:solidFill>
                <a:prstClr val="black"/>
              </a:solidFill>
              <a:latin typeface="Calibri" panose="020F0502020204030204"/>
            </a:endParaRPr>
          </a:p>
        </p:txBody>
      </p:sp>
      <p:sp>
        <p:nvSpPr>
          <p:cNvPr id="19" name="Text 14"/>
          <p:cNvSpPr/>
          <p:nvPr/>
        </p:nvSpPr>
        <p:spPr>
          <a:xfrm>
            <a:off x="731520" y="4023360"/>
            <a:ext cx="73152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04</a:t>
            </a:r>
            <a:endParaRPr lang="en-US" sz="2933" dirty="0">
              <a:solidFill>
                <a:prstClr val="black"/>
              </a:solidFill>
              <a:latin typeface="Calibri" panose="020F0502020204030204"/>
            </a:endParaRPr>
          </a:p>
        </p:txBody>
      </p:sp>
      <p:pic>
        <p:nvPicPr>
          <p:cNvPr id="20" name="Image 3" descr="preencoded.png"/>
          <p:cNvPicPr>
            <a:picLocks noChangeAspect="1"/>
          </p:cNvPicPr>
          <p:nvPr/>
        </p:nvPicPr>
        <p:blipFill>
          <a:blip r:embed="rId6"/>
          <a:stretch>
            <a:fillRect/>
          </a:stretch>
        </p:blipFill>
        <p:spPr>
          <a:xfrm>
            <a:off x="1463040" y="4084320"/>
            <a:ext cx="487680" cy="487680"/>
          </a:xfrm>
          <a:prstGeom prst="rect">
            <a:avLst/>
          </a:prstGeom>
        </p:spPr>
      </p:pic>
      <p:sp>
        <p:nvSpPr>
          <p:cNvPr id="21" name="Text 15"/>
          <p:cNvSpPr/>
          <p:nvPr/>
        </p:nvSpPr>
        <p:spPr>
          <a:xfrm>
            <a:off x="2133600" y="4023360"/>
            <a:ext cx="6705600" cy="670560"/>
          </a:xfrm>
          <a:prstGeom prst="rect">
            <a:avLst/>
          </a:prstGeom>
          <a:noFill/>
          <a:ln/>
        </p:spPr>
        <p:txBody>
          <a:bodyPr wrap="square" lIns="0" tIns="0" rIns="0" bIns="0" rtlCol="0" anchor="ctr"/>
          <a:lstStyle/>
          <a:p>
            <a:pPr defTabSz="1219170"/>
            <a:r>
              <a:rPr lang="en-US" sz="2000" b="1" dirty="0">
                <a:solidFill>
                  <a:srgbClr val="FFFFFF"/>
                </a:solidFill>
                <a:latin typeface="Calibri" pitchFamily="34" charset="0"/>
                <a:ea typeface="Calibri" pitchFamily="34" charset="-122"/>
                <a:cs typeface="Calibri" pitchFamily="34" charset="-120"/>
              </a:rPr>
              <a:t>Inflation &amp; Your Clients' Portfolios</a:t>
            </a:r>
            <a:endParaRPr lang="en-US" sz="2000" dirty="0">
              <a:solidFill>
                <a:prstClr val="black"/>
              </a:solidFill>
              <a:latin typeface="Calibri" panose="020F0502020204030204"/>
            </a:endParaRPr>
          </a:p>
          <a:p>
            <a:pPr defTabSz="1219170"/>
            <a:r>
              <a:rPr lang="en-US" sz="1467" dirty="0">
                <a:solidFill>
                  <a:srgbClr val="5A6478"/>
                </a:solidFill>
                <a:latin typeface="Calibri" pitchFamily="34" charset="0"/>
                <a:ea typeface="Calibri" pitchFamily="34" charset="-122"/>
                <a:cs typeface="Calibri" pitchFamily="34" charset="-120"/>
              </a:rPr>
              <a:t>Winners, losers, and the real return gap</a:t>
            </a:r>
            <a:endParaRPr lang="en-US" sz="2000" dirty="0">
              <a:solidFill>
                <a:prstClr val="black"/>
              </a:solidFill>
              <a:latin typeface="Calibri" panose="020F0502020204030204"/>
            </a:endParaRPr>
          </a:p>
        </p:txBody>
      </p:sp>
      <p:sp>
        <p:nvSpPr>
          <p:cNvPr id="22" name="Shape 16"/>
          <p:cNvSpPr/>
          <p:nvPr/>
        </p:nvSpPr>
        <p:spPr>
          <a:xfrm>
            <a:off x="9753600" y="4145280"/>
            <a:ext cx="1097280" cy="390144"/>
          </a:xfrm>
          <a:prstGeom prst="roundRect">
            <a:avLst>
              <a:gd name="adj" fmla="val 15625"/>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3" name="Text 17"/>
          <p:cNvSpPr/>
          <p:nvPr/>
        </p:nvSpPr>
        <p:spPr>
          <a:xfrm>
            <a:off x="9753600" y="4145280"/>
            <a:ext cx="1097280" cy="390144"/>
          </a:xfrm>
          <a:prstGeom prst="rect">
            <a:avLst/>
          </a:prstGeom>
          <a:noFill/>
          <a:ln/>
        </p:spPr>
        <p:txBody>
          <a:bodyPr wrap="square" lIns="0" tIns="0" rIns="0" bIns="0" rtlCol="0" anchor="ctr"/>
          <a:lstStyle/>
          <a:p>
            <a:pPr algn="ctr" defTabSz="1219170"/>
            <a:r>
              <a:rPr lang="en-US" sz="1333" dirty="0">
                <a:solidFill>
                  <a:srgbClr val="00D4AA"/>
                </a:solidFill>
                <a:latin typeface="Consolas" pitchFamily="34" charset="0"/>
                <a:ea typeface="Consolas" pitchFamily="34" charset="-122"/>
                <a:cs typeface="Consolas" pitchFamily="34" charset="-120"/>
              </a:rPr>
              <a:t>5 min</a:t>
            </a:r>
            <a:endParaRPr lang="en-US" sz="1333" dirty="0">
              <a:solidFill>
                <a:prstClr val="black"/>
              </a:solidFill>
              <a:latin typeface="Calibri" panose="020F0502020204030204"/>
            </a:endParaRPr>
          </a:p>
        </p:txBody>
      </p:sp>
      <p:sp>
        <p:nvSpPr>
          <p:cNvPr id="24" name="Text 18"/>
          <p:cNvSpPr/>
          <p:nvPr/>
        </p:nvSpPr>
        <p:spPr>
          <a:xfrm>
            <a:off x="731520" y="4876800"/>
            <a:ext cx="73152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05</a:t>
            </a:r>
            <a:endParaRPr lang="en-US" sz="2933" dirty="0">
              <a:solidFill>
                <a:prstClr val="black"/>
              </a:solidFill>
              <a:latin typeface="Calibri" panose="020F0502020204030204"/>
            </a:endParaRPr>
          </a:p>
        </p:txBody>
      </p:sp>
      <p:pic>
        <p:nvPicPr>
          <p:cNvPr id="25" name="Image 4" descr="preencoded.png"/>
          <p:cNvPicPr>
            <a:picLocks noChangeAspect="1"/>
          </p:cNvPicPr>
          <p:nvPr/>
        </p:nvPicPr>
        <p:blipFill>
          <a:blip r:embed="rId7"/>
          <a:stretch>
            <a:fillRect/>
          </a:stretch>
        </p:blipFill>
        <p:spPr>
          <a:xfrm>
            <a:off x="1463040" y="4937760"/>
            <a:ext cx="487680" cy="487680"/>
          </a:xfrm>
          <a:prstGeom prst="rect">
            <a:avLst/>
          </a:prstGeom>
        </p:spPr>
      </p:pic>
      <p:sp>
        <p:nvSpPr>
          <p:cNvPr id="26" name="Text 19"/>
          <p:cNvSpPr/>
          <p:nvPr/>
        </p:nvSpPr>
        <p:spPr>
          <a:xfrm>
            <a:off x="2133600" y="4876800"/>
            <a:ext cx="6705600" cy="670560"/>
          </a:xfrm>
          <a:prstGeom prst="rect">
            <a:avLst/>
          </a:prstGeom>
          <a:noFill/>
          <a:ln/>
        </p:spPr>
        <p:txBody>
          <a:bodyPr wrap="square" lIns="0" tIns="0" rIns="0" bIns="0" rtlCol="0" anchor="ctr"/>
          <a:lstStyle/>
          <a:p>
            <a:pPr defTabSz="1219170"/>
            <a:r>
              <a:rPr lang="en-US" sz="2000" b="1" dirty="0">
                <a:solidFill>
                  <a:srgbClr val="FFFFFF"/>
                </a:solidFill>
                <a:latin typeface="Calibri" pitchFamily="34" charset="0"/>
                <a:ea typeface="Calibri" pitchFamily="34" charset="-122"/>
                <a:cs typeface="Calibri" pitchFamily="34" charset="-120"/>
              </a:rPr>
              <a:t>Portfolio Strategies &amp; Action Steps</a:t>
            </a:r>
            <a:endParaRPr lang="en-US" sz="2000" dirty="0">
              <a:solidFill>
                <a:prstClr val="black"/>
              </a:solidFill>
              <a:latin typeface="Calibri" panose="020F0502020204030204"/>
            </a:endParaRPr>
          </a:p>
          <a:p>
            <a:pPr defTabSz="1219170"/>
            <a:r>
              <a:rPr lang="en-US" sz="1467" dirty="0">
                <a:solidFill>
                  <a:srgbClr val="5A6478"/>
                </a:solidFill>
                <a:latin typeface="Calibri" pitchFamily="34" charset="0"/>
                <a:ea typeface="Calibri" pitchFamily="34" charset="-122"/>
                <a:cs typeface="Calibri" pitchFamily="34" charset="-120"/>
              </a:rPr>
              <a:t>TIPS, commodities, real assets, gold, floating rate</a:t>
            </a:r>
            <a:endParaRPr lang="en-US" sz="2000" dirty="0">
              <a:solidFill>
                <a:prstClr val="black"/>
              </a:solidFill>
              <a:latin typeface="Calibri" panose="020F0502020204030204"/>
            </a:endParaRPr>
          </a:p>
        </p:txBody>
      </p:sp>
      <p:sp>
        <p:nvSpPr>
          <p:cNvPr id="27" name="Shape 20"/>
          <p:cNvSpPr/>
          <p:nvPr/>
        </p:nvSpPr>
        <p:spPr>
          <a:xfrm>
            <a:off x="9753600" y="4998720"/>
            <a:ext cx="1097280" cy="390144"/>
          </a:xfrm>
          <a:prstGeom prst="roundRect">
            <a:avLst>
              <a:gd name="adj" fmla="val 15625"/>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8" name="Text 21"/>
          <p:cNvSpPr/>
          <p:nvPr/>
        </p:nvSpPr>
        <p:spPr>
          <a:xfrm>
            <a:off x="9753600" y="4998720"/>
            <a:ext cx="1097280" cy="390144"/>
          </a:xfrm>
          <a:prstGeom prst="rect">
            <a:avLst/>
          </a:prstGeom>
          <a:noFill/>
          <a:ln/>
        </p:spPr>
        <p:txBody>
          <a:bodyPr wrap="square" lIns="0" tIns="0" rIns="0" bIns="0" rtlCol="0" anchor="ctr"/>
          <a:lstStyle/>
          <a:p>
            <a:pPr algn="ctr" defTabSz="1219170"/>
            <a:r>
              <a:rPr lang="en-US" sz="1333" dirty="0">
                <a:solidFill>
                  <a:srgbClr val="00D4AA"/>
                </a:solidFill>
                <a:latin typeface="Consolas" pitchFamily="34" charset="0"/>
                <a:ea typeface="Consolas" pitchFamily="34" charset="-122"/>
                <a:cs typeface="Consolas" pitchFamily="34" charset="-120"/>
              </a:rPr>
              <a:t>11 min</a:t>
            </a:r>
            <a:endParaRPr lang="en-US" sz="1333" dirty="0">
              <a:solidFill>
                <a:prstClr val="black"/>
              </a:solidFill>
              <a:latin typeface="Calibri" panose="020F0502020204030204"/>
            </a:endParaRPr>
          </a:p>
        </p:txBody>
      </p:sp>
      <p:sp>
        <p:nvSpPr>
          <p:cNvPr id="29" name="Text 22"/>
          <p:cNvSpPr/>
          <p:nvPr/>
        </p:nvSpPr>
        <p:spPr>
          <a:xfrm>
            <a:off x="731520" y="5730240"/>
            <a:ext cx="73152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06</a:t>
            </a:r>
            <a:endParaRPr lang="en-US" sz="2933" dirty="0">
              <a:solidFill>
                <a:prstClr val="black"/>
              </a:solidFill>
              <a:latin typeface="Calibri" panose="020F0502020204030204"/>
            </a:endParaRPr>
          </a:p>
        </p:txBody>
      </p:sp>
      <p:pic>
        <p:nvPicPr>
          <p:cNvPr id="30" name="Image 5" descr="preencoded.png"/>
          <p:cNvPicPr>
            <a:picLocks noChangeAspect="1"/>
          </p:cNvPicPr>
          <p:nvPr/>
        </p:nvPicPr>
        <p:blipFill>
          <a:blip r:embed="rId8"/>
          <a:stretch>
            <a:fillRect/>
          </a:stretch>
        </p:blipFill>
        <p:spPr>
          <a:xfrm>
            <a:off x="1463040" y="5791200"/>
            <a:ext cx="487680" cy="487680"/>
          </a:xfrm>
          <a:prstGeom prst="rect">
            <a:avLst/>
          </a:prstGeom>
        </p:spPr>
      </p:pic>
      <p:sp>
        <p:nvSpPr>
          <p:cNvPr id="31" name="Text 23"/>
          <p:cNvSpPr/>
          <p:nvPr/>
        </p:nvSpPr>
        <p:spPr>
          <a:xfrm>
            <a:off x="2133600" y="5730240"/>
            <a:ext cx="6705600" cy="670560"/>
          </a:xfrm>
          <a:prstGeom prst="rect">
            <a:avLst/>
          </a:prstGeom>
          <a:noFill/>
          <a:ln/>
        </p:spPr>
        <p:txBody>
          <a:bodyPr wrap="square" lIns="0" tIns="0" rIns="0" bIns="0" rtlCol="0" anchor="ctr"/>
          <a:lstStyle/>
          <a:p>
            <a:pPr defTabSz="1219170"/>
            <a:r>
              <a:rPr lang="en-US" sz="2000" b="1" dirty="0">
                <a:solidFill>
                  <a:srgbClr val="FFFFFF"/>
                </a:solidFill>
                <a:latin typeface="Calibri" pitchFamily="34" charset="0"/>
                <a:ea typeface="Calibri" pitchFamily="34" charset="-122"/>
                <a:cs typeface="Calibri" pitchFamily="34" charset="-120"/>
              </a:rPr>
              <a:t>Quick Reference &amp; Cheat Sheet</a:t>
            </a:r>
            <a:endParaRPr lang="en-US" sz="2000" dirty="0">
              <a:solidFill>
                <a:prstClr val="black"/>
              </a:solidFill>
              <a:latin typeface="Calibri" panose="020F0502020204030204"/>
            </a:endParaRPr>
          </a:p>
          <a:p>
            <a:pPr defTabSz="1219170"/>
            <a:r>
              <a:rPr lang="en-US" sz="1467" dirty="0">
                <a:solidFill>
                  <a:srgbClr val="5A6478"/>
                </a:solidFill>
                <a:latin typeface="Calibri" pitchFamily="34" charset="0"/>
                <a:ea typeface="Calibri" pitchFamily="34" charset="-122"/>
                <a:cs typeface="Calibri" pitchFamily="34" charset="-120"/>
              </a:rPr>
              <a:t>Takeaway card for your desk</a:t>
            </a:r>
            <a:endParaRPr lang="en-US" sz="2000" dirty="0">
              <a:solidFill>
                <a:prstClr val="black"/>
              </a:solidFill>
              <a:latin typeface="Calibri" panose="020F0502020204030204"/>
            </a:endParaRPr>
          </a:p>
        </p:txBody>
      </p:sp>
      <p:sp>
        <p:nvSpPr>
          <p:cNvPr id="32" name="Shape 24"/>
          <p:cNvSpPr/>
          <p:nvPr/>
        </p:nvSpPr>
        <p:spPr>
          <a:xfrm>
            <a:off x="9753600" y="5852160"/>
            <a:ext cx="1097280" cy="390144"/>
          </a:xfrm>
          <a:prstGeom prst="roundRect">
            <a:avLst>
              <a:gd name="adj" fmla="val 15625"/>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33" name="Text 25"/>
          <p:cNvSpPr/>
          <p:nvPr/>
        </p:nvSpPr>
        <p:spPr>
          <a:xfrm>
            <a:off x="9753600" y="5852160"/>
            <a:ext cx="1097280" cy="390144"/>
          </a:xfrm>
          <a:prstGeom prst="rect">
            <a:avLst/>
          </a:prstGeom>
          <a:noFill/>
          <a:ln/>
        </p:spPr>
        <p:txBody>
          <a:bodyPr wrap="square" lIns="0" tIns="0" rIns="0" bIns="0" rtlCol="0" anchor="ctr"/>
          <a:lstStyle/>
          <a:p>
            <a:pPr algn="ctr" defTabSz="1219170"/>
            <a:r>
              <a:rPr lang="en-US" sz="1333" dirty="0">
                <a:solidFill>
                  <a:srgbClr val="00D4AA"/>
                </a:solidFill>
                <a:latin typeface="Consolas" pitchFamily="34" charset="0"/>
                <a:ea typeface="Consolas" pitchFamily="34" charset="-122"/>
                <a:cs typeface="Consolas" pitchFamily="34" charset="-120"/>
              </a:rPr>
              <a:t>1 min</a:t>
            </a:r>
            <a:endParaRPr lang="en-US" sz="1333" dirty="0">
              <a:solidFill>
                <a:prstClr val="black"/>
              </a:solidFill>
              <a:latin typeface="Calibri" panose="020F0502020204030204"/>
            </a:endParaRPr>
          </a:p>
        </p:txBody>
      </p:sp>
      <p:sp>
        <p:nvSpPr>
          <p:cNvPr id="34" name="Shape 26"/>
          <p:cNvSpPr/>
          <p:nvPr/>
        </p:nvSpPr>
        <p:spPr>
          <a:xfrm>
            <a:off x="731520" y="6522720"/>
            <a:ext cx="10728960" cy="12192"/>
          </a:xfrm>
          <a:prstGeom prst="rect">
            <a:avLst/>
          </a:prstGeom>
          <a:solidFill>
            <a:srgbClr val="252D3F"/>
          </a:solidFill>
          <a:ln/>
        </p:spPr>
        <p:txBody>
          <a:bodyPr/>
          <a:lstStyle/>
          <a:p>
            <a:pPr defTabSz="1219170"/>
            <a:endParaRPr lang="en-US" sz="2400">
              <a:solidFill>
                <a:prstClr val="black"/>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1219200"/>
            <a:ext cx="3657600" cy="2682240"/>
          </a:xfrm>
          <a:prstGeom prst="rect">
            <a:avLst/>
          </a:prstGeom>
          <a:noFill/>
          <a:ln/>
        </p:spPr>
        <p:txBody>
          <a:bodyPr wrap="square" lIns="0" tIns="0" rIns="0" bIns="0" rtlCol="0" anchor="ctr"/>
          <a:lstStyle/>
          <a:p>
            <a:pPr defTabSz="1219170"/>
            <a:r>
              <a:rPr lang="en-US" sz="12800" b="1" dirty="0">
                <a:solidFill>
                  <a:srgbClr val="1C2133"/>
                </a:solidFill>
                <a:latin typeface="Arial Black" pitchFamily="34" charset="0"/>
                <a:ea typeface="Arial Black" pitchFamily="34" charset="-122"/>
                <a:cs typeface="Arial Black" pitchFamily="34" charset="-120"/>
              </a:rPr>
              <a:t>01</a:t>
            </a:r>
            <a:endParaRPr lang="en-US" sz="12800" dirty="0">
              <a:solidFill>
                <a:prstClr val="black"/>
              </a:solidFill>
              <a:latin typeface="Calibri" panose="020F0502020204030204"/>
            </a:endParaRPr>
          </a:p>
        </p:txBody>
      </p:sp>
      <p:sp>
        <p:nvSpPr>
          <p:cNvPr id="3" name="Shape 1"/>
          <p:cNvSpPr/>
          <p:nvPr/>
        </p:nvSpPr>
        <p:spPr>
          <a:xfrm>
            <a:off x="731520" y="3413760"/>
            <a:ext cx="18288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3718560"/>
            <a:ext cx="10728960" cy="975360"/>
          </a:xfrm>
          <a:prstGeom prst="rect">
            <a:avLst/>
          </a:prstGeom>
          <a:noFill/>
          <a:ln/>
        </p:spPr>
        <p:txBody>
          <a:bodyPr wrap="square" lIns="0" tIns="0" rIns="0" bIns="0" rtlCol="0" anchor="ctr"/>
          <a:lstStyle/>
          <a:p>
            <a:pPr defTabSz="1219170"/>
            <a:r>
              <a:rPr lang="en-US" sz="4000" b="1" dirty="0">
                <a:solidFill>
                  <a:srgbClr val="FFFFFF"/>
                </a:solidFill>
                <a:latin typeface="Arial Black" pitchFamily="34" charset="0"/>
                <a:ea typeface="Arial Black" pitchFamily="34" charset="-122"/>
                <a:cs typeface="Arial Black" pitchFamily="34" charset="-120"/>
              </a:rPr>
              <a:t>What Is Monetary Inflation?</a:t>
            </a:r>
            <a:endParaRPr lang="en-US" sz="4000" dirty="0">
              <a:solidFill>
                <a:prstClr val="black"/>
              </a:solidFill>
              <a:latin typeface="Calibri" panose="020F0502020204030204"/>
            </a:endParaRPr>
          </a:p>
        </p:txBody>
      </p:sp>
      <p:sp>
        <p:nvSpPr>
          <p:cNvPr id="5" name="Text 3"/>
          <p:cNvSpPr/>
          <p:nvPr/>
        </p:nvSpPr>
        <p:spPr>
          <a:xfrm>
            <a:off x="731520" y="4693920"/>
            <a:ext cx="10728960" cy="609600"/>
          </a:xfrm>
          <a:prstGeom prst="rect">
            <a:avLst/>
          </a:prstGeom>
          <a:noFill/>
          <a:ln/>
        </p:spPr>
        <p:txBody>
          <a:bodyPr wrap="square" lIns="0" tIns="0" rIns="0" bIns="0" rtlCol="0" anchor="ctr"/>
          <a:lstStyle/>
          <a:p>
            <a:pPr defTabSz="1219170"/>
            <a:r>
              <a:rPr lang="en-US" sz="2133" dirty="0">
                <a:solidFill>
                  <a:srgbClr val="8B95A8"/>
                </a:solidFill>
                <a:latin typeface="Calibri" pitchFamily="34" charset="0"/>
                <a:ea typeface="Calibri" pitchFamily="34" charset="-122"/>
                <a:cs typeface="Calibri" pitchFamily="34" charset="-120"/>
              </a:rPr>
              <a:t>Definition, measurement, and why the CPI doesn't tell the whole story</a:t>
            </a:r>
            <a:endParaRPr lang="en-US" sz="2133" dirty="0">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0607040" y="1463040"/>
            <a:ext cx="975360" cy="9753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1733" b="1" dirty="0">
                <a:solidFill>
                  <a:srgbClr val="00D4AA"/>
                </a:solidFill>
                <a:latin typeface="Consolas" pitchFamily="34" charset="0"/>
                <a:ea typeface="Consolas" pitchFamily="34" charset="-122"/>
                <a:cs typeface="Consolas" pitchFamily="34" charset="-120"/>
              </a:rPr>
              <a:t>THE DEFINITION MOST PEOPLE GET WRONG</a:t>
            </a:r>
            <a:endParaRPr lang="en-US" sz="1733" dirty="0">
              <a:solidFill>
                <a:prstClr val="black"/>
              </a:solidFill>
              <a:latin typeface="Calibri" panose="020F0502020204030204"/>
            </a:endParaRPr>
          </a:p>
        </p:txBody>
      </p:sp>
      <p:sp>
        <p:nvSpPr>
          <p:cNvPr id="3" name="Shape 1"/>
          <p:cNvSpPr/>
          <p:nvPr/>
        </p:nvSpPr>
        <p:spPr>
          <a:xfrm>
            <a:off x="731520" y="1219200"/>
            <a:ext cx="10728960" cy="1950720"/>
          </a:xfrm>
          <a:prstGeom prst="rect">
            <a:avLst/>
          </a:prstGeom>
          <a:solidFill>
            <a:srgbClr val="151926"/>
          </a:solidFill>
          <a:ln/>
          <a:effectLst>
            <a:outerShdw blurRad="101600" dist="38100" dir="8100000" algn="bl" rotWithShape="0">
              <a:srgbClr val="000000">
                <a:alpha val="3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219200"/>
            <a:ext cx="97536" cy="195072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5" name="Text 3"/>
          <p:cNvSpPr/>
          <p:nvPr/>
        </p:nvSpPr>
        <p:spPr>
          <a:xfrm>
            <a:off x="1219200" y="1341120"/>
            <a:ext cx="9997440" cy="1706880"/>
          </a:xfrm>
          <a:prstGeom prst="rect">
            <a:avLst/>
          </a:prstGeom>
          <a:noFill/>
          <a:ln/>
        </p:spPr>
        <p:txBody>
          <a:bodyPr wrap="square" lIns="0" tIns="0" rIns="0" bIns="0" rtlCol="0" anchor="ctr"/>
          <a:lstStyle/>
          <a:p>
            <a:pPr defTabSz="1219170"/>
            <a:r>
              <a:rPr lang="en-US" sz="3200" i="1" dirty="0">
                <a:solidFill>
                  <a:srgbClr val="FFFFFF"/>
                </a:solidFill>
                <a:latin typeface="Calibri" pitchFamily="34" charset="0"/>
                <a:ea typeface="Calibri" pitchFamily="34" charset="-122"/>
                <a:cs typeface="Calibri" pitchFamily="34" charset="-120"/>
              </a:rPr>
              <a:t>Inflation is always and everywhere a monetary phenomenon.</a:t>
            </a:r>
            <a:endParaRPr lang="en-US" sz="3200" dirty="0">
              <a:solidFill>
                <a:prstClr val="black"/>
              </a:solidFill>
              <a:latin typeface="Calibri" panose="020F0502020204030204"/>
            </a:endParaRPr>
          </a:p>
          <a:p>
            <a:pPr defTabSz="1219170"/>
            <a:r>
              <a:rPr lang="en-US" sz="1867" dirty="0">
                <a:solidFill>
                  <a:srgbClr val="00D4AA"/>
                </a:solidFill>
                <a:latin typeface="Calibri" pitchFamily="34" charset="0"/>
                <a:ea typeface="Calibri" pitchFamily="34" charset="-122"/>
                <a:cs typeface="Calibri" pitchFamily="34" charset="-120"/>
              </a:rPr>
              <a:t>— Milton Friedman</a:t>
            </a:r>
            <a:endParaRPr lang="en-US" sz="3200" dirty="0">
              <a:solidFill>
                <a:prstClr val="black"/>
              </a:solidFill>
              <a:latin typeface="Calibri" panose="020F0502020204030204"/>
            </a:endParaRPr>
          </a:p>
        </p:txBody>
      </p:sp>
      <p:sp>
        <p:nvSpPr>
          <p:cNvPr id="6" name="Shape 4"/>
          <p:cNvSpPr/>
          <p:nvPr/>
        </p:nvSpPr>
        <p:spPr>
          <a:xfrm>
            <a:off x="731520" y="3657600"/>
            <a:ext cx="5059680" cy="26822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7" name="Shape 5"/>
          <p:cNvSpPr/>
          <p:nvPr/>
        </p:nvSpPr>
        <p:spPr>
          <a:xfrm>
            <a:off x="731520" y="3657600"/>
            <a:ext cx="5059680" cy="5486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pic>
        <p:nvPicPr>
          <p:cNvPr id="8" name="Image 0" descr="preencoded.png"/>
          <p:cNvPicPr>
            <a:picLocks noChangeAspect="1"/>
          </p:cNvPicPr>
          <p:nvPr/>
        </p:nvPicPr>
        <p:blipFill>
          <a:blip r:embed="rId3"/>
          <a:stretch>
            <a:fillRect/>
          </a:stretch>
        </p:blipFill>
        <p:spPr>
          <a:xfrm>
            <a:off x="975360" y="3718560"/>
            <a:ext cx="365760" cy="365760"/>
          </a:xfrm>
          <a:prstGeom prst="rect">
            <a:avLst/>
          </a:prstGeom>
        </p:spPr>
      </p:pic>
      <p:sp>
        <p:nvSpPr>
          <p:cNvPr id="9" name="Text 6"/>
          <p:cNvSpPr/>
          <p:nvPr/>
        </p:nvSpPr>
        <p:spPr>
          <a:xfrm>
            <a:off x="1402080" y="3657600"/>
            <a:ext cx="4145280" cy="548640"/>
          </a:xfrm>
          <a:prstGeom prst="rect">
            <a:avLst/>
          </a:prstGeom>
          <a:noFill/>
          <a:ln/>
        </p:spPr>
        <p:txBody>
          <a:bodyPr wrap="square" lIns="0" tIns="0" rIns="0" bIns="0" rtlCol="0" anchor="ctr"/>
          <a:lstStyle/>
          <a:p>
            <a:pPr defTabSz="1219170"/>
            <a:r>
              <a:rPr lang="en-US" sz="1600" b="1" dirty="0">
                <a:solidFill>
                  <a:srgbClr val="FFFFFF"/>
                </a:solidFill>
                <a:latin typeface="Arial Black" pitchFamily="34" charset="0"/>
                <a:ea typeface="Arial Black" pitchFamily="34" charset="-122"/>
                <a:cs typeface="Arial Black" pitchFamily="34" charset="-120"/>
              </a:rPr>
              <a:t>COMMON MISCONCEPTION</a:t>
            </a:r>
            <a:endParaRPr lang="en-US" sz="1600" dirty="0">
              <a:solidFill>
                <a:prstClr val="black"/>
              </a:solidFill>
              <a:latin typeface="Calibri" panose="020F0502020204030204"/>
            </a:endParaRPr>
          </a:p>
        </p:txBody>
      </p:sp>
      <p:sp>
        <p:nvSpPr>
          <p:cNvPr id="10" name="Text 7"/>
          <p:cNvSpPr/>
          <p:nvPr/>
        </p:nvSpPr>
        <p:spPr>
          <a:xfrm>
            <a:off x="1036320" y="4328160"/>
            <a:ext cx="4511040" cy="1828800"/>
          </a:xfrm>
          <a:prstGeom prst="rect">
            <a:avLst/>
          </a:prstGeom>
          <a:noFill/>
          <a:ln/>
        </p:spPr>
        <p:txBody>
          <a:bodyPr wrap="square" lIns="0" tIns="0" rIns="0" bIns="0" rtlCol="0" anchor="t"/>
          <a:lstStyle/>
          <a:p>
            <a:pPr defTabSz="1219170"/>
            <a:r>
              <a:rPr lang="en-US" sz="1867" i="1" dirty="0">
                <a:solidFill>
                  <a:srgbClr val="8B95A8"/>
                </a:solidFill>
                <a:latin typeface="Calibri" pitchFamily="34" charset="0"/>
                <a:ea typeface="Calibri" pitchFamily="34" charset="-122"/>
                <a:cs typeface="Calibri" pitchFamily="34" charset="-120"/>
              </a:rPr>
              <a:t>"Inflation means prices are rising."</a:t>
            </a:r>
            <a:endParaRPr lang="en-US" sz="1867" dirty="0">
              <a:solidFill>
                <a:prstClr val="black"/>
              </a:solidFill>
              <a:latin typeface="Calibri" panose="020F0502020204030204"/>
            </a:endParaRPr>
          </a:p>
          <a:p>
            <a:pPr defTabSz="1219170"/>
            <a:endParaRPr lang="en-US" sz="1867" dirty="0">
              <a:solidFill>
                <a:prstClr val="black"/>
              </a:solidFill>
              <a:latin typeface="Calibri" panose="020F0502020204030204"/>
            </a:endParaRPr>
          </a:p>
          <a:p>
            <a:pPr defTabSz="1219170"/>
            <a:r>
              <a:rPr lang="en-US" sz="1733" dirty="0">
                <a:solidFill>
                  <a:srgbClr val="E8ECF1"/>
                </a:solidFill>
                <a:latin typeface="Calibri" pitchFamily="34" charset="0"/>
                <a:ea typeface="Calibri" pitchFamily="34" charset="-122"/>
                <a:cs typeface="Calibri" pitchFamily="34" charset="-120"/>
              </a:rPr>
              <a:t>This confuses the symptom with the disease. Rising prices are the result of inflation, not inflation itself.</a:t>
            </a:r>
            <a:endParaRPr lang="en-US" sz="1867" dirty="0">
              <a:solidFill>
                <a:prstClr val="black"/>
              </a:solidFill>
              <a:latin typeface="Calibri" panose="020F0502020204030204"/>
            </a:endParaRPr>
          </a:p>
        </p:txBody>
      </p:sp>
      <p:sp>
        <p:nvSpPr>
          <p:cNvPr id="11" name="Shape 8"/>
          <p:cNvSpPr/>
          <p:nvPr/>
        </p:nvSpPr>
        <p:spPr>
          <a:xfrm>
            <a:off x="6400800" y="3657600"/>
            <a:ext cx="5059680" cy="26822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2" name="Shape 9"/>
          <p:cNvSpPr/>
          <p:nvPr/>
        </p:nvSpPr>
        <p:spPr>
          <a:xfrm>
            <a:off x="6400800" y="3657600"/>
            <a:ext cx="5059680" cy="54864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644640" y="3718560"/>
            <a:ext cx="365760" cy="365760"/>
          </a:xfrm>
          <a:prstGeom prst="rect">
            <a:avLst/>
          </a:prstGeom>
        </p:spPr>
      </p:pic>
      <p:sp>
        <p:nvSpPr>
          <p:cNvPr id="14" name="Text 10"/>
          <p:cNvSpPr/>
          <p:nvPr/>
        </p:nvSpPr>
        <p:spPr>
          <a:xfrm>
            <a:off x="7071360" y="3657600"/>
            <a:ext cx="4145280" cy="548640"/>
          </a:xfrm>
          <a:prstGeom prst="rect">
            <a:avLst/>
          </a:prstGeom>
          <a:noFill/>
          <a:ln/>
        </p:spPr>
        <p:txBody>
          <a:bodyPr wrap="square" lIns="0" tIns="0" rIns="0" bIns="0" rtlCol="0" anchor="ctr"/>
          <a:lstStyle/>
          <a:p>
            <a:pPr defTabSz="1219170"/>
            <a:r>
              <a:rPr lang="en-US" sz="1600" b="1" dirty="0">
                <a:solidFill>
                  <a:srgbClr val="FFFFFF"/>
                </a:solidFill>
                <a:latin typeface="Arial Black" pitchFamily="34" charset="0"/>
                <a:ea typeface="Arial Black" pitchFamily="34" charset="-122"/>
                <a:cs typeface="Arial Black" pitchFamily="34" charset="-120"/>
              </a:rPr>
              <a:t>THE REALITY</a:t>
            </a:r>
            <a:endParaRPr lang="en-US" sz="1600" dirty="0">
              <a:solidFill>
                <a:prstClr val="black"/>
              </a:solidFill>
              <a:latin typeface="Calibri" panose="020F0502020204030204"/>
            </a:endParaRPr>
          </a:p>
        </p:txBody>
      </p:sp>
      <p:sp>
        <p:nvSpPr>
          <p:cNvPr id="15" name="Text 11"/>
          <p:cNvSpPr/>
          <p:nvPr/>
        </p:nvSpPr>
        <p:spPr>
          <a:xfrm>
            <a:off x="6705600" y="4328160"/>
            <a:ext cx="4511040" cy="1828800"/>
          </a:xfrm>
          <a:prstGeom prst="rect">
            <a:avLst/>
          </a:prstGeom>
          <a:noFill/>
          <a:ln/>
        </p:spPr>
        <p:txBody>
          <a:bodyPr wrap="square" lIns="0" tIns="0" rIns="0" bIns="0" rtlCol="0" anchor="t"/>
          <a:lstStyle/>
          <a:p>
            <a:pPr defTabSz="1219170"/>
            <a:r>
              <a:rPr lang="en-US" sz="1867" i="1" dirty="0">
                <a:solidFill>
                  <a:srgbClr val="8B95A8"/>
                </a:solidFill>
                <a:latin typeface="Calibri" pitchFamily="34" charset="0"/>
                <a:ea typeface="Calibri" pitchFamily="34" charset="-122"/>
                <a:cs typeface="Calibri" pitchFamily="34" charset="-120"/>
              </a:rPr>
              <a:t>"Inflation is an expansion of the money supply that reduces each dollar's purchasing power."</a:t>
            </a:r>
            <a:endParaRPr lang="en-US" sz="1867" dirty="0">
              <a:solidFill>
                <a:prstClr val="black"/>
              </a:solidFill>
              <a:latin typeface="Calibri" panose="020F0502020204030204"/>
            </a:endParaRPr>
          </a:p>
          <a:p>
            <a:pPr defTabSz="1219170"/>
            <a:endParaRPr lang="en-US" sz="1867" dirty="0">
              <a:solidFill>
                <a:prstClr val="black"/>
              </a:solidFill>
              <a:latin typeface="Calibri" panose="020F0502020204030204"/>
            </a:endParaRPr>
          </a:p>
          <a:p>
            <a:pPr defTabSz="1219170"/>
            <a:r>
              <a:rPr lang="en-US" sz="1733" dirty="0">
                <a:solidFill>
                  <a:srgbClr val="E8ECF1"/>
                </a:solidFill>
                <a:latin typeface="Calibri" pitchFamily="34" charset="0"/>
                <a:ea typeface="Calibri" pitchFamily="34" charset="-122"/>
                <a:cs typeface="Calibri" pitchFamily="34" charset="-120"/>
              </a:rPr>
              <a:t>More dollars chasing the same goods = each dollar buys less. The price level is the scoreboard, not the game.</a:t>
            </a:r>
            <a:endParaRPr lang="en-US" sz="1867" dirty="0">
              <a:solidFill>
                <a:prstClr val="black"/>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731520"/>
          </a:xfrm>
          <a:prstGeom prst="rect">
            <a:avLst/>
          </a:prstGeom>
          <a:noFill/>
          <a:ln/>
        </p:spPr>
        <p:txBody>
          <a:bodyPr wrap="square" lIns="0" tIns="0" rIns="0" bIns="0" rtlCol="0" anchor="ctr"/>
          <a:lstStyle/>
          <a:p>
            <a:pPr defTabSz="1219170"/>
            <a:r>
              <a:rPr lang="en-US" sz="3733" b="1" dirty="0">
                <a:solidFill>
                  <a:srgbClr val="FFFFFF"/>
                </a:solidFill>
                <a:latin typeface="Arial Black" pitchFamily="34" charset="0"/>
                <a:ea typeface="Arial Black" pitchFamily="34" charset="-122"/>
                <a:cs typeface="Arial Black" pitchFamily="34" charset="-120"/>
              </a:rPr>
              <a:t>HOW WE MEASURE INFLATION</a:t>
            </a:r>
            <a:endParaRPr lang="en-US" sz="3733" dirty="0">
              <a:solidFill>
                <a:prstClr val="black"/>
              </a:solidFill>
              <a:latin typeface="Calibri" panose="020F0502020204030204"/>
            </a:endParaRPr>
          </a:p>
        </p:txBody>
      </p:sp>
      <p:sp>
        <p:nvSpPr>
          <p:cNvPr id="3" name="Text 1"/>
          <p:cNvSpPr/>
          <p:nvPr/>
        </p:nvSpPr>
        <p:spPr>
          <a:xfrm>
            <a:off x="731520" y="1036320"/>
            <a:ext cx="10728960" cy="487680"/>
          </a:xfrm>
          <a:prstGeom prst="rect">
            <a:avLst/>
          </a:prstGeom>
          <a:noFill/>
          <a:ln/>
        </p:spPr>
        <p:txBody>
          <a:bodyPr wrap="square" lIns="0" tIns="0" rIns="0" bIns="0" rtlCol="0" anchor="ctr"/>
          <a:lstStyle/>
          <a:p>
            <a:pPr defTabSz="1219170"/>
            <a:r>
              <a:rPr lang="en-US" sz="1867" dirty="0">
                <a:solidFill>
                  <a:srgbClr val="8B95A8"/>
                </a:solidFill>
                <a:latin typeface="Calibri" pitchFamily="34" charset="0"/>
                <a:ea typeface="Calibri" pitchFamily="34" charset="-122"/>
                <a:cs typeface="Calibri" pitchFamily="34" charset="-120"/>
              </a:rPr>
              <a:t>The CPI is the headline number — but it's not the whole story</a:t>
            </a:r>
            <a:endParaRPr lang="en-US" sz="1867" dirty="0">
              <a:solidFill>
                <a:prstClr val="black"/>
              </a:solidFill>
              <a:latin typeface="Calibri" panose="020F0502020204030204"/>
            </a:endParaRPr>
          </a:p>
        </p:txBody>
      </p:sp>
      <p:sp>
        <p:nvSpPr>
          <p:cNvPr id="4" name="Shape 2"/>
          <p:cNvSpPr/>
          <p:nvPr/>
        </p:nvSpPr>
        <p:spPr>
          <a:xfrm>
            <a:off x="731520" y="1828800"/>
            <a:ext cx="3474720" cy="3413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5" name="Shape 3"/>
          <p:cNvSpPr/>
          <p:nvPr/>
        </p:nvSpPr>
        <p:spPr>
          <a:xfrm>
            <a:off x="731520" y="1828800"/>
            <a:ext cx="347472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6" name="Text 4"/>
          <p:cNvSpPr/>
          <p:nvPr/>
        </p:nvSpPr>
        <p:spPr>
          <a:xfrm>
            <a:off x="975360" y="2072640"/>
            <a:ext cx="2987040" cy="609600"/>
          </a:xfrm>
          <a:prstGeom prst="rect">
            <a:avLst/>
          </a:prstGeom>
          <a:noFill/>
          <a:ln/>
        </p:spPr>
        <p:txBody>
          <a:bodyPr wrap="square" lIns="0" tIns="0" rIns="0" bIns="0" rtlCol="0" anchor="ctr"/>
          <a:lstStyle/>
          <a:p>
            <a:pPr defTabSz="1219170"/>
            <a:r>
              <a:rPr lang="en-US" sz="2933" b="1" dirty="0">
                <a:solidFill>
                  <a:srgbClr val="00D4AA"/>
                </a:solidFill>
                <a:latin typeface="Arial Black" pitchFamily="34" charset="0"/>
                <a:ea typeface="Arial Black" pitchFamily="34" charset="-122"/>
                <a:cs typeface="Arial Black" pitchFamily="34" charset="-120"/>
              </a:rPr>
              <a:t>CPI-U</a:t>
            </a:r>
            <a:endParaRPr lang="en-US" sz="2933" dirty="0">
              <a:solidFill>
                <a:prstClr val="black"/>
              </a:solidFill>
              <a:latin typeface="Calibri" panose="020F0502020204030204"/>
            </a:endParaRPr>
          </a:p>
        </p:txBody>
      </p:sp>
      <p:sp>
        <p:nvSpPr>
          <p:cNvPr id="7" name="Text 5"/>
          <p:cNvSpPr/>
          <p:nvPr/>
        </p:nvSpPr>
        <p:spPr>
          <a:xfrm>
            <a:off x="975360" y="2621280"/>
            <a:ext cx="2987040" cy="426720"/>
          </a:xfrm>
          <a:prstGeom prst="rect">
            <a:avLst/>
          </a:prstGeom>
          <a:noFill/>
          <a:ln/>
        </p:spPr>
        <p:txBody>
          <a:bodyPr wrap="square" lIns="0" tIns="0" rIns="0" bIns="0" rtlCol="0" anchor="ctr"/>
          <a:lstStyle/>
          <a:p>
            <a:pPr defTabSz="1219170"/>
            <a:r>
              <a:rPr lang="en-US" sz="1467" dirty="0">
                <a:solidFill>
                  <a:srgbClr val="5A6478"/>
                </a:solidFill>
                <a:latin typeface="Calibri" pitchFamily="34" charset="0"/>
                <a:ea typeface="Calibri" pitchFamily="34" charset="-122"/>
                <a:cs typeface="Calibri" pitchFamily="34" charset="-120"/>
              </a:rPr>
              <a:t>Consumer Price Index</a:t>
            </a:r>
            <a:endParaRPr lang="en-US" sz="1467" dirty="0">
              <a:solidFill>
                <a:prstClr val="black"/>
              </a:solidFill>
              <a:latin typeface="Calibri" panose="020F0502020204030204"/>
            </a:endParaRPr>
          </a:p>
        </p:txBody>
      </p:sp>
      <p:sp>
        <p:nvSpPr>
          <p:cNvPr id="8" name="Text 6"/>
          <p:cNvSpPr/>
          <p:nvPr/>
        </p:nvSpPr>
        <p:spPr>
          <a:xfrm>
            <a:off x="975360" y="3108960"/>
            <a:ext cx="2987040" cy="1219200"/>
          </a:xfrm>
          <a:prstGeom prst="rect">
            <a:avLst/>
          </a:prstGeom>
          <a:noFill/>
          <a:ln/>
        </p:spPr>
        <p:txBody>
          <a:bodyPr wrap="square" lIns="0" tIns="0" rIns="0" bIns="0" rtlCol="0" anchor="t"/>
          <a:lstStyle/>
          <a:p>
            <a:pPr defTabSz="1219170"/>
            <a:r>
              <a:rPr lang="en-US" sz="1600" dirty="0">
                <a:solidFill>
                  <a:srgbClr val="E8ECF1"/>
                </a:solidFill>
                <a:latin typeface="Calibri" pitchFamily="34" charset="0"/>
                <a:ea typeface="Calibri" pitchFamily="34" charset="-122"/>
                <a:cs typeface="Calibri" pitchFamily="34" charset="-120"/>
              </a:rPr>
              <a:t>Tracks a fixed basket of urban consumer goods. The Fed's primary gauge. Includes housing, food, energy.</a:t>
            </a:r>
            <a:endParaRPr lang="en-US" sz="1600" dirty="0">
              <a:solidFill>
                <a:prstClr val="black"/>
              </a:solidFill>
              <a:latin typeface="Calibri" panose="020F0502020204030204"/>
            </a:endParaRPr>
          </a:p>
        </p:txBody>
      </p:sp>
      <p:sp>
        <p:nvSpPr>
          <p:cNvPr id="9" name="Shape 7"/>
          <p:cNvSpPr/>
          <p:nvPr/>
        </p:nvSpPr>
        <p:spPr>
          <a:xfrm>
            <a:off x="975360" y="4572000"/>
            <a:ext cx="2987040" cy="426720"/>
          </a:xfrm>
          <a:prstGeom prst="roundRect">
            <a:avLst>
              <a:gd name="adj" fmla="val 14286"/>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0" name="Text 8"/>
          <p:cNvSpPr/>
          <p:nvPr/>
        </p:nvSpPr>
        <p:spPr>
          <a:xfrm>
            <a:off x="975360" y="4572000"/>
            <a:ext cx="2987040" cy="426720"/>
          </a:xfrm>
          <a:prstGeom prst="rect">
            <a:avLst/>
          </a:prstGeom>
          <a:noFill/>
          <a:ln/>
        </p:spPr>
        <p:txBody>
          <a:bodyPr wrap="square" lIns="0" tIns="0" rIns="0" bIns="0" rtlCol="0" anchor="ctr"/>
          <a:lstStyle/>
          <a:p>
            <a:pPr algn="ctr" defTabSz="1219170"/>
            <a:r>
              <a:rPr lang="en-US" sz="1200" dirty="0">
                <a:solidFill>
                  <a:srgbClr val="00D4AA"/>
                </a:solidFill>
                <a:latin typeface="Consolas" pitchFamily="34" charset="0"/>
                <a:ea typeface="Consolas" pitchFamily="34" charset="-122"/>
                <a:cs typeface="Consolas" pitchFamily="34" charset="-120"/>
              </a:rPr>
              <a:t>Headline rate most clients see</a:t>
            </a:r>
            <a:endParaRPr lang="en-US" sz="1200" dirty="0">
              <a:solidFill>
                <a:prstClr val="black"/>
              </a:solidFill>
              <a:latin typeface="Calibri" panose="020F0502020204030204"/>
            </a:endParaRPr>
          </a:p>
        </p:txBody>
      </p:sp>
      <p:sp>
        <p:nvSpPr>
          <p:cNvPr id="11" name="Shape 9"/>
          <p:cNvSpPr/>
          <p:nvPr/>
        </p:nvSpPr>
        <p:spPr>
          <a:xfrm>
            <a:off x="4511040" y="1828800"/>
            <a:ext cx="3474720" cy="3413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4511040" y="1828800"/>
            <a:ext cx="3474720" cy="6096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13" name="Text 11"/>
          <p:cNvSpPr/>
          <p:nvPr/>
        </p:nvSpPr>
        <p:spPr>
          <a:xfrm>
            <a:off x="4754880" y="2072640"/>
            <a:ext cx="2987040" cy="609600"/>
          </a:xfrm>
          <a:prstGeom prst="rect">
            <a:avLst/>
          </a:prstGeom>
          <a:noFill/>
          <a:ln/>
        </p:spPr>
        <p:txBody>
          <a:bodyPr wrap="square" lIns="0" tIns="0" rIns="0" bIns="0" rtlCol="0" anchor="ctr"/>
          <a:lstStyle/>
          <a:p>
            <a:pPr defTabSz="1219170"/>
            <a:r>
              <a:rPr lang="en-US" sz="2933" b="1" dirty="0">
                <a:solidFill>
                  <a:srgbClr val="FF8C42"/>
                </a:solidFill>
                <a:latin typeface="Arial Black" pitchFamily="34" charset="0"/>
                <a:ea typeface="Arial Black" pitchFamily="34" charset="-122"/>
                <a:cs typeface="Arial Black" pitchFamily="34" charset="-120"/>
              </a:rPr>
              <a:t>Core CPI</a:t>
            </a:r>
            <a:endParaRPr lang="en-US" sz="2933" dirty="0">
              <a:solidFill>
                <a:prstClr val="black"/>
              </a:solidFill>
              <a:latin typeface="Calibri" panose="020F0502020204030204"/>
            </a:endParaRPr>
          </a:p>
        </p:txBody>
      </p:sp>
      <p:sp>
        <p:nvSpPr>
          <p:cNvPr id="14" name="Text 12"/>
          <p:cNvSpPr/>
          <p:nvPr/>
        </p:nvSpPr>
        <p:spPr>
          <a:xfrm>
            <a:off x="4754880" y="2621280"/>
            <a:ext cx="2987040" cy="426720"/>
          </a:xfrm>
          <a:prstGeom prst="rect">
            <a:avLst/>
          </a:prstGeom>
          <a:noFill/>
          <a:ln/>
        </p:spPr>
        <p:txBody>
          <a:bodyPr wrap="square" lIns="0" tIns="0" rIns="0" bIns="0" rtlCol="0" anchor="ctr"/>
          <a:lstStyle/>
          <a:p>
            <a:pPr defTabSz="1219170"/>
            <a:r>
              <a:rPr lang="en-US" sz="1467" dirty="0">
                <a:solidFill>
                  <a:srgbClr val="5A6478"/>
                </a:solidFill>
                <a:latin typeface="Calibri" pitchFamily="34" charset="0"/>
                <a:ea typeface="Calibri" pitchFamily="34" charset="-122"/>
                <a:cs typeface="Calibri" pitchFamily="34" charset="-120"/>
              </a:rPr>
              <a:t>Ex Food &amp; Energy</a:t>
            </a:r>
            <a:endParaRPr lang="en-US" sz="1467" dirty="0">
              <a:solidFill>
                <a:prstClr val="black"/>
              </a:solidFill>
              <a:latin typeface="Calibri" panose="020F0502020204030204"/>
            </a:endParaRPr>
          </a:p>
        </p:txBody>
      </p:sp>
      <p:sp>
        <p:nvSpPr>
          <p:cNvPr id="15" name="Text 13"/>
          <p:cNvSpPr/>
          <p:nvPr/>
        </p:nvSpPr>
        <p:spPr>
          <a:xfrm>
            <a:off x="4754880" y="3108960"/>
            <a:ext cx="2987040" cy="1219200"/>
          </a:xfrm>
          <a:prstGeom prst="rect">
            <a:avLst/>
          </a:prstGeom>
          <a:noFill/>
          <a:ln/>
        </p:spPr>
        <p:txBody>
          <a:bodyPr wrap="square" lIns="0" tIns="0" rIns="0" bIns="0" rtlCol="0" anchor="t"/>
          <a:lstStyle/>
          <a:p>
            <a:pPr defTabSz="1219170"/>
            <a:r>
              <a:rPr lang="en-US" sz="1600" dirty="0">
                <a:solidFill>
                  <a:srgbClr val="E8ECF1"/>
                </a:solidFill>
                <a:latin typeface="Calibri" pitchFamily="34" charset="0"/>
                <a:ea typeface="Calibri" pitchFamily="34" charset="-122"/>
                <a:cs typeface="Calibri" pitchFamily="34" charset="-120"/>
              </a:rPr>
              <a:t>Strips out volatile food &amp; energy. Better trend signal, but ignores costs your clients actually pay.</a:t>
            </a:r>
            <a:endParaRPr lang="en-US" sz="1600" dirty="0">
              <a:solidFill>
                <a:prstClr val="black"/>
              </a:solidFill>
              <a:latin typeface="Calibri" panose="020F0502020204030204"/>
            </a:endParaRPr>
          </a:p>
        </p:txBody>
      </p:sp>
      <p:sp>
        <p:nvSpPr>
          <p:cNvPr id="16" name="Shape 14"/>
          <p:cNvSpPr/>
          <p:nvPr/>
        </p:nvSpPr>
        <p:spPr>
          <a:xfrm>
            <a:off x="4754880" y="4572000"/>
            <a:ext cx="2987040" cy="426720"/>
          </a:xfrm>
          <a:prstGeom prst="roundRect">
            <a:avLst>
              <a:gd name="adj" fmla="val 14286"/>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7" name="Text 15"/>
          <p:cNvSpPr/>
          <p:nvPr/>
        </p:nvSpPr>
        <p:spPr>
          <a:xfrm>
            <a:off x="4754880" y="4572000"/>
            <a:ext cx="2987040" cy="426720"/>
          </a:xfrm>
          <a:prstGeom prst="rect">
            <a:avLst/>
          </a:prstGeom>
          <a:noFill/>
          <a:ln/>
        </p:spPr>
        <p:txBody>
          <a:bodyPr wrap="square" lIns="0" tIns="0" rIns="0" bIns="0" rtlCol="0" anchor="ctr"/>
          <a:lstStyle/>
          <a:p>
            <a:pPr algn="ctr" defTabSz="1219170"/>
            <a:r>
              <a:rPr lang="en-US" sz="1200" dirty="0">
                <a:solidFill>
                  <a:srgbClr val="FF8C42"/>
                </a:solidFill>
                <a:latin typeface="Consolas" pitchFamily="34" charset="0"/>
                <a:ea typeface="Consolas" pitchFamily="34" charset="-122"/>
                <a:cs typeface="Consolas" pitchFamily="34" charset="-120"/>
              </a:rPr>
              <a:t>Fed's preferred trend indicator</a:t>
            </a:r>
            <a:endParaRPr lang="en-US" sz="1200" dirty="0">
              <a:solidFill>
                <a:prstClr val="black"/>
              </a:solidFill>
              <a:latin typeface="Calibri" panose="020F0502020204030204"/>
            </a:endParaRPr>
          </a:p>
        </p:txBody>
      </p:sp>
      <p:sp>
        <p:nvSpPr>
          <p:cNvPr id="18" name="Shape 16"/>
          <p:cNvSpPr/>
          <p:nvPr/>
        </p:nvSpPr>
        <p:spPr>
          <a:xfrm>
            <a:off x="8290560" y="1828800"/>
            <a:ext cx="3474720" cy="3413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8290560" y="1828800"/>
            <a:ext cx="3474720" cy="6096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8534400" y="2072640"/>
            <a:ext cx="2987040" cy="609600"/>
          </a:xfrm>
          <a:prstGeom prst="rect">
            <a:avLst/>
          </a:prstGeom>
          <a:noFill/>
          <a:ln/>
        </p:spPr>
        <p:txBody>
          <a:bodyPr wrap="square" lIns="0" tIns="0" rIns="0" bIns="0" rtlCol="0" anchor="ctr"/>
          <a:lstStyle/>
          <a:p>
            <a:pPr defTabSz="1219170"/>
            <a:r>
              <a:rPr lang="en-US" sz="2933" b="1" dirty="0">
                <a:solidFill>
                  <a:srgbClr val="FFD700"/>
                </a:solidFill>
                <a:latin typeface="Arial Black" pitchFamily="34" charset="0"/>
                <a:ea typeface="Arial Black" pitchFamily="34" charset="-122"/>
                <a:cs typeface="Arial Black" pitchFamily="34" charset="-120"/>
              </a:rPr>
              <a:t>PCE</a:t>
            </a:r>
            <a:endParaRPr lang="en-US" sz="2933" dirty="0">
              <a:solidFill>
                <a:prstClr val="black"/>
              </a:solidFill>
              <a:latin typeface="Calibri" panose="020F0502020204030204"/>
            </a:endParaRPr>
          </a:p>
        </p:txBody>
      </p:sp>
      <p:sp>
        <p:nvSpPr>
          <p:cNvPr id="21" name="Text 19"/>
          <p:cNvSpPr/>
          <p:nvPr/>
        </p:nvSpPr>
        <p:spPr>
          <a:xfrm>
            <a:off x="8534400" y="2621280"/>
            <a:ext cx="2987040" cy="426720"/>
          </a:xfrm>
          <a:prstGeom prst="rect">
            <a:avLst/>
          </a:prstGeom>
          <a:noFill/>
          <a:ln/>
        </p:spPr>
        <p:txBody>
          <a:bodyPr wrap="square" lIns="0" tIns="0" rIns="0" bIns="0" rtlCol="0" anchor="ctr"/>
          <a:lstStyle/>
          <a:p>
            <a:pPr defTabSz="1219170"/>
            <a:r>
              <a:rPr lang="en-US" sz="1467" dirty="0">
                <a:solidFill>
                  <a:srgbClr val="5A6478"/>
                </a:solidFill>
                <a:latin typeface="Calibri" pitchFamily="34" charset="0"/>
                <a:ea typeface="Calibri" pitchFamily="34" charset="-122"/>
                <a:cs typeface="Calibri" pitchFamily="34" charset="-120"/>
              </a:rPr>
              <a:t>Personal Consumption Expenditures</a:t>
            </a:r>
            <a:endParaRPr lang="en-US" sz="1467" dirty="0">
              <a:solidFill>
                <a:prstClr val="black"/>
              </a:solidFill>
              <a:latin typeface="Calibri" panose="020F0502020204030204"/>
            </a:endParaRPr>
          </a:p>
        </p:txBody>
      </p:sp>
      <p:sp>
        <p:nvSpPr>
          <p:cNvPr id="22" name="Text 20"/>
          <p:cNvSpPr/>
          <p:nvPr/>
        </p:nvSpPr>
        <p:spPr>
          <a:xfrm>
            <a:off x="8534400" y="3108960"/>
            <a:ext cx="2987040" cy="1219200"/>
          </a:xfrm>
          <a:prstGeom prst="rect">
            <a:avLst/>
          </a:prstGeom>
          <a:noFill/>
          <a:ln/>
        </p:spPr>
        <p:txBody>
          <a:bodyPr wrap="square" lIns="0" tIns="0" rIns="0" bIns="0" rtlCol="0" anchor="t"/>
          <a:lstStyle/>
          <a:p>
            <a:pPr defTabSz="1219170"/>
            <a:r>
              <a:rPr lang="en-US" sz="1600" dirty="0">
                <a:solidFill>
                  <a:srgbClr val="E8ECF1"/>
                </a:solidFill>
                <a:latin typeface="Calibri" pitchFamily="34" charset="0"/>
                <a:ea typeface="Calibri" pitchFamily="34" charset="-122"/>
                <a:cs typeface="Calibri" pitchFamily="34" charset="-120"/>
              </a:rPr>
              <a:t>Broader than CPI, accounts for substitution effects. The Fed's official target metric.</a:t>
            </a:r>
            <a:endParaRPr lang="en-US" sz="1600" dirty="0">
              <a:solidFill>
                <a:prstClr val="black"/>
              </a:solidFill>
              <a:latin typeface="Calibri" panose="020F0502020204030204"/>
            </a:endParaRPr>
          </a:p>
        </p:txBody>
      </p:sp>
      <p:sp>
        <p:nvSpPr>
          <p:cNvPr id="23" name="Shape 21"/>
          <p:cNvSpPr/>
          <p:nvPr/>
        </p:nvSpPr>
        <p:spPr>
          <a:xfrm>
            <a:off x="8534400" y="4572000"/>
            <a:ext cx="2987040" cy="426720"/>
          </a:xfrm>
          <a:prstGeom prst="roundRect">
            <a:avLst>
              <a:gd name="adj" fmla="val 14286"/>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4" name="Text 22"/>
          <p:cNvSpPr/>
          <p:nvPr/>
        </p:nvSpPr>
        <p:spPr>
          <a:xfrm>
            <a:off x="8534400" y="4572000"/>
            <a:ext cx="2987040" cy="426720"/>
          </a:xfrm>
          <a:prstGeom prst="rect">
            <a:avLst/>
          </a:prstGeom>
          <a:noFill/>
          <a:ln/>
        </p:spPr>
        <p:txBody>
          <a:bodyPr wrap="square" lIns="0" tIns="0" rIns="0" bIns="0" rtlCol="0" anchor="ctr"/>
          <a:lstStyle/>
          <a:p>
            <a:pPr algn="ctr" defTabSz="1219170"/>
            <a:r>
              <a:rPr lang="en-US" sz="1200" dirty="0">
                <a:solidFill>
                  <a:srgbClr val="FFD700"/>
                </a:solidFill>
                <a:latin typeface="Consolas" pitchFamily="34" charset="0"/>
                <a:ea typeface="Consolas" pitchFamily="34" charset="-122"/>
                <a:cs typeface="Consolas" pitchFamily="34" charset="-120"/>
              </a:rPr>
              <a:t>Fed's 2% target is based on PCE</a:t>
            </a:r>
            <a:endParaRPr lang="en-US" sz="1200" dirty="0">
              <a:solidFill>
                <a:prstClr val="black"/>
              </a:solidFill>
              <a:latin typeface="Calibri" panose="020F0502020204030204"/>
            </a:endParaRPr>
          </a:p>
        </p:txBody>
      </p:sp>
      <p:sp>
        <p:nvSpPr>
          <p:cNvPr id="25" name="Shape 23"/>
          <p:cNvSpPr/>
          <p:nvPr/>
        </p:nvSpPr>
        <p:spPr>
          <a:xfrm>
            <a:off x="731520" y="5608320"/>
            <a:ext cx="10728960" cy="853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731520" y="5608320"/>
            <a:ext cx="73152" cy="85344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27" name="Text 25"/>
          <p:cNvSpPr/>
          <p:nvPr/>
        </p:nvSpPr>
        <p:spPr>
          <a:xfrm>
            <a:off x="1097280" y="5608320"/>
            <a:ext cx="10119360" cy="853440"/>
          </a:xfrm>
          <a:prstGeom prst="rect">
            <a:avLst/>
          </a:prstGeom>
          <a:noFill/>
          <a:ln/>
        </p:spPr>
        <p:txBody>
          <a:bodyPr wrap="square" lIns="0" tIns="0" rIns="0" bIns="0" rtlCol="0" anchor="ctr"/>
          <a:lstStyle/>
          <a:p>
            <a:pPr defTabSz="1219170"/>
            <a:r>
              <a:rPr lang="en-US" sz="1733" b="1" dirty="0">
                <a:solidFill>
                  <a:srgbClr val="FF8C42"/>
                </a:solidFill>
                <a:latin typeface="Calibri" pitchFamily="34" charset="0"/>
                <a:ea typeface="Calibri" pitchFamily="34" charset="-122"/>
                <a:cs typeface="Calibri" pitchFamily="34" charset="-120"/>
              </a:rPr>
              <a:t>KEY INSIGHT:  </a:t>
            </a:r>
            <a:r>
              <a:rPr lang="en-US" sz="1733" dirty="0">
                <a:solidFill>
                  <a:srgbClr val="E8ECF1"/>
                </a:solidFill>
                <a:latin typeface="Calibri" pitchFamily="34" charset="0"/>
                <a:ea typeface="Calibri" pitchFamily="34" charset="-122"/>
                <a:cs typeface="Calibri" pitchFamily="34" charset="-120"/>
              </a:rPr>
              <a:t>None of these capture asset price inflation (stocks, real estate). Your clients' cost of living may rise far faster than CPI suggests.</a:t>
            </a:r>
            <a:endParaRPr lang="en-US" sz="1733" dirty="0">
              <a:solidFill>
                <a:prstClr val="black"/>
              </a:solidFill>
              <a:latin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59680" y="487680"/>
            <a:ext cx="2072640" cy="2072640"/>
          </a:xfrm>
          <a:prstGeom prst="rect">
            <a:avLst/>
          </a:prstGeom>
        </p:spPr>
      </p:pic>
      <p:sp>
        <p:nvSpPr>
          <p:cNvPr id="3" name="Text 0"/>
          <p:cNvSpPr/>
          <p:nvPr/>
        </p:nvSpPr>
        <p:spPr>
          <a:xfrm>
            <a:off x="731520" y="2682240"/>
            <a:ext cx="10728960" cy="609600"/>
          </a:xfrm>
          <a:prstGeom prst="rect">
            <a:avLst/>
          </a:prstGeom>
          <a:noFill/>
          <a:ln/>
        </p:spPr>
        <p:txBody>
          <a:bodyPr wrap="square" lIns="0" tIns="0" rIns="0" bIns="0" rtlCol="0" anchor="ctr"/>
          <a:lstStyle/>
          <a:p>
            <a:pPr algn="ctr" defTabSz="1219170"/>
            <a:r>
              <a:rPr lang="en-US" sz="1733" b="1" dirty="0">
                <a:solidFill>
                  <a:srgbClr val="FFD700"/>
                </a:solidFill>
                <a:latin typeface="Consolas" pitchFamily="34" charset="0"/>
                <a:ea typeface="Consolas" pitchFamily="34" charset="-122"/>
                <a:cs typeface="Consolas" pitchFamily="34" charset="-120"/>
              </a:rPr>
              <a:t>QUICK CHECK</a:t>
            </a:r>
            <a:endParaRPr lang="en-US" sz="1733" dirty="0">
              <a:solidFill>
                <a:prstClr val="black"/>
              </a:solidFill>
              <a:latin typeface="Calibri" panose="020F0502020204030204"/>
            </a:endParaRPr>
          </a:p>
        </p:txBody>
      </p:sp>
      <p:sp>
        <p:nvSpPr>
          <p:cNvPr id="4" name="Text 1"/>
          <p:cNvSpPr/>
          <p:nvPr/>
        </p:nvSpPr>
        <p:spPr>
          <a:xfrm>
            <a:off x="731520" y="3230880"/>
            <a:ext cx="10728960" cy="1219200"/>
          </a:xfrm>
          <a:prstGeom prst="rect">
            <a:avLst/>
          </a:prstGeom>
          <a:noFill/>
          <a:ln/>
        </p:spPr>
        <p:txBody>
          <a:bodyPr wrap="square" lIns="0" tIns="0" rIns="0" bIns="0" rtlCol="0" anchor="ctr"/>
          <a:lstStyle/>
          <a:p>
            <a:pPr algn="ctr" defTabSz="1219170"/>
            <a:r>
              <a:rPr lang="en-US" sz="2667" dirty="0">
                <a:solidFill>
                  <a:srgbClr val="FFFFFF"/>
                </a:solidFill>
                <a:latin typeface="Calibri" pitchFamily="34" charset="0"/>
                <a:ea typeface="Calibri" pitchFamily="34" charset="-122"/>
                <a:cs typeface="Calibri" pitchFamily="34" charset="-120"/>
              </a:rPr>
              <a:t>Since 1971 (when the U.S. left the gold standard),</a:t>
            </a:r>
            <a:endParaRPr lang="en-US" sz="2667" dirty="0">
              <a:solidFill>
                <a:prstClr val="black"/>
              </a:solidFill>
              <a:latin typeface="Calibri" panose="020F0502020204030204"/>
            </a:endParaRPr>
          </a:p>
          <a:p>
            <a:pPr algn="ctr" defTabSz="1219170"/>
            <a:r>
              <a:rPr lang="en-US" sz="2667" dirty="0">
                <a:solidFill>
                  <a:srgbClr val="FFFFFF"/>
                </a:solidFill>
                <a:latin typeface="Calibri" pitchFamily="34" charset="0"/>
                <a:ea typeface="Calibri" pitchFamily="34" charset="-122"/>
                <a:cs typeface="Calibri" pitchFamily="34" charset="-120"/>
              </a:rPr>
              <a:t>how much has the U.S. dollar's purchasing power declined?</a:t>
            </a:r>
            <a:endParaRPr lang="en-US" sz="2667" dirty="0">
              <a:solidFill>
                <a:prstClr val="black"/>
              </a:solidFill>
              <a:latin typeface="Calibri" panose="020F0502020204030204"/>
            </a:endParaRPr>
          </a:p>
        </p:txBody>
      </p:sp>
      <p:sp>
        <p:nvSpPr>
          <p:cNvPr id="5" name="Shape 2"/>
          <p:cNvSpPr/>
          <p:nvPr/>
        </p:nvSpPr>
        <p:spPr>
          <a:xfrm>
            <a:off x="1584960" y="4754880"/>
            <a:ext cx="2926080" cy="975360"/>
          </a:xfrm>
          <a:prstGeom prst="roundRect">
            <a:avLst>
              <a:gd name="adj" fmla="val 10000"/>
            </a:avLst>
          </a:prstGeom>
          <a:solidFill>
            <a:srgbClr val="151926"/>
          </a:solidFill>
          <a:ln w="19050">
            <a:solidFill>
              <a:srgbClr val="252D3F"/>
            </a:solidFill>
            <a:prstDash val="solid"/>
          </a:ln>
        </p:spPr>
        <p:txBody>
          <a:bodyPr/>
          <a:lstStyle/>
          <a:p>
            <a:pPr defTabSz="1219170"/>
            <a:endParaRPr lang="en-US" sz="2400">
              <a:solidFill>
                <a:prstClr val="black"/>
              </a:solidFill>
              <a:latin typeface="Calibri" panose="020F0502020204030204"/>
            </a:endParaRPr>
          </a:p>
        </p:txBody>
      </p:sp>
      <p:sp>
        <p:nvSpPr>
          <p:cNvPr id="6" name="Text 3"/>
          <p:cNvSpPr/>
          <p:nvPr/>
        </p:nvSpPr>
        <p:spPr>
          <a:xfrm>
            <a:off x="1767840" y="4754880"/>
            <a:ext cx="426720" cy="975360"/>
          </a:xfrm>
          <a:prstGeom prst="rect">
            <a:avLst/>
          </a:prstGeom>
          <a:noFill/>
          <a:ln/>
        </p:spPr>
        <p:txBody>
          <a:bodyPr wrap="square" lIns="0" tIns="0" rIns="0" bIns="0" rtlCol="0" anchor="ctr"/>
          <a:lstStyle/>
          <a:p>
            <a:pPr defTabSz="1219170"/>
            <a:r>
              <a:rPr lang="en-US" sz="2667" b="1" dirty="0">
                <a:solidFill>
                  <a:srgbClr val="00D4AA"/>
                </a:solidFill>
                <a:latin typeface="Arial Black" pitchFamily="34" charset="0"/>
                <a:ea typeface="Arial Black" pitchFamily="34" charset="-122"/>
                <a:cs typeface="Arial Black" pitchFamily="34" charset="-120"/>
              </a:rPr>
              <a:t>A</a:t>
            </a:r>
            <a:endParaRPr lang="en-US" sz="2667" dirty="0">
              <a:solidFill>
                <a:prstClr val="black"/>
              </a:solidFill>
              <a:latin typeface="Calibri" panose="020F0502020204030204"/>
            </a:endParaRPr>
          </a:p>
        </p:txBody>
      </p:sp>
      <p:sp>
        <p:nvSpPr>
          <p:cNvPr id="7" name="Text 4"/>
          <p:cNvSpPr/>
          <p:nvPr/>
        </p:nvSpPr>
        <p:spPr>
          <a:xfrm>
            <a:off x="2194560" y="4754880"/>
            <a:ext cx="2072640" cy="975360"/>
          </a:xfrm>
          <a:prstGeom prst="rect">
            <a:avLst/>
          </a:prstGeom>
          <a:noFill/>
          <a:ln/>
        </p:spPr>
        <p:txBody>
          <a:bodyPr wrap="square" lIns="0" tIns="0" rIns="0" bIns="0" rtlCol="0" anchor="ctr"/>
          <a:lstStyle/>
          <a:p>
            <a:pPr defTabSz="1219170"/>
            <a:r>
              <a:rPr lang="en-US" sz="2933" b="1" dirty="0">
                <a:solidFill>
                  <a:srgbClr val="5A6478"/>
                </a:solidFill>
                <a:latin typeface="Calibri" pitchFamily="34" charset="0"/>
                <a:ea typeface="Calibri" pitchFamily="34" charset="-122"/>
                <a:cs typeface="Calibri" pitchFamily="34" charset="-120"/>
              </a:rPr>
              <a:t>~30%</a:t>
            </a:r>
            <a:endParaRPr lang="en-US" sz="2933" dirty="0">
              <a:solidFill>
                <a:prstClr val="black"/>
              </a:solidFill>
              <a:latin typeface="Calibri" panose="020F0502020204030204"/>
            </a:endParaRPr>
          </a:p>
        </p:txBody>
      </p:sp>
      <p:sp>
        <p:nvSpPr>
          <p:cNvPr id="8" name="Shape 5"/>
          <p:cNvSpPr/>
          <p:nvPr/>
        </p:nvSpPr>
        <p:spPr>
          <a:xfrm>
            <a:off x="4876800" y="4754880"/>
            <a:ext cx="2926080" cy="975360"/>
          </a:xfrm>
          <a:prstGeom prst="roundRect">
            <a:avLst>
              <a:gd name="adj" fmla="val 10000"/>
            </a:avLst>
          </a:prstGeom>
          <a:solidFill>
            <a:srgbClr val="151926"/>
          </a:solidFill>
          <a:ln w="19050">
            <a:solidFill>
              <a:srgbClr val="252D3F"/>
            </a:solidFill>
            <a:prstDash val="solid"/>
          </a:ln>
        </p:spPr>
        <p:txBody>
          <a:bodyPr/>
          <a:lstStyle/>
          <a:p>
            <a:pPr defTabSz="1219170"/>
            <a:endParaRPr lang="en-US" sz="2400">
              <a:solidFill>
                <a:prstClr val="black"/>
              </a:solidFill>
              <a:latin typeface="Calibri" panose="020F0502020204030204"/>
            </a:endParaRPr>
          </a:p>
        </p:txBody>
      </p:sp>
      <p:sp>
        <p:nvSpPr>
          <p:cNvPr id="9" name="Text 6"/>
          <p:cNvSpPr/>
          <p:nvPr/>
        </p:nvSpPr>
        <p:spPr>
          <a:xfrm>
            <a:off x="5059680" y="4754880"/>
            <a:ext cx="426720" cy="975360"/>
          </a:xfrm>
          <a:prstGeom prst="rect">
            <a:avLst/>
          </a:prstGeom>
          <a:noFill/>
          <a:ln/>
        </p:spPr>
        <p:txBody>
          <a:bodyPr wrap="square" lIns="0" tIns="0" rIns="0" bIns="0" rtlCol="0" anchor="ctr"/>
          <a:lstStyle/>
          <a:p>
            <a:pPr defTabSz="1219170"/>
            <a:r>
              <a:rPr lang="en-US" sz="2667" b="1" dirty="0">
                <a:solidFill>
                  <a:srgbClr val="00D4AA"/>
                </a:solidFill>
                <a:latin typeface="Arial Black" pitchFamily="34" charset="0"/>
                <a:ea typeface="Arial Black" pitchFamily="34" charset="-122"/>
                <a:cs typeface="Arial Black" pitchFamily="34" charset="-120"/>
              </a:rPr>
              <a:t>B</a:t>
            </a:r>
            <a:endParaRPr lang="en-US" sz="2667" dirty="0">
              <a:solidFill>
                <a:prstClr val="black"/>
              </a:solidFill>
              <a:latin typeface="Calibri" panose="020F0502020204030204"/>
            </a:endParaRPr>
          </a:p>
        </p:txBody>
      </p:sp>
      <p:sp>
        <p:nvSpPr>
          <p:cNvPr id="10" name="Text 7"/>
          <p:cNvSpPr/>
          <p:nvPr/>
        </p:nvSpPr>
        <p:spPr>
          <a:xfrm>
            <a:off x="5486400" y="4754880"/>
            <a:ext cx="2072640" cy="975360"/>
          </a:xfrm>
          <a:prstGeom prst="rect">
            <a:avLst/>
          </a:prstGeom>
          <a:noFill/>
          <a:ln/>
        </p:spPr>
        <p:txBody>
          <a:bodyPr wrap="square" lIns="0" tIns="0" rIns="0" bIns="0" rtlCol="0" anchor="ctr"/>
          <a:lstStyle/>
          <a:p>
            <a:pPr defTabSz="1219170"/>
            <a:r>
              <a:rPr lang="en-US" sz="2933" b="1" dirty="0">
                <a:solidFill>
                  <a:srgbClr val="5A6478"/>
                </a:solidFill>
                <a:latin typeface="Calibri" pitchFamily="34" charset="0"/>
                <a:ea typeface="Calibri" pitchFamily="34" charset="-122"/>
                <a:cs typeface="Calibri" pitchFamily="34" charset="-120"/>
              </a:rPr>
              <a:t>~60%</a:t>
            </a:r>
            <a:endParaRPr lang="en-US" sz="2933" dirty="0">
              <a:solidFill>
                <a:prstClr val="black"/>
              </a:solidFill>
              <a:latin typeface="Calibri" panose="020F0502020204030204"/>
            </a:endParaRPr>
          </a:p>
        </p:txBody>
      </p:sp>
      <p:sp>
        <p:nvSpPr>
          <p:cNvPr id="11" name="Shape 8"/>
          <p:cNvSpPr/>
          <p:nvPr/>
        </p:nvSpPr>
        <p:spPr>
          <a:xfrm>
            <a:off x="8168640" y="4754880"/>
            <a:ext cx="2926080" cy="975360"/>
          </a:xfrm>
          <a:prstGeom prst="roundRect">
            <a:avLst>
              <a:gd name="adj" fmla="val 10000"/>
            </a:avLst>
          </a:prstGeom>
          <a:solidFill>
            <a:srgbClr val="151926"/>
          </a:solidFill>
          <a:ln w="19050">
            <a:solidFill>
              <a:srgbClr val="252D3F"/>
            </a:solidFill>
            <a:prstDash val="solid"/>
          </a:ln>
        </p:spPr>
        <p:txBody>
          <a:bodyPr/>
          <a:lstStyle/>
          <a:p>
            <a:pPr defTabSz="1219170"/>
            <a:endParaRPr lang="en-US" sz="2400">
              <a:solidFill>
                <a:prstClr val="black"/>
              </a:solidFill>
              <a:latin typeface="Calibri" panose="020F0502020204030204"/>
            </a:endParaRPr>
          </a:p>
        </p:txBody>
      </p:sp>
      <p:sp>
        <p:nvSpPr>
          <p:cNvPr id="12" name="Text 9"/>
          <p:cNvSpPr/>
          <p:nvPr/>
        </p:nvSpPr>
        <p:spPr>
          <a:xfrm>
            <a:off x="8351520" y="4754880"/>
            <a:ext cx="426720" cy="975360"/>
          </a:xfrm>
          <a:prstGeom prst="rect">
            <a:avLst/>
          </a:prstGeom>
          <a:noFill/>
          <a:ln/>
        </p:spPr>
        <p:txBody>
          <a:bodyPr wrap="square" lIns="0" tIns="0" rIns="0" bIns="0" rtlCol="0" anchor="ctr"/>
          <a:lstStyle/>
          <a:p>
            <a:pPr defTabSz="1219170"/>
            <a:r>
              <a:rPr lang="en-US" sz="2667" b="1" dirty="0">
                <a:solidFill>
                  <a:srgbClr val="00D4AA"/>
                </a:solidFill>
                <a:latin typeface="Arial Black" pitchFamily="34" charset="0"/>
                <a:ea typeface="Arial Black" pitchFamily="34" charset="-122"/>
                <a:cs typeface="Arial Black" pitchFamily="34" charset="-120"/>
              </a:rPr>
              <a:t>C</a:t>
            </a:r>
            <a:endParaRPr lang="en-US" sz="2667" dirty="0">
              <a:solidFill>
                <a:prstClr val="black"/>
              </a:solidFill>
              <a:latin typeface="Calibri" panose="020F0502020204030204"/>
            </a:endParaRPr>
          </a:p>
        </p:txBody>
      </p:sp>
      <p:sp>
        <p:nvSpPr>
          <p:cNvPr id="13" name="Text 10"/>
          <p:cNvSpPr/>
          <p:nvPr/>
        </p:nvSpPr>
        <p:spPr>
          <a:xfrm>
            <a:off x="8778240" y="4754880"/>
            <a:ext cx="2072640" cy="975360"/>
          </a:xfrm>
          <a:prstGeom prst="rect">
            <a:avLst/>
          </a:prstGeom>
          <a:noFill/>
          <a:ln/>
        </p:spPr>
        <p:txBody>
          <a:bodyPr wrap="square" lIns="0" tIns="0" rIns="0" bIns="0" rtlCol="0" anchor="ctr"/>
          <a:lstStyle/>
          <a:p>
            <a:pPr defTabSz="1219170"/>
            <a:r>
              <a:rPr lang="en-US" sz="2933" b="1" dirty="0">
                <a:solidFill>
                  <a:srgbClr val="5A6478"/>
                </a:solidFill>
                <a:latin typeface="Calibri" pitchFamily="34" charset="0"/>
                <a:ea typeface="Calibri" pitchFamily="34" charset="-122"/>
                <a:cs typeface="Calibri" pitchFamily="34" charset="-120"/>
              </a:rPr>
              <a:t>~87%</a:t>
            </a:r>
            <a:endParaRPr lang="en-US" sz="2933" dirty="0">
              <a:solidFill>
                <a:prstClr val="black"/>
              </a:solidFill>
              <a:latin typeface="Calibri" panose="020F0502020204030204"/>
            </a:endParaRPr>
          </a:p>
        </p:txBody>
      </p:sp>
      <p:sp>
        <p:nvSpPr>
          <p:cNvPr id="14" name="Text 11"/>
          <p:cNvSpPr/>
          <p:nvPr/>
        </p:nvSpPr>
        <p:spPr>
          <a:xfrm>
            <a:off x="731520" y="6096000"/>
            <a:ext cx="10728960" cy="487680"/>
          </a:xfrm>
          <a:prstGeom prst="rect">
            <a:avLst/>
          </a:prstGeom>
          <a:noFill/>
          <a:ln/>
        </p:spPr>
        <p:txBody>
          <a:bodyPr wrap="square" lIns="0" tIns="0" rIns="0" bIns="0" rtlCol="0" anchor="ctr"/>
          <a:lstStyle/>
          <a:p>
            <a:pPr algn="ctr" defTabSz="1219170"/>
            <a:r>
              <a:rPr lang="en-US" sz="1733" i="1" dirty="0">
                <a:solidFill>
                  <a:srgbClr val="5A6478"/>
                </a:solidFill>
                <a:latin typeface="Calibri" pitchFamily="34" charset="0"/>
                <a:ea typeface="Calibri" pitchFamily="34" charset="-122"/>
                <a:cs typeface="Calibri" pitchFamily="34" charset="-120"/>
              </a:rPr>
              <a:t>The answer will surprise most of you...</a:t>
            </a:r>
            <a:endParaRPr lang="en-US" sz="1733" dirty="0">
              <a:solidFill>
                <a:prstClr val="black"/>
              </a:solidFill>
              <a:latin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THE SILENT THIEF: PURCHASING POWER OF $1</a:t>
            </a:r>
            <a:endParaRPr lang="en-US" sz="2933" dirty="0">
              <a:solidFill>
                <a:prstClr val="black"/>
              </a:solidFill>
              <a:latin typeface="Calibri" panose="020F0502020204030204"/>
            </a:endParaRPr>
          </a:p>
        </p:txBody>
      </p:sp>
      <p:graphicFrame>
        <p:nvGraphicFramePr>
          <p:cNvPr id="3" name="Chart 0"/>
          <p:cNvGraphicFramePr/>
          <p:nvPr/>
        </p:nvGraphicFramePr>
        <p:xfrm>
          <a:off x="731520" y="1219200"/>
          <a:ext cx="7315200" cy="46329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8534400" y="1219200"/>
            <a:ext cx="316992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5" name="Text 2"/>
          <p:cNvSpPr/>
          <p:nvPr/>
        </p:nvSpPr>
        <p:spPr>
          <a:xfrm>
            <a:off x="8778240" y="1280160"/>
            <a:ext cx="2682240" cy="304800"/>
          </a:xfrm>
          <a:prstGeom prst="rect">
            <a:avLst/>
          </a:prstGeom>
          <a:noFill/>
          <a:ln/>
        </p:spPr>
        <p:txBody>
          <a:bodyPr wrap="square" lIns="0" tIns="0" rIns="0" bIns="0" rtlCol="0" anchor="ctr"/>
          <a:lstStyle/>
          <a:p>
            <a:pPr defTabSz="1219170"/>
            <a:r>
              <a:rPr lang="en-US" sz="1333" dirty="0">
                <a:solidFill>
                  <a:srgbClr val="5A6478"/>
                </a:solidFill>
                <a:latin typeface="Consolas" pitchFamily="34" charset="0"/>
                <a:ea typeface="Consolas" pitchFamily="34" charset="-122"/>
                <a:cs typeface="Consolas" pitchFamily="34" charset="-120"/>
              </a:rPr>
              <a:t>1971</a:t>
            </a:r>
            <a:endParaRPr lang="en-US" sz="1333" dirty="0">
              <a:solidFill>
                <a:prstClr val="black"/>
              </a:solidFill>
              <a:latin typeface="Calibri" panose="020F0502020204030204"/>
            </a:endParaRPr>
          </a:p>
        </p:txBody>
      </p:sp>
      <p:sp>
        <p:nvSpPr>
          <p:cNvPr id="6" name="Text 3"/>
          <p:cNvSpPr/>
          <p:nvPr/>
        </p:nvSpPr>
        <p:spPr>
          <a:xfrm>
            <a:off x="8778240" y="1584960"/>
            <a:ext cx="2682240" cy="548640"/>
          </a:xfrm>
          <a:prstGeom prst="rect">
            <a:avLst/>
          </a:prstGeom>
          <a:noFill/>
          <a:ln/>
        </p:spPr>
        <p:txBody>
          <a:bodyPr wrap="square" lIns="0" tIns="0" rIns="0" bIns="0" rtlCol="0" anchor="ctr"/>
          <a:lstStyle/>
          <a:p>
            <a:pPr defTabSz="1219170"/>
            <a:r>
              <a:rPr lang="en-US" sz="3467" b="1" dirty="0">
                <a:solidFill>
                  <a:srgbClr val="00D4AA"/>
                </a:solidFill>
                <a:latin typeface="Arial Black" pitchFamily="34" charset="0"/>
                <a:ea typeface="Arial Black" pitchFamily="34" charset="-122"/>
                <a:cs typeface="Arial Black" pitchFamily="34" charset="-120"/>
              </a:rPr>
              <a:t>$1.00</a:t>
            </a:r>
            <a:endParaRPr lang="en-US" sz="3467" dirty="0">
              <a:solidFill>
                <a:prstClr val="black"/>
              </a:solidFill>
              <a:latin typeface="Calibri" panose="020F0502020204030204"/>
            </a:endParaRPr>
          </a:p>
        </p:txBody>
      </p:sp>
      <p:sp>
        <p:nvSpPr>
          <p:cNvPr id="7" name="Text 4"/>
          <p:cNvSpPr/>
          <p:nvPr/>
        </p:nvSpPr>
        <p:spPr>
          <a:xfrm>
            <a:off x="8778240" y="2133600"/>
            <a:ext cx="268224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Gold standard ends</a:t>
            </a:r>
            <a:endParaRPr lang="en-US" sz="1333" dirty="0">
              <a:solidFill>
                <a:prstClr val="black"/>
              </a:solidFill>
              <a:latin typeface="Calibri" panose="020F0502020204030204"/>
            </a:endParaRPr>
          </a:p>
        </p:txBody>
      </p:sp>
      <p:sp>
        <p:nvSpPr>
          <p:cNvPr id="8" name="Shape 5"/>
          <p:cNvSpPr/>
          <p:nvPr/>
        </p:nvSpPr>
        <p:spPr>
          <a:xfrm>
            <a:off x="8534400" y="2804160"/>
            <a:ext cx="316992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9" name="Text 6"/>
          <p:cNvSpPr/>
          <p:nvPr/>
        </p:nvSpPr>
        <p:spPr>
          <a:xfrm>
            <a:off x="8778240" y="2865120"/>
            <a:ext cx="2682240" cy="304800"/>
          </a:xfrm>
          <a:prstGeom prst="rect">
            <a:avLst/>
          </a:prstGeom>
          <a:noFill/>
          <a:ln/>
        </p:spPr>
        <p:txBody>
          <a:bodyPr wrap="square" lIns="0" tIns="0" rIns="0" bIns="0" rtlCol="0" anchor="ctr"/>
          <a:lstStyle/>
          <a:p>
            <a:pPr defTabSz="1219170"/>
            <a:r>
              <a:rPr lang="en-US" sz="1333" dirty="0">
                <a:solidFill>
                  <a:srgbClr val="5A6478"/>
                </a:solidFill>
                <a:latin typeface="Consolas" pitchFamily="34" charset="0"/>
                <a:ea typeface="Consolas" pitchFamily="34" charset="-122"/>
                <a:cs typeface="Consolas" pitchFamily="34" charset="-120"/>
              </a:rPr>
              <a:t>2026</a:t>
            </a:r>
            <a:endParaRPr lang="en-US" sz="1333" dirty="0">
              <a:solidFill>
                <a:prstClr val="black"/>
              </a:solidFill>
              <a:latin typeface="Calibri" panose="020F0502020204030204"/>
            </a:endParaRPr>
          </a:p>
        </p:txBody>
      </p:sp>
      <p:sp>
        <p:nvSpPr>
          <p:cNvPr id="10" name="Text 7"/>
          <p:cNvSpPr/>
          <p:nvPr/>
        </p:nvSpPr>
        <p:spPr>
          <a:xfrm>
            <a:off x="8778240" y="3169920"/>
            <a:ext cx="2682240" cy="548640"/>
          </a:xfrm>
          <a:prstGeom prst="rect">
            <a:avLst/>
          </a:prstGeom>
          <a:noFill/>
          <a:ln/>
        </p:spPr>
        <p:txBody>
          <a:bodyPr wrap="square" lIns="0" tIns="0" rIns="0" bIns="0" rtlCol="0" anchor="ctr"/>
          <a:lstStyle/>
          <a:p>
            <a:pPr defTabSz="1219170"/>
            <a:r>
              <a:rPr lang="en-US" sz="3467" b="1" dirty="0">
                <a:solidFill>
                  <a:srgbClr val="00D4AA"/>
                </a:solidFill>
                <a:latin typeface="Arial Black" pitchFamily="34" charset="0"/>
                <a:ea typeface="Arial Black" pitchFamily="34" charset="-122"/>
                <a:cs typeface="Arial Black" pitchFamily="34" charset="-120"/>
              </a:rPr>
              <a:t>$0.13</a:t>
            </a:r>
            <a:endParaRPr lang="en-US" sz="3467" dirty="0">
              <a:solidFill>
                <a:prstClr val="black"/>
              </a:solidFill>
              <a:latin typeface="Calibri" panose="020F0502020204030204"/>
            </a:endParaRPr>
          </a:p>
        </p:txBody>
      </p:sp>
      <p:sp>
        <p:nvSpPr>
          <p:cNvPr id="11" name="Text 8"/>
          <p:cNvSpPr/>
          <p:nvPr/>
        </p:nvSpPr>
        <p:spPr>
          <a:xfrm>
            <a:off x="8778240" y="3718560"/>
            <a:ext cx="268224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What that dollar buys today</a:t>
            </a:r>
            <a:endParaRPr lang="en-US" sz="1333" dirty="0">
              <a:solidFill>
                <a:prstClr val="black"/>
              </a:solidFill>
              <a:latin typeface="Calibri" panose="020F0502020204030204"/>
            </a:endParaRPr>
          </a:p>
        </p:txBody>
      </p:sp>
      <p:sp>
        <p:nvSpPr>
          <p:cNvPr id="12" name="Shape 9"/>
          <p:cNvSpPr/>
          <p:nvPr/>
        </p:nvSpPr>
        <p:spPr>
          <a:xfrm>
            <a:off x="8534400" y="4389120"/>
            <a:ext cx="316992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3" name="Text 10"/>
          <p:cNvSpPr/>
          <p:nvPr/>
        </p:nvSpPr>
        <p:spPr>
          <a:xfrm>
            <a:off x="8778240" y="4450080"/>
            <a:ext cx="2682240" cy="304800"/>
          </a:xfrm>
          <a:prstGeom prst="rect">
            <a:avLst/>
          </a:prstGeom>
          <a:noFill/>
          <a:ln/>
        </p:spPr>
        <p:txBody>
          <a:bodyPr wrap="square" lIns="0" tIns="0" rIns="0" bIns="0" rtlCol="0" anchor="ctr"/>
          <a:lstStyle/>
          <a:p>
            <a:pPr defTabSz="1219170"/>
            <a:r>
              <a:rPr lang="en-US" sz="1333" dirty="0">
                <a:solidFill>
                  <a:srgbClr val="5A6478"/>
                </a:solidFill>
                <a:latin typeface="Consolas" pitchFamily="34" charset="0"/>
                <a:ea typeface="Consolas" pitchFamily="34" charset="-122"/>
                <a:cs typeface="Consolas" pitchFamily="34" charset="-120"/>
              </a:rPr>
              <a:t>Loss</a:t>
            </a:r>
            <a:endParaRPr lang="en-US" sz="1333" dirty="0">
              <a:solidFill>
                <a:prstClr val="black"/>
              </a:solidFill>
              <a:latin typeface="Calibri" panose="020F0502020204030204"/>
            </a:endParaRPr>
          </a:p>
        </p:txBody>
      </p:sp>
      <p:sp>
        <p:nvSpPr>
          <p:cNvPr id="14" name="Text 11"/>
          <p:cNvSpPr/>
          <p:nvPr/>
        </p:nvSpPr>
        <p:spPr>
          <a:xfrm>
            <a:off x="8778240" y="4754880"/>
            <a:ext cx="2682240" cy="548640"/>
          </a:xfrm>
          <a:prstGeom prst="rect">
            <a:avLst/>
          </a:prstGeom>
          <a:noFill/>
          <a:ln/>
        </p:spPr>
        <p:txBody>
          <a:bodyPr wrap="square" lIns="0" tIns="0" rIns="0" bIns="0" rtlCol="0" anchor="ctr"/>
          <a:lstStyle/>
          <a:p>
            <a:pPr defTabSz="1219170"/>
            <a:r>
              <a:rPr lang="en-US" sz="3467" b="1" dirty="0">
                <a:solidFill>
                  <a:srgbClr val="FF4757"/>
                </a:solidFill>
                <a:latin typeface="Arial Black" pitchFamily="34" charset="0"/>
                <a:ea typeface="Arial Black" pitchFamily="34" charset="-122"/>
                <a:cs typeface="Arial Black" pitchFamily="34" charset="-120"/>
              </a:rPr>
              <a:t>87%</a:t>
            </a:r>
            <a:endParaRPr lang="en-US" sz="3467" dirty="0">
              <a:solidFill>
                <a:prstClr val="black"/>
              </a:solidFill>
              <a:latin typeface="Calibri" panose="020F0502020204030204"/>
            </a:endParaRPr>
          </a:p>
        </p:txBody>
      </p:sp>
      <p:sp>
        <p:nvSpPr>
          <p:cNvPr id="15" name="Text 12"/>
          <p:cNvSpPr/>
          <p:nvPr/>
        </p:nvSpPr>
        <p:spPr>
          <a:xfrm>
            <a:off x="8778240" y="5303520"/>
            <a:ext cx="268224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Purchasing power destroyed</a:t>
            </a:r>
            <a:endParaRPr lang="en-US" sz="1333" dirty="0">
              <a:solidFill>
                <a:prstClr val="black"/>
              </a:solidFill>
              <a:latin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1219200"/>
            <a:ext cx="3657600" cy="2682240"/>
          </a:xfrm>
          <a:prstGeom prst="rect">
            <a:avLst/>
          </a:prstGeom>
          <a:noFill/>
          <a:ln/>
        </p:spPr>
        <p:txBody>
          <a:bodyPr wrap="square" lIns="0" tIns="0" rIns="0" bIns="0" rtlCol="0" anchor="ctr"/>
          <a:lstStyle/>
          <a:p>
            <a:pPr defTabSz="1219170"/>
            <a:r>
              <a:rPr lang="en-US" sz="12800" b="1" dirty="0">
                <a:solidFill>
                  <a:srgbClr val="1C2133"/>
                </a:solidFill>
                <a:latin typeface="Arial Black" pitchFamily="34" charset="0"/>
                <a:ea typeface="Arial Black" pitchFamily="34" charset="-122"/>
                <a:cs typeface="Arial Black" pitchFamily="34" charset="-120"/>
              </a:rPr>
              <a:t>02</a:t>
            </a:r>
            <a:endParaRPr lang="en-US" sz="12800" dirty="0">
              <a:solidFill>
                <a:prstClr val="black"/>
              </a:solidFill>
              <a:latin typeface="Calibri" panose="020F0502020204030204"/>
            </a:endParaRPr>
          </a:p>
        </p:txBody>
      </p:sp>
      <p:sp>
        <p:nvSpPr>
          <p:cNvPr id="3" name="Shape 1"/>
          <p:cNvSpPr/>
          <p:nvPr/>
        </p:nvSpPr>
        <p:spPr>
          <a:xfrm>
            <a:off x="731520" y="3413760"/>
            <a:ext cx="18288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3718560"/>
            <a:ext cx="10728960" cy="975360"/>
          </a:xfrm>
          <a:prstGeom prst="rect">
            <a:avLst/>
          </a:prstGeom>
          <a:noFill/>
          <a:ln/>
        </p:spPr>
        <p:txBody>
          <a:bodyPr wrap="square" lIns="0" tIns="0" rIns="0" bIns="0" rtlCol="0" anchor="ctr"/>
          <a:lstStyle/>
          <a:p>
            <a:pPr defTabSz="1219170"/>
            <a:r>
              <a:rPr lang="en-US" sz="4000" b="1" dirty="0">
                <a:solidFill>
                  <a:srgbClr val="FFFFFF"/>
                </a:solidFill>
                <a:latin typeface="Arial Black" pitchFamily="34" charset="0"/>
                <a:ea typeface="Arial Black" pitchFamily="34" charset="-122"/>
                <a:cs typeface="Arial Black" pitchFamily="34" charset="-120"/>
              </a:rPr>
              <a:t>What Causes Inflation?</a:t>
            </a:r>
            <a:endParaRPr lang="en-US" sz="4000" dirty="0">
              <a:solidFill>
                <a:prstClr val="black"/>
              </a:solidFill>
              <a:latin typeface="Calibri" panose="020F0502020204030204"/>
            </a:endParaRPr>
          </a:p>
        </p:txBody>
      </p:sp>
      <p:sp>
        <p:nvSpPr>
          <p:cNvPr id="5" name="Text 3"/>
          <p:cNvSpPr/>
          <p:nvPr/>
        </p:nvSpPr>
        <p:spPr>
          <a:xfrm>
            <a:off x="731520" y="4693920"/>
            <a:ext cx="10728960" cy="609600"/>
          </a:xfrm>
          <a:prstGeom prst="rect">
            <a:avLst/>
          </a:prstGeom>
          <a:noFill/>
          <a:ln/>
        </p:spPr>
        <p:txBody>
          <a:bodyPr wrap="square" lIns="0" tIns="0" rIns="0" bIns="0" rtlCol="0" anchor="ctr"/>
          <a:lstStyle/>
          <a:p>
            <a:pPr defTabSz="1219170"/>
            <a:r>
              <a:rPr lang="en-US" sz="2133" dirty="0">
                <a:solidFill>
                  <a:srgbClr val="8B95A8"/>
                </a:solidFill>
                <a:latin typeface="Calibri" pitchFamily="34" charset="0"/>
                <a:ea typeface="Calibri" pitchFamily="34" charset="-122"/>
                <a:cs typeface="Calibri" pitchFamily="34" charset="-120"/>
              </a:rPr>
              <a:t>The four engines, and the fiscal arithmetic that now sits underneath them</a:t>
            </a:r>
            <a:endParaRPr lang="en-US" sz="2133" dirty="0">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0607040" y="1463040"/>
            <a:ext cx="975360" cy="9753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ROOT CAUSE: MONEY SUPPLY EXPANSION</a:t>
            </a:r>
            <a:endParaRPr lang="en-US" sz="2933" dirty="0">
              <a:solidFill>
                <a:prstClr val="black"/>
              </a:solidFill>
              <a:latin typeface="Calibri" panose="020F0502020204030204"/>
            </a:endParaRPr>
          </a:p>
        </p:txBody>
      </p:sp>
      <p:graphicFrame>
        <p:nvGraphicFramePr>
          <p:cNvPr id="3" name="Chart 0"/>
          <p:cNvGraphicFramePr/>
          <p:nvPr/>
        </p:nvGraphicFramePr>
        <p:xfrm>
          <a:off x="731520" y="1219200"/>
          <a:ext cx="6705600" cy="426720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924800" y="1219200"/>
            <a:ext cx="3779520" cy="426720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5" name="Text 2"/>
          <p:cNvSpPr/>
          <p:nvPr/>
        </p:nvSpPr>
        <p:spPr>
          <a:xfrm>
            <a:off x="8168640" y="1402080"/>
            <a:ext cx="3291840" cy="426720"/>
          </a:xfrm>
          <a:prstGeom prst="rect">
            <a:avLst/>
          </a:prstGeom>
          <a:noFill/>
          <a:ln/>
        </p:spPr>
        <p:txBody>
          <a:bodyPr wrap="square" lIns="0" tIns="0" rIns="0" bIns="0" rtlCol="0" anchor="ctr"/>
          <a:lstStyle/>
          <a:p>
            <a:pPr defTabSz="1219170"/>
            <a:r>
              <a:rPr lang="en-US" sz="1733" b="1" dirty="0">
                <a:solidFill>
                  <a:srgbClr val="FF8C42"/>
                </a:solidFill>
                <a:latin typeface="Arial Black" pitchFamily="34" charset="0"/>
                <a:ea typeface="Arial Black" pitchFamily="34" charset="-122"/>
                <a:cs typeface="Arial Black" pitchFamily="34" charset="-120"/>
              </a:rPr>
              <a:t>THE COVID SURGE</a:t>
            </a:r>
            <a:endParaRPr lang="en-US" sz="1733" dirty="0">
              <a:solidFill>
                <a:prstClr val="black"/>
              </a:solidFill>
              <a:latin typeface="Calibri" panose="020F0502020204030204"/>
            </a:endParaRPr>
          </a:p>
        </p:txBody>
      </p:sp>
      <p:sp>
        <p:nvSpPr>
          <p:cNvPr id="6" name="Text 3"/>
          <p:cNvSpPr/>
          <p:nvPr/>
        </p:nvSpPr>
        <p:spPr>
          <a:xfrm>
            <a:off x="8168640" y="1950720"/>
            <a:ext cx="3291840" cy="3291840"/>
          </a:xfrm>
          <a:prstGeom prst="rect">
            <a:avLst/>
          </a:prstGeom>
          <a:noFill/>
          <a:ln/>
        </p:spPr>
        <p:txBody>
          <a:bodyPr wrap="square" lIns="0" tIns="0" rIns="0" bIns="0" rtlCol="0" anchor="t"/>
          <a:lstStyle/>
          <a:p>
            <a:pPr defTabSz="1219170"/>
            <a:r>
              <a:rPr lang="en-US" sz="1867" dirty="0">
                <a:solidFill>
                  <a:srgbClr val="E8ECF1"/>
                </a:solidFill>
                <a:latin typeface="Calibri" pitchFamily="34" charset="0"/>
                <a:ea typeface="Calibri" pitchFamily="34" charset="-122"/>
                <a:cs typeface="Calibri" pitchFamily="34" charset="-120"/>
              </a:rPr>
              <a:t>2020 alone saw ~25% of all U.S. dollars ever created printed in a single year.</a:t>
            </a:r>
            <a:endParaRPr lang="en-US" sz="1867" dirty="0">
              <a:solidFill>
                <a:prstClr val="black"/>
              </a:solidFill>
              <a:latin typeface="Calibri" panose="020F0502020204030204"/>
            </a:endParaRPr>
          </a:p>
          <a:p>
            <a:pPr defTabSz="1219170"/>
            <a:endParaRPr lang="en-US" sz="1867" dirty="0">
              <a:solidFill>
                <a:prstClr val="black"/>
              </a:solidFill>
              <a:latin typeface="Calibri" panose="020F0502020204030204"/>
            </a:endParaRPr>
          </a:p>
          <a:p>
            <a:pPr defTabSz="1219170"/>
            <a:r>
              <a:rPr lang="en-US" sz="1733" dirty="0">
                <a:solidFill>
                  <a:srgbClr val="8B95A8"/>
                </a:solidFill>
                <a:latin typeface="Calibri" pitchFamily="34" charset="0"/>
                <a:ea typeface="Calibri" pitchFamily="34" charset="-122"/>
                <a:cs typeface="Calibri" pitchFamily="34" charset="-120"/>
              </a:rPr>
              <a:t>M2 grew from $15.3T to $19.1T — a $3.8T increase in 12 months.</a:t>
            </a:r>
            <a:endParaRPr lang="en-US" sz="1867" dirty="0">
              <a:solidFill>
                <a:prstClr val="black"/>
              </a:solidFill>
              <a:latin typeface="Calibri" panose="020F0502020204030204"/>
            </a:endParaRPr>
          </a:p>
          <a:p>
            <a:pPr defTabSz="1219170"/>
            <a:endParaRPr lang="en-US" sz="1867" dirty="0">
              <a:solidFill>
                <a:prstClr val="black"/>
              </a:solidFill>
              <a:latin typeface="Calibri" panose="020F0502020204030204"/>
            </a:endParaRPr>
          </a:p>
          <a:p>
            <a:pPr defTabSz="1219170"/>
            <a:r>
              <a:rPr lang="en-US" sz="1733" dirty="0">
                <a:solidFill>
                  <a:srgbClr val="E8ECF1"/>
                </a:solidFill>
                <a:latin typeface="Calibri" pitchFamily="34" charset="0"/>
                <a:ea typeface="Calibri" pitchFamily="34" charset="-122"/>
                <a:cs typeface="Calibri" pitchFamily="34" charset="-120"/>
              </a:rPr>
              <a:t>By the quantity theory of money (MV=PQ), this expansion was destined to show up as price inflation.</a:t>
            </a:r>
            <a:endParaRPr lang="en-US" sz="1867" dirty="0">
              <a:solidFill>
                <a:prstClr val="black"/>
              </a:solidFill>
              <a:latin typeface="Calibri" panose="020F0502020204030204"/>
            </a:endParaRPr>
          </a:p>
          <a:p>
            <a:pPr defTabSz="1219170"/>
            <a:endParaRPr lang="en-US" sz="1867" dirty="0">
              <a:solidFill>
                <a:prstClr val="black"/>
              </a:solidFill>
              <a:latin typeface="Calibri" panose="020F0502020204030204"/>
            </a:endParaRPr>
          </a:p>
          <a:p>
            <a:pPr defTabSz="1219170"/>
            <a:r>
              <a:rPr lang="en-US" sz="1733" i="1" dirty="0">
                <a:solidFill>
                  <a:srgbClr val="FF8C42"/>
                </a:solidFill>
                <a:latin typeface="Calibri" pitchFamily="34" charset="0"/>
                <a:ea typeface="Calibri" pitchFamily="34" charset="-122"/>
                <a:cs typeface="Calibri" pitchFamily="34" charset="-120"/>
              </a:rPr>
              <a:t>The lag: 12-18 months. Since 2020, deficits are the channel.</a:t>
            </a:r>
            <a:endParaRPr lang="en-US" sz="1867" dirty="0">
              <a:solidFill>
                <a:prstClr val="black"/>
              </a:solidFill>
              <a:latin typeface="Calibri" panose="020F0502020204030204"/>
            </a:endParaRPr>
          </a:p>
        </p:txBody>
      </p:sp>
      <p:sp>
        <p:nvSpPr>
          <p:cNvPr id="7" name="Shape 4"/>
          <p:cNvSpPr/>
          <p:nvPr/>
        </p:nvSpPr>
        <p:spPr>
          <a:xfrm>
            <a:off x="731520" y="5852160"/>
            <a:ext cx="10728960" cy="7315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8" name="Shape 5"/>
          <p:cNvSpPr/>
          <p:nvPr/>
        </p:nvSpPr>
        <p:spPr>
          <a:xfrm>
            <a:off x="731520" y="5852160"/>
            <a:ext cx="73152" cy="73152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9" name="Text 6"/>
          <p:cNvSpPr/>
          <p:nvPr/>
        </p:nvSpPr>
        <p:spPr>
          <a:xfrm>
            <a:off x="1097280" y="5852160"/>
            <a:ext cx="10119360" cy="731520"/>
          </a:xfrm>
          <a:prstGeom prst="rect">
            <a:avLst/>
          </a:prstGeom>
          <a:noFill/>
          <a:ln/>
        </p:spPr>
        <p:txBody>
          <a:bodyPr wrap="square" lIns="0" tIns="0" rIns="0" bIns="0" rtlCol="0" anchor="ctr"/>
          <a:lstStyle/>
          <a:p>
            <a:pPr defTabSz="1219170"/>
            <a:r>
              <a:rPr lang="en-US" sz="1867" b="1" dirty="0">
                <a:solidFill>
                  <a:srgbClr val="00D4AA"/>
                </a:solidFill>
                <a:latin typeface="Consolas" pitchFamily="34" charset="0"/>
                <a:ea typeface="Consolas" pitchFamily="34" charset="-122"/>
                <a:cs typeface="Consolas" pitchFamily="34" charset="-120"/>
              </a:rPr>
              <a:t>MV = PQ  →  </a:t>
            </a:r>
            <a:r>
              <a:rPr lang="en-US" sz="1733" dirty="0">
                <a:solidFill>
                  <a:srgbClr val="E8ECF1"/>
                </a:solidFill>
                <a:latin typeface="Calibri" pitchFamily="34" charset="0"/>
                <a:ea typeface="Calibri" pitchFamily="34" charset="-122"/>
                <a:cs typeface="Calibri" pitchFamily="34" charset="-120"/>
              </a:rPr>
              <a:t>More money (M) + stable velocity (V) = higher prices (P) when output (Q) can't keep up</a:t>
            </a:r>
            <a:endParaRPr lang="en-US" sz="1867" dirty="0">
              <a:solidFill>
                <a:prstClr val="black"/>
              </a:solidFill>
              <a:latin typeface="Calibri" panose="020F050202020403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THE FOUR ENGINES OF INFLATION</a:t>
            </a:r>
            <a:endParaRPr lang="en-US" sz="2933" dirty="0">
              <a:solidFill>
                <a:prstClr val="black"/>
              </a:solidFill>
              <a:latin typeface="Calibri" panose="020F0502020204030204"/>
            </a:endParaRPr>
          </a:p>
        </p:txBody>
      </p:sp>
      <p:sp>
        <p:nvSpPr>
          <p:cNvPr id="3" name="Shape 1"/>
          <p:cNvSpPr/>
          <p:nvPr/>
        </p:nvSpPr>
        <p:spPr>
          <a:xfrm>
            <a:off x="731520" y="1341120"/>
            <a:ext cx="5364480" cy="2377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341120"/>
            <a:ext cx="73152" cy="23774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pic>
        <p:nvPicPr>
          <p:cNvPr id="5" name="Image 0" descr="preencoded.png"/>
          <p:cNvPicPr>
            <a:picLocks noChangeAspect="1"/>
          </p:cNvPicPr>
          <p:nvPr/>
        </p:nvPicPr>
        <p:blipFill>
          <a:blip r:embed="rId3"/>
          <a:stretch>
            <a:fillRect/>
          </a:stretch>
        </p:blipFill>
        <p:spPr>
          <a:xfrm>
            <a:off x="1036320" y="1524000"/>
            <a:ext cx="426720" cy="426720"/>
          </a:xfrm>
          <a:prstGeom prst="rect">
            <a:avLst/>
          </a:prstGeom>
        </p:spPr>
      </p:pic>
      <p:sp>
        <p:nvSpPr>
          <p:cNvPr id="6" name="Text 3"/>
          <p:cNvSpPr/>
          <p:nvPr/>
        </p:nvSpPr>
        <p:spPr>
          <a:xfrm>
            <a:off x="1584960" y="1487424"/>
            <a:ext cx="4145280" cy="426720"/>
          </a:xfrm>
          <a:prstGeom prst="rect">
            <a:avLst/>
          </a:prstGeom>
          <a:noFill/>
          <a:ln/>
        </p:spPr>
        <p:txBody>
          <a:bodyPr wrap="square" lIns="0" tIns="0" rIns="0" bIns="0" rtlCol="0" anchor="ctr"/>
          <a:lstStyle/>
          <a:p>
            <a:pPr defTabSz="1219170"/>
            <a:r>
              <a:rPr lang="en-US" sz="2133" b="1" dirty="0">
                <a:solidFill>
                  <a:srgbClr val="00D4AA"/>
                </a:solidFill>
                <a:latin typeface="Arial Black" pitchFamily="34" charset="0"/>
                <a:ea typeface="Arial Black" pitchFamily="34" charset="-122"/>
                <a:cs typeface="Arial Black" pitchFamily="34" charset="-120"/>
              </a:rPr>
              <a:t>Demand-Pull</a:t>
            </a:r>
            <a:endParaRPr lang="en-US" sz="2133" dirty="0">
              <a:solidFill>
                <a:prstClr val="black"/>
              </a:solidFill>
              <a:latin typeface="Calibri" panose="020F0502020204030204"/>
            </a:endParaRPr>
          </a:p>
        </p:txBody>
      </p:sp>
      <p:sp>
        <p:nvSpPr>
          <p:cNvPr id="7" name="Text 4"/>
          <p:cNvSpPr/>
          <p:nvPr/>
        </p:nvSpPr>
        <p:spPr>
          <a:xfrm>
            <a:off x="1036320" y="2011680"/>
            <a:ext cx="4754880" cy="365760"/>
          </a:xfrm>
          <a:prstGeom prst="rect">
            <a:avLst/>
          </a:prstGeom>
          <a:noFill/>
          <a:ln/>
        </p:spPr>
        <p:txBody>
          <a:bodyPr wrap="square" lIns="0" tIns="0" rIns="0" bIns="0" rtlCol="0" anchor="ctr"/>
          <a:lstStyle/>
          <a:p>
            <a:pPr defTabSz="1219170"/>
            <a:r>
              <a:rPr lang="en-US" sz="1467" i="1" dirty="0">
                <a:solidFill>
                  <a:srgbClr val="8B95A8"/>
                </a:solidFill>
                <a:latin typeface="Calibri" pitchFamily="34" charset="0"/>
                <a:ea typeface="Calibri" pitchFamily="34" charset="-122"/>
                <a:cs typeface="Calibri" pitchFamily="34" charset="-120"/>
              </a:rPr>
              <a:t>Too much money chasing too few goods</a:t>
            </a:r>
            <a:endParaRPr lang="en-US" sz="1467" dirty="0">
              <a:solidFill>
                <a:prstClr val="black"/>
              </a:solidFill>
              <a:latin typeface="Calibri" panose="020F0502020204030204"/>
            </a:endParaRPr>
          </a:p>
        </p:txBody>
      </p:sp>
      <p:sp>
        <p:nvSpPr>
          <p:cNvPr id="8" name="Text 5"/>
          <p:cNvSpPr/>
          <p:nvPr/>
        </p:nvSpPr>
        <p:spPr>
          <a:xfrm>
            <a:off x="1036320" y="2377440"/>
            <a:ext cx="4754880" cy="548640"/>
          </a:xfrm>
          <a:prstGeom prst="rect">
            <a:avLst/>
          </a:prstGeom>
          <a:noFill/>
          <a:ln/>
        </p:spPr>
        <p:txBody>
          <a:bodyPr wrap="square" lIns="0" tIns="0" rIns="0" bIns="0" rtlCol="0" anchor="ctr"/>
          <a:lstStyle/>
          <a:p>
            <a:pPr defTabSz="1219170"/>
            <a:r>
              <a:rPr lang="en-US" sz="1467" dirty="0">
                <a:solidFill>
                  <a:srgbClr val="E8ECF1"/>
                </a:solidFill>
                <a:latin typeface="Calibri" pitchFamily="34" charset="0"/>
                <a:ea typeface="Calibri" pitchFamily="34" charset="-122"/>
                <a:cs typeface="Calibri" pitchFamily="34" charset="-120"/>
              </a:rPr>
              <a:t>Fed lowers rates → borrowing surges → spending outpaces supply → prices rise</a:t>
            </a:r>
            <a:endParaRPr lang="en-US" sz="1467" dirty="0">
              <a:solidFill>
                <a:prstClr val="black"/>
              </a:solidFill>
              <a:latin typeface="Calibri" panose="020F0502020204030204"/>
            </a:endParaRPr>
          </a:p>
        </p:txBody>
      </p:sp>
      <p:sp>
        <p:nvSpPr>
          <p:cNvPr id="9" name="Shape 6"/>
          <p:cNvSpPr/>
          <p:nvPr/>
        </p:nvSpPr>
        <p:spPr>
          <a:xfrm>
            <a:off x="1036320" y="3048000"/>
            <a:ext cx="4754880" cy="487680"/>
          </a:xfrm>
          <a:prstGeom prst="roundRect">
            <a:avLst>
              <a:gd name="adj" fmla="val 10000"/>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0" name="Text 7"/>
          <p:cNvSpPr/>
          <p:nvPr/>
        </p:nvSpPr>
        <p:spPr>
          <a:xfrm>
            <a:off x="1158240" y="3048000"/>
            <a:ext cx="4511040" cy="487680"/>
          </a:xfrm>
          <a:prstGeom prst="rect">
            <a:avLst/>
          </a:prstGeom>
          <a:noFill/>
          <a:ln/>
        </p:spPr>
        <p:txBody>
          <a:bodyPr wrap="square" lIns="0" tIns="0" rIns="0" bIns="0" rtlCol="0" anchor="ctr"/>
          <a:lstStyle/>
          <a:p>
            <a:pPr defTabSz="1219170"/>
            <a:r>
              <a:rPr lang="en-US" sz="1200" b="1" dirty="0">
                <a:solidFill>
                  <a:srgbClr val="00D4AA"/>
                </a:solidFill>
                <a:latin typeface="Calibri" pitchFamily="34" charset="0"/>
                <a:ea typeface="Calibri" pitchFamily="34" charset="-122"/>
                <a:cs typeface="Calibri" pitchFamily="34" charset="-120"/>
              </a:rPr>
              <a:t>Example: </a:t>
            </a:r>
            <a:r>
              <a:rPr lang="en-US" sz="1200" dirty="0">
                <a:solidFill>
                  <a:srgbClr val="5A6478"/>
                </a:solidFill>
                <a:latin typeface="Calibri" pitchFamily="34" charset="0"/>
                <a:ea typeface="Calibri" pitchFamily="34" charset="-122"/>
                <a:cs typeface="Calibri" pitchFamily="34" charset="-120"/>
              </a:rPr>
              <a:t>2021: Stimulus checks + pent-up demand vs. supply chain breakdowns</a:t>
            </a:r>
            <a:endParaRPr lang="en-US" sz="1200" dirty="0">
              <a:solidFill>
                <a:prstClr val="black"/>
              </a:solidFill>
              <a:latin typeface="Calibri" panose="020F0502020204030204"/>
            </a:endParaRPr>
          </a:p>
        </p:txBody>
      </p:sp>
      <p:sp>
        <p:nvSpPr>
          <p:cNvPr id="11" name="Shape 8"/>
          <p:cNvSpPr/>
          <p:nvPr/>
        </p:nvSpPr>
        <p:spPr>
          <a:xfrm>
            <a:off x="6461760" y="1341120"/>
            <a:ext cx="5364480" cy="2377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2" name="Shape 9"/>
          <p:cNvSpPr/>
          <p:nvPr/>
        </p:nvSpPr>
        <p:spPr>
          <a:xfrm>
            <a:off x="6461760" y="1341120"/>
            <a:ext cx="73152" cy="237744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766560" y="1524000"/>
            <a:ext cx="426720" cy="426720"/>
          </a:xfrm>
          <a:prstGeom prst="rect">
            <a:avLst/>
          </a:prstGeom>
        </p:spPr>
      </p:pic>
      <p:sp>
        <p:nvSpPr>
          <p:cNvPr id="14" name="Text 10"/>
          <p:cNvSpPr/>
          <p:nvPr/>
        </p:nvSpPr>
        <p:spPr>
          <a:xfrm>
            <a:off x="7315200" y="1487424"/>
            <a:ext cx="4145280" cy="426720"/>
          </a:xfrm>
          <a:prstGeom prst="rect">
            <a:avLst/>
          </a:prstGeom>
          <a:noFill/>
          <a:ln/>
        </p:spPr>
        <p:txBody>
          <a:bodyPr wrap="square" lIns="0" tIns="0" rIns="0" bIns="0" rtlCol="0" anchor="ctr"/>
          <a:lstStyle/>
          <a:p>
            <a:pPr defTabSz="1219170"/>
            <a:r>
              <a:rPr lang="en-US" sz="2133" b="1" dirty="0">
                <a:solidFill>
                  <a:srgbClr val="FF8C42"/>
                </a:solidFill>
                <a:latin typeface="Arial Black" pitchFamily="34" charset="0"/>
                <a:ea typeface="Arial Black" pitchFamily="34" charset="-122"/>
                <a:cs typeface="Arial Black" pitchFamily="34" charset="-120"/>
              </a:rPr>
              <a:t>Cost-Push</a:t>
            </a:r>
            <a:endParaRPr lang="en-US" sz="2133" dirty="0">
              <a:solidFill>
                <a:prstClr val="black"/>
              </a:solidFill>
              <a:latin typeface="Calibri" panose="020F0502020204030204"/>
            </a:endParaRPr>
          </a:p>
        </p:txBody>
      </p:sp>
      <p:sp>
        <p:nvSpPr>
          <p:cNvPr id="15" name="Text 11"/>
          <p:cNvSpPr/>
          <p:nvPr/>
        </p:nvSpPr>
        <p:spPr>
          <a:xfrm>
            <a:off x="6766560" y="2011680"/>
            <a:ext cx="4754880" cy="365760"/>
          </a:xfrm>
          <a:prstGeom prst="rect">
            <a:avLst/>
          </a:prstGeom>
          <a:noFill/>
          <a:ln/>
        </p:spPr>
        <p:txBody>
          <a:bodyPr wrap="square" lIns="0" tIns="0" rIns="0" bIns="0" rtlCol="0" anchor="ctr"/>
          <a:lstStyle/>
          <a:p>
            <a:pPr defTabSz="1219170"/>
            <a:r>
              <a:rPr lang="en-US" sz="1467" i="1" dirty="0">
                <a:solidFill>
                  <a:srgbClr val="8B95A8"/>
                </a:solidFill>
                <a:latin typeface="Calibri" pitchFamily="34" charset="0"/>
                <a:ea typeface="Calibri" pitchFamily="34" charset="-122"/>
                <a:cs typeface="Calibri" pitchFamily="34" charset="-120"/>
              </a:rPr>
              <a:t>Input costs force prices higher</a:t>
            </a:r>
            <a:endParaRPr lang="en-US" sz="1467" dirty="0">
              <a:solidFill>
                <a:prstClr val="black"/>
              </a:solidFill>
              <a:latin typeface="Calibri" panose="020F0502020204030204"/>
            </a:endParaRPr>
          </a:p>
        </p:txBody>
      </p:sp>
      <p:sp>
        <p:nvSpPr>
          <p:cNvPr id="16" name="Text 12"/>
          <p:cNvSpPr/>
          <p:nvPr/>
        </p:nvSpPr>
        <p:spPr>
          <a:xfrm>
            <a:off x="6766560" y="2377440"/>
            <a:ext cx="4754880" cy="548640"/>
          </a:xfrm>
          <a:prstGeom prst="rect">
            <a:avLst/>
          </a:prstGeom>
          <a:noFill/>
          <a:ln/>
        </p:spPr>
        <p:txBody>
          <a:bodyPr wrap="square" lIns="0" tIns="0" rIns="0" bIns="0" rtlCol="0" anchor="ctr"/>
          <a:lstStyle/>
          <a:p>
            <a:pPr defTabSz="1219170"/>
            <a:r>
              <a:rPr lang="en-US" sz="1467" dirty="0">
                <a:solidFill>
                  <a:srgbClr val="E8ECF1"/>
                </a:solidFill>
                <a:latin typeface="Calibri" pitchFamily="34" charset="0"/>
                <a:ea typeface="Calibri" pitchFamily="34" charset="-122"/>
                <a:cs typeface="Calibri" pitchFamily="34" charset="-120"/>
              </a:rPr>
              <a:t>Raw material shortages, wage spirals, energy shocks → producers pass costs to consumers</a:t>
            </a:r>
            <a:endParaRPr lang="en-US" sz="1467" dirty="0">
              <a:solidFill>
                <a:prstClr val="black"/>
              </a:solidFill>
              <a:latin typeface="Calibri" panose="020F0502020204030204"/>
            </a:endParaRPr>
          </a:p>
        </p:txBody>
      </p:sp>
      <p:sp>
        <p:nvSpPr>
          <p:cNvPr id="17" name="Shape 13"/>
          <p:cNvSpPr/>
          <p:nvPr/>
        </p:nvSpPr>
        <p:spPr>
          <a:xfrm>
            <a:off x="6766560" y="3048000"/>
            <a:ext cx="4754880" cy="487680"/>
          </a:xfrm>
          <a:prstGeom prst="roundRect">
            <a:avLst>
              <a:gd name="adj" fmla="val 10000"/>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8" name="Text 14"/>
          <p:cNvSpPr/>
          <p:nvPr/>
        </p:nvSpPr>
        <p:spPr>
          <a:xfrm>
            <a:off x="6888480" y="3048000"/>
            <a:ext cx="4511040" cy="487680"/>
          </a:xfrm>
          <a:prstGeom prst="rect">
            <a:avLst/>
          </a:prstGeom>
          <a:noFill/>
          <a:ln/>
        </p:spPr>
        <p:txBody>
          <a:bodyPr wrap="square" lIns="0" tIns="0" rIns="0" bIns="0" rtlCol="0" anchor="ctr"/>
          <a:lstStyle/>
          <a:p>
            <a:pPr defTabSz="1219170"/>
            <a:r>
              <a:rPr lang="en-US" sz="1200" b="1" dirty="0">
                <a:solidFill>
                  <a:srgbClr val="FF8C42"/>
                </a:solidFill>
                <a:latin typeface="Calibri" pitchFamily="34" charset="0"/>
                <a:ea typeface="Calibri" pitchFamily="34" charset="-122"/>
                <a:cs typeface="Calibri" pitchFamily="34" charset="-120"/>
              </a:rPr>
              <a:t>Example: </a:t>
            </a:r>
            <a:r>
              <a:rPr lang="en-US" sz="1200" dirty="0">
                <a:solidFill>
                  <a:srgbClr val="5A6478"/>
                </a:solidFill>
                <a:latin typeface="Calibri" pitchFamily="34" charset="0"/>
                <a:ea typeface="Calibri" pitchFamily="34" charset="-122"/>
                <a:cs typeface="Calibri" pitchFamily="34" charset="-120"/>
              </a:rPr>
              <a:t>2022: Russia/Ukraine → oil spike → transport costs → broad inflation</a:t>
            </a:r>
            <a:endParaRPr lang="en-US" sz="1200" dirty="0">
              <a:solidFill>
                <a:prstClr val="black"/>
              </a:solidFill>
              <a:latin typeface="Calibri" panose="020F0502020204030204"/>
            </a:endParaRPr>
          </a:p>
        </p:txBody>
      </p:sp>
      <p:sp>
        <p:nvSpPr>
          <p:cNvPr id="19" name="Shape 15"/>
          <p:cNvSpPr/>
          <p:nvPr/>
        </p:nvSpPr>
        <p:spPr>
          <a:xfrm>
            <a:off x="731520" y="3962400"/>
            <a:ext cx="5364480" cy="2377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0" name="Shape 16"/>
          <p:cNvSpPr/>
          <p:nvPr/>
        </p:nvSpPr>
        <p:spPr>
          <a:xfrm>
            <a:off x="731520" y="3962400"/>
            <a:ext cx="73152" cy="237744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pic>
        <p:nvPicPr>
          <p:cNvPr id="21" name="Image 2" descr="preencoded.png"/>
          <p:cNvPicPr>
            <a:picLocks noChangeAspect="1"/>
          </p:cNvPicPr>
          <p:nvPr/>
        </p:nvPicPr>
        <p:blipFill>
          <a:blip r:embed="rId5"/>
          <a:stretch>
            <a:fillRect/>
          </a:stretch>
        </p:blipFill>
        <p:spPr>
          <a:xfrm>
            <a:off x="1036320" y="4145280"/>
            <a:ext cx="426720" cy="426720"/>
          </a:xfrm>
          <a:prstGeom prst="rect">
            <a:avLst/>
          </a:prstGeom>
        </p:spPr>
      </p:pic>
      <p:sp>
        <p:nvSpPr>
          <p:cNvPr id="22" name="Text 17"/>
          <p:cNvSpPr/>
          <p:nvPr/>
        </p:nvSpPr>
        <p:spPr>
          <a:xfrm>
            <a:off x="1584960" y="4108704"/>
            <a:ext cx="4145280" cy="426720"/>
          </a:xfrm>
          <a:prstGeom prst="rect">
            <a:avLst/>
          </a:prstGeom>
          <a:noFill/>
          <a:ln/>
        </p:spPr>
        <p:txBody>
          <a:bodyPr wrap="square" lIns="0" tIns="0" rIns="0" bIns="0" rtlCol="0" anchor="ctr"/>
          <a:lstStyle/>
          <a:p>
            <a:pPr defTabSz="1219170"/>
            <a:r>
              <a:rPr lang="en-US" sz="2133" b="1" dirty="0">
                <a:solidFill>
                  <a:srgbClr val="FFD700"/>
                </a:solidFill>
                <a:latin typeface="Arial Black" pitchFamily="34" charset="0"/>
                <a:ea typeface="Arial Black" pitchFamily="34" charset="-122"/>
                <a:cs typeface="Arial Black" pitchFamily="34" charset="-120"/>
              </a:rPr>
              <a:t>Monetary Expansion</a:t>
            </a:r>
            <a:endParaRPr lang="en-US" sz="2133" dirty="0">
              <a:solidFill>
                <a:prstClr val="black"/>
              </a:solidFill>
              <a:latin typeface="Calibri" panose="020F0502020204030204"/>
            </a:endParaRPr>
          </a:p>
        </p:txBody>
      </p:sp>
      <p:sp>
        <p:nvSpPr>
          <p:cNvPr id="23" name="Text 18"/>
          <p:cNvSpPr/>
          <p:nvPr/>
        </p:nvSpPr>
        <p:spPr>
          <a:xfrm>
            <a:off x="1036320" y="4632960"/>
            <a:ext cx="4754880" cy="365760"/>
          </a:xfrm>
          <a:prstGeom prst="rect">
            <a:avLst/>
          </a:prstGeom>
          <a:noFill/>
          <a:ln/>
        </p:spPr>
        <p:txBody>
          <a:bodyPr wrap="square" lIns="0" tIns="0" rIns="0" bIns="0" rtlCol="0" anchor="ctr"/>
          <a:lstStyle/>
          <a:p>
            <a:pPr defTabSz="1219170"/>
            <a:r>
              <a:rPr lang="en-US" sz="1467" i="1" dirty="0">
                <a:solidFill>
                  <a:srgbClr val="8B95A8"/>
                </a:solidFill>
                <a:latin typeface="Calibri" pitchFamily="34" charset="0"/>
                <a:ea typeface="Calibri" pitchFamily="34" charset="-122"/>
                <a:cs typeface="Calibri" pitchFamily="34" charset="-120"/>
              </a:rPr>
              <a:t>The Fed creates more dollars</a:t>
            </a:r>
            <a:endParaRPr lang="en-US" sz="1467" dirty="0">
              <a:solidFill>
                <a:prstClr val="black"/>
              </a:solidFill>
              <a:latin typeface="Calibri" panose="020F0502020204030204"/>
            </a:endParaRPr>
          </a:p>
        </p:txBody>
      </p:sp>
      <p:sp>
        <p:nvSpPr>
          <p:cNvPr id="24" name="Text 19"/>
          <p:cNvSpPr/>
          <p:nvPr/>
        </p:nvSpPr>
        <p:spPr>
          <a:xfrm>
            <a:off x="1036320" y="4998720"/>
            <a:ext cx="4754880" cy="548640"/>
          </a:xfrm>
          <a:prstGeom prst="rect">
            <a:avLst/>
          </a:prstGeom>
          <a:noFill/>
          <a:ln/>
        </p:spPr>
        <p:txBody>
          <a:bodyPr wrap="square" lIns="0" tIns="0" rIns="0" bIns="0" rtlCol="0" anchor="ctr"/>
          <a:lstStyle/>
          <a:p>
            <a:pPr defTabSz="1219170"/>
            <a:r>
              <a:rPr lang="en-US" sz="1467" dirty="0">
                <a:solidFill>
                  <a:srgbClr val="E8ECF1"/>
                </a:solidFill>
                <a:latin typeface="Calibri" pitchFamily="34" charset="0"/>
                <a:ea typeface="Calibri" pitchFamily="34" charset="-122"/>
                <a:cs typeface="Calibri" pitchFamily="34" charset="-120"/>
              </a:rPr>
              <a:t>QE, low rates, deficit monetization → more dollars in circulation → each dollar worth less</a:t>
            </a:r>
            <a:endParaRPr lang="en-US" sz="1467" dirty="0">
              <a:solidFill>
                <a:prstClr val="black"/>
              </a:solidFill>
              <a:latin typeface="Calibri" panose="020F0502020204030204"/>
            </a:endParaRPr>
          </a:p>
        </p:txBody>
      </p:sp>
      <p:sp>
        <p:nvSpPr>
          <p:cNvPr id="25" name="Shape 20"/>
          <p:cNvSpPr/>
          <p:nvPr/>
        </p:nvSpPr>
        <p:spPr>
          <a:xfrm>
            <a:off x="1036320" y="5669280"/>
            <a:ext cx="4754880" cy="487680"/>
          </a:xfrm>
          <a:prstGeom prst="roundRect">
            <a:avLst>
              <a:gd name="adj" fmla="val 10000"/>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6" name="Text 21"/>
          <p:cNvSpPr/>
          <p:nvPr/>
        </p:nvSpPr>
        <p:spPr>
          <a:xfrm>
            <a:off x="1158240" y="5669280"/>
            <a:ext cx="4511040" cy="487680"/>
          </a:xfrm>
          <a:prstGeom prst="rect">
            <a:avLst/>
          </a:prstGeom>
          <a:noFill/>
          <a:ln/>
        </p:spPr>
        <p:txBody>
          <a:bodyPr wrap="square" lIns="0" tIns="0" rIns="0" bIns="0" rtlCol="0" anchor="ctr"/>
          <a:lstStyle/>
          <a:p>
            <a:pPr defTabSz="1219170"/>
            <a:r>
              <a:rPr lang="en-US" sz="1200" b="1" dirty="0">
                <a:solidFill>
                  <a:srgbClr val="FFD700"/>
                </a:solidFill>
                <a:latin typeface="Calibri" pitchFamily="34" charset="0"/>
                <a:ea typeface="Calibri" pitchFamily="34" charset="-122"/>
                <a:cs typeface="Calibri" pitchFamily="34" charset="-120"/>
              </a:rPr>
              <a:t>Example: </a:t>
            </a:r>
            <a:r>
              <a:rPr lang="en-US" sz="1200" dirty="0">
                <a:solidFill>
                  <a:srgbClr val="5A6478"/>
                </a:solidFill>
                <a:latin typeface="Calibri" pitchFamily="34" charset="0"/>
                <a:ea typeface="Calibri" pitchFamily="34" charset="-122"/>
                <a:cs typeface="Calibri" pitchFamily="34" charset="-120"/>
              </a:rPr>
              <a:t>2020: $3.8T added to M2 in one year via QE and fiscal stimulus</a:t>
            </a:r>
            <a:endParaRPr lang="en-US" sz="1200" dirty="0">
              <a:solidFill>
                <a:prstClr val="black"/>
              </a:solidFill>
              <a:latin typeface="Calibri" panose="020F0502020204030204"/>
            </a:endParaRPr>
          </a:p>
        </p:txBody>
      </p:sp>
      <p:sp>
        <p:nvSpPr>
          <p:cNvPr id="27" name="Shape 22"/>
          <p:cNvSpPr/>
          <p:nvPr/>
        </p:nvSpPr>
        <p:spPr>
          <a:xfrm>
            <a:off x="6461760" y="3962400"/>
            <a:ext cx="5364480" cy="2377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8" name="Shape 23"/>
          <p:cNvSpPr/>
          <p:nvPr/>
        </p:nvSpPr>
        <p:spPr>
          <a:xfrm>
            <a:off x="6461760" y="3962400"/>
            <a:ext cx="73152" cy="23774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pic>
        <p:nvPicPr>
          <p:cNvPr id="29" name="Image 3" descr="preencoded.png"/>
          <p:cNvPicPr>
            <a:picLocks noChangeAspect="1"/>
          </p:cNvPicPr>
          <p:nvPr/>
        </p:nvPicPr>
        <p:blipFill>
          <a:blip r:embed="rId6"/>
          <a:stretch>
            <a:fillRect/>
          </a:stretch>
        </p:blipFill>
        <p:spPr>
          <a:xfrm>
            <a:off x="6766560" y="4145280"/>
            <a:ext cx="426720" cy="426720"/>
          </a:xfrm>
          <a:prstGeom prst="rect">
            <a:avLst/>
          </a:prstGeom>
        </p:spPr>
      </p:pic>
      <p:sp>
        <p:nvSpPr>
          <p:cNvPr id="30" name="Text 24"/>
          <p:cNvSpPr/>
          <p:nvPr/>
        </p:nvSpPr>
        <p:spPr>
          <a:xfrm>
            <a:off x="7315200" y="4108704"/>
            <a:ext cx="4145280" cy="426720"/>
          </a:xfrm>
          <a:prstGeom prst="rect">
            <a:avLst/>
          </a:prstGeom>
          <a:noFill/>
          <a:ln/>
        </p:spPr>
        <p:txBody>
          <a:bodyPr wrap="square" lIns="0" tIns="0" rIns="0" bIns="0" rtlCol="0" anchor="ctr"/>
          <a:lstStyle/>
          <a:p>
            <a:pPr defTabSz="1219170"/>
            <a:r>
              <a:rPr lang="en-US" sz="2133" b="1" dirty="0">
                <a:solidFill>
                  <a:srgbClr val="FF4757"/>
                </a:solidFill>
                <a:latin typeface="Arial Black" pitchFamily="34" charset="0"/>
                <a:ea typeface="Arial Black" pitchFamily="34" charset="-122"/>
                <a:cs typeface="Arial Black" pitchFamily="34" charset="-120"/>
              </a:rPr>
              <a:t>Built-In / Expectations</a:t>
            </a:r>
            <a:endParaRPr lang="en-US" sz="2133" dirty="0">
              <a:solidFill>
                <a:prstClr val="black"/>
              </a:solidFill>
              <a:latin typeface="Calibri" panose="020F0502020204030204"/>
            </a:endParaRPr>
          </a:p>
        </p:txBody>
      </p:sp>
      <p:sp>
        <p:nvSpPr>
          <p:cNvPr id="31" name="Text 25"/>
          <p:cNvSpPr/>
          <p:nvPr/>
        </p:nvSpPr>
        <p:spPr>
          <a:xfrm>
            <a:off x="6766560" y="4632960"/>
            <a:ext cx="4754880" cy="365760"/>
          </a:xfrm>
          <a:prstGeom prst="rect">
            <a:avLst/>
          </a:prstGeom>
          <a:noFill/>
          <a:ln/>
        </p:spPr>
        <p:txBody>
          <a:bodyPr wrap="square" lIns="0" tIns="0" rIns="0" bIns="0" rtlCol="0" anchor="ctr"/>
          <a:lstStyle/>
          <a:p>
            <a:pPr defTabSz="1219170"/>
            <a:r>
              <a:rPr lang="en-US" sz="1467" i="1" dirty="0">
                <a:solidFill>
                  <a:srgbClr val="8B95A8"/>
                </a:solidFill>
                <a:latin typeface="Calibri" pitchFamily="34" charset="0"/>
                <a:ea typeface="Calibri" pitchFamily="34" charset="-122"/>
                <a:cs typeface="Calibri" pitchFamily="34" charset="-120"/>
              </a:rPr>
              <a:t>Inflation begets inflation</a:t>
            </a:r>
            <a:endParaRPr lang="en-US" sz="1467" dirty="0">
              <a:solidFill>
                <a:prstClr val="black"/>
              </a:solidFill>
              <a:latin typeface="Calibri" panose="020F0502020204030204"/>
            </a:endParaRPr>
          </a:p>
        </p:txBody>
      </p:sp>
      <p:sp>
        <p:nvSpPr>
          <p:cNvPr id="32" name="Text 26"/>
          <p:cNvSpPr/>
          <p:nvPr/>
        </p:nvSpPr>
        <p:spPr>
          <a:xfrm>
            <a:off x="6766560" y="4998720"/>
            <a:ext cx="4754880" cy="548640"/>
          </a:xfrm>
          <a:prstGeom prst="rect">
            <a:avLst/>
          </a:prstGeom>
          <a:noFill/>
          <a:ln/>
        </p:spPr>
        <p:txBody>
          <a:bodyPr wrap="square" lIns="0" tIns="0" rIns="0" bIns="0" rtlCol="0" anchor="ctr"/>
          <a:lstStyle/>
          <a:p>
            <a:pPr defTabSz="1219170"/>
            <a:r>
              <a:rPr lang="en-US" sz="1467" dirty="0">
                <a:solidFill>
                  <a:srgbClr val="E8ECF1"/>
                </a:solidFill>
                <a:latin typeface="Calibri" pitchFamily="34" charset="0"/>
                <a:ea typeface="Calibri" pitchFamily="34" charset="-122"/>
                <a:cs typeface="Calibri" pitchFamily="34" charset="-120"/>
              </a:rPr>
              <a:t>Workers demand higher wages → businesses raise prices → wage-price spiral → self-fulfilling</a:t>
            </a:r>
            <a:endParaRPr lang="en-US" sz="1467" dirty="0">
              <a:solidFill>
                <a:prstClr val="black"/>
              </a:solidFill>
              <a:latin typeface="Calibri" panose="020F0502020204030204"/>
            </a:endParaRPr>
          </a:p>
        </p:txBody>
      </p:sp>
      <p:sp>
        <p:nvSpPr>
          <p:cNvPr id="33" name="Shape 27"/>
          <p:cNvSpPr/>
          <p:nvPr/>
        </p:nvSpPr>
        <p:spPr>
          <a:xfrm>
            <a:off x="6766560" y="5669280"/>
            <a:ext cx="4754880" cy="487680"/>
          </a:xfrm>
          <a:prstGeom prst="roundRect">
            <a:avLst>
              <a:gd name="adj" fmla="val 10000"/>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34" name="Text 28"/>
          <p:cNvSpPr/>
          <p:nvPr/>
        </p:nvSpPr>
        <p:spPr>
          <a:xfrm>
            <a:off x="6888480" y="5669280"/>
            <a:ext cx="4511040" cy="487680"/>
          </a:xfrm>
          <a:prstGeom prst="rect">
            <a:avLst/>
          </a:prstGeom>
          <a:noFill/>
          <a:ln/>
        </p:spPr>
        <p:txBody>
          <a:bodyPr wrap="square" lIns="0" tIns="0" rIns="0" bIns="0" rtlCol="0" anchor="ctr"/>
          <a:lstStyle/>
          <a:p>
            <a:pPr defTabSz="1219170"/>
            <a:r>
              <a:rPr lang="en-US" sz="1200" b="1" dirty="0">
                <a:solidFill>
                  <a:srgbClr val="FF4757"/>
                </a:solidFill>
                <a:latin typeface="Calibri" pitchFamily="34" charset="0"/>
                <a:ea typeface="Calibri" pitchFamily="34" charset="-122"/>
                <a:cs typeface="Calibri" pitchFamily="34" charset="-120"/>
              </a:rPr>
              <a:t>Example: </a:t>
            </a:r>
            <a:r>
              <a:rPr lang="en-US" sz="1200" dirty="0">
                <a:solidFill>
                  <a:srgbClr val="5A6478"/>
                </a:solidFill>
                <a:latin typeface="Calibri" pitchFamily="34" charset="0"/>
                <a:ea typeface="Calibri" pitchFamily="34" charset="-122"/>
                <a:cs typeface="Calibri" pitchFamily="34" charset="-120"/>
              </a:rPr>
              <a:t>1970s: Expectations became unanchored, requiring Volcker's 20% rates to break</a:t>
            </a:r>
            <a:endParaRPr lang="en-US" sz="1200" dirty="0">
              <a:solidFill>
                <a:prstClr val="black"/>
              </a:solidFill>
              <a:latin typeface="Calibri" panose="020F050202020403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THE FED'S DUAL MANDATE &amp; ITS LEVERS</a:t>
            </a:r>
            <a:endParaRPr lang="en-US" sz="2933" dirty="0">
              <a:solidFill>
                <a:prstClr val="black"/>
              </a:solidFill>
              <a:latin typeface="Calibri" panose="020F0502020204030204"/>
            </a:endParaRPr>
          </a:p>
        </p:txBody>
      </p:sp>
      <p:sp>
        <p:nvSpPr>
          <p:cNvPr id="3" name="Shape 1"/>
          <p:cNvSpPr/>
          <p:nvPr/>
        </p:nvSpPr>
        <p:spPr>
          <a:xfrm>
            <a:off x="731520" y="1341120"/>
            <a:ext cx="5120640" cy="17068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Text 2"/>
          <p:cNvSpPr/>
          <p:nvPr/>
        </p:nvSpPr>
        <p:spPr>
          <a:xfrm>
            <a:off x="975360" y="1463040"/>
            <a:ext cx="4632960" cy="426720"/>
          </a:xfrm>
          <a:prstGeom prst="rect">
            <a:avLst/>
          </a:prstGeom>
          <a:noFill/>
          <a:ln/>
        </p:spPr>
        <p:txBody>
          <a:bodyPr wrap="square" lIns="0" tIns="0" rIns="0" bIns="0" rtlCol="0" anchor="ctr"/>
          <a:lstStyle/>
          <a:p>
            <a:pPr defTabSz="1219170"/>
            <a:r>
              <a:rPr lang="en-US" sz="1867" b="1" dirty="0">
                <a:solidFill>
                  <a:srgbClr val="00D4AA"/>
                </a:solidFill>
                <a:latin typeface="Arial Black" pitchFamily="34" charset="0"/>
                <a:ea typeface="Arial Black" pitchFamily="34" charset="-122"/>
                <a:cs typeface="Arial Black" pitchFamily="34" charset="-120"/>
              </a:rPr>
              <a:t>DUAL MANDATE</a:t>
            </a:r>
            <a:endParaRPr lang="en-US" sz="1867" dirty="0">
              <a:solidFill>
                <a:prstClr val="black"/>
              </a:solidFill>
              <a:latin typeface="Calibri" panose="020F0502020204030204"/>
            </a:endParaRPr>
          </a:p>
        </p:txBody>
      </p:sp>
      <p:sp>
        <p:nvSpPr>
          <p:cNvPr id="5" name="Text 3"/>
          <p:cNvSpPr/>
          <p:nvPr/>
        </p:nvSpPr>
        <p:spPr>
          <a:xfrm>
            <a:off x="975360" y="1950720"/>
            <a:ext cx="4632960" cy="975360"/>
          </a:xfrm>
          <a:prstGeom prst="rect">
            <a:avLst/>
          </a:prstGeom>
          <a:noFill/>
          <a:ln/>
        </p:spPr>
        <p:txBody>
          <a:bodyPr wrap="square" lIns="0" tIns="0" rIns="0" bIns="0" rtlCol="0" anchor="ctr"/>
          <a:lstStyle/>
          <a:p>
            <a:pPr marL="457189" indent="-457189" defTabSz="1219170">
              <a:buSzPct val="100000"/>
              <a:buFontTx/>
              <a:buChar char="•"/>
            </a:pPr>
            <a:r>
              <a:rPr lang="en-US" sz="1733" dirty="0">
                <a:solidFill>
                  <a:srgbClr val="E8ECF1"/>
                </a:solidFill>
                <a:latin typeface="Calibri" pitchFamily="34" charset="0"/>
                <a:ea typeface="Calibri" pitchFamily="34" charset="-122"/>
                <a:cs typeface="Calibri" pitchFamily="34" charset="-120"/>
              </a:rPr>
              <a:t>1. Price stability (2% inflation target)</a:t>
            </a:r>
            <a:endParaRPr lang="en-US" sz="1733" dirty="0">
              <a:solidFill>
                <a:prstClr val="black"/>
              </a:solidFill>
              <a:latin typeface="Calibri" panose="020F0502020204030204"/>
            </a:endParaRPr>
          </a:p>
          <a:p>
            <a:pPr marL="457189" indent="-457189" defTabSz="1219170">
              <a:buSzPct val="100000"/>
              <a:buFontTx/>
              <a:buChar char="•"/>
            </a:pPr>
            <a:r>
              <a:rPr lang="en-US" sz="1733" dirty="0">
                <a:solidFill>
                  <a:srgbClr val="E8ECF1"/>
                </a:solidFill>
                <a:latin typeface="Calibri" pitchFamily="34" charset="0"/>
                <a:ea typeface="Calibri" pitchFamily="34" charset="-122"/>
                <a:cs typeface="Calibri" pitchFamily="34" charset="-120"/>
              </a:rPr>
              <a:t>2. Maximum employment</a:t>
            </a:r>
            <a:endParaRPr lang="en-US" sz="1733" dirty="0">
              <a:solidFill>
                <a:prstClr val="black"/>
              </a:solidFill>
              <a:latin typeface="Calibri" panose="020F0502020204030204"/>
            </a:endParaRPr>
          </a:p>
        </p:txBody>
      </p:sp>
      <p:sp>
        <p:nvSpPr>
          <p:cNvPr id="6" name="Shape 4"/>
          <p:cNvSpPr/>
          <p:nvPr/>
        </p:nvSpPr>
        <p:spPr>
          <a:xfrm>
            <a:off x="6339840" y="1341120"/>
            <a:ext cx="5120640" cy="17068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7" name="Shape 5"/>
          <p:cNvSpPr/>
          <p:nvPr/>
        </p:nvSpPr>
        <p:spPr>
          <a:xfrm>
            <a:off x="6339840" y="1341120"/>
            <a:ext cx="73152" cy="170688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8" name="Text 6"/>
          <p:cNvSpPr/>
          <p:nvPr/>
        </p:nvSpPr>
        <p:spPr>
          <a:xfrm>
            <a:off x="6705600" y="1463040"/>
            <a:ext cx="4511040" cy="426720"/>
          </a:xfrm>
          <a:prstGeom prst="rect">
            <a:avLst/>
          </a:prstGeom>
          <a:noFill/>
          <a:ln/>
        </p:spPr>
        <p:txBody>
          <a:bodyPr wrap="square" lIns="0" tIns="0" rIns="0" bIns="0" rtlCol="0" anchor="ctr"/>
          <a:lstStyle/>
          <a:p>
            <a:pPr defTabSz="1219170"/>
            <a:r>
              <a:rPr lang="en-US" sz="1867" b="1" dirty="0">
                <a:solidFill>
                  <a:srgbClr val="FF8C42"/>
                </a:solidFill>
                <a:latin typeface="Arial Black" pitchFamily="34" charset="0"/>
                <a:ea typeface="Arial Black" pitchFamily="34" charset="-122"/>
                <a:cs typeface="Arial Black" pitchFamily="34" charset="-120"/>
              </a:rPr>
              <a:t>THE TENSION</a:t>
            </a:r>
            <a:endParaRPr lang="en-US" sz="1867" dirty="0">
              <a:solidFill>
                <a:prstClr val="black"/>
              </a:solidFill>
              <a:latin typeface="Calibri" panose="020F0502020204030204"/>
            </a:endParaRPr>
          </a:p>
        </p:txBody>
      </p:sp>
      <p:sp>
        <p:nvSpPr>
          <p:cNvPr id="9" name="Text 7"/>
          <p:cNvSpPr/>
          <p:nvPr/>
        </p:nvSpPr>
        <p:spPr>
          <a:xfrm>
            <a:off x="6705600" y="1950720"/>
            <a:ext cx="4511040" cy="975360"/>
          </a:xfrm>
          <a:prstGeom prst="rect">
            <a:avLst/>
          </a:prstGeom>
          <a:noFill/>
          <a:ln/>
        </p:spPr>
        <p:txBody>
          <a:bodyPr wrap="square" lIns="0" tIns="0" rIns="0" bIns="0" rtlCol="0" anchor="ctr"/>
          <a:lstStyle/>
          <a:p>
            <a:pPr defTabSz="1219170"/>
            <a:r>
              <a:rPr lang="en-US" sz="1733" dirty="0">
                <a:solidFill>
                  <a:srgbClr val="E8ECF1"/>
                </a:solidFill>
                <a:latin typeface="Calibri" pitchFamily="34" charset="0"/>
                <a:ea typeface="Calibri" pitchFamily="34" charset="-122"/>
                <a:cs typeface="Calibri" pitchFamily="34" charset="-120"/>
              </a:rPr>
              <a:t>Fighting inflation requires raising rates — which risks recession and job losses. The Fed must constantly balance these competing goals.</a:t>
            </a:r>
            <a:endParaRPr lang="en-US" sz="1733" dirty="0">
              <a:solidFill>
                <a:prstClr val="black"/>
              </a:solidFill>
              <a:latin typeface="Calibri" panose="020F0502020204030204"/>
            </a:endParaRPr>
          </a:p>
        </p:txBody>
      </p:sp>
      <p:sp>
        <p:nvSpPr>
          <p:cNvPr id="10" name="Text 8"/>
          <p:cNvSpPr/>
          <p:nvPr/>
        </p:nvSpPr>
        <p:spPr>
          <a:xfrm>
            <a:off x="731520" y="3352800"/>
            <a:ext cx="10728960" cy="487680"/>
          </a:xfrm>
          <a:prstGeom prst="rect">
            <a:avLst/>
          </a:prstGeom>
          <a:noFill/>
          <a:ln/>
        </p:spPr>
        <p:txBody>
          <a:bodyPr wrap="square" lIns="0" tIns="0" rIns="0" bIns="0" rtlCol="0" anchor="ctr"/>
          <a:lstStyle/>
          <a:p>
            <a:pPr defTabSz="1219170"/>
            <a:r>
              <a:rPr lang="en-US" sz="1867" b="1" dirty="0">
                <a:solidFill>
                  <a:srgbClr val="00D4AA"/>
                </a:solidFill>
                <a:latin typeface="Arial Black" pitchFamily="34" charset="0"/>
                <a:ea typeface="Arial Black" pitchFamily="34" charset="-122"/>
                <a:cs typeface="Arial Black" pitchFamily="34" charset="-120"/>
              </a:rPr>
              <a:t>FED POLICY LEVERS</a:t>
            </a:r>
            <a:endParaRPr lang="en-US" sz="1867" dirty="0">
              <a:solidFill>
                <a:prstClr val="black"/>
              </a:solidFill>
              <a:latin typeface="Calibri" panose="020F0502020204030204"/>
            </a:endParaRPr>
          </a:p>
        </p:txBody>
      </p:sp>
      <p:graphicFrame>
        <p:nvGraphicFramePr>
          <p:cNvPr id="12" name="Table 0"/>
          <p:cNvGraphicFramePr>
            <a:graphicFrameLocks noGrp="1"/>
          </p:cNvGraphicFramePr>
          <p:nvPr/>
        </p:nvGraphicFramePr>
        <p:xfrm>
          <a:off x="731520" y="3901440"/>
          <a:ext cx="10728960" cy="2418080"/>
        </p:xfrm>
        <a:graphic>
          <a:graphicData uri="http://schemas.openxmlformats.org/drawingml/2006/table">
            <a:tbl>
              <a:tblPr/>
              <a:tblGrid>
                <a:gridCol w="2438400">
                  <a:extLst>
                    <a:ext uri="{9D8B030D-6E8A-4147-A177-3AD203B41FA5}">
                      <a16:colId xmlns:a16="http://schemas.microsoft.com/office/drawing/2014/main" val="20000"/>
                    </a:ext>
                  </a:extLst>
                </a:gridCol>
                <a:gridCol w="3413760">
                  <a:extLst>
                    <a:ext uri="{9D8B030D-6E8A-4147-A177-3AD203B41FA5}">
                      <a16:colId xmlns:a16="http://schemas.microsoft.com/office/drawing/2014/main" val="20001"/>
                    </a:ext>
                  </a:extLst>
                </a:gridCol>
                <a:gridCol w="4876800">
                  <a:extLst>
                    <a:ext uri="{9D8B030D-6E8A-4147-A177-3AD203B41FA5}">
                      <a16:colId xmlns:a16="http://schemas.microsoft.com/office/drawing/2014/main" val="20002"/>
                    </a:ext>
                  </a:extLst>
                </a:gridCol>
              </a:tblGrid>
              <a:tr h="426720">
                <a:tc>
                  <a:txBody>
                    <a:bodyPr/>
                    <a:lstStyle/>
                    <a:p>
                      <a:pPr marL="0" indent="0">
                        <a:buNone/>
                      </a:pPr>
                      <a:r>
                        <a:rPr lang="en-US" sz="1300" b="1" dirty="0">
                          <a:solidFill>
                            <a:srgbClr val="00D4AA"/>
                          </a:solidFill>
                          <a:latin typeface="Arial Black" pitchFamily="34" charset="0"/>
                          <a:ea typeface="Arial Black" pitchFamily="34" charset="-122"/>
                          <a:cs typeface="Arial Black" pitchFamily="34" charset="-120"/>
                        </a:rPr>
                        <a:t>Lever</a:t>
                      </a:r>
                      <a:endParaRPr lang="en-US" sz="1300" dirty="0">
                        <a:latin typeface="Arial Black" charset="0"/>
                        <a:ea typeface="Arial Black" charset="0"/>
                        <a:cs typeface="Arial Black"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tc>
                  <a:txBody>
                    <a:bodyPr/>
                    <a:lstStyle/>
                    <a:p>
                      <a:pPr marL="0" indent="0">
                        <a:buNone/>
                      </a:pPr>
                      <a:r>
                        <a:rPr lang="en-US" sz="1300" b="1" dirty="0">
                          <a:solidFill>
                            <a:srgbClr val="00D4AA"/>
                          </a:solidFill>
                          <a:latin typeface="Calibri" pitchFamily="34" charset="0"/>
                          <a:ea typeface="Calibri" pitchFamily="34" charset="-122"/>
                          <a:cs typeface="Calibri" pitchFamily="34" charset="-120"/>
                        </a:rPr>
                        <a:t>How It Works</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tc>
                  <a:txBody>
                    <a:bodyPr/>
                    <a:lstStyle/>
                    <a:p>
                      <a:pPr marL="0" indent="0">
                        <a:buNone/>
                      </a:pPr>
                      <a:r>
                        <a:rPr lang="en-US" sz="1300" b="1" dirty="0">
                          <a:solidFill>
                            <a:srgbClr val="00D4AA"/>
                          </a:solidFill>
                          <a:latin typeface="Calibri" pitchFamily="34" charset="0"/>
                          <a:ea typeface="Calibri" pitchFamily="34" charset="-122"/>
                          <a:cs typeface="Calibri" pitchFamily="34" charset="-120"/>
                        </a:rPr>
                        <a:t>Effect on Inflation</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extLst>
                  <a:ext uri="{0D108BD9-81ED-4DB2-BD59-A6C34878D82A}">
                    <a16:rowId xmlns:a16="http://schemas.microsoft.com/office/drawing/2014/main" val="10000"/>
                  </a:ext>
                </a:extLst>
              </a:tr>
              <a:tr h="487680">
                <a:tc>
                  <a:txBody>
                    <a:bodyPr/>
                    <a:lstStyle/>
                    <a:p>
                      <a:pPr marL="0" indent="0">
                        <a:buNone/>
                      </a:pPr>
                      <a:r>
                        <a:rPr lang="en-US" sz="1300" b="1" dirty="0">
                          <a:solidFill>
                            <a:srgbClr val="FFFFFF"/>
                          </a:solidFill>
                          <a:latin typeface="Arial Black" pitchFamily="34" charset="0"/>
                          <a:ea typeface="Arial Black" pitchFamily="34" charset="-122"/>
                          <a:cs typeface="Arial Black" pitchFamily="34" charset="-120"/>
                        </a:rPr>
                        <a:t>Federal Funds Rate</a:t>
                      </a:r>
                      <a:endParaRPr lang="en-US" sz="1300" dirty="0">
                        <a:latin typeface="Arial Black" charset="0"/>
                        <a:ea typeface="Arial Black" charset="0"/>
                        <a:cs typeface="Arial Black"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Cost of interbank lending</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Higher rates → less borrowing → less spending → cools demand</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extLst>
                  <a:ext uri="{0D108BD9-81ED-4DB2-BD59-A6C34878D82A}">
                    <a16:rowId xmlns:a16="http://schemas.microsoft.com/office/drawing/2014/main" val="10001"/>
                  </a:ext>
                </a:extLst>
              </a:tr>
              <a:tr h="528320">
                <a:tc>
                  <a:txBody>
                    <a:bodyPr/>
                    <a:lstStyle/>
                    <a:p>
                      <a:pPr marL="0" indent="0">
                        <a:buNone/>
                      </a:pPr>
                      <a:r>
                        <a:rPr lang="en-US" sz="1300" b="1" dirty="0">
                          <a:solidFill>
                            <a:srgbClr val="FFFFFF"/>
                          </a:solidFill>
                          <a:latin typeface="Arial Black" pitchFamily="34" charset="0"/>
                          <a:ea typeface="Arial Black" pitchFamily="34" charset="-122"/>
                          <a:cs typeface="Arial Black" pitchFamily="34" charset="-120"/>
                        </a:rPr>
                        <a:t>Quantitative Easing/Tightening</a:t>
                      </a:r>
                      <a:endParaRPr lang="en-US" sz="1300" dirty="0">
                        <a:latin typeface="Arial Black" charset="0"/>
                        <a:ea typeface="Arial Black" charset="0"/>
                        <a:cs typeface="Arial Black"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Buying/selling Treasury &amp; MBS</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QE adds money (inflationary); QT removes money (disinflationary)</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extLst>
                  <a:ext uri="{0D108BD9-81ED-4DB2-BD59-A6C34878D82A}">
                    <a16:rowId xmlns:a16="http://schemas.microsoft.com/office/drawing/2014/main" val="10002"/>
                  </a:ext>
                </a:extLst>
              </a:tr>
              <a:tr h="487680">
                <a:tc>
                  <a:txBody>
                    <a:bodyPr/>
                    <a:lstStyle/>
                    <a:p>
                      <a:pPr marL="0" indent="0">
                        <a:buNone/>
                      </a:pPr>
                      <a:r>
                        <a:rPr lang="en-US" sz="1300" b="1" dirty="0">
                          <a:solidFill>
                            <a:srgbClr val="FFFFFF"/>
                          </a:solidFill>
                          <a:latin typeface="Arial Black" pitchFamily="34" charset="0"/>
                          <a:ea typeface="Arial Black" pitchFamily="34" charset="-122"/>
                          <a:cs typeface="Arial Black" pitchFamily="34" charset="-120"/>
                        </a:rPr>
                        <a:t>Forward Guidance</a:t>
                      </a:r>
                      <a:endParaRPr lang="en-US" sz="1300" dirty="0">
                        <a:latin typeface="Arial Black" charset="0"/>
                        <a:ea typeface="Arial Black" charset="0"/>
                        <a:cs typeface="Arial Black"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Signaling future policy intent</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Shapes market expectations — can be as powerful as rate changes</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extLst>
                  <a:ext uri="{0D108BD9-81ED-4DB2-BD59-A6C34878D82A}">
                    <a16:rowId xmlns:a16="http://schemas.microsoft.com/office/drawing/2014/main" val="10003"/>
                  </a:ext>
                </a:extLst>
              </a:tr>
              <a:tr h="487680">
                <a:tc>
                  <a:txBody>
                    <a:bodyPr/>
                    <a:lstStyle/>
                    <a:p>
                      <a:pPr marL="0" indent="0">
                        <a:buNone/>
                      </a:pPr>
                      <a:r>
                        <a:rPr lang="en-US" sz="1300" b="1" dirty="0">
                          <a:solidFill>
                            <a:srgbClr val="FFFFFF"/>
                          </a:solidFill>
                          <a:latin typeface="Arial Black" pitchFamily="34" charset="0"/>
                          <a:ea typeface="Arial Black" pitchFamily="34" charset="-122"/>
                          <a:cs typeface="Arial Black" pitchFamily="34" charset="-120"/>
                        </a:rPr>
                        <a:t>Reserve Requirements</a:t>
                      </a:r>
                      <a:endParaRPr lang="en-US" sz="1300" dirty="0">
                        <a:latin typeface="Arial Black" charset="0"/>
                        <a:ea typeface="Arial Black" charset="0"/>
                        <a:cs typeface="Arial Black"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How much banks must hold</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buNone/>
                      </a:pPr>
                      <a:r>
                        <a:rPr lang="en-US" sz="1300" dirty="0">
                          <a:solidFill>
                            <a:srgbClr val="E8ECF1"/>
                          </a:solidFill>
                          <a:latin typeface="Calibri" pitchFamily="34" charset="0"/>
                          <a:ea typeface="Calibri" pitchFamily="34" charset="-122"/>
                          <a:cs typeface="Calibri" pitchFamily="34" charset="-120"/>
                        </a:rPr>
                        <a:t>Lower reserves → more lending → more money creation</a:t>
                      </a:r>
                      <a:endParaRPr lang="en-US" sz="1300" dirty="0">
                        <a:latin typeface="Calibri" charset="0"/>
                        <a:ea typeface="Calibri" charset="0"/>
                        <a:cs typeface="Calibri" charset="0"/>
                      </a:endParaRPr>
                    </a:p>
                  </a:txBody>
                  <a:tcPr marL="121920" marR="121920" marT="60960" marB="60960" anchor="ctr">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3" name="Text 3"/>
          <p:cNvSpPr/>
          <p:nvPr/>
        </p:nvSpPr>
        <p:spPr>
          <a:xfrm>
            <a:off x="731520" y="365760"/>
            <a:ext cx="10728960" cy="54864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THE THIRD MANDATE</a:t>
            </a:r>
          </a:p>
        </p:txBody>
      </p:sp>
      <p:sp>
        <p:nvSpPr>
          <p:cNvPr id="4" name="Text 4"/>
          <p:cNvSpPr/>
          <p:nvPr/>
        </p:nvSpPr>
        <p:spPr>
          <a:xfrm>
            <a:off x="731520" y="975360"/>
            <a:ext cx="1072896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The constraint that isn't in the dual mandate</a:t>
            </a:r>
          </a:p>
        </p:txBody>
      </p:sp>
      <p:sp>
        <p:nvSpPr>
          <p:cNvPr id="5" name="Shape 5"/>
          <p:cNvSpPr/>
          <p:nvPr/>
        </p:nvSpPr>
        <p:spPr>
          <a:xfrm>
            <a:off x="731520" y="1341120"/>
            <a:ext cx="5181600" cy="16459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6" name="Shape 6"/>
          <p:cNvSpPr/>
          <p:nvPr/>
        </p:nvSpPr>
        <p:spPr>
          <a:xfrm>
            <a:off x="731520" y="1341120"/>
            <a:ext cx="5181600" cy="60960"/>
          </a:xfrm>
          <a:prstGeom prst="rect">
            <a:avLst/>
          </a:prstGeom>
          <a:solidFill>
            <a:srgbClr val="8B95A8"/>
          </a:solidFill>
          <a:ln/>
        </p:spPr>
        <p:txBody>
          <a:bodyPr/>
          <a:lstStyle/>
          <a:p>
            <a:pPr defTabSz="1219170"/>
            <a:endParaRPr lang="en-US" sz="2400">
              <a:solidFill>
                <a:prstClr val="black"/>
              </a:solidFill>
              <a:latin typeface="Calibri" panose="020F0502020204030204"/>
            </a:endParaRPr>
          </a:p>
        </p:txBody>
      </p:sp>
      <p:sp>
        <p:nvSpPr>
          <p:cNvPr id="7" name="Text 7"/>
          <p:cNvSpPr/>
          <p:nvPr/>
        </p:nvSpPr>
        <p:spPr>
          <a:xfrm>
            <a:off x="975360" y="1524000"/>
            <a:ext cx="4693920" cy="304800"/>
          </a:xfrm>
          <a:prstGeom prst="rect">
            <a:avLst/>
          </a:prstGeom>
          <a:noFill/>
          <a:ln/>
        </p:spPr>
        <p:txBody>
          <a:bodyPr wrap="square" lIns="0" tIns="0" rIns="0" bIns="0" rtlCol="0" anchor="ctr"/>
          <a:lstStyle/>
          <a:p>
            <a:pPr defTabSz="1219170"/>
            <a:r>
              <a:rPr lang="en-US" sz="1600" b="1" dirty="0">
                <a:solidFill>
                  <a:srgbClr val="8B95A8"/>
                </a:solidFill>
                <a:latin typeface="Arial Black" pitchFamily="34" charset="0"/>
                <a:ea typeface="Arial Black" pitchFamily="34" charset="-122"/>
                <a:cs typeface="Arial Black" pitchFamily="34" charset="-120"/>
              </a:rPr>
              <a:t>THE TEXTBOOK VIEW</a:t>
            </a:r>
          </a:p>
        </p:txBody>
      </p:sp>
      <p:sp>
        <p:nvSpPr>
          <p:cNvPr id="8" name="Text 8"/>
          <p:cNvSpPr/>
          <p:nvPr/>
        </p:nvSpPr>
        <p:spPr>
          <a:xfrm>
            <a:off x="975360" y="1930400"/>
            <a:ext cx="4693920" cy="914400"/>
          </a:xfrm>
          <a:prstGeom prst="rect">
            <a:avLst/>
          </a:prstGeom>
          <a:noFill/>
          <a:ln/>
        </p:spPr>
        <p:txBody>
          <a:bodyPr wrap="square" lIns="0" tIns="0" rIns="0" bIns="0" rtlCol="0" anchor="t"/>
          <a:lstStyle/>
          <a:p>
            <a:pPr defTabSz="1219170">
              <a:lnSpc>
                <a:spcPct val="105000"/>
              </a:lnSpc>
            </a:pPr>
            <a:r>
              <a:rPr lang="en-US" sz="1333" dirty="0">
                <a:solidFill>
                  <a:srgbClr val="E8ECF1"/>
                </a:solidFill>
                <a:latin typeface="Calibri" pitchFamily="34" charset="0"/>
                <a:ea typeface="Calibri" pitchFamily="34" charset="-122"/>
                <a:cs typeface="Calibri" pitchFamily="34" charset="-120"/>
              </a:rPr>
              <a:t>The Fed weighs price stability against employment and chooses. Inflation is a policy error to be corrected — raise rates, accept the recession, restore stability.</a:t>
            </a:r>
          </a:p>
        </p:txBody>
      </p:sp>
      <p:sp>
        <p:nvSpPr>
          <p:cNvPr id="9" name="Shape 9"/>
          <p:cNvSpPr/>
          <p:nvPr/>
        </p:nvSpPr>
        <p:spPr>
          <a:xfrm>
            <a:off x="6278880" y="1341120"/>
            <a:ext cx="5181600" cy="16459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0" name="Shape 10"/>
          <p:cNvSpPr/>
          <p:nvPr/>
        </p:nvSpPr>
        <p:spPr>
          <a:xfrm>
            <a:off x="6278880" y="1341120"/>
            <a:ext cx="5181600" cy="6096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11" name="Text 11"/>
          <p:cNvSpPr/>
          <p:nvPr/>
        </p:nvSpPr>
        <p:spPr>
          <a:xfrm>
            <a:off x="6522720" y="1524000"/>
            <a:ext cx="4693920" cy="304800"/>
          </a:xfrm>
          <a:prstGeom prst="rect">
            <a:avLst/>
          </a:prstGeom>
          <a:noFill/>
          <a:ln/>
        </p:spPr>
        <p:txBody>
          <a:bodyPr wrap="square" lIns="0" tIns="0" rIns="0" bIns="0" rtlCol="0" anchor="ctr"/>
          <a:lstStyle/>
          <a:p>
            <a:pPr defTabSz="1219170"/>
            <a:r>
              <a:rPr lang="en-US" sz="1600" b="1" dirty="0">
                <a:solidFill>
                  <a:srgbClr val="FF8C42"/>
                </a:solidFill>
                <a:latin typeface="Arial Black" pitchFamily="34" charset="0"/>
                <a:ea typeface="Arial Black" pitchFamily="34" charset="-122"/>
                <a:cs typeface="Arial Black" pitchFamily="34" charset="-120"/>
              </a:rPr>
              <a:t>THE FISCAL REALITY</a:t>
            </a:r>
          </a:p>
        </p:txBody>
      </p:sp>
      <p:sp>
        <p:nvSpPr>
          <p:cNvPr id="12" name="Text 12"/>
          <p:cNvSpPr/>
          <p:nvPr/>
        </p:nvSpPr>
        <p:spPr>
          <a:xfrm>
            <a:off x="6522720" y="1930400"/>
            <a:ext cx="4693920" cy="914400"/>
          </a:xfrm>
          <a:prstGeom prst="rect">
            <a:avLst/>
          </a:prstGeom>
          <a:noFill/>
          <a:ln/>
        </p:spPr>
        <p:txBody>
          <a:bodyPr wrap="square" lIns="0" tIns="0" rIns="0" bIns="0" rtlCol="0" anchor="t"/>
          <a:lstStyle/>
          <a:p>
            <a:pPr defTabSz="1219170">
              <a:lnSpc>
                <a:spcPct val="105000"/>
              </a:lnSpc>
            </a:pPr>
            <a:r>
              <a:rPr lang="en-US" sz="1333" dirty="0">
                <a:solidFill>
                  <a:srgbClr val="E8ECF1"/>
                </a:solidFill>
                <a:latin typeface="Calibri" pitchFamily="34" charset="0"/>
                <a:ea typeface="Calibri" pitchFamily="34" charset="-122"/>
                <a:cs typeface="Calibri" pitchFamily="34" charset="-120"/>
              </a:rPr>
              <a:t>A third, unwritten mandate now outranks both: keep the Treasury financeable. Every rate hike raises the government's own largest and fastest-growing expense.</a:t>
            </a:r>
          </a:p>
        </p:txBody>
      </p:sp>
      <p:sp>
        <p:nvSpPr>
          <p:cNvPr id="13" name="Shape 13"/>
          <p:cNvSpPr/>
          <p:nvPr/>
        </p:nvSpPr>
        <p:spPr>
          <a:xfrm>
            <a:off x="731520" y="3230880"/>
            <a:ext cx="3332480" cy="1463040"/>
          </a:xfrm>
          <a:prstGeom prst="rect">
            <a:avLst/>
          </a:prstGeom>
          <a:solidFill>
            <a:srgbClr val="1C2133"/>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4" name="Text 14"/>
          <p:cNvSpPr/>
          <p:nvPr/>
        </p:nvSpPr>
        <p:spPr>
          <a:xfrm>
            <a:off x="914400" y="3413760"/>
            <a:ext cx="2966720" cy="426720"/>
          </a:xfrm>
          <a:prstGeom prst="rect">
            <a:avLst/>
          </a:prstGeom>
          <a:noFill/>
          <a:ln/>
        </p:spPr>
        <p:txBody>
          <a:bodyPr wrap="square" lIns="0" tIns="0" rIns="0" bIns="0" rtlCol="0" anchor="ctr"/>
          <a:lstStyle/>
          <a:p>
            <a:pPr defTabSz="1219170"/>
            <a:r>
              <a:rPr lang="en-US" sz="2133" b="1" dirty="0">
                <a:solidFill>
                  <a:srgbClr val="00D4AA"/>
                </a:solidFill>
                <a:latin typeface="Arial Black" pitchFamily="34" charset="0"/>
                <a:ea typeface="Arial Black" pitchFamily="34" charset="-122"/>
                <a:cs typeface="Arial Black" pitchFamily="34" charset="-120"/>
              </a:rPr>
              <a:t>$970B</a:t>
            </a:r>
          </a:p>
        </p:txBody>
      </p:sp>
      <p:sp>
        <p:nvSpPr>
          <p:cNvPr id="15" name="Text 15"/>
          <p:cNvSpPr/>
          <p:nvPr/>
        </p:nvSpPr>
        <p:spPr>
          <a:xfrm>
            <a:off x="914400" y="3901440"/>
            <a:ext cx="2966720" cy="670560"/>
          </a:xfrm>
          <a:prstGeom prst="rect">
            <a:avLst/>
          </a:prstGeom>
          <a:noFill/>
          <a:ln/>
        </p:spPr>
        <p:txBody>
          <a:bodyPr wrap="square" lIns="0" tIns="0" rIns="0" bIns="0" rtlCol="0" anchor="t"/>
          <a:lstStyle/>
          <a:p>
            <a:pPr defTabSz="1219170"/>
            <a:r>
              <a:rPr lang="en-US" sz="1133" dirty="0">
                <a:solidFill>
                  <a:srgbClr val="8B95A8"/>
                </a:solidFill>
                <a:latin typeface="Calibri" pitchFamily="34" charset="0"/>
                <a:ea typeface="Calibri" pitchFamily="34" charset="-122"/>
                <a:cs typeface="Calibri" pitchFamily="34" charset="-120"/>
              </a:rPr>
              <a:t>FY2025 net interest on the federal debt — up from $345B in FY2020, and roughly $150B more than defense.</a:t>
            </a:r>
          </a:p>
        </p:txBody>
      </p:sp>
      <p:sp>
        <p:nvSpPr>
          <p:cNvPr id="16" name="Shape 16"/>
          <p:cNvSpPr/>
          <p:nvPr/>
        </p:nvSpPr>
        <p:spPr>
          <a:xfrm>
            <a:off x="4429760" y="3230880"/>
            <a:ext cx="3332480" cy="1463040"/>
          </a:xfrm>
          <a:prstGeom prst="rect">
            <a:avLst/>
          </a:prstGeom>
          <a:solidFill>
            <a:srgbClr val="1C2133"/>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7" name="Text 17"/>
          <p:cNvSpPr/>
          <p:nvPr/>
        </p:nvSpPr>
        <p:spPr>
          <a:xfrm>
            <a:off x="4612640" y="3413760"/>
            <a:ext cx="2966720" cy="426720"/>
          </a:xfrm>
          <a:prstGeom prst="rect">
            <a:avLst/>
          </a:prstGeom>
          <a:noFill/>
          <a:ln/>
        </p:spPr>
        <p:txBody>
          <a:bodyPr wrap="square" lIns="0" tIns="0" rIns="0" bIns="0" rtlCol="0" anchor="ctr"/>
          <a:lstStyle/>
          <a:p>
            <a:pPr defTabSz="1219170"/>
            <a:r>
              <a:rPr lang="en-US" sz="2133" b="1" dirty="0">
                <a:solidFill>
                  <a:srgbClr val="FF8C42"/>
                </a:solidFill>
                <a:latin typeface="Arial Black" pitchFamily="34" charset="0"/>
                <a:ea typeface="Arial Black" pitchFamily="34" charset="-122"/>
                <a:cs typeface="Arial Black" pitchFamily="34" charset="-120"/>
              </a:rPr>
              <a:t>1.58% → 3.38%</a:t>
            </a:r>
          </a:p>
        </p:txBody>
      </p:sp>
      <p:sp>
        <p:nvSpPr>
          <p:cNvPr id="18" name="Text 18"/>
          <p:cNvSpPr/>
          <p:nvPr/>
        </p:nvSpPr>
        <p:spPr>
          <a:xfrm>
            <a:off x="4612640" y="3901440"/>
            <a:ext cx="2966720" cy="670560"/>
          </a:xfrm>
          <a:prstGeom prst="rect">
            <a:avLst/>
          </a:prstGeom>
          <a:noFill/>
          <a:ln/>
        </p:spPr>
        <p:txBody>
          <a:bodyPr wrap="square" lIns="0" tIns="0" rIns="0" bIns="0" rtlCol="0" anchor="t"/>
          <a:lstStyle/>
          <a:p>
            <a:pPr defTabSz="1219170"/>
            <a:r>
              <a:rPr lang="en-US" sz="1133" dirty="0">
                <a:solidFill>
                  <a:srgbClr val="8B95A8"/>
                </a:solidFill>
                <a:latin typeface="Calibri" pitchFamily="34" charset="0"/>
                <a:ea typeface="Calibri" pitchFamily="34" charset="-122"/>
                <a:cs typeface="Calibri" pitchFamily="34" charset="-120"/>
              </a:rPr>
              <a:t>Average interest rate on marketable federal debt, 2020 to late 2025. The whole stock reprices as it rolls.</a:t>
            </a:r>
          </a:p>
        </p:txBody>
      </p:sp>
      <p:sp>
        <p:nvSpPr>
          <p:cNvPr id="19" name="Shape 19"/>
          <p:cNvSpPr/>
          <p:nvPr/>
        </p:nvSpPr>
        <p:spPr>
          <a:xfrm>
            <a:off x="8128000" y="3230880"/>
            <a:ext cx="3332480" cy="1463040"/>
          </a:xfrm>
          <a:prstGeom prst="rect">
            <a:avLst/>
          </a:prstGeom>
          <a:solidFill>
            <a:srgbClr val="1C2133"/>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0" name="Text 20"/>
          <p:cNvSpPr/>
          <p:nvPr/>
        </p:nvSpPr>
        <p:spPr>
          <a:xfrm>
            <a:off x="8310880" y="3413760"/>
            <a:ext cx="2966720" cy="426720"/>
          </a:xfrm>
          <a:prstGeom prst="rect">
            <a:avLst/>
          </a:prstGeom>
          <a:noFill/>
          <a:ln/>
        </p:spPr>
        <p:txBody>
          <a:bodyPr wrap="square" lIns="0" tIns="0" rIns="0" bIns="0" rtlCol="0" anchor="ctr"/>
          <a:lstStyle/>
          <a:p>
            <a:pPr defTabSz="1219170"/>
            <a:r>
              <a:rPr lang="en-US" sz="2133" b="1" dirty="0">
                <a:solidFill>
                  <a:srgbClr val="FF4757"/>
                </a:solidFill>
                <a:latin typeface="Arial Black" pitchFamily="34" charset="0"/>
                <a:ea typeface="Arial Black" pitchFamily="34" charset="-122"/>
                <a:cs typeface="Arial Black" pitchFamily="34" charset="-120"/>
              </a:rPr>
              <a:t>~100%</a:t>
            </a:r>
          </a:p>
        </p:txBody>
      </p:sp>
      <p:sp>
        <p:nvSpPr>
          <p:cNvPr id="21" name="Text 21"/>
          <p:cNvSpPr/>
          <p:nvPr/>
        </p:nvSpPr>
        <p:spPr>
          <a:xfrm>
            <a:off x="8310880" y="3901440"/>
            <a:ext cx="2966720" cy="670560"/>
          </a:xfrm>
          <a:prstGeom prst="rect">
            <a:avLst/>
          </a:prstGeom>
          <a:noFill/>
          <a:ln/>
        </p:spPr>
        <p:txBody>
          <a:bodyPr wrap="square" lIns="0" tIns="0" rIns="0" bIns="0" rtlCol="0" anchor="t"/>
          <a:lstStyle/>
          <a:p>
            <a:pPr defTabSz="1219170"/>
            <a:r>
              <a:rPr lang="en-US" sz="1133" dirty="0">
                <a:solidFill>
                  <a:srgbClr val="8B95A8"/>
                </a:solidFill>
                <a:latin typeface="Calibri" pitchFamily="34" charset="0"/>
                <a:ea typeface="Calibri" pitchFamily="34" charset="-122"/>
                <a:cs typeface="Calibri" pitchFamily="34" charset="-120"/>
              </a:rPr>
              <a:t>Federal debt held by the public as a share of GDP at FY2025 close. It was 35% in 2007.</a:t>
            </a:r>
          </a:p>
        </p:txBody>
      </p:sp>
      <p:sp>
        <p:nvSpPr>
          <p:cNvPr id="22" name="Shape 22"/>
          <p:cNvSpPr/>
          <p:nvPr/>
        </p:nvSpPr>
        <p:spPr>
          <a:xfrm>
            <a:off x="731520" y="4937760"/>
            <a:ext cx="10728960" cy="853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3" name="Shape 23"/>
          <p:cNvSpPr/>
          <p:nvPr/>
        </p:nvSpPr>
        <p:spPr>
          <a:xfrm>
            <a:off x="731520" y="4937760"/>
            <a:ext cx="60960" cy="85344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24" name="Text 24"/>
          <p:cNvSpPr/>
          <p:nvPr/>
        </p:nvSpPr>
        <p:spPr>
          <a:xfrm>
            <a:off x="1036320" y="5059680"/>
            <a:ext cx="10119360" cy="609600"/>
          </a:xfrm>
          <a:prstGeom prst="rect">
            <a:avLst/>
          </a:prstGeom>
          <a:noFill/>
          <a:ln/>
        </p:spPr>
        <p:txBody>
          <a:bodyPr wrap="square" lIns="0" tIns="0" rIns="0" bIns="0" rtlCol="0" anchor="ctr"/>
          <a:lstStyle/>
          <a:p>
            <a:pPr defTabSz="1219170">
              <a:lnSpc>
                <a:spcPct val="105000"/>
              </a:lnSpc>
            </a:pPr>
            <a:r>
              <a:rPr lang="en-US" sz="1333" b="1" dirty="0">
                <a:solidFill>
                  <a:srgbClr val="FF8C42"/>
                </a:solidFill>
                <a:latin typeface="Arial Black" pitchFamily="34" charset="0"/>
                <a:ea typeface="Arial Black" pitchFamily="34" charset="-122"/>
                <a:cs typeface="Arial Black" pitchFamily="34" charset="-120"/>
              </a:rPr>
              <a:t>FISCAL DOMINANCE:  </a:t>
            </a:r>
            <a:r>
              <a:rPr lang="en-US" sz="1333" dirty="0">
                <a:solidFill>
                  <a:srgbClr val="E8ECF1"/>
                </a:solidFill>
                <a:latin typeface="Calibri" pitchFamily="34" charset="0"/>
                <a:ea typeface="Calibri" pitchFamily="34" charset="-122"/>
                <a:cs typeface="Calibri" pitchFamily="34" charset="-120"/>
              </a:rPr>
              <a:t>When debt service grows large enough that financing the government constrains monetary policy, the tool used to fight inflation is the same tool that worsens the deficit feeding it. Lyn Alden's framing — and the reason this cycle rhymes with the 1940s, not the 1970s.</a:t>
            </a:r>
          </a:p>
        </p:txBody>
      </p:sp>
      <p:sp>
        <p:nvSpPr>
          <p:cNvPr id="25" name="Text 25"/>
          <p:cNvSpPr/>
          <p:nvPr/>
        </p:nvSpPr>
        <p:spPr>
          <a:xfrm>
            <a:off x="731520" y="5913120"/>
            <a:ext cx="10728960" cy="243840"/>
          </a:xfrm>
          <a:prstGeom prst="rect">
            <a:avLst/>
          </a:prstGeom>
          <a:noFill/>
          <a:ln/>
        </p:spPr>
        <p:txBody>
          <a:bodyPr wrap="square" lIns="0" tIns="0" rIns="0" bIns="0" rtlCol="0" anchor="ctr"/>
          <a:lstStyle/>
          <a:p>
            <a:pPr defTabSz="1219170"/>
            <a:r>
              <a:rPr lang="en-US" sz="1000" dirty="0">
                <a:solidFill>
                  <a:srgbClr val="5A6478"/>
                </a:solidFill>
                <a:latin typeface="Calibri" pitchFamily="34" charset="0"/>
                <a:ea typeface="Calibri" pitchFamily="34" charset="-122"/>
                <a:cs typeface="Calibri" pitchFamily="34" charset="-120"/>
              </a:rPr>
              <a:t>Sources: U.S. Treasury Monthly Treasury Statement (Sept 2025); CBO; Joint Economic Committee Monthly Debt Update (Dec 2025).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3" name="Text 3"/>
          <p:cNvSpPr/>
          <p:nvPr/>
        </p:nvSpPr>
        <p:spPr>
          <a:xfrm>
            <a:off x="731520" y="365760"/>
            <a:ext cx="10728960" cy="548640"/>
          </a:xfrm>
          <a:prstGeom prst="rect">
            <a:avLst/>
          </a:prstGeom>
          <a:noFill/>
          <a:ln/>
        </p:spPr>
        <p:txBody>
          <a:bodyPr wrap="square" lIns="0" tIns="0" rIns="0" bIns="0" rtlCol="0" anchor="ctr"/>
          <a:lstStyle/>
          <a:p>
            <a:pPr defTabSz="1219170"/>
            <a:r>
              <a:rPr lang="en-US" sz="2400" b="1" dirty="0">
                <a:solidFill>
                  <a:srgbClr val="FFFFFF"/>
                </a:solidFill>
                <a:latin typeface="Arial Black" pitchFamily="34" charset="0"/>
                <a:ea typeface="Arial Black" pitchFamily="34" charset="-122"/>
                <a:cs typeface="Arial Black" pitchFamily="34" charset="-120"/>
              </a:rPr>
              <a:t>HOW A 100% DEBT LOAD ACTUALLY GETS RETIRED</a:t>
            </a:r>
          </a:p>
        </p:txBody>
      </p:sp>
      <p:sp>
        <p:nvSpPr>
          <p:cNvPr id="4" name="Text 4"/>
          <p:cNvSpPr/>
          <p:nvPr/>
        </p:nvSpPr>
        <p:spPr>
          <a:xfrm>
            <a:off x="731520" y="975360"/>
            <a:ext cx="1072896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It has been done before — without default, and without austerity</a:t>
            </a:r>
          </a:p>
        </p:txBody>
      </p:sp>
      <p:sp>
        <p:nvSpPr>
          <p:cNvPr id="5" name="Shape 5"/>
          <p:cNvSpPr/>
          <p:nvPr/>
        </p:nvSpPr>
        <p:spPr>
          <a:xfrm>
            <a:off x="731520" y="1341120"/>
            <a:ext cx="5181600" cy="31699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6" name="Shape 6"/>
          <p:cNvSpPr/>
          <p:nvPr/>
        </p:nvSpPr>
        <p:spPr>
          <a:xfrm>
            <a:off x="731520" y="1341120"/>
            <a:ext cx="51816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7" name="Text 7"/>
          <p:cNvSpPr/>
          <p:nvPr/>
        </p:nvSpPr>
        <p:spPr>
          <a:xfrm>
            <a:off x="975360" y="1524000"/>
            <a:ext cx="4693920" cy="304800"/>
          </a:xfrm>
          <a:prstGeom prst="rect">
            <a:avLst/>
          </a:prstGeom>
          <a:noFill/>
          <a:ln/>
        </p:spPr>
        <p:txBody>
          <a:bodyPr wrap="square" lIns="0" tIns="0" rIns="0" bIns="0" rtlCol="0" anchor="ctr"/>
          <a:lstStyle/>
          <a:p>
            <a:pPr defTabSz="1219170"/>
            <a:r>
              <a:rPr lang="en-US" sz="1600" b="1" dirty="0">
                <a:solidFill>
                  <a:srgbClr val="00D4AA"/>
                </a:solidFill>
                <a:latin typeface="Arial Black" pitchFamily="34" charset="0"/>
                <a:ea typeface="Arial Black" pitchFamily="34" charset="-122"/>
                <a:cs typeface="Arial Black" pitchFamily="34" charset="-120"/>
              </a:rPr>
              <a:t>THE MECHANISM</a:t>
            </a:r>
          </a:p>
        </p:txBody>
      </p:sp>
      <p:sp>
        <p:nvSpPr>
          <p:cNvPr id="8" name="Shape 8"/>
          <p:cNvSpPr/>
          <p:nvPr/>
        </p:nvSpPr>
        <p:spPr>
          <a:xfrm>
            <a:off x="975360" y="2072640"/>
            <a:ext cx="91440" cy="914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9" name="Text 9"/>
          <p:cNvSpPr/>
          <p:nvPr/>
        </p:nvSpPr>
        <p:spPr>
          <a:xfrm>
            <a:off x="1219200" y="2011680"/>
            <a:ext cx="4450080" cy="51816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1946:</a:t>
            </a:r>
            <a:r>
              <a:rPr lang="en-US" sz="1267" dirty="0">
                <a:solidFill>
                  <a:srgbClr val="E8ECF1"/>
                </a:solidFill>
                <a:latin typeface="Calibri" pitchFamily="34" charset="0"/>
                <a:ea typeface="Calibri" pitchFamily="34" charset="-122"/>
                <a:cs typeface="Calibri" pitchFamily="34" charset="-120"/>
              </a:rPr>
              <a:t> federal debt peaks near 106% of GDP.</a:t>
            </a:r>
          </a:p>
        </p:txBody>
      </p:sp>
      <p:sp>
        <p:nvSpPr>
          <p:cNvPr id="10" name="Shape 10"/>
          <p:cNvSpPr/>
          <p:nvPr/>
        </p:nvSpPr>
        <p:spPr>
          <a:xfrm>
            <a:off x="975360" y="2651760"/>
            <a:ext cx="91440" cy="914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11" name="Text 11"/>
          <p:cNvSpPr/>
          <p:nvPr/>
        </p:nvSpPr>
        <p:spPr>
          <a:xfrm>
            <a:off x="1219200" y="2590800"/>
            <a:ext cx="4450080" cy="51816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The Fed caps yields.</a:t>
            </a:r>
            <a:r>
              <a:rPr lang="en-US" sz="1267" dirty="0">
                <a:solidFill>
                  <a:srgbClr val="E8ECF1"/>
                </a:solidFill>
                <a:latin typeface="Calibri" pitchFamily="34" charset="0"/>
                <a:ea typeface="Calibri" pitchFamily="34" charset="-122"/>
                <a:cs typeface="Calibri" pitchFamily="34" charset="-120"/>
              </a:rPr>
              <a:t> Rates are held below the inflation rate by policy, not by accident.</a:t>
            </a:r>
          </a:p>
        </p:txBody>
      </p:sp>
      <p:sp>
        <p:nvSpPr>
          <p:cNvPr id="12" name="Shape 12"/>
          <p:cNvSpPr/>
          <p:nvPr/>
        </p:nvSpPr>
        <p:spPr>
          <a:xfrm>
            <a:off x="975360" y="3230880"/>
            <a:ext cx="91440" cy="914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13" name="Text 13"/>
          <p:cNvSpPr/>
          <p:nvPr/>
        </p:nvSpPr>
        <p:spPr>
          <a:xfrm>
            <a:off x="1219200" y="3169920"/>
            <a:ext cx="4450080" cy="51816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1974:</a:t>
            </a:r>
            <a:r>
              <a:rPr lang="en-US" sz="1267" dirty="0">
                <a:solidFill>
                  <a:srgbClr val="E8ECF1"/>
                </a:solidFill>
                <a:latin typeface="Calibri" pitchFamily="34" charset="0"/>
                <a:ea typeface="Calibri" pitchFamily="34" charset="-122"/>
                <a:cs typeface="Calibri" pitchFamily="34" charset="-120"/>
              </a:rPr>
              <a:t> debt is down to roughly 23% of GDP — no default, no austerity.</a:t>
            </a:r>
          </a:p>
        </p:txBody>
      </p:sp>
      <p:sp>
        <p:nvSpPr>
          <p:cNvPr id="14" name="Shape 14"/>
          <p:cNvSpPr/>
          <p:nvPr/>
        </p:nvSpPr>
        <p:spPr>
          <a:xfrm>
            <a:off x="975360" y="3810000"/>
            <a:ext cx="91440" cy="914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15" name="Text 15"/>
          <p:cNvSpPr/>
          <p:nvPr/>
        </p:nvSpPr>
        <p:spPr>
          <a:xfrm>
            <a:off x="1219200" y="3749040"/>
            <a:ext cx="4450080" cy="51816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Reinhart &amp; Sbrancia</a:t>
            </a:r>
            <a:r>
              <a:rPr lang="en-US" sz="1267" dirty="0">
                <a:solidFill>
                  <a:srgbClr val="E8ECF1"/>
                </a:solidFill>
                <a:latin typeface="Calibri" pitchFamily="34" charset="0"/>
                <a:ea typeface="Calibri" pitchFamily="34" charset="-122"/>
                <a:cs typeface="Calibri" pitchFamily="34" charset="-120"/>
              </a:rPr>
              <a:t> put the transfer at 3–4% of GDP per year.</a:t>
            </a:r>
          </a:p>
        </p:txBody>
      </p:sp>
      <p:sp>
        <p:nvSpPr>
          <p:cNvPr id="16" name="Shape 16"/>
          <p:cNvSpPr/>
          <p:nvPr/>
        </p:nvSpPr>
        <p:spPr>
          <a:xfrm>
            <a:off x="6278880" y="1341120"/>
            <a:ext cx="5181600" cy="31699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7" name="Shape 17"/>
          <p:cNvSpPr/>
          <p:nvPr/>
        </p:nvSpPr>
        <p:spPr>
          <a:xfrm>
            <a:off x="6278880" y="1341120"/>
            <a:ext cx="5181600" cy="6096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sp>
        <p:nvSpPr>
          <p:cNvPr id="18" name="Text 18"/>
          <p:cNvSpPr/>
          <p:nvPr/>
        </p:nvSpPr>
        <p:spPr>
          <a:xfrm>
            <a:off x="6522720" y="1524000"/>
            <a:ext cx="4693920" cy="304800"/>
          </a:xfrm>
          <a:prstGeom prst="rect">
            <a:avLst/>
          </a:prstGeom>
          <a:noFill/>
          <a:ln/>
        </p:spPr>
        <p:txBody>
          <a:bodyPr wrap="square" lIns="0" tIns="0" rIns="0" bIns="0" rtlCol="0" anchor="ctr"/>
          <a:lstStyle/>
          <a:p>
            <a:pPr defTabSz="1219170"/>
            <a:r>
              <a:rPr lang="en-US" sz="1600" b="1" dirty="0">
                <a:solidFill>
                  <a:srgbClr val="FF4757"/>
                </a:solidFill>
                <a:latin typeface="Arial Black" pitchFamily="34" charset="0"/>
                <a:ea typeface="Arial Black" pitchFamily="34" charset="-122"/>
                <a:cs typeface="Arial Black" pitchFamily="34" charset="-120"/>
              </a:rPr>
              <a:t>WHO ACTUALLY PAID</a:t>
            </a:r>
          </a:p>
        </p:txBody>
      </p:sp>
      <p:sp>
        <p:nvSpPr>
          <p:cNvPr id="19" name="Shape 19"/>
          <p:cNvSpPr/>
          <p:nvPr/>
        </p:nvSpPr>
        <p:spPr>
          <a:xfrm>
            <a:off x="6522720" y="2072640"/>
            <a:ext cx="91440" cy="914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sp>
        <p:nvSpPr>
          <p:cNvPr id="20" name="Text 20"/>
          <p:cNvSpPr/>
          <p:nvPr/>
        </p:nvSpPr>
        <p:spPr>
          <a:xfrm>
            <a:off x="6766560" y="2011680"/>
            <a:ext cx="4450080" cy="50800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Bondholders.</a:t>
            </a:r>
            <a:r>
              <a:rPr lang="en-US" sz="1267" dirty="0">
                <a:solidFill>
                  <a:srgbClr val="E8ECF1"/>
                </a:solidFill>
                <a:latin typeface="Calibri" pitchFamily="34" charset="0"/>
                <a:ea typeface="Calibri" pitchFamily="34" charset="-122"/>
                <a:cs typeface="Calibri" pitchFamily="34" charset="-120"/>
              </a:rPr>
              <a:t> Nominal principal returned in full. Purchasing power was not.</a:t>
            </a:r>
          </a:p>
        </p:txBody>
      </p:sp>
      <p:sp>
        <p:nvSpPr>
          <p:cNvPr id="21" name="Shape 21"/>
          <p:cNvSpPr/>
          <p:nvPr/>
        </p:nvSpPr>
        <p:spPr>
          <a:xfrm>
            <a:off x="6522720" y="2641600"/>
            <a:ext cx="91440" cy="914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sp>
        <p:nvSpPr>
          <p:cNvPr id="22" name="Text 22"/>
          <p:cNvSpPr/>
          <p:nvPr/>
        </p:nvSpPr>
        <p:spPr>
          <a:xfrm>
            <a:off x="6766560" y="2580640"/>
            <a:ext cx="4450080" cy="50800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Savers.</a:t>
            </a:r>
            <a:r>
              <a:rPr lang="en-US" sz="1267" dirty="0">
                <a:solidFill>
                  <a:srgbClr val="E8ECF1"/>
                </a:solidFill>
                <a:latin typeface="Calibri" pitchFamily="34" charset="0"/>
                <a:ea typeface="Calibri" pitchFamily="34" charset="-122"/>
                <a:cs typeface="Calibri" pitchFamily="34" charset="-120"/>
              </a:rPr>
              <a:t> Two decades of negative real rates on 'safe' money.</a:t>
            </a:r>
          </a:p>
        </p:txBody>
      </p:sp>
      <p:sp>
        <p:nvSpPr>
          <p:cNvPr id="23" name="Shape 23"/>
          <p:cNvSpPr/>
          <p:nvPr/>
        </p:nvSpPr>
        <p:spPr>
          <a:xfrm>
            <a:off x="6522720" y="3210560"/>
            <a:ext cx="91440" cy="914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sp>
        <p:nvSpPr>
          <p:cNvPr id="24" name="Text 24"/>
          <p:cNvSpPr/>
          <p:nvPr/>
        </p:nvSpPr>
        <p:spPr>
          <a:xfrm>
            <a:off x="6766560" y="3149600"/>
            <a:ext cx="4450080" cy="508000"/>
          </a:xfrm>
          <a:prstGeom prst="rect">
            <a:avLst/>
          </a:prstGeom>
          <a:noFill/>
          <a:ln/>
        </p:spPr>
        <p:txBody>
          <a:bodyPr wrap="square" lIns="0" tIns="0" rIns="0" bIns="0" rtlCol="0" anchor="t"/>
          <a:lstStyle/>
          <a:p>
            <a:pPr defTabSz="1219170">
              <a:lnSpc>
                <a:spcPct val="92000"/>
              </a:lnSpc>
            </a:pPr>
            <a:r>
              <a:rPr lang="en-US" sz="1267" b="1" dirty="0">
                <a:solidFill>
                  <a:srgbClr val="FFFFFF"/>
                </a:solidFill>
                <a:latin typeface="Calibri" pitchFamily="34" charset="0"/>
                <a:ea typeface="Calibri" pitchFamily="34" charset="-122"/>
                <a:cs typeface="Calibri" pitchFamily="34" charset="-120"/>
              </a:rPr>
              <a:t>Borrowers and real-asset owners.</a:t>
            </a:r>
            <a:r>
              <a:rPr lang="en-US" sz="1267" dirty="0">
                <a:solidFill>
                  <a:srgbClr val="E8ECF1"/>
                </a:solidFill>
                <a:latin typeface="Calibri" pitchFamily="34" charset="0"/>
                <a:ea typeface="Calibri" pitchFamily="34" charset="-122"/>
                <a:cs typeface="Calibri" pitchFamily="34" charset="-120"/>
              </a:rPr>
              <a:t> Real debt burdens inflated away.</a:t>
            </a:r>
          </a:p>
        </p:txBody>
      </p:sp>
      <p:sp>
        <p:nvSpPr>
          <p:cNvPr id="25" name="Shape 25"/>
          <p:cNvSpPr/>
          <p:nvPr/>
        </p:nvSpPr>
        <p:spPr>
          <a:xfrm>
            <a:off x="6522720" y="3759200"/>
            <a:ext cx="4693920" cy="609600"/>
          </a:xfrm>
          <a:prstGeom prst="rect">
            <a:avLst/>
          </a:prstGeom>
          <a:solidFill>
            <a:srgbClr val="252D3F"/>
          </a:solidFill>
          <a:ln/>
        </p:spPr>
        <p:txBody>
          <a:bodyPr/>
          <a:lstStyle/>
          <a:p>
            <a:pPr defTabSz="1219170"/>
            <a:endParaRPr lang="en-US" sz="2400">
              <a:solidFill>
                <a:prstClr val="black"/>
              </a:solidFill>
              <a:latin typeface="Calibri" panose="020F0502020204030204"/>
            </a:endParaRPr>
          </a:p>
        </p:txBody>
      </p:sp>
      <p:sp>
        <p:nvSpPr>
          <p:cNvPr id="26" name="Text 26"/>
          <p:cNvSpPr/>
          <p:nvPr/>
        </p:nvSpPr>
        <p:spPr>
          <a:xfrm>
            <a:off x="6705600" y="3820160"/>
            <a:ext cx="4328160" cy="487680"/>
          </a:xfrm>
          <a:prstGeom prst="rect">
            <a:avLst/>
          </a:prstGeom>
          <a:noFill/>
          <a:ln/>
        </p:spPr>
        <p:txBody>
          <a:bodyPr wrap="square" lIns="0" tIns="0" rIns="0" bIns="0" rtlCol="0" anchor="ctr"/>
          <a:lstStyle/>
          <a:p>
            <a:pPr defTabSz="1219170"/>
            <a:r>
              <a:rPr lang="en-US" sz="1200" b="1" dirty="0">
                <a:solidFill>
                  <a:srgbClr val="FF4757"/>
                </a:solidFill>
                <a:latin typeface="Calibri" pitchFamily="34" charset="0"/>
                <a:ea typeface="Calibri" pitchFamily="34" charset="-122"/>
                <a:cs typeface="Calibri" pitchFamily="34" charset="-120"/>
              </a:rPr>
              <a:t>The bondholder is not a bystander here. The bondholder is the designated payer.</a:t>
            </a:r>
          </a:p>
        </p:txBody>
      </p:sp>
      <p:sp>
        <p:nvSpPr>
          <p:cNvPr id="27" name="Shape 27"/>
          <p:cNvSpPr/>
          <p:nvPr/>
        </p:nvSpPr>
        <p:spPr>
          <a:xfrm>
            <a:off x="731520" y="4754880"/>
            <a:ext cx="10728960" cy="7924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8" name="Shape 28"/>
          <p:cNvSpPr/>
          <p:nvPr/>
        </p:nvSpPr>
        <p:spPr>
          <a:xfrm>
            <a:off x="731520" y="4754880"/>
            <a:ext cx="60960" cy="79248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29" name="Text 29"/>
          <p:cNvSpPr/>
          <p:nvPr/>
        </p:nvSpPr>
        <p:spPr>
          <a:xfrm>
            <a:off x="1036320" y="4826880"/>
            <a:ext cx="10119360" cy="670560"/>
          </a:xfrm>
          <a:prstGeom prst="rect">
            <a:avLst/>
          </a:prstGeom>
          <a:noFill/>
          <a:ln/>
        </p:spPr>
        <p:txBody>
          <a:bodyPr wrap="square" lIns="0" tIns="0" rIns="0" bIns="0" rtlCol="0" anchor="ctr"/>
          <a:lstStyle/>
          <a:p>
            <a:pPr defTabSz="1219170">
              <a:lnSpc>
                <a:spcPct val="105000"/>
              </a:lnSpc>
            </a:pPr>
            <a:r>
              <a:rPr lang="en-US" sz="1333" b="1" dirty="0">
                <a:solidFill>
                  <a:srgbClr val="00D4AA"/>
                </a:solidFill>
                <a:latin typeface="Arial Black" pitchFamily="34" charset="0"/>
                <a:ea typeface="Arial Black" pitchFamily="34" charset="-122"/>
                <a:cs typeface="Arial Black" pitchFamily="34" charset="-120"/>
              </a:rPr>
              <a:t>WHY THE ANALOG MATTERS:  </a:t>
            </a:r>
            <a:r>
              <a:rPr lang="en-US" sz="1333" dirty="0">
                <a:solidFill>
                  <a:srgbClr val="E8ECF1"/>
                </a:solidFill>
                <a:latin typeface="Calibri" pitchFamily="34" charset="0"/>
                <a:ea typeface="Calibri" pitchFamily="34" charset="-122"/>
                <a:cs typeface="Calibri" pitchFamily="34" charset="-120"/>
              </a:rPr>
              <a:t>The 1970s were cost-push with unanchored expectations — and Volcker cured them at 20%. The 1940s were debt-driven, and were cured by holding real rates negative for a generation. Pick the wrong analog and you position for the wrong decade.</a:t>
            </a:r>
          </a:p>
        </p:txBody>
      </p:sp>
      <p:sp>
        <p:nvSpPr>
          <p:cNvPr id="30" name="Text 30"/>
          <p:cNvSpPr/>
          <p:nvPr/>
        </p:nvSpPr>
        <p:spPr>
          <a:xfrm>
            <a:off x="731520" y="5669280"/>
            <a:ext cx="10728960" cy="243840"/>
          </a:xfrm>
          <a:prstGeom prst="rect">
            <a:avLst/>
          </a:prstGeom>
          <a:noFill/>
          <a:ln/>
        </p:spPr>
        <p:txBody>
          <a:bodyPr wrap="square" lIns="0" tIns="0" rIns="0" bIns="0" rtlCol="0" anchor="ctr"/>
          <a:lstStyle/>
          <a:p>
            <a:pPr defTabSz="1219170"/>
            <a:r>
              <a:rPr lang="en-US" sz="1000" dirty="0">
                <a:solidFill>
                  <a:srgbClr val="5A6478"/>
                </a:solidFill>
                <a:latin typeface="Calibri" pitchFamily="34" charset="0"/>
                <a:ea typeface="Calibri" pitchFamily="34" charset="-122"/>
                <a:cs typeface="Calibri" pitchFamily="34" charset="-120"/>
              </a:rPr>
              <a:t>Sources: Reinhart &amp; Sbrancia, “The Liquidation of Government Debt” (NBER/IMF); Federal Reserve historical series; Lyn Alden, Broken Money.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3" name="Text 3"/>
          <p:cNvSpPr/>
          <p:nvPr/>
        </p:nvSpPr>
        <p:spPr>
          <a:xfrm>
            <a:off x="731520" y="365760"/>
            <a:ext cx="10728960" cy="54864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THE ARITHMETIC</a:t>
            </a:r>
          </a:p>
        </p:txBody>
      </p:sp>
      <p:sp>
        <p:nvSpPr>
          <p:cNvPr id="4" name="Text 4"/>
          <p:cNvSpPr/>
          <p:nvPr/>
        </p:nvSpPr>
        <p:spPr>
          <a:xfrm>
            <a:off x="731520" y="975360"/>
            <a:ext cx="1072896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Four published numbers. None of them is a forecast.</a:t>
            </a:r>
          </a:p>
        </p:txBody>
      </p:sp>
      <p:sp>
        <p:nvSpPr>
          <p:cNvPr id="5" name="Shape 5"/>
          <p:cNvSpPr/>
          <p:nvPr/>
        </p:nvSpPr>
        <p:spPr>
          <a:xfrm>
            <a:off x="731520" y="1341120"/>
            <a:ext cx="5181600" cy="14020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6" name="Text 6"/>
          <p:cNvSpPr/>
          <p:nvPr/>
        </p:nvSpPr>
        <p:spPr>
          <a:xfrm>
            <a:off x="975360" y="1493520"/>
            <a:ext cx="4693920" cy="365760"/>
          </a:xfrm>
          <a:prstGeom prst="rect">
            <a:avLst/>
          </a:prstGeom>
          <a:noFill/>
          <a:ln/>
        </p:spPr>
        <p:txBody>
          <a:bodyPr wrap="square" lIns="0" tIns="0" rIns="0" bIns="0" rtlCol="0" anchor="ctr"/>
          <a:lstStyle/>
          <a:p>
            <a:pPr defTabSz="1219170"/>
            <a:r>
              <a:rPr lang="en-US" sz="2000" b="1" dirty="0">
                <a:solidFill>
                  <a:srgbClr val="00D4AA"/>
                </a:solidFill>
                <a:latin typeface="Arial Black" pitchFamily="34" charset="0"/>
                <a:ea typeface="Arial Black" pitchFamily="34" charset="-122"/>
                <a:cs typeface="Arial Black" pitchFamily="34" charset="-120"/>
              </a:rPr>
              <a:t>$970 BILLION</a:t>
            </a:r>
          </a:p>
        </p:txBody>
      </p:sp>
      <p:sp>
        <p:nvSpPr>
          <p:cNvPr id="7" name="Text 7"/>
          <p:cNvSpPr/>
          <p:nvPr/>
        </p:nvSpPr>
        <p:spPr>
          <a:xfrm>
            <a:off x="975360" y="192024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FY2025 net interest on the federal debt — nearly triple the $345B paid in FY2020, and now larger than defense spending.</a:t>
            </a:r>
          </a:p>
        </p:txBody>
      </p:sp>
      <p:sp>
        <p:nvSpPr>
          <p:cNvPr id="8" name="Text 8"/>
          <p:cNvSpPr/>
          <p:nvPr/>
        </p:nvSpPr>
        <p:spPr>
          <a:xfrm>
            <a:off x="975360" y="2499360"/>
            <a:ext cx="4693920" cy="182880"/>
          </a:xfrm>
          <a:prstGeom prst="rect">
            <a:avLst/>
          </a:prstGeom>
          <a:noFill/>
          <a:ln/>
        </p:spPr>
        <p:txBody>
          <a:bodyPr wrap="square" lIns="0" tIns="0" rIns="0" bIns="0" rtlCol="0" anchor="ctr"/>
          <a:lstStyle/>
          <a:p>
            <a:pPr defTabSz="1219170"/>
            <a:r>
              <a:rPr lang="en-US" sz="933" dirty="0">
                <a:solidFill>
                  <a:srgbClr val="5A6478"/>
                </a:solidFill>
                <a:latin typeface="Calibri" pitchFamily="34" charset="0"/>
                <a:ea typeface="Calibri" pitchFamily="34" charset="-122"/>
                <a:cs typeface="Calibri" pitchFamily="34" charset="-120"/>
              </a:rPr>
              <a:t>U.S. Treasury, Monthly Treasury Statement, Sept 2025</a:t>
            </a:r>
          </a:p>
        </p:txBody>
      </p:sp>
      <p:sp>
        <p:nvSpPr>
          <p:cNvPr id="9" name="Shape 9"/>
          <p:cNvSpPr/>
          <p:nvPr/>
        </p:nvSpPr>
        <p:spPr>
          <a:xfrm>
            <a:off x="6278880" y="1341120"/>
            <a:ext cx="5181600" cy="14020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0" name="Text 10"/>
          <p:cNvSpPr/>
          <p:nvPr/>
        </p:nvSpPr>
        <p:spPr>
          <a:xfrm>
            <a:off x="6522720" y="1493520"/>
            <a:ext cx="4693920" cy="365760"/>
          </a:xfrm>
          <a:prstGeom prst="rect">
            <a:avLst/>
          </a:prstGeom>
          <a:noFill/>
          <a:ln/>
        </p:spPr>
        <p:txBody>
          <a:bodyPr wrap="square" lIns="0" tIns="0" rIns="0" bIns="0" rtlCol="0" anchor="ctr"/>
          <a:lstStyle/>
          <a:p>
            <a:pPr defTabSz="1219170"/>
            <a:r>
              <a:rPr lang="en-US" sz="2000" b="1" dirty="0">
                <a:solidFill>
                  <a:srgbClr val="FF8C42"/>
                </a:solidFill>
                <a:latin typeface="Arial Black" pitchFamily="34" charset="0"/>
                <a:ea typeface="Arial Black" pitchFamily="34" charset="-122"/>
                <a:cs typeface="Arial Black" pitchFamily="34" charset="-120"/>
              </a:rPr>
              <a:t>Q4 2032</a:t>
            </a:r>
          </a:p>
        </p:txBody>
      </p:sp>
      <p:sp>
        <p:nvSpPr>
          <p:cNvPr id="11" name="Text 11"/>
          <p:cNvSpPr/>
          <p:nvPr/>
        </p:nvSpPr>
        <p:spPr>
          <a:xfrm>
            <a:off x="6522720" y="192024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Projected depletion of the OASI trust fund, at which point 78% of scheduled retirement benefits are payable absent Congressional action.</a:t>
            </a:r>
          </a:p>
        </p:txBody>
      </p:sp>
      <p:sp>
        <p:nvSpPr>
          <p:cNvPr id="12" name="Text 12"/>
          <p:cNvSpPr/>
          <p:nvPr/>
        </p:nvSpPr>
        <p:spPr>
          <a:xfrm>
            <a:off x="6522720" y="2499360"/>
            <a:ext cx="4693920" cy="182880"/>
          </a:xfrm>
          <a:prstGeom prst="rect">
            <a:avLst/>
          </a:prstGeom>
          <a:noFill/>
          <a:ln/>
        </p:spPr>
        <p:txBody>
          <a:bodyPr wrap="square" lIns="0" tIns="0" rIns="0" bIns="0" rtlCol="0" anchor="ctr"/>
          <a:lstStyle/>
          <a:p>
            <a:pPr defTabSz="1219170"/>
            <a:r>
              <a:rPr lang="en-US" sz="933" dirty="0">
                <a:solidFill>
                  <a:srgbClr val="5A6478"/>
                </a:solidFill>
                <a:latin typeface="Calibri" pitchFamily="34" charset="0"/>
                <a:ea typeface="Calibri" pitchFamily="34" charset="-122"/>
                <a:cs typeface="Calibri" pitchFamily="34" charset="-120"/>
              </a:rPr>
              <a:t>SSA Board of Trustees Annual Report, June 2026</a:t>
            </a:r>
          </a:p>
        </p:txBody>
      </p:sp>
      <p:sp>
        <p:nvSpPr>
          <p:cNvPr id="13" name="Shape 13"/>
          <p:cNvSpPr/>
          <p:nvPr/>
        </p:nvSpPr>
        <p:spPr>
          <a:xfrm>
            <a:off x="731520" y="2987040"/>
            <a:ext cx="5181600" cy="14020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4" name="Text 14"/>
          <p:cNvSpPr/>
          <p:nvPr/>
        </p:nvSpPr>
        <p:spPr>
          <a:xfrm>
            <a:off x="975360" y="3139440"/>
            <a:ext cx="4693920" cy="365760"/>
          </a:xfrm>
          <a:prstGeom prst="rect">
            <a:avLst/>
          </a:prstGeom>
          <a:noFill/>
          <a:ln/>
        </p:spPr>
        <p:txBody>
          <a:bodyPr wrap="square" lIns="0" tIns="0" rIns="0" bIns="0" rtlCol="0" anchor="ctr"/>
          <a:lstStyle/>
          <a:p>
            <a:pPr defTabSz="1219170"/>
            <a:r>
              <a:rPr lang="en-US" sz="2000" b="1" dirty="0">
                <a:solidFill>
                  <a:srgbClr val="FF4757"/>
                </a:solidFill>
                <a:latin typeface="Arial Black" pitchFamily="34" charset="0"/>
                <a:ea typeface="Arial Black" pitchFamily="34" charset="-122"/>
                <a:cs typeface="Arial Black" pitchFamily="34" charset="-120"/>
              </a:rPr>
              <a:t>4.42%</a:t>
            </a:r>
          </a:p>
        </p:txBody>
      </p:sp>
      <p:sp>
        <p:nvSpPr>
          <p:cNvPr id="15" name="Text 15"/>
          <p:cNvSpPr/>
          <p:nvPr/>
        </p:nvSpPr>
        <p:spPr>
          <a:xfrm>
            <a:off x="975360" y="356616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Social Security's 75-year actuarial deficit as a share of taxable payroll — widened from 3.82% in the prior year's report.</a:t>
            </a:r>
          </a:p>
        </p:txBody>
      </p:sp>
      <p:sp>
        <p:nvSpPr>
          <p:cNvPr id="16" name="Text 16"/>
          <p:cNvSpPr/>
          <p:nvPr/>
        </p:nvSpPr>
        <p:spPr>
          <a:xfrm>
            <a:off x="975360" y="4145280"/>
            <a:ext cx="4693920" cy="182880"/>
          </a:xfrm>
          <a:prstGeom prst="rect">
            <a:avLst/>
          </a:prstGeom>
          <a:noFill/>
          <a:ln/>
        </p:spPr>
        <p:txBody>
          <a:bodyPr wrap="square" lIns="0" tIns="0" rIns="0" bIns="0" rtlCol="0" anchor="ctr"/>
          <a:lstStyle/>
          <a:p>
            <a:pPr defTabSz="1219170"/>
            <a:r>
              <a:rPr lang="en-US" sz="933" dirty="0">
                <a:solidFill>
                  <a:srgbClr val="5A6478"/>
                </a:solidFill>
                <a:latin typeface="Calibri" pitchFamily="34" charset="0"/>
                <a:ea typeface="Calibri" pitchFamily="34" charset="-122"/>
                <a:cs typeface="Calibri" pitchFamily="34" charset="-120"/>
              </a:rPr>
              <a:t>SSA Board of Trustees Annual Report, June 2026</a:t>
            </a:r>
          </a:p>
        </p:txBody>
      </p:sp>
      <p:sp>
        <p:nvSpPr>
          <p:cNvPr id="17" name="Shape 17"/>
          <p:cNvSpPr/>
          <p:nvPr/>
        </p:nvSpPr>
        <p:spPr>
          <a:xfrm>
            <a:off x="6278880" y="2987040"/>
            <a:ext cx="5181600" cy="140208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8" name="Text 18"/>
          <p:cNvSpPr/>
          <p:nvPr/>
        </p:nvSpPr>
        <p:spPr>
          <a:xfrm>
            <a:off x="6522720" y="3139440"/>
            <a:ext cx="4693920" cy="365760"/>
          </a:xfrm>
          <a:prstGeom prst="rect">
            <a:avLst/>
          </a:prstGeom>
          <a:noFill/>
          <a:ln/>
        </p:spPr>
        <p:txBody>
          <a:bodyPr wrap="square" lIns="0" tIns="0" rIns="0" bIns="0" rtlCol="0" anchor="ctr"/>
          <a:lstStyle/>
          <a:p>
            <a:pPr defTabSz="1219170"/>
            <a:r>
              <a:rPr lang="en-US" sz="2000" b="1" dirty="0">
                <a:solidFill>
                  <a:srgbClr val="FFD700"/>
                </a:solidFill>
                <a:latin typeface="Arial Black" pitchFamily="34" charset="0"/>
                <a:ea typeface="Arial Black" pitchFamily="34" charset="-122"/>
                <a:cs typeface="Arial Black" pitchFamily="34" charset="-120"/>
              </a:rPr>
              <a:t>3,220 TONNES</a:t>
            </a:r>
          </a:p>
        </p:txBody>
      </p:sp>
      <p:sp>
        <p:nvSpPr>
          <p:cNvPr id="19" name="Text 19"/>
          <p:cNvSpPr/>
          <p:nvPr/>
        </p:nvSpPr>
        <p:spPr>
          <a:xfrm>
            <a:off x="6522720" y="356616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Gold bought by central banks 2022–2024, against a 2010–2021 average near 473 tonnes a year. Buying continued through 2025.</a:t>
            </a:r>
          </a:p>
        </p:txBody>
      </p:sp>
      <p:sp>
        <p:nvSpPr>
          <p:cNvPr id="20" name="Text 20"/>
          <p:cNvSpPr/>
          <p:nvPr/>
        </p:nvSpPr>
        <p:spPr>
          <a:xfrm>
            <a:off x="6522720" y="4145280"/>
            <a:ext cx="4693920" cy="182880"/>
          </a:xfrm>
          <a:prstGeom prst="rect">
            <a:avLst/>
          </a:prstGeom>
          <a:noFill/>
          <a:ln/>
        </p:spPr>
        <p:txBody>
          <a:bodyPr wrap="square" lIns="0" tIns="0" rIns="0" bIns="0" rtlCol="0" anchor="ctr"/>
          <a:lstStyle/>
          <a:p>
            <a:pPr defTabSz="1219170"/>
            <a:r>
              <a:rPr lang="en-US" sz="933" dirty="0">
                <a:solidFill>
                  <a:srgbClr val="5A6478"/>
                </a:solidFill>
                <a:latin typeface="Calibri" pitchFamily="34" charset="0"/>
                <a:ea typeface="Calibri" pitchFamily="34" charset="-122"/>
                <a:cs typeface="Calibri" pitchFamily="34" charset="-120"/>
              </a:rPr>
              <a:t>World Gold Council</a:t>
            </a:r>
          </a:p>
        </p:txBody>
      </p:sp>
      <p:sp>
        <p:nvSpPr>
          <p:cNvPr id="21" name="Shape 21"/>
          <p:cNvSpPr/>
          <p:nvPr/>
        </p:nvSpPr>
        <p:spPr>
          <a:xfrm>
            <a:off x="731520" y="4511040"/>
            <a:ext cx="10728960" cy="792480"/>
          </a:xfrm>
          <a:prstGeom prst="rect">
            <a:avLst/>
          </a:prstGeom>
          <a:solidFill>
            <a:srgbClr val="1C2133"/>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2" name="Shape 22"/>
          <p:cNvSpPr/>
          <p:nvPr/>
        </p:nvSpPr>
        <p:spPr>
          <a:xfrm>
            <a:off x="731520" y="4511040"/>
            <a:ext cx="60960" cy="79248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23" name="Text 23"/>
          <p:cNvSpPr/>
          <p:nvPr/>
        </p:nvSpPr>
        <p:spPr>
          <a:xfrm>
            <a:off x="1036320" y="4583040"/>
            <a:ext cx="10119360" cy="670560"/>
          </a:xfrm>
          <a:prstGeom prst="rect">
            <a:avLst/>
          </a:prstGeom>
          <a:noFill/>
          <a:ln/>
        </p:spPr>
        <p:txBody>
          <a:bodyPr wrap="square" lIns="0" tIns="0" rIns="0" bIns="0" rtlCol="0" anchor="ctr"/>
          <a:lstStyle/>
          <a:p>
            <a:pPr defTabSz="1219170">
              <a:lnSpc>
                <a:spcPct val="105000"/>
              </a:lnSpc>
            </a:pPr>
            <a:r>
              <a:rPr lang="en-US" sz="1333" b="1" dirty="0">
                <a:solidFill>
                  <a:srgbClr val="00D4AA"/>
                </a:solidFill>
                <a:latin typeface="Arial Black" pitchFamily="34" charset="0"/>
                <a:ea typeface="Arial Black" pitchFamily="34" charset="-122"/>
                <a:cs typeface="Arial Black" pitchFamily="34" charset="-120"/>
              </a:rPr>
              <a:t>HOW TO USE THIS:  </a:t>
            </a:r>
            <a:r>
              <a:rPr lang="en-US" sz="1333" dirty="0">
                <a:solidFill>
                  <a:srgbClr val="E8ECF1"/>
                </a:solidFill>
                <a:latin typeface="Calibri" pitchFamily="34" charset="0"/>
                <a:ea typeface="Calibri" pitchFamily="34" charset="-122"/>
                <a:cs typeface="Calibri" pitchFamily="34" charset="-120"/>
              </a:rPr>
              <a:t>Every figure above is published by the institution that issues it — Treasury, SSA, the World Gold Council. Cite the source, never the pundit. The forecast is only what these numbers imply, and that part is yours to defend.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3" name="Text 3"/>
          <p:cNvSpPr/>
          <p:nvPr/>
        </p:nvSpPr>
        <p:spPr>
          <a:xfrm>
            <a:off x="731520" y="365760"/>
            <a:ext cx="10728960" cy="548640"/>
          </a:xfrm>
          <a:prstGeom prst="rect">
            <a:avLst/>
          </a:prstGeom>
          <a:noFill/>
          <a:ln/>
        </p:spPr>
        <p:txBody>
          <a:bodyPr wrap="square" lIns="0" tIns="0" rIns="0" bIns="0" rtlCol="0" anchor="ctr"/>
          <a:lstStyle/>
          <a:p>
            <a:pPr defTabSz="1219170"/>
            <a:r>
              <a:rPr lang="en-US" sz="2400" b="1" dirty="0">
                <a:solidFill>
                  <a:srgbClr val="FFFFFF"/>
                </a:solidFill>
                <a:latin typeface="Arial Black" pitchFamily="34" charset="0"/>
                <a:ea typeface="Arial Black" pitchFamily="34" charset="-122"/>
                <a:cs typeface="Arial Black" pitchFamily="34" charset="-120"/>
              </a:rPr>
              <a:t>THE CASE AGAINST EVERYTHING I JUST SAID</a:t>
            </a:r>
          </a:p>
        </p:txBody>
      </p:sp>
      <p:sp>
        <p:nvSpPr>
          <p:cNvPr id="4" name="Text 4"/>
          <p:cNvSpPr/>
          <p:nvPr/>
        </p:nvSpPr>
        <p:spPr>
          <a:xfrm>
            <a:off x="731520" y="975360"/>
            <a:ext cx="10728960" cy="304800"/>
          </a:xfrm>
          <a:prstGeom prst="rect">
            <a:avLst/>
          </a:prstGeom>
          <a:noFill/>
          <a:ln/>
        </p:spPr>
        <p:txBody>
          <a:bodyPr wrap="square" lIns="0" tIns="0" rIns="0" bIns="0" rtlCol="0" anchor="ctr"/>
          <a:lstStyle/>
          <a:p>
            <a:pPr defTabSz="1219170"/>
            <a:r>
              <a:rPr lang="en-US" sz="1333" dirty="0">
                <a:solidFill>
                  <a:srgbClr val="8B95A8"/>
                </a:solidFill>
                <a:latin typeface="Calibri" pitchFamily="34" charset="0"/>
                <a:ea typeface="Calibri" pitchFamily="34" charset="-122"/>
                <a:cs typeface="Calibri" pitchFamily="34" charset="-120"/>
              </a:rPr>
              <a:t>If you can't argue the other side, you don't own the thesis — you inherited it</a:t>
            </a:r>
          </a:p>
        </p:txBody>
      </p:sp>
      <p:sp>
        <p:nvSpPr>
          <p:cNvPr id="5" name="Shape 5"/>
          <p:cNvSpPr/>
          <p:nvPr/>
        </p:nvSpPr>
        <p:spPr>
          <a:xfrm>
            <a:off x="731520" y="1341120"/>
            <a:ext cx="518160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6" name="Shape 6"/>
          <p:cNvSpPr/>
          <p:nvPr/>
        </p:nvSpPr>
        <p:spPr>
          <a:xfrm>
            <a:off x="731520" y="1341120"/>
            <a:ext cx="5181600" cy="6096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7" name="Text 7"/>
          <p:cNvSpPr/>
          <p:nvPr/>
        </p:nvSpPr>
        <p:spPr>
          <a:xfrm>
            <a:off x="975360" y="1574800"/>
            <a:ext cx="4693920" cy="304800"/>
          </a:xfrm>
          <a:prstGeom prst="rect">
            <a:avLst/>
          </a:prstGeom>
          <a:noFill/>
          <a:ln/>
        </p:spPr>
        <p:txBody>
          <a:bodyPr wrap="square" lIns="0" tIns="0" rIns="0" bIns="0" rtlCol="0" anchor="ctr"/>
          <a:lstStyle/>
          <a:p>
            <a:pPr defTabSz="1219170"/>
            <a:r>
              <a:rPr lang="en-US" sz="1600" b="1" dirty="0">
                <a:solidFill>
                  <a:srgbClr val="2ED573"/>
                </a:solidFill>
                <a:latin typeface="Arial Black" pitchFamily="34" charset="0"/>
                <a:ea typeface="Arial Black" pitchFamily="34" charset="-122"/>
                <a:cs typeface="Arial Black" pitchFamily="34" charset="-120"/>
              </a:rPr>
              <a:t>JAPAN</a:t>
            </a:r>
          </a:p>
        </p:txBody>
      </p:sp>
      <p:sp>
        <p:nvSpPr>
          <p:cNvPr id="8" name="Text 8"/>
          <p:cNvSpPr/>
          <p:nvPr/>
        </p:nvSpPr>
        <p:spPr>
          <a:xfrm>
            <a:off x="975360" y="201168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Debt above 250% of GDP for three decades — and the persistent problem was deflation, not inflation. High debt does not mechanically produce high prices.</a:t>
            </a:r>
          </a:p>
        </p:txBody>
      </p:sp>
      <p:sp>
        <p:nvSpPr>
          <p:cNvPr id="9" name="Shape 9"/>
          <p:cNvSpPr/>
          <p:nvPr/>
        </p:nvSpPr>
        <p:spPr>
          <a:xfrm>
            <a:off x="6278880" y="1341120"/>
            <a:ext cx="518160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0" name="Shape 10"/>
          <p:cNvSpPr/>
          <p:nvPr/>
        </p:nvSpPr>
        <p:spPr>
          <a:xfrm>
            <a:off x="6278880" y="1341120"/>
            <a:ext cx="5181600" cy="6096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11" name="Text 11"/>
          <p:cNvSpPr/>
          <p:nvPr/>
        </p:nvSpPr>
        <p:spPr>
          <a:xfrm>
            <a:off x="6522720" y="1574800"/>
            <a:ext cx="4693920" cy="304800"/>
          </a:xfrm>
          <a:prstGeom prst="rect">
            <a:avLst/>
          </a:prstGeom>
          <a:noFill/>
          <a:ln/>
        </p:spPr>
        <p:txBody>
          <a:bodyPr wrap="square" lIns="0" tIns="0" rIns="0" bIns="0" rtlCol="0" anchor="ctr"/>
          <a:lstStyle/>
          <a:p>
            <a:pPr defTabSz="1219170"/>
            <a:r>
              <a:rPr lang="en-US" sz="1600" b="1" dirty="0">
                <a:solidFill>
                  <a:srgbClr val="2ED573"/>
                </a:solidFill>
                <a:latin typeface="Arial Black" pitchFamily="34" charset="0"/>
                <a:ea typeface="Arial Black" pitchFamily="34" charset="-122"/>
                <a:cs typeface="Arial Black" pitchFamily="34" charset="-120"/>
              </a:rPr>
              <a:t>DEMOGRAPHICS</a:t>
            </a:r>
          </a:p>
        </p:txBody>
      </p:sp>
      <p:sp>
        <p:nvSpPr>
          <p:cNvPr id="12" name="Text 12"/>
          <p:cNvSpPr/>
          <p:nvPr/>
        </p:nvSpPr>
        <p:spPr>
          <a:xfrm>
            <a:off x="6522720" y="201168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Aging populations spend less and save more. The developed world's demographic profile is structurally disinflationary, and it is not reversing.</a:t>
            </a:r>
          </a:p>
        </p:txBody>
      </p:sp>
      <p:sp>
        <p:nvSpPr>
          <p:cNvPr id="13" name="Shape 13"/>
          <p:cNvSpPr/>
          <p:nvPr/>
        </p:nvSpPr>
        <p:spPr>
          <a:xfrm>
            <a:off x="731520" y="2926080"/>
            <a:ext cx="518160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4" name="Shape 14"/>
          <p:cNvSpPr/>
          <p:nvPr/>
        </p:nvSpPr>
        <p:spPr>
          <a:xfrm>
            <a:off x="731520" y="2926080"/>
            <a:ext cx="5181600" cy="6096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15" name="Text 15"/>
          <p:cNvSpPr/>
          <p:nvPr/>
        </p:nvSpPr>
        <p:spPr>
          <a:xfrm>
            <a:off x="975360" y="3159760"/>
            <a:ext cx="4693920" cy="304800"/>
          </a:xfrm>
          <a:prstGeom prst="rect">
            <a:avLst/>
          </a:prstGeom>
          <a:noFill/>
          <a:ln/>
        </p:spPr>
        <p:txBody>
          <a:bodyPr wrap="square" lIns="0" tIns="0" rIns="0" bIns="0" rtlCol="0" anchor="ctr"/>
          <a:lstStyle/>
          <a:p>
            <a:pPr defTabSz="1219170"/>
            <a:r>
              <a:rPr lang="en-US" sz="1600" b="1" dirty="0">
                <a:solidFill>
                  <a:srgbClr val="2ED573"/>
                </a:solidFill>
                <a:latin typeface="Arial Black" pitchFamily="34" charset="0"/>
                <a:ea typeface="Arial Black" pitchFamily="34" charset="-122"/>
                <a:cs typeface="Arial Black" pitchFamily="34" charset="-120"/>
              </a:rPr>
              <a:t>PRODUCTIVITY</a:t>
            </a:r>
          </a:p>
        </p:txBody>
      </p:sp>
      <p:sp>
        <p:nvSpPr>
          <p:cNvPr id="16" name="Text 16"/>
          <p:cNvSpPr/>
          <p:nvPr/>
        </p:nvSpPr>
        <p:spPr>
          <a:xfrm>
            <a:off x="975360" y="359664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MV=PQ cuts both ways. If AI delivers a genuine productivity step-change, output rises to meet the money and the price level need not.</a:t>
            </a:r>
          </a:p>
        </p:txBody>
      </p:sp>
      <p:sp>
        <p:nvSpPr>
          <p:cNvPr id="17" name="Shape 17"/>
          <p:cNvSpPr/>
          <p:nvPr/>
        </p:nvSpPr>
        <p:spPr>
          <a:xfrm>
            <a:off x="6278880" y="2926080"/>
            <a:ext cx="5181600" cy="13411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8" name="Shape 18"/>
          <p:cNvSpPr/>
          <p:nvPr/>
        </p:nvSpPr>
        <p:spPr>
          <a:xfrm>
            <a:off x="6278880" y="2926080"/>
            <a:ext cx="5181600" cy="6096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19" name="Text 19"/>
          <p:cNvSpPr/>
          <p:nvPr/>
        </p:nvSpPr>
        <p:spPr>
          <a:xfrm>
            <a:off x="6522720" y="3159760"/>
            <a:ext cx="4693920" cy="304800"/>
          </a:xfrm>
          <a:prstGeom prst="rect">
            <a:avLst/>
          </a:prstGeom>
          <a:noFill/>
          <a:ln/>
        </p:spPr>
        <p:txBody>
          <a:bodyPr wrap="square" lIns="0" tIns="0" rIns="0" bIns="0" rtlCol="0" anchor="ctr"/>
          <a:lstStyle/>
          <a:p>
            <a:pPr defTabSz="1219170"/>
            <a:r>
              <a:rPr lang="en-US" sz="1600" b="1" dirty="0">
                <a:solidFill>
                  <a:srgbClr val="2ED573"/>
                </a:solidFill>
                <a:latin typeface="Arial Black" pitchFamily="34" charset="0"/>
                <a:ea typeface="Arial Black" pitchFamily="34" charset="-122"/>
                <a:cs typeface="Arial Black" pitchFamily="34" charset="-120"/>
              </a:rPr>
              <a:t>RESERVE STATUS</a:t>
            </a:r>
          </a:p>
        </p:txBody>
      </p:sp>
      <p:sp>
        <p:nvSpPr>
          <p:cNvPr id="20" name="Text 20"/>
          <p:cNvSpPr/>
          <p:nvPr/>
        </p:nvSpPr>
        <p:spPr>
          <a:xfrm>
            <a:off x="6522720" y="3596640"/>
            <a:ext cx="4693920" cy="548640"/>
          </a:xfrm>
          <a:prstGeom prst="rect">
            <a:avLst/>
          </a:prstGeom>
          <a:noFill/>
          <a:ln/>
        </p:spPr>
        <p:txBody>
          <a:bodyPr wrap="square" lIns="0" tIns="0" rIns="0" bIns="0" rtlCol="0" anchor="t"/>
          <a:lstStyle/>
          <a:p>
            <a:pPr defTabSz="1219170"/>
            <a:r>
              <a:rPr lang="en-US" sz="1200" dirty="0">
                <a:solidFill>
                  <a:srgbClr val="E8ECF1"/>
                </a:solidFill>
                <a:latin typeface="Calibri" pitchFamily="34" charset="0"/>
                <a:ea typeface="Calibri" pitchFamily="34" charset="-122"/>
                <a:cs typeface="Calibri" pitchFamily="34" charset="-120"/>
              </a:rPr>
              <a:t>Global demand for dollars and Treasuries is real, durable, and has no ready substitute. It buys the United States enormous fiscal room.</a:t>
            </a:r>
          </a:p>
        </p:txBody>
      </p:sp>
      <p:sp>
        <p:nvSpPr>
          <p:cNvPr id="21" name="Shape 21"/>
          <p:cNvSpPr/>
          <p:nvPr/>
        </p:nvSpPr>
        <p:spPr>
          <a:xfrm>
            <a:off x="731520" y="4511040"/>
            <a:ext cx="10728960" cy="975360"/>
          </a:xfrm>
          <a:prstGeom prst="rect">
            <a:avLst/>
          </a:prstGeom>
          <a:solidFill>
            <a:srgbClr val="1C2133"/>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2" name="Shape 22"/>
          <p:cNvSpPr/>
          <p:nvPr/>
        </p:nvSpPr>
        <p:spPr>
          <a:xfrm>
            <a:off x="731520" y="4511040"/>
            <a:ext cx="60960" cy="97536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23" name="Text 23"/>
          <p:cNvSpPr/>
          <p:nvPr/>
        </p:nvSpPr>
        <p:spPr>
          <a:xfrm>
            <a:off x="1036320" y="4583040"/>
            <a:ext cx="10119360" cy="853440"/>
          </a:xfrm>
          <a:prstGeom prst="rect">
            <a:avLst/>
          </a:prstGeom>
          <a:noFill/>
          <a:ln/>
        </p:spPr>
        <p:txBody>
          <a:bodyPr wrap="square" lIns="0" tIns="0" rIns="0" bIns="0" rtlCol="0" anchor="ctr"/>
          <a:lstStyle/>
          <a:p>
            <a:pPr defTabSz="1219170">
              <a:lnSpc>
                <a:spcPct val="105000"/>
              </a:lnSpc>
            </a:pPr>
            <a:r>
              <a:rPr lang="en-US" sz="1333" b="1" dirty="0">
                <a:solidFill>
                  <a:srgbClr val="FF8C42"/>
                </a:solidFill>
                <a:latin typeface="Arial Black" pitchFamily="34" charset="0"/>
                <a:ea typeface="Arial Black" pitchFamily="34" charset="-122"/>
                <a:cs typeface="Arial Black" pitchFamily="34" charset="-120"/>
              </a:rPr>
              <a:t>WHAT THIS MEANS FOR YOU:  </a:t>
            </a:r>
            <a:r>
              <a:rPr lang="en-US" sz="1333" dirty="0">
                <a:solidFill>
                  <a:srgbClr val="E8ECF1"/>
                </a:solidFill>
                <a:latin typeface="Calibri" pitchFamily="34" charset="0"/>
                <a:ea typeface="Calibri" pitchFamily="34" charset="-122"/>
                <a:cs typeface="Calibri" pitchFamily="34" charset="-120"/>
              </a:rPr>
              <a:t>Hold this as a probability, not a prediction. The allocation changes in Section 5 are defensible at any confidence level, because they are diversification — not a bet on a forecast. That distinction is what keeps you a fiduciary instead of a forecaster.</a:t>
            </a:r>
          </a:p>
          <a:p>
            <a:pPr defTabSz="1219170">
              <a:lnSpc>
                <a:spcPct val="105000"/>
              </a:lnSpc>
            </a:pPr>
            <a:r>
              <a:rPr lang="en-US" sz="1333" b="1" dirty="0">
                <a:solidFill>
                  <a:srgbClr val="FFFFFF"/>
                </a:solidFill>
                <a:latin typeface="Calibri" pitchFamily="34" charset="0"/>
                <a:ea typeface="Calibri" pitchFamily="34" charset="-122"/>
                <a:cs typeface="Calibri" pitchFamily="34" charset="-120"/>
              </a:rPr>
              <a:t>Never sell a client a prediction. Sell them a portfolio that survives being wrong.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1219200"/>
            <a:ext cx="3657600" cy="2682240"/>
          </a:xfrm>
          <a:prstGeom prst="rect">
            <a:avLst/>
          </a:prstGeom>
          <a:noFill/>
          <a:ln/>
        </p:spPr>
        <p:txBody>
          <a:bodyPr wrap="square" lIns="0" tIns="0" rIns="0" bIns="0" rtlCol="0" anchor="ctr"/>
          <a:lstStyle/>
          <a:p>
            <a:pPr defTabSz="1219170"/>
            <a:r>
              <a:rPr lang="en-US" sz="12800" b="1" dirty="0">
                <a:solidFill>
                  <a:srgbClr val="1C2133"/>
                </a:solidFill>
                <a:latin typeface="Arial Black" pitchFamily="34" charset="0"/>
                <a:ea typeface="Arial Black" pitchFamily="34" charset="-122"/>
                <a:cs typeface="Arial Black" pitchFamily="34" charset="-120"/>
              </a:rPr>
              <a:t>03</a:t>
            </a:r>
            <a:endParaRPr lang="en-US" sz="12800" dirty="0">
              <a:solidFill>
                <a:prstClr val="black"/>
              </a:solidFill>
              <a:latin typeface="Calibri" panose="020F0502020204030204"/>
            </a:endParaRPr>
          </a:p>
        </p:txBody>
      </p:sp>
      <p:sp>
        <p:nvSpPr>
          <p:cNvPr id="3" name="Shape 1"/>
          <p:cNvSpPr/>
          <p:nvPr/>
        </p:nvSpPr>
        <p:spPr>
          <a:xfrm>
            <a:off x="731520" y="3413760"/>
            <a:ext cx="18288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3718560"/>
            <a:ext cx="10728960" cy="975360"/>
          </a:xfrm>
          <a:prstGeom prst="rect">
            <a:avLst/>
          </a:prstGeom>
          <a:noFill/>
          <a:ln/>
        </p:spPr>
        <p:txBody>
          <a:bodyPr wrap="square" lIns="0" tIns="0" rIns="0" bIns="0" rtlCol="0" anchor="ctr"/>
          <a:lstStyle/>
          <a:p>
            <a:pPr defTabSz="1219170"/>
            <a:r>
              <a:rPr lang="en-US" sz="4000" b="1" dirty="0">
                <a:solidFill>
                  <a:srgbClr val="FFFFFF"/>
                </a:solidFill>
                <a:latin typeface="Arial Black" pitchFamily="34" charset="0"/>
                <a:ea typeface="Arial Black" pitchFamily="34" charset="-122"/>
                <a:cs typeface="Arial Black" pitchFamily="34" charset="-120"/>
              </a:rPr>
              <a:t>Effects on the Economy &amp; Portfolios</a:t>
            </a:r>
            <a:endParaRPr lang="en-US" sz="4000" dirty="0">
              <a:solidFill>
                <a:prstClr val="black"/>
              </a:solidFill>
              <a:latin typeface="Calibri" panose="020F0502020204030204"/>
            </a:endParaRPr>
          </a:p>
        </p:txBody>
      </p:sp>
      <p:sp>
        <p:nvSpPr>
          <p:cNvPr id="5" name="Text 3"/>
          <p:cNvSpPr/>
          <p:nvPr/>
        </p:nvSpPr>
        <p:spPr>
          <a:xfrm>
            <a:off x="731520" y="4693920"/>
            <a:ext cx="10728960" cy="609600"/>
          </a:xfrm>
          <a:prstGeom prst="rect">
            <a:avLst/>
          </a:prstGeom>
          <a:noFill/>
          <a:ln/>
        </p:spPr>
        <p:txBody>
          <a:bodyPr wrap="square" lIns="0" tIns="0" rIns="0" bIns="0" rtlCol="0" anchor="ctr"/>
          <a:lstStyle/>
          <a:p>
            <a:pPr defTabSz="1219170"/>
            <a:r>
              <a:rPr lang="en-US" sz="2133" dirty="0">
                <a:solidFill>
                  <a:srgbClr val="8B95A8"/>
                </a:solidFill>
                <a:latin typeface="Calibri" pitchFamily="34" charset="0"/>
                <a:ea typeface="Calibri" pitchFamily="34" charset="-122"/>
                <a:cs typeface="Calibri" pitchFamily="34" charset="-120"/>
              </a:rPr>
              <a:t>Purchasing power erosion, asset class impacts, and the hidden costs</a:t>
            </a:r>
            <a:endParaRPr lang="en-US" sz="2133" dirty="0">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0607040" y="1463040"/>
            <a:ext cx="975360" cy="9753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3200" b="1" dirty="0">
                <a:solidFill>
                  <a:srgbClr val="FFFFFF"/>
                </a:solidFill>
                <a:latin typeface="Arial Black" pitchFamily="34" charset="0"/>
                <a:ea typeface="Arial Black" pitchFamily="34" charset="-122"/>
                <a:cs typeface="Arial Black" pitchFamily="34" charset="-120"/>
              </a:rPr>
              <a:t>THE REAL RETURN GAP</a:t>
            </a:r>
            <a:endParaRPr lang="en-US" sz="3200" dirty="0">
              <a:solidFill>
                <a:prstClr val="black"/>
              </a:solidFill>
              <a:latin typeface="Calibri" panose="020F0502020204030204"/>
            </a:endParaRPr>
          </a:p>
        </p:txBody>
      </p:sp>
      <p:sp>
        <p:nvSpPr>
          <p:cNvPr id="3" name="Text 1"/>
          <p:cNvSpPr/>
          <p:nvPr/>
        </p:nvSpPr>
        <p:spPr>
          <a:xfrm>
            <a:off x="731520" y="975360"/>
            <a:ext cx="10728960" cy="426720"/>
          </a:xfrm>
          <a:prstGeom prst="rect">
            <a:avLst/>
          </a:prstGeom>
          <a:noFill/>
          <a:ln/>
        </p:spPr>
        <p:txBody>
          <a:bodyPr wrap="square" lIns="0" tIns="0" rIns="0" bIns="0" rtlCol="0" anchor="ctr"/>
          <a:lstStyle/>
          <a:p>
            <a:pPr defTabSz="1219170"/>
            <a:r>
              <a:rPr lang="en-US" sz="1867" dirty="0">
                <a:solidFill>
                  <a:srgbClr val="8B95A8"/>
                </a:solidFill>
                <a:latin typeface="Calibri" pitchFamily="34" charset="0"/>
                <a:ea typeface="Calibri" pitchFamily="34" charset="-122"/>
                <a:cs typeface="Calibri" pitchFamily="34" charset="-120"/>
              </a:rPr>
              <a:t>Nominal returns are a mirage. Inflation is the toll.</a:t>
            </a:r>
            <a:endParaRPr lang="en-US" sz="1867" dirty="0">
              <a:solidFill>
                <a:prstClr val="black"/>
              </a:solidFill>
              <a:latin typeface="Calibri" panose="020F0502020204030204"/>
            </a:endParaRPr>
          </a:p>
        </p:txBody>
      </p:sp>
      <p:sp>
        <p:nvSpPr>
          <p:cNvPr id="4" name="Shape 2"/>
          <p:cNvSpPr/>
          <p:nvPr/>
        </p:nvSpPr>
        <p:spPr>
          <a:xfrm>
            <a:off x="731520" y="1645920"/>
            <a:ext cx="10728960" cy="853440"/>
          </a:xfrm>
          <a:prstGeom prst="rect">
            <a:avLst/>
          </a:prstGeom>
          <a:solidFill>
            <a:srgbClr val="151926"/>
          </a:solidFill>
          <a:ln/>
          <a:effectLst>
            <a:outerShdw blurRad="101600" dist="38100" dir="8100000" algn="bl" rotWithShape="0">
              <a:srgbClr val="000000">
                <a:alpha val="30000"/>
              </a:srgbClr>
            </a:outerShdw>
          </a:effectLst>
        </p:spPr>
        <p:txBody>
          <a:bodyPr/>
          <a:lstStyle/>
          <a:p>
            <a:pPr defTabSz="1219170"/>
            <a:endParaRPr lang="en-US" sz="2400">
              <a:solidFill>
                <a:prstClr val="black"/>
              </a:solidFill>
              <a:latin typeface="Calibri" panose="020F0502020204030204"/>
            </a:endParaRPr>
          </a:p>
        </p:txBody>
      </p:sp>
      <p:sp>
        <p:nvSpPr>
          <p:cNvPr id="5" name="Text 3"/>
          <p:cNvSpPr/>
          <p:nvPr/>
        </p:nvSpPr>
        <p:spPr>
          <a:xfrm>
            <a:off x="731520" y="1645920"/>
            <a:ext cx="10728960" cy="853440"/>
          </a:xfrm>
          <a:prstGeom prst="rect">
            <a:avLst/>
          </a:prstGeom>
          <a:noFill/>
          <a:ln/>
        </p:spPr>
        <p:txBody>
          <a:bodyPr wrap="square" lIns="0" tIns="0" rIns="0" bIns="0" rtlCol="0" anchor="ctr"/>
          <a:lstStyle/>
          <a:p>
            <a:pPr algn="ctr" defTabSz="1219170"/>
            <a:r>
              <a:rPr lang="en-US" sz="2667" b="1" dirty="0">
                <a:solidFill>
                  <a:srgbClr val="FFFFFF"/>
                </a:solidFill>
                <a:latin typeface="Consolas" pitchFamily="34" charset="0"/>
                <a:ea typeface="Consolas" pitchFamily="34" charset="-122"/>
                <a:cs typeface="Consolas" pitchFamily="34" charset="-120"/>
              </a:rPr>
              <a:t>Real Return  =  Nominal Return  −  Inflation</a:t>
            </a:r>
            <a:endParaRPr lang="en-US" sz="2667" dirty="0">
              <a:solidFill>
                <a:prstClr val="black"/>
              </a:solidFill>
              <a:latin typeface="Calibri" panose="020F0502020204030204"/>
            </a:endParaRPr>
          </a:p>
        </p:txBody>
      </p:sp>
      <p:graphicFrame>
        <p:nvGraphicFramePr>
          <p:cNvPr id="6" name="Chart 0"/>
          <p:cNvGraphicFramePr/>
          <p:nvPr/>
        </p:nvGraphicFramePr>
        <p:xfrm>
          <a:off x="731520" y="2804160"/>
          <a:ext cx="10728960" cy="3657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WHO WINS &amp; WHO LOSES IN INFLATION</a:t>
            </a:r>
            <a:endParaRPr lang="en-US" sz="2933" dirty="0">
              <a:solidFill>
                <a:prstClr val="black"/>
              </a:solidFill>
              <a:latin typeface="Calibri" panose="020F0502020204030204"/>
            </a:endParaRPr>
          </a:p>
        </p:txBody>
      </p:sp>
      <p:sp>
        <p:nvSpPr>
          <p:cNvPr id="3" name="Shape 1"/>
          <p:cNvSpPr/>
          <p:nvPr/>
        </p:nvSpPr>
        <p:spPr>
          <a:xfrm>
            <a:off x="731520" y="1219200"/>
            <a:ext cx="5120640" cy="54864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pic>
        <p:nvPicPr>
          <p:cNvPr id="4" name="Image 0" descr="preencoded.png"/>
          <p:cNvPicPr>
            <a:picLocks noChangeAspect="1"/>
          </p:cNvPicPr>
          <p:nvPr/>
        </p:nvPicPr>
        <p:blipFill>
          <a:blip r:embed="rId3"/>
          <a:stretch>
            <a:fillRect/>
          </a:stretch>
        </p:blipFill>
        <p:spPr>
          <a:xfrm>
            <a:off x="975360" y="1280160"/>
            <a:ext cx="365760" cy="365760"/>
          </a:xfrm>
          <a:prstGeom prst="rect">
            <a:avLst/>
          </a:prstGeom>
        </p:spPr>
      </p:pic>
      <p:sp>
        <p:nvSpPr>
          <p:cNvPr id="5" name="Text 2"/>
          <p:cNvSpPr/>
          <p:nvPr/>
        </p:nvSpPr>
        <p:spPr>
          <a:xfrm>
            <a:off x="1402080" y="1219200"/>
            <a:ext cx="4145280" cy="548640"/>
          </a:xfrm>
          <a:prstGeom prst="rect">
            <a:avLst/>
          </a:prstGeom>
          <a:noFill/>
          <a:ln/>
        </p:spPr>
        <p:txBody>
          <a:bodyPr wrap="square" lIns="0" tIns="0" rIns="0" bIns="0" rtlCol="0" anchor="ctr"/>
          <a:lstStyle/>
          <a:p>
            <a:pPr defTabSz="1219170"/>
            <a:r>
              <a:rPr lang="en-US" sz="1733" b="1" dirty="0">
                <a:solidFill>
                  <a:srgbClr val="FFFFFF"/>
                </a:solidFill>
                <a:latin typeface="Arial Black" pitchFamily="34" charset="0"/>
                <a:ea typeface="Arial Black" pitchFamily="34" charset="-122"/>
                <a:cs typeface="Arial Black" pitchFamily="34" charset="-120"/>
              </a:rPr>
              <a:t>INFLATION WINNERS</a:t>
            </a:r>
            <a:endParaRPr lang="en-US" sz="1733" dirty="0">
              <a:solidFill>
                <a:prstClr val="black"/>
              </a:solidFill>
              <a:latin typeface="Calibri" panose="020F0502020204030204"/>
            </a:endParaRPr>
          </a:p>
        </p:txBody>
      </p:sp>
      <p:sp>
        <p:nvSpPr>
          <p:cNvPr id="6" name="Shape 3"/>
          <p:cNvSpPr/>
          <p:nvPr/>
        </p:nvSpPr>
        <p:spPr>
          <a:xfrm>
            <a:off x="731520" y="201168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7" name="Text 4"/>
          <p:cNvSpPr/>
          <p:nvPr/>
        </p:nvSpPr>
        <p:spPr>
          <a:xfrm>
            <a:off x="975360" y="2036064"/>
            <a:ext cx="4632960" cy="268224"/>
          </a:xfrm>
          <a:prstGeom prst="rect">
            <a:avLst/>
          </a:prstGeom>
          <a:noFill/>
          <a:ln/>
        </p:spPr>
        <p:txBody>
          <a:bodyPr wrap="square" lIns="0" tIns="0" rIns="0" bIns="0" rtlCol="0" anchor="ctr"/>
          <a:lstStyle/>
          <a:p>
            <a:pPr defTabSz="1219170"/>
            <a:r>
              <a:rPr lang="en-US" sz="1600" b="1" dirty="0">
                <a:solidFill>
                  <a:srgbClr val="2ED573"/>
                </a:solidFill>
                <a:latin typeface="Calibri" pitchFamily="34" charset="0"/>
                <a:ea typeface="Calibri" pitchFamily="34" charset="-122"/>
                <a:cs typeface="Calibri" pitchFamily="34" charset="-120"/>
              </a:rPr>
              <a:t>Real Estate</a:t>
            </a:r>
            <a:endParaRPr lang="en-US" sz="1600" dirty="0">
              <a:solidFill>
                <a:prstClr val="black"/>
              </a:solidFill>
              <a:latin typeface="Calibri" panose="020F0502020204030204"/>
            </a:endParaRPr>
          </a:p>
        </p:txBody>
      </p:sp>
      <p:sp>
        <p:nvSpPr>
          <p:cNvPr id="8" name="Text 5"/>
          <p:cNvSpPr/>
          <p:nvPr/>
        </p:nvSpPr>
        <p:spPr>
          <a:xfrm>
            <a:off x="975360" y="231648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Property values &amp; rents rise with inflation; leverage amplifies returns</a:t>
            </a:r>
            <a:endParaRPr lang="en-US" sz="1267" dirty="0">
              <a:solidFill>
                <a:prstClr val="black"/>
              </a:solidFill>
              <a:latin typeface="Calibri" panose="020F0502020204030204"/>
            </a:endParaRPr>
          </a:p>
        </p:txBody>
      </p:sp>
      <p:sp>
        <p:nvSpPr>
          <p:cNvPr id="9" name="Shape 6"/>
          <p:cNvSpPr/>
          <p:nvPr/>
        </p:nvSpPr>
        <p:spPr>
          <a:xfrm>
            <a:off x="731520" y="280416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10" name="Text 7"/>
          <p:cNvSpPr/>
          <p:nvPr/>
        </p:nvSpPr>
        <p:spPr>
          <a:xfrm>
            <a:off x="975360" y="2828544"/>
            <a:ext cx="4632960" cy="268224"/>
          </a:xfrm>
          <a:prstGeom prst="rect">
            <a:avLst/>
          </a:prstGeom>
          <a:noFill/>
          <a:ln/>
        </p:spPr>
        <p:txBody>
          <a:bodyPr wrap="square" lIns="0" tIns="0" rIns="0" bIns="0" rtlCol="0" anchor="ctr"/>
          <a:lstStyle/>
          <a:p>
            <a:pPr defTabSz="1219170"/>
            <a:r>
              <a:rPr lang="en-US" sz="1600" b="1" dirty="0">
                <a:solidFill>
                  <a:srgbClr val="2ED573"/>
                </a:solidFill>
                <a:latin typeface="Calibri" pitchFamily="34" charset="0"/>
                <a:ea typeface="Calibri" pitchFamily="34" charset="-122"/>
                <a:cs typeface="Calibri" pitchFamily="34" charset="-120"/>
              </a:rPr>
              <a:t>Commodities</a:t>
            </a:r>
            <a:endParaRPr lang="en-US" sz="1600" dirty="0">
              <a:solidFill>
                <a:prstClr val="black"/>
              </a:solidFill>
              <a:latin typeface="Calibri" panose="020F0502020204030204"/>
            </a:endParaRPr>
          </a:p>
        </p:txBody>
      </p:sp>
      <p:sp>
        <p:nvSpPr>
          <p:cNvPr id="11" name="Text 8"/>
          <p:cNvSpPr/>
          <p:nvPr/>
        </p:nvSpPr>
        <p:spPr>
          <a:xfrm>
            <a:off x="975360" y="310896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Raw materials are the inputs that drive inflation — they go up first</a:t>
            </a:r>
            <a:endParaRPr lang="en-US" sz="1267" dirty="0">
              <a:solidFill>
                <a:prstClr val="black"/>
              </a:solidFill>
              <a:latin typeface="Calibri" panose="020F0502020204030204"/>
            </a:endParaRPr>
          </a:p>
        </p:txBody>
      </p:sp>
      <p:sp>
        <p:nvSpPr>
          <p:cNvPr id="12" name="Shape 9"/>
          <p:cNvSpPr/>
          <p:nvPr/>
        </p:nvSpPr>
        <p:spPr>
          <a:xfrm>
            <a:off x="731520" y="359664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13" name="Text 10"/>
          <p:cNvSpPr/>
          <p:nvPr/>
        </p:nvSpPr>
        <p:spPr>
          <a:xfrm>
            <a:off x="975360" y="3621024"/>
            <a:ext cx="4632960" cy="268224"/>
          </a:xfrm>
          <a:prstGeom prst="rect">
            <a:avLst/>
          </a:prstGeom>
          <a:noFill/>
          <a:ln/>
        </p:spPr>
        <p:txBody>
          <a:bodyPr wrap="square" lIns="0" tIns="0" rIns="0" bIns="0" rtlCol="0" anchor="ctr"/>
          <a:lstStyle/>
          <a:p>
            <a:pPr defTabSz="1219170"/>
            <a:r>
              <a:rPr lang="en-US" sz="1600" b="1" dirty="0">
                <a:solidFill>
                  <a:srgbClr val="2ED573"/>
                </a:solidFill>
                <a:latin typeface="Calibri" pitchFamily="34" charset="0"/>
                <a:ea typeface="Calibri" pitchFamily="34" charset="-122"/>
                <a:cs typeface="Calibri" pitchFamily="34" charset="-120"/>
              </a:rPr>
              <a:t>TIPS</a:t>
            </a:r>
            <a:endParaRPr lang="en-US" sz="1600" dirty="0">
              <a:solidFill>
                <a:prstClr val="black"/>
              </a:solidFill>
              <a:latin typeface="Calibri" panose="020F0502020204030204"/>
            </a:endParaRPr>
          </a:p>
        </p:txBody>
      </p:sp>
      <p:sp>
        <p:nvSpPr>
          <p:cNvPr id="14" name="Text 11"/>
          <p:cNvSpPr/>
          <p:nvPr/>
        </p:nvSpPr>
        <p:spPr>
          <a:xfrm>
            <a:off x="975360" y="390144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Principal adjusts with CPI — built-in inflation protection</a:t>
            </a:r>
            <a:endParaRPr lang="en-US" sz="1267" dirty="0">
              <a:solidFill>
                <a:prstClr val="black"/>
              </a:solidFill>
              <a:latin typeface="Calibri" panose="020F0502020204030204"/>
            </a:endParaRPr>
          </a:p>
        </p:txBody>
      </p:sp>
      <p:sp>
        <p:nvSpPr>
          <p:cNvPr id="15" name="Shape 12"/>
          <p:cNvSpPr/>
          <p:nvPr/>
        </p:nvSpPr>
        <p:spPr>
          <a:xfrm>
            <a:off x="731520" y="438912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16" name="Text 13"/>
          <p:cNvSpPr/>
          <p:nvPr/>
        </p:nvSpPr>
        <p:spPr>
          <a:xfrm>
            <a:off x="975360" y="4413504"/>
            <a:ext cx="4632960" cy="268224"/>
          </a:xfrm>
          <a:prstGeom prst="rect">
            <a:avLst/>
          </a:prstGeom>
          <a:noFill/>
          <a:ln/>
        </p:spPr>
        <p:txBody>
          <a:bodyPr wrap="square" lIns="0" tIns="0" rIns="0" bIns="0" rtlCol="0" anchor="ctr"/>
          <a:lstStyle/>
          <a:p>
            <a:pPr defTabSz="1219170"/>
            <a:r>
              <a:rPr lang="en-US" sz="1600" b="1" dirty="0">
                <a:solidFill>
                  <a:srgbClr val="2ED573"/>
                </a:solidFill>
                <a:latin typeface="Calibri" pitchFamily="34" charset="0"/>
                <a:ea typeface="Calibri" pitchFamily="34" charset="-122"/>
                <a:cs typeface="Calibri" pitchFamily="34" charset="-120"/>
              </a:rPr>
              <a:t>Equities (value)</a:t>
            </a:r>
            <a:endParaRPr lang="en-US" sz="1600" dirty="0">
              <a:solidFill>
                <a:prstClr val="black"/>
              </a:solidFill>
              <a:latin typeface="Calibri" panose="020F0502020204030204"/>
            </a:endParaRPr>
          </a:p>
        </p:txBody>
      </p:sp>
      <p:sp>
        <p:nvSpPr>
          <p:cNvPr id="17" name="Text 14"/>
          <p:cNvSpPr/>
          <p:nvPr/>
        </p:nvSpPr>
        <p:spPr>
          <a:xfrm>
            <a:off x="975360" y="469392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Pricing power lets companies pass costs to consumers</a:t>
            </a:r>
            <a:endParaRPr lang="en-US" sz="1267" dirty="0">
              <a:solidFill>
                <a:prstClr val="black"/>
              </a:solidFill>
              <a:latin typeface="Calibri" panose="020F0502020204030204"/>
            </a:endParaRPr>
          </a:p>
        </p:txBody>
      </p:sp>
      <p:sp>
        <p:nvSpPr>
          <p:cNvPr id="18" name="Shape 15"/>
          <p:cNvSpPr/>
          <p:nvPr/>
        </p:nvSpPr>
        <p:spPr>
          <a:xfrm>
            <a:off x="731520" y="518160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19" name="Text 16"/>
          <p:cNvSpPr/>
          <p:nvPr/>
        </p:nvSpPr>
        <p:spPr>
          <a:xfrm>
            <a:off x="975360" y="5205984"/>
            <a:ext cx="4632960" cy="268224"/>
          </a:xfrm>
          <a:prstGeom prst="rect">
            <a:avLst/>
          </a:prstGeom>
          <a:noFill/>
          <a:ln/>
        </p:spPr>
        <p:txBody>
          <a:bodyPr wrap="square" lIns="0" tIns="0" rIns="0" bIns="0" rtlCol="0" anchor="ctr"/>
          <a:lstStyle/>
          <a:p>
            <a:pPr defTabSz="1219170"/>
            <a:r>
              <a:rPr lang="en-US" sz="1600" b="1" dirty="0">
                <a:solidFill>
                  <a:srgbClr val="2ED573"/>
                </a:solidFill>
                <a:latin typeface="Calibri" pitchFamily="34" charset="0"/>
                <a:ea typeface="Calibri" pitchFamily="34" charset="-122"/>
                <a:cs typeface="Calibri" pitchFamily="34" charset="-120"/>
              </a:rPr>
              <a:t>Gold</a:t>
            </a:r>
            <a:endParaRPr lang="en-US" sz="1600" dirty="0">
              <a:solidFill>
                <a:prstClr val="black"/>
              </a:solidFill>
              <a:latin typeface="Calibri" panose="020F0502020204030204"/>
            </a:endParaRPr>
          </a:p>
        </p:txBody>
      </p:sp>
      <p:sp>
        <p:nvSpPr>
          <p:cNvPr id="20" name="Text 17"/>
          <p:cNvSpPr/>
          <p:nvPr/>
        </p:nvSpPr>
        <p:spPr>
          <a:xfrm>
            <a:off x="975360" y="548640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Traditional store of value when fiat currencies lose purchasing power</a:t>
            </a:r>
            <a:endParaRPr lang="en-US" sz="1267" dirty="0">
              <a:solidFill>
                <a:prstClr val="black"/>
              </a:solidFill>
              <a:latin typeface="Calibri" panose="020F0502020204030204"/>
            </a:endParaRPr>
          </a:p>
        </p:txBody>
      </p:sp>
      <p:sp>
        <p:nvSpPr>
          <p:cNvPr id="21" name="Shape 18"/>
          <p:cNvSpPr/>
          <p:nvPr/>
        </p:nvSpPr>
        <p:spPr>
          <a:xfrm>
            <a:off x="6339840" y="1219200"/>
            <a:ext cx="5120640" cy="5486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pic>
        <p:nvPicPr>
          <p:cNvPr id="22" name="Image 1" descr="preencoded.png"/>
          <p:cNvPicPr>
            <a:picLocks noChangeAspect="1"/>
          </p:cNvPicPr>
          <p:nvPr/>
        </p:nvPicPr>
        <p:blipFill>
          <a:blip r:embed="rId4"/>
          <a:stretch>
            <a:fillRect/>
          </a:stretch>
        </p:blipFill>
        <p:spPr>
          <a:xfrm>
            <a:off x="6583680" y="1280160"/>
            <a:ext cx="365760" cy="365760"/>
          </a:xfrm>
          <a:prstGeom prst="rect">
            <a:avLst/>
          </a:prstGeom>
        </p:spPr>
      </p:pic>
      <p:sp>
        <p:nvSpPr>
          <p:cNvPr id="23" name="Text 19"/>
          <p:cNvSpPr/>
          <p:nvPr/>
        </p:nvSpPr>
        <p:spPr>
          <a:xfrm>
            <a:off x="7010400" y="1219200"/>
            <a:ext cx="4145280" cy="548640"/>
          </a:xfrm>
          <a:prstGeom prst="rect">
            <a:avLst/>
          </a:prstGeom>
          <a:noFill/>
          <a:ln/>
        </p:spPr>
        <p:txBody>
          <a:bodyPr wrap="square" lIns="0" tIns="0" rIns="0" bIns="0" rtlCol="0" anchor="ctr"/>
          <a:lstStyle/>
          <a:p>
            <a:pPr defTabSz="1219170"/>
            <a:r>
              <a:rPr lang="en-US" sz="1733" b="1" dirty="0">
                <a:solidFill>
                  <a:srgbClr val="FFFFFF"/>
                </a:solidFill>
                <a:latin typeface="Arial Black" pitchFamily="34" charset="0"/>
                <a:ea typeface="Arial Black" pitchFamily="34" charset="-122"/>
                <a:cs typeface="Arial Black" pitchFamily="34" charset="-120"/>
              </a:rPr>
              <a:t>INFLATION LOSERS</a:t>
            </a:r>
            <a:endParaRPr lang="en-US" sz="1733" dirty="0">
              <a:solidFill>
                <a:prstClr val="black"/>
              </a:solidFill>
              <a:latin typeface="Calibri" panose="020F0502020204030204"/>
            </a:endParaRPr>
          </a:p>
        </p:txBody>
      </p:sp>
      <p:sp>
        <p:nvSpPr>
          <p:cNvPr id="24" name="Shape 20"/>
          <p:cNvSpPr/>
          <p:nvPr/>
        </p:nvSpPr>
        <p:spPr>
          <a:xfrm>
            <a:off x="6339840" y="201168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25" name="Text 21"/>
          <p:cNvSpPr/>
          <p:nvPr/>
        </p:nvSpPr>
        <p:spPr>
          <a:xfrm>
            <a:off x="6583680" y="2036064"/>
            <a:ext cx="4632960" cy="268224"/>
          </a:xfrm>
          <a:prstGeom prst="rect">
            <a:avLst/>
          </a:prstGeom>
          <a:noFill/>
          <a:ln/>
        </p:spPr>
        <p:txBody>
          <a:bodyPr wrap="square" lIns="0" tIns="0" rIns="0" bIns="0" rtlCol="0" anchor="ctr"/>
          <a:lstStyle/>
          <a:p>
            <a:pPr defTabSz="1219170"/>
            <a:r>
              <a:rPr lang="en-US" sz="1600" b="1" dirty="0">
                <a:solidFill>
                  <a:srgbClr val="FF4757"/>
                </a:solidFill>
                <a:latin typeface="Calibri" pitchFamily="34" charset="0"/>
                <a:ea typeface="Calibri" pitchFamily="34" charset="-122"/>
                <a:cs typeface="Calibri" pitchFamily="34" charset="-120"/>
              </a:rPr>
              <a:t>Long-Duration Bonds</a:t>
            </a:r>
            <a:endParaRPr lang="en-US" sz="1600" dirty="0">
              <a:solidFill>
                <a:prstClr val="black"/>
              </a:solidFill>
              <a:latin typeface="Calibri" panose="020F0502020204030204"/>
            </a:endParaRPr>
          </a:p>
        </p:txBody>
      </p:sp>
      <p:sp>
        <p:nvSpPr>
          <p:cNvPr id="26" name="Text 22"/>
          <p:cNvSpPr/>
          <p:nvPr/>
        </p:nvSpPr>
        <p:spPr>
          <a:xfrm>
            <a:off x="6583680" y="231648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Fixed payments buy less; rising rates crush bond prices</a:t>
            </a:r>
            <a:endParaRPr lang="en-US" sz="1267" dirty="0">
              <a:solidFill>
                <a:prstClr val="black"/>
              </a:solidFill>
              <a:latin typeface="Calibri" panose="020F0502020204030204"/>
            </a:endParaRPr>
          </a:p>
        </p:txBody>
      </p:sp>
      <p:sp>
        <p:nvSpPr>
          <p:cNvPr id="27" name="Shape 23"/>
          <p:cNvSpPr/>
          <p:nvPr/>
        </p:nvSpPr>
        <p:spPr>
          <a:xfrm>
            <a:off x="6339840" y="280416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28" name="Text 24"/>
          <p:cNvSpPr/>
          <p:nvPr/>
        </p:nvSpPr>
        <p:spPr>
          <a:xfrm>
            <a:off x="6583680" y="2828544"/>
            <a:ext cx="4632960" cy="268224"/>
          </a:xfrm>
          <a:prstGeom prst="rect">
            <a:avLst/>
          </a:prstGeom>
          <a:noFill/>
          <a:ln/>
        </p:spPr>
        <p:txBody>
          <a:bodyPr wrap="square" lIns="0" tIns="0" rIns="0" bIns="0" rtlCol="0" anchor="ctr"/>
          <a:lstStyle/>
          <a:p>
            <a:pPr defTabSz="1219170"/>
            <a:r>
              <a:rPr lang="en-US" sz="1600" b="1" dirty="0">
                <a:solidFill>
                  <a:srgbClr val="FF4757"/>
                </a:solidFill>
                <a:latin typeface="Calibri" pitchFamily="34" charset="0"/>
                <a:ea typeface="Calibri" pitchFamily="34" charset="-122"/>
                <a:cs typeface="Calibri" pitchFamily="34" charset="-120"/>
              </a:rPr>
              <a:t>Cash &amp; Equivalents</a:t>
            </a:r>
            <a:endParaRPr lang="en-US" sz="1600" dirty="0">
              <a:solidFill>
                <a:prstClr val="black"/>
              </a:solidFill>
              <a:latin typeface="Calibri" panose="020F0502020204030204"/>
            </a:endParaRPr>
          </a:p>
        </p:txBody>
      </p:sp>
      <p:sp>
        <p:nvSpPr>
          <p:cNvPr id="29" name="Text 25"/>
          <p:cNvSpPr/>
          <p:nvPr/>
        </p:nvSpPr>
        <p:spPr>
          <a:xfrm>
            <a:off x="6583680" y="310896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Purchasing power erodes daily; guaranteed real loss</a:t>
            </a:r>
            <a:endParaRPr lang="en-US" sz="1267" dirty="0">
              <a:solidFill>
                <a:prstClr val="black"/>
              </a:solidFill>
              <a:latin typeface="Calibri" panose="020F0502020204030204"/>
            </a:endParaRPr>
          </a:p>
        </p:txBody>
      </p:sp>
      <p:sp>
        <p:nvSpPr>
          <p:cNvPr id="30" name="Shape 26"/>
          <p:cNvSpPr/>
          <p:nvPr/>
        </p:nvSpPr>
        <p:spPr>
          <a:xfrm>
            <a:off x="6339840" y="359664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31" name="Text 27"/>
          <p:cNvSpPr/>
          <p:nvPr/>
        </p:nvSpPr>
        <p:spPr>
          <a:xfrm>
            <a:off x="6583680" y="3621024"/>
            <a:ext cx="4632960" cy="268224"/>
          </a:xfrm>
          <a:prstGeom prst="rect">
            <a:avLst/>
          </a:prstGeom>
          <a:noFill/>
          <a:ln/>
        </p:spPr>
        <p:txBody>
          <a:bodyPr wrap="square" lIns="0" tIns="0" rIns="0" bIns="0" rtlCol="0" anchor="ctr"/>
          <a:lstStyle/>
          <a:p>
            <a:pPr defTabSz="1219170"/>
            <a:r>
              <a:rPr lang="en-US" sz="1600" b="1" dirty="0">
                <a:solidFill>
                  <a:srgbClr val="FF4757"/>
                </a:solidFill>
                <a:latin typeface="Calibri" pitchFamily="34" charset="0"/>
                <a:ea typeface="Calibri" pitchFamily="34" charset="-122"/>
                <a:cs typeface="Calibri" pitchFamily="34" charset="-120"/>
              </a:rPr>
              <a:t>Growth Stocks</a:t>
            </a:r>
            <a:endParaRPr lang="en-US" sz="1600" dirty="0">
              <a:solidFill>
                <a:prstClr val="black"/>
              </a:solidFill>
              <a:latin typeface="Calibri" panose="020F0502020204030204"/>
            </a:endParaRPr>
          </a:p>
        </p:txBody>
      </p:sp>
      <p:sp>
        <p:nvSpPr>
          <p:cNvPr id="32" name="Text 28"/>
          <p:cNvSpPr/>
          <p:nvPr/>
        </p:nvSpPr>
        <p:spPr>
          <a:xfrm>
            <a:off x="6583680" y="390144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Higher discount rates reduce value of distant earnings</a:t>
            </a:r>
            <a:endParaRPr lang="en-US" sz="1267" dirty="0">
              <a:solidFill>
                <a:prstClr val="black"/>
              </a:solidFill>
              <a:latin typeface="Calibri" panose="020F0502020204030204"/>
            </a:endParaRPr>
          </a:p>
        </p:txBody>
      </p:sp>
      <p:sp>
        <p:nvSpPr>
          <p:cNvPr id="33" name="Shape 29"/>
          <p:cNvSpPr/>
          <p:nvPr/>
        </p:nvSpPr>
        <p:spPr>
          <a:xfrm>
            <a:off x="6339840" y="438912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34" name="Text 30"/>
          <p:cNvSpPr/>
          <p:nvPr/>
        </p:nvSpPr>
        <p:spPr>
          <a:xfrm>
            <a:off x="6583680" y="4413504"/>
            <a:ext cx="4632960" cy="268224"/>
          </a:xfrm>
          <a:prstGeom prst="rect">
            <a:avLst/>
          </a:prstGeom>
          <a:noFill/>
          <a:ln/>
        </p:spPr>
        <p:txBody>
          <a:bodyPr wrap="square" lIns="0" tIns="0" rIns="0" bIns="0" rtlCol="0" anchor="ctr"/>
          <a:lstStyle/>
          <a:p>
            <a:pPr defTabSz="1219170"/>
            <a:r>
              <a:rPr lang="en-US" sz="1600" b="1" dirty="0">
                <a:solidFill>
                  <a:srgbClr val="FF4757"/>
                </a:solidFill>
                <a:latin typeface="Calibri" pitchFamily="34" charset="0"/>
                <a:ea typeface="Calibri" pitchFamily="34" charset="-122"/>
                <a:cs typeface="Calibri" pitchFamily="34" charset="-120"/>
              </a:rPr>
              <a:t>Fixed Annuities</a:t>
            </a:r>
            <a:endParaRPr lang="en-US" sz="1600" dirty="0">
              <a:solidFill>
                <a:prstClr val="black"/>
              </a:solidFill>
              <a:latin typeface="Calibri" panose="020F0502020204030204"/>
            </a:endParaRPr>
          </a:p>
        </p:txBody>
      </p:sp>
      <p:sp>
        <p:nvSpPr>
          <p:cNvPr id="35" name="Text 31"/>
          <p:cNvSpPr/>
          <p:nvPr/>
        </p:nvSpPr>
        <p:spPr>
          <a:xfrm>
            <a:off x="6583680" y="469392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Locked-in payments lose purchasing power over time</a:t>
            </a:r>
            <a:endParaRPr lang="en-US" sz="1267" dirty="0">
              <a:solidFill>
                <a:prstClr val="black"/>
              </a:solidFill>
              <a:latin typeface="Calibri" panose="020F0502020204030204"/>
            </a:endParaRPr>
          </a:p>
        </p:txBody>
      </p:sp>
      <p:sp>
        <p:nvSpPr>
          <p:cNvPr id="36" name="Shape 32"/>
          <p:cNvSpPr/>
          <p:nvPr/>
        </p:nvSpPr>
        <p:spPr>
          <a:xfrm>
            <a:off x="6339840" y="5181600"/>
            <a:ext cx="512064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37" name="Text 33"/>
          <p:cNvSpPr/>
          <p:nvPr/>
        </p:nvSpPr>
        <p:spPr>
          <a:xfrm>
            <a:off x="6583680" y="5205984"/>
            <a:ext cx="4632960" cy="268224"/>
          </a:xfrm>
          <a:prstGeom prst="rect">
            <a:avLst/>
          </a:prstGeom>
          <a:noFill/>
          <a:ln/>
        </p:spPr>
        <p:txBody>
          <a:bodyPr wrap="square" lIns="0" tIns="0" rIns="0" bIns="0" rtlCol="0" anchor="ctr"/>
          <a:lstStyle/>
          <a:p>
            <a:pPr defTabSz="1219170"/>
            <a:r>
              <a:rPr lang="en-US" sz="1600" b="1" dirty="0">
                <a:solidFill>
                  <a:srgbClr val="FF4757"/>
                </a:solidFill>
                <a:latin typeface="Calibri" pitchFamily="34" charset="0"/>
                <a:ea typeface="Calibri" pitchFamily="34" charset="-122"/>
                <a:cs typeface="Calibri" pitchFamily="34" charset="-120"/>
              </a:rPr>
              <a:t>Savings Accounts</a:t>
            </a:r>
            <a:endParaRPr lang="en-US" sz="1600" dirty="0">
              <a:solidFill>
                <a:prstClr val="black"/>
              </a:solidFill>
              <a:latin typeface="Calibri" panose="020F0502020204030204"/>
            </a:endParaRPr>
          </a:p>
        </p:txBody>
      </p:sp>
      <p:sp>
        <p:nvSpPr>
          <p:cNvPr id="38" name="Text 34"/>
          <p:cNvSpPr/>
          <p:nvPr/>
        </p:nvSpPr>
        <p:spPr>
          <a:xfrm>
            <a:off x="6583680" y="5486400"/>
            <a:ext cx="4632960" cy="341376"/>
          </a:xfrm>
          <a:prstGeom prst="rect">
            <a:avLst/>
          </a:prstGeom>
          <a:noFill/>
          <a:ln/>
        </p:spPr>
        <p:txBody>
          <a:bodyPr wrap="square" lIns="0" tIns="0" rIns="0" bIns="0" rtlCol="0" anchor="ctr"/>
          <a:lstStyle/>
          <a:p>
            <a:pPr defTabSz="1219170"/>
            <a:r>
              <a:rPr lang="en-US" sz="1267" dirty="0">
                <a:solidFill>
                  <a:srgbClr val="8B95A8"/>
                </a:solidFill>
                <a:latin typeface="Calibri" pitchFamily="34" charset="0"/>
                <a:ea typeface="Calibri" pitchFamily="34" charset="-122"/>
                <a:cs typeface="Calibri" pitchFamily="34" charset="-120"/>
              </a:rPr>
              <a:t>Yields rarely keep pace — negative real returns</a:t>
            </a:r>
            <a:endParaRPr lang="en-US" sz="1267" dirty="0">
              <a:solidFill>
                <a:prstClr val="black"/>
              </a:solidFill>
              <a:latin typeface="Calibri" panose="020F0502020204030204"/>
            </a:endParaRPr>
          </a:p>
        </p:txBody>
      </p:sp>
      <p:sp>
        <p:nvSpPr>
          <p:cNvPr id="39" name="Shape 35"/>
          <p:cNvSpPr/>
          <p:nvPr/>
        </p:nvSpPr>
        <p:spPr>
          <a:xfrm>
            <a:off x="731520" y="6096000"/>
            <a:ext cx="10728960" cy="54864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40" name="Shape 36"/>
          <p:cNvSpPr/>
          <p:nvPr/>
        </p:nvSpPr>
        <p:spPr>
          <a:xfrm>
            <a:off x="731520" y="6096000"/>
            <a:ext cx="73152" cy="54864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41" name="Text 37"/>
          <p:cNvSpPr/>
          <p:nvPr/>
        </p:nvSpPr>
        <p:spPr>
          <a:xfrm>
            <a:off x="1036320" y="6096000"/>
            <a:ext cx="10119360" cy="548640"/>
          </a:xfrm>
          <a:prstGeom prst="rect">
            <a:avLst/>
          </a:prstGeom>
          <a:noFill/>
          <a:ln/>
        </p:spPr>
        <p:txBody>
          <a:bodyPr wrap="square" lIns="0" tIns="0" rIns="0" bIns="0" rtlCol="0" anchor="ctr"/>
          <a:lstStyle/>
          <a:p>
            <a:pPr defTabSz="1219170"/>
            <a:r>
              <a:rPr lang="en-US" sz="1600" b="1" dirty="0">
                <a:solidFill>
                  <a:srgbClr val="FF8C42"/>
                </a:solidFill>
                <a:latin typeface="Calibri" pitchFamily="34" charset="0"/>
                <a:ea typeface="Calibri" pitchFamily="34" charset="-122"/>
                <a:cs typeface="Calibri" pitchFamily="34" charset="-120"/>
              </a:rPr>
              <a:t>INSIGHT:  </a:t>
            </a:r>
            <a:r>
              <a:rPr lang="en-US" sz="1600" dirty="0">
                <a:solidFill>
                  <a:srgbClr val="E8ECF1"/>
                </a:solidFill>
                <a:latin typeface="Calibri" pitchFamily="34" charset="0"/>
                <a:ea typeface="Calibri" pitchFamily="34" charset="-122"/>
                <a:cs typeface="Calibri" pitchFamily="34" charset="-120"/>
              </a:rPr>
              <a:t>The typical 'conservative' 60/40 portfolio is particularly vulnerable — the 40% bond allocation gets hammered by inflation.</a:t>
            </a:r>
            <a:endParaRPr lang="en-US" sz="1600" dirty="0">
              <a:solidFill>
                <a:prstClr val="black"/>
              </a:solidFill>
              <a:latin typeface="Calibri" panose="020F0502020204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1219200"/>
            <a:ext cx="3657600" cy="2682240"/>
          </a:xfrm>
          <a:prstGeom prst="rect">
            <a:avLst/>
          </a:prstGeom>
          <a:noFill/>
          <a:ln/>
        </p:spPr>
        <p:txBody>
          <a:bodyPr wrap="square" lIns="0" tIns="0" rIns="0" bIns="0" rtlCol="0" anchor="ctr"/>
          <a:lstStyle/>
          <a:p>
            <a:pPr defTabSz="1219170"/>
            <a:r>
              <a:rPr lang="en-US" sz="12800" b="1" dirty="0">
                <a:solidFill>
                  <a:srgbClr val="1C2133"/>
                </a:solidFill>
                <a:latin typeface="Arial Black" pitchFamily="34" charset="0"/>
                <a:ea typeface="Arial Black" pitchFamily="34" charset="-122"/>
                <a:cs typeface="Arial Black" pitchFamily="34" charset="-120"/>
              </a:rPr>
              <a:t>04</a:t>
            </a:r>
            <a:endParaRPr lang="en-US" sz="12800" dirty="0">
              <a:solidFill>
                <a:prstClr val="black"/>
              </a:solidFill>
              <a:latin typeface="Calibri" panose="020F0502020204030204"/>
            </a:endParaRPr>
          </a:p>
        </p:txBody>
      </p:sp>
      <p:sp>
        <p:nvSpPr>
          <p:cNvPr id="3" name="Shape 1"/>
          <p:cNvSpPr/>
          <p:nvPr/>
        </p:nvSpPr>
        <p:spPr>
          <a:xfrm>
            <a:off x="731520" y="3413760"/>
            <a:ext cx="18288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3718560"/>
            <a:ext cx="10728960" cy="975360"/>
          </a:xfrm>
          <a:prstGeom prst="rect">
            <a:avLst/>
          </a:prstGeom>
          <a:noFill/>
          <a:ln/>
        </p:spPr>
        <p:txBody>
          <a:bodyPr wrap="square" lIns="0" tIns="0" rIns="0" bIns="0" rtlCol="0" anchor="ctr"/>
          <a:lstStyle/>
          <a:p>
            <a:pPr defTabSz="1219170"/>
            <a:r>
              <a:rPr lang="en-US" sz="4000" b="1" dirty="0">
                <a:solidFill>
                  <a:srgbClr val="FFFFFF"/>
                </a:solidFill>
                <a:latin typeface="Arial Black" pitchFamily="34" charset="0"/>
                <a:ea typeface="Arial Black" pitchFamily="34" charset="-122"/>
                <a:cs typeface="Arial Black" pitchFamily="34" charset="-120"/>
              </a:rPr>
              <a:t>Inflation &amp; Your Clients' Portfolios</a:t>
            </a:r>
            <a:endParaRPr lang="en-US" sz="4000" dirty="0">
              <a:solidFill>
                <a:prstClr val="black"/>
              </a:solidFill>
              <a:latin typeface="Calibri" panose="020F0502020204030204"/>
            </a:endParaRPr>
          </a:p>
        </p:txBody>
      </p:sp>
      <p:sp>
        <p:nvSpPr>
          <p:cNvPr id="5" name="Text 3"/>
          <p:cNvSpPr/>
          <p:nvPr/>
        </p:nvSpPr>
        <p:spPr>
          <a:xfrm>
            <a:off x="731520" y="4693920"/>
            <a:ext cx="10728960" cy="609600"/>
          </a:xfrm>
          <a:prstGeom prst="rect">
            <a:avLst/>
          </a:prstGeom>
          <a:noFill/>
          <a:ln/>
        </p:spPr>
        <p:txBody>
          <a:bodyPr wrap="square" lIns="0" tIns="0" rIns="0" bIns="0" rtlCol="0" anchor="ctr"/>
          <a:lstStyle/>
          <a:p>
            <a:pPr defTabSz="1219170"/>
            <a:r>
              <a:rPr lang="en-US" sz="2133" dirty="0">
                <a:solidFill>
                  <a:srgbClr val="8B95A8"/>
                </a:solidFill>
                <a:latin typeface="Calibri" pitchFamily="34" charset="0"/>
                <a:ea typeface="Calibri" pitchFamily="34" charset="-122"/>
                <a:cs typeface="Calibri" pitchFamily="34" charset="-120"/>
              </a:rPr>
              <a:t>Winners, losers, and the real return gap in practice</a:t>
            </a:r>
            <a:endParaRPr lang="en-US" sz="2133" dirty="0">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0607040" y="1463040"/>
            <a:ext cx="975360" cy="9753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59680" y="487680"/>
            <a:ext cx="2072640" cy="2072640"/>
          </a:xfrm>
          <a:prstGeom prst="rect">
            <a:avLst/>
          </a:prstGeom>
        </p:spPr>
      </p:pic>
      <p:sp>
        <p:nvSpPr>
          <p:cNvPr id="3" name="Text 0"/>
          <p:cNvSpPr/>
          <p:nvPr/>
        </p:nvSpPr>
        <p:spPr>
          <a:xfrm>
            <a:off x="731520" y="2682240"/>
            <a:ext cx="10728960" cy="487680"/>
          </a:xfrm>
          <a:prstGeom prst="rect">
            <a:avLst/>
          </a:prstGeom>
          <a:noFill/>
          <a:ln/>
        </p:spPr>
        <p:txBody>
          <a:bodyPr wrap="square" lIns="0" tIns="0" rIns="0" bIns="0" rtlCol="0" anchor="ctr"/>
          <a:lstStyle/>
          <a:p>
            <a:pPr algn="ctr" defTabSz="1219170"/>
            <a:r>
              <a:rPr lang="en-US" sz="1733" b="1" dirty="0">
                <a:solidFill>
                  <a:srgbClr val="FFD700"/>
                </a:solidFill>
                <a:latin typeface="Consolas" pitchFamily="34" charset="0"/>
                <a:ea typeface="Consolas" pitchFamily="34" charset="-122"/>
                <a:cs typeface="Consolas" pitchFamily="34" charset="-120"/>
              </a:rPr>
              <a:t>DISCUSSION PROMPT</a:t>
            </a:r>
            <a:endParaRPr lang="en-US" sz="1733" dirty="0">
              <a:solidFill>
                <a:prstClr val="black"/>
              </a:solidFill>
              <a:latin typeface="Calibri" panose="020F0502020204030204"/>
            </a:endParaRPr>
          </a:p>
        </p:txBody>
      </p:sp>
      <p:sp>
        <p:nvSpPr>
          <p:cNvPr id="4" name="Shape 1"/>
          <p:cNvSpPr/>
          <p:nvPr/>
        </p:nvSpPr>
        <p:spPr>
          <a:xfrm>
            <a:off x="1828800" y="3413760"/>
            <a:ext cx="8534400" cy="1950720"/>
          </a:xfrm>
          <a:prstGeom prst="rect">
            <a:avLst/>
          </a:prstGeom>
          <a:solidFill>
            <a:srgbClr val="151926"/>
          </a:solidFill>
          <a:ln/>
          <a:effectLst>
            <a:outerShdw blurRad="101600" dist="38100" dir="8100000" algn="bl" rotWithShape="0">
              <a:srgbClr val="000000">
                <a:alpha val="30000"/>
              </a:srgbClr>
            </a:outerShdw>
          </a:effectLst>
        </p:spPr>
        <p:txBody>
          <a:bodyPr/>
          <a:lstStyle/>
          <a:p>
            <a:pPr defTabSz="1219170"/>
            <a:endParaRPr lang="en-US" sz="2400">
              <a:solidFill>
                <a:prstClr val="black"/>
              </a:solidFill>
              <a:latin typeface="Calibri" panose="020F0502020204030204"/>
            </a:endParaRPr>
          </a:p>
        </p:txBody>
      </p:sp>
      <p:sp>
        <p:nvSpPr>
          <p:cNvPr id="5" name="Shape 2"/>
          <p:cNvSpPr/>
          <p:nvPr/>
        </p:nvSpPr>
        <p:spPr>
          <a:xfrm>
            <a:off x="1828800" y="3413760"/>
            <a:ext cx="73152" cy="195072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sp>
        <p:nvSpPr>
          <p:cNvPr id="6" name="Text 3"/>
          <p:cNvSpPr/>
          <p:nvPr/>
        </p:nvSpPr>
        <p:spPr>
          <a:xfrm>
            <a:off x="2255520" y="3535680"/>
            <a:ext cx="7802880" cy="1706880"/>
          </a:xfrm>
          <a:prstGeom prst="rect">
            <a:avLst/>
          </a:prstGeom>
          <a:noFill/>
          <a:ln/>
        </p:spPr>
        <p:txBody>
          <a:bodyPr wrap="square" lIns="0" tIns="0" rIns="0" bIns="0" rtlCol="0" anchor="ctr"/>
          <a:lstStyle/>
          <a:p>
            <a:pPr defTabSz="1219170"/>
            <a:r>
              <a:rPr lang="en-US" sz="2667" b="1" dirty="0">
                <a:solidFill>
                  <a:srgbClr val="FFFFFF"/>
                </a:solidFill>
                <a:latin typeface="Calibri" pitchFamily="34" charset="0"/>
                <a:ea typeface="Calibri" pitchFamily="34" charset="-122"/>
                <a:cs typeface="Calibri" pitchFamily="34" charset="-120"/>
              </a:rPr>
              <a:t>Think about your top 5 clients by AUM.</a:t>
            </a:r>
            <a:endParaRPr lang="en-US" sz="2667" dirty="0">
              <a:solidFill>
                <a:prstClr val="black"/>
              </a:solidFill>
              <a:latin typeface="Calibri" panose="020F0502020204030204"/>
            </a:endParaRPr>
          </a:p>
          <a:p>
            <a:pPr defTabSz="1219170"/>
            <a:endParaRPr lang="en-US" sz="2667" dirty="0">
              <a:solidFill>
                <a:prstClr val="black"/>
              </a:solidFill>
              <a:latin typeface="Calibri" panose="020F0502020204030204"/>
            </a:endParaRPr>
          </a:p>
          <a:p>
            <a:pPr defTabSz="1219170"/>
            <a:r>
              <a:rPr lang="en-US" sz="2133" dirty="0">
                <a:solidFill>
                  <a:srgbClr val="8B95A8"/>
                </a:solidFill>
                <a:latin typeface="Calibri" pitchFamily="34" charset="0"/>
                <a:ea typeface="Calibri" pitchFamily="34" charset="-122"/>
                <a:cs typeface="Calibri" pitchFamily="34" charset="-120"/>
              </a:rPr>
              <a:t>If inflation stays at 3-4% for the next decade, which of them is most exposed? What's the single biggest risk in their current allocation?</a:t>
            </a:r>
            <a:endParaRPr lang="en-US" sz="2667" dirty="0">
              <a:solidFill>
                <a:prstClr val="black"/>
              </a:solidFill>
              <a:latin typeface="Calibri" panose="020F0502020204030204"/>
            </a:endParaRPr>
          </a:p>
        </p:txBody>
      </p:sp>
      <p:sp>
        <p:nvSpPr>
          <p:cNvPr id="7" name="Text 4"/>
          <p:cNvSpPr/>
          <p:nvPr/>
        </p:nvSpPr>
        <p:spPr>
          <a:xfrm>
            <a:off x="731520" y="5730240"/>
            <a:ext cx="10728960" cy="609600"/>
          </a:xfrm>
          <a:prstGeom prst="rect">
            <a:avLst/>
          </a:prstGeom>
          <a:noFill/>
          <a:ln/>
        </p:spPr>
        <p:txBody>
          <a:bodyPr wrap="square" lIns="0" tIns="0" rIns="0" bIns="0" rtlCol="0" anchor="ctr"/>
          <a:lstStyle/>
          <a:p>
            <a:pPr algn="ctr" defTabSz="1219170"/>
            <a:r>
              <a:rPr lang="en-US" sz="2133" i="1" dirty="0">
                <a:solidFill>
                  <a:srgbClr val="FFD700"/>
                </a:solidFill>
                <a:latin typeface="Calibri" pitchFamily="34" charset="0"/>
                <a:ea typeface="Calibri" pitchFamily="34" charset="-122"/>
                <a:cs typeface="Calibri" pitchFamily="34" charset="-120"/>
              </a:rPr>
              <a:t>Take 60 seconds. Jot down your answer.</a:t>
            </a:r>
            <a:endParaRPr lang="en-US" sz="2133" dirty="0">
              <a:solidFill>
                <a:prstClr val="black"/>
              </a:solidFill>
              <a:latin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1219200"/>
            <a:ext cx="3657600" cy="2682240"/>
          </a:xfrm>
          <a:prstGeom prst="rect">
            <a:avLst/>
          </a:prstGeom>
          <a:noFill/>
          <a:ln/>
        </p:spPr>
        <p:txBody>
          <a:bodyPr wrap="square" lIns="0" tIns="0" rIns="0" bIns="0" rtlCol="0" anchor="ctr"/>
          <a:lstStyle/>
          <a:p>
            <a:pPr defTabSz="1219170"/>
            <a:r>
              <a:rPr lang="en-US" sz="12800" b="1" dirty="0">
                <a:solidFill>
                  <a:srgbClr val="1C2133"/>
                </a:solidFill>
                <a:latin typeface="Arial Black" pitchFamily="34" charset="0"/>
                <a:ea typeface="Arial Black" pitchFamily="34" charset="-122"/>
                <a:cs typeface="Arial Black" pitchFamily="34" charset="-120"/>
              </a:rPr>
              <a:t>05</a:t>
            </a:r>
            <a:endParaRPr lang="en-US" sz="12800" dirty="0">
              <a:solidFill>
                <a:prstClr val="black"/>
              </a:solidFill>
              <a:latin typeface="Calibri" panose="020F0502020204030204"/>
            </a:endParaRPr>
          </a:p>
        </p:txBody>
      </p:sp>
      <p:sp>
        <p:nvSpPr>
          <p:cNvPr id="3" name="Shape 1"/>
          <p:cNvSpPr/>
          <p:nvPr/>
        </p:nvSpPr>
        <p:spPr>
          <a:xfrm>
            <a:off x="731520" y="3413760"/>
            <a:ext cx="18288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3718560"/>
            <a:ext cx="10728960" cy="975360"/>
          </a:xfrm>
          <a:prstGeom prst="rect">
            <a:avLst/>
          </a:prstGeom>
          <a:noFill/>
          <a:ln/>
        </p:spPr>
        <p:txBody>
          <a:bodyPr wrap="square" lIns="0" tIns="0" rIns="0" bIns="0" rtlCol="0" anchor="ctr"/>
          <a:lstStyle/>
          <a:p>
            <a:pPr defTabSz="1219170"/>
            <a:r>
              <a:rPr lang="en-US" sz="4000" b="1" dirty="0">
                <a:solidFill>
                  <a:srgbClr val="FFFFFF"/>
                </a:solidFill>
                <a:latin typeface="Arial Black" pitchFamily="34" charset="0"/>
                <a:ea typeface="Arial Black" pitchFamily="34" charset="-122"/>
                <a:cs typeface="Arial Black" pitchFamily="34" charset="-120"/>
              </a:rPr>
              <a:t>Portfolio Strategies &amp; Action Steps</a:t>
            </a:r>
            <a:endParaRPr lang="en-US" sz="4000" dirty="0">
              <a:solidFill>
                <a:prstClr val="black"/>
              </a:solidFill>
              <a:latin typeface="Calibri" panose="020F0502020204030204"/>
            </a:endParaRPr>
          </a:p>
        </p:txBody>
      </p:sp>
      <p:sp>
        <p:nvSpPr>
          <p:cNvPr id="5" name="Text 3"/>
          <p:cNvSpPr/>
          <p:nvPr/>
        </p:nvSpPr>
        <p:spPr>
          <a:xfrm>
            <a:off x="731520" y="4693920"/>
            <a:ext cx="10728960" cy="609600"/>
          </a:xfrm>
          <a:prstGeom prst="rect">
            <a:avLst/>
          </a:prstGeom>
          <a:noFill/>
          <a:ln/>
        </p:spPr>
        <p:txBody>
          <a:bodyPr wrap="square" lIns="0" tIns="0" rIns="0" bIns="0" rtlCol="0" anchor="ctr"/>
          <a:lstStyle/>
          <a:p>
            <a:pPr defTabSz="1219170"/>
            <a:r>
              <a:rPr lang="en-US" sz="2133" dirty="0">
                <a:solidFill>
                  <a:srgbClr val="8B95A8"/>
                </a:solidFill>
                <a:latin typeface="Calibri" pitchFamily="34" charset="0"/>
                <a:ea typeface="Calibri" pitchFamily="34" charset="-122"/>
                <a:cs typeface="Calibri" pitchFamily="34" charset="-120"/>
              </a:rPr>
              <a:t>TIPS, commodities, real assets, gold, and floating rate — your inflation toolkit</a:t>
            </a:r>
            <a:endParaRPr lang="en-US" sz="2133" dirty="0">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0607040" y="1463040"/>
            <a:ext cx="975360" cy="97536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400" b="1" dirty="0">
                <a:solidFill>
                  <a:srgbClr val="FFFFFF"/>
                </a:solidFill>
                <a:latin typeface="Arial Black" pitchFamily="34" charset="0"/>
                <a:ea typeface="Arial Black" pitchFamily="34" charset="-122"/>
                <a:cs typeface="Arial Black" pitchFamily="34" charset="-120"/>
              </a:rPr>
              <a:t>STRATEGY 1: TREASURY INFLATION-PROTECTED SECURITIES</a:t>
            </a:r>
            <a:endParaRPr lang="en-US" sz="2400" dirty="0">
              <a:solidFill>
                <a:prstClr val="black"/>
              </a:solidFill>
              <a:latin typeface="Calibri" panose="020F0502020204030204"/>
            </a:endParaRPr>
          </a:p>
        </p:txBody>
      </p:sp>
      <p:sp>
        <p:nvSpPr>
          <p:cNvPr id="3" name="Shape 1"/>
          <p:cNvSpPr/>
          <p:nvPr/>
        </p:nvSpPr>
        <p:spPr>
          <a:xfrm>
            <a:off x="731520" y="1219200"/>
            <a:ext cx="5486400" cy="365760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219200"/>
            <a:ext cx="5486400" cy="48768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5" name="Text 3"/>
          <p:cNvSpPr/>
          <p:nvPr/>
        </p:nvSpPr>
        <p:spPr>
          <a:xfrm>
            <a:off x="975360" y="1219200"/>
            <a:ext cx="4998720" cy="487680"/>
          </a:xfrm>
          <a:prstGeom prst="rect">
            <a:avLst/>
          </a:prstGeom>
          <a:noFill/>
          <a:ln/>
        </p:spPr>
        <p:txBody>
          <a:bodyPr wrap="square" lIns="0" tIns="0" rIns="0" bIns="0" rtlCol="0" anchor="ctr"/>
          <a:lstStyle/>
          <a:p>
            <a:pPr defTabSz="1219170"/>
            <a:r>
              <a:rPr lang="en-US" sz="1733" b="1" dirty="0">
                <a:solidFill>
                  <a:srgbClr val="FFFFFF"/>
                </a:solidFill>
                <a:latin typeface="Arial Black" pitchFamily="34" charset="0"/>
                <a:ea typeface="Arial Black" pitchFamily="34" charset="-122"/>
                <a:cs typeface="Arial Black" pitchFamily="34" charset="-120"/>
              </a:rPr>
              <a:t>HOW TIPS WORK</a:t>
            </a:r>
            <a:endParaRPr lang="en-US" sz="1733" dirty="0">
              <a:solidFill>
                <a:prstClr val="black"/>
              </a:solidFill>
              <a:latin typeface="Calibri" panose="020F0502020204030204"/>
            </a:endParaRPr>
          </a:p>
        </p:txBody>
      </p:sp>
      <p:sp>
        <p:nvSpPr>
          <p:cNvPr id="6" name="Text 4"/>
          <p:cNvSpPr/>
          <p:nvPr/>
        </p:nvSpPr>
        <p:spPr>
          <a:xfrm>
            <a:off x="975360" y="1889760"/>
            <a:ext cx="4998720" cy="2804160"/>
          </a:xfrm>
          <a:prstGeom prst="rect">
            <a:avLst/>
          </a:prstGeom>
          <a:noFill/>
          <a:ln/>
        </p:spPr>
        <p:txBody>
          <a:bodyPr wrap="square" lIns="0" tIns="0" rIns="0" bIns="0" rtlCol="0" anchor="ctr"/>
          <a:lstStyle/>
          <a:p>
            <a:pPr marL="457189" indent="-457189" defTabSz="1219170">
              <a:buSzPct val="100000"/>
              <a:buFontTx/>
              <a:buChar char="•"/>
            </a:pPr>
            <a:r>
              <a:rPr lang="en-US" sz="1733" dirty="0">
                <a:solidFill>
                  <a:srgbClr val="E8ECF1"/>
                </a:solidFill>
                <a:latin typeface="Calibri" pitchFamily="34" charset="0"/>
                <a:ea typeface="Calibri" pitchFamily="34" charset="-122"/>
                <a:cs typeface="Calibri" pitchFamily="34" charset="-120"/>
              </a:rPr>
              <a:t>Principal adjusts with CPI</a:t>
            </a:r>
            <a:endParaRPr lang="en-US" sz="1733" dirty="0">
              <a:solidFill>
                <a:prstClr val="black"/>
              </a:solidFill>
              <a:latin typeface="Calibri" panose="020F0502020204030204"/>
            </a:endParaRPr>
          </a:p>
          <a:p>
            <a:pPr marL="457189" indent="-457189" defTabSz="1219170">
              <a:buSzPct val="100000"/>
              <a:buFontTx/>
              <a:buChar char="•"/>
            </a:pPr>
            <a:r>
              <a:rPr lang="en-US" sz="1733" dirty="0">
                <a:solidFill>
                  <a:srgbClr val="E8ECF1"/>
                </a:solidFill>
                <a:latin typeface="Calibri" pitchFamily="34" charset="0"/>
                <a:ea typeface="Calibri" pitchFamily="34" charset="-122"/>
                <a:cs typeface="Calibri" pitchFamily="34" charset="-120"/>
              </a:rPr>
              <a:t>Interest paid on adjusted principal</a:t>
            </a:r>
            <a:endParaRPr lang="en-US" sz="1733" dirty="0">
              <a:solidFill>
                <a:prstClr val="black"/>
              </a:solidFill>
              <a:latin typeface="Calibri" panose="020F0502020204030204"/>
            </a:endParaRPr>
          </a:p>
          <a:p>
            <a:pPr marL="457189" indent="-457189" defTabSz="1219170">
              <a:buSzPct val="100000"/>
              <a:buFontTx/>
              <a:buChar char="•"/>
            </a:pPr>
            <a:r>
              <a:rPr lang="en-US" sz="1733" dirty="0">
                <a:solidFill>
                  <a:srgbClr val="E8ECF1"/>
                </a:solidFill>
                <a:latin typeface="Calibri" pitchFamily="34" charset="0"/>
                <a:ea typeface="Calibri" pitchFamily="34" charset="-122"/>
                <a:cs typeface="Calibri" pitchFamily="34" charset="-120"/>
              </a:rPr>
              <a:t>At maturity, receive inflation-adjusted principal or original — whichever is greater</a:t>
            </a:r>
            <a:endParaRPr lang="en-US" sz="1733" dirty="0">
              <a:solidFill>
                <a:prstClr val="black"/>
              </a:solidFill>
              <a:latin typeface="Calibri" panose="020F0502020204030204"/>
            </a:endParaRPr>
          </a:p>
          <a:p>
            <a:pPr marL="457189" indent="-457189" defTabSz="1219170">
              <a:buSzPct val="100000"/>
              <a:buFontTx/>
              <a:buChar char="•"/>
            </a:pPr>
            <a:r>
              <a:rPr lang="en-US" sz="1733" dirty="0">
                <a:solidFill>
                  <a:srgbClr val="E8ECF1"/>
                </a:solidFill>
                <a:latin typeface="Calibri" pitchFamily="34" charset="0"/>
                <a:ea typeface="Calibri" pitchFamily="34" charset="-122"/>
                <a:cs typeface="Calibri" pitchFamily="34" charset="-120"/>
              </a:rPr>
              <a:t>Guaranteed real return = the yield at purchase</a:t>
            </a:r>
            <a:endParaRPr lang="en-US" sz="1733" dirty="0">
              <a:solidFill>
                <a:prstClr val="black"/>
              </a:solidFill>
              <a:latin typeface="Calibri" panose="020F0502020204030204"/>
            </a:endParaRPr>
          </a:p>
        </p:txBody>
      </p:sp>
      <p:sp>
        <p:nvSpPr>
          <p:cNvPr id="7" name="Shape 5"/>
          <p:cNvSpPr/>
          <p:nvPr/>
        </p:nvSpPr>
        <p:spPr>
          <a:xfrm>
            <a:off x="6583680" y="1219200"/>
            <a:ext cx="5120640" cy="16459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8" name="Shape 6"/>
          <p:cNvSpPr/>
          <p:nvPr/>
        </p:nvSpPr>
        <p:spPr>
          <a:xfrm>
            <a:off x="6583680" y="1219200"/>
            <a:ext cx="73152" cy="164592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9" name="Text 7"/>
          <p:cNvSpPr/>
          <p:nvPr/>
        </p:nvSpPr>
        <p:spPr>
          <a:xfrm>
            <a:off x="6949440" y="1280160"/>
            <a:ext cx="4511040" cy="304800"/>
          </a:xfrm>
          <a:prstGeom prst="rect">
            <a:avLst/>
          </a:prstGeom>
          <a:noFill/>
          <a:ln/>
        </p:spPr>
        <p:txBody>
          <a:bodyPr wrap="square" lIns="0" tIns="0" rIns="0" bIns="0" rtlCol="0" anchor="ctr"/>
          <a:lstStyle/>
          <a:p>
            <a:pPr defTabSz="1219170"/>
            <a:r>
              <a:rPr lang="en-US" sz="1600" b="1" dirty="0">
                <a:solidFill>
                  <a:srgbClr val="2ED573"/>
                </a:solidFill>
                <a:latin typeface="Arial Black" pitchFamily="34" charset="0"/>
                <a:ea typeface="Arial Black" pitchFamily="34" charset="-122"/>
                <a:cs typeface="Arial Black" pitchFamily="34" charset="-120"/>
              </a:rPr>
              <a:t>PROS</a:t>
            </a:r>
            <a:endParaRPr lang="en-US" sz="1600" dirty="0">
              <a:solidFill>
                <a:prstClr val="black"/>
              </a:solidFill>
              <a:latin typeface="Calibri" panose="020F0502020204030204"/>
            </a:endParaRPr>
          </a:p>
        </p:txBody>
      </p:sp>
      <p:sp>
        <p:nvSpPr>
          <p:cNvPr id="10" name="Text 8"/>
          <p:cNvSpPr/>
          <p:nvPr/>
        </p:nvSpPr>
        <p:spPr>
          <a:xfrm>
            <a:off x="6949440" y="1584960"/>
            <a:ext cx="4511040" cy="1158240"/>
          </a:xfrm>
          <a:prstGeom prst="rect">
            <a:avLst/>
          </a:prstGeom>
          <a:noFill/>
          <a:ln/>
        </p:spPr>
        <p:txBody>
          <a:bodyPr wrap="square" lIns="0" tIns="0" rIns="0" bIns="0" rtlCol="0" anchor="ctr"/>
          <a:lstStyle/>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Direct CPI-linked protection</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U.S. government backing</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Known real yield at purchase</a:t>
            </a:r>
            <a:endParaRPr lang="en-US" sz="1467" dirty="0">
              <a:solidFill>
                <a:prstClr val="black"/>
              </a:solidFill>
              <a:latin typeface="Calibri" panose="020F0502020204030204"/>
            </a:endParaRPr>
          </a:p>
        </p:txBody>
      </p:sp>
      <p:sp>
        <p:nvSpPr>
          <p:cNvPr id="11" name="Shape 9"/>
          <p:cNvSpPr/>
          <p:nvPr/>
        </p:nvSpPr>
        <p:spPr>
          <a:xfrm>
            <a:off x="6583680" y="3108960"/>
            <a:ext cx="5120640" cy="17678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6583680" y="3108960"/>
            <a:ext cx="73152" cy="17678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sp>
        <p:nvSpPr>
          <p:cNvPr id="13" name="Text 11"/>
          <p:cNvSpPr/>
          <p:nvPr/>
        </p:nvSpPr>
        <p:spPr>
          <a:xfrm>
            <a:off x="6949440" y="3169920"/>
            <a:ext cx="4511040" cy="304800"/>
          </a:xfrm>
          <a:prstGeom prst="rect">
            <a:avLst/>
          </a:prstGeom>
          <a:noFill/>
          <a:ln/>
        </p:spPr>
        <p:txBody>
          <a:bodyPr wrap="square" lIns="0" tIns="0" rIns="0" bIns="0" rtlCol="0" anchor="ctr"/>
          <a:lstStyle/>
          <a:p>
            <a:pPr defTabSz="1219170"/>
            <a:r>
              <a:rPr lang="en-US" sz="1600" b="1" dirty="0">
                <a:solidFill>
                  <a:srgbClr val="FF4757"/>
                </a:solidFill>
                <a:latin typeface="Arial Black" pitchFamily="34" charset="0"/>
                <a:ea typeface="Arial Black" pitchFamily="34" charset="-122"/>
                <a:cs typeface="Arial Black" pitchFamily="34" charset="-120"/>
              </a:rPr>
              <a:t>CONS &amp; CAVEATS</a:t>
            </a:r>
            <a:endParaRPr lang="en-US" sz="1600" dirty="0">
              <a:solidFill>
                <a:prstClr val="black"/>
              </a:solidFill>
              <a:latin typeface="Calibri" panose="020F0502020204030204"/>
            </a:endParaRPr>
          </a:p>
        </p:txBody>
      </p:sp>
      <p:sp>
        <p:nvSpPr>
          <p:cNvPr id="14" name="Text 12"/>
          <p:cNvSpPr/>
          <p:nvPr/>
        </p:nvSpPr>
        <p:spPr>
          <a:xfrm>
            <a:off x="6949440" y="3474720"/>
            <a:ext cx="4511040" cy="1219200"/>
          </a:xfrm>
          <a:prstGeom prst="rect">
            <a:avLst/>
          </a:prstGeom>
          <a:noFill/>
          <a:ln/>
        </p:spPr>
        <p:txBody>
          <a:bodyPr wrap="square" lIns="0" tIns="0" rIns="0" bIns="0" rtlCol="0" anchor="ctr"/>
          <a:lstStyle/>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Phantom income tax on inflation adjustments</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Low real yields in some environments</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Only tracks CPI — not true cost of living</a:t>
            </a:r>
            <a:endParaRPr lang="en-US" sz="1467" dirty="0">
              <a:solidFill>
                <a:prstClr val="black"/>
              </a:solidFill>
              <a:latin typeface="Calibri" panose="020F0502020204030204"/>
            </a:endParaRPr>
          </a:p>
        </p:txBody>
      </p:sp>
      <p:sp>
        <p:nvSpPr>
          <p:cNvPr id="15" name="Shape 13"/>
          <p:cNvSpPr/>
          <p:nvPr/>
        </p:nvSpPr>
        <p:spPr>
          <a:xfrm>
            <a:off x="731520" y="5242560"/>
            <a:ext cx="10728960" cy="853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731520" y="5242560"/>
            <a:ext cx="73152" cy="8534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17" name="Text 15"/>
          <p:cNvSpPr/>
          <p:nvPr/>
        </p:nvSpPr>
        <p:spPr>
          <a:xfrm>
            <a:off x="1036320" y="5242560"/>
            <a:ext cx="10119360" cy="853440"/>
          </a:xfrm>
          <a:prstGeom prst="rect">
            <a:avLst/>
          </a:prstGeom>
          <a:noFill/>
          <a:ln/>
        </p:spPr>
        <p:txBody>
          <a:bodyPr wrap="square" lIns="0" tIns="0" rIns="0" bIns="0" rtlCol="0" anchor="ctr"/>
          <a:lstStyle/>
          <a:p>
            <a:pPr defTabSz="1219170"/>
            <a:r>
              <a:rPr lang="en-US" sz="1733" b="1" dirty="0">
                <a:solidFill>
                  <a:srgbClr val="00D4AA"/>
                </a:solidFill>
                <a:latin typeface="Arial Black" pitchFamily="34" charset="0"/>
                <a:ea typeface="Arial Black" pitchFamily="34" charset="-122"/>
                <a:cs typeface="Arial Black" pitchFamily="34" charset="-120"/>
              </a:rPr>
              <a:t>FA ACTION:  </a:t>
            </a:r>
            <a:r>
              <a:rPr lang="en-US" sz="1600" dirty="0">
                <a:solidFill>
                  <a:srgbClr val="E8ECF1"/>
                </a:solidFill>
                <a:latin typeface="Calibri" pitchFamily="34" charset="0"/>
                <a:ea typeface="Calibri" pitchFamily="34" charset="-122"/>
                <a:cs typeface="Calibri" pitchFamily="34" charset="-120"/>
              </a:rPr>
              <a:t>Use TIPS in tax-advantaged accounts (IRA, 401k) to avoid phantom income. Best as a core defensive allocation — 5-15% of fixed income. Consider TIPS ETFs for liquidity over individual bonds.</a:t>
            </a:r>
            <a:endParaRPr lang="en-US" sz="1733" dirty="0">
              <a:solidFill>
                <a:prstClr val="black"/>
              </a:solidFill>
              <a:latin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STRATEGY 2: COMMODITIES</a:t>
            </a:r>
            <a:endParaRPr lang="en-US" sz="2933" dirty="0">
              <a:solidFill>
                <a:prstClr val="black"/>
              </a:solidFill>
              <a:latin typeface="Calibri" panose="020F0502020204030204"/>
            </a:endParaRPr>
          </a:p>
        </p:txBody>
      </p:sp>
      <p:sp>
        <p:nvSpPr>
          <p:cNvPr id="3" name="Shape 1"/>
          <p:cNvSpPr/>
          <p:nvPr/>
        </p:nvSpPr>
        <p:spPr>
          <a:xfrm>
            <a:off x="731520" y="1219200"/>
            <a:ext cx="5364480" cy="1889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219200"/>
            <a:ext cx="73152" cy="188976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pic>
        <p:nvPicPr>
          <p:cNvPr id="5" name="Image 0" descr="preencoded.png"/>
          <p:cNvPicPr>
            <a:picLocks noChangeAspect="1"/>
          </p:cNvPicPr>
          <p:nvPr/>
        </p:nvPicPr>
        <p:blipFill>
          <a:blip r:embed="rId3"/>
          <a:stretch>
            <a:fillRect/>
          </a:stretch>
        </p:blipFill>
        <p:spPr>
          <a:xfrm>
            <a:off x="975360" y="1402080"/>
            <a:ext cx="426720" cy="426720"/>
          </a:xfrm>
          <a:prstGeom prst="rect">
            <a:avLst/>
          </a:prstGeom>
        </p:spPr>
      </p:pic>
      <p:sp>
        <p:nvSpPr>
          <p:cNvPr id="6" name="Text 3"/>
          <p:cNvSpPr/>
          <p:nvPr/>
        </p:nvSpPr>
        <p:spPr>
          <a:xfrm>
            <a:off x="1524000" y="1365504"/>
            <a:ext cx="3048000" cy="426720"/>
          </a:xfrm>
          <a:prstGeom prst="rect">
            <a:avLst/>
          </a:prstGeom>
          <a:noFill/>
          <a:ln/>
        </p:spPr>
        <p:txBody>
          <a:bodyPr wrap="square" lIns="0" tIns="0" rIns="0" bIns="0" rtlCol="0" anchor="ctr"/>
          <a:lstStyle/>
          <a:p>
            <a:pPr defTabSz="1219170"/>
            <a:r>
              <a:rPr lang="en-US" sz="2133" b="1" dirty="0">
                <a:solidFill>
                  <a:srgbClr val="FF8C42"/>
                </a:solidFill>
                <a:latin typeface="Arial Black" pitchFamily="34" charset="0"/>
                <a:ea typeface="Arial Black" pitchFamily="34" charset="-122"/>
                <a:cs typeface="Arial Black" pitchFamily="34" charset="-120"/>
              </a:rPr>
              <a:t>Energy</a:t>
            </a:r>
            <a:endParaRPr lang="en-US" sz="2133" dirty="0">
              <a:solidFill>
                <a:prstClr val="black"/>
              </a:solidFill>
              <a:latin typeface="Calibri" panose="020F0502020204030204"/>
            </a:endParaRPr>
          </a:p>
        </p:txBody>
      </p:sp>
      <p:sp>
        <p:nvSpPr>
          <p:cNvPr id="7" name="Shape 4"/>
          <p:cNvSpPr/>
          <p:nvPr/>
        </p:nvSpPr>
        <p:spPr>
          <a:xfrm>
            <a:off x="4632960" y="1402080"/>
            <a:ext cx="1219200" cy="365760"/>
          </a:xfrm>
          <a:prstGeom prst="roundRect">
            <a:avLst>
              <a:gd name="adj" fmla="val 16667"/>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8" name="Text 5"/>
          <p:cNvSpPr/>
          <p:nvPr/>
        </p:nvSpPr>
        <p:spPr>
          <a:xfrm>
            <a:off x="4632960" y="1402080"/>
            <a:ext cx="1219200" cy="365760"/>
          </a:xfrm>
          <a:prstGeom prst="rect">
            <a:avLst/>
          </a:prstGeom>
          <a:noFill/>
          <a:ln/>
        </p:spPr>
        <p:txBody>
          <a:bodyPr wrap="square" lIns="0" tIns="0" rIns="0" bIns="0" rtlCol="0" anchor="ctr"/>
          <a:lstStyle/>
          <a:p>
            <a:pPr algn="ctr" defTabSz="1219170"/>
            <a:r>
              <a:rPr lang="en-US" sz="1467" dirty="0">
                <a:solidFill>
                  <a:srgbClr val="FF8C42"/>
                </a:solidFill>
                <a:latin typeface="Consolas" pitchFamily="34" charset="0"/>
                <a:ea typeface="Consolas" pitchFamily="34" charset="-122"/>
                <a:cs typeface="Consolas" pitchFamily="34" charset="-120"/>
              </a:rPr>
              <a:t>2-4%</a:t>
            </a:r>
            <a:endParaRPr lang="en-US" sz="1467" dirty="0">
              <a:solidFill>
                <a:prstClr val="black"/>
              </a:solidFill>
              <a:latin typeface="Calibri" panose="020F0502020204030204"/>
            </a:endParaRPr>
          </a:p>
        </p:txBody>
      </p:sp>
      <p:sp>
        <p:nvSpPr>
          <p:cNvPr id="9" name="Text 6"/>
          <p:cNvSpPr/>
          <p:nvPr/>
        </p:nvSpPr>
        <p:spPr>
          <a:xfrm>
            <a:off x="975360" y="1889760"/>
            <a:ext cx="4876800" cy="109728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Oil &amp; natural gas are leading inflation indicators. When energy prices rise, everything downstream follows.</a:t>
            </a:r>
            <a:endParaRPr lang="en-US" sz="1600" dirty="0">
              <a:solidFill>
                <a:prstClr val="black"/>
              </a:solidFill>
              <a:latin typeface="Calibri" panose="020F0502020204030204"/>
            </a:endParaRPr>
          </a:p>
        </p:txBody>
      </p:sp>
      <p:sp>
        <p:nvSpPr>
          <p:cNvPr id="10" name="Shape 7"/>
          <p:cNvSpPr/>
          <p:nvPr/>
        </p:nvSpPr>
        <p:spPr>
          <a:xfrm>
            <a:off x="6461760" y="1219200"/>
            <a:ext cx="5364480" cy="1889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1" name="Shape 8"/>
          <p:cNvSpPr/>
          <p:nvPr/>
        </p:nvSpPr>
        <p:spPr>
          <a:xfrm>
            <a:off x="6461760" y="1219200"/>
            <a:ext cx="73152" cy="188976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pic>
        <p:nvPicPr>
          <p:cNvPr id="12" name="Image 1" descr="preencoded.png"/>
          <p:cNvPicPr>
            <a:picLocks noChangeAspect="1"/>
          </p:cNvPicPr>
          <p:nvPr/>
        </p:nvPicPr>
        <p:blipFill>
          <a:blip r:embed="rId4"/>
          <a:stretch>
            <a:fillRect/>
          </a:stretch>
        </p:blipFill>
        <p:spPr>
          <a:xfrm>
            <a:off x="6705600" y="1402080"/>
            <a:ext cx="426720" cy="426720"/>
          </a:xfrm>
          <a:prstGeom prst="rect">
            <a:avLst/>
          </a:prstGeom>
        </p:spPr>
      </p:pic>
      <p:sp>
        <p:nvSpPr>
          <p:cNvPr id="13" name="Text 9"/>
          <p:cNvSpPr/>
          <p:nvPr/>
        </p:nvSpPr>
        <p:spPr>
          <a:xfrm>
            <a:off x="7254240" y="1365504"/>
            <a:ext cx="3048000" cy="426720"/>
          </a:xfrm>
          <a:prstGeom prst="rect">
            <a:avLst/>
          </a:prstGeom>
          <a:noFill/>
          <a:ln/>
        </p:spPr>
        <p:txBody>
          <a:bodyPr wrap="square" lIns="0" tIns="0" rIns="0" bIns="0" rtlCol="0" anchor="ctr"/>
          <a:lstStyle/>
          <a:p>
            <a:pPr defTabSz="1219170"/>
            <a:r>
              <a:rPr lang="en-US" sz="2133" b="1" dirty="0">
                <a:solidFill>
                  <a:srgbClr val="FFD700"/>
                </a:solidFill>
                <a:latin typeface="Arial Black" pitchFamily="34" charset="0"/>
                <a:ea typeface="Arial Black" pitchFamily="34" charset="-122"/>
                <a:cs typeface="Arial Black" pitchFamily="34" charset="-120"/>
              </a:rPr>
              <a:t>Precious Metals</a:t>
            </a:r>
            <a:endParaRPr lang="en-US" sz="2133" dirty="0">
              <a:solidFill>
                <a:prstClr val="black"/>
              </a:solidFill>
              <a:latin typeface="Calibri" panose="020F0502020204030204"/>
            </a:endParaRPr>
          </a:p>
        </p:txBody>
      </p:sp>
      <p:sp>
        <p:nvSpPr>
          <p:cNvPr id="14" name="Shape 10"/>
          <p:cNvSpPr/>
          <p:nvPr/>
        </p:nvSpPr>
        <p:spPr>
          <a:xfrm>
            <a:off x="10363200" y="1402080"/>
            <a:ext cx="1219200" cy="365760"/>
          </a:xfrm>
          <a:prstGeom prst="roundRect">
            <a:avLst>
              <a:gd name="adj" fmla="val 16667"/>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5" name="Text 11"/>
          <p:cNvSpPr/>
          <p:nvPr/>
        </p:nvSpPr>
        <p:spPr>
          <a:xfrm>
            <a:off x="10363200" y="1402080"/>
            <a:ext cx="1219200" cy="365760"/>
          </a:xfrm>
          <a:prstGeom prst="rect">
            <a:avLst/>
          </a:prstGeom>
          <a:noFill/>
          <a:ln/>
        </p:spPr>
        <p:txBody>
          <a:bodyPr wrap="square" lIns="0" tIns="0" rIns="0" bIns="0" rtlCol="0" anchor="ctr"/>
          <a:lstStyle/>
          <a:p>
            <a:pPr algn="ctr" defTabSz="1219170"/>
            <a:r>
              <a:rPr lang="en-US" sz="1467" dirty="0">
                <a:solidFill>
                  <a:srgbClr val="FFD700"/>
                </a:solidFill>
                <a:latin typeface="Consolas" pitchFamily="34" charset="0"/>
                <a:ea typeface="Consolas" pitchFamily="34" charset="-122"/>
                <a:cs typeface="Consolas" pitchFamily="34" charset="-120"/>
              </a:rPr>
              <a:t>3-7%</a:t>
            </a:r>
            <a:endParaRPr lang="en-US" sz="1467" dirty="0">
              <a:solidFill>
                <a:prstClr val="black"/>
              </a:solidFill>
              <a:latin typeface="Calibri" panose="020F0502020204030204"/>
            </a:endParaRPr>
          </a:p>
        </p:txBody>
      </p:sp>
      <p:sp>
        <p:nvSpPr>
          <p:cNvPr id="16" name="Text 12"/>
          <p:cNvSpPr/>
          <p:nvPr/>
        </p:nvSpPr>
        <p:spPr>
          <a:xfrm>
            <a:off x="6705600" y="1889760"/>
            <a:ext cx="4876800" cy="109728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Gold &amp; silver as monetary metals — store of value when fiat depreciates. Gold also benefits from real rate declines.</a:t>
            </a:r>
            <a:endParaRPr lang="en-US" sz="1600" dirty="0">
              <a:solidFill>
                <a:prstClr val="black"/>
              </a:solidFill>
              <a:latin typeface="Calibri" panose="020F0502020204030204"/>
            </a:endParaRPr>
          </a:p>
        </p:txBody>
      </p:sp>
      <p:sp>
        <p:nvSpPr>
          <p:cNvPr id="17" name="Shape 13"/>
          <p:cNvSpPr/>
          <p:nvPr/>
        </p:nvSpPr>
        <p:spPr>
          <a:xfrm>
            <a:off x="731520" y="3352800"/>
            <a:ext cx="5364480" cy="1889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8" name="Shape 14"/>
          <p:cNvSpPr/>
          <p:nvPr/>
        </p:nvSpPr>
        <p:spPr>
          <a:xfrm>
            <a:off x="731520" y="3352800"/>
            <a:ext cx="73152" cy="188976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pic>
        <p:nvPicPr>
          <p:cNvPr id="19" name="Image 2" descr="preencoded.png"/>
          <p:cNvPicPr>
            <a:picLocks noChangeAspect="1"/>
          </p:cNvPicPr>
          <p:nvPr/>
        </p:nvPicPr>
        <p:blipFill>
          <a:blip r:embed="rId5"/>
          <a:stretch>
            <a:fillRect/>
          </a:stretch>
        </p:blipFill>
        <p:spPr>
          <a:xfrm>
            <a:off x="975360" y="3535680"/>
            <a:ext cx="426720" cy="426720"/>
          </a:xfrm>
          <a:prstGeom prst="rect">
            <a:avLst/>
          </a:prstGeom>
        </p:spPr>
      </p:pic>
      <p:sp>
        <p:nvSpPr>
          <p:cNvPr id="20" name="Text 15"/>
          <p:cNvSpPr/>
          <p:nvPr/>
        </p:nvSpPr>
        <p:spPr>
          <a:xfrm>
            <a:off x="1524000" y="3499104"/>
            <a:ext cx="3048000" cy="426720"/>
          </a:xfrm>
          <a:prstGeom prst="rect">
            <a:avLst/>
          </a:prstGeom>
          <a:noFill/>
          <a:ln/>
        </p:spPr>
        <p:txBody>
          <a:bodyPr wrap="square" lIns="0" tIns="0" rIns="0" bIns="0" rtlCol="0" anchor="ctr"/>
          <a:lstStyle/>
          <a:p>
            <a:pPr defTabSz="1219170"/>
            <a:r>
              <a:rPr lang="en-US" sz="2133" b="1" dirty="0">
                <a:solidFill>
                  <a:srgbClr val="2ED573"/>
                </a:solidFill>
                <a:latin typeface="Arial Black" pitchFamily="34" charset="0"/>
                <a:ea typeface="Arial Black" pitchFamily="34" charset="-122"/>
                <a:cs typeface="Arial Black" pitchFamily="34" charset="-120"/>
              </a:rPr>
              <a:t>Agriculture</a:t>
            </a:r>
            <a:endParaRPr lang="en-US" sz="2133" dirty="0">
              <a:solidFill>
                <a:prstClr val="black"/>
              </a:solidFill>
              <a:latin typeface="Calibri" panose="020F0502020204030204"/>
            </a:endParaRPr>
          </a:p>
        </p:txBody>
      </p:sp>
      <p:sp>
        <p:nvSpPr>
          <p:cNvPr id="21" name="Shape 16"/>
          <p:cNvSpPr/>
          <p:nvPr/>
        </p:nvSpPr>
        <p:spPr>
          <a:xfrm>
            <a:off x="4632960" y="3535680"/>
            <a:ext cx="1219200" cy="365760"/>
          </a:xfrm>
          <a:prstGeom prst="roundRect">
            <a:avLst>
              <a:gd name="adj" fmla="val 16667"/>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2" name="Text 17"/>
          <p:cNvSpPr/>
          <p:nvPr/>
        </p:nvSpPr>
        <p:spPr>
          <a:xfrm>
            <a:off x="4632960" y="3535680"/>
            <a:ext cx="1219200" cy="365760"/>
          </a:xfrm>
          <a:prstGeom prst="rect">
            <a:avLst/>
          </a:prstGeom>
          <a:noFill/>
          <a:ln/>
        </p:spPr>
        <p:txBody>
          <a:bodyPr wrap="square" lIns="0" tIns="0" rIns="0" bIns="0" rtlCol="0" anchor="ctr"/>
          <a:lstStyle/>
          <a:p>
            <a:pPr algn="ctr" defTabSz="1219170"/>
            <a:r>
              <a:rPr lang="en-US" sz="1467" dirty="0">
                <a:solidFill>
                  <a:srgbClr val="2ED573"/>
                </a:solidFill>
                <a:latin typeface="Consolas" pitchFamily="34" charset="0"/>
                <a:ea typeface="Consolas" pitchFamily="34" charset="-122"/>
                <a:cs typeface="Consolas" pitchFamily="34" charset="-120"/>
              </a:rPr>
              <a:t>1-3%</a:t>
            </a:r>
            <a:endParaRPr lang="en-US" sz="1467" dirty="0">
              <a:solidFill>
                <a:prstClr val="black"/>
              </a:solidFill>
              <a:latin typeface="Calibri" panose="020F0502020204030204"/>
            </a:endParaRPr>
          </a:p>
        </p:txBody>
      </p:sp>
      <p:sp>
        <p:nvSpPr>
          <p:cNvPr id="23" name="Text 18"/>
          <p:cNvSpPr/>
          <p:nvPr/>
        </p:nvSpPr>
        <p:spPr>
          <a:xfrm>
            <a:off x="975360" y="4023360"/>
            <a:ext cx="4876800" cy="109728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Food prices are a direct CPI component. Agricultural commodities hedge against supply shocks and climate risk.</a:t>
            </a:r>
            <a:endParaRPr lang="en-US" sz="1600" dirty="0">
              <a:solidFill>
                <a:prstClr val="black"/>
              </a:solidFill>
              <a:latin typeface="Calibri" panose="020F0502020204030204"/>
            </a:endParaRPr>
          </a:p>
        </p:txBody>
      </p:sp>
      <p:sp>
        <p:nvSpPr>
          <p:cNvPr id="24" name="Shape 19"/>
          <p:cNvSpPr/>
          <p:nvPr/>
        </p:nvSpPr>
        <p:spPr>
          <a:xfrm>
            <a:off x="6461760" y="3352800"/>
            <a:ext cx="5364480" cy="18897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5" name="Shape 20"/>
          <p:cNvSpPr/>
          <p:nvPr/>
        </p:nvSpPr>
        <p:spPr>
          <a:xfrm>
            <a:off x="6461760" y="3352800"/>
            <a:ext cx="73152" cy="18897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pic>
        <p:nvPicPr>
          <p:cNvPr id="26" name="Image 3" descr="preencoded.png"/>
          <p:cNvPicPr>
            <a:picLocks noChangeAspect="1"/>
          </p:cNvPicPr>
          <p:nvPr/>
        </p:nvPicPr>
        <p:blipFill>
          <a:blip r:embed="rId6"/>
          <a:stretch>
            <a:fillRect/>
          </a:stretch>
        </p:blipFill>
        <p:spPr>
          <a:xfrm>
            <a:off x="6705600" y="3535680"/>
            <a:ext cx="426720" cy="426720"/>
          </a:xfrm>
          <a:prstGeom prst="rect">
            <a:avLst/>
          </a:prstGeom>
        </p:spPr>
      </p:pic>
      <p:sp>
        <p:nvSpPr>
          <p:cNvPr id="27" name="Text 21"/>
          <p:cNvSpPr/>
          <p:nvPr/>
        </p:nvSpPr>
        <p:spPr>
          <a:xfrm>
            <a:off x="7254240" y="3499104"/>
            <a:ext cx="3048000" cy="426720"/>
          </a:xfrm>
          <a:prstGeom prst="rect">
            <a:avLst/>
          </a:prstGeom>
          <a:noFill/>
          <a:ln/>
        </p:spPr>
        <p:txBody>
          <a:bodyPr wrap="square" lIns="0" tIns="0" rIns="0" bIns="0" rtlCol="0" anchor="ctr"/>
          <a:lstStyle/>
          <a:p>
            <a:pPr defTabSz="1219170"/>
            <a:r>
              <a:rPr lang="en-US" sz="2133" b="1" dirty="0">
                <a:solidFill>
                  <a:srgbClr val="00D4AA"/>
                </a:solidFill>
                <a:latin typeface="Arial Black" pitchFamily="34" charset="0"/>
                <a:ea typeface="Arial Black" pitchFamily="34" charset="-122"/>
                <a:cs typeface="Arial Black" pitchFamily="34" charset="-120"/>
              </a:rPr>
              <a:t>Broad Commodity Index</a:t>
            </a:r>
            <a:endParaRPr lang="en-US" sz="2133" dirty="0">
              <a:solidFill>
                <a:prstClr val="black"/>
              </a:solidFill>
              <a:latin typeface="Calibri" panose="020F0502020204030204"/>
            </a:endParaRPr>
          </a:p>
        </p:txBody>
      </p:sp>
      <p:sp>
        <p:nvSpPr>
          <p:cNvPr id="28" name="Shape 22"/>
          <p:cNvSpPr/>
          <p:nvPr/>
        </p:nvSpPr>
        <p:spPr>
          <a:xfrm>
            <a:off x="10363200" y="3535680"/>
            <a:ext cx="1219200" cy="365760"/>
          </a:xfrm>
          <a:prstGeom prst="roundRect">
            <a:avLst>
              <a:gd name="adj" fmla="val 16667"/>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9" name="Text 23"/>
          <p:cNvSpPr/>
          <p:nvPr/>
        </p:nvSpPr>
        <p:spPr>
          <a:xfrm>
            <a:off x="10363200" y="3535680"/>
            <a:ext cx="1219200" cy="365760"/>
          </a:xfrm>
          <a:prstGeom prst="rect">
            <a:avLst/>
          </a:prstGeom>
          <a:noFill/>
          <a:ln/>
        </p:spPr>
        <p:txBody>
          <a:bodyPr wrap="square" lIns="0" tIns="0" rIns="0" bIns="0" rtlCol="0" anchor="ctr"/>
          <a:lstStyle/>
          <a:p>
            <a:pPr algn="ctr" defTabSz="1219170"/>
            <a:r>
              <a:rPr lang="en-US" sz="1467" dirty="0">
                <a:solidFill>
                  <a:srgbClr val="00D4AA"/>
                </a:solidFill>
                <a:latin typeface="Consolas" pitchFamily="34" charset="0"/>
                <a:ea typeface="Consolas" pitchFamily="34" charset="-122"/>
                <a:cs typeface="Consolas" pitchFamily="34" charset="-120"/>
              </a:rPr>
              <a:t>3-5%</a:t>
            </a:r>
            <a:endParaRPr lang="en-US" sz="1467" dirty="0">
              <a:solidFill>
                <a:prstClr val="black"/>
              </a:solidFill>
              <a:latin typeface="Calibri" panose="020F0502020204030204"/>
            </a:endParaRPr>
          </a:p>
        </p:txBody>
      </p:sp>
      <p:sp>
        <p:nvSpPr>
          <p:cNvPr id="30" name="Text 24"/>
          <p:cNvSpPr/>
          <p:nvPr/>
        </p:nvSpPr>
        <p:spPr>
          <a:xfrm>
            <a:off x="6705600" y="4023360"/>
            <a:ext cx="4876800" cy="109728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Diversified exposure via ETFs (e.g., DJP, GSG). Simpler than individual commodities, lower volatility.</a:t>
            </a:r>
            <a:endParaRPr lang="en-US" sz="1600" dirty="0">
              <a:solidFill>
                <a:prstClr val="black"/>
              </a:solidFill>
              <a:latin typeface="Calibri" panose="020F0502020204030204"/>
            </a:endParaRPr>
          </a:p>
        </p:txBody>
      </p:sp>
      <p:sp>
        <p:nvSpPr>
          <p:cNvPr id="31" name="Shape 25"/>
          <p:cNvSpPr/>
          <p:nvPr/>
        </p:nvSpPr>
        <p:spPr>
          <a:xfrm>
            <a:off x="731520" y="5669280"/>
            <a:ext cx="10728960" cy="8534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32" name="Shape 26"/>
          <p:cNvSpPr/>
          <p:nvPr/>
        </p:nvSpPr>
        <p:spPr>
          <a:xfrm>
            <a:off x="731520" y="5669280"/>
            <a:ext cx="73152" cy="85344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33" name="Text 27"/>
          <p:cNvSpPr/>
          <p:nvPr/>
        </p:nvSpPr>
        <p:spPr>
          <a:xfrm>
            <a:off x="1036320" y="5669280"/>
            <a:ext cx="10119360" cy="853440"/>
          </a:xfrm>
          <a:prstGeom prst="rect">
            <a:avLst/>
          </a:prstGeom>
          <a:noFill/>
          <a:ln/>
        </p:spPr>
        <p:txBody>
          <a:bodyPr wrap="square" lIns="0" tIns="0" rIns="0" bIns="0" rtlCol="0" anchor="ctr"/>
          <a:lstStyle/>
          <a:p>
            <a:pPr defTabSz="1219170"/>
            <a:r>
              <a:rPr lang="en-US" sz="1733" b="1" dirty="0">
                <a:solidFill>
                  <a:srgbClr val="FF8C42"/>
                </a:solidFill>
                <a:latin typeface="Arial Black" pitchFamily="34" charset="0"/>
                <a:ea typeface="Arial Black" pitchFamily="34" charset="-122"/>
                <a:cs typeface="Arial Black" pitchFamily="34" charset="-120"/>
              </a:rPr>
              <a:t>FA ACTION:  </a:t>
            </a:r>
            <a:r>
              <a:rPr lang="en-US" sz="1600" dirty="0">
                <a:solidFill>
                  <a:srgbClr val="E8ECF1"/>
                </a:solidFill>
                <a:latin typeface="Calibri" pitchFamily="34" charset="0"/>
                <a:ea typeface="Calibri" pitchFamily="34" charset="-122"/>
                <a:cs typeface="Calibri" pitchFamily="34" charset="-120"/>
              </a:rPr>
              <a:t>Use commodity ETFs for broad exposure rather than futures. Total commodity allocation: 5-10% of portfolio. Rebalance quarterly — commodities are volatile and can overshoot. Prefer broad indices over single-commodity bets.</a:t>
            </a:r>
            <a:endParaRPr lang="en-US" sz="1733" dirty="0">
              <a:solidFill>
                <a:prstClr val="black"/>
              </a:solidFill>
              <a:latin typeface="Calibri" panose="020F0502020204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667" b="1" dirty="0">
                <a:solidFill>
                  <a:srgbClr val="FFFFFF"/>
                </a:solidFill>
                <a:latin typeface="Arial Black" pitchFamily="34" charset="0"/>
                <a:ea typeface="Arial Black" pitchFamily="34" charset="-122"/>
                <a:cs typeface="Arial Black" pitchFamily="34" charset="-120"/>
              </a:rPr>
              <a:t>STRATEGY 3: REAL ESTATE &amp; REAL ASSETS</a:t>
            </a:r>
            <a:endParaRPr lang="en-US" sz="2667" dirty="0">
              <a:solidFill>
                <a:prstClr val="black"/>
              </a:solidFill>
              <a:latin typeface="Calibri" panose="020F0502020204030204"/>
            </a:endParaRPr>
          </a:p>
        </p:txBody>
      </p:sp>
      <p:sp>
        <p:nvSpPr>
          <p:cNvPr id="3" name="Shape 1"/>
          <p:cNvSpPr/>
          <p:nvPr/>
        </p:nvSpPr>
        <p:spPr>
          <a:xfrm>
            <a:off x="731520" y="1219200"/>
            <a:ext cx="3474720" cy="46329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219200"/>
            <a:ext cx="3474720" cy="48768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5" name="Text 3"/>
          <p:cNvSpPr/>
          <p:nvPr/>
        </p:nvSpPr>
        <p:spPr>
          <a:xfrm>
            <a:off x="914400" y="1219200"/>
            <a:ext cx="3108960" cy="487680"/>
          </a:xfrm>
          <a:prstGeom prst="rect">
            <a:avLst/>
          </a:prstGeom>
          <a:noFill/>
          <a:ln/>
        </p:spPr>
        <p:txBody>
          <a:bodyPr wrap="square" lIns="0" tIns="0" rIns="0" bIns="0" rtlCol="0" anchor="ctr"/>
          <a:lstStyle/>
          <a:p>
            <a:pPr defTabSz="1219170"/>
            <a:r>
              <a:rPr lang="en-US" sz="2000" b="1" dirty="0">
                <a:solidFill>
                  <a:srgbClr val="FFFFFF"/>
                </a:solidFill>
                <a:latin typeface="Arial Black" pitchFamily="34" charset="0"/>
                <a:ea typeface="Arial Black" pitchFamily="34" charset="-122"/>
                <a:cs typeface="Arial Black" pitchFamily="34" charset="-120"/>
              </a:rPr>
              <a:t>REITs</a:t>
            </a:r>
            <a:endParaRPr lang="en-US" sz="2000" dirty="0">
              <a:solidFill>
                <a:prstClr val="black"/>
              </a:solidFill>
              <a:latin typeface="Calibri" panose="020F0502020204030204"/>
            </a:endParaRPr>
          </a:p>
        </p:txBody>
      </p:sp>
      <p:sp>
        <p:nvSpPr>
          <p:cNvPr id="6" name="Text 4"/>
          <p:cNvSpPr/>
          <p:nvPr/>
        </p:nvSpPr>
        <p:spPr>
          <a:xfrm>
            <a:off x="914400" y="1889760"/>
            <a:ext cx="3108960" cy="2194560"/>
          </a:xfrm>
          <a:prstGeom prst="rect">
            <a:avLst/>
          </a:prstGeom>
          <a:noFill/>
          <a:ln/>
        </p:spPr>
        <p:txBody>
          <a:bodyPr wrap="square" lIns="0" tIns="0" rIns="0" bIns="0" rtlCol="0" anchor="ctr"/>
          <a:lstStyle/>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Rents adjust with inflation</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Property values appreciate</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Leverage amplifies returns</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Liquid (vs. direct property)</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Yield + appreciation combo</a:t>
            </a:r>
            <a:endParaRPr lang="en-US" sz="1467" dirty="0">
              <a:solidFill>
                <a:prstClr val="black"/>
              </a:solidFill>
              <a:latin typeface="Calibri" panose="020F0502020204030204"/>
            </a:endParaRPr>
          </a:p>
        </p:txBody>
      </p:sp>
      <p:sp>
        <p:nvSpPr>
          <p:cNvPr id="7" name="Shape 5"/>
          <p:cNvSpPr/>
          <p:nvPr/>
        </p:nvSpPr>
        <p:spPr>
          <a:xfrm>
            <a:off x="914400" y="4206240"/>
            <a:ext cx="3108960" cy="670560"/>
          </a:xfrm>
          <a:prstGeom prst="roundRect">
            <a:avLst>
              <a:gd name="adj" fmla="val 7273"/>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8" name="Text 6"/>
          <p:cNvSpPr/>
          <p:nvPr/>
        </p:nvSpPr>
        <p:spPr>
          <a:xfrm>
            <a:off x="1036320" y="4206240"/>
            <a:ext cx="2865120" cy="670560"/>
          </a:xfrm>
          <a:prstGeom prst="rect">
            <a:avLst/>
          </a:prstGeom>
          <a:noFill/>
          <a:ln/>
        </p:spPr>
        <p:txBody>
          <a:bodyPr wrap="square" lIns="0" tIns="0" rIns="0" bIns="0" rtlCol="0" anchor="ctr"/>
          <a:lstStyle/>
          <a:p>
            <a:pPr defTabSz="1219170"/>
            <a:r>
              <a:rPr lang="en-US" sz="1200" b="1" dirty="0">
                <a:solidFill>
                  <a:srgbClr val="FF4757"/>
                </a:solidFill>
                <a:latin typeface="Calibri" pitchFamily="34" charset="0"/>
                <a:ea typeface="Calibri" pitchFamily="34" charset="-122"/>
                <a:cs typeface="Calibri" pitchFamily="34" charset="-120"/>
              </a:rPr>
              <a:t>Risk: </a:t>
            </a:r>
            <a:r>
              <a:rPr lang="en-US" sz="1200" dirty="0">
                <a:solidFill>
                  <a:srgbClr val="5A6478"/>
                </a:solidFill>
                <a:latin typeface="Calibri" pitchFamily="34" charset="0"/>
                <a:ea typeface="Calibri" pitchFamily="34" charset="-122"/>
                <a:cs typeface="Calibri" pitchFamily="34" charset="-120"/>
              </a:rPr>
              <a:t>Rising rates can compress valuations short-term</a:t>
            </a:r>
            <a:endParaRPr lang="en-US" sz="1200" dirty="0">
              <a:solidFill>
                <a:prstClr val="black"/>
              </a:solidFill>
              <a:latin typeface="Calibri" panose="020F0502020204030204"/>
            </a:endParaRPr>
          </a:p>
        </p:txBody>
      </p:sp>
      <p:sp>
        <p:nvSpPr>
          <p:cNvPr id="9" name="Shape 7"/>
          <p:cNvSpPr/>
          <p:nvPr/>
        </p:nvSpPr>
        <p:spPr>
          <a:xfrm>
            <a:off x="914400" y="5059680"/>
            <a:ext cx="3108960" cy="487680"/>
          </a:xfrm>
          <a:prstGeom prst="roundRect">
            <a:avLst>
              <a:gd name="adj" fmla="val 12500"/>
            </a:avLst>
          </a:prstGeom>
          <a:solidFill>
            <a:srgbClr val="00D4AA">
              <a:alpha val="20000"/>
            </a:srgbClr>
          </a:solidFill>
          <a:ln/>
        </p:spPr>
        <p:txBody>
          <a:bodyPr/>
          <a:lstStyle/>
          <a:p>
            <a:pPr defTabSz="1219170"/>
            <a:endParaRPr lang="en-US" sz="2400">
              <a:solidFill>
                <a:prstClr val="black"/>
              </a:solidFill>
              <a:latin typeface="Calibri" panose="020F0502020204030204"/>
            </a:endParaRPr>
          </a:p>
        </p:txBody>
      </p:sp>
      <p:sp>
        <p:nvSpPr>
          <p:cNvPr id="10" name="Text 8"/>
          <p:cNvSpPr/>
          <p:nvPr/>
        </p:nvSpPr>
        <p:spPr>
          <a:xfrm>
            <a:off x="914400" y="5059680"/>
            <a:ext cx="3108960" cy="487680"/>
          </a:xfrm>
          <a:prstGeom prst="rect">
            <a:avLst/>
          </a:prstGeom>
          <a:noFill/>
          <a:ln/>
        </p:spPr>
        <p:txBody>
          <a:bodyPr wrap="square" lIns="0" tIns="0" rIns="0" bIns="0" rtlCol="0" anchor="ctr"/>
          <a:lstStyle/>
          <a:p>
            <a:pPr algn="ctr" defTabSz="1219170"/>
            <a:r>
              <a:rPr lang="en-US" sz="1333" dirty="0">
                <a:solidFill>
                  <a:srgbClr val="5A6478"/>
                </a:solidFill>
                <a:latin typeface="Calibri" pitchFamily="34" charset="0"/>
                <a:ea typeface="Calibri" pitchFamily="34" charset="-122"/>
                <a:cs typeface="Calibri" pitchFamily="34" charset="-120"/>
              </a:rPr>
              <a:t>Suggested: </a:t>
            </a:r>
            <a:r>
              <a:rPr lang="en-US" sz="1600" b="1" dirty="0">
                <a:solidFill>
                  <a:srgbClr val="00D4AA"/>
                </a:solidFill>
                <a:latin typeface="Arial Black" pitchFamily="34" charset="0"/>
                <a:ea typeface="Arial Black" pitchFamily="34" charset="-122"/>
                <a:cs typeface="Arial Black" pitchFamily="34" charset="-120"/>
              </a:rPr>
              <a:t>5-15%</a:t>
            </a:r>
            <a:endParaRPr lang="en-US" sz="1333" dirty="0">
              <a:solidFill>
                <a:prstClr val="black"/>
              </a:solidFill>
              <a:latin typeface="Calibri" panose="020F0502020204030204"/>
            </a:endParaRPr>
          </a:p>
        </p:txBody>
      </p:sp>
      <p:sp>
        <p:nvSpPr>
          <p:cNvPr id="11" name="Shape 9"/>
          <p:cNvSpPr/>
          <p:nvPr/>
        </p:nvSpPr>
        <p:spPr>
          <a:xfrm>
            <a:off x="4511040" y="1219200"/>
            <a:ext cx="3474720" cy="46329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4511040" y="1219200"/>
            <a:ext cx="3474720" cy="48768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13" name="Text 11"/>
          <p:cNvSpPr/>
          <p:nvPr/>
        </p:nvSpPr>
        <p:spPr>
          <a:xfrm>
            <a:off x="4693920" y="1219200"/>
            <a:ext cx="3108960" cy="487680"/>
          </a:xfrm>
          <a:prstGeom prst="rect">
            <a:avLst/>
          </a:prstGeom>
          <a:noFill/>
          <a:ln/>
        </p:spPr>
        <p:txBody>
          <a:bodyPr wrap="square" lIns="0" tIns="0" rIns="0" bIns="0" rtlCol="0" anchor="ctr"/>
          <a:lstStyle/>
          <a:p>
            <a:pPr defTabSz="1219170"/>
            <a:r>
              <a:rPr lang="en-US" sz="2000" b="1" dirty="0">
                <a:solidFill>
                  <a:srgbClr val="FFFFFF"/>
                </a:solidFill>
                <a:latin typeface="Arial Black" pitchFamily="34" charset="0"/>
                <a:ea typeface="Arial Black" pitchFamily="34" charset="-122"/>
                <a:cs typeface="Arial Black" pitchFamily="34" charset="-120"/>
              </a:rPr>
              <a:t>Direct Real Estate</a:t>
            </a:r>
            <a:endParaRPr lang="en-US" sz="2000" dirty="0">
              <a:solidFill>
                <a:prstClr val="black"/>
              </a:solidFill>
              <a:latin typeface="Calibri" panose="020F0502020204030204"/>
            </a:endParaRPr>
          </a:p>
        </p:txBody>
      </p:sp>
      <p:sp>
        <p:nvSpPr>
          <p:cNvPr id="14" name="Text 12"/>
          <p:cNvSpPr/>
          <p:nvPr/>
        </p:nvSpPr>
        <p:spPr>
          <a:xfrm>
            <a:off x="4693920" y="1889760"/>
            <a:ext cx="3108960" cy="2194560"/>
          </a:xfrm>
          <a:prstGeom prst="rect">
            <a:avLst/>
          </a:prstGeom>
          <a:noFill/>
          <a:ln/>
        </p:spPr>
        <p:txBody>
          <a:bodyPr wrap="square" lIns="0" tIns="0" rIns="0" bIns="0" rtlCol="0" anchor="ctr"/>
          <a:lstStyle/>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Lock in fixed-rate debt</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Inflation erodes real debt burden</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Rental income rises</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Tax advantages (depreciation)</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Illiquid but powerful hedge</a:t>
            </a:r>
            <a:endParaRPr lang="en-US" sz="1467" dirty="0">
              <a:solidFill>
                <a:prstClr val="black"/>
              </a:solidFill>
              <a:latin typeface="Calibri" panose="020F0502020204030204"/>
            </a:endParaRPr>
          </a:p>
        </p:txBody>
      </p:sp>
      <p:sp>
        <p:nvSpPr>
          <p:cNvPr id="15" name="Shape 13"/>
          <p:cNvSpPr/>
          <p:nvPr/>
        </p:nvSpPr>
        <p:spPr>
          <a:xfrm>
            <a:off x="4693920" y="4206240"/>
            <a:ext cx="3108960" cy="670560"/>
          </a:xfrm>
          <a:prstGeom prst="roundRect">
            <a:avLst>
              <a:gd name="adj" fmla="val 7273"/>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6" name="Text 14"/>
          <p:cNvSpPr/>
          <p:nvPr/>
        </p:nvSpPr>
        <p:spPr>
          <a:xfrm>
            <a:off x="4815840" y="4206240"/>
            <a:ext cx="2865120" cy="670560"/>
          </a:xfrm>
          <a:prstGeom prst="rect">
            <a:avLst/>
          </a:prstGeom>
          <a:noFill/>
          <a:ln/>
        </p:spPr>
        <p:txBody>
          <a:bodyPr wrap="square" lIns="0" tIns="0" rIns="0" bIns="0" rtlCol="0" anchor="ctr"/>
          <a:lstStyle/>
          <a:p>
            <a:pPr defTabSz="1219170"/>
            <a:r>
              <a:rPr lang="en-US" sz="1200" b="1" dirty="0">
                <a:solidFill>
                  <a:srgbClr val="FF4757"/>
                </a:solidFill>
                <a:latin typeface="Calibri" pitchFamily="34" charset="0"/>
                <a:ea typeface="Calibri" pitchFamily="34" charset="-122"/>
                <a:cs typeface="Calibri" pitchFamily="34" charset="-120"/>
              </a:rPr>
              <a:t>Risk: </a:t>
            </a:r>
            <a:r>
              <a:rPr lang="en-US" sz="1200" dirty="0">
                <a:solidFill>
                  <a:srgbClr val="5A6478"/>
                </a:solidFill>
                <a:latin typeface="Calibri" pitchFamily="34" charset="0"/>
                <a:ea typeface="Calibri" pitchFamily="34" charset="-122"/>
                <a:cs typeface="Calibri" pitchFamily="34" charset="-120"/>
              </a:rPr>
              <a:t>Concentration, illiquidity, management burden</a:t>
            </a:r>
            <a:endParaRPr lang="en-US" sz="1200" dirty="0">
              <a:solidFill>
                <a:prstClr val="black"/>
              </a:solidFill>
              <a:latin typeface="Calibri" panose="020F0502020204030204"/>
            </a:endParaRPr>
          </a:p>
        </p:txBody>
      </p:sp>
      <p:sp>
        <p:nvSpPr>
          <p:cNvPr id="17" name="Shape 15"/>
          <p:cNvSpPr/>
          <p:nvPr/>
        </p:nvSpPr>
        <p:spPr>
          <a:xfrm>
            <a:off x="4693920" y="5059680"/>
            <a:ext cx="3108960" cy="487680"/>
          </a:xfrm>
          <a:prstGeom prst="roundRect">
            <a:avLst>
              <a:gd name="adj" fmla="val 12500"/>
            </a:avLst>
          </a:prstGeom>
          <a:solidFill>
            <a:srgbClr val="FF8C42">
              <a:alpha val="20000"/>
            </a:srgbClr>
          </a:solidFill>
          <a:ln/>
        </p:spPr>
        <p:txBody>
          <a:bodyPr/>
          <a:lstStyle/>
          <a:p>
            <a:pPr defTabSz="1219170"/>
            <a:endParaRPr lang="en-US" sz="2400">
              <a:solidFill>
                <a:prstClr val="black"/>
              </a:solidFill>
              <a:latin typeface="Calibri" panose="020F0502020204030204"/>
            </a:endParaRPr>
          </a:p>
        </p:txBody>
      </p:sp>
      <p:sp>
        <p:nvSpPr>
          <p:cNvPr id="18" name="Text 16"/>
          <p:cNvSpPr/>
          <p:nvPr/>
        </p:nvSpPr>
        <p:spPr>
          <a:xfrm>
            <a:off x="4693920" y="5059680"/>
            <a:ext cx="3108960" cy="487680"/>
          </a:xfrm>
          <a:prstGeom prst="rect">
            <a:avLst/>
          </a:prstGeom>
          <a:noFill/>
          <a:ln/>
        </p:spPr>
        <p:txBody>
          <a:bodyPr wrap="square" lIns="0" tIns="0" rIns="0" bIns="0" rtlCol="0" anchor="ctr"/>
          <a:lstStyle/>
          <a:p>
            <a:pPr algn="ctr" defTabSz="1219170"/>
            <a:r>
              <a:rPr lang="en-US" sz="1333" dirty="0">
                <a:solidFill>
                  <a:srgbClr val="5A6478"/>
                </a:solidFill>
                <a:latin typeface="Calibri" pitchFamily="34" charset="0"/>
                <a:ea typeface="Calibri" pitchFamily="34" charset="-122"/>
                <a:cs typeface="Calibri" pitchFamily="34" charset="-120"/>
              </a:rPr>
              <a:t>Suggested: </a:t>
            </a:r>
            <a:r>
              <a:rPr lang="en-US" sz="1600" b="1" dirty="0">
                <a:solidFill>
                  <a:srgbClr val="FF8C42"/>
                </a:solidFill>
                <a:latin typeface="Arial Black" pitchFamily="34" charset="0"/>
                <a:ea typeface="Arial Black" pitchFamily="34" charset="-122"/>
                <a:cs typeface="Arial Black" pitchFamily="34" charset="-120"/>
              </a:rPr>
              <a:t>10-25%</a:t>
            </a:r>
            <a:endParaRPr lang="en-US" sz="1333" dirty="0">
              <a:solidFill>
                <a:prstClr val="black"/>
              </a:solidFill>
              <a:latin typeface="Calibri" panose="020F0502020204030204"/>
            </a:endParaRPr>
          </a:p>
        </p:txBody>
      </p:sp>
      <p:sp>
        <p:nvSpPr>
          <p:cNvPr id="19" name="Shape 17"/>
          <p:cNvSpPr/>
          <p:nvPr/>
        </p:nvSpPr>
        <p:spPr>
          <a:xfrm>
            <a:off x="8290560" y="1219200"/>
            <a:ext cx="3474720" cy="46329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8290560" y="1219200"/>
            <a:ext cx="3474720" cy="48768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sp>
        <p:nvSpPr>
          <p:cNvPr id="21" name="Text 19"/>
          <p:cNvSpPr/>
          <p:nvPr/>
        </p:nvSpPr>
        <p:spPr>
          <a:xfrm>
            <a:off x="8473440" y="1219200"/>
            <a:ext cx="3108960" cy="487680"/>
          </a:xfrm>
          <a:prstGeom prst="rect">
            <a:avLst/>
          </a:prstGeom>
          <a:noFill/>
          <a:ln/>
        </p:spPr>
        <p:txBody>
          <a:bodyPr wrap="square" lIns="0" tIns="0" rIns="0" bIns="0" rtlCol="0" anchor="ctr"/>
          <a:lstStyle/>
          <a:p>
            <a:pPr defTabSz="1219170"/>
            <a:r>
              <a:rPr lang="en-US" sz="2000" b="1" dirty="0">
                <a:solidFill>
                  <a:srgbClr val="FFFFFF"/>
                </a:solidFill>
                <a:latin typeface="Arial Black" pitchFamily="34" charset="0"/>
                <a:ea typeface="Arial Black" pitchFamily="34" charset="-122"/>
                <a:cs typeface="Arial Black" pitchFamily="34" charset="-120"/>
              </a:rPr>
              <a:t>Infrastructure</a:t>
            </a:r>
            <a:endParaRPr lang="en-US" sz="2000" dirty="0">
              <a:solidFill>
                <a:prstClr val="black"/>
              </a:solidFill>
              <a:latin typeface="Calibri" panose="020F0502020204030204"/>
            </a:endParaRPr>
          </a:p>
        </p:txBody>
      </p:sp>
      <p:sp>
        <p:nvSpPr>
          <p:cNvPr id="22" name="Text 20"/>
          <p:cNvSpPr/>
          <p:nvPr/>
        </p:nvSpPr>
        <p:spPr>
          <a:xfrm>
            <a:off x="8473440" y="1889760"/>
            <a:ext cx="3108960" cy="2194560"/>
          </a:xfrm>
          <a:prstGeom prst="rect">
            <a:avLst/>
          </a:prstGeom>
          <a:noFill/>
          <a:ln/>
        </p:spPr>
        <p:txBody>
          <a:bodyPr wrap="square" lIns="0" tIns="0" rIns="0" bIns="0" rtlCol="0" anchor="ctr"/>
          <a:lstStyle/>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Toll roads, utilities, pipelines</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Revenue often inflation-linked</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Regulated return mechanisms</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Essential services = resilient</a:t>
            </a:r>
            <a:endParaRPr lang="en-US" sz="1467" dirty="0">
              <a:solidFill>
                <a:prstClr val="black"/>
              </a:solidFill>
              <a:latin typeface="Calibri" panose="020F0502020204030204"/>
            </a:endParaRPr>
          </a:p>
          <a:p>
            <a:pPr marL="457189" indent="-457189" defTabSz="1219170">
              <a:buSzPct val="100000"/>
              <a:buFontTx/>
              <a:buChar char="•"/>
            </a:pPr>
            <a:r>
              <a:rPr lang="en-US" sz="1467" dirty="0">
                <a:solidFill>
                  <a:srgbClr val="E8ECF1"/>
                </a:solidFill>
                <a:latin typeface="Calibri" pitchFamily="34" charset="0"/>
                <a:ea typeface="Calibri" pitchFamily="34" charset="-122"/>
                <a:cs typeface="Calibri" pitchFamily="34" charset="-120"/>
              </a:rPr>
              <a:t>Growing via infrastructure funds</a:t>
            </a:r>
            <a:endParaRPr lang="en-US" sz="1467" dirty="0">
              <a:solidFill>
                <a:prstClr val="black"/>
              </a:solidFill>
              <a:latin typeface="Calibri" panose="020F0502020204030204"/>
            </a:endParaRPr>
          </a:p>
        </p:txBody>
      </p:sp>
      <p:sp>
        <p:nvSpPr>
          <p:cNvPr id="23" name="Shape 21"/>
          <p:cNvSpPr/>
          <p:nvPr/>
        </p:nvSpPr>
        <p:spPr>
          <a:xfrm>
            <a:off x="8473440" y="4206240"/>
            <a:ext cx="3108960" cy="670560"/>
          </a:xfrm>
          <a:prstGeom prst="roundRect">
            <a:avLst>
              <a:gd name="adj" fmla="val 7273"/>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4" name="Text 22"/>
          <p:cNvSpPr/>
          <p:nvPr/>
        </p:nvSpPr>
        <p:spPr>
          <a:xfrm>
            <a:off x="8595360" y="4206240"/>
            <a:ext cx="2865120" cy="670560"/>
          </a:xfrm>
          <a:prstGeom prst="rect">
            <a:avLst/>
          </a:prstGeom>
          <a:noFill/>
          <a:ln/>
        </p:spPr>
        <p:txBody>
          <a:bodyPr wrap="square" lIns="0" tIns="0" rIns="0" bIns="0" rtlCol="0" anchor="ctr"/>
          <a:lstStyle/>
          <a:p>
            <a:pPr defTabSz="1219170"/>
            <a:r>
              <a:rPr lang="en-US" sz="1200" b="1" dirty="0">
                <a:solidFill>
                  <a:srgbClr val="FF4757"/>
                </a:solidFill>
                <a:latin typeface="Calibri" pitchFamily="34" charset="0"/>
                <a:ea typeface="Calibri" pitchFamily="34" charset="-122"/>
                <a:cs typeface="Calibri" pitchFamily="34" charset="-120"/>
              </a:rPr>
              <a:t>Risk: </a:t>
            </a:r>
            <a:r>
              <a:rPr lang="en-US" sz="1200" dirty="0">
                <a:solidFill>
                  <a:srgbClr val="5A6478"/>
                </a:solidFill>
                <a:latin typeface="Calibri" pitchFamily="34" charset="0"/>
                <a:ea typeface="Calibri" pitchFamily="34" charset="-122"/>
                <a:cs typeface="Calibri" pitchFamily="34" charset="-120"/>
              </a:rPr>
              <a:t>Regulatory risk, long duration</a:t>
            </a:r>
            <a:endParaRPr lang="en-US" sz="1200" dirty="0">
              <a:solidFill>
                <a:prstClr val="black"/>
              </a:solidFill>
              <a:latin typeface="Calibri" panose="020F0502020204030204"/>
            </a:endParaRPr>
          </a:p>
        </p:txBody>
      </p:sp>
      <p:sp>
        <p:nvSpPr>
          <p:cNvPr id="25" name="Shape 23"/>
          <p:cNvSpPr/>
          <p:nvPr/>
        </p:nvSpPr>
        <p:spPr>
          <a:xfrm>
            <a:off x="8473440" y="5059680"/>
            <a:ext cx="3108960" cy="487680"/>
          </a:xfrm>
          <a:prstGeom prst="roundRect">
            <a:avLst>
              <a:gd name="adj" fmla="val 12500"/>
            </a:avLst>
          </a:prstGeom>
          <a:solidFill>
            <a:srgbClr val="FFD700">
              <a:alpha val="20000"/>
            </a:srgbClr>
          </a:solidFill>
          <a:ln/>
        </p:spPr>
        <p:txBody>
          <a:bodyPr/>
          <a:lstStyle/>
          <a:p>
            <a:pPr defTabSz="1219170"/>
            <a:endParaRPr lang="en-US" sz="2400">
              <a:solidFill>
                <a:prstClr val="black"/>
              </a:solidFill>
              <a:latin typeface="Calibri" panose="020F0502020204030204"/>
            </a:endParaRPr>
          </a:p>
        </p:txBody>
      </p:sp>
      <p:sp>
        <p:nvSpPr>
          <p:cNvPr id="26" name="Text 24"/>
          <p:cNvSpPr/>
          <p:nvPr/>
        </p:nvSpPr>
        <p:spPr>
          <a:xfrm>
            <a:off x="8473440" y="5059680"/>
            <a:ext cx="3108960" cy="487680"/>
          </a:xfrm>
          <a:prstGeom prst="rect">
            <a:avLst/>
          </a:prstGeom>
          <a:noFill/>
          <a:ln/>
        </p:spPr>
        <p:txBody>
          <a:bodyPr wrap="square" lIns="0" tIns="0" rIns="0" bIns="0" rtlCol="0" anchor="ctr"/>
          <a:lstStyle/>
          <a:p>
            <a:pPr algn="ctr" defTabSz="1219170"/>
            <a:r>
              <a:rPr lang="en-US" sz="1333" dirty="0">
                <a:solidFill>
                  <a:srgbClr val="5A6478"/>
                </a:solidFill>
                <a:latin typeface="Calibri" pitchFamily="34" charset="0"/>
                <a:ea typeface="Calibri" pitchFamily="34" charset="-122"/>
                <a:cs typeface="Calibri" pitchFamily="34" charset="-120"/>
              </a:rPr>
              <a:t>Suggested: </a:t>
            </a:r>
            <a:r>
              <a:rPr lang="en-US" sz="1600" b="1" dirty="0">
                <a:solidFill>
                  <a:srgbClr val="FFD700"/>
                </a:solidFill>
                <a:latin typeface="Arial Black" pitchFamily="34" charset="0"/>
                <a:ea typeface="Arial Black" pitchFamily="34" charset="-122"/>
                <a:cs typeface="Arial Black" pitchFamily="34" charset="-120"/>
              </a:rPr>
              <a:t>3-7%</a:t>
            </a:r>
            <a:endParaRPr lang="en-US" sz="1333" dirty="0">
              <a:solidFill>
                <a:prstClr val="black"/>
              </a:solidFill>
              <a:latin typeface="Calibri" panose="020F0502020204030204"/>
            </a:endParaRPr>
          </a:p>
        </p:txBody>
      </p:sp>
      <p:sp>
        <p:nvSpPr>
          <p:cNvPr id="27" name="Shape 25"/>
          <p:cNvSpPr/>
          <p:nvPr/>
        </p:nvSpPr>
        <p:spPr>
          <a:xfrm>
            <a:off x="731520" y="6096000"/>
            <a:ext cx="10728960" cy="54864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731520" y="6096000"/>
            <a:ext cx="73152" cy="54864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29" name="Text 27"/>
          <p:cNvSpPr/>
          <p:nvPr/>
        </p:nvSpPr>
        <p:spPr>
          <a:xfrm>
            <a:off x="1036320" y="6096000"/>
            <a:ext cx="10119360" cy="548640"/>
          </a:xfrm>
          <a:prstGeom prst="rect">
            <a:avLst/>
          </a:prstGeom>
          <a:noFill/>
          <a:ln/>
        </p:spPr>
        <p:txBody>
          <a:bodyPr wrap="square" lIns="0" tIns="0" rIns="0" bIns="0" rtlCol="0" anchor="ctr"/>
          <a:lstStyle/>
          <a:p>
            <a:pPr defTabSz="1219170"/>
            <a:r>
              <a:rPr lang="en-US" sz="1600" b="1" dirty="0">
                <a:solidFill>
                  <a:srgbClr val="00D4AA"/>
                </a:solidFill>
                <a:latin typeface="Calibri" pitchFamily="34" charset="0"/>
                <a:ea typeface="Calibri" pitchFamily="34" charset="-122"/>
                <a:cs typeface="Calibri" pitchFamily="34" charset="-120"/>
              </a:rPr>
              <a:t>KEY INSIGHT:  </a:t>
            </a:r>
            <a:r>
              <a:rPr lang="en-US" sz="1600" dirty="0">
                <a:solidFill>
                  <a:srgbClr val="E8ECF1"/>
                </a:solidFill>
                <a:latin typeface="Calibri" pitchFamily="34" charset="0"/>
                <a:ea typeface="Calibri" pitchFamily="34" charset="-122"/>
                <a:cs typeface="Calibri" pitchFamily="34" charset="-120"/>
              </a:rPr>
              <a:t>Real assets with fixed-rate debt are a double hedge — inflation boosts asset value while eroding the real cost of debt.</a:t>
            </a:r>
            <a:endParaRPr lang="en-US" sz="1600" dirty="0">
              <a:solidFill>
                <a:prstClr val="black"/>
              </a:solidFill>
              <a:latin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STRATEGY 4: GOLD</a:t>
            </a:r>
            <a:endParaRPr lang="en-US" sz="2933" dirty="0">
              <a:solidFill>
                <a:prstClr val="black"/>
              </a:solidFill>
              <a:latin typeface="Calibri" panose="020F0502020204030204"/>
            </a:endParaRPr>
          </a:p>
        </p:txBody>
      </p:sp>
      <p:sp>
        <p:nvSpPr>
          <p:cNvPr id="3" name="Shape 1"/>
          <p:cNvSpPr/>
          <p:nvPr/>
        </p:nvSpPr>
        <p:spPr>
          <a:xfrm>
            <a:off x="731520" y="1219200"/>
            <a:ext cx="5486400" cy="26822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219200"/>
            <a:ext cx="5486400" cy="48768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pic>
        <p:nvPicPr>
          <p:cNvPr id="5" name="Image 0" descr="preencoded.png"/>
          <p:cNvPicPr>
            <a:picLocks noChangeAspect="1"/>
          </p:cNvPicPr>
          <p:nvPr/>
        </p:nvPicPr>
        <p:blipFill>
          <a:blip r:embed="rId3"/>
          <a:stretch>
            <a:fillRect/>
          </a:stretch>
        </p:blipFill>
        <p:spPr>
          <a:xfrm>
            <a:off x="975360" y="1280160"/>
            <a:ext cx="341376" cy="341376"/>
          </a:xfrm>
          <a:prstGeom prst="rect">
            <a:avLst/>
          </a:prstGeom>
        </p:spPr>
      </p:pic>
      <p:sp>
        <p:nvSpPr>
          <p:cNvPr id="6" name="Text 3"/>
          <p:cNvSpPr/>
          <p:nvPr/>
        </p:nvSpPr>
        <p:spPr>
          <a:xfrm>
            <a:off x="1402080" y="1219200"/>
            <a:ext cx="4511040" cy="487680"/>
          </a:xfrm>
          <a:prstGeom prst="rect">
            <a:avLst/>
          </a:prstGeom>
          <a:noFill/>
          <a:ln/>
        </p:spPr>
        <p:txBody>
          <a:bodyPr wrap="square" lIns="0" tIns="0" rIns="0" bIns="0" rtlCol="0" anchor="ctr"/>
          <a:lstStyle/>
          <a:p>
            <a:pPr defTabSz="1219170"/>
            <a:r>
              <a:rPr lang="en-US" sz="1733" b="1" dirty="0">
                <a:solidFill>
                  <a:srgbClr val="0B0E17"/>
                </a:solidFill>
                <a:latin typeface="Arial Black" pitchFamily="34" charset="0"/>
                <a:ea typeface="Arial Black" pitchFamily="34" charset="-122"/>
                <a:cs typeface="Arial Black" pitchFamily="34" charset="-120"/>
              </a:rPr>
              <a:t>THE CASE FOR GOLD</a:t>
            </a:r>
            <a:endParaRPr lang="en-US" sz="1733" dirty="0">
              <a:solidFill>
                <a:prstClr val="black"/>
              </a:solidFill>
              <a:latin typeface="Calibri" panose="020F0502020204030204"/>
            </a:endParaRPr>
          </a:p>
        </p:txBody>
      </p:sp>
      <p:sp>
        <p:nvSpPr>
          <p:cNvPr id="7" name="Text 4"/>
          <p:cNvSpPr/>
          <p:nvPr/>
        </p:nvSpPr>
        <p:spPr>
          <a:xfrm>
            <a:off x="975360" y="1828800"/>
            <a:ext cx="4998720" cy="1950720"/>
          </a:xfrm>
          <a:prstGeom prst="rect">
            <a:avLst/>
          </a:prstGeom>
          <a:noFill/>
          <a:ln/>
        </p:spPr>
        <p:txBody>
          <a:bodyPr wrap="square" lIns="0" tIns="0" rIns="0" bIns="0" rtlCol="0" anchor="ctr"/>
          <a:lstStyle/>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Central banks bought 3,220t in 2022-24 vs ~473t/yr in 2010-21</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Negatively correlated to real rates — when real rates fall, gold rises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Inverse relationship with the dollar — dollar weakness = gold strength</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Crisis hedge — performs during systemic stress when correlations spike</a:t>
            </a:r>
            <a:endParaRPr lang="en-US" sz="1600" dirty="0">
              <a:solidFill>
                <a:prstClr val="black"/>
              </a:solidFill>
              <a:latin typeface="Calibri" panose="020F0502020204030204"/>
            </a:endParaRPr>
          </a:p>
        </p:txBody>
      </p:sp>
      <p:sp>
        <p:nvSpPr>
          <p:cNvPr id="8" name="Shape 5"/>
          <p:cNvSpPr/>
          <p:nvPr/>
        </p:nvSpPr>
        <p:spPr>
          <a:xfrm>
            <a:off x="6583680" y="1219200"/>
            <a:ext cx="5120640" cy="268224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9" name="Shape 6"/>
          <p:cNvSpPr/>
          <p:nvPr/>
        </p:nvSpPr>
        <p:spPr>
          <a:xfrm>
            <a:off x="6583680" y="1219200"/>
            <a:ext cx="5120640" cy="48768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sp>
        <p:nvSpPr>
          <p:cNvPr id="10" name="Text 7"/>
          <p:cNvSpPr/>
          <p:nvPr/>
        </p:nvSpPr>
        <p:spPr>
          <a:xfrm>
            <a:off x="6827520" y="1219200"/>
            <a:ext cx="4632960" cy="487680"/>
          </a:xfrm>
          <a:prstGeom prst="rect">
            <a:avLst/>
          </a:prstGeom>
          <a:noFill/>
          <a:ln/>
        </p:spPr>
        <p:txBody>
          <a:bodyPr wrap="square" lIns="0" tIns="0" rIns="0" bIns="0" rtlCol="0" anchor="ctr"/>
          <a:lstStyle/>
          <a:p>
            <a:pPr defTabSz="1219170"/>
            <a:r>
              <a:rPr lang="en-US" sz="1733" b="1" dirty="0">
                <a:solidFill>
                  <a:srgbClr val="0B0E17"/>
                </a:solidFill>
                <a:latin typeface="Arial Black" pitchFamily="34" charset="0"/>
                <a:ea typeface="Arial Black" pitchFamily="34" charset="-122"/>
                <a:cs typeface="Arial Black" pitchFamily="34" charset="-120"/>
              </a:rPr>
              <a:t>ALLOCATION GUIDE</a:t>
            </a:r>
            <a:endParaRPr lang="en-US" sz="1733" dirty="0">
              <a:solidFill>
                <a:prstClr val="black"/>
              </a:solidFill>
              <a:latin typeface="Calibri" panose="020F0502020204030204"/>
            </a:endParaRPr>
          </a:p>
        </p:txBody>
      </p:sp>
      <p:sp>
        <p:nvSpPr>
          <p:cNvPr id="11" name="Text 8"/>
          <p:cNvSpPr/>
          <p:nvPr/>
        </p:nvSpPr>
        <p:spPr>
          <a:xfrm>
            <a:off x="6827520" y="1889760"/>
            <a:ext cx="2926080" cy="42672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Low inflation (&lt;2%)</a:t>
            </a:r>
            <a:endParaRPr lang="en-US" sz="1600" dirty="0">
              <a:solidFill>
                <a:prstClr val="black"/>
              </a:solidFill>
              <a:latin typeface="Calibri" panose="020F0502020204030204"/>
            </a:endParaRPr>
          </a:p>
        </p:txBody>
      </p:sp>
      <p:sp>
        <p:nvSpPr>
          <p:cNvPr id="12" name="Shape 9"/>
          <p:cNvSpPr/>
          <p:nvPr/>
        </p:nvSpPr>
        <p:spPr>
          <a:xfrm>
            <a:off x="9875520" y="1926336"/>
            <a:ext cx="1463040" cy="365760"/>
          </a:xfrm>
          <a:prstGeom prst="roundRect">
            <a:avLst>
              <a:gd name="adj" fmla="val 13333"/>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3" name="Text 10"/>
          <p:cNvSpPr/>
          <p:nvPr/>
        </p:nvSpPr>
        <p:spPr>
          <a:xfrm>
            <a:off x="9875520" y="1926336"/>
            <a:ext cx="1463040" cy="365760"/>
          </a:xfrm>
          <a:prstGeom prst="rect">
            <a:avLst/>
          </a:prstGeom>
          <a:noFill/>
          <a:ln/>
        </p:spPr>
        <p:txBody>
          <a:bodyPr wrap="square" lIns="0" tIns="0" rIns="0" bIns="0" rtlCol="0" anchor="ctr"/>
          <a:lstStyle/>
          <a:p>
            <a:pPr algn="ctr" defTabSz="1219170"/>
            <a:r>
              <a:rPr lang="en-US" sz="1600" b="1" dirty="0">
                <a:solidFill>
                  <a:srgbClr val="2ED573"/>
                </a:solidFill>
                <a:latin typeface="Arial Black" pitchFamily="34" charset="0"/>
                <a:ea typeface="Arial Black" pitchFamily="34" charset="-122"/>
                <a:cs typeface="Arial Black" pitchFamily="34" charset="-120"/>
              </a:rPr>
              <a:t>3-5%</a:t>
            </a:r>
            <a:endParaRPr lang="en-US" sz="1600" dirty="0">
              <a:solidFill>
                <a:prstClr val="black"/>
              </a:solidFill>
              <a:latin typeface="Calibri" panose="020F0502020204030204"/>
            </a:endParaRPr>
          </a:p>
        </p:txBody>
      </p:sp>
      <p:sp>
        <p:nvSpPr>
          <p:cNvPr id="14" name="Text 11"/>
          <p:cNvSpPr/>
          <p:nvPr/>
        </p:nvSpPr>
        <p:spPr>
          <a:xfrm>
            <a:off x="6827520" y="2560320"/>
            <a:ext cx="2926080" cy="42672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Moderate inflation (2-5%)</a:t>
            </a:r>
            <a:endParaRPr lang="en-US" sz="1600" dirty="0">
              <a:solidFill>
                <a:prstClr val="black"/>
              </a:solidFill>
              <a:latin typeface="Calibri" panose="020F0502020204030204"/>
            </a:endParaRPr>
          </a:p>
        </p:txBody>
      </p:sp>
      <p:sp>
        <p:nvSpPr>
          <p:cNvPr id="15" name="Shape 12"/>
          <p:cNvSpPr/>
          <p:nvPr/>
        </p:nvSpPr>
        <p:spPr>
          <a:xfrm>
            <a:off x="9875520" y="2596896"/>
            <a:ext cx="1463040" cy="365760"/>
          </a:xfrm>
          <a:prstGeom prst="roundRect">
            <a:avLst>
              <a:gd name="adj" fmla="val 13333"/>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6" name="Text 13"/>
          <p:cNvSpPr/>
          <p:nvPr/>
        </p:nvSpPr>
        <p:spPr>
          <a:xfrm>
            <a:off x="9875520" y="2596896"/>
            <a:ext cx="1463040" cy="365760"/>
          </a:xfrm>
          <a:prstGeom prst="rect">
            <a:avLst/>
          </a:prstGeom>
          <a:noFill/>
          <a:ln/>
        </p:spPr>
        <p:txBody>
          <a:bodyPr wrap="square" lIns="0" tIns="0" rIns="0" bIns="0" rtlCol="0" anchor="ctr"/>
          <a:lstStyle/>
          <a:p>
            <a:pPr algn="ctr" defTabSz="1219170"/>
            <a:r>
              <a:rPr lang="en-US" sz="1600" b="1" dirty="0">
                <a:solidFill>
                  <a:srgbClr val="FF8C42"/>
                </a:solidFill>
                <a:latin typeface="Arial Black" pitchFamily="34" charset="0"/>
                <a:ea typeface="Arial Black" pitchFamily="34" charset="-122"/>
                <a:cs typeface="Arial Black" pitchFamily="34" charset="-120"/>
              </a:rPr>
              <a:t>5-10%</a:t>
            </a:r>
            <a:endParaRPr lang="en-US" sz="1600" dirty="0">
              <a:solidFill>
                <a:prstClr val="black"/>
              </a:solidFill>
              <a:latin typeface="Calibri" panose="020F0502020204030204"/>
            </a:endParaRPr>
          </a:p>
        </p:txBody>
      </p:sp>
      <p:sp>
        <p:nvSpPr>
          <p:cNvPr id="17" name="Text 14"/>
          <p:cNvSpPr/>
          <p:nvPr/>
        </p:nvSpPr>
        <p:spPr>
          <a:xfrm>
            <a:off x="6827520" y="3230880"/>
            <a:ext cx="2926080" cy="426720"/>
          </a:xfrm>
          <a:prstGeom prst="rect">
            <a:avLst/>
          </a:prstGeom>
          <a:noFill/>
          <a:ln/>
        </p:spPr>
        <p:txBody>
          <a:bodyPr wrap="square" lIns="0" tIns="0" rIns="0" bIns="0" rtlCol="0" anchor="ctr"/>
          <a:lstStyle/>
          <a:p>
            <a:pPr defTabSz="1219170"/>
            <a:r>
              <a:rPr lang="en-US" sz="1600" dirty="0">
                <a:solidFill>
                  <a:srgbClr val="E8ECF1"/>
                </a:solidFill>
                <a:latin typeface="Calibri" pitchFamily="34" charset="0"/>
                <a:ea typeface="Calibri" pitchFamily="34" charset="-122"/>
                <a:cs typeface="Calibri" pitchFamily="34" charset="-120"/>
              </a:rPr>
              <a:t>High inflation (&gt;5%)</a:t>
            </a:r>
            <a:endParaRPr lang="en-US" sz="1600" dirty="0">
              <a:solidFill>
                <a:prstClr val="black"/>
              </a:solidFill>
              <a:latin typeface="Calibri" panose="020F0502020204030204"/>
            </a:endParaRPr>
          </a:p>
        </p:txBody>
      </p:sp>
      <p:sp>
        <p:nvSpPr>
          <p:cNvPr id="18" name="Shape 15"/>
          <p:cNvSpPr/>
          <p:nvPr/>
        </p:nvSpPr>
        <p:spPr>
          <a:xfrm>
            <a:off x="9875520" y="3267456"/>
            <a:ext cx="1463040" cy="365760"/>
          </a:xfrm>
          <a:prstGeom prst="roundRect">
            <a:avLst>
              <a:gd name="adj" fmla="val 13333"/>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9" name="Text 16"/>
          <p:cNvSpPr/>
          <p:nvPr/>
        </p:nvSpPr>
        <p:spPr>
          <a:xfrm>
            <a:off x="9875520" y="3267456"/>
            <a:ext cx="1463040" cy="365760"/>
          </a:xfrm>
          <a:prstGeom prst="rect">
            <a:avLst/>
          </a:prstGeom>
          <a:noFill/>
          <a:ln/>
        </p:spPr>
        <p:txBody>
          <a:bodyPr wrap="square" lIns="0" tIns="0" rIns="0" bIns="0" rtlCol="0" anchor="ctr"/>
          <a:lstStyle/>
          <a:p>
            <a:pPr algn="ctr" defTabSz="1219170"/>
            <a:r>
              <a:rPr lang="en-US" sz="1600" b="1" dirty="0">
                <a:solidFill>
                  <a:srgbClr val="FF4757"/>
                </a:solidFill>
                <a:latin typeface="Arial Black" pitchFamily="34" charset="0"/>
                <a:ea typeface="Arial Black" pitchFamily="34" charset="-122"/>
                <a:cs typeface="Arial Black" pitchFamily="34" charset="-120"/>
              </a:rPr>
              <a:t>10-15%</a:t>
            </a:r>
            <a:endParaRPr lang="en-US" sz="1600" dirty="0">
              <a:solidFill>
                <a:prstClr val="black"/>
              </a:solidFill>
              <a:latin typeface="Calibri" panose="020F0502020204030204"/>
            </a:endParaRPr>
          </a:p>
        </p:txBody>
      </p:sp>
      <p:sp>
        <p:nvSpPr>
          <p:cNvPr id="20" name="Text 17"/>
          <p:cNvSpPr/>
          <p:nvPr/>
        </p:nvSpPr>
        <p:spPr>
          <a:xfrm>
            <a:off x="6827520" y="3718560"/>
            <a:ext cx="4632960" cy="304800"/>
          </a:xfrm>
          <a:prstGeom prst="rect">
            <a:avLst/>
          </a:prstGeom>
          <a:noFill/>
          <a:ln/>
        </p:spPr>
        <p:txBody>
          <a:bodyPr wrap="square" lIns="0" tIns="0" rIns="0" bIns="0" rtlCol="0" anchor="ctr"/>
          <a:lstStyle/>
          <a:p>
            <a:pPr defTabSz="1219170"/>
            <a:r>
              <a:rPr lang="en-US" sz="1333" i="1" dirty="0">
                <a:solidFill>
                  <a:srgbClr val="5A6478"/>
                </a:solidFill>
                <a:latin typeface="Calibri" pitchFamily="34" charset="0"/>
                <a:ea typeface="Calibri" pitchFamily="34" charset="-122"/>
                <a:cs typeface="Calibri" pitchFamily="34" charset="-120"/>
              </a:rPr>
              <a:t>Prefer physical ETFs (GLD, IAU) over futures-based funds for tax efficiency.</a:t>
            </a:r>
            <a:endParaRPr lang="en-US" sz="1333" dirty="0">
              <a:solidFill>
                <a:prstClr val="black"/>
              </a:solidFill>
              <a:latin typeface="Calibri" panose="020F0502020204030204"/>
            </a:endParaRPr>
          </a:p>
        </p:txBody>
      </p:sp>
      <p:sp>
        <p:nvSpPr>
          <p:cNvPr id="21" name="Shape 18"/>
          <p:cNvSpPr/>
          <p:nvPr/>
        </p:nvSpPr>
        <p:spPr>
          <a:xfrm>
            <a:off x="731520" y="4267200"/>
            <a:ext cx="10728960" cy="195072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22" name="Shape 19"/>
          <p:cNvSpPr/>
          <p:nvPr/>
        </p:nvSpPr>
        <p:spPr>
          <a:xfrm>
            <a:off x="731520" y="4267200"/>
            <a:ext cx="73152" cy="1950720"/>
          </a:xfrm>
          <a:prstGeom prst="rect">
            <a:avLst/>
          </a:prstGeom>
          <a:solidFill>
            <a:srgbClr val="FFD700"/>
          </a:solidFill>
          <a:ln/>
        </p:spPr>
        <p:txBody>
          <a:bodyPr/>
          <a:lstStyle/>
          <a:p>
            <a:pPr defTabSz="1219170"/>
            <a:endParaRPr lang="en-US" sz="2400">
              <a:solidFill>
                <a:prstClr val="black"/>
              </a:solidFill>
              <a:latin typeface="Calibri" panose="020F0502020204030204"/>
            </a:endParaRPr>
          </a:p>
        </p:txBody>
      </p:sp>
      <p:sp>
        <p:nvSpPr>
          <p:cNvPr id="23" name="Text 20"/>
          <p:cNvSpPr/>
          <p:nvPr/>
        </p:nvSpPr>
        <p:spPr>
          <a:xfrm>
            <a:off x="1097280" y="4328160"/>
            <a:ext cx="9997440" cy="365760"/>
          </a:xfrm>
          <a:prstGeom prst="rect">
            <a:avLst/>
          </a:prstGeom>
          <a:noFill/>
          <a:ln/>
        </p:spPr>
        <p:txBody>
          <a:bodyPr wrap="square" lIns="0" tIns="0" rIns="0" bIns="0" rtlCol="0" anchor="ctr"/>
          <a:lstStyle/>
          <a:p>
            <a:pPr defTabSz="1219170"/>
            <a:r>
              <a:rPr lang="en-US" sz="1733" b="1" dirty="0">
                <a:solidFill>
                  <a:srgbClr val="FFD700"/>
                </a:solidFill>
                <a:latin typeface="Arial Black" pitchFamily="34" charset="0"/>
                <a:ea typeface="Arial Black" pitchFamily="34" charset="-122"/>
                <a:cs typeface="Arial Black" pitchFamily="34" charset="-120"/>
              </a:rPr>
              <a:t>WHAT TO TELL CLIENTS</a:t>
            </a:r>
            <a:endParaRPr lang="en-US" sz="1733" dirty="0">
              <a:solidFill>
                <a:prstClr val="black"/>
              </a:solidFill>
              <a:latin typeface="Calibri" panose="020F0502020204030204"/>
            </a:endParaRPr>
          </a:p>
        </p:txBody>
      </p:sp>
      <p:sp>
        <p:nvSpPr>
          <p:cNvPr id="24" name="Text 21"/>
          <p:cNvSpPr/>
          <p:nvPr/>
        </p:nvSpPr>
        <p:spPr>
          <a:xfrm>
            <a:off x="1097280" y="4693920"/>
            <a:ext cx="9997440" cy="1402080"/>
          </a:xfrm>
          <a:prstGeom prst="rect">
            <a:avLst/>
          </a:prstGeom>
          <a:noFill/>
          <a:ln/>
        </p:spPr>
        <p:txBody>
          <a:bodyPr wrap="square" lIns="0" tIns="0" rIns="0" bIns="0" rtlCol="0" anchor="t"/>
          <a:lstStyle/>
          <a:p>
            <a:pPr defTabSz="1219170"/>
            <a:r>
              <a:rPr lang="en-US" sz="1600" dirty="0">
                <a:solidFill>
                  <a:srgbClr val="E8ECF1"/>
                </a:solidFill>
                <a:latin typeface="Calibri" pitchFamily="34" charset="0"/>
                <a:ea typeface="Calibri" pitchFamily="34" charset="-122"/>
                <a:cs typeface="Calibri" pitchFamily="34" charset="-120"/>
              </a:rPr>
              <a:t>Gold is not an inflation "trade" — it's portfolio insurance. Like any insurance, it costs money (zero yield) when you don't need it, and provides critical protection when you do. Frame it for clients this way:</a:t>
            </a:r>
            <a:endParaRPr lang="en-US" sz="1600" dirty="0">
              <a:solidFill>
                <a:prstClr val="black"/>
              </a:solidFill>
              <a:latin typeface="Calibri" panose="020F0502020204030204"/>
            </a:endParaRPr>
          </a:p>
          <a:p>
            <a:pPr defTabSz="1219170"/>
            <a:endParaRPr lang="en-US" sz="1600" dirty="0">
              <a:solidFill>
                <a:prstClr val="black"/>
              </a:solidFill>
              <a:latin typeface="Calibri" panose="020F0502020204030204"/>
            </a:endParaRPr>
          </a:p>
          <a:p>
            <a:pPr defTabSz="1219170"/>
            <a:r>
              <a:rPr lang="en-US" sz="1733" i="1" dirty="0">
                <a:solidFill>
                  <a:srgbClr val="00D4AA"/>
                </a:solidFill>
                <a:latin typeface="Calibri" pitchFamily="34" charset="0"/>
                <a:ea typeface="Calibri" pitchFamily="34" charset="-122"/>
                <a:cs typeface="Calibri" pitchFamily="34" charset="-120"/>
              </a:rPr>
              <a:t>"A 5-10% gold allocation is the cost of insuring the other 90-95% of your portfolio against monetary devaluation. You hope you never need it — but you'll be grateful it's there when inflation surges."</a:t>
            </a:r>
            <a:endParaRPr lang="en-US" sz="1600" dirty="0">
              <a:solidFill>
                <a:prstClr val="black"/>
              </a:solidFill>
              <a:latin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667" b="1" dirty="0">
                <a:solidFill>
                  <a:srgbClr val="FFFFFF"/>
                </a:solidFill>
                <a:latin typeface="Arial Black" pitchFamily="34" charset="0"/>
                <a:ea typeface="Arial Black" pitchFamily="34" charset="-122"/>
                <a:cs typeface="Arial Black" pitchFamily="34" charset="-120"/>
              </a:rPr>
              <a:t>STRATEGY 5: FLOATING RATE &amp; SHORT DURATION</a:t>
            </a:r>
            <a:endParaRPr lang="en-US" sz="2667" dirty="0">
              <a:solidFill>
                <a:prstClr val="black"/>
              </a:solidFill>
              <a:latin typeface="Calibri" panose="020F0502020204030204"/>
            </a:endParaRPr>
          </a:p>
        </p:txBody>
      </p:sp>
      <p:sp>
        <p:nvSpPr>
          <p:cNvPr id="3" name="Shape 1"/>
          <p:cNvSpPr/>
          <p:nvPr/>
        </p:nvSpPr>
        <p:spPr>
          <a:xfrm>
            <a:off x="731520" y="1219200"/>
            <a:ext cx="5364480" cy="304800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4" name="Shape 2"/>
          <p:cNvSpPr/>
          <p:nvPr/>
        </p:nvSpPr>
        <p:spPr>
          <a:xfrm>
            <a:off x="731520" y="1219200"/>
            <a:ext cx="5364480" cy="48768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5" name="Text 3"/>
          <p:cNvSpPr/>
          <p:nvPr/>
        </p:nvSpPr>
        <p:spPr>
          <a:xfrm>
            <a:off x="975360" y="1219200"/>
            <a:ext cx="4876800" cy="487680"/>
          </a:xfrm>
          <a:prstGeom prst="rect">
            <a:avLst/>
          </a:prstGeom>
          <a:noFill/>
          <a:ln/>
        </p:spPr>
        <p:txBody>
          <a:bodyPr wrap="square" lIns="0" tIns="0" rIns="0" bIns="0" rtlCol="0" anchor="ctr"/>
          <a:lstStyle/>
          <a:p>
            <a:pPr defTabSz="1219170"/>
            <a:r>
              <a:rPr lang="en-US" sz="1600" b="1" dirty="0">
                <a:solidFill>
                  <a:srgbClr val="FFFFFF"/>
                </a:solidFill>
                <a:latin typeface="Arial Black" pitchFamily="34" charset="0"/>
                <a:ea typeface="Arial Black" pitchFamily="34" charset="-122"/>
                <a:cs typeface="Arial Black" pitchFamily="34" charset="-120"/>
              </a:rPr>
              <a:t>FLOATING RATE NOTES &amp; LOANS</a:t>
            </a:r>
            <a:endParaRPr lang="en-US" sz="1600" dirty="0">
              <a:solidFill>
                <a:prstClr val="black"/>
              </a:solidFill>
              <a:latin typeface="Calibri" panose="020F0502020204030204"/>
            </a:endParaRPr>
          </a:p>
        </p:txBody>
      </p:sp>
      <p:sp>
        <p:nvSpPr>
          <p:cNvPr id="6" name="Text 4"/>
          <p:cNvSpPr/>
          <p:nvPr/>
        </p:nvSpPr>
        <p:spPr>
          <a:xfrm>
            <a:off x="975360" y="1889760"/>
            <a:ext cx="4876800" cy="2194560"/>
          </a:xfrm>
          <a:prstGeom prst="rect">
            <a:avLst/>
          </a:prstGeom>
          <a:noFill/>
          <a:ln/>
        </p:spPr>
        <p:txBody>
          <a:bodyPr wrap="square" lIns="0" tIns="0" rIns="0" bIns="0" rtlCol="0" anchor="ctr"/>
          <a:lstStyle/>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Coupon resets periodically based on reference rate (SOFR)</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As rates rise, income rises — no price decline</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Bank loan funds &amp; CLOs offer access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Low duration = low interest rate risk</a:t>
            </a:r>
            <a:endParaRPr lang="en-US" sz="1600" dirty="0">
              <a:solidFill>
                <a:prstClr val="black"/>
              </a:solidFill>
              <a:latin typeface="Calibri" panose="020F0502020204030204"/>
            </a:endParaRPr>
          </a:p>
        </p:txBody>
      </p:sp>
      <p:sp>
        <p:nvSpPr>
          <p:cNvPr id="7" name="Shape 5"/>
          <p:cNvSpPr/>
          <p:nvPr/>
        </p:nvSpPr>
        <p:spPr>
          <a:xfrm>
            <a:off x="6339840" y="1219200"/>
            <a:ext cx="5364480" cy="304800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8" name="Shape 6"/>
          <p:cNvSpPr/>
          <p:nvPr/>
        </p:nvSpPr>
        <p:spPr>
          <a:xfrm>
            <a:off x="6339840" y="1219200"/>
            <a:ext cx="5364480" cy="48768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9" name="Text 7"/>
          <p:cNvSpPr/>
          <p:nvPr/>
        </p:nvSpPr>
        <p:spPr>
          <a:xfrm>
            <a:off x="6583680" y="1219200"/>
            <a:ext cx="4876800" cy="487680"/>
          </a:xfrm>
          <a:prstGeom prst="rect">
            <a:avLst/>
          </a:prstGeom>
          <a:noFill/>
          <a:ln/>
        </p:spPr>
        <p:txBody>
          <a:bodyPr wrap="square" lIns="0" tIns="0" rIns="0" bIns="0" rtlCol="0" anchor="ctr"/>
          <a:lstStyle/>
          <a:p>
            <a:pPr defTabSz="1219170"/>
            <a:r>
              <a:rPr lang="en-US" sz="1600" b="1" dirty="0">
                <a:solidFill>
                  <a:srgbClr val="FFFFFF"/>
                </a:solidFill>
                <a:latin typeface="Arial Black" pitchFamily="34" charset="0"/>
                <a:ea typeface="Arial Black" pitchFamily="34" charset="-122"/>
                <a:cs typeface="Arial Black" pitchFamily="34" charset="-120"/>
              </a:rPr>
              <a:t>SHORT-DURATION FIXED INCOME</a:t>
            </a:r>
            <a:endParaRPr lang="en-US" sz="1600" dirty="0">
              <a:solidFill>
                <a:prstClr val="black"/>
              </a:solidFill>
              <a:latin typeface="Calibri" panose="020F0502020204030204"/>
            </a:endParaRPr>
          </a:p>
        </p:txBody>
      </p:sp>
      <p:sp>
        <p:nvSpPr>
          <p:cNvPr id="10" name="Text 8"/>
          <p:cNvSpPr/>
          <p:nvPr/>
        </p:nvSpPr>
        <p:spPr>
          <a:xfrm>
            <a:off x="6583680" y="1889760"/>
            <a:ext cx="4876800" cy="2194560"/>
          </a:xfrm>
          <a:prstGeom prst="rect">
            <a:avLst/>
          </a:prstGeom>
          <a:noFill/>
          <a:ln/>
        </p:spPr>
        <p:txBody>
          <a:bodyPr wrap="square" lIns="0" tIns="0" rIns="0" bIns="0" rtlCol="0" anchor="ctr"/>
          <a:lstStyle/>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Shorter maturity = less price sensitivity to rate hikes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Faster reinvestment at higher rates</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T-Bills, short corporate bonds, money market</a:t>
            </a:r>
            <a:endParaRPr lang="en-US" sz="1600" dirty="0">
              <a:solidFill>
                <a:prstClr val="black"/>
              </a:solidFill>
              <a:latin typeface="Calibri" panose="020F0502020204030204"/>
            </a:endParaRPr>
          </a:p>
          <a:p>
            <a:pPr marL="457189" indent="-457189" defTabSz="1219170">
              <a:buSzPct val="100000"/>
              <a:buFontTx/>
              <a:buChar char="•"/>
            </a:pPr>
            <a:r>
              <a:rPr lang="en-US" sz="1600" dirty="0">
                <a:solidFill>
                  <a:srgbClr val="E8ECF1"/>
                </a:solidFill>
                <a:latin typeface="Calibri" pitchFamily="34" charset="0"/>
                <a:ea typeface="Calibri" pitchFamily="34" charset="-122"/>
                <a:cs typeface="Calibri" pitchFamily="34" charset="-120"/>
              </a:rPr>
              <a:t>Sacrifice yield today to avoid losses tomorrow</a:t>
            </a:r>
            <a:endParaRPr lang="en-US" sz="1600" dirty="0">
              <a:solidFill>
                <a:prstClr val="black"/>
              </a:solidFill>
              <a:latin typeface="Calibri" panose="020F0502020204030204"/>
            </a:endParaRPr>
          </a:p>
        </p:txBody>
      </p:sp>
      <p:sp>
        <p:nvSpPr>
          <p:cNvPr id="11" name="Text 9"/>
          <p:cNvSpPr/>
          <p:nvPr/>
        </p:nvSpPr>
        <p:spPr>
          <a:xfrm>
            <a:off x="731520" y="4511040"/>
            <a:ext cx="10728960" cy="426720"/>
          </a:xfrm>
          <a:prstGeom prst="rect">
            <a:avLst/>
          </a:prstGeom>
          <a:noFill/>
          <a:ln/>
        </p:spPr>
        <p:txBody>
          <a:bodyPr wrap="square" lIns="0" tIns="0" rIns="0" bIns="0" rtlCol="0" anchor="ctr"/>
          <a:lstStyle/>
          <a:p>
            <a:pPr defTabSz="1219170"/>
            <a:r>
              <a:rPr lang="en-US" sz="1733" b="1" dirty="0">
                <a:solidFill>
                  <a:srgbClr val="00D4AA"/>
                </a:solidFill>
                <a:latin typeface="Arial Black" pitchFamily="34" charset="0"/>
                <a:ea typeface="Arial Black" pitchFamily="34" charset="-122"/>
                <a:cs typeface="Arial Black" pitchFamily="34" charset="-120"/>
              </a:rPr>
              <a:t>DURATION IMPACT: A $100K BOND PORTFOLIO</a:t>
            </a:r>
            <a:endParaRPr lang="en-US" sz="1733" dirty="0">
              <a:solidFill>
                <a:prstClr val="black"/>
              </a:solidFill>
              <a:latin typeface="Calibri" panose="020F0502020204030204"/>
            </a:endParaRPr>
          </a:p>
        </p:txBody>
      </p:sp>
      <p:graphicFrame>
        <p:nvGraphicFramePr>
          <p:cNvPr id="25" name="Table 0"/>
          <p:cNvGraphicFramePr>
            <a:graphicFrameLocks noGrp="1"/>
          </p:cNvGraphicFramePr>
          <p:nvPr/>
        </p:nvGraphicFramePr>
        <p:xfrm>
          <a:off x="731520" y="4998720"/>
          <a:ext cx="10728960" cy="853440"/>
        </p:xfrm>
        <a:graphic>
          <a:graphicData uri="http://schemas.openxmlformats.org/drawingml/2006/table">
            <a:tbl>
              <a:tblPr/>
              <a:tblGrid>
                <a:gridCol w="219456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2133600">
                  <a:extLst>
                    <a:ext uri="{9D8B030D-6E8A-4147-A177-3AD203B41FA5}">
                      <a16:colId xmlns:a16="http://schemas.microsoft.com/office/drawing/2014/main" val="20004"/>
                    </a:ext>
                  </a:extLst>
                </a:gridCol>
              </a:tblGrid>
              <a:tr h="426720">
                <a:tc>
                  <a:txBody>
                    <a:bodyPr/>
                    <a:lstStyle/>
                    <a:p>
                      <a:pPr marL="0" indent="0" algn="ctr">
                        <a:buNone/>
                      </a:pPr>
                      <a:r>
                        <a:rPr lang="en-US" sz="1300" b="1" dirty="0">
                          <a:solidFill>
                            <a:srgbClr val="00D4AA"/>
                          </a:solidFill>
                          <a:latin typeface="Calibri" pitchFamily="34" charset="0"/>
                          <a:ea typeface="Calibri" pitchFamily="34" charset="-122"/>
                          <a:cs typeface="Calibri" pitchFamily="34" charset="-120"/>
                        </a:rPr>
                        <a:t>If Rates Rise 1%</a:t>
                      </a:r>
                      <a:endParaRPr lang="en-US" sz="1300" dirty="0">
                        <a:latin typeface="Calibri" charset="0"/>
                        <a:ea typeface="Calibri" charset="0"/>
                        <a:cs typeface="Calibri"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tc>
                  <a:txBody>
                    <a:bodyPr/>
                    <a:lstStyle/>
                    <a:p>
                      <a:pPr marL="0" indent="0" algn="ctr">
                        <a:buNone/>
                      </a:pPr>
                      <a:r>
                        <a:rPr lang="en-US" sz="1300" b="1" dirty="0">
                          <a:solidFill>
                            <a:srgbClr val="00D4AA"/>
                          </a:solidFill>
                          <a:latin typeface="Calibri" pitchFamily="34" charset="0"/>
                          <a:ea typeface="Calibri" pitchFamily="34" charset="-122"/>
                          <a:cs typeface="Calibri" pitchFamily="34" charset="-120"/>
                        </a:rPr>
                        <a:t>Duration 2yr</a:t>
                      </a:r>
                      <a:endParaRPr lang="en-US" sz="1300" dirty="0">
                        <a:latin typeface="Calibri" charset="0"/>
                        <a:ea typeface="Calibri" charset="0"/>
                        <a:cs typeface="Calibri"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tc>
                  <a:txBody>
                    <a:bodyPr/>
                    <a:lstStyle/>
                    <a:p>
                      <a:pPr marL="0" indent="0" algn="ctr">
                        <a:buNone/>
                      </a:pPr>
                      <a:r>
                        <a:rPr lang="en-US" sz="1300" b="1" dirty="0">
                          <a:solidFill>
                            <a:srgbClr val="00D4AA"/>
                          </a:solidFill>
                          <a:latin typeface="Calibri" pitchFamily="34" charset="0"/>
                          <a:ea typeface="Calibri" pitchFamily="34" charset="-122"/>
                          <a:cs typeface="Calibri" pitchFamily="34" charset="-120"/>
                        </a:rPr>
                        <a:t>Duration 5yr</a:t>
                      </a:r>
                      <a:endParaRPr lang="en-US" sz="1300" dirty="0">
                        <a:latin typeface="Calibri" charset="0"/>
                        <a:ea typeface="Calibri" charset="0"/>
                        <a:cs typeface="Calibri"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tc>
                  <a:txBody>
                    <a:bodyPr/>
                    <a:lstStyle/>
                    <a:p>
                      <a:pPr marL="0" indent="0" algn="ctr">
                        <a:buNone/>
                      </a:pPr>
                      <a:r>
                        <a:rPr lang="en-US" sz="1300" b="1" dirty="0">
                          <a:solidFill>
                            <a:srgbClr val="00D4AA"/>
                          </a:solidFill>
                          <a:latin typeface="Calibri" pitchFamily="34" charset="0"/>
                          <a:ea typeface="Calibri" pitchFamily="34" charset="-122"/>
                          <a:cs typeface="Calibri" pitchFamily="34" charset="-120"/>
                        </a:rPr>
                        <a:t>Duration 10yr</a:t>
                      </a:r>
                      <a:endParaRPr lang="en-US" sz="1300" dirty="0">
                        <a:latin typeface="Calibri" charset="0"/>
                        <a:ea typeface="Calibri" charset="0"/>
                        <a:cs typeface="Calibri"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tc>
                  <a:txBody>
                    <a:bodyPr/>
                    <a:lstStyle/>
                    <a:p>
                      <a:pPr marL="0" indent="0" algn="ctr">
                        <a:buNone/>
                      </a:pPr>
                      <a:r>
                        <a:rPr lang="en-US" sz="1300" b="1" dirty="0">
                          <a:solidFill>
                            <a:srgbClr val="00D4AA"/>
                          </a:solidFill>
                          <a:latin typeface="Calibri" pitchFamily="34" charset="0"/>
                          <a:ea typeface="Calibri" pitchFamily="34" charset="-122"/>
                          <a:cs typeface="Calibri" pitchFamily="34" charset="-120"/>
                        </a:rPr>
                        <a:t>Duration 20yr</a:t>
                      </a:r>
                      <a:endParaRPr lang="en-US" sz="1300" dirty="0">
                        <a:latin typeface="Calibri" charset="0"/>
                        <a:ea typeface="Calibri" charset="0"/>
                        <a:cs typeface="Calibri"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C2133"/>
                    </a:solidFill>
                  </a:tcPr>
                </a:tc>
                <a:extLst>
                  <a:ext uri="{0D108BD9-81ED-4DB2-BD59-A6C34878D82A}">
                    <a16:rowId xmlns:a16="http://schemas.microsoft.com/office/drawing/2014/main" val="10000"/>
                  </a:ext>
                </a:extLst>
              </a:tr>
              <a:tr h="4267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Price Impact</a:t>
                      </a:r>
                      <a:endParaRPr lang="en-US" sz="1300" dirty="0">
                        <a:latin typeface="Calibri" charset="0"/>
                        <a:ea typeface="Calibri" charset="0"/>
                        <a:cs typeface="Calibri"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lgn="ctr">
                        <a:buNone/>
                      </a:pPr>
                      <a:r>
                        <a:rPr lang="en-US" sz="1500" dirty="0">
                          <a:solidFill>
                            <a:srgbClr val="2ED573"/>
                          </a:solidFill>
                          <a:latin typeface="Consolas" pitchFamily="34" charset="0"/>
                          <a:ea typeface="Consolas" pitchFamily="34" charset="-122"/>
                          <a:cs typeface="Consolas" pitchFamily="34" charset="-120"/>
                        </a:rPr>
                        <a:t>-$2,000</a:t>
                      </a:r>
                      <a:endParaRPr lang="en-US" sz="1500" dirty="0">
                        <a:latin typeface="Consolas" charset="0"/>
                        <a:ea typeface="Consolas" charset="0"/>
                        <a:cs typeface="Consolas"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lgn="ctr">
                        <a:buNone/>
                      </a:pPr>
                      <a:r>
                        <a:rPr lang="en-US" sz="1500" dirty="0">
                          <a:solidFill>
                            <a:srgbClr val="FF8C42"/>
                          </a:solidFill>
                          <a:latin typeface="Consolas" pitchFamily="34" charset="0"/>
                          <a:ea typeface="Consolas" pitchFamily="34" charset="-122"/>
                          <a:cs typeface="Consolas" pitchFamily="34" charset="-120"/>
                        </a:rPr>
                        <a:t>-$5,000</a:t>
                      </a:r>
                      <a:endParaRPr lang="en-US" sz="1500" dirty="0">
                        <a:latin typeface="Consolas" charset="0"/>
                        <a:ea typeface="Consolas" charset="0"/>
                        <a:cs typeface="Consolas"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lgn="ctr">
                        <a:buNone/>
                      </a:pPr>
                      <a:r>
                        <a:rPr lang="en-US" sz="1500" dirty="0">
                          <a:solidFill>
                            <a:srgbClr val="FF4757"/>
                          </a:solidFill>
                          <a:latin typeface="Consolas" pitchFamily="34" charset="0"/>
                          <a:ea typeface="Consolas" pitchFamily="34" charset="-122"/>
                          <a:cs typeface="Consolas" pitchFamily="34" charset="-120"/>
                        </a:rPr>
                        <a:t>-$10,000</a:t>
                      </a:r>
                      <a:endParaRPr lang="en-US" sz="1500" dirty="0">
                        <a:latin typeface="Consolas" charset="0"/>
                        <a:ea typeface="Consolas" charset="0"/>
                        <a:cs typeface="Consolas"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tc>
                  <a:txBody>
                    <a:bodyPr/>
                    <a:lstStyle/>
                    <a:p>
                      <a:pPr marL="0" indent="0" algn="ctr">
                        <a:buNone/>
                      </a:pPr>
                      <a:r>
                        <a:rPr lang="en-US" sz="1500" dirty="0">
                          <a:solidFill>
                            <a:srgbClr val="FF4757"/>
                          </a:solidFill>
                          <a:latin typeface="Consolas" pitchFamily="34" charset="0"/>
                          <a:ea typeface="Consolas" pitchFamily="34" charset="-122"/>
                          <a:cs typeface="Consolas" pitchFamily="34" charset="-120"/>
                        </a:rPr>
                        <a:t>-$20,000</a:t>
                      </a:r>
                      <a:endParaRPr lang="en-US" sz="1500" dirty="0">
                        <a:latin typeface="Consolas" charset="0"/>
                        <a:ea typeface="Consolas" charset="0"/>
                        <a:cs typeface="Consolas" charset="0"/>
                      </a:endParaRPr>
                    </a:p>
                  </a:txBody>
                  <a:tcPr marL="121920" marR="121920" marT="60960" marB="60960">
                    <a:lnL w="6350" cap="flat" cmpd="sng" algn="ctr">
                      <a:solidFill>
                        <a:srgbClr val="252D3F"/>
                      </a:solidFill>
                      <a:prstDash val="solid"/>
                      <a:round/>
                      <a:headEnd type="none" w="med" len="med"/>
                      <a:tailEnd type="none" w="med" len="med"/>
                    </a:lnL>
                    <a:lnR w="6350" cap="flat" cmpd="sng" algn="ctr">
                      <a:solidFill>
                        <a:srgbClr val="252D3F"/>
                      </a:solidFill>
                      <a:prstDash val="solid"/>
                      <a:round/>
                      <a:headEnd type="none" w="med" len="med"/>
                      <a:tailEnd type="none" w="med" len="med"/>
                    </a:lnR>
                    <a:lnT w="6350" cap="flat" cmpd="sng" algn="ctr">
                      <a:solidFill>
                        <a:srgbClr val="252D3F"/>
                      </a:solidFill>
                      <a:prstDash val="solid"/>
                      <a:round/>
                      <a:headEnd type="none" w="med" len="med"/>
                      <a:tailEnd type="none" w="med" len="med"/>
                    </a:lnT>
                    <a:lnB w="6350" cap="flat" cmpd="sng" algn="ctr">
                      <a:solidFill>
                        <a:srgbClr val="252D3F"/>
                      </a:solidFill>
                      <a:prstDash val="solid"/>
                      <a:round/>
                      <a:headEnd type="none" w="med" len="med"/>
                      <a:tailEnd type="none" w="med" len="med"/>
                    </a:lnB>
                    <a:solidFill>
                      <a:srgbClr val="151926"/>
                    </a:solidFill>
                  </a:tcPr>
                </a:tc>
                <a:extLst>
                  <a:ext uri="{0D108BD9-81ED-4DB2-BD59-A6C34878D82A}">
                    <a16:rowId xmlns:a16="http://schemas.microsoft.com/office/drawing/2014/main" val="10001"/>
                  </a:ext>
                </a:extLst>
              </a:tr>
            </a:tbl>
          </a:graphicData>
        </a:graphic>
      </p:graphicFrame>
      <p:sp>
        <p:nvSpPr>
          <p:cNvPr id="13" name="Shape 10"/>
          <p:cNvSpPr/>
          <p:nvPr/>
        </p:nvSpPr>
        <p:spPr>
          <a:xfrm>
            <a:off x="731520" y="5974080"/>
            <a:ext cx="10728960" cy="67056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14" name="Shape 11"/>
          <p:cNvSpPr/>
          <p:nvPr/>
        </p:nvSpPr>
        <p:spPr>
          <a:xfrm>
            <a:off x="731520" y="5974080"/>
            <a:ext cx="73152" cy="6705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15" name="Text 12"/>
          <p:cNvSpPr/>
          <p:nvPr/>
        </p:nvSpPr>
        <p:spPr>
          <a:xfrm>
            <a:off x="1036320" y="5974080"/>
            <a:ext cx="10119360" cy="670560"/>
          </a:xfrm>
          <a:prstGeom prst="rect">
            <a:avLst/>
          </a:prstGeom>
          <a:noFill/>
          <a:ln/>
        </p:spPr>
        <p:txBody>
          <a:bodyPr wrap="square" lIns="0" tIns="0" rIns="0" bIns="0" rtlCol="0" anchor="ctr"/>
          <a:lstStyle/>
          <a:p>
            <a:pPr defTabSz="1219170"/>
            <a:r>
              <a:rPr lang="en-US" sz="1600" b="1" dirty="0">
                <a:solidFill>
                  <a:srgbClr val="00D4AA"/>
                </a:solidFill>
                <a:latin typeface="Arial Black" pitchFamily="34" charset="0"/>
                <a:ea typeface="Arial Black" pitchFamily="34" charset="-122"/>
                <a:cs typeface="Arial Black" pitchFamily="34" charset="-120"/>
              </a:rPr>
              <a:t>FA ACTION:  </a:t>
            </a:r>
            <a:r>
              <a:rPr lang="en-US" sz="1600" dirty="0">
                <a:solidFill>
                  <a:srgbClr val="E8ECF1"/>
                </a:solidFill>
                <a:latin typeface="Calibri" pitchFamily="34" charset="0"/>
                <a:ea typeface="Calibri" pitchFamily="34" charset="-122"/>
                <a:cs typeface="Calibri" pitchFamily="34" charset="-120"/>
              </a:rPr>
              <a:t>In rising rate environments, shift fixed income from long to short duration and add floating rate exposure. This is the lowest-risk way to defend bond portfolios.</a:t>
            </a:r>
            <a:endParaRPr lang="en-US" sz="1600" dirty="0">
              <a:solidFill>
                <a:prstClr val="black"/>
              </a:solidFill>
              <a:latin typeface="Calibri" panose="020F050202020403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365760"/>
            <a:ext cx="10728960" cy="609600"/>
          </a:xfrm>
          <a:prstGeom prst="rect">
            <a:avLst/>
          </a:prstGeom>
          <a:noFill/>
          <a:ln/>
        </p:spPr>
        <p:txBody>
          <a:bodyPr wrap="square" lIns="0" tIns="0" rIns="0" bIns="0" rtlCol="0" anchor="ctr"/>
          <a:lstStyle/>
          <a:p>
            <a:pPr defTabSz="1219170"/>
            <a:r>
              <a:rPr lang="en-US" sz="2933" b="1" dirty="0">
                <a:solidFill>
                  <a:srgbClr val="FFFFFF"/>
                </a:solidFill>
                <a:latin typeface="Arial Black" pitchFamily="34" charset="0"/>
                <a:ea typeface="Arial Black" pitchFamily="34" charset="-122"/>
                <a:cs typeface="Arial Black" pitchFamily="34" charset="-120"/>
              </a:rPr>
              <a:t>THE INflation-AWARE PORTFOLIO</a:t>
            </a:r>
            <a:endParaRPr lang="en-US" sz="2933" dirty="0">
              <a:solidFill>
                <a:prstClr val="black"/>
              </a:solidFill>
              <a:latin typeface="Calibri" panose="020F0502020204030204"/>
            </a:endParaRPr>
          </a:p>
        </p:txBody>
      </p:sp>
      <p:sp>
        <p:nvSpPr>
          <p:cNvPr id="3" name="Text 1"/>
          <p:cNvSpPr/>
          <p:nvPr/>
        </p:nvSpPr>
        <p:spPr>
          <a:xfrm>
            <a:off x="731520" y="975360"/>
            <a:ext cx="10728960" cy="426720"/>
          </a:xfrm>
          <a:prstGeom prst="rect">
            <a:avLst/>
          </a:prstGeom>
          <a:noFill/>
          <a:ln/>
        </p:spPr>
        <p:txBody>
          <a:bodyPr wrap="square" lIns="0" tIns="0" rIns="0" bIns="0" rtlCol="0" anchor="ctr"/>
          <a:lstStyle/>
          <a:p>
            <a:pPr defTabSz="1219170"/>
            <a:r>
              <a:rPr lang="en-US" sz="1867" dirty="0">
                <a:solidFill>
                  <a:srgbClr val="8B95A8"/>
                </a:solidFill>
                <a:latin typeface="Calibri" pitchFamily="34" charset="0"/>
                <a:ea typeface="Calibri" pitchFamily="34" charset="-122"/>
                <a:cs typeface="Calibri" pitchFamily="34" charset="-120"/>
              </a:rPr>
              <a:t>Before vs. After: Restructuring for inflation resilience</a:t>
            </a:r>
            <a:endParaRPr lang="en-US" sz="1867" dirty="0">
              <a:solidFill>
                <a:prstClr val="black"/>
              </a:solidFill>
              <a:latin typeface="Calibri" panose="020F0502020204030204"/>
            </a:endParaRPr>
          </a:p>
        </p:txBody>
      </p:sp>
      <p:graphicFrame>
        <p:nvGraphicFramePr>
          <p:cNvPr id="4" name="Chart 0"/>
          <p:cNvGraphicFramePr/>
          <p:nvPr/>
        </p:nvGraphicFramePr>
        <p:xfrm>
          <a:off x="731520" y="1584960"/>
          <a:ext cx="487680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339840" y="1584960"/>
          <a:ext cx="536448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 2"/>
          <p:cNvSpPr/>
          <p:nvPr/>
        </p:nvSpPr>
        <p:spPr>
          <a:xfrm>
            <a:off x="5486400" y="2804160"/>
            <a:ext cx="975360" cy="975360"/>
          </a:xfrm>
          <a:prstGeom prst="rect">
            <a:avLst/>
          </a:prstGeom>
          <a:noFill/>
          <a:ln/>
        </p:spPr>
        <p:txBody>
          <a:bodyPr wrap="square" lIns="0" tIns="0" rIns="0" bIns="0" rtlCol="0" anchor="ctr"/>
          <a:lstStyle/>
          <a:p>
            <a:pPr algn="ctr" defTabSz="1219170"/>
            <a:r>
              <a:rPr lang="en-US" sz="4800" dirty="0">
                <a:solidFill>
                  <a:srgbClr val="00D4AA"/>
                </a:solidFill>
                <a:latin typeface="Calibri" panose="020F0502020204030204"/>
              </a:rPr>
              <a:t>→</a:t>
            </a:r>
            <a:endParaRPr lang="en-US" sz="4800" dirty="0">
              <a:solidFill>
                <a:prstClr val="black"/>
              </a:solidFill>
              <a:latin typeface="Calibri" panose="020F0502020204030204"/>
            </a:endParaRPr>
          </a:p>
        </p:txBody>
      </p:sp>
      <p:sp>
        <p:nvSpPr>
          <p:cNvPr id="7" name="Shape 3"/>
          <p:cNvSpPr/>
          <p:nvPr/>
        </p:nvSpPr>
        <p:spPr>
          <a:xfrm>
            <a:off x="731520" y="5608320"/>
            <a:ext cx="10728960" cy="975360"/>
          </a:xfrm>
          <a:prstGeom prst="rect">
            <a:avLst/>
          </a:prstGeom>
          <a:solidFill>
            <a:srgbClr val="151926"/>
          </a:solidFill>
          <a:ln/>
          <a:effectLst>
            <a:outerShdw blurRad="50800" dist="25400" dir="8100000" algn="bl" rotWithShape="0">
              <a:srgbClr val="000000">
                <a:alpha val="20000"/>
              </a:srgbClr>
            </a:outerShdw>
          </a:effectLst>
        </p:spPr>
        <p:txBody>
          <a:bodyPr/>
          <a:lstStyle/>
          <a:p>
            <a:pPr defTabSz="1219170"/>
            <a:endParaRPr lang="en-US" sz="2400">
              <a:solidFill>
                <a:prstClr val="black"/>
              </a:solidFill>
              <a:latin typeface="Calibri" panose="020F0502020204030204"/>
            </a:endParaRPr>
          </a:p>
        </p:txBody>
      </p:sp>
      <p:sp>
        <p:nvSpPr>
          <p:cNvPr id="8" name="Shape 4"/>
          <p:cNvSpPr/>
          <p:nvPr/>
        </p:nvSpPr>
        <p:spPr>
          <a:xfrm>
            <a:off x="731520" y="5608320"/>
            <a:ext cx="73152" cy="97536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9" name="Text 5"/>
          <p:cNvSpPr/>
          <p:nvPr/>
        </p:nvSpPr>
        <p:spPr>
          <a:xfrm>
            <a:off x="1036320" y="5608320"/>
            <a:ext cx="10119360" cy="975360"/>
          </a:xfrm>
          <a:prstGeom prst="rect">
            <a:avLst/>
          </a:prstGeom>
          <a:noFill/>
          <a:ln/>
        </p:spPr>
        <p:txBody>
          <a:bodyPr wrap="square" lIns="0" tIns="0" rIns="0" bIns="0" rtlCol="0" anchor="ctr"/>
          <a:lstStyle/>
          <a:p>
            <a:pPr defTabSz="1219170"/>
            <a:r>
              <a:rPr lang="en-US" sz="1600" b="1" dirty="0">
                <a:solidFill>
                  <a:srgbClr val="2ED573"/>
                </a:solidFill>
                <a:latin typeface="Arial Black" pitchFamily="34" charset="0"/>
                <a:ea typeface="Arial Black" pitchFamily="34" charset="-122"/>
                <a:cs typeface="Arial Black" pitchFamily="34" charset="-120"/>
              </a:rPr>
              <a:t>KEY SHIFTS:  </a:t>
            </a:r>
            <a:r>
              <a:rPr lang="en-US" sz="1600" dirty="0">
                <a:solidFill>
                  <a:srgbClr val="E8ECF1"/>
                </a:solidFill>
                <a:latin typeface="Calibri" pitchFamily="34" charset="0"/>
                <a:ea typeface="Calibri" pitchFamily="34" charset="-122"/>
                <a:cs typeface="Calibri" pitchFamily="34" charset="-120"/>
              </a:rPr>
              <a:t>Long bonds → short duration + TIPS + floating rate  |  Add commodities + gold + REITs  |  Reduce cash  |  Total inflation hedges: ~38% of portfolio vs. 0% in traditional</a:t>
            </a:r>
            <a:endParaRPr lang="en-US" sz="1600" dirty="0">
              <a:solidFill>
                <a:prstClr val="black"/>
              </a:solidFill>
              <a:latin typeface="Calibri" panose="020F050202020403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Text 0"/>
          <p:cNvSpPr/>
          <p:nvPr/>
        </p:nvSpPr>
        <p:spPr>
          <a:xfrm>
            <a:off x="731520" y="1219200"/>
            <a:ext cx="3657600" cy="2682240"/>
          </a:xfrm>
          <a:prstGeom prst="rect">
            <a:avLst/>
          </a:prstGeom>
          <a:noFill/>
          <a:ln/>
        </p:spPr>
        <p:txBody>
          <a:bodyPr wrap="square" lIns="0" tIns="0" rIns="0" bIns="0" rtlCol="0" anchor="ctr"/>
          <a:lstStyle/>
          <a:p>
            <a:pPr defTabSz="1219170"/>
            <a:r>
              <a:rPr lang="en-US" sz="12800" b="1" dirty="0">
                <a:solidFill>
                  <a:srgbClr val="1C2133"/>
                </a:solidFill>
                <a:latin typeface="Arial Black" pitchFamily="34" charset="0"/>
                <a:ea typeface="Arial Black" pitchFamily="34" charset="-122"/>
                <a:cs typeface="Arial Black" pitchFamily="34" charset="-120"/>
              </a:rPr>
              <a:t>06</a:t>
            </a:r>
            <a:endParaRPr lang="en-US" sz="12800" dirty="0">
              <a:solidFill>
                <a:prstClr val="black"/>
              </a:solidFill>
              <a:latin typeface="Calibri" panose="020F0502020204030204"/>
            </a:endParaRPr>
          </a:p>
        </p:txBody>
      </p:sp>
      <p:sp>
        <p:nvSpPr>
          <p:cNvPr id="3" name="Shape 1"/>
          <p:cNvSpPr/>
          <p:nvPr/>
        </p:nvSpPr>
        <p:spPr>
          <a:xfrm>
            <a:off x="731520" y="3413760"/>
            <a:ext cx="1828800" cy="609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4" name="Text 2"/>
          <p:cNvSpPr/>
          <p:nvPr/>
        </p:nvSpPr>
        <p:spPr>
          <a:xfrm>
            <a:off x="731520" y="3718560"/>
            <a:ext cx="10728960" cy="975360"/>
          </a:xfrm>
          <a:prstGeom prst="rect">
            <a:avLst/>
          </a:prstGeom>
          <a:noFill/>
          <a:ln/>
        </p:spPr>
        <p:txBody>
          <a:bodyPr wrap="square" lIns="0" tIns="0" rIns="0" bIns="0" rtlCol="0" anchor="ctr"/>
          <a:lstStyle/>
          <a:p>
            <a:pPr defTabSz="1219170"/>
            <a:r>
              <a:rPr lang="en-US" sz="4000" b="1" dirty="0">
                <a:solidFill>
                  <a:srgbClr val="FFFFFF"/>
                </a:solidFill>
                <a:latin typeface="Arial Black" pitchFamily="34" charset="0"/>
                <a:ea typeface="Arial Black" pitchFamily="34" charset="-122"/>
                <a:cs typeface="Arial Black" pitchFamily="34" charset="-120"/>
              </a:rPr>
              <a:t>Quick Reference &amp; Cheat Sheet</a:t>
            </a:r>
            <a:endParaRPr lang="en-US" sz="4000" dirty="0">
              <a:solidFill>
                <a:prstClr val="black"/>
              </a:solidFill>
              <a:latin typeface="Calibri" panose="020F0502020204030204"/>
            </a:endParaRPr>
          </a:p>
        </p:txBody>
      </p:sp>
      <p:sp>
        <p:nvSpPr>
          <p:cNvPr id="5" name="Text 3"/>
          <p:cNvSpPr/>
          <p:nvPr/>
        </p:nvSpPr>
        <p:spPr>
          <a:xfrm>
            <a:off x="731520" y="4693920"/>
            <a:ext cx="10728960" cy="609600"/>
          </a:xfrm>
          <a:prstGeom prst="rect">
            <a:avLst/>
          </a:prstGeom>
          <a:noFill/>
          <a:ln/>
        </p:spPr>
        <p:txBody>
          <a:bodyPr wrap="square" lIns="0" tIns="0" rIns="0" bIns="0" rtlCol="0" anchor="ctr"/>
          <a:lstStyle/>
          <a:p>
            <a:pPr defTabSz="1219170"/>
            <a:r>
              <a:rPr lang="en-US" sz="2133" dirty="0">
                <a:solidFill>
                  <a:srgbClr val="8B95A8"/>
                </a:solidFill>
                <a:latin typeface="Calibri" pitchFamily="34" charset="0"/>
                <a:ea typeface="Calibri" pitchFamily="34" charset="-122"/>
                <a:cs typeface="Calibri" pitchFamily="34" charset="-120"/>
              </a:rPr>
              <a:t>Print this. Pin it to your desk. Use it in client conversations.</a:t>
            </a:r>
            <a:endParaRPr lang="en-US" sz="2133" dirty="0">
              <a:solidFill>
                <a:prstClr val="black"/>
              </a:solidFill>
              <a:latin typeface="Calibri" panose="020F0502020204030204"/>
            </a:endParaRPr>
          </a:p>
        </p:txBody>
      </p:sp>
      <p:pic>
        <p:nvPicPr>
          <p:cNvPr id="6" name="Image 0" descr="preencoded.png"/>
          <p:cNvPicPr>
            <a:picLocks noChangeAspect="1"/>
          </p:cNvPicPr>
          <p:nvPr/>
        </p:nvPicPr>
        <p:blipFill>
          <a:blip r:embed="rId3"/>
          <a:stretch>
            <a:fillRect/>
          </a:stretch>
        </p:blipFill>
        <p:spPr>
          <a:xfrm>
            <a:off x="10607040" y="1463040"/>
            <a:ext cx="975360" cy="97536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Shape 0"/>
          <p:cNvSpPr/>
          <p:nvPr/>
        </p:nvSpPr>
        <p:spPr>
          <a:xfrm>
            <a:off x="0" y="0"/>
            <a:ext cx="12192000" cy="670560"/>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365760" y="0"/>
            <a:ext cx="11460480" cy="670560"/>
          </a:xfrm>
          <a:prstGeom prst="rect">
            <a:avLst/>
          </a:prstGeom>
          <a:noFill/>
          <a:ln/>
        </p:spPr>
        <p:txBody>
          <a:bodyPr wrap="square" lIns="0" tIns="0" rIns="0" bIns="0" rtlCol="0" anchor="ctr"/>
          <a:lstStyle/>
          <a:p>
            <a:pPr defTabSz="1219170"/>
            <a:r>
              <a:rPr lang="en-US" sz="2133" b="1" dirty="0">
                <a:solidFill>
                  <a:srgbClr val="0B0E17"/>
                </a:solidFill>
                <a:latin typeface="Arial Black" pitchFamily="34" charset="0"/>
                <a:ea typeface="Arial Black" pitchFamily="34" charset="-122"/>
                <a:cs typeface="Arial Black" pitchFamily="34" charset="-120"/>
              </a:rPr>
              <a:t>INFLATION ACTION CHEAT SHEET</a:t>
            </a:r>
            <a:endParaRPr lang="en-US" sz="2133" dirty="0">
              <a:solidFill>
                <a:prstClr val="black"/>
              </a:solidFill>
              <a:latin typeface="Calibri" panose="020F0502020204030204"/>
            </a:endParaRPr>
          </a:p>
        </p:txBody>
      </p:sp>
      <p:sp>
        <p:nvSpPr>
          <p:cNvPr id="4" name="Shape 2"/>
          <p:cNvSpPr/>
          <p:nvPr/>
        </p:nvSpPr>
        <p:spPr>
          <a:xfrm>
            <a:off x="365760" y="914400"/>
            <a:ext cx="5547360" cy="560832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5" name="Text 3"/>
          <p:cNvSpPr/>
          <p:nvPr/>
        </p:nvSpPr>
        <p:spPr>
          <a:xfrm>
            <a:off x="609600" y="975360"/>
            <a:ext cx="5059680" cy="365760"/>
          </a:xfrm>
          <a:prstGeom prst="rect">
            <a:avLst/>
          </a:prstGeom>
          <a:noFill/>
          <a:ln/>
        </p:spPr>
        <p:txBody>
          <a:bodyPr wrap="square" lIns="0" tIns="0" rIns="0" bIns="0" rtlCol="0" anchor="ctr"/>
          <a:lstStyle/>
          <a:p>
            <a:pPr defTabSz="1219170"/>
            <a:r>
              <a:rPr lang="en-US" sz="1467" b="1" dirty="0">
                <a:solidFill>
                  <a:srgbClr val="00D4AA"/>
                </a:solidFill>
                <a:latin typeface="Arial Black" pitchFamily="34" charset="0"/>
                <a:ea typeface="Arial Black" pitchFamily="34" charset="-122"/>
                <a:cs typeface="Arial Black" pitchFamily="34" charset="-120"/>
              </a:rPr>
              <a:t>INFLATION DASHBOARD</a:t>
            </a:r>
            <a:endParaRPr lang="en-US" sz="1467" dirty="0">
              <a:solidFill>
                <a:prstClr val="black"/>
              </a:solidFill>
              <a:latin typeface="Calibri" panose="020F0502020204030204"/>
            </a:endParaRPr>
          </a:p>
        </p:txBody>
      </p:sp>
      <p:sp>
        <p:nvSpPr>
          <p:cNvPr id="6" name="Text 4"/>
          <p:cNvSpPr/>
          <p:nvPr/>
        </p:nvSpPr>
        <p:spPr>
          <a:xfrm>
            <a:off x="609600" y="1402080"/>
            <a:ext cx="792480" cy="304800"/>
          </a:xfrm>
          <a:prstGeom prst="rect">
            <a:avLst/>
          </a:prstGeom>
          <a:noFill/>
          <a:ln/>
        </p:spPr>
        <p:txBody>
          <a:bodyPr wrap="square" lIns="0" tIns="0" rIns="0" bIns="0" rtlCol="0" anchor="ctr"/>
          <a:lstStyle/>
          <a:p>
            <a:pPr defTabSz="1219170"/>
            <a:r>
              <a:rPr lang="en-US" sz="1200" b="1" dirty="0">
                <a:solidFill>
                  <a:srgbClr val="00D4AA"/>
                </a:solidFill>
                <a:latin typeface="Arial Black" pitchFamily="34" charset="0"/>
                <a:ea typeface="Arial Black" pitchFamily="34" charset="-122"/>
                <a:cs typeface="Arial Black" pitchFamily="34" charset="-120"/>
              </a:rPr>
              <a:t>Watch</a:t>
            </a:r>
            <a:endParaRPr lang="en-US" sz="1200" dirty="0">
              <a:solidFill>
                <a:prstClr val="black"/>
              </a:solidFill>
              <a:latin typeface="Calibri" panose="020F0502020204030204"/>
            </a:endParaRPr>
          </a:p>
        </p:txBody>
      </p:sp>
      <p:sp>
        <p:nvSpPr>
          <p:cNvPr id="7" name="Text 5"/>
          <p:cNvSpPr/>
          <p:nvPr/>
        </p:nvSpPr>
        <p:spPr>
          <a:xfrm>
            <a:off x="1402080" y="1402080"/>
            <a:ext cx="426720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M2 growth + federal deficit/GDP (leading)</a:t>
            </a:r>
            <a:endParaRPr lang="en-US" sz="1200" dirty="0">
              <a:solidFill>
                <a:prstClr val="black"/>
              </a:solidFill>
              <a:latin typeface="Calibri" panose="020F0502020204030204"/>
            </a:endParaRPr>
          </a:p>
        </p:txBody>
      </p:sp>
      <p:sp>
        <p:nvSpPr>
          <p:cNvPr id="8" name="Text 6"/>
          <p:cNvSpPr/>
          <p:nvPr/>
        </p:nvSpPr>
        <p:spPr>
          <a:xfrm>
            <a:off x="609600" y="1828800"/>
            <a:ext cx="792480" cy="304800"/>
          </a:xfrm>
          <a:prstGeom prst="rect">
            <a:avLst/>
          </a:prstGeom>
          <a:noFill/>
          <a:ln/>
        </p:spPr>
        <p:txBody>
          <a:bodyPr wrap="square" lIns="0" tIns="0" rIns="0" bIns="0" rtlCol="0" anchor="ctr"/>
          <a:lstStyle/>
          <a:p>
            <a:pPr defTabSz="1219170"/>
            <a:r>
              <a:rPr lang="en-US" sz="1200" b="1" dirty="0">
                <a:solidFill>
                  <a:srgbClr val="00D4AA"/>
                </a:solidFill>
                <a:latin typeface="Arial Black" pitchFamily="34" charset="0"/>
                <a:ea typeface="Arial Black" pitchFamily="34" charset="-122"/>
                <a:cs typeface="Arial Black" pitchFamily="34" charset="-120"/>
              </a:rPr>
              <a:t>Watch</a:t>
            </a:r>
            <a:endParaRPr lang="en-US" sz="1200" dirty="0">
              <a:solidFill>
                <a:prstClr val="black"/>
              </a:solidFill>
              <a:latin typeface="Calibri" panose="020F0502020204030204"/>
            </a:endParaRPr>
          </a:p>
        </p:txBody>
      </p:sp>
      <p:sp>
        <p:nvSpPr>
          <p:cNvPr id="9" name="Text 7"/>
          <p:cNvSpPr/>
          <p:nvPr/>
        </p:nvSpPr>
        <p:spPr>
          <a:xfrm>
            <a:off x="1402080" y="1828800"/>
            <a:ext cx="426720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CPI &amp; Core CPI (lagging, but headline)</a:t>
            </a:r>
            <a:endParaRPr lang="en-US" sz="1200" dirty="0">
              <a:solidFill>
                <a:prstClr val="black"/>
              </a:solidFill>
              <a:latin typeface="Calibri" panose="020F0502020204030204"/>
            </a:endParaRPr>
          </a:p>
        </p:txBody>
      </p:sp>
      <p:sp>
        <p:nvSpPr>
          <p:cNvPr id="10" name="Text 8"/>
          <p:cNvSpPr/>
          <p:nvPr/>
        </p:nvSpPr>
        <p:spPr>
          <a:xfrm>
            <a:off x="609600" y="2255520"/>
            <a:ext cx="792480" cy="304800"/>
          </a:xfrm>
          <a:prstGeom prst="rect">
            <a:avLst/>
          </a:prstGeom>
          <a:noFill/>
          <a:ln/>
        </p:spPr>
        <p:txBody>
          <a:bodyPr wrap="square" lIns="0" tIns="0" rIns="0" bIns="0" rtlCol="0" anchor="ctr"/>
          <a:lstStyle/>
          <a:p>
            <a:pPr defTabSz="1219170"/>
            <a:r>
              <a:rPr lang="en-US" sz="1200" b="1" dirty="0">
                <a:solidFill>
                  <a:srgbClr val="00D4AA"/>
                </a:solidFill>
                <a:latin typeface="Arial Black" pitchFamily="34" charset="0"/>
                <a:ea typeface="Arial Black" pitchFamily="34" charset="-122"/>
                <a:cs typeface="Arial Black" pitchFamily="34" charset="-120"/>
              </a:rPr>
              <a:t>Watch</a:t>
            </a:r>
            <a:endParaRPr lang="en-US" sz="1200" dirty="0">
              <a:solidFill>
                <a:prstClr val="black"/>
              </a:solidFill>
              <a:latin typeface="Calibri" panose="020F0502020204030204"/>
            </a:endParaRPr>
          </a:p>
        </p:txBody>
      </p:sp>
      <p:sp>
        <p:nvSpPr>
          <p:cNvPr id="11" name="Text 9"/>
          <p:cNvSpPr/>
          <p:nvPr/>
        </p:nvSpPr>
        <p:spPr>
          <a:xfrm>
            <a:off x="1402080" y="2255520"/>
            <a:ext cx="426720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Real interest rates (negative = gold bullish)</a:t>
            </a:r>
            <a:endParaRPr lang="en-US" sz="1200" dirty="0">
              <a:solidFill>
                <a:prstClr val="black"/>
              </a:solidFill>
              <a:latin typeface="Calibri" panose="020F0502020204030204"/>
            </a:endParaRPr>
          </a:p>
        </p:txBody>
      </p:sp>
      <p:sp>
        <p:nvSpPr>
          <p:cNvPr id="12" name="Text 10"/>
          <p:cNvSpPr/>
          <p:nvPr/>
        </p:nvSpPr>
        <p:spPr>
          <a:xfrm>
            <a:off x="609600" y="2682240"/>
            <a:ext cx="792480" cy="304800"/>
          </a:xfrm>
          <a:prstGeom prst="rect">
            <a:avLst/>
          </a:prstGeom>
          <a:noFill/>
          <a:ln/>
        </p:spPr>
        <p:txBody>
          <a:bodyPr wrap="square" lIns="0" tIns="0" rIns="0" bIns="0" rtlCol="0" anchor="ctr"/>
          <a:lstStyle/>
          <a:p>
            <a:pPr defTabSz="1219170"/>
            <a:r>
              <a:rPr lang="en-US" sz="1200" b="1" dirty="0">
                <a:solidFill>
                  <a:srgbClr val="00D4AA"/>
                </a:solidFill>
                <a:latin typeface="Arial Black" pitchFamily="34" charset="0"/>
                <a:ea typeface="Arial Black" pitchFamily="34" charset="-122"/>
                <a:cs typeface="Arial Black" pitchFamily="34" charset="-120"/>
              </a:rPr>
              <a:t>Watch</a:t>
            </a:r>
            <a:endParaRPr lang="en-US" sz="1200" dirty="0">
              <a:solidFill>
                <a:prstClr val="black"/>
              </a:solidFill>
              <a:latin typeface="Calibri" panose="020F0502020204030204"/>
            </a:endParaRPr>
          </a:p>
        </p:txBody>
      </p:sp>
      <p:sp>
        <p:nvSpPr>
          <p:cNvPr id="13" name="Text 11"/>
          <p:cNvSpPr/>
          <p:nvPr/>
        </p:nvSpPr>
        <p:spPr>
          <a:xfrm>
            <a:off x="1402080" y="2682240"/>
            <a:ext cx="426720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Fed forward guidance (shapes expectations)</a:t>
            </a:r>
            <a:endParaRPr lang="en-US" sz="1200" dirty="0">
              <a:solidFill>
                <a:prstClr val="black"/>
              </a:solidFill>
              <a:latin typeface="Calibri" panose="020F0502020204030204"/>
            </a:endParaRPr>
          </a:p>
        </p:txBody>
      </p:sp>
      <p:sp>
        <p:nvSpPr>
          <p:cNvPr id="14" name="Text 12"/>
          <p:cNvSpPr/>
          <p:nvPr/>
        </p:nvSpPr>
        <p:spPr>
          <a:xfrm>
            <a:off x="609600" y="3108960"/>
            <a:ext cx="792480" cy="304800"/>
          </a:xfrm>
          <a:prstGeom prst="rect">
            <a:avLst/>
          </a:prstGeom>
          <a:noFill/>
          <a:ln/>
        </p:spPr>
        <p:txBody>
          <a:bodyPr wrap="square" lIns="0" tIns="0" rIns="0" bIns="0" rtlCol="0" anchor="ctr"/>
          <a:lstStyle/>
          <a:p>
            <a:pPr defTabSz="1219170"/>
            <a:r>
              <a:rPr lang="en-US" sz="1200" b="1" dirty="0">
                <a:solidFill>
                  <a:srgbClr val="00D4AA"/>
                </a:solidFill>
                <a:latin typeface="Arial Black" pitchFamily="34" charset="0"/>
                <a:ea typeface="Arial Black" pitchFamily="34" charset="-122"/>
                <a:cs typeface="Arial Black" pitchFamily="34" charset="-120"/>
              </a:rPr>
              <a:t>Watch</a:t>
            </a:r>
            <a:endParaRPr lang="en-US" sz="1200" dirty="0">
              <a:solidFill>
                <a:prstClr val="black"/>
              </a:solidFill>
              <a:latin typeface="Calibri" panose="020F0502020204030204"/>
            </a:endParaRPr>
          </a:p>
        </p:txBody>
      </p:sp>
      <p:sp>
        <p:nvSpPr>
          <p:cNvPr id="15" name="Text 13"/>
          <p:cNvSpPr/>
          <p:nvPr/>
        </p:nvSpPr>
        <p:spPr>
          <a:xfrm>
            <a:off x="1402080" y="3108960"/>
            <a:ext cx="426720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Yield curve (inverted = future recession risk)</a:t>
            </a:r>
            <a:endParaRPr lang="en-US" sz="1200" dirty="0">
              <a:solidFill>
                <a:prstClr val="black"/>
              </a:solidFill>
              <a:latin typeface="Calibri" panose="020F0502020204030204"/>
            </a:endParaRPr>
          </a:p>
        </p:txBody>
      </p:sp>
      <p:sp>
        <p:nvSpPr>
          <p:cNvPr id="16" name="Text 14"/>
          <p:cNvSpPr/>
          <p:nvPr/>
        </p:nvSpPr>
        <p:spPr>
          <a:xfrm>
            <a:off x="609600" y="3657600"/>
            <a:ext cx="5059680" cy="365760"/>
          </a:xfrm>
          <a:prstGeom prst="rect">
            <a:avLst/>
          </a:prstGeom>
          <a:noFill/>
          <a:ln/>
        </p:spPr>
        <p:txBody>
          <a:bodyPr wrap="square" lIns="0" tIns="0" rIns="0" bIns="0" rtlCol="0" anchor="ctr"/>
          <a:lstStyle/>
          <a:p>
            <a:pPr defTabSz="1219170"/>
            <a:r>
              <a:rPr lang="en-US" sz="1467" b="1" dirty="0">
                <a:solidFill>
                  <a:srgbClr val="FF8C42"/>
                </a:solidFill>
                <a:latin typeface="Arial Black" pitchFamily="34" charset="0"/>
                <a:ea typeface="Arial Black" pitchFamily="34" charset="-122"/>
                <a:cs typeface="Arial Black" pitchFamily="34" charset="-120"/>
              </a:rPr>
              <a:t>ALLOCATION BY REGIME</a:t>
            </a:r>
            <a:endParaRPr lang="en-US" sz="1467" dirty="0">
              <a:solidFill>
                <a:prstClr val="black"/>
              </a:solidFill>
              <a:latin typeface="Calibri" panose="020F0502020204030204"/>
            </a:endParaRPr>
          </a:p>
        </p:txBody>
      </p:sp>
      <p:sp>
        <p:nvSpPr>
          <p:cNvPr id="17" name="Shape 15"/>
          <p:cNvSpPr/>
          <p:nvPr/>
        </p:nvSpPr>
        <p:spPr>
          <a:xfrm>
            <a:off x="609600" y="4145280"/>
            <a:ext cx="5059680" cy="548640"/>
          </a:xfrm>
          <a:prstGeom prst="roundRect">
            <a:avLst>
              <a:gd name="adj" fmla="val 8889"/>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609600" y="4145280"/>
            <a:ext cx="60960" cy="548640"/>
          </a:xfrm>
          <a:prstGeom prst="rect">
            <a:avLst/>
          </a:prstGeom>
          <a:solidFill>
            <a:srgbClr val="2ED573"/>
          </a:solidFill>
          <a:ln/>
        </p:spPr>
        <p:txBody>
          <a:bodyPr/>
          <a:lstStyle/>
          <a:p>
            <a:pPr defTabSz="1219170"/>
            <a:endParaRPr lang="en-US" sz="2400">
              <a:solidFill>
                <a:prstClr val="black"/>
              </a:solidFill>
              <a:latin typeface="Calibri" panose="020F0502020204030204"/>
            </a:endParaRPr>
          </a:p>
        </p:txBody>
      </p:sp>
      <p:sp>
        <p:nvSpPr>
          <p:cNvPr id="19" name="Text 17"/>
          <p:cNvSpPr/>
          <p:nvPr/>
        </p:nvSpPr>
        <p:spPr>
          <a:xfrm>
            <a:off x="792480" y="4145280"/>
            <a:ext cx="1706880" cy="548640"/>
          </a:xfrm>
          <a:prstGeom prst="rect">
            <a:avLst/>
          </a:prstGeom>
          <a:noFill/>
          <a:ln/>
        </p:spPr>
        <p:txBody>
          <a:bodyPr wrap="square" lIns="0" tIns="0" rIns="0" bIns="0" rtlCol="0" anchor="ctr"/>
          <a:lstStyle/>
          <a:p>
            <a:pPr defTabSz="1219170"/>
            <a:r>
              <a:rPr lang="en-US" sz="1200" b="1" dirty="0">
                <a:solidFill>
                  <a:srgbClr val="2ED573"/>
                </a:solidFill>
                <a:latin typeface="Arial Black" pitchFamily="34" charset="0"/>
                <a:ea typeface="Arial Black" pitchFamily="34" charset="-122"/>
                <a:cs typeface="Arial Black" pitchFamily="34" charset="-120"/>
              </a:rPr>
              <a:t>Low (&lt;2% CPI)</a:t>
            </a:r>
            <a:endParaRPr lang="en-US" sz="1200" dirty="0">
              <a:solidFill>
                <a:prstClr val="black"/>
              </a:solidFill>
              <a:latin typeface="Calibri" panose="020F0502020204030204"/>
            </a:endParaRPr>
          </a:p>
        </p:txBody>
      </p:sp>
      <p:sp>
        <p:nvSpPr>
          <p:cNvPr id="20" name="Text 18"/>
          <p:cNvSpPr/>
          <p:nvPr/>
        </p:nvSpPr>
        <p:spPr>
          <a:xfrm>
            <a:off x="2499360" y="4145280"/>
            <a:ext cx="3048000" cy="548640"/>
          </a:xfrm>
          <a:prstGeom prst="rect">
            <a:avLst/>
          </a:prstGeom>
          <a:noFill/>
          <a:ln/>
        </p:spPr>
        <p:txBody>
          <a:bodyPr wrap="square" lIns="0" tIns="0" rIns="0" bIns="0" rtlCol="0" anchor="ctr"/>
          <a:lstStyle/>
          <a:p>
            <a:pPr defTabSz="1219170"/>
            <a:r>
              <a:rPr lang="en-US" sz="1067" dirty="0">
                <a:solidFill>
                  <a:srgbClr val="E8ECF1"/>
                </a:solidFill>
                <a:latin typeface="Calibri" pitchFamily="34" charset="0"/>
                <a:ea typeface="Calibri" pitchFamily="34" charset="-122"/>
                <a:cs typeface="Calibri" pitchFamily="34" charset="-120"/>
              </a:rPr>
              <a:t>TIPS 5%, Gold 3-5%, Commodities 3-5%, Short Duration 10%</a:t>
            </a:r>
            <a:endParaRPr lang="en-US" sz="1067" dirty="0">
              <a:solidFill>
                <a:prstClr val="black"/>
              </a:solidFill>
              <a:latin typeface="Calibri" panose="020F0502020204030204"/>
            </a:endParaRPr>
          </a:p>
        </p:txBody>
      </p:sp>
      <p:sp>
        <p:nvSpPr>
          <p:cNvPr id="21" name="Shape 19"/>
          <p:cNvSpPr/>
          <p:nvPr/>
        </p:nvSpPr>
        <p:spPr>
          <a:xfrm>
            <a:off x="609600" y="4815840"/>
            <a:ext cx="5059680" cy="548640"/>
          </a:xfrm>
          <a:prstGeom prst="roundRect">
            <a:avLst>
              <a:gd name="adj" fmla="val 8889"/>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609600" y="4815840"/>
            <a:ext cx="60960" cy="548640"/>
          </a:xfrm>
          <a:prstGeom prst="rect">
            <a:avLst/>
          </a:prstGeom>
          <a:solidFill>
            <a:srgbClr val="FF8C42"/>
          </a:solidFill>
          <a:ln/>
        </p:spPr>
        <p:txBody>
          <a:bodyPr/>
          <a:lstStyle/>
          <a:p>
            <a:pPr defTabSz="1219170"/>
            <a:endParaRPr lang="en-US" sz="2400">
              <a:solidFill>
                <a:prstClr val="black"/>
              </a:solidFill>
              <a:latin typeface="Calibri" panose="020F0502020204030204"/>
            </a:endParaRPr>
          </a:p>
        </p:txBody>
      </p:sp>
      <p:sp>
        <p:nvSpPr>
          <p:cNvPr id="23" name="Text 21"/>
          <p:cNvSpPr/>
          <p:nvPr/>
        </p:nvSpPr>
        <p:spPr>
          <a:xfrm>
            <a:off x="792480" y="4815840"/>
            <a:ext cx="1706880" cy="548640"/>
          </a:xfrm>
          <a:prstGeom prst="rect">
            <a:avLst/>
          </a:prstGeom>
          <a:noFill/>
          <a:ln/>
        </p:spPr>
        <p:txBody>
          <a:bodyPr wrap="square" lIns="0" tIns="0" rIns="0" bIns="0" rtlCol="0" anchor="ctr"/>
          <a:lstStyle/>
          <a:p>
            <a:pPr defTabSz="1219170"/>
            <a:r>
              <a:rPr lang="en-US" sz="1200" b="1" dirty="0">
                <a:solidFill>
                  <a:srgbClr val="FF8C42"/>
                </a:solidFill>
                <a:latin typeface="Arial Black" pitchFamily="34" charset="0"/>
                <a:ea typeface="Arial Black" pitchFamily="34" charset="-122"/>
                <a:cs typeface="Arial Black" pitchFamily="34" charset="-120"/>
              </a:rPr>
              <a:t>Moderate (2-5%)</a:t>
            </a:r>
            <a:endParaRPr lang="en-US" sz="1200" dirty="0">
              <a:solidFill>
                <a:prstClr val="black"/>
              </a:solidFill>
              <a:latin typeface="Calibri" panose="020F0502020204030204"/>
            </a:endParaRPr>
          </a:p>
        </p:txBody>
      </p:sp>
      <p:sp>
        <p:nvSpPr>
          <p:cNvPr id="24" name="Text 22"/>
          <p:cNvSpPr/>
          <p:nvPr/>
        </p:nvSpPr>
        <p:spPr>
          <a:xfrm>
            <a:off x="2499360" y="4815840"/>
            <a:ext cx="3048000" cy="548640"/>
          </a:xfrm>
          <a:prstGeom prst="rect">
            <a:avLst/>
          </a:prstGeom>
          <a:noFill/>
          <a:ln/>
        </p:spPr>
        <p:txBody>
          <a:bodyPr wrap="square" lIns="0" tIns="0" rIns="0" bIns="0" rtlCol="0" anchor="ctr"/>
          <a:lstStyle/>
          <a:p>
            <a:pPr defTabSz="1219170"/>
            <a:r>
              <a:rPr lang="en-US" sz="1067" dirty="0">
                <a:solidFill>
                  <a:srgbClr val="E8ECF1"/>
                </a:solidFill>
                <a:latin typeface="Calibri" pitchFamily="34" charset="0"/>
                <a:ea typeface="Calibri" pitchFamily="34" charset="-122"/>
                <a:cs typeface="Calibri" pitchFamily="34" charset="-120"/>
              </a:rPr>
              <a:t>TIPS 10%, Gold 5-10%, Commodities 5-8%, Float Rate 5-8%, REITs 8%</a:t>
            </a:r>
            <a:endParaRPr lang="en-US" sz="1067" dirty="0">
              <a:solidFill>
                <a:prstClr val="black"/>
              </a:solidFill>
              <a:latin typeface="Calibri" panose="020F0502020204030204"/>
            </a:endParaRPr>
          </a:p>
        </p:txBody>
      </p:sp>
      <p:sp>
        <p:nvSpPr>
          <p:cNvPr id="25" name="Shape 23"/>
          <p:cNvSpPr/>
          <p:nvPr/>
        </p:nvSpPr>
        <p:spPr>
          <a:xfrm>
            <a:off x="609600" y="5486400"/>
            <a:ext cx="5059680" cy="548640"/>
          </a:xfrm>
          <a:prstGeom prst="roundRect">
            <a:avLst>
              <a:gd name="adj" fmla="val 8889"/>
            </a:avLst>
          </a:prstGeom>
          <a:solidFill>
            <a:srgbClr val="1C2133"/>
          </a:solidFill>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609600" y="5486400"/>
            <a:ext cx="60960" cy="548640"/>
          </a:xfrm>
          <a:prstGeom prst="rect">
            <a:avLst/>
          </a:prstGeom>
          <a:solidFill>
            <a:srgbClr val="FF4757"/>
          </a:solidFill>
          <a:ln/>
        </p:spPr>
        <p:txBody>
          <a:bodyPr/>
          <a:lstStyle/>
          <a:p>
            <a:pPr defTabSz="1219170"/>
            <a:endParaRPr lang="en-US" sz="2400">
              <a:solidFill>
                <a:prstClr val="black"/>
              </a:solidFill>
              <a:latin typeface="Calibri" panose="020F0502020204030204"/>
            </a:endParaRPr>
          </a:p>
        </p:txBody>
      </p:sp>
      <p:sp>
        <p:nvSpPr>
          <p:cNvPr id="27" name="Text 25"/>
          <p:cNvSpPr/>
          <p:nvPr/>
        </p:nvSpPr>
        <p:spPr>
          <a:xfrm>
            <a:off x="792480" y="5486400"/>
            <a:ext cx="1706880" cy="548640"/>
          </a:xfrm>
          <a:prstGeom prst="rect">
            <a:avLst/>
          </a:prstGeom>
          <a:noFill/>
          <a:ln/>
        </p:spPr>
        <p:txBody>
          <a:bodyPr wrap="square" lIns="0" tIns="0" rIns="0" bIns="0" rtlCol="0" anchor="ctr"/>
          <a:lstStyle/>
          <a:p>
            <a:pPr defTabSz="1219170"/>
            <a:r>
              <a:rPr lang="en-US" sz="1200" b="1" dirty="0">
                <a:solidFill>
                  <a:srgbClr val="FF4757"/>
                </a:solidFill>
                <a:latin typeface="Arial Black" pitchFamily="34" charset="0"/>
                <a:ea typeface="Arial Black" pitchFamily="34" charset="-122"/>
                <a:cs typeface="Arial Black" pitchFamily="34" charset="-120"/>
              </a:rPr>
              <a:t>High (&gt;5% CPI)</a:t>
            </a:r>
            <a:endParaRPr lang="en-US" sz="1200" dirty="0">
              <a:solidFill>
                <a:prstClr val="black"/>
              </a:solidFill>
              <a:latin typeface="Calibri" panose="020F0502020204030204"/>
            </a:endParaRPr>
          </a:p>
        </p:txBody>
      </p:sp>
      <p:sp>
        <p:nvSpPr>
          <p:cNvPr id="28" name="Text 26"/>
          <p:cNvSpPr/>
          <p:nvPr/>
        </p:nvSpPr>
        <p:spPr>
          <a:xfrm>
            <a:off x="2499360" y="5486400"/>
            <a:ext cx="3048000" cy="548640"/>
          </a:xfrm>
          <a:prstGeom prst="rect">
            <a:avLst/>
          </a:prstGeom>
          <a:noFill/>
          <a:ln/>
        </p:spPr>
        <p:txBody>
          <a:bodyPr wrap="square" lIns="0" tIns="0" rIns="0" bIns="0" rtlCol="0" anchor="ctr"/>
          <a:lstStyle/>
          <a:p>
            <a:pPr defTabSz="1219170"/>
            <a:r>
              <a:rPr lang="en-US" sz="1067" dirty="0">
                <a:solidFill>
                  <a:srgbClr val="E8ECF1"/>
                </a:solidFill>
                <a:latin typeface="Calibri" pitchFamily="34" charset="0"/>
                <a:ea typeface="Calibri" pitchFamily="34" charset="-122"/>
                <a:cs typeface="Calibri" pitchFamily="34" charset="-120"/>
              </a:rPr>
              <a:t>TIPS 15%, Gold 10-15%, Commodities 8-10%, Float Rate 10%, REITs 10-15%</a:t>
            </a:r>
            <a:endParaRPr lang="en-US" sz="1067" dirty="0">
              <a:solidFill>
                <a:prstClr val="black"/>
              </a:solidFill>
              <a:latin typeface="Calibri" panose="020F0502020204030204"/>
            </a:endParaRPr>
          </a:p>
        </p:txBody>
      </p:sp>
      <p:sp>
        <p:nvSpPr>
          <p:cNvPr id="29" name="Shape 27"/>
          <p:cNvSpPr/>
          <p:nvPr/>
        </p:nvSpPr>
        <p:spPr>
          <a:xfrm>
            <a:off x="6278880" y="914400"/>
            <a:ext cx="5547360" cy="5608320"/>
          </a:xfrm>
          <a:prstGeom prst="rect">
            <a:avLst/>
          </a:prstGeom>
          <a:solidFill>
            <a:srgbClr val="151926"/>
          </a:solidFill>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6522720" y="975360"/>
            <a:ext cx="5059680" cy="365760"/>
          </a:xfrm>
          <a:prstGeom prst="rect">
            <a:avLst/>
          </a:prstGeom>
          <a:noFill/>
          <a:ln/>
        </p:spPr>
        <p:txBody>
          <a:bodyPr wrap="square" lIns="0" tIns="0" rIns="0" bIns="0" rtlCol="0" anchor="ctr"/>
          <a:lstStyle/>
          <a:p>
            <a:pPr defTabSz="1219170"/>
            <a:r>
              <a:rPr lang="en-US" sz="1467" b="1" dirty="0">
                <a:solidFill>
                  <a:srgbClr val="FFD700"/>
                </a:solidFill>
                <a:latin typeface="Arial Black" pitchFamily="34" charset="0"/>
                <a:ea typeface="Arial Black" pitchFamily="34" charset="-122"/>
                <a:cs typeface="Arial Black" pitchFamily="34" charset="-120"/>
              </a:rPr>
              <a:t>CLIENT CONVERSATION GUIDE</a:t>
            </a:r>
            <a:endParaRPr lang="en-US" sz="1467" dirty="0">
              <a:solidFill>
                <a:prstClr val="black"/>
              </a:solidFill>
              <a:latin typeface="Calibri" panose="020F0502020204030204"/>
            </a:endParaRPr>
          </a:p>
        </p:txBody>
      </p:sp>
      <p:sp>
        <p:nvSpPr>
          <p:cNvPr id="31" name="Text 29"/>
          <p:cNvSpPr/>
          <p:nvPr/>
        </p:nvSpPr>
        <p:spPr>
          <a:xfrm>
            <a:off x="6522720" y="1463040"/>
            <a:ext cx="5059680" cy="268224"/>
          </a:xfrm>
          <a:prstGeom prst="rect">
            <a:avLst/>
          </a:prstGeom>
          <a:noFill/>
          <a:ln/>
        </p:spPr>
        <p:txBody>
          <a:bodyPr wrap="square" lIns="0" tIns="0" rIns="0" bIns="0" rtlCol="0" anchor="ctr"/>
          <a:lstStyle/>
          <a:p>
            <a:pPr defTabSz="1219170"/>
            <a:r>
              <a:rPr lang="en-US" sz="1333" b="1" i="1" dirty="0">
                <a:solidFill>
                  <a:srgbClr val="FF8C42"/>
                </a:solidFill>
                <a:latin typeface="Calibri" pitchFamily="34" charset="0"/>
                <a:ea typeface="Calibri" pitchFamily="34" charset="-122"/>
                <a:cs typeface="Calibri" pitchFamily="34" charset="-120"/>
              </a:rPr>
              <a:t>"Inflation isn't that bad"</a:t>
            </a:r>
            <a:endParaRPr lang="en-US" sz="1333" dirty="0">
              <a:solidFill>
                <a:prstClr val="black"/>
              </a:solidFill>
              <a:latin typeface="Calibri" panose="020F0502020204030204"/>
            </a:endParaRPr>
          </a:p>
        </p:txBody>
      </p:sp>
      <p:sp>
        <p:nvSpPr>
          <p:cNvPr id="32" name="Text 30"/>
          <p:cNvSpPr/>
          <p:nvPr/>
        </p:nvSpPr>
        <p:spPr>
          <a:xfrm>
            <a:off x="6522720" y="1731264"/>
            <a:ext cx="505968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Show the 87% decline slide. Real returns matter.</a:t>
            </a:r>
            <a:endParaRPr lang="en-US" sz="1200" dirty="0">
              <a:solidFill>
                <a:prstClr val="black"/>
              </a:solidFill>
              <a:latin typeface="Calibri" panose="020F0502020204030204"/>
            </a:endParaRPr>
          </a:p>
        </p:txBody>
      </p:sp>
      <p:sp>
        <p:nvSpPr>
          <p:cNvPr id="33" name="Text 31"/>
          <p:cNvSpPr/>
          <p:nvPr/>
        </p:nvSpPr>
        <p:spPr>
          <a:xfrm>
            <a:off x="6522720" y="2194560"/>
            <a:ext cx="5059680" cy="268224"/>
          </a:xfrm>
          <a:prstGeom prst="rect">
            <a:avLst/>
          </a:prstGeom>
          <a:noFill/>
          <a:ln/>
        </p:spPr>
        <p:txBody>
          <a:bodyPr wrap="square" lIns="0" tIns="0" rIns="0" bIns="0" rtlCol="0" anchor="ctr"/>
          <a:lstStyle/>
          <a:p>
            <a:pPr defTabSz="1219170"/>
            <a:r>
              <a:rPr lang="en-US" sz="1333" b="1" i="1" dirty="0">
                <a:solidFill>
                  <a:srgbClr val="FF8C42"/>
                </a:solidFill>
                <a:latin typeface="Calibri" pitchFamily="34" charset="0"/>
                <a:ea typeface="Calibri" pitchFamily="34" charset="-122"/>
                <a:cs typeface="Calibri" pitchFamily="34" charset="-120"/>
              </a:rPr>
              <a:t>"Bonds are safe"</a:t>
            </a:r>
            <a:endParaRPr lang="en-US" sz="1333" dirty="0">
              <a:solidFill>
                <a:prstClr val="black"/>
              </a:solidFill>
              <a:latin typeface="Calibri" panose="020F0502020204030204"/>
            </a:endParaRPr>
          </a:p>
        </p:txBody>
      </p:sp>
      <p:sp>
        <p:nvSpPr>
          <p:cNvPr id="34" name="Text 32"/>
          <p:cNvSpPr/>
          <p:nvPr/>
        </p:nvSpPr>
        <p:spPr>
          <a:xfrm>
            <a:off x="6522720" y="2462784"/>
            <a:ext cx="505968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Show duration impact table. Long bonds = inflation trap.</a:t>
            </a:r>
            <a:endParaRPr lang="en-US" sz="1200" dirty="0">
              <a:solidFill>
                <a:prstClr val="black"/>
              </a:solidFill>
              <a:latin typeface="Calibri" panose="020F0502020204030204"/>
            </a:endParaRPr>
          </a:p>
        </p:txBody>
      </p:sp>
      <p:sp>
        <p:nvSpPr>
          <p:cNvPr id="35" name="Text 33"/>
          <p:cNvSpPr/>
          <p:nvPr/>
        </p:nvSpPr>
        <p:spPr>
          <a:xfrm>
            <a:off x="6522720" y="2926080"/>
            <a:ext cx="5059680" cy="268224"/>
          </a:xfrm>
          <a:prstGeom prst="rect">
            <a:avLst/>
          </a:prstGeom>
          <a:noFill/>
          <a:ln/>
        </p:spPr>
        <p:txBody>
          <a:bodyPr wrap="square" lIns="0" tIns="0" rIns="0" bIns="0" rtlCol="0" anchor="ctr"/>
          <a:lstStyle/>
          <a:p>
            <a:pPr defTabSz="1219170"/>
            <a:r>
              <a:rPr lang="en-US" sz="1333" b="1" i="1" dirty="0">
                <a:solidFill>
                  <a:srgbClr val="FF8C42"/>
                </a:solidFill>
                <a:latin typeface="Calibri" pitchFamily="34" charset="0"/>
                <a:ea typeface="Calibri" pitchFamily="34" charset="-122"/>
                <a:cs typeface="Calibri" pitchFamily="34" charset="-120"/>
              </a:rPr>
              <a:t>"Gold doesn't pay yield"</a:t>
            </a:r>
            <a:endParaRPr lang="en-US" sz="1333" dirty="0">
              <a:solidFill>
                <a:prstClr val="black"/>
              </a:solidFill>
              <a:latin typeface="Calibri" panose="020F0502020204030204"/>
            </a:endParaRPr>
          </a:p>
        </p:txBody>
      </p:sp>
      <p:sp>
        <p:nvSpPr>
          <p:cNvPr id="36" name="Text 34"/>
          <p:cNvSpPr/>
          <p:nvPr/>
        </p:nvSpPr>
        <p:spPr>
          <a:xfrm>
            <a:off x="6522720" y="3194304"/>
            <a:ext cx="505968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It's insurance, not income. What's your portfolio worth without it?</a:t>
            </a:r>
            <a:endParaRPr lang="en-US" sz="1200" dirty="0">
              <a:solidFill>
                <a:prstClr val="black"/>
              </a:solidFill>
              <a:latin typeface="Calibri" panose="020F0502020204030204"/>
            </a:endParaRPr>
          </a:p>
        </p:txBody>
      </p:sp>
      <p:sp>
        <p:nvSpPr>
          <p:cNvPr id="37" name="Text 35"/>
          <p:cNvSpPr/>
          <p:nvPr/>
        </p:nvSpPr>
        <p:spPr>
          <a:xfrm>
            <a:off x="6522720" y="3657600"/>
            <a:ext cx="5059680" cy="268224"/>
          </a:xfrm>
          <a:prstGeom prst="rect">
            <a:avLst/>
          </a:prstGeom>
          <a:noFill/>
          <a:ln/>
        </p:spPr>
        <p:txBody>
          <a:bodyPr wrap="square" lIns="0" tIns="0" rIns="0" bIns="0" rtlCol="0" anchor="ctr"/>
          <a:lstStyle/>
          <a:p>
            <a:pPr defTabSz="1219170"/>
            <a:r>
              <a:rPr lang="en-US" sz="1333" b="1" i="1" dirty="0">
                <a:solidFill>
                  <a:srgbClr val="FF8C42"/>
                </a:solidFill>
                <a:latin typeface="Calibri" pitchFamily="34" charset="0"/>
                <a:ea typeface="Calibri" pitchFamily="34" charset="-122"/>
                <a:cs typeface="Calibri" pitchFamily="34" charset="-120"/>
              </a:rPr>
              <a:t>"I'll just wait it out"</a:t>
            </a:r>
            <a:endParaRPr lang="en-US" sz="1333" dirty="0">
              <a:solidFill>
                <a:prstClr val="black"/>
              </a:solidFill>
              <a:latin typeface="Calibri" panose="020F0502020204030204"/>
            </a:endParaRPr>
          </a:p>
        </p:txBody>
      </p:sp>
      <p:sp>
        <p:nvSpPr>
          <p:cNvPr id="38" name="Text 36"/>
          <p:cNvSpPr/>
          <p:nvPr/>
        </p:nvSpPr>
        <p:spPr>
          <a:xfrm>
            <a:off x="6522720" y="3925824"/>
            <a:ext cx="5059680" cy="304800"/>
          </a:xfrm>
          <a:prstGeom prst="rect">
            <a:avLst/>
          </a:prstGeom>
          <a:noFill/>
          <a:ln/>
        </p:spPr>
        <p:txBody>
          <a:bodyPr wrap="square" lIns="0" tIns="0" rIns="0" bIns="0" rtlCol="0" anchor="ctr"/>
          <a:lstStyle/>
          <a:p>
            <a:pPr defTabSz="1219170"/>
            <a:r>
              <a:rPr lang="en-US" sz="1200" dirty="0">
                <a:solidFill>
                  <a:srgbClr val="E8ECF1"/>
                </a:solidFill>
                <a:latin typeface="Calibri" pitchFamily="34" charset="0"/>
                <a:ea typeface="Calibri" pitchFamily="34" charset="-122"/>
                <a:cs typeface="Calibri" pitchFamily="34" charset="-120"/>
              </a:rPr>
              <a:t>Inflation compounds. Waiting costs real money every year.</a:t>
            </a:r>
            <a:endParaRPr lang="en-US" sz="1200" dirty="0">
              <a:solidFill>
                <a:prstClr val="black"/>
              </a:solidFill>
              <a:latin typeface="Calibri" panose="020F0502020204030204"/>
            </a:endParaRPr>
          </a:p>
        </p:txBody>
      </p:sp>
      <p:sp>
        <p:nvSpPr>
          <p:cNvPr id="39" name="Text 37"/>
          <p:cNvSpPr/>
          <p:nvPr/>
        </p:nvSpPr>
        <p:spPr>
          <a:xfrm>
            <a:off x="6522720" y="4389120"/>
            <a:ext cx="5059680" cy="365760"/>
          </a:xfrm>
          <a:prstGeom prst="rect">
            <a:avLst/>
          </a:prstGeom>
          <a:noFill/>
          <a:ln/>
        </p:spPr>
        <p:txBody>
          <a:bodyPr wrap="square" lIns="0" tIns="0" rIns="0" bIns="0" rtlCol="0" anchor="ctr"/>
          <a:lstStyle/>
          <a:p>
            <a:pPr defTabSz="1219170"/>
            <a:r>
              <a:rPr lang="en-US" sz="1467" b="1" dirty="0">
                <a:solidFill>
                  <a:srgbClr val="00D4AA"/>
                </a:solidFill>
                <a:latin typeface="Arial Black" pitchFamily="34" charset="0"/>
                <a:ea typeface="Arial Black" pitchFamily="34" charset="-122"/>
                <a:cs typeface="Arial Black" pitchFamily="34" charset="-120"/>
              </a:rPr>
              <a:t>5-STEP ACTION PLAN</a:t>
            </a:r>
            <a:endParaRPr lang="en-US" sz="1467" dirty="0">
              <a:solidFill>
                <a:prstClr val="black"/>
              </a:solidFill>
              <a:latin typeface="Calibri" panose="020F0502020204030204"/>
            </a:endParaRPr>
          </a:p>
        </p:txBody>
      </p:sp>
      <p:sp>
        <p:nvSpPr>
          <p:cNvPr id="40" name="Text 38"/>
          <p:cNvSpPr/>
          <p:nvPr/>
        </p:nvSpPr>
        <p:spPr>
          <a:xfrm>
            <a:off x="6522720" y="4815840"/>
            <a:ext cx="5059680" cy="304800"/>
          </a:xfrm>
          <a:prstGeom prst="rect">
            <a:avLst/>
          </a:prstGeom>
          <a:noFill/>
          <a:ln/>
        </p:spPr>
        <p:txBody>
          <a:bodyPr wrap="square" lIns="0" tIns="0" rIns="0" bIns="0" rtlCol="0" anchor="ctr"/>
          <a:lstStyle/>
          <a:p>
            <a:pPr defTabSz="1219170"/>
            <a:r>
              <a:rPr lang="en-US" sz="1333" b="1" dirty="0">
                <a:solidFill>
                  <a:srgbClr val="00D4AA"/>
                </a:solidFill>
                <a:latin typeface="Arial Black" pitchFamily="34" charset="0"/>
                <a:ea typeface="Arial Black" pitchFamily="34" charset="-122"/>
                <a:cs typeface="Arial Black" pitchFamily="34" charset="-120"/>
              </a:rPr>
              <a:t>1. </a:t>
            </a:r>
            <a:r>
              <a:rPr lang="en-US" sz="1333" dirty="0">
                <a:solidFill>
                  <a:srgbClr val="E8ECF1"/>
                </a:solidFill>
                <a:latin typeface="Calibri" pitchFamily="34" charset="0"/>
                <a:ea typeface="Calibri" pitchFamily="34" charset="-122"/>
                <a:cs typeface="Calibri" pitchFamily="34" charset="-120"/>
              </a:rPr>
              <a:t>Audit current allocations for inflation exposure</a:t>
            </a:r>
            <a:endParaRPr lang="en-US" sz="1333" dirty="0">
              <a:solidFill>
                <a:prstClr val="black"/>
              </a:solidFill>
              <a:latin typeface="Calibri" panose="020F0502020204030204"/>
            </a:endParaRPr>
          </a:p>
        </p:txBody>
      </p:sp>
      <p:sp>
        <p:nvSpPr>
          <p:cNvPr id="41" name="Text 39"/>
          <p:cNvSpPr/>
          <p:nvPr/>
        </p:nvSpPr>
        <p:spPr>
          <a:xfrm>
            <a:off x="6522720" y="5157216"/>
            <a:ext cx="5059680" cy="304800"/>
          </a:xfrm>
          <a:prstGeom prst="rect">
            <a:avLst/>
          </a:prstGeom>
          <a:noFill/>
          <a:ln/>
        </p:spPr>
        <p:txBody>
          <a:bodyPr wrap="square" lIns="0" tIns="0" rIns="0" bIns="0" rtlCol="0" anchor="ctr"/>
          <a:lstStyle/>
          <a:p>
            <a:pPr defTabSz="1219170"/>
            <a:r>
              <a:rPr lang="en-US" sz="1333" b="1" dirty="0">
                <a:solidFill>
                  <a:srgbClr val="00D4AA"/>
                </a:solidFill>
                <a:latin typeface="Arial Black" pitchFamily="34" charset="0"/>
                <a:ea typeface="Arial Black" pitchFamily="34" charset="-122"/>
                <a:cs typeface="Arial Black" pitchFamily="34" charset="-120"/>
              </a:rPr>
              <a:t>2. </a:t>
            </a:r>
            <a:r>
              <a:rPr lang="en-US" sz="1333" dirty="0">
                <a:solidFill>
                  <a:srgbClr val="E8ECF1"/>
                </a:solidFill>
                <a:latin typeface="Calibri" pitchFamily="34" charset="0"/>
                <a:ea typeface="Calibri" pitchFamily="34" charset="-122"/>
                <a:cs typeface="Calibri" pitchFamily="34" charset="-120"/>
              </a:rPr>
              <a:t>Shorten bond duration; add floating rate</a:t>
            </a:r>
            <a:endParaRPr lang="en-US" sz="1333" dirty="0">
              <a:solidFill>
                <a:prstClr val="black"/>
              </a:solidFill>
              <a:latin typeface="Calibri" panose="020F0502020204030204"/>
            </a:endParaRPr>
          </a:p>
        </p:txBody>
      </p:sp>
      <p:sp>
        <p:nvSpPr>
          <p:cNvPr id="42" name="Text 40"/>
          <p:cNvSpPr/>
          <p:nvPr/>
        </p:nvSpPr>
        <p:spPr>
          <a:xfrm>
            <a:off x="6522720" y="5498592"/>
            <a:ext cx="5059680" cy="304800"/>
          </a:xfrm>
          <a:prstGeom prst="rect">
            <a:avLst/>
          </a:prstGeom>
          <a:noFill/>
          <a:ln/>
        </p:spPr>
        <p:txBody>
          <a:bodyPr wrap="square" lIns="0" tIns="0" rIns="0" bIns="0" rtlCol="0" anchor="ctr"/>
          <a:lstStyle/>
          <a:p>
            <a:pPr defTabSz="1219170"/>
            <a:r>
              <a:rPr lang="en-US" sz="1333" b="1" dirty="0">
                <a:solidFill>
                  <a:srgbClr val="00D4AA"/>
                </a:solidFill>
                <a:latin typeface="Arial Black" pitchFamily="34" charset="0"/>
                <a:ea typeface="Arial Black" pitchFamily="34" charset="-122"/>
                <a:cs typeface="Arial Black" pitchFamily="34" charset="-120"/>
              </a:rPr>
              <a:t>3. </a:t>
            </a:r>
            <a:r>
              <a:rPr lang="en-US" sz="1333" dirty="0">
                <a:solidFill>
                  <a:srgbClr val="E8ECF1"/>
                </a:solidFill>
                <a:latin typeface="Calibri" pitchFamily="34" charset="0"/>
                <a:ea typeface="Calibri" pitchFamily="34" charset="-122"/>
                <a:cs typeface="Calibri" pitchFamily="34" charset="-120"/>
              </a:rPr>
              <a:t>Add TIPS in tax-advantaged accounts</a:t>
            </a:r>
            <a:endParaRPr lang="en-US" sz="1333" dirty="0">
              <a:solidFill>
                <a:prstClr val="black"/>
              </a:solidFill>
              <a:latin typeface="Calibri" panose="020F0502020204030204"/>
            </a:endParaRPr>
          </a:p>
        </p:txBody>
      </p:sp>
      <p:sp>
        <p:nvSpPr>
          <p:cNvPr id="43" name="Text 41"/>
          <p:cNvSpPr/>
          <p:nvPr/>
        </p:nvSpPr>
        <p:spPr>
          <a:xfrm>
            <a:off x="6522720" y="5839968"/>
            <a:ext cx="5059680" cy="304800"/>
          </a:xfrm>
          <a:prstGeom prst="rect">
            <a:avLst/>
          </a:prstGeom>
          <a:noFill/>
          <a:ln/>
        </p:spPr>
        <p:txBody>
          <a:bodyPr wrap="square" lIns="0" tIns="0" rIns="0" bIns="0" rtlCol="0" anchor="ctr"/>
          <a:lstStyle/>
          <a:p>
            <a:pPr defTabSz="1219170"/>
            <a:r>
              <a:rPr lang="en-US" sz="1333" b="1" dirty="0">
                <a:solidFill>
                  <a:srgbClr val="00D4AA"/>
                </a:solidFill>
                <a:latin typeface="Arial Black" pitchFamily="34" charset="0"/>
                <a:ea typeface="Arial Black" pitchFamily="34" charset="-122"/>
                <a:cs typeface="Arial Black" pitchFamily="34" charset="-120"/>
              </a:rPr>
              <a:t>4. </a:t>
            </a:r>
            <a:r>
              <a:rPr lang="en-US" sz="1333" dirty="0">
                <a:solidFill>
                  <a:srgbClr val="E8ECF1"/>
                </a:solidFill>
                <a:latin typeface="Calibri" pitchFamily="34" charset="0"/>
                <a:ea typeface="Calibri" pitchFamily="34" charset="-122"/>
                <a:cs typeface="Calibri" pitchFamily="34" charset="-120"/>
              </a:rPr>
              <a:t>Allocate 5-10% to commodities + gold</a:t>
            </a:r>
            <a:endParaRPr lang="en-US" sz="1333" dirty="0">
              <a:solidFill>
                <a:prstClr val="black"/>
              </a:solidFill>
              <a:latin typeface="Calibri" panose="020F0502020204030204"/>
            </a:endParaRPr>
          </a:p>
        </p:txBody>
      </p:sp>
      <p:sp>
        <p:nvSpPr>
          <p:cNvPr id="44" name="Text 42"/>
          <p:cNvSpPr/>
          <p:nvPr/>
        </p:nvSpPr>
        <p:spPr>
          <a:xfrm>
            <a:off x="6522720" y="6181344"/>
            <a:ext cx="5059680" cy="304800"/>
          </a:xfrm>
          <a:prstGeom prst="rect">
            <a:avLst/>
          </a:prstGeom>
          <a:noFill/>
          <a:ln/>
        </p:spPr>
        <p:txBody>
          <a:bodyPr wrap="square" lIns="0" tIns="0" rIns="0" bIns="0" rtlCol="0" anchor="ctr"/>
          <a:lstStyle/>
          <a:p>
            <a:pPr defTabSz="1219170"/>
            <a:r>
              <a:rPr lang="en-US" sz="1333" b="1" dirty="0">
                <a:solidFill>
                  <a:srgbClr val="00D4AA"/>
                </a:solidFill>
                <a:latin typeface="Arial Black" pitchFamily="34" charset="0"/>
                <a:ea typeface="Arial Black" pitchFamily="34" charset="-122"/>
                <a:cs typeface="Arial Black" pitchFamily="34" charset="-120"/>
              </a:rPr>
              <a:t>5. </a:t>
            </a:r>
            <a:r>
              <a:rPr lang="en-US" sz="1333" dirty="0">
                <a:solidFill>
                  <a:srgbClr val="E8ECF1"/>
                </a:solidFill>
                <a:latin typeface="Calibri" pitchFamily="34" charset="0"/>
                <a:ea typeface="Calibri" pitchFamily="34" charset="-122"/>
                <a:cs typeface="Calibri" pitchFamily="34" charset="-120"/>
              </a:rPr>
              <a:t>Increase REIT/real asset exposure</a:t>
            </a:r>
            <a:endParaRPr lang="en-US" sz="1333" dirty="0">
              <a:solidFill>
                <a:prstClr val="black"/>
              </a:solidFill>
              <a:latin typeface="Calibri" panose="020F0502020204030204"/>
            </a:endParaRPr>
          </a:p>
        </p:txBody>
      </p:sp>
      <p:sp>
        <p:nvSpPr>
          <p:cNvPr id="45" name="Shape 43"/>
          <p:cNvSpPr/>
          <p:nvPr/>
        </p:nvSpPr>
        <p:spPr>
          <a:xfrm>
            <a:off x="0" y="6705600"/>
            <a:ext cx="12192000" cy="73152"/>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0E17"/>
        </a:solidFill>
        <a:effectLst/>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3" name="Text 1"/>
          <p:cNvSpPr/>
          <p:nvPr/>
        </p:nvSpPr>
        <p:spPr>
          <a:xfrm>
            <a:off x="731520" y="1219200"/>
            <a:ext cx="10728960" cy="609600"/>
          </a:xfrm>
          <a:prstGeom prst="rect">
            <a:avLst/>
          </a:prstGeom>
          <a:noFill/>
          <a:ln/>
        </p:spPr>
        <p:txBody>
          <a:bodyPr wrap="square" lIns="0" tIns="0" rIns="0" bIns="0" rtlCol="0" anchor="ctr"/>
          <a:lstStyle/>
          <a:p>
            <a:pPr defTabSz="1219170"/>
            <a:r>
              <a:rPr lang="en-US" sz="1733" b="1" dirty="0">
                <a:solidFill>
                  <a:srgbClr val="00D4AA"/>
                </a:solidFill>
                <a:latin typeface="Consolas" pitchFamily="34" charset="0"/>
                <a:ea typeface="Consolas" pitchFamily="34" charset="-122"/>
                <a:cs typeface="Consolas" pitchFamily="34" charset="-120"/>
              </a:rPr>
              <a:t>REMEMBER</a:t>
            </a:r>
            <a:endParaRPr lang="en-US" sz="1733" dirty="0">
              <a:solidFill>
                <a:prstClr val="black"/>
              </a:solidFill>
              <a:latin typeface="Calibri" panose="020F0502020204030204"/>
            </a:endParaRPr>
          </a:p>
        </p:txBody>
      </p:sp>
      <p:sp>
        <p:nvSpPr>
          <p:cNvPr id="4" name="Text 2"/>
          <p:cNvSpPr/>
          <p:nvPr/>
        </p:nvSpPr>
        <p:spPr>
          <a:xfrm>
            <a:off x="731520" y="1828800"/>
            <a:ext cx="10728960" cy="1463040"/>
          </a:xfrm>
          <a:prstGeom prst="rect">
            <a:avLst/>
          </a:prstGeom>
          <a:noFill/>
          <a:ln/>
        </p:spPr>
        <p:txBody>
          <a:bodyPr wrap="square" lIns="0" tIns="0" rIns="0" bIns="0" rtlCol="0" anchor="ctr"/>
          <a:lstStyle/>
          <a:p>
            <a:pPr defTabSz="1219170"/>
            <a:r>
              <a:rPr lang="en-US" sz="4267" b="1" dirty="0">
                <a:solidFill>
                  <a:srgbClr val="FFFFFF"/>
                </a:solidFill>
                <a:latin typeface="Arial Black" pitchFamily="34" charset="0"/>
                <a:ea typeface="Arial Black" pitchFamily="34" charset="-122"/>
                <a:cs typeface="Arial Black" pitchFamily="34" charset="-120"/>
              </a:rPr>
              <a:t>Inflation is not a market event.</a:t>
            </a:r>
            <a:endParaRPr lang="en-US" sz="4267" dirty="0">
              <a:solidFill>
                <a:prstClr val="black"/>
              </a:solidFill>
              <a:latin typeface="Calibri" panose="020F0502020204030204"/>
            </a:endParaRPr>
          </a:p>
          <a:p>
            <a:pPr defTabSz="1219170"/>
            <a:r>
              <a:rPr lang="en-US" sz="4267" b="1" dirty="0">
                <a:solidFill>
                  <a:srgbClr val="FFFFFF"/>
                </a:solidFill>
                <a:latin typeface="Arial Black" pitchFamily="34" charset="0"/>
                <a:ea typeface="Arial Black" pitchFamily="34" charset="-122"/>
                <a:cs typeface="Arial Black" pitchFamily="34" charset="-120"/>
              </a:rPr>
              <a:t>It is a monetary reality.</a:t>
            </a:r>
            <a:endParaRPr lang="en-US" sz="4267" dirty="0">
              <a:solidFill>
                <a:prstClr val="black"/>
              </a:solidFill>
              <a:latin typeface="Calibri" panose="020F0502020204030204"/>
            </a:endParaRPr>
          </a:p>
        </p:txBody>
      </p:sp>
      <p:sp>
        <p:nvSpPr>
          <p:cNvPr id="5" name="Shape 3"/>
          <p:cNvSpPr/>
          <p:nvPr/>
        </p:nvSpPr>
        <p:spPr>
          <a:xfrm>
            <a:off x="731520" y="3413760"/>
            <a:ext cx="3048000" cy="48768"/>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
        <p:nvSpPr>
          <p:cNvPr id="6" name="Text 4"/>
          <p:cNvSpPr/>
          <p:nvPr/>
        </p:nvSpPr>
        <p:spPr>
          <a:xfrm>
            <a:off x="731520" y="3779520"/>
            <a:ext cx="10728960" cy="975360"/>
          </a:xfrm>
          <a:prstGeom prst="rect">
            <a:avLst/>
          </a:prstGeom>
          <a:noFill/>
          <a:ln/>
        </p:spPr>
        <p:txBody>
          <a:bodyPr wrap="square" lIns="0" tIns="0" rIns="0" bIns="0" rtlCol="0" anchor="ctr"/>
          <a:lstStyle/>
          <a:p>
            <a:pPr defTabSz="1219170"/>
            <a:r>
              <a:rPr lang="en-US" sz="2400" dirty="0">
                <a:solidFill>
                  <a:srgbClr val="8B95A8"/>
                </a:solidFill>
                <a:latin typeface="Calibri" pitchFamily="34" charset="0"/>
                <a:ea typeface="Calibri" pitchFamily="34" charset="-122"/>
                <a:cs typeface="Calibri" pitchFamily="34" charset="-120"/>
              </a:rPr>
              <a:t>Your clients depend on you to protect their purchasing power — not just their nominal balance. The tools exist. Use them.</a:t>
            </a:r>
            <a:endParaRPr lang="en-US" sz="2400" dirty="0">
              <a:solidFill>
                <a:prstClr val="black"/>
              </a:solidFill>
              <a:latin typeface="Calibri" panose="020F0502020204030204"/>
            </a:endParaRPr>
          </a:p>
        </p:txBody>
      </p:sp>
      <p:pic>
        <p:nvPicPr>
          <p:cNvPr id="7" name="Image 0" descr="preencoded.png"/>
          <p:cNvPicPr>
            <a:picLocks noChangeAspect="1"/>
          </p:cNvPicPr>
          <p:nvPr/>
        </p:nvPicPr>
        <p:blipFill>
          <a:blip r:embed="rId3"/>
          <a:stretch>
            <a:fillRect/>
          </a:stretch>
        </p:blipFill>
        <p:spPr>
          <a:xfrm>
            <a:off x="1828800" y="4815840"/>
            <a:ext cx="609600" cy="609600"/>
          </a:xfrm>
          <a:prstGeom prst="rect">
            <a:avLst/>
          </a:prstGeom>
        </p:spPr>
      </p:pic>
      <p:sp>
        <p:nvSpPr>
          <p:cNvPr id="8" name="Text 5"/>
          <p:cNvSpPr/>
          <p:nvPr/>
        </p:nvSpPr>
        <p:spPr>
          <a:xfrm>
            <a:off x="2560320" y="4815840"/>
            <a:ext cx="2194560" cy="304800"/>
          </a:xfrm>
          <a:prstGeom prst="rect">
            <a:avLst/>
          </a:prstGeom>
          <a:noFill/>
          <a:ln/>
        </p:spPr>
        <p:txBody>
          <a:bodyPr wrap="square" lIns="0" tIns="0" rIns="0" bIns="0" rtlCol="0" anchor="ctr"/>
          <a:lstStyle/>
          <a:p>
            <a:pPr defTabSz="1219170"/>
            <a:r>
              <a:rPr lang="en-US" sz="2133" b="1" dirty="0">
                <a:solidFill>
                  <a:srgbClr val="00D4AA"/>
                </a:solidFill>
                <a:latin typeface="Arial Black" pitchFamily="34" charset="0"/>
                <a:ea typeface="Arial Black" pitchFamily="34" charset="-122"/>
                <a:cs typeface="Arial Black" pitchFamily="34" charset="-120"/>
              </a:rPr>
              <a:t>Defend</a:t>
            </a:r>
            <a:endParaRPr lang="en-US" sz="2133" dirty="0">
              <a:solidFill>
                <a:prstClr val="black"/>
              </a:solidFill>
              <a:latin typeface="Calibri" panose="020F0502020204030204"/>
            </a:endParaRPr>
          </a:p>
        </p:txBody>
      </p:sp>
      <p:sp>
        <p:nvSpPr>
          <p:cNvPr id="9" name="Text 6"/>
          <p:cNvSpPr/>
          <p:nvPr/>
        </p:nvSpPr>
        <p:spPr>
          <a:xfrm>
            <a:off x="2560320" y="5120640"/>
            <a:ext cx="2194560" cy="609600"/>
          </a:xfrm>
          <a:prstGeom prst="rect">
            <a:avLst/>
          </a:prstGeom>
          <a:noFill/>
          <a:ln/>
        </p:spPr>
        <p:txBody>
          <a:bodyPr wrap="square" lIns="0" tIns="0" rIns="0" bIns="0" rtlCol="0" anchor="ctr"/>
          <a:lstStyle/>
          <a:p>
            <a:pPr defTabSz="1219170"/>
            <a:r>
              <a:rPr lang="en-US" sz="1333" dirty="0">
                <a:solidFill>
                  <a:srgbClr val="5A6478"/>
                </a:solidFill>
                <a:latin typeface="Calibri" pitchFamily="34" charset="0"/>
                <a:ea typeface="Calibri" pitchFamily="34" charset="-122"/>
                <a:cs typeface="Calibri" pitchFamily="34" charset="-120"/>
              </a:rPr>
              <a:t>Shorten duration</a:t>
            </a:r>
            <a:endParaRPr lang="en-US" sz="1333" dirty="0">
              <a:solidFill>
                <a:prstClr val="black"/>
              </a:solidFill>
              <a:latin typeface="Calibri" panose="020F0502020204030204"/>
            </a:endParaRPr>
          </a:p>
          <a:p>
            <a:pPr defTabSz="1219170"/>
            <a:r>
              <a:rPr lang="en-US" sz="1333" dirty="0">
                <a:solidFill>
                  <a:srgbClr val="5A6478"/>
                </a:solidFill>
                <a:latin typeface="Calibri" pitchFamily="34" charset="0"/>
                <a:ea typeface="Calibri" pitchFamily="34" charset="-122"/>
                <a:cs typeface="Calibri" pitchFamily="34" charset="-120"/>
              </a:rPr>
              <a:t>Add TIPS &amp; floating rate</a:t>
            </a:r>
            <a:endParaRPr lang="en-US" sz="1333" dirty="0">
              <a:solidFill>
                <a:prstClr val="black"/>
              </a:solidFill>
              <a:latin typeface="Calibri" panose="020F0502020204030204"/>
            </a:endParaRPr>
          </a:p>
        </p:txBody>
      </p:sp>
      <p:pic>
        <p:nvPicPr>
          <p:cNvPr id="10" name="Image 1" descr="preencoded.png"/>
          <p:cNvPicPr>
            <a:picLocks noChangeAspect="1"/>
          </p:cNvPicPr>
          <p:nvPr/>
        </p:nvPicPr>
        <p:blipFill>
          <a:blip r:embed="rId4"/>
          <a:stretch>
            <a:fillRect/>
          </a:stretch>
        </p:blipFill>
        <p:spPr>
          <a:xfrm>
            <a:off x="5120640" y="4815840"/>
            <a:ext cx="609600" cy="609600"/>
          </a:xfrm>
          <a:prstGeom prst="rect">
            <a:avLst/>
          </a:prstGeom>
        </p:spPr>
      </p:pic>
      <p:sp>
        <p:nvSpPr>
          <p:cNvPr id="11" name="Text 7"/>
          <p:cNvSpPr/>
          <p:nvPr/>
        </p:nvSpPr>
        <p:spPr>
          <a:xfrm>
            <a:off x="5852160" y="4815840"/>
            <a:ext cx="2194560" cy="304800"/>
          </a:xfrm>
          <a:prstGeom prst="rect">
            <a:avLst/>
          </a:prstGeom>
          <a:noFill/>
          <a:ln/>
        </p:spPr>
        <p:txBody>
          <a:bodyPr wrap="square" lIns="0" tIns="0" rIns="0" bIns="0" rtlCol="0" anchor="ctr"/>
          <a:lstStyle/>
          <a:p>
            <a:pPr defTabSz="1219170"/>
            <a:r>
              <a:rPr lang="en-US" sz="2133" b="1" dirty="0">
                <a:solidFill>
                  <a:srgbClr val="00D4AA"/>
                </a:solidFill>
                <a:latin typeface="Arial Black" pitchFamily="34" charset="0"/>
                <a:ea typeface="Arial Black" pitchFamily="34" charset="-122"/>
                <a:cs typeface="Arial Black" pitchFamily="34" charset="-120"/>
              </a:rPr>
              <a:t>Diversify</a:t>
            </a:r>
            <a:endParaRPr lang="en-US" sz="2133" dirty="0">
              <a:solidFill>
                <a:prstClr val="black"/>
              </a:solidFill>
              <a:latin typeface="Calibri" panose="020F0502020204030204"/>
            </a:endParaRPr>
          </a:p>
        </p:txBody>
      </p:sp>
      <p:sp>
        <p:nvSpPr>
          <p:cNvPr id="12" name="Text 8"/>
          <p:cNvSpPr/>
          <p:nvPr/>
        </p:nvSpPr>
        <p:spPr>
          <a:xfrm>
            <a:off x="5852160" y="5120640"/>
            <a:ext cx="2194560" cy="609600"/>
          </a:xfrm>
          <a:prstGeom prst="rect">
            <a:avLst/>
          </a:prstGeom>
          <a:noFill/>
          <a:ln/>
        </p:spPr>
        <p:txBody>
          <a:bodyPr wrap="square" lIns="0" tIns="0" rIns="0" bIns="0" rtlCol="0" anchor="ctr"/>
          <a:lstStyle/>
          <a:p>
            <a:pPr defTabSz="1219170"/>
            <a:r>
              <a:rPr lang="en-US" sz="1333" dirty="0">
                <a:solidFill>
                  <a:srgbClr val="5A6478"/>
                </a:solidFill>
                <a:latin typeface="Calibri" pitchFamily="34" charset="0"/>
                <a:ea typeface="Calibri" pitchFamily="34" charset="-122"/>
                <a:cs typeface="Calibri" pitchFamily="34" charset="-120"/>
              </a:rPr>
              <a:t>Gold &amp; commodities</a:t>
            </a:r>
            <a:endParaRPr lang="en-US" sz="1333" dirty="0">
              <a:solidFill>
                <a:prstClr val="black"/>
              </a:solidFill>
              <a:latin typeface="Calibri" panose="020F0502020204030204"/>
            </a:endParaRPr>
          </a:p>
          <a:p>
            <a:pPr defTabSz="1219170"/>
            <a:r>
              <a:rPr lang="en-US" sz="1333" dirty="0">
                <a:solidFill>
                  <a:srgbClr val="5A6478"/>
                </a:solidFill>
                <a:latin typeface="Calibri" pitchFamily="34" charset="0"/>
                <a:ea typeface="Calibri" pitchFamily="34" charset="-122"/>
                <a:cs typeface="Calibri" pitchFamily="34" charset="-120"/>
              </a:rPr>
              <a:t>as portfolio insurance</a:t>
            </a:r>
            <a:endParaRPr lang="en-US" sz="1333" dirty="0">
              <a:solidFill>
                <a:prstClr val="black"/>
              </a:solidFill>
              <a:latin typeface="Calibri" panose="020F0502020204030204"/>
            </a:endParaRPr>
          </a:p>
        </p:txBody>
      </p:sp>
      <p:pic>
        <p:nvPicPr>
          <p:cNvPr id="13" name="Image 2" descr="preencoded.png"/>
          <p:cNvPicPr>
            <a:picLocks noChangeAspect="1"/>
          </p:cNvPicPr>
          <p:nvPr/>
        </p:nvPicPr>
        <p:blipFill>
          <a:blip r:embed="rId5"/>
          <a:stretch>
            <a:fillRect/>
          </a:stretch>
        </p:blipFill>
        <p:spPr>
          <a:xfrm>
            <a:off x="8412480" y="4815840"/>
            <a:ext cx="609600" cy="609600"/>
          </a:xfrm>
          <a:prstGeom prst="rect">
            <a:avLst/>
          </a:prstGeom>
        </p:spPr>
      </p:pic>
      <p:sp>
        <p:nvSpPr>
          <p:cNvPr id="14" name="Text 9"/>
          <p:cNvSpPr/>
          <p:nvPr/>
        </p:nvSpPr>
        <p:spPr>
          <a:xfrm>
            <a:off x="9144000" y="4815840"/>
            <a:ext cx="2194560" cy="304800"/>
          </a:xfrm>
          <a:prstGeom prst="rect">
            <a:avLst/>
          </a:prstGeom>
          <a:noFill/>
          <a:ln/>
        </p:spPr>
        <p:txBody>
          <a:bodyPr wrap="square" lIns="0" tIns="0" rIns="0" bIns="0" rtlCol="0" anchor="ctr"/>
          <a:lstStyle/>
          <a:p>
            <a:pPr defTabSz="1219170"/>
            <a:r>
              <a:rPr lang="en-US" sz="2133" b="1" dirty="0">
                <a:solidFill>
                  <a:srgbClr val="00D4AA"/>
                </a:solidFill>
                <a:latin typeface="Arial Black" pitchFamily="34" charset="0"/>
                <a:ea typeface="Arial Black" pitchFamily="34" charset="-122"/>
                <a:cs typeface="Arial Black" pitchFamily="34" charset="-120"/>
              </a:rPr>
              <a:t>Invest</a:t>
            </a:r>
            <a:endParaRPr lang="en-US" sz="2133" dirty="0">
              <a:solidFill>
                <a:prstClr val="black"/>
              </a:solidFill>
              <a:latin typeface="Calibri" panose="020F0502020204030204"/>
            </a:endParaRPr>
          </a:p>
        </p:txBody>
      </p:sp>
      <p:sp>
        <p:nvSpPr>
          <p:cNvPr id="15" name="Text 10"/>
          <p:cNvSpPr/>
          <p:nvPr/>
        </p:nvSpPr>
        <p:spPr>
          <a:xfrm>
            <a:off x="9144000" y="5120640"/>
            <a:ext cx="2194560" cy="609600"/>
          </a:xfrm>
          <a:prstGeom prst="rect">
            <a:avLst/>
          </a:prstGeom>
          <a:noFill/>
          <a:ln/>
        </p:spPr>
        <p:txBody>
          <a:bodyPr wrap="square" lIns="0" tIns="0" rIns="0" bIns="0" rtlCol="0" anchor="ctr"/>
          <a:lstStyle/>
          <a:p>
            <a:pPr defTabSz="1219170"/>
            <a:r>
              <a:rPr lang="en-US" sz="1333" dirty="0">
                <a:solidFill>
                  <a:srgbClr val="5A6478"/>
                </a:solidFill>
                <a:latin typeface="Calibri" pitchFamily="34" charset="0"/>
                <a:ea typeface="Calibri" pitchFamily="34" charset="-122"/>
                <a:cs typeface="Calibri" pitchFamily="34" charset="-120"/>
              </a:rPr>
              <a:t>Real assets with</a:t>
            </a:r>
            <a:endParaRPr lang="en-US" sz="1333" dirty="0">
              <a:solidFill>
                <a:prstClr val="black"/>
              </a:solidFill>
              <a:latin typeface="Calibri" panose="020F0502020204030204"/>
            </a:endParaRPr>
          </a:p>
          <a:p>
            <a:pPr defTabSz="1219170"/>
            <a:r>
              <a:rPr lang="en-US" sz="1333" dirty="0">
                <a:solidFill>
                  <a:srgbClr val="5A6478"/>
                </a:solidFill>
                <a:latin typeface="Calibri" pitchFamily="34" charset="0"/>
                <a:ea typeface="Calibri" pitchFamily="34" charset="-122"/>
                <a:cs typeface="Calibri" pitchFamily="34" charset="-120"/>
              </a:rPr>
              <a:t>fixed-rate leverage</a:t>
            </a:r>
            <a:endParaRPr lang="en-US" sz="1333" dirty="0">
              <a:solidFill>
                <a:prstClr val="black"/>
              </a:solidFill>
              <a:latin typeface="Calibri" panose="020F0502020204030204"/>
            </a:endParaRPr>
          </a:p>
        </p:txBody>
      </p:sp>
      <p:sp>
        <p:nvSpPr>
          <p:cNvPr id="16" name="Shape 11"/>
          <p:cNvSpPr/>
          <p:nvPr/>
        </p:nvSpPr>
        <p:spPr>
          <a:xfrm>
            <a:off x="0" y="6784848"/>
            <a:ext cx="12192000" cy="73152"/>
          </a:xfrm>
          <a:prstGeom prst="rect">
            <a:avLst/>
          </a:prstGeom>
          <a:solidFill>
            <a:srgbClr val="00D4AA"/>
          </a:solidFill>
          <a:ln/>
        </p:spPr>
        <p:txBody>
          <a:bodyPr/>
          <a:lstStyle/>
          <a:p>
            <a:pPr defTabSz="1219170"/>
            <a:endParaRPr lang="en-US" sz="2400">
              <a:solidFill>
                <a:prstClr val="black"/>
              </a:solidFill>
              <a:latin typeface="Calibri" panose="020F050202020403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984048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NYL LIGHT BACKGROUND 16&quot;9" val="f6b4XTqc"/>
  <p:tag name="ARTICULATE_DESIGN_ID_1_NYL LIGHT BACKGROUND 16-9" val="BFT0Q3hc"/>
  <p:tag name="ARTICULATE_DESIGN_ID_ELEVATE LIGHT BLUE BACKGROUND 16-9" val="56JHHY8a"/>
  <p:tag name="ARTICULATE_PROJECT_OPEN" val="0"/>
  <p:tag name="ARTICULATE_SLIDE_COUNT" val="3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4_Light Blue">
  <a:themeElements>
    <a:clrScheme name="NPS">
      <a:dk1>
        <a:srgbClr val="000962"/>
      </a:dk1>
      <a:lt1>
        <a:srgbClr val="FFFFFF"/>
      </a:lt1>
      <a:dk2>
        <a:srgbClr val="000962"/>
      </a:dk2>
      <a:lt2>
        <a:srgbClr val="7FB9FF"/>
      </a:lt2>
      <a:accent1>
        <a:srgbClr val="000962"/>
      </a:accent1>
      <a:accent2>
        <a:srgbClr val="0468FF"/>
      </a:accent2>
      <a:accent3>
        <a:srgbClr val="A4EFBE"/>
      </a:accent3>
      <a:accent4>
        <a:srgbClr val="006254"/>
      </a:accent4>
      <a:accent5>
        <a:srgbClr val="4C1673"/>
      </a:accent5>
      <a:accent6>
        <a:srgbClr val="E2DFDD"/>
      </a:accent6>
      <a:hlink>
        <a:srgbClr val="467886"/>
      </a:hlink>
      <a:folHlink>
        <a:srgbClr val="96607D"/>
      </a:folHlink>
    </a:clrScheme>
    <a:fontScheme name="Custom 1">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anchor="ctr">
        <a:spAutoFit/>
      </a:bodyPr>
      <a:lstStyle>
        <a:defPPr algn="l">
          <a:defRPr sz="2000" dirty="0">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0EC192880CC940BEF50116D54B7C59" ma:contentTypeVersion="15" ma:contentTypeDescription="Create a new document." ma:contentTypeScope="" ma:versionID="e8df92539cb93a60d1f9d35c7ad8f2fc">
  <xsd:schema xmlns:xsd="http://www.w3.org/2001/XMLSchema" xmlns:xs="http://www.w3.org/2001/XMLSchema" xmlns:p="http://schemas.microsoft.com/office/2006/metadata/properties" xmlns:ns2="f7187551-dcd2-4df2-b465-e591e26c4685" xmlns:ns3="879a6a9b-e6a8-4c41-957b-9fddf8c68e29" targetNamespace="http://schemas.microsoft.com/office/2006/metadata/properties" ma:root="true" ma:fieldsID="afa368176db26a36f7bfda52c19dfe8d" ns2:_="" ns3:_="">
    <xsd:import namespace="f7187551-dcd2-4df2-b465-e591e26c4685"/>
    <xsd:import namespace="879a6a9b-e6a8-4c41-957b-9fddf8c68e2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87551-dcd2-4df2-b465-e591e26c46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2829bdbf-11ca-4188-ad5e-419b837c316a"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79a6a9b-e6a8-4c41-957b-9fddf8c68e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5d170b91-55c6-426c-83c3-f69fcd712e6d}" ma:internalName="TaxCatchAll" ma:showField="CatchAllData" ma:web="879a6a9b-e6a8-4c41-957b-9fddf8c68e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879a6a9b-e6a8-4c41-957b-9fddf8c68e29">
      <UserInfo>
        <DisplayName>Ferguson, Michael S. (Mike)</DisplayName>
        <AccountId>25</AccountId>
        <AccountType/>
      </UserInfo>
      <UserInfo>
        <DisplayName>Cirrincione, Deborah (Debbie)</DisplayName>
        <AccountId>147</AccountId>
        <AccountType/>
      </UserInfo>
      <UserInfo>
        <DisplayName>Gulisano, James F. (Jamie)</DisplayName>
        <AccountId>28</AccountId>
        <AccountType/>
      </UserInfo>
      <UserInfo>
        <DisplayName>Mariutto, Jennifer M.</DisplayName>
        <AccountId>16</AccountId>
        <AccountType/>
      </UserInfo>
    </SharedWithUsers>
    <lcf76f155ced4ddcb4097134ff3c332f xmlns="f7187551-dcd2-4df2-b465-e591e26c4685">
      <Terms xmlns="http://schemas.microsoft.com/office/infopath/2007/PartnerControls"/>
    </lcf76f155ced4ddcb4097134ff3c332f>
    <TaxCatchAll xmlns="879a6a9b-e6a8-4c41-957b-9fddf8c68e29" xsi:nil="true"/>
  </documentManagement>
</p:properties>
</file>

<file path=customXml/itemProps1.xml><?xml version="1.0" encoding="utf-8"?>
<ds:datastoreItem xmlns:ds="http://schemas.openxmlformats.org/officeDocument/2006/customXml" ds:itemID="{EF327CDC-FC1B-45F8-B39E-D812521109CB}">
  <ds:schemaRefs>
    <ds:schemaRef ds:uri="http://schemas.microsoft.com/sharepoint/v3/contenttype/forms"/>
  </ds:schemaRefs>
</ds:datastoreItem>
</file>

<file path=customXml/itemProps2.xml><?xml version="1.0" encoding="utf-8"?>
<ds:datastoreItem xmlns:ds="http://schemas.openxmlformats.org/officeDocument/2006/customXml" ds:itemID="{267D0F9E-11A6-4B00-8700-F00E416459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87551-dcd2-4df2-b465-e591e26c4685"/>
    <ds:schemaRef ds:uri="879a6a9b-e6a8-4c41-957b-9fddf8c68e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C258A8F-586B-499B-90F0-AA26C728EB82}">
  <ds:schemaRefs>
    <ds:schemaRef ds:uri="879a6a9b-e6a8-4c41-957b-9fddf8c68e29"/>
    <ds:schemaRef ds:uri="f7187551-dcd2-4df2-b465-e591e26c468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145</TotalTime>
  <Words>11811</Words>
  <Application>Microsoft Office PowerPoint</Application>
  <PresentationFormat>Widescreen</PresentationFormat>
  <Paragraphs>1028</Paragraphs>
  <Slides>53</Slides>
  <Notes>52</Notes>
  <HiddenSlides>2</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53</vt:i4>
      </vt:variant>
    </vt:vector>
  </HeadingPairs>
  <TitlesOfParts>
    <vt:vector size="72" baseType="lpstr">
      <vt:lpstr>Alda Pro</vt:lpstr>
      <vt:lpstr>Aptos</vt:lpstr>
      <vt:lpstr>Arial</vt:lpstr>
      <vt:lpstr>Arial Black</vt:lpstr>
      <vt:lpstr>Arial Narrow</vt:lpstr>
      <vt:lpstr>Calibri</vt:lpstr>
      <vt:lpstr>Consolas</vt:lpstr>
      <vt:lpstr>Effra</vt:lpstr>
      <vt:lpstr>Effra Medium</vt:lpstr>
      <vt:lpstr>Effra Pro</vt:lpstr>
      <vt:lpstr>Geneva</vt:lpstr>
      <vt:lpstr>Georgia</vt:lpstr>
      <vt:lpstr>System Font Regular</vt:lpstr>
      <vt:lpstr>Wingdings</vt:lpstr>
      <vt:lpstr>1_Light Blue</vt:lpstr>
      <vt:lpstr>2_Light Blue</vt:lpstr>
      <vt:lpstr>Light Blue</vt:lpstr>
      <vt:lpstr>4_Light Blue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New Org:  What’s important week of  August 17</vt:lpstr>
      <vt:lpstr>New riders expand AD126 SVUL Accumulator II</vt:lpstr>
      <vt:lpstr>12% DCA – Offer ends this week</vt:lpstr>
      <vt:lpstr>Don’t miss the next Advanced Life Sales Series webinar</vt:lpstr>
      <vt:lpstr>September National PLAN Webinar</vt:lpstr>
      <vt:lpstr>3Q Life Fundamentals Series (Final 2 sessions)</vt:lpstr>
      <vt:lpstr>3Q 2026 Registered Rep MasterClass </vt:lpstr>
      <vt:lpstr>Target Markets Upcoming Webinars</vt:lpstr>
      <vt:lpstr>Total Morningstar</vt:lpstr>
      <vt:lpstr>See what’s new with Asset Flex AD126</vt:lpstr>
      <vt:lpstr>Estab:  What’s important week of  August 17</vt:lpstr>
      <vt:lpstr>President’s Council Beachfront Boutique Experience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Mariutto, Jennifer M.</dc:creator>
  <cp:lastModifiedBy>Dave Guilford</cp:lastModifiedBy>
  <cp:revision>5</cp:revision>
  <cp:lastPrinted>2026-05-27T22:34:09Z</cp:lastPrinted>
  <dcterms:created xsi:type="dcterms:W3CDTF">2022-07-12T13:52:57Z</dcterms:created>
  <dcterms:modified xsi:type="dcterms:W3CDTF">2026-08-16T17:03:01Z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0x010100A90EC192880CC940BEF50116D54B7C59</vt:lpwstr>
  </property>
  <property fmtid="{D5CDD505-2E9C-101B-9397-08002B2CF9AE}" pid="3" name="MediaServiceImageTags">
    <vt:lpwstr/>
  </property>
  <property fmtid="{D5CDD505-2E9C-101B-9397-08002B2CF9AE}" pid="4" name="ArticulateGUID">
    <vt:lpwstr>93C0923A-4E14-470D-A1D5-300874841ADD</vt:lpwstr>
  </property>
  <property fmtid="{D5CDD505-2E9C-101B-9397-08002B2CF9AE}" pid="5" name="ArticulatePath">
    <vt:lpwstr>https://newyorklife-my.sharepoint.com/personal/ssubramani07_newyorklife_com/Documents/Desktop/Agency Comms/New Org Slides/New Org and manager slide deck/NewOrgSlides_for_Management_Update</vt:lpwstr>
  </property>
  <property fmtid="{D5CDD505-2E9C-101B-9397-08002B2CF9AE}" pid="6" name="MSIP_Label_8f0b5d98-aa4b-42ad-b5be-1e75bbcbb7d7_ActionId">
    <vt:lpwstr>4c43cdb1-80ab-4e5b-baad-d5201017abba</vt:lpwstr>
  </property>
  <property fmtid="{D5CDD505-2E9C-101B-9397-08002B2CF9AE}" pid="7" name="MSIP_Label_8f0b5d98-aa4b-42ad-b5be-1e75bbcbb7d7_SiteId">
    <vt:lpwstr>a651e8f0-93d2-41c2-88b6-e8c5a1ad2375</vt:lpwstr>
  </property>
  <property fmtid="{D5CDD505-2E9C-101B-9397-08002B2CF9AE}" pid="8" name="MSIP_Label_8f0b5d98-aa4b-42ad-b5be-1e75bbcbb7d7_Method">
    <vt:lpwstr>Standard</vt:lpwstr>
  </property>
  <property fmtid="{D5CDD505-2E9C-101B-9397-08002B2CF9AE}" pid="9" name="MSIP_Label_8f0b5d98-aa4b-42ad-b5be-1e75bbcbb7d7_Name">
    <vt:lpwstr>Internal-pilot</vt:lpwstr>
  </property>
  <property fmtid="{D5CDD505-2E9C-101B-9397-08002B2CF9AE}" pid="10" name="MSIP_Label_8f0b5d98-aa4b-42ad-b5be-1e75bbcbb7d7_ContentBits">
    <vt:lpwstr>0</vt:lpwstr>
  </property>
  <property fmtid="{D5CDD505-2E9C-101B-9397-08002B2CF9AE}" pid="11" name="MSIP_Label_8f0b5d98-aa4b-42ad-b5be-1e75bbcbb7d7_Enabled">
    <vt:lpwstr>true</vt:lpwstr>
  </property>
  <property fmtid="{D5CDD505-2E9C-101B-9397-08002B2CF9AE}" pid="12" name="MSIP_Label_8f0b5d98-aa4b-42ad-b5be-1e75bbcbb7d7_Tag">
    <vt:lpwstr>10, 3, 0, 2</vt:lpwstr>
  </property>
  <property fmtid="{D5CDD505-2E9C-101B-9397-08002B2CF9AE}" pid="13" name="MSIP_Label_8f0b5d98-aa4b-42ad-b5be-1e75bbcbb7d7_SetDate">
    <vt:lpwstr>2025-07-31T18:26:42Z</vt:lpwstr>
  </property>
</Properties>
</file>