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5.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6.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0.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3.xml" ContentType="application/vnd.openxmlformats-officedocument.presentationml.slide+xml"/>
  <Override PartName="/ppt/notesSlides/notesSlide19.xml" ContentType="application/vnd.openxmlformats-officedocument.presentationml.notesSlide+xml"/>
  <Override PartName="/ppt/slides/slide24.xml" ContentType="application/vnd.openxmlformats-officedocument.presentationml.slide+xml"/>
  <Override PartName="/ppt/notesSlides/notesSlide20.xml" ContentType="application/vnd.openxmlformats-officedocument.presentationml.notesSlide+xml"/>
  <Override PartName="/ppt/slides/slide25.xml" ContentType="application/vnd.openxmlformats-officedocument.presentationml.slide+xml"/>
  <Override PartName="/ppt/notesSlides/notesSlide21.xml" ContentType="application/vnd.openxmlformats-officedocument.presentationml.notesSlide+xml"/>
  <Override PartName="/ppt/slides/slide26.xml" ContentType="application/vnd.openxmlformats-officedocument.presentationml.slide+xml"/>
  <Override PartName="/ppt/notesSlides/notesSlide22.xml" ContentType="application/vnd.openxmlformats-officedocument.presentationml.notesSlide+xml"/>
  <Override PartName="/ppt/slides/slide27.xml" ContentType="application/vnd.openxmlformats-officedocument.presentationml.slide+xml"/>
  <Override PartName="/ppt/notesSlides/notesSlide23.xml" ContentType="application/vnd.openxmlformats-officedocument.presentationml.notesSlide+xml"/>
  <Override PartName="/ppt/slides/slide28.xml" ContentType="application/vnd.openxmlformats-officedocument.presentationml.slide+xml"/>
  <Override PartName="/ppt/notesSlides/notesSlide24.xml" ContentType="application/vnd.openxmlformats-officedocument.presentationml.notesSlide+xml"/>
  <Override PartName="/ppt/slides/slide29.xml" ContentType="application/vnd.openxmlformats-officedocument.presentationml.slide+xml"/>
  <Override PartName="/ppt/notesSlides/notesSlide25.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798" r:id="rId4"/>
    <p:sldMasterId id="2147485675" r:id="rId5"/>
    <p:sldMasterId id="2147484762" r:id="rId6"/>
    <p:sldMasterId id="2147484830" r:id="rId7"/>
    <p:sldMasterId id="2147485856" r:id="rId8"/>
    <p:sldMasterId id="2147486036" r:id="rId9"/>
    <p:sldMasterId id="2147486064" r:id="rId10"/>
  </p:sldMasterIdLst>
  <p:notesMasterIdLst>
    <p:notesMasterId r:id="rId24"/>
  </p:notesMasterIdLst>
  <p:handoutMasterIdLst>
    <p:handoutMasterId r:id="rId25"/>
  </p:handoutMasterIdLst>
  <p:sldIdLst>
    <p:sldId id="276" r:id="rId11"/>
    <p:sldId id="2147483646" r:id="rId32"/>
    <p:sldId id="2147483647" r:id="rId33"/>
    <p:sldId id="2147483648" r:id="rId34"/>
    <p:sldId id="2147483649" r:id="rId35"/>
    <p:sldId id="2147483650" r:id="rId36"/>
    <p:sldId id="2147483651" r:id="rId37"/>
    <p:sldId id="2147483652" r:id="rId38"/>
    <p:sldId id="317" r:id="rId12"/>
    <p:sldId id="306" r:id="rId13"/>
    <p:sldId id="318" r:id="rId14"/>
    <p:sldId id="258" r:id="rId15"/>
    <p:sldId id="313" r:id="rId16"/>
    <p:sldId id="310" r:id="rId17"/>
    <p:sldId id="2147483645" r:id="rId18"/>
    <p:sldId id="256" r:id="rId19"/>
    <p:sldId id="344" r:id="rId20"/>
    <p:sldId id="2147482473" r:id="rId21"/>
    <p:sldId id="257" r:id="rId22"/>
    <p:sldId id="319" r:id="rId23"/>
  </p:sldIdLst>
  <p:sldSz cx="12192000" cy="6858000"/>
  <p:notesSz cx="7102475" cy="93884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2E8"/>
    <a:srgbClr val="66A7FF"/>
    <a:srgbClr val="000A62"/>
    <a:srgbClr val="7FE9A5"/>
    <a:srgbClr val="0468FF"/>
    <a:srgbClr val="A5CAF4"/>
    <a:srgbClr val="A4C9F3"/>
    <a:srgbClr val="FF9522"/>
    <a:srgbClr val="A6F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993" autoAdjust="0"/>
  </p:normalViewPr>
  <p:slideViewPr>
    <p:cSldViewPr snapToGrid="0">
      <p:cViewPr varScale="1">
        <p:scale>
          <a:sx n="91" d="100"/>
          <a:sy n="91" d="100"/>
        </p:scale>
        <p:origin x="1236" y="306"/>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presProps" Target="presProps.xml"/><Relationship Id="rId30" Type="http://schemas.openxmlformats.org/officeDocument/2006/relationships/tableStyles" Target="tableStyles.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s>
</file>

<file path=ppt/handoutMasters/_rels/handoutMaster1.xml.rels><?xml version="1.0" encoding="UTF-8"?><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5/14/2026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5/14/2026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0C54C-1176-2C40-3E16-6F2937988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40804-0B42-5D49-91FC-6F7C66E697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6732B2-C97A-601C-7D71-A1B232C01F27}"/>
              </a:ext>
            </a:extLst>
          </p:cNvPr>
          <p:cNvSpPr>
            <a:spLocks noGrp="1"/>
          </p:cNvSpPr>
          <p:nvPr>
            <p:ph type="body" idx="1"/>
          </p:nvPr>
        </p:nvSpPr>
        <p:spPr/>
        <p:txBody>
          <a:bodyPr/>
          <a:lstStyle/>
          <a:p>
            <a:r>
              <a:rPr lang="en-US" sz="1200" b="1">
                <a:latin typeface="Arial" panose="020B0604020202020204" pitchFamily="34" charset="0"/>
                <a:cs typeface="Arial" panose="020B0604020202020204" pitchFamily="34" charset="0"/>
              </a:rPr>
              <a:t>April-May New Org bonus — 1 month left</a:t>
            </a:r>
          </a:p>
          <a:p>
            <a:endParaRPr lang="en-US" sz="1200" b="0">
              <a:latin typeface="Arial" panose="020B0604020202020204" pitchFamily="34" charset="0"/>
              <a:cs typeface="Arial" panose="020B0604020202020204" pitchFamily="34" charset="0"/>
            </a:endParaRPr>
          </a:p>
          <a:p>
            <a:r>
              <a:rPr lang="en-US" sz="1200" b="0">
                <a:latin typeface="Arial" panose="020B0604020202020204" pitchFamily="34" charset="0"/>
                <a:cs typeface="Arial" panose="020B0604020202020204" pitchFamily="34" charset="0"/>
              </a:rPr>
              <a:t>Don’t miss this limited-time Bonus and Council Credits opportunity</a:t>
            </a:r>
          </a:p>
          <a:p>
            <a:endParaRPr lang="en-US" sz="1200" b="0">
              <a:latin typeface="Arial" panose="020B0604020202020204" pitchFamily="34" charset="0"/>
              <a:cs typeface="Arial" panose="020B0604020202020204" pitchFamily="34" charset="0"/>
            </a:endParaRPr>
          </a:p>
          <a:p>
            <a:r>
              <a:rPr lang="en-US" sz="1200" b="0">
                <a:latin typeface="Arial" panose="020B0604020202020204" pitchFamily="34" charset="0"/>
                <a:cs typeface="Arial" panose="020B0604020202020204" pitchFamily="34" charset="0"/>
              </a:rPr>
              <a:t>The </a:t>
            </a:r>
            <a:r>
              <a:rPr lang="en-US" sz="1200" b="1">
                <a:latin typeface="Arial" panose="020B0604020202020204" pitchFamily="34" charset="0"/>
                <a:cs typeface="Arial" panose="020B0604020202020204" pitchFamily="34" charset="0"/>
              </a:rPr>
              <a:t>April-May New Org Bonus </a:t>
            </a:r>
            <a:r>
              <a:rPr lang="en-US" sz="1200" b="0">
                <a:latin typeface="Arial" panose="020B0604020202020204" pitchFamily="34" charset="0"/>
                <a:cs typeface="Arial" panose="020B0604020202020204" pitchFamily="34" charset="0"/>
              </a:rPr>
              <a:t>provides New Org agents with an opportunity to qualify for a </a:t>
            </a:r>
            <a:r>
              <a:rPr lang="en-US" sz="1200" b="1">
                <a:latin typeface="Arial" panose="020B0604020202020204" pitchFamily="34" charset="0"/>
                <a:cs typeface="Arial" panose="020B0604020202020204" pitchFamily="34" charset="0"/>
              </a:rPr>
              <a:t>$300 bonus and 1,000 bonus Council Credits </a:t>
            </a:r>
            <a:r>
              <a:rPr lang="en-US" sz="1200" b="0">
                <a:latin typeface="Arial" panose="020B0604020202020204" pitchFamily="34" charset="0"/>
                <a:cs typeface="Arial" panose="020B0604020202020204" pitchFamily="34" charset="0"/>
              </a:rPr>
              <a:t>based on paid life case activity between </a:t>
            </a:r>
            <a:r>
              <a:rPr lang="en-US" sz="1200" b="1">
                <a:latin typeface="Arial" panose="020B0604020202020204" pitchFamily="34" charset="0"/>
                <a:cs typeface="Arial" panose="020B0604020202020204" pitchFamily="34" charset="0"/>
              </a:rPr>
              <a:t>April 1 and May 29, 2026</a:t>
            </a:r>
            <a:r>
              <a:rPr lang="en-US" sz="1200" b="0">
                <a:latin typeface="Arial" panose="020B0604020202020204" pitchFamily="34" charset="0"/>
                <a:cs typeface="Arial" panose="020B0604020202020204" pitchFamily="34" charset="0"/>
              </a:rPr>
              <a:t>. Paying for </a:t>
            </a:r>
            <a:r>
              <a:rPr lang="en-US" sz="1200" b="1">
                <a:latin typeface="Arial" panose="020B0604020202020204" pitchFamily="34" charset="0"/>
                <a:cs typeface="Arial" panose="020B0604020202020204" pitchFamily="34" charset="0"/>
              </a:rPr>
              <a:t>3</a:t>
            </a:r>
            <a:r>
              <a:rPr lang="en-US" sz="1200" b="0">
                <a:latin typeface="Arial" panose="020B0604020202020204" pitchFamily="34" charset="0"/>
                <a:cs typeface="Arial" panose="020B0604020202020204" pitchFamily="34" charset="0"/>
              </a:rPr>
              <a:t> qualifying life cases earns the </a:t>
            </a:r>
            <a:r>
              <a:rPr lang="en-US" sz="1200" b="1">
                <a:latin typeface="Arial" panose="020B0604020202020204" pitchFamily="34" charset="0"/>
                <a:cs typeface="Arial" panose="020B0604020202020204" pitchFamily="34" charset="0"/>
              </a:rPr>
              <a:t>$300 bonus</a:t>
            </a:r>
            <a:r>
              <a:rPr lang="en-US" sz="1200" b="0">
                <a:latin typeface="Arial" panose="020B0604020202020204" pitchFamily="34" charset="0"/>
                <a:cs typeface="Arial" panose="020B0604020202020204" pitchFamily="34" charset="0"/>
              </a:rPr>
              <a:t>, and paying for</a:t>
            </a:r>
            <a:r>
              <a:rPr lang="en-US" sz="1200" b="1">
                <a:latin typeface="Arial" panose="020B0604020202020204" pitchFamily="34" charset="0"/>
                <a:cs typeface="Arial" panose="020B0604020202020204" pitchFamily="34" charset="0"/>
              </a:rPr>
              <a:t> 1 </a:t>
            </a:r>
            <a:r>
              <a:rPr lang="en-US" sz="1200" b="0">
                <a:latin typeface="Arial" panose="020B0604020202020204" pitchFamily="34" charset="0"/>
                <a:cs typeface="Arial" panose="020B0604020202020204" pitchFamily="34" charset="0"/>
              </a:rPr>
              <a:t>additional qualifying life case, for a total of </a:t>
            </a:r>
            <a:r>
              <a:rPr lang="en-US" sz="1200" b="1">
                <a:latin typeface="Arial" panose="020B0604020202020204" pitchFamily="34" charset="0"/>
                <a:cs typeface="Arial" panose="020B0604020202020204" pitchFamily="34" charset="0"/>
              </a:rPr>
              <a:t>4</a:t>
            </a:r>
            <a:r>
              <a:rPr lang="en-US" sz="1200" b="0">
                <a:latin typeface="Arial" panose="020B0604020202020204" pitchFamily="34" charset="0"/>
                <a:cs typeface="Arial" panose="020B0604020202020204" pitchFamily="34" charset="0"/>
              </a:rPr>
              <a:t>, also earns </a:t>
            </a:r>
            <a:r>
              <a:rPr lang="en-US" sz="1200" b="1">
                <a:latin typeface="Arial" panose="020B0604020202020204" pitchFamily="34" charset="0"/>
                <a:cs typeface="Arial" panose="020B0604020202020204" pitchFamily="34" charset="0"/>
              </a:rPr>
              <a:t>1,000 bonus Council Credits</a:t>
            </a:r>
            <a:r>
              <a:rPr lang="en-US" sz="1200" b="0">
                <a:latin typeface="Arial" panose="020B0604020202020204" pitchFamily="34" charset="0"/>
                <a:cs typeface="Arial" panose="020B0604020202020204" pitchFamily="34" charset="0"/>
              </a:rPr>
              <a:t>. EWL cases count on a 3:1 basis and VUL cases are excluded.</a:t>
            </a:r>
          </a:p>
          <a:p>
            <a:endParaRPr lang="en-US" sz="1200" b="0">
              <a:latin typeface="Arial" panose="020B0604020202020204" pitchFamily="34" charset="0"/>
              <a:cs typeface="Arial" panose="020B0604020202020204" pitchFamily="34" charset="0"/>
            </a:endParaRPr>
          </a:p>
          <a:p>
            <a:r>
              <a:rPr lang="en-US" sz="1200" b="1">
                <a:latin typeface="Arial" panose="020B0604020202020204" pitchFamily="34" charset="0"/>
                <a:cs typeface="Arial" panose="020B0604020202020204" pitchFamily="34" charset="0"/>
              </a:rPr>
              <a:t>Newly announced</a:t>
            </a:r>
            <a:r>
              <a:rPr lang="en-US" sz="1200" b="0">
                <a:latin typeface="Arial" panose="020B0604020202020204" pitchFamily="34" charset="0"/>
                <a:cs typeface="Arial" panose="020B0604020202020204" pitchFamily="34" charset="0"/>
              </a:rPr>
              <a:t>, agents who qualify for the </a:t>
            </a:r>
            <a:r>
              <a:rPr lang="en-US" sz="1200" b="1">
                <a:latin typeface="Arial" panose="020B0604020202020204" pitchFamily="34" charset="0"/>
                <a:cs typeface="Arial" panose="020B0604020202020204" pitchFamily="34" charset="0"/>
              </a:rPr>
              <a:t>1,000 bonus Council Credits </a:t>
            </a:r>
            <a:r>
              <a:rPr lang="en-US" sz="1200" b="0">
                <a:latin typeface="Arial" panose="020B0604020202020204" pitchFamily="34" charset="0"/>
                <a:cs typeface="Arial" panose="020B0604020202020204" pitchFamily="34" charset="0"/>
              </a:rPr>
              <a:t>will have the opportunity to choose whether those Credits are applied to </a:t>
            </a:r>
            <a:r>
              <a:rPr lang="en-US" sz="1200" b="1">
                <a:latin typeface="Arial" panose="020B0604020202020204" pitchFamily="34" charset="0"/>
                <a:cs typeface="Arial" panose="020B0604020202020204" pitchFamily="34" charset="0"/>
              </a:rPr>
              <a:t>Council year 2026 or 2027</a:t>
            </a:r>
            <a:r>
              <a:rPr lang="en-US" sz="1200" b="0">
                <a:latin typeface="Arial" panose="020B0604020202020204" pitchFamily="34" charset="0"/>
                <a:cs typeface="Arial" panose="020B0604020202020204" pitchFamily="34" charset="0"/>
              </a:rPr>
              <a:t>.</a:t>
            </a:r>
          </a:p>
          <a:p>
            <a:endParaRPr lang="en-US" sz="1200" b="0">
              <a:latin typeface="Arial" panose="020B0604020202020204" pitchFamily="34" charset="0"/>
              <a:cs typeface="Arial" panose="020B0604020202020204" pitchFamily="34" charset="0"/>
            </a:endParaRPr>
          </a:p>
          <a:p>
            <a:r>
              <a:rPr lang="en-US" sz="1200" b="0">
                <a:latin typeface="Arial" panose="020B0604020202020204" pitchFamily="34" charset="0"/>
                <a:cs typeface="Arial" panose="020B0604020202020204" pitchFamily="34" charset="0"/>
              </a:rPr>
              <a:t>Complete program rules are available on Info Central, and the Life Sales Desk is available for support in reaching incentive and Council goals.</a:t>
            </a:r>
          </a:p>
          <a:p>
            <a:endParaRPr lang="en-US" sz="1200" b="0">
              <a:latin typeface="Arial" panose="020B0604020202020204" pitchFamily="34" charset="0"/>
              <a:cs typeface="Arial" panose="020B0604020202020204" pitchFamily="34" charset="0"/>
            </a:endParaRPr>
          </a:p>
          <a:p>
            <a:r>
              <a:rPr lang="en-US" sz="1200" b="1">
                <a:latin typeface="Arial" panose="020B0604020202020204" pitchFamily="34" charset="0"/>
                <a:cs typeface="Arial" panose="020B0604020202020204" pitchFamily="34" charset="0"/>
              </a:rPr>
              <a:t>April-May New Org Bonus Info Central page: </a:t>
            </a:r>
            <a:r>
              <a:rPr lang="en-US" sz="1200" b="0">
                <a:latin typeface="Arial" panose="020B0604020202020204" pitchFamily="34" charset="0"/>
                <a:cs typeface="Arial" panose="020B0604020202020204" pitchFamily="34" charset="0"/>
              </a:rPr>
              <a:t>https://www.today.newyorklife.com/agencyportal/s/article/April-May-New-Org-Bonus</a:t>
            </a:r>
            <a:endParaRPr lang="en-US" b="0">
              <a:latin typeface="Arial" panose="020B0604020202020204" pitchFamily="34" charset="0"/>
              <a:ea typeface="Calibri"/>
              <a:cs typeface="Arial" panose="020B0604020202020204" pitchFamily="34" charset="0"/>
            </a:endParaRPr>
          </a:p>
          <a:p>
            <a:endParaRPr lang="en-US" b="1">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endParaRPr lang="en-US">
              <a:latin typeface="Arial" panose="020B0604020202020204" pitchFamily="34" charset="0"/>
              <a:ea typeface="Calibri"/>
              <a:cs typeface="Arial" panose="020B0604020202020204" pitchFamily="34" charset="0"/>
            </a:endParaRPr>
          </a:p>
          <a:p>
            <a:r>
              <a:rPr lang="en-US" baseline="30000">
                <a:latin typeface="Arial" panose="020B0604020202020204" pitchFamily="34" charset="0"/>
                <a:ea typeface="Calibri"/>
                <a:cs typeface="Arial" panose="020B0604020202020204" pitchFamily="34" charset="0"/>
              </a:rPr>
              <a:t>1</a:t>
            </a:r>
            <a:r>
              <a:rPr lang="en-US">
                <a:latin typeface="Arial" panose="020B0604020202020204" pitchFamily="34" charset="0"/>
                <a:ea typeface="Calibri"/>
                <a:cs typeface="Arial" panose="020B0604020202020204" pitchFamily="34" charset="0"/>
              </a:rPr>
              <a:t> Cash bonuses are credited as part of the Life and Annuity Expense Allowance Plan (EAP) and subject to Conditional Check. New York State (NYS) Insurance Law regulates the amount of Expense Allowance that can be credited to an agent’s ledger. In some instances, cash bonuses may be withheld when an agent has reached the maximum legal allowance under the Conditional Check formula. For more information, see Life and Annuity Expense Allowance Plan on Info Central. Agents who are eligible to enroll in EAP must be enrolled by April 30, 2026, to receive a cash bonus. Agents not enrolled by April 30, 2026, will receive bonus Council Credits in lieu of a cash bonus. Agents on the Allowance Builder XP TAS Plan in General Offices located in Arizona, California, Illinois, Iowa, Montana, Nevada, New Hampshire, North Dakota, and South Dakota who are not eligible to enroll in EAP may be eligible for a cash bonus as a one-time payment through TAS, subject to TAS limits. Bonus credits through TAS may not exceed NYS legal limits for Training Allowance.</a:t>
            </a:r>
          </a:p>
          <a:p>
            <a:endParaRPr lang="en-US">
              <a:latin typeface="Arial" panose="020B0604020202020204" pitchFamily="34" charset="0"/>
              <a:ea typeface="Calibri"/>
              <a:cs typeface="Arial" panose="020B0604020202020204" pitchFamily="34" charset="0"/>
            </a:endParaRPr>
          </a:p>
          <a:p>
            <a:r>
              <a:rPr lang="en-US" baseline="30000">
                <a:latin typeface="Arial" panose="020B0604020202020204" pitchFamily="34" charset="0"/>
                <a:ea typeface="Calibri"/>
                <a:cs typeface="Arial" panose="020B0604020202020204" pitchFamily="34" charset="0"/>
              </a:rPr>
              <a:t>2</a:t>
            </a:r>
            <a:r>
              <a:rPr lang="en-US">
                <a:latin typeface="Arial" panose="020B0604020202020204" pitchFamily="34" charset="0"/>
                <a:ea typeface="Calibri"/>
                <a:cs typeface="Arial" panose="020B0604020202020204" pitchFamily="34" charset="0"/>
              </a:rPr>
              <a:t> Council Credits applied through this incentive do not count toward Cabinet qualification, or the 43,000 Council Credits required for Quality Council.</a:t>
            </a:r>
          </a:p>
          <a:p>
            <a:endParaRPr lang="en-US">
              <a:latin typeface="Arial" panose="020B0604020202020204" pitchFamily="34" charset="0"/>
              <a:ea typeface="Calibri"/>
              <a:cs typeface="Arial" panose="020B0604020202020204" pitchFamily="34" charset="0"/>
            </a:endParaRPr>
          </a:p>
          <a:p>
            <a:endParaRPr lang="en-US">
              <a:latin typeface="Arial" panose="020B0604020202020204" pitchFamily="34" charset="0"/>
              <a:ea typeface="Calibri"/>
              <a:cs typeface="Arial" panose="020B0604020202020204" pitchFamily="34" charset="0"/>
            </a:endParaRPr>
          </a:p>
        </p:txBody>
      </p:sp>
      <p:sp>
        <p:nvSpPr>
          <p:cNvPr id="4" name="Slide Number Placeholder 3">
            <a:extLst>
              <a:ext uri="{FF2B5EF4-FFF2-40B4-BE49-F238E27FC236}">
                <a16:creationId xmlns:a16="http://schemas.microsoft.com/office/drawing/2014/main" id="{9D77F0FD-7C37-2621-859A-5AB16CCCA6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12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r>
              <a:rPr lang="en-US" b="1"/>
              <a:t>Money ranks New York Life Best in Whole Life for 2026</a:t>
            </a:r>
            <a:endParaRPr lang="en-US" b="1">
              <a:latin typeface="Arial" panose="020B0604020202020204" pitchFamily="34" charset="0"/>
              <a:ea typeface="Calibri"/>
              <a:cs typeface="Arial" panose="020B0604020202020204" pitchFamily="34" charset="0"/>
            </a:endParaRPr>
          </a:p>
          <a:p>
            <a:endParaRPr lang="en-US" b="0">
              <a:latin typeface="Arial" panose="020B0604020202020204" pitchFamily="34" charset="0"/>
              <a:ea typeface="Calibri"/>
              <a:cs typeface="Arial" panose="020B0604020202020204" pitchFamily="34" charset="0"/>
            </a:endParaRPr>
          </a:p>
          <a:p>
            <a:r>
              <a:rPr lang="en-US" b="0">
                <a:latin typeface="Arial" panose="020B0604020202020204" pitchFamily="34" charset="0"/>
                <a:ea typeface="Calibri"/>
                <a:cs typeface="Arial" panose="020B0604020202020204" pitchFamily="34" charset="0"/>
              </a:rPr>
              <a:t>Money</a:t>
            </a:r>
            <a:r>
              <a:rPr lang="en-US">
                <a:latin typeface="Arial" panose="020B0604020202020204" pitchFamily="34" charset="0"/>
                <a:ea typeface="Calibri"/>
                <a:cs typeface="Arial" panose="020B0604020202020204" pitchFamily="34" charset="0"/>
              </a:rPr>
              <a:t> </a:t>
            </a:r>
            <a:r>
              <a:rPr lang="en-US" b="0">
                <a:latin typeface="Arial" panose="020B0604020202020204" pitchFamily="34" charset="0"/>
                <a:ea typeface="Calibri"/>
                <a:cs typeface="Arial" panose="020B0604020202020204" pitchFamily="34" charset="0"/>
              </a:rPr>
              <a:t>magazine </a:t>
            </a:r>
            <a:r>
              <a:rPr lang="en-US">
                <a:latin typeface="Arial" panose="020B0604020202020204" pitchFamily="34" charset="0"/>
                <a:ea typeface="Calibri"/>
                <a:cs typeface="Arial" panose="020B0604020202020204" pitchFamily="34" charset="0"/>
              </a:rPr>
              <a:t>ranked New York Life best in whole life insurance for 2026, giving agents and employees a strong third-party endorsement to reference in client conversations. The message reinforces New York Life’s broad permanent life product lineup, exceptional financial strength ratings, and long-standing dividend history, including the 2026 declared dividend. Agents can add the new Money badge to their email signature and use the QR code to access resources for sharing the recognition with clients.</a:t>
            </a: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721B4-F534-25AB-E0D3-6E917BCD3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CA1FC7-EF45-5402-DCE7-4A7B0A643E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ED4DDCF-AF25-45B2-775B-CBC9D9CEDF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VUL Mastery webinar series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cs typeface="Arial" panose="020B0604020202020204" pitchFamily="34" charset="0"/>
              </a:rPr>
              <a:t>Join us for </a:t>
            </a:r>
            <a:r>
              <a:rPr lang="en-US" b="1">
                <a:latin typeface="Arial" panose="020B0604020202020204" pitchFamily="34" charset="0"/>
                <a:cs typeface="Arial" panose="020B0604020202020204" pitchFamily="34" charset="0"/>
              </a:rPr>
              <a:t>VUL Mastery</a:t>
            </a:r>
            <a:r>
              <a:rPr lang="en-US" b="0">
                <a:latin typeface="Arial" panose="020B0604020202020204" pitchFamily="34" charset="0"/>
                <a:cs typeface="Arial" panose="020B0604020202020204" pitchFamily="34" charset="0"/>
              </a:rPr>
              <a:t>, a webinar designed to help you strengthen client conversations around variable universal life solutions.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Session 2 </a:t>
            </a:r>
            <a:r>
              <a:rPr lang="en-US" b="0">
                <a:latin typeface="Arial" panose="020B0604020202020204" pitchFamily="34" charset="0"/>
                <a:cs typeface="Arial" panose="020B0604020202020204" pitchFamily="34" charset="0"/>
              </a:rPr>
              <a:t>will focus on </a:t>
            </a:r>
            <a:r>
              <a:rPr lang="en-US" b="1">
                <a:latin typeface="Arial" panose="020B0604020202020204" pitchFamily="34" charset="0"/>
                <a:cs typeface="Arial" panose="020B0604020202020204" pitchFamily="34" charset="0"/>
              </a:rPr>
              <a:t>SVUL Accumulator II (AD126)</a:t>
            </a:r>
            <a:r>
              <a:rPr lang="en-US" b="0">
                <a:latin typeface="Arial" panose="020B0604020202020204" pitchFamily="34" charset="0"/>
                <a:cs typeface="Arial" panose="020B0604020202020204" pitchFamily="34" charset="0"/>
              </a:rPr>
              <a:t>, our new Survivorship Variable Universal Life (SVUL) solution, and how to position it with the right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cs typeface="Arial" panose="020B0604020202020204" pitchFamily="34" charset="0"/>
              </a:rPr>
              <a:t>To help you prepare, the </a:t>
            </a:r>
            <a:r>
              <a:rPr lang="en-US" b="1">
                <a:latin typeface="Arial" panose="020B0604020202020204" pitchFamily="34" charset="0"/>
                <a:cs typeface="Arial" panose="020B0604020202020204" pitchFamily="34" charset="0"/>
              </a:rPr>
              <a:t>May 6 PLAN webinar replay </a:t>
            </a:r>
            <a:r>
              <a:rPr lang="en-US" b="0">
                <a:latin typeface="Arial" panose="020B0604020202020204" pitchFamily="34" charset="0"/>
                <a:cs typeface="Arial" panose="020B0604020202020204" pitchFamily="34" charset="0"/>
              </a:rPr>
              <a:t>is now available. It introduces the new SVUL product and highlights key strategies and client opportunities that tie directly into this session—be sure to scan the QR code to watch the replay.</a:t>
            </a: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endParaRPr lang="en-US" b="1">
              <a:latin typeface="Arial" panose="020B0604020202020204" pitchFamily="34" charset="0"/>
              <a:ea typeface="Calibri"/>
              <a:cs typeface="Arial" panose="020B0604020202020204" pitchFamily="34" charset="0"/>
            </a:endParaRPr>
          </a:p>
          <a:p>
            <a:endParaRPr lang="en-US" b="1">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Registration link: </a:t>
            </a:r>
            <a:r>
              <a:rPr lang="en-US">
                <a:latin typeface="Arial" panose="020B0604020202020204" pitchFamily="34" charset="0"/>
                <a:ea typeface="Calibri"/>
                <a:cs typeface="Arial" panose="020B0604020202020204" pitchFamily="34" charset="0"/>
              </a:rPr>
              <a:t>https://nylife.zoom.us/webinar/register/WN__dB8tQ_DSMeQ-Etwix2RMA#/registration</a:t>
            </a:r>
          </a:p>
          <a:p>
            <a:endParaRPr lang="en-US">
              <a:latin typeface="Arial" panose="020B0604020202020204" pitchFamily="34" charset="0"/>
              <a:ea typeface="Calibri"/>
              <a:cs typeface="Arial" panose="020B0604020202020204" pitchFamily="34" charset="0"/>
            </a:endParaRPr>
          </a:p>
          <a:p>
            <a:r>
              <a:rPr lang="en-US" b="1">
                <a:latin typeface="Arial" panose="020B0604020202020204" pitchFamily="34" charset="0"/>
                <a:ea typeface="Calibri"/>
                <a:cs typeface="Arial" panose="020B0604020202020204" pitchFamily="34" charset="0"/>
              </a:rPr>
              <a:t>5/6 PLAN webinar replay: </a:t>
            </a:r>
            <a:r>
              <a:rPr lang="en-US" b="0">
                <a:latin typeface="Arial" panose="020B0604020202020204" pitchFamily="34" charset="0"/>
                <a:ea typeface="Calibri"/>
                <a:cs typeface="Arial" panose="020B0604020202020204" pitchFamily="34" charset="0"/>
              </a:rPr>
              <a:t>https://nylview.mediaspace.kaltura.com/media/Introducing%20SVUL%3A%20How%20to%20Position%20It%20and%20What%20to%20Do%20Next%20(5_6_26%20Replay)/1_s6g7qfn5/258903902</a:t>
            </a:r>
          </a:p>
        </p:txBody>
      </p:sp>
      <p:sp>
        <p:nvSpPr>
          <p:cNvPr id="4" name="Slide Number Placeholder 3">
            <a:extLst>
              <a:ext uri="{FF2B5EF4-FFF2-40B4-BE49-F238E27FC236}">
                <a16:creationId xmlns:a16="http://schemas.microsoft.com/office/drawing/2014/main" id="{F11C0ABC-2311-71BA-6541-5B009CD910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8829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D222E-2526-C000-4C46-B6CD980DD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A706C-8EDF-E705-90FB-8A7688C52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BBCE1-0A55-FCB6-7A3E-ACE43D36DB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Disability Income Awareness Month(DIAM) training series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cs typeface="Arial" panose="020B0604020202020204" pitchFamily="34" charset="0"/>
              </a:rPr>
              <a:t>Disability Insurance Awareness Month (DIAM) is the perfect opportunity to educate and engage your clients and prospects on the value of comprehensive income protection.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cs typeface="Arial" panose="020B0604020202020204" pitchFamily="34" charset="0"/>
              </a:rPr>
              <a:t>Join us for our DIAM webinar where our disability experts will share actionable strategies to position both individual and group disability with confidence!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Registration link:</a:t>
            </a:r>
            <a:r>
              <a:rPr lang="en-US">
                <a:latin typeface="Arial" panose="020B0604020202020204" pitchFamily="34" charset="0"/>
                <a:cs typeface="Arial" panose="020B0604020202020204" pitchFamily="34" charset="0"/>
              </a:rPr>
              <a:t> https://nylife.zoom.us/webinar/register/WN_GfEarc3fRY6b6ND7j_D_3w#/registration</a:t>
            </a:r>
          </a:p>
          <a:p>
            <a:endParaRPr lang="en-US">
              <a:latin typeface="Arial" panose="020B0604020202020204" pitchFamily="34" charset="0"/>
              <a:ea typeface="Calibri"/>
              <a:cs typeface="Arial" panose="020B0604020202020204" pitchFamily="34" charset="0"/>
            </a:endParaRPr>
          </a:p>
        </p:txBody>
      </p:sp>
      <p:sp>
        <p:nvSpPr>
          <p:cNvPr id="4" name="Slide Number Placeholder 3">
            <a:extLst>
              <a:ext uri="{FF2B5EF4-FFF2-40B4-BE49-F238E27FC236}">
                <a16:creationId xmlns:a16="http://schemas.microsoft.com/office/drawing/2014/main" id="{89C36D57-95E6-6877-C98E-2B3D9A1298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6826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2Q 2026 Registered Rep </a:t>
            </a:r>
            <a:r>
              <a:rPr lang="en-US" b="1" err="1"/>
              <a:t>MasterClass</a:t>
            </a:r>
            <a:r>
              <a:rPr lang="en-US" b="1"/>
              <a:t> </a:t>
            </a:r>
          </a:p>
          <a:p>
            <a:endParaRPr lang="en-US" b="1"/>
          </a:p>
          <a:p>
            <a:r>
              <a:rPr lang="en-US" b="0"/>
              <a:t>Starting Tuesday April 21st at 3pm EST running for 11 weeks</a:t>
            </a:r>
          </a:p>
          <a:p>
            <a:endParaRPr lang="en-US" b="1"/>
          </a:p>
          <a:p>
            <a:r>
              <a:rPr lang="en-US" b="1"/>
              <a:t>Contact: </a:t>
            </a:r>
            <a:r>
              <a:rPr lang="en-US" b="0"/>
              <a:t>PLAN@newyorklife.com</a:t>
            </a:r>
          </a:p>
          <a:p>
            <a:endParaRPr lang="en-US" b="1"/>
          </a:p>
          <a:p>
            <a:r>
              <a:rPr lang="en-US" b="1"/>
              <a:t>Registration link: </a:t>
            </a:r>
            <a:r>
              <a:rPr lang="en-US"/>
              <a:t>https://nylife.zoom.us/webinar/register/WN_blUdrLegQluNnil5eJb-Gg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C2EB45-E289-47D4-B0E3-AF39ECB9E3B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9899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7D1F-8727-32F0-221F-E0E599662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9CB31-439E-19AB-991B-F0912DDDFF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D7C861-E8C9-B220-7808-C521AAF483DF}"/>
              </a:ext>
            </a:extLst>
          </p:cNvPr>
          <p:cNvSpPr>
            <a:spLocks noGrp="1"/>
          </p:cNvSpPr>
          <p:nvPr>
            <p:ph type="body" idx="1"/>
          </p:nvPr>
        </p:nvSpPr>
        <p:spPr/>
        <p:txBody>
          <a:bodyPr/>
          <a:lstStyle/>
          <a:p>
            <a:r>
              <a:rPr lang="en-US" b="1"/>
              <a:t>Register for the Mutual Income webinar</a:t>
            </a:r>
            <a:endParaRPr lang="en-US" b="1">
              <a:ea typeface="Calibri"/>
              <a:cs typeface="Calibri"/>
            </a:endParaRPr>
          </a:p>
          <a:p>
            <a:endParaRPr lang="en-US" b="0">
              <a:ea typeface="Calibri"/>
              <a:cs typeface="Calibri"/>
            </a:endParaRPr>
          </a:p>
          <a:p>
            <a:r>
              <a:rPr lang="en-US" b="0">
                <a:ea typeface="Calibri"/>
                <a:cs typeface="Calibri"/>
              </a:rPr>
              <a:t>The upcoming Mutual Income webinar will take place on </a:t>
            </a:r>
            <a:r>
              <a:rPr lang="en-US" b="1">
                <a:ea typeface="Calibri"/>
                <a:cs typeface="Calibri"/>
              </a:rPr>
              <a:t>Wednesday, May 20 at 3:00 p.m. ET. Council Close: Drive Protection and Better Retirement Outcomes with Mutual Income</a:t>
            </a:r>
            <a:r>
              <a:rPr lang="en-US" b="0">
                <a:ea typeface="Calibri"/>
                <a:cs typeface="Calibri"/>
              </a:rPr>
              <a:t>, this session will share practical ideas for positioning Mutual Income in client conversations.</a:t>
            </a:r>
          </a:p>
          <a:p>
            <a:endParaRPr lang="en-US" b="0">
              <a:ea typeface="Calibri"/>
              <a:cs typeface="Calibri"/>
            </a:endParaRPr>
          </a:p>
          <a:p>
            <a:r>
              <a:rPr lang="en-US" b="0">
                <a:ea typeface="Calibri"/>
                <a:cs typeface="Calibri"/>
              </a:rPr>
              <a:t>Featured speakers </a:t>
            </a:r>
            <a:r>
              <a:rPr lang="en-US" b="1">
                <a:ea typeface="Calibri"/>
                <a:cs typeface="Calibri"/>
              </a:rPr>
              <a:t>Mark Derby </a:t>
            </a:r>
            <a:r>
              <a:rPr lang="en-US" b="0">
                <a:ea typeface="Calibri"/>
                <a:cs typeface="Calibri"/>
              </a:rPr>
              <a:t>and </a:t>
            </a:r>
            <a:r>
              <a:rPr lang="en-US" b="1">
                <a:ea typeface="Calibri"/>
                <a:cs typeface="Calibri"/>
              </a:rPr>
              <a:t>Justin Bateman</a:t>
            </a:r>
            <a:r>
              <a:rPr lang="en-US" b="0">
                <a:ea typeface="Calibri"/>
                <a:cs typeface="Calibri"/>
              </a:rPr>
              <a:t>, with </a:t>
            </a:r>
            <a:r>
              <a:rPr lang="en-US" b="1">
                <a:ea typeface="Calibri"/>
                <a:cs typeface="Calibri"/>
              </a:rPr>
              <a:t>Josh Bauer </a:t>
            </a:r>
            <a:r>
              <a:rPr lang="en-US" b="0">
                <a:ea typeface="Calibri"/>
                <a:cs typeface="Calibri"/>
              </a:rPr>
              <a:t>as moderator, will discuss how Mutual Income can serve as a competitive advantage in income planning, how it has been successfully incorporated into practice, and how it can help support stronger client protection and better retirement outcomes.</a:t>
            </a:r>
          </a:p>
          <a:p>
            <a:endParaRPr lang="en-US" b="1">
              <a:ea typeface="Calibri"/>
              <a:cs typeface="Calibri"/>
            </a:endParaRPr>
          </a:p>
          <a:p>
            <a:r>
              <a:rPr lang="en-US" b="1">
                <a:ea typeface="Calibri"/>
                <a:cs typeface="Calibri"/>
              </a:rPr>
              <a:t>Registration link: </a:t>
            </a:r>
            <a:r>
              <a:rPr lang="en-US">
                <a:ea typeface="Calibri"/>
                <a:cs typeface="Calibri"/>
              </a:rPr>
              <a:t>https://nylife.zoom.us/webinar/register/WN_SdYfBtMQSNWR4RmyWKy3jQ </a:t>
            </a:r>
          </a:p>
        </p:txBody>
      </p:sp>
      <p:sp>
        <p:nvSpPr>
          <p:cNvPr id="4" name="Slide Number Placeholder 3">
            <a:extLst>
              <a:ext uri="{FF2B5EF4-FFF2-40B4-BE49-F238E27FC236}">
                <a16:creationId xmlns:a16="http://schemas.microsoft.com/office/drawing/2014/main" id="{EACD84D0-4895-0F70-D67D-6D22DA0892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519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62373-AE92-E604-729A-8F760DEF0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3F99B-A133-1CF1-6623-60E4BFB1C6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01829C-92F3-1127-ED83-5E745F6235FD}"/>
              </a:ext>
            </a:extLst>
          </p:cNvPr>
          <p:cNvSpPr>
            <a:spLocks noGrp="1"/>
          </p:cNvSpPr>
          <p:nvPr>
            <p:ph type="body" idx="1"/>
          </p:nvPr>
        </p:nvSpPr>
        <p:spPr/>
        <p:txBody>
          <a:bodyPr/>
          <a:lstStyle/>
          <a:p>
            <a:r>
              <a:rPr lang="en-US" sz="1200" b="1" i="0" kern="1200">
                <a:solidFill>
                  <a:schemeClr val="tx1"/>
                </a:solidFill>
                <a:effectLst/>
                <a:latin typeface="+mn-lt"/>
                <a:ea typeface="+mn-ea"/>
                <a:cs typeface="+mn-cs"/>
              </a:rPr>
              <a:t>AAMU Strong: Council Close</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As you close out towards Council, come hear some great ideas to help you get to the finish line or RISE to the next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Guest speakers: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Joe Baumgartner, CFA, Senior Investment Solutions Consultant SC Zone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Jackie Caldwell, CLU, RICP Life Solutions Consultant SC  Zone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t>Contact: </a:t>
            </a:r>
            <a:r>
              <a:rPr lang="en-US" sz="1400" b="0"/>
              <a:t>africanamericanmarket@newyorklife.com</a:t>
            </a:r>
            <a:br>
              <a:rPr lang="en-US" sz="1400">
                <a:cs typeface="+mn-lt"/>
              </a:rPr>
            </a:br>
            <a:r>
              <a:rPr lang="en-US" sz="1400" b="1"/>
              <a:t>Registration: </a:t>
            </a:r>
            <a:r>
              <a:rPr lang="en-US" sz="1400" b="0"/>
              <a:t>https://nylife.zoom.us/meeting/register/XQiOaW_ESyiCmTwOsLKtVw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a:cs typeface="Calibri"/>
              </a:rPr>
              <a:t>Submitted by: John Macchia</a:t>
            </a:r>
          </a:p>
          <a:p>
            <a:pPr marL="0" indent="0">
              <a:buFont typeface="Wingdings" panose="05000000000000000000" pitchFamily="2" charset="2"/>
              <a:buNone/>
            </a:pPr>
            <a:r>
              <a:rPr lang="en-US" sz="1400">
                <a:ea typeface="Calibri"/>
                <a:cs typeface="Calibri"/>
              </a:rPr>
              <a:t>-- -- --</a:t>
            </a:r>
            <a:endParaRPr lang="en-US" sz="1200" b="1" i="0" kern="1200">
              <a:solidFill>
                <a:schemeClr val="tx1"/>
              </a:solidFill>
              <a:effectLst/>
              <a:latin typeface="+mn-lt"/>
              <a:ea typeface="+mn-ea"/>
              <a:cs typeface="+mn-cs"/>
            </a:endParaRPr>
          </a:p>
          <a:p>
            <a:pPr fontAlgn="ctr" latinLnBrk="0"/>
            <a:r>
              <a:rPr lang="en-US" sz="1200" b="1" i="0" u="none" strike="noStrike" kern="1200">
                <a:solidFill>
                  <a:schemeClr val="tx1"/>
                </a:solidFill>
                <a:effectLst/>
                <a:latin typeface="+mn-lt"/>
                <a:ea typeface="+mn-ea"/>
                <a:cs typeface="+mn-cs"/>
              </a:rPr>
              <a:t>Korean Market Agents Resource Lab</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endParaRPr lang="en-US" sz="1200" b="1" i="0" u="none" strike="noStrike" kern="1200">
              <a:solidFill>
                <a:schemeClr val="tx1"/>
              </a:solidFill>
              <a:effectLst/>
              <a:latin typeface="+mn-lt"/>
              <a:ea typeface="+mn-ea"/>
              <a:cs typeface="+mn-cs"/>
            </a:endParaRPr>
          </a:p>
          <a:p>
            <a:pPr fontAlgn="ctr" latinLnBrk="0"/>
            <a:endParaRPr lang="en-US" sz="1200" b="1" i="0" u="none" strike="noStrike" kern="1200">
              <a:solidFill>
                <a:schemeClr val="tx1"/>
              </a:solidFill>
              <a:effectLst/>
              <a:latin typeface="+mn-lt"/>
              <a:ea typeface="+mn-ea"/>
              <a:cs typeface="+mn-cs"/>
            </a:endParaRPr>
          </a:p>
          <a:p>
            <a:pPr fontAlgn="ctr" latinLnBrk="0"/>
            <a:r>
              <a:rPr lang="en-US" sz="1200" b="0" i="0" u="none" strike="noStrike" kern="1200">
                <a:solidFill>
                  <a:schemeClr val="tx1"/>
                </a:solidFill>
                <a:effectLst/>
                <a:latin typeface="+mn-lt"/>
                <a:ea typeface="+mn-ea"/>
                <a:cs typeface="+mn-cs"/>
              </a:rPr>
              <a:t>Monthly in-language training and development hour on tools and resources followed by Q&amp;A</a:t>
            </a:r>
          </a:p>
          <a:p>
            <a:pPr fontAlgn="ctr" latinLnBrk="0"/>
            <a:endParaRPr lang="en-US" sz="1200" b="1" i="0" u="none" strike="noStrike" kern="1200">
              <a:solidFill>
                <a:schemeClr val="tx1"/>
              </a:solidFill>
              <a:effectLst/>
              <a:latin typeface="+mn-lt"/>
              <a:ea typeface="+mn-ea"/>
              <a:cs typeface="+mn-cs"/>
            </a:endParaRPr>
          </a:p>
          <a:p>
            <a:pPr fontAlgn="ctr" latinLnBrk="0"/>
            <a:r>
              <a:rPr lang="en-US" sz="1200" b="1"/>
              <a:t>Contact: </a:t>
            </a:r>
            <a:r>
              <a:rPr lang="en-US" sz="1200" kern="1200">
                <a:solidFill>
                  <a:schemeClr val="tx1"/>
                </a:solidFill>
                <a:effectLst/>
                <a:latin typeface="+mn-lt"/>
                <a:ea typeface="Geneva" charset="0"/>
                <a:cs typeface="Geneva" charset="0"/>
              </a:rPr>
              <a:t>targetmarkets@newyorklife.com</a:t>
            </a:r>
          </a:p>
          <a:p>
            <a:pPr fontAlgn="ctr" latinLnBrk="0"/>
            <a:r>
              <a:rPr lang="en-US" sz="1200" b="1" kern="1200">
                <a:solidFill>
                  <a:schemeClr val="tx1"/>
                </a:solidFill>
                <a:effectLst/>
                <a:latin typeface="+mn-lt"/>
                <a:ea typeface="Geneva" charset="0"/>
              </a:rPr>
              <a:t>Registration: </a:t>
            </a:r>
            <a:r>
              <a:rPr lang="en-US" sz="1200" b="0" kern="1200">
                <a:solidFill>
                  <a:schemeClr val="tx1"/>
                </a:solidFill>
                <a:effectLst/>
                <a:latin typeface="+mn-lt"/>
                <a:ea typeface="Geneva" charset="0"/>
              </a:rPr>
              <a:t>https://nylife.zoom.us/meeting/register/Xo5x6s4hShq4FiHBPSzXpw</a:t>
            </a:r>
            <a:endParaRPr lang="en-US" sz="1200" b="0"/>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indent="0">
              <a:buFont typeface="Wingdings" panose="05000000000000000000" pitchFamily="2" charset="2"/>
              <a:buNone/>
            </a:pPr>
            <a:r>
              <a:rPr lang="en-US" sz="1400">
                <a:ea typeface="Calibri"/>
                <a:cs typeface="Calibri"/>
              </a:rPr>
              <a:t>-- -- --</a:t>
            </a:r>
            <a:endParaRPr lang="en-US" sz="1200" b="1" i="0" kern="1200">
              <a:solidFill>
                <a:schemeClr val="tx1"/>
              </a:solidFill>
              <a:effectLst/>
              <a:latin typeface="+mn-lt"/>
              <a:ea typeface="+mn-ea"/>
              <a:cs typeface="+mn-cs"/>
            </a:endParaRPr>
          </a:p>
          <a:p>
            <a:pPr fontAlgn="ctr" latinLnBrk="0"/>
            <a:r>
              <a:rPr lang="en-US" sz="1200" b="1" i="0" u="none" strike="noStrike" kern="1200">
                <a:solidFill>
                  <a:schemeClr val="tx1"/>
                </a:solidFill>
                <a:effectLst/>
                <a:latin typeface="+mn-lt"/>
                <a:ea typeface="+mn-ea"/>
                <a:cs typeface="+mn-cs"/>
              </a:rPr>
              <a:t>South Asian Market Key to Success</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endParaRPr lang="en-US" sz="1200" b="1" i="0" u="none" strike="noStrike" kern="1200">
              <a:solidFill>
                <a:schemeClr val="tx1"/>
              </a:solidFill>
              <a:effectLst/>
              <a:latin typeface="+mn-lt"/>
              <a:ea typeface="+mn-ea"/>
              <a:cs typeface="+mn-cs"/>
            </a:endParaRPr>
          </a:p>
          <a:p>
            <a:pPr fontAlgn="ctr" latinLnBrk="0"/>
            <a:endParaRPr lang="en-US" sz="1200" b="1" i="0" u="none" strike="noStrike" kern="1200">
              <a:solidFill>
                <a:schemeClr val="tx1"/>
              </a:solidFill>
              <a:effectLst/>
              <a:latin typeface="+mn-lt"/>
              <a:ea typeface="+mn-ea"/>
              <a:cs typeface="+mn-cs"/>
            </a:endParaRPr>
          </a:p>
          <a:p>
            <a:pPr fontAlgn="ctr" latinLnBrk="0"/>
            <a:r>
              <a:rPr lang="en-US" sz="1200" b="0" i="0" kern="1200">
                <a:solidFill>
                  <a:schemeClr val="tx1"/>
                </a:solidFill>
                <a:effectLst/>
                <a:latin typeface="+mn-lt"/>
                <a:ea typeface="+mn-ea"/>
                <a:cs typeface="+mn-cs"/>
              </a:rPr>
              <a:t>Webinar designed to empower agents with actionable strategies, industry insights and opportunities to elevate their business.</a:t>
            </a:r>
          </a:p>
          <a:p>
            <a:pPr fontAlgn="ctr" latinLnBrk="0"/>
            <a:endParaRPr lang="en-US" sz="1200" b="1" i="0" kern="1200">
              <a:solidFill>
                <a:schemeClr val="tx1"/>
              </a:solidFill>
              <a:effectLst/>
              <a:latin typeface="+mn-lt"/>
              <a:ea typeface="+mn-ea"/>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Geneva" charset="0"/>
              </a:rPr>
              <a:t>Registration: </a:t>
            </a:r>
            <a:r>
              <a:rPr lang="en-US" sz="1200" b="0" kern="1200">
                <a:solidFill>
                  <a:schemeClr val="tx1"/>
                </a:solidFill>
                <a:effectLst/>
                <a:latin typeface="+mn-lt"/>
                <a:ea typeface="Geneva" charset="0"/>
              </a:rPr>
              <a:t>https://nylife.zoom.us/webinar/register/WN_f3aeTgdpSBuor2kFCC1CoA</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indent="0">
              <a:buFont typeface="Wingdings" panose="05000000000000000000" pitchFamily="2" charset="2"/>
              <a:buNone/>
            </a:pPr>
            <a:r>
              <a:rPr lang="en-US" sz="1400">
                <a:ea typeface="Calibri"/>
                <a:cs typeface="Calibri"/>
              </a:rPr>
              <a:t>-- -- --</a:t>
            </a:r>
            <a:endParaRPr lang="en-US" sz="1200" b="1" i="0" kern="1200">
              <a:solidFill>
                <a:schemeClr val="tx1"/>
              </a:solidFill>
              <a:effectLst/>
              <a:latin typeface="+mn-lt"/>
              <a:ea typeface="+mn-ea"/>
              <a:cs typeface="+mn-cs"/>
            </a:endParaRPr>
          </a:p>
          <a:p>
            <a:pPr fontAlgn="ctr" latinLnBrk="0"/>
            <a:r>
              <a:rPr lang="en-US" sz="1200" b="1" i="0" u="none" strike="noStrike" kern="1200">
                <a:solidFill>
                  <a:schemeClr val="tx1"/>
                </a:solidFill>
                <a:effectLst/>
                <a:latin typeface="+mn-lt"/>
                <a:ea typeface="+mn-ea"/>
                <a:cs typeface="+mn-cs"/>
              </a:rPr>
              <a:t>Vietnamese Market Business Development</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endParaRPr lang="en-US" sz="1200" b="1" i="0" u="none" strike="noStrike" kern="1200">
              <a:solidFill>
                <a:schemeClr val="tx1"/>
              </a:solidFill>
              <a:effectLst/>
              <a:latin typeface="+mn-lt"/>
              <a:ea typeface="+mn-ea"/>
              <a:cs typeface="+mn-cs"/>
            </a:endParaRPr>
          </a:p>
          <a:p>
            <a:pPr fontAlgn="ctr" latinLnBrk="0"/>
            <a:endParaRPr lang="en-US" sz="1200" b="1" i="0" u="none" strike="noStrike" kern="1200">
              <a:solidFill>
                <a:schemeClr val="tx1"/>
              </a:solidFill>
              <a:effectLst/>
              <a:latin typeface="+mn-lt"/>
              <a:ea typeface="+mn-ea"/>
              <a:cs typeface="+mn-cs"/>
            </a:endParaRPr>
          </a:p>
          <a:p>
            <a:pPr fontAlgn="ctr" latinLnBrk="0"/>
            <a:r>
              <a:rPr lang="en-US" sz="1200" b="0" i="0" u="none" strike="noStrike" kern="1200" err="1">
                <a:solidFill>
                  <a:schemeClr val="tx1"/>
                </a:solidFill>
                <a:effectLst/>
                <a:latin typeface="+mn-lt"/>
                <a:ea typeface="+mn-ea"/>
                <a:cs typeface="+mn-cs"/>
              </a:rPr>
              <a:t>ClientMine</a:t>
            </a:r>
            <a:r>
              <a:rPr lang="en-US" sz="1200" b="0" i="0" u="none" strike="noStrike" kern="1200">
                <a:solidFill>
                  <a:schemeClr val="tx1"/>
                </a:solidFill>
                <a:effectLst/>
                <a:latin typeface="+mn-lt"/>
                <a:ea typeface="+mn-ea"/>
                <a:cs typeface="+mn-cs"/>
              </a:rPr>
              <a:t>: Identify the planning gaps</a:t>
            </a:r>
          </a:p>
          <a:p>
            <a:pPr fontAlgn="ctr" latinLnBrk="0"/>
            <a:endParaRPr lang="en-US" sz="1200" b="1" i="0" kern="1200">
              <a:solidFill>
                <a:schemeClr val="tx1"/>
              </a:solidFill>
              <a:effectLst/>
              <a:latin typeface="+mn-lt"/>
              <a:ea typeface="+mn-ea"/>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Registration: </a:t>
            </a:r>
            <a:r>
              <a:rPr lang="en-US" sz="1200" b="0"/>
              <a:t>https://nylife.zoom.us/meeting/register/_Ee-io1vT5a73WQ6I6uamg</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a:ea typeface="Calibri"/>
              <a:cs typeface="Calibri"/>
            </a:endParaRPr>
          </a:p>
        </p:txBody>
      </p:sp>
      <p:sp>
        <p:nvSpPr>
          <p:cNvPr id="4" name="Slide Number Placeholder 3">
            <a:extLst>
              <a:ext uri="{FF2B5EF4-FFF2-40B4-BE49-F238E27FC236}">
                <a16:creationId xmlns:a16="http://schemas.microsoft.com/office/drawing/2014/main" id="{9E1312B4-A1B0-41C4-8CFC-E0B3A18C62AE}"/>
              </a:ext>
            </a:extLst>
          </p:cNvPr>
          <p:cNvSpPr>
            <a:spLocks noGrp="1"/>
          </p:cNvSpPr>
          <p:nvPr>
            <p:ph type="sldNum" sz="quarter" idx="5"/>
          </p:nvPr>
        </p:nvSpPr>
        <p:spPr/>
        <p:txBody>
          <a:bodyPr/>
          <a:lstStyle/>
          <a:p>
            <a:fld id="{B8F2EEE2-46E2-47E5-8287-018A51779D44}" type="slidenum">
              <a:rPr lang="en-US"/>
              <a:t>8</a:t>
            </a:fld>
            <a:endParaRPr lang="en-US"/>
          </a:p>
        </p:txBody>
      </p:sp>
    </p:spTree>
    <p:extLst>
      <p:ext uri="{BB962C8B-B14F-4D97-AF65-F5344CB8AC3E}">
        <p14:creationId xmlns:p14="http://schemas.microsoft.com/office/powerpoint/2010/main" val="195677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111D-66F3-7EBF-3033-F1CD56566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D7774-850B-DF17-8FD8-E39AA9EDF7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AA75D3-DC5A-DC85-450C-DEF08EDB2305}"/>
              </a:ext>
            </a:extLst>
          </p:cNvPr>
          <p:cNvSpPr>
            <a:spLocks noGrp="1"/>
          </p:cNvSpPr>
          <p:nvPr>
            <p:ph type="body" idx="1"/>
          </p:nvPr>
        </p:nvSpPr>
        <p:spPr/>
        <p:txBody>
          <a:bodyPr/>
          <a:lstStyle/>
          <a:p>
            <a:r>
              <a:rPr kumimoji="0" lang="en-US" sz="1200" b="1" i="0" u="none" strike="noStrike" kern="1200" cap="none" spc="0" normalizeH="0" baseline="0" noProof="0">
                <a:ln>
                  <a:noFill/>
                </a:ln>
                <a:solidFill>
                  <a:srgbClr val="000962"/>
                </a:solidFill>
                <a:effectLst/>
                <a:uLnTx/>
                <a:uFillTx/>
                <a:latin typeface="Arial"/>
                <a:ea typeface="Geneva"/>
                <a:cs typeface="Arial"/>
              </a:rPr>
              <a:t>Donna Weiser </a:t>
            </a:r>
          </a:p>
          <a:p>
            <a:r>
              <a:rPr kumimoji="0" lang="en-US" sz="1200" b="1" i="0" u="none" strike="noStrike" kern="1200" cap="none" spc="0" normalizeH="0" baseline="0" noProof="0" err="1">
                <a:ln>
                  <a:noFill/>
                </a:ln>
                <a:solidFill>
                  <a:srgbClr val="000962"/>
                </a:solidFill>
                <a:effectLst/>
                <a:uLnTx/>
                <a:uFillTx/>
                <a:latin typeface="Arial"/>
                <a:ea typeface="Geneva"/>
                <a:cs typeface="Arial"/>
              </a:rPr>
              <a:t>drweiser</a:t>
            </a:r>
            <a:r>
              <a:rPr kumimoji="0" lang="en-US" sz="1200" b="1" i="0" u="none" strike="noStrike" kern="1200" cap="none" spc="0" normalizeH="0" baseline="0" noProof="0">
                <a:ln>
                  <a:noFill/>
                </a:ln>
                <a:solidFill>
                  <a:srgbClr val="000962"/>
                </a:solidFill>
                <a:effectLst/>
                <a:uLnTx/>
                <a:uFillTx/>
                <a:latin typeface="Arial"/>
                <a:ea typeface="Geneva"/>
                <a:cs typeface="Arial"/>
              </a:rPr>
              <a:t>@newyorklife.com </a:t>
            </a:r>
          </a:p>
          <a:p>
            <a:endParaRPr kumimoji="0" lang="en-US" sz="1200" b="1" i="0" u="none" strike="noStrike" kern="1200" cap="none" spc="0" normalizeH="0" baseline="0" noProof="0">
              <a:ln>
                <a:noFill/>
              </a:ln>
              <a:solidFill>
                <a:srgbClr val="000962"/>
              </a:solidFill>
              <a:effectLst/>
              <a:uLnTx/>
              <a:uFillTx/>
              <a:latin typeface="Arial"/>
              <a:ea typeface="Geneva"/>
              <a:cs typeface="Arial"/>
            </a:endParaRPr>
          </a:p>
          <a:p>
            <a:r>
              <a:rPr kumimoji="0" lang="en-US" sz="1200" b="1" i="0" u="none" strike="noStrike" kern="1200" cap="none" spc="0" normalizeH="0" baseline="0" noProof="0">
                <a:ln>
                  <a:noFill/>
                </a:ln>
                <a:solidFill>
                  <a:srgbClr val="000962"/>
                </a:solidFill>
                <a:effectLst/>
                <a:uLnTx/>
                <a:uFillTx/>
                <a:latin typeface="Arial"/>
                <a:ea typeface="Geneva"/>
                <a:cs typeface="Arial"/>
              </a:rPr>
              <a:t>Released Retirement Account Employer Contributions Calculated – Income benefits tied to income model including 401K calculations, employer DI and employer life </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a:extLst>
              <a:ext uri="{FF2B5EF4-FFF2-40B4-BE49-F238E27FC236}">
                <a16:creationId xmlns:a16="http://schemas.microsoft.com/office/drawing/2014/main" id="{55E1B3A4-80B8-5785-C096-E5DB55FCA0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0047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DB843-B69B-2E57-62B2-ABF844012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6E628E-637E-1550-52FE-AC2E426C1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8D750-8E5C-CBB6-44DE-8A248C6D187A}"/>
              </a:ext>
            </a:extLst>
          </p:cNvPr>
          <p:cNvSpPr>
            <a:spLocks noGrp="1"/>
          </p:cNvSpPr>
          <p:nvPr>
            <p:ph type="body" idx="1"/>
          </p:nvPr>
        </p:nvSpPr>
        <p:spPr/>
        <p:txBody>
          <a:bodyPr/>
          <a:lstStyle/>
          <a:p>
            <a:r>
              <a:rPr lang="en-US" sz="1400" b="1" u="sng"/>
              <a:t>Questions contact </a:t>
            </a:r>
          </a:p>
          <a:p>
            <a:pPr marL="171450" indent="-171450">
              <a:buFont typeface="Arial" panose="020B0604020202020204" pitchFamily="34" charset="0"/>
              <a:buChar char="•"/>
            </a:pPr>
            <a:r>
              <a:rPr lang="en-US" b="0" u="none"/>
              <a:t>PracticeModels_Support@newyorklife.com</a:t>
            </a:r>
          </a:p>
          <a:p>
            <a:pPr marL="171450" indent="-171450">
              <a:buFont typeface="Arial" panose="020B0604020202020204" pitchFamily="34" charset="0"/>
              <a:buChar char="•"/>
            </a:pPr>
            <a:r>
              <a:rPr lang="en-US" b="0" u="none"/>
              <a:t>sean_gilrein@newyorklife.com</a:t>
            </a:r>
          </a:p>
          <a:p>
            <a:endParaRPr lang="en-US" b="1" u="sng"/>
          </a:p>
          <a:p>
            <a:r>
              <a:rPr lang="en-US" b="1" u="sng"/>
              <a:t>PMF-enrolled agents QR Code: </a:t>
            </a:r>
          </a:p>
          <a:p>
            <a:r>
              <a:rPr lang="en-US"/>
              <a:t>https://research.newyorklife.com/jfe/form/SV_8HpelTDQXec76wS</a:t>
            </a:r>
          </a:p>
          <a:p>
            <a:endParaRPr lang="en-US" b="1"/>
          </a:p>
          <a:p>
            <a:r>
              <a:rPr lang="en-US" b="1" u="sng"/>
              <a:t>Agents + Managers FSCP/RICP QR Code: </a:t>
            </a:r>
          </a:p>
          <a:p>
            <a:r>
              <a:rPr lang="en-US"/>
              <a:t>https://research.newyorklife.com/jfe/form/SV_8jpfcXNLuCa7t1Y</a:t>
            </a:r>
          </a:p>
        </p:txBody>
      </p:sp>
      <p:sp>
        <p:nvSpPr>
          <p:cNvPr id="4" name="Slide Number Placeholder 3">
            <a:extLst>
              <a:ext uri="{FF2B5EF4-FFF2-40B4-BE49-F238E27FC236}">
                <a16:creationId xmlns:a16="http://schemas.microsoft.com/office/drawing/2014/main" id="{977449C9-40BC-AD6A-3931-B2589CB6A310}"/>
              </a:ext>
            </a:extLst>
          </p:cNvPr>
          <p:cNvSpPr>
            <a:spLocks noGrp="1"/>
          </p:cNvSpPr>
          <p:nvPr>
            <p:ph type="sldNum" sz="quarter" idx="5"/>
          </p:nvPr>
        </p:nvSpPr>
        <p:spPr/>
        <p:txBody>
          <a:bodyPr/>
          <a:lstStyle/>
          <a:p>
            <a:fld id="{7D855CD8-A50E-4A6C-85BC-50FE0E84620F}" type="slidenum">
              <a:rPr lang="en-US" smtClean="0"/>
              <a:t>10</a:t>
            </a:fld>
            <a:endParaRPr lang="en-US"/>
          </a:p>
        </p:txBody>
      </p:sp>
    </p:spTree>
    <p:extLst>
      <p:ext uri="{BB962C8B-B14F-4D97-AF65-F5344CB8AC3E}">
        <p14:creationId xmlns:p14="http://schemas.microsoft.com/office/powerpoint/2010/main" val="1378151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stephanie_liftman@newyorklife.com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Join next week’s </a:t>
            </a:r>
            <a:r>
              <a:rPr lang="en-US" sz="1200" b="1" kern="1200" dirty="0">
                <a:solidFill>
                  <a:schemeClr val="tx1"/>
                </a:solidFill>
                <a:effectLst/>
                <a:latin typeface="+mn-lt"/>
                <a:ea typeface="+mn-ea"/>
                <a:cs typeface="+mn-cs"/>
              </a:rPr>
              <a:t>New York Life Healthy Living webinar series</a:t>
            </a:r>
            <a:r>
              <a:rPr lang="en-US" sz="1200" kern="1200" dirty="0">
                <a:solidFill>
                  <a:schemeClr val="tx1"/>
                </a:solidFill>
                <a:effectLst/>
                <a:latin typeface="+mn-lt"/>
                <a:ea typeface="+mn-ea"/>
                <a:cs typeface="+mn-cs"/>
              </a:rPr>
              <a:t> to learn how eligible policyowners can access exclusive discounts on vetted longevity-related brands including WHOOP, Function, and Noom. These tools are designed to help clients live longer, healthier lives. </a:t>
            </a:r>
            <a:endParaRPr lang="en-US" sz="1200" kern="1200">
              <a:solidFill>
                <a:schemeClr val="tx1"/>
              </a:solidFill>
              <a:effectLst/>
              <a:latin typeface="+mn-lt"/>
              <a:ea typeface="Calibri"/>
              <a:cs typeface="Calibri"/>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program is currently available to clients with Life, IDI, LTC, or Income Annuity policies issued in six states </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Arkansas, Connecticut, Colorado, Georgia, Minnesota, and Pennsylvania. </a:t>
            </a:r>
          </a:p>
          <a:p>
            <a:endParaRPr lang="en-US" dirty="0"/>
          </a:p>
        </p:txBody>
      </p:sp>
      <p:sp>
        <p:nvSpPr>
          <p:cNvPr id="4" name="Slide Number Placeholder 3"/>
          <p:cNvSpPr>
            <a:spLocks noGrp="1"/>
          </p:cNvSpPr>
          <p:nvPr>
            <p:ph type="sldNum" sz="quarter" idx="5"/>
          </p:nvPr>
        </p:nvSpPr>
        <p:spPr/>
        <p:txBody>
          <a:bodyPr/>
          <a:lstStyle/>
          <a:p>
            <a:fld id="{B8F2EEE2-46E2-47E5-8287-018A51779D44}" type="slidenum">
              <a:rPr lang="en-US" smtClean="0"/>
              <a:t>11</a:t>
            </a:fld>
            <a:endParaRPr lang="en-US"/>
          </a:p>
        </p:txBody>
      </p:sp>
    </p:spTree>
    <p:extLst>
      <p:ext uri="{BB962C8B-B14F-4D97-AF65-F5344CB8AC3E}">
        <p14:creationId xmlns:p14="http://schemas.microsoft.com/office/powerpoint/2010/main" val="3407306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F20B7-D294-2B5F-3C55-6D56316F9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52BE6-6541-9C6C-A2BB-AA2800AE0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457E28-1A01-D86C-E65A-9C3E42A7F2C1}"/>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Chris Falvo: christopher_falvo@nyl.com</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Elevate Podcast is a new quarterly podcast series hosted by Aaron Ball, EVP and Head of the Foundational Business, and Sonali Virendra, SVP and Head of Agency, and connects New York Life’s Foundational Business strategy and progress to what it means for agents and advisors. Learn how the company is bringing our Protection-Powered </a:t>
            </a:r>
            <a:r>
              <a:rPr lang="en-US" sz="1200" b="0" i="0" kern="1200" err="1">
                <a:solidFill>
                  <a:schemeClr val="tx1"/>
                </a:solidFill>
                <a:effectLst/>
                <a:latin typeface="+mn-lt"/>
                <a:ea typeface="+mn-ea"/>
                <a:cs typeface="+mn-cs"/>
              </a:rPr>
              <a:t>Growth</a:t>
            </a:r>
            <a:r>
              <a:rPr lang="en-US" sz="1200" b="0" i="0" strike="noStrike" kern="1200" baseline="30000" err="1">
                <a:solidFill>
                  <a:schemeClr val="tx1"/>
                </a:solidFill>
                <a:effectLst/>
                <a:latin typeface="+mn-lt"/>
                <a:ea typeface="+mn-ea"/>
                <a:cs typeface="+mn-cs"/>
              </a:rPr>
              <a:t>TM</a:t>
            </a:r>
            <a:r>
              <a:rPr lang="en-US" sz="1200" b="0" i="0" kern="1200">
                <a:solidFill>
                  <a:schemeClr val="tx1"/>
                </a:solidFill>
                <a:effectLst/>
                <a:latin typeface="+mn-lt"/>
                <a:ea typeface="+mn-ea"/>
                <a:cs typeface="+mn-cs"/>
              </a:rPr>
              <a:t> strategy to life in the field with improvements that reduce friction and boosts productivity.</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 the first episode, Aaron and Sonali are joined by Steve Abramo, Senior Vice President, Purchase Experience Value Stream, to discuss work underway to make the new business and underwriting experience smoother and easier to navigate. The conversation focuses on reducing friction in the purchase experience so agents can spend less time managing process pain points and more time serving clients.</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You can watch the video or listen while on the go on NYL View.</a:t>
            </a:r>
          </a:p>
          <a:p>
            <a:br>
              <a:rPr lang="en-US"/>
            </a:br>
            <a:endParaRPr lang="en-US"/>
          </a:p>
        </p:txBody>
      </p:sp>
      <p:sp>
        <p:nvSpPr>
          <p:cNvPr id="4" name="Slide Number Placeholder 3">
            <a:extLst>
              <a:ext uri="{FF2B5EF4-FFF2-40B4-BE49-F238E27FC236}">
                <a16:creationId xmlns:a16="http://schemas.microsoft.com/office/drawing/2014/main" id="{35A7E8A1-D775-06EA-C7C4-436F290E0532}"/>
              </a:ext>
            </a:extLst>
          </p:cNvPr>
          <p:cNvSpPr>
            <a:spLocks noGrp="1"/>
          </p:cNvSpPr>
          <p:nvPr>
            <p:ph type="sldNum" sz="quarter" idx="5"/>
          </p:nvPr>
        </p:nvSpPr>
        <p:spPr/>
        <p:txBody>
          <a:bodyPr/>
          <a:lstStyle/>
          <a:p>
            <a:fld id="{B8F2EEE2-46E2-47E5-8287-018A51779D44}" type="slidenum">
              <a:rPr lang="en-US" smtClean="0"/>
              <a:t>12</a:t>
            </a:fld>
            <a:endParaRPr lang="en-US"/>
          </a:p>
        </p:txBody>
      </p:sp>
    </p:spTree>
    <p:extLst>
      <p:ext uri="{BB962C8B-B14F-4D97-AF65-F5344CB8AC3E}">
        <p14:creationId xmlns:p14="http://schemas.microsoft.com/office/powerpoint/2010/main" val="1311411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PERFORMERS — PRESENTER ACTION REQUIRED: Before this meeting, duplicate this slide as needed and fill in each agent's name and their achievement for the week. Remove this placeholder row when finished. Recognize each honoree individually by name and call out their specific accomplishment.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Week Overview — This section covers the market activity for the week ending May 16, 2026, and what to watch in the week ahead (May 18-22). Use this slide as a brief transition into the market update. Remind your team that markets ended the week with a modest gain, extending the S&amp;P 500 win streak, but Friday saw selling pressure driven by the ongoing Iran conflict and an anticlimactic Trump-Xi summit outcome.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PERFORMERS — PRESENTER ACTION REQUIRED: Before this meeting, duplicate this slide as needed and fill in each agent's name and their achievement for the week. Remove this placeholder row when finished. Recognize each honoree individually by name and call out their specific accomplishment.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Week Overview — This section covers the market activity for the week ending May 16, 2026, and what to watch in the week ahead (May 18-22). Use this slide as a brief transition into the market update. Remind your team that markets ended the week with a modest gain, extending the S&amp;P 500 win streak, but Friday saw selling pressure driven by the ongoing Iran conflict and an anticlimactic Trump-Xi summit outcome.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PERFORMERS — PRESENTER ACTION REQUIRED: Before this meeting, duplicate this slide as needed and fill in each agent's name and their achievement for the week. Remove this placeholder row when finished. Recognize each honoree individually by name and call out their specific accomplishment.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Week Overview — This section covers the market activity for the week ending May 16, 2026, and what to watch in the week ahead (May 18-22). Use this slide as a brief transition into the market update. Remind your team that markets ended the week with a modest gain, extending the S&amp;P 500 win streak, but Friday saw selling pressure driven by the ongoing Iran conflict and an anticlimactic Trump-Xi summit outcome.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PERFORMERS — PRESENTER ACTION REQUIRED: Before this meeting, duplicate this slide as needed and fill in each agent's name and their achievement for the week. Remove this placeholder row when finished. Recognize each honoree individually by name and call out their specific accomplishment.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Week Overview — This section covers the market activity for the week ending May 16, 2026, and what to watch in the week ahead (May 18-22). Use this slide as a brief transition into the market update. Remind your team that markets ended the week with a modest gain, extending the S&amp;P 500 win streak, but Friday saw selling pressure driven by the ongoing Iran conflict and an anticlimactic Trump-Xi summit outcome.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in Review: U.S. Markets Overview
The S&amp;P 500 extended its weekly winning streak for the week ending May 16, 2026, though the market gave back significant ground on Friday. The index settled around 7,408, with Friday alone down 1.24%. The Nasdaq fell 1.5% on Friday, and the Dow dropped 1.1% — all tied to renewed energy price concerns from the ongoing U.S.-Iran conflict and investor disappointment with what many called an anticlimactic Trump-Xi summit.
The highlight of the week was Cisco's blowout earnings report, which sent the networking giant surging after management raised its AI infrastructure and hyperscaler revenue forecast to $9 billion — up from $5 billion. That is an 80% increase in one quarter. This confirmed that enterprise AI spending is accelerating rapidly.
On the flip side, large-cap tech saw profit-taking heading into the pivotal Nvidia earnings next week. Nvidia fell 4.4%, Intel 5%, AMD 3%, and Micron 4%. Investors are positioning carefully ahead of what will be one of the most closely watched earnings calls of the year.
NYLIM's latest macro pulse commentary — titled 'Pricing Past the Blockade' — notes that equity markets are holding near highs even as geopolitical risk remains elevated. Their key message: the dispersion in outcomes across regions, sectors, and asset classes is becoming the defining feature of the midyear global environment. This is their framework: not a directional call, but a call for selective, active positioning.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Market Drivers Last Week
Three themes defined the week ending May 16:
1. IRAN CONFLICT &amp; ENERGY: The ongoing U.S.-Iran conflict remains a significant market overhang. Oil at ~$109/barrel keeps CPI pressured and limits the Fed's ability to cut rates aggressively. Markets have partially priced this in — NYLIM calls it 'pricing past the blockade' — but the risk resurged on Friday.
2. TRUMP-XI SUMMIT: Investors positioned for a potential breakthrough in U.S.-China relations from the Trump-Xi meeting. The summit was largely anticlimactic — no major trade or policy concessions — and this disappointment was cited as a key driver of Friday's sell-off.
3. CISCO AI CONFIRMATION: Cisco's 80% increase in AI order guidance ($5B to $9B) is a significant data point. Enterprise AI spending is accelerating, not decelerating. This has direct positive implications for companies in the AI infrastructure supply chain, particularly Nvidia heading into earnings next week.
4. FED TRANSITION: April 29 FOMC held rates steady at 3.50%-3.75%. New Chair Kevin Warsh now leads the Fed. The April meeting minutes release on Wednesday, May 20 will be the first Powell-era minutes under Warsh's leadership. Markets will scrutinize them for tone shifts and any signal on the pace of potential rate cuts — currently the market expects one cut in 2026.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Reports Calendar: Week Ahead (May 18-22, 2026)
This is a moderate data week with several important releases:
TUESDAY 5/19 — HOUSING STARTS (April): The housing market has been in a tug-of-war between high interest rates (suppressing affordability) and tight supply (supporting prices). This report will tell us if spring activity is picking up. Watch both starts AND permits as a forward indicator. Pending Home Sales will add color on near-term contract activity.
WEDNESDAY 5/20 — FOMC MINUTES: This is the most market-moving event of the week. The April 29 FOMC minutes mark the transition from Jerome Powell's final act to Kevin Warsh's new era. Investors will parse every word for: (a) tolerance for inflation at current levels, (b) conditions needed to cut rates, and (c) any dissension around the current 'one cut in 2026' baseline. The yield curve will react to this release.
THURSDAY 5/21 — CLAIMS + PHILLY FED: Weekly claims under 220,000 = healthy. A surprise spike would signal labor market softening. The Philly Fed index has been volatile; a reading above zero indicates expansion in the Mid-Atlantic manufacturing region.
FRIDAY 5/22 — MICHIGAN SENTIMENT: This is the number clients will feel personally. Elevated gas prices from the Iran conflict are already affecting consumer mood. Watch the 5-10 year inflation expectations component — if it rises, it complicates the Fed's path significantly.
For talking points with clients: This week's data will help clarify whether the U.S. economy is softening or just digesting geopolitical headwinds. Either way, the Fed is unlikely to move before June.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Earnings Calendar: Week Ahead (May 19-22, 2026)
This is arguably the most important earnings week remaining in the Q1 reporting season. Here is your roadmap:
NVIDIA (NVDA) — Wednesday 5/21: This is THE earnings event of the week. Nvidia has been the central engine of the AI trade. After Cisco's massive $9B AI order guidance raise, expectations are very high. Key items to watch: (1) Data center revenue — consensus expects continued explosive growth; (2) Gross margins — any compression would be a negative signal; (3) China demand — export restrictions have limited sales to China, any update here is critical; (4) Forward guidance — the market is pricing perfection, so guidance tone matters enormously. A beat-and-raise will likely send tech broadly higher. A miss or cautious guidance could trigger a significant pullback.
WALMART (WMT) — Thursday 5/22: Walmart is the best barometer of the American consumer. With oil-driven inflation pressuring household budgets, Walmart's commentary on consumer behavior will be closely watched. Up 15% YTD, it is priced for excellence. Watch for: (1) Comp store sales; (2) E-commerce growth; (3) Any tariff or supply chain commentary; (4) Private label adoption (trade-down indicator).
HOME DEPOT (HD) + LOWE'S (LOW): Together these give a complete picture of housing-adjacent consumer spending. With mortgage rates still elevated, housing turnover is low — meaning fewer people are buying homes and therefore doing less renovation. Both companies have been managing through this environment. Watch for any signal that rate cuts or spring demand are helping.
TARGET (TGT): Target has been navigating margin pressures in discretionary categories. Any improvement in apparel or home goods would be a positive signal for broader consumer health.
PALO ALTO NETWORKS (PANW): Geopolitical tensions have driven enterprise cybersecurity spending. Watch for platform consolidation commentary and ARR growth.</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Talking Points: What This Means for You
Here are five plain-English messages for client conversations this week:
1. MARKETS WERE POSITIVE, BUT FRIDAY WAS BUMPY: Acknowledge that stocks had a good week overall, but Friday saw selling. Help clients understand that weekly volatility — especially driven by geopolitical headlines — is normal and does not necessarily signal a change in the underlying economic picture. The S&amp;P 500's win streak continuing is a sign of underlying resilience.
2. ENERGY IS THE WILDCARD: Oil near $109/barrel because of the U.S.-Iran conflict is the number one risk factor right now. High energy prices affect everything from gas at the pump to grocery prices to corporate costs. Clients may be asking about this directly — validate the concern, explain that markets have largely 'priced in' the conflict (as NYLIM puts it), and note that a resolution could lead to a meaningful market rally.
3. AI IS REAL AND ACCELERATING: Cisco's 80% jump in AI orders is not a small data point — it's a signal that major corporations are dramatically accelerating their AI investment. This week, Nvidia's earnings will be the next confirmation (or complication) of that story. For clients in diversified portfolios, this is working in their favor.
4. INTEREST RATES: THE FED IS ON HOLD: The Federal Reserve held rates at 3.50-3.75% in April and is expected to hold again in June. One rate cut is projected for 2026. Higher rates mean clients' savings accounts and money market funds are still earning meaningful returns. For borrowers, relief is coming — but slowly.
5. STAY THE COURSE: NYLIM's core message is that markets are navigating complexity but holding near highs. The right action for most long-term investors is to stay invested, stay diversified, and not react to short-term headlines. If a client is nervous, this is a great time to review their plan — not to make dramatic changes, but to confirm it still reflects their goals and timeline.</a:t>
            </a: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0.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2.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42.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43.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44.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45.xml.rels><?xml version="1.0" encoding="UTF-8"?><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6.xml.rels><?xml version="1.0" encoding="UTF-8"?><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7.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9.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1.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2.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3.xml.rels><?xml version="1.0" encoding="UTF-8"?><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5.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6.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7.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8.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9.xml.rels><?xml version="1.0" encoding="UTF-8"?><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60.xml.rels><?xml version="1.0" encoding="UTF-8"?><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1.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5.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6.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7.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8.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9.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0.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1.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2.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3.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4.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75.xml.rels><?xml version="1.0" encoding="UTF-8"?><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6.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7.xml.rels><?xml version="1.0" encoding="UTF-8"?><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78.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85.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96.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5.xml"/><Relationship Id="rId4" Type="http://schemas.openxmlformats.org/officeDocument/2006/relationships/image" Target="../media/image29.png"/></Relationships>
</file>

<file path=ppt/slideLayouts/_rels/slideLayout97.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9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04.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05.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18.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29.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29.png"/></Relationships>
</file>

<file path=ppt/slideLayouts/_rels/slideLayout130.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31.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37.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138.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44.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55.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7.xml"/><Relationship Id="rId4" Type="http://schemas.openxmlformats.org/officeDocument/2006/relationships/image" Target="../media/image29.png"/></Relationships>
</file>

<file path=ppt/slideLayouts/_rels/slideLayout156.xml.rels><?xml version="1.0" encoding="UTF-8"?><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57.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63.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64.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136394"/>
          </a:xfrm>
          <a:prstGeom prst="rect">
            <a:avLst/>
          </a:prstGeom>
          <a:solidFill>
            <a:srgbClr val="CCD3E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a:endParaRPr lang="en-US" sz="1600">
              <a:solidFill>
                <a:srgbClr val="FFFFFF"/>
              </a:solidFill>
              <a:ea typeface="Geneva" pitchFamily="-109" charset="-128"/>
            </a:endParaRPr>
          </a:p>
        </p:txBody>
      </p:sp>
      <p:sp>
        <p:nvSpPr>
          <p:cNvPr id="14" name="Rectangle 13"/>
          <p:cNvSpPr/>
          <p:nvPr/>
        </p:nvSpPr>
        <p:spPr>
          <a:xfrm>
            <a:off x="0" y="5"/>
            <a:ext cx="9728200" cy="4519613"/>
          </a:xfrm>
          <a:prstGeom prst="rect">
            <a:avLst/>
          </a:prstGeom>
          <a:solidFill>
            <a:srgbClr val="E6E9F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4" rIns="91429" bIns="45714" anchor="ctr"/>
          <a:lstStyle/>
          <a:p>
            <a:pPr algn="ctr"/>
            <a:endParaRPr lang="en-US" sz="1600">
              <a:solidFill>
                <a:srgbClr val="FFFFFF"/>
              </a:solidFill>
              <a:ea typeface="Geneva" pitchFamily="-109" charset="-128"/>
            </a:endParaRPr>
          </a:p>
        </p:txBody>
      </p:sp>
      <p:sp>
        <p:nvSpPr>
          <p:cNvPr id="12" name="Title 1"/>
          <p:cNvSpPr>
            <a:spLocks noGrp="1"/>
          </p:cNvSpPr>
          <p:nvPr>
            <p:ph type="ctrTitle"/>
          </p:nvPr>
        </p:nvSpPr>
        <p:spPr>
          <a:xfrm>
            <a:off x="421091" y="303183"/>
            <a:ext cx="9300636" cy="2042160"/>
          </a:xfrm>
        </p:spPr>
        <p:txBody>
          <a:bodyPr>
            <a:noAutofit/>
          </a:bodyPr>
          <a:lstStyle>
            <a:lvl1pPr>
              <a:lnSpc>
                <a:spcPct val="100000"/>
              </a:lnSpc>
              <a:defRPr sz="3600" b="0" baseline="0">
                <a:solidFill>
                  <a:schemeClr val="bg2"/>
                </a:solidFill>
              </a:defRPr>
            </a:lvl1pPr>
          </a:lstStyle>
          <a:p>
            <a:r>
              <a:rPr lang="en-US"/>
              <a:t>Click to edit Master title style</a:t>
            </a:r>
          </a:p>
        </p:txBody>
      </p:sp>
      <p:sp>
        <p:nvSpPr>
          <p:cNvPr id="13" name="Subtitle 2"/>
          <p:cNvSpPr>
            <a:spLocks noGrp="1"/>
          </p:cNvSpPr>
          <p:nvPr>
            <p:ph type="subTitle" idx="1"/>
          </p:nvPr>
        </p:nvSpPr>
        <p:spPr>
          <a:xfrm>
            <a:off x="406402" y="2664191"/>
            <a:ext cx="9300636" cy="1855422"/>
          </a:xfrm>
          <a:prstGeom prst="rect">
            <a:avLst/>
          </a:prstGeom>
        </p:spPr>
        <p:txBody>
          <a:bodyPr rtlCol="0">
            <a:noAutofit/>
          </a:bodyPr>
          <a:lstStyle>
            <a:lvl1pPr marL="0" indent="0" algn="l" defTabSz="914305" rtl="0" eaLnBrk="1" latinLnBrk="0" hangingPunct="1">
              <a:lnSpc>
                <a:spcPct val="100000"/>
              </a:lnSpc>
              <a:spcBef>
                <a:spcPts val="0"/>
              </a:spcBef>
              <a:buFont typeface="Arial" pitchFamily="34" charset="0"/>
              <a:buNone/>
              <a:defRPr lang="en-US" sz="2200" b="0" kern="1200" baseline="0" dirty="0">
                <a:solidFill>
                  <a:schemeClr val="bg2"/>
                </a:solidFill>
                <a:latin typeface="+mn-lt"/>
                <a:ea typeface="+mn-ea"/>
                <a:cs typeface="+mn-cs"/>
              </a:defRPr>
            </a:lvl1pPr>
            <a:lvl2pPr marL="457151" indent="0" algn="ctr">
              <a:buNone/>
              <a:defRPr>
                <a:solidFill>
                  <a:schemeClr val="tx1">
                    <a:tint val="75000"/>
                  </a:schemeClr>
                </a:solidFill>
              </a:defRPr>
            </a:lvl2pPr>
            <a:lvl3pPr marL="914305" indent="0" algn="ctr">
              <a:buNone/>
              <a:defRPr>
                <a:solidFill>
                  <a:schemeClr val="tx1">
                    <a:tint val="75000"/>
                  </a:schemeClr>
                </a:solidFill>
              </a:defRPr>
            </a:lvl3pPr>
            <a:lvl4pPr marL="1371457" indent="0" algn="ctr">
              <a:buNone/>
              <a:defRPr>
                <a:solidFill>
                  <a:schemeClr val="tx1">
                    <a:tint val="75000"/>
                  </a:schemeClr>
                </a:solidFill>
              </a:defRPr>
            </a:lvl4pPr>
            <a:lvl5pPr marL="1828609" indent="0" algn="ctr">
              <a:buNone/>
              <a:defRPr>
                <a:solidFill>
                  <a:schemeClr val="tx1">
                    <a:tint val="75000"/>
                  </a:schemeClr>
                </a:solidFill>
              </a:defRPr>
            </a:lvl5pPr>
            <a:lvl6pPr marL="2285762" indent="0" algn="ctr">
              <a:buNone/>
              <a:defRPr>
                <a:solidFill>
                  <a:schemeClr val="tx1">
                    <a:tint val="75000"/>
                  </a:schemeClr>
                </a:solidFill>
              </a:defRPr>
            </a:lvl6pPr>
            <a:lvl7pPr marL="2742913" indent="0" algn="ctr">
              <a:buNone/>
              <a:defRPr>
                <a:solidFill>
                  <a:schemeClr val="tx1">
                    <a:tint val="75000"/>
                  </a:schemeClr>
                </a:solidFill>
              </a:defRPr>
            </a:lvl7pPr>
            <a:lvl8pPr marL="3200066" indent="0" algn="ctr">
              <a:buNone/>
              <a:defRPr>
                <a:solidFill>
                  <a:schemeClr val="tx1">
                    <a:tint val="75000"/>
                  </a:schemeClr>
                </a:solidFill>
              </a:defRPr>
            </a:lvl8pPr>
            <a:lvl9pPr marL="3657218" indent="0" algn="ctr">
              <a:buNone/>
              <a:defRPr>
                <a:solidFill>
                  <a:schemeClr val="tx1">
                    <a:tint val="75000"/>
                  </a:schemeClr>
                </a:solidFill>
              </a:defRPr>
            </a:lvl9pPr>
          </a:lstStyle>
          <a:p>
            <a:pPr>
              <a:spcBef>
                <a:spcPct val="0"/>
              </a:spcBef>
            </a:pPr>
            <a:r>
              <a:rPr lang="en-US"/>
              <a:t>Click to edit Master subtitle style</a:t>
            </a:r>
          </a:p>
        </p:txBody>
      </p:sp>
      <p:sp>
        <p:nvSpPr>
          <p:cNvPr id="11"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822823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tle &amp; Content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147" y="173060"/>
            <a:ext cx="11404455" cy="407438"/>
          </a:xfrm>
        </p:spPr>
        <p:txBody>
          <a:bodyPr/>
          <a:lstStyle>
            <a:lvl1pPr>
              <a:defRPr sz="2300"/>
            </a:lvl1pPr>
          </a:lstStyle>
          <a:p>
            <a:r>
              <a:rPr lang="en-US"/>
              <a:t>Click to edit Master title style </a:t>
            </a:r>
          </a:p>
        </p:txBody>
      </p:sp>
      <p:sp>
        <p:nvSpPr>
          <p:cNvPr id="3" name="Content Placeholder 2"/>
          <p:cNvSpPr>
            <a:spLocks noGrp="1"/>
          </p:cNvSpPr>
          <p:nvPr>
            <p:ph idx="1"/>
          </p:nvPr>
        </p:nvSpPr>
        <p:spPr>
          <a:xfrm>
            <a:off x="393349" y="1145312"/>
            <a:ext cx="11392251" cy="4991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428786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Content No Bullets White Bkg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136076"/>
            <a:ext cx="11392252" cy="5013511"/>
          </a:xfrm>
        </p:spPr>
        <p:txBody>
          <a:bodyPr/>
          <a:lstStyle>
            <a:lvl1pPr marL="0" indent="0">
              <a:buNone/>
              <a:defRPr/>
            </a:lvl1pPr>
            <a:lvl2pPr marL="457206" indent="0">
              <a:buNone/>
              <a:defRPr/>
            </a:lvl2pPr>
            <a:lvl3pPr marL="914411" indent="0">
              <a:buNone/>
              <a:defRPr/>
            </a:lvl3pPr>
            <a:lvl4pPr marL="1371617" indent="0">
              <a:buNone/>
              <a:defRPr/>
            </a:lvl4pPr>
            <a:lvl5pPr marL="18288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311403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Header, Content (bullet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3" name="Content Placeholder 2"/>
          <p:cNvSpPr>
            <a:spLocks noGrp="1"/>
          </p:cNvSpPr>
          <p:nvPr>
            <p:ph idx="1"/>
          </p:nvPr>
        </p:nvSpPr>
        <p:spPr>
          <a:xfrm>
            <a:off x="393349" y="1257303"/>
            <a:ext cx="11392251" cy="4879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91896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Header, Content (no bullets)">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257299"/>
            <a:ext cx="11392252" cy="4689087"/>
          </a:xfrm>
        </p:spPr>
        <p:txBody>
          <a:bodyPr/>
          <a:lstStyle>
            <a:lvl1pPr marL="0" indent="0">
              <a:buNone/>
              <a:defRPr/>
            </a:lvl1pPr>
            <a:lvl2pPr marL="457206" indent="0">
              <a:buNone/>
              <a:defRPr/>
            </a:lvl2pPr>
            <a:lvl3pPr marL="914411" indent="0">
              <a:buNone/>
              <a:defRPr/>
            </a:lvl3pPr>
            <a:lvl4pPr marL="1371617" indent="0">
              <a:buNone/>
              <a:defRPr/>
            </a:lvl4pPr>
            <a:lvl5pPr marL="1828823"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8"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47881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hite Bkgd">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7"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
        <p:nvSpPr>
          <p:cNvPr id="6" name="Content Placeholder 2"/>
          <p:cNvSpPr>
            <a:spLocks noGrp="1"/>
          </p:cNvSpPr>
          <p:nvPr>
            <p:ph idx="1"/>
          </p:nvPr>
        </p:nvSpPr>
        <p:spPr>
          <a:xfrm>
            <a:off x="393350" y="1257302"/>
            <a:ext cx="11392252" cy="4892285"/>
          </a:xfrm>
        </p:spPr>
        <p:txBody>
          <a:bodyPr/>
          <a:lstStyle>
            <a:lvl1pPr marL="0" indent="0" defTabSz="914411">
              <a:buNone/>
              <a:tabLst>
                <a:tab pos="8229703" algn="r"/>
              </a:tabLst>
              <a:defRPr/>
            </a:lvl1pPr>
            <a:lvl2pPr marL="457206" indent="0" defTabSz="914411">
              <a:buNone/>
              <a:tabLst>
                <a:tab pos="8229703" algn="r"/>
              </a:tabLst>
              <a:defRPr/>
            </a:lvl2pPr>
            <a:lvl3pPr marL="914411" indent="0" defTabSz="914411">
              <a:buNone/>
              <a:tabLst>
                <a:tab pos="8229703" algn="r"/>
              </a:tabLst>
              <a:defRPr/>
            </a:lvl3pPr>
            <a:lvl4pPr marL="1371617" indent="0" defTabSz="914411">
              <a:buNone/>
              <a:tabLst>
                <a:tab pos="8229703" algn="r"/>
              </a:tabLst>
              <a:defRPr/>
            </a:lvl4pPr>
            <a:lvl5pPr marL="1828823" indent="0" defTabSz="914411">
              <a:buNone/>
              <a:tabLst>
                <a:tab pos="8229703" algn="r"/>
              </a:tabLst>
              <a:defRPr/>
            </a:lvl5pPr>
          </a:lstStyle>
          <a:p>
            <a:pPr lvl="0"/>
            <a:r>
              <a:rPr lang="en-US"/>
              <a:t>Click to edit Master text styles</a:t>
            </a:r>
          </a:p>
        </p:txBody>
      </p:sp>
    </p:spTree>
    <p:extLst>
      <p:ext uri="{BB962C8B-B14F-4D97-AF65-F5344CB8AC3E}">
        <p14:creationId xmlns:p14="http://schemas.microsoft.com/office/powerpoint/2010/main" val="52517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White Bkgd">
    <p:bg>
      <p:bgPr>
        <a:solidFill>
          <a:schemeClr val="bg1"/>
        </a:solidFill>
        <a:effectLst/>
      </p:bgPr>
    </p:bg>
    <p:spTree>
      <p:nvGrpSpPr>
        <p:cNvPr id="1" name=""/>
        <p:cNvGrpSpPr/>
        <p:nvPr/>
      </p:nvGrpSpPr>
      <p:grpSpPr>
        <a:xfrm>
          <a:off x="0" y="0"/>
          <a:ext cx="0" cy="0"/>
          <a:chOff x="0" y="0"/>
          <a:chExt cx="0" cy="0"/>
        </a:xfrm>
      </p:grpSpPr>
      <p:sp>
        <p:nvSpPr>
          <p:cNvPr id="14" name="Title 1"/>
          <p:cNvSpPr>
            <a:spLocks noGrp="1"/>
          </p:cNvSpPr>
          <p:nvPr>
            <p:ph type="title"/>
          </p:nvPr>
        </p:nvSpPr>
        <p:spPr>
          <a:xfrm>
            <a:off x="406400" y="2446341"/>
            <a:ext cx="9296400" cy="731263"/>
          </a:xfrm>
        </p:spPr>
        <p:txBody>
          <a:bodyPr anchor="b" anchorCtr="0">
            <a:noAutofit/>
          </a:bodyPr>
          <a:lstStyle>
            <a:lvl1pPr algn="l">
              <a:lnSpc>
                <a:spcPct val="100000"/>
              </a:lnSpc>
              <a:defRPr sz="3000" b="0" cap="none">
                <a:solidFill>
                  <a:schemeClr val="bg2"/>
                </a:solidFill>
              </a:defRPr>
            </a:lvl1pPr>
          </a:lstStyle>
          <a:p>
            <a:r>
              <a:rPr lang="en-US"/>
              <a:t>Click to edit Master title style</a:t>
            </a:r>
          </a:p>
        </p:txBody>
      </p:sp>
      <p:sp>
        <p:nvSpPr>
          <p:cNvPr id="3" name="Text Placeholder 2"/>
          <p:cNvSpPr>
            <a:spLocks noGrp="1"/>
          </p:cNvSpPr>
          <p:nvPr>
            <p:ph type="body" sz="quarter" idx="10"/>
          </p:nvPr>
        </p:nvSpPr>
        <p:spPr>
          <a:xfrm>
            <a:off x="406400" y="3255435"/>
            <a:ext cx="9296400" cy="28378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23343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amp; Two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264920"/>
            <a:ext cx="5445760" cy="4831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3757" y="1264920"/>
            <a:ext cx="5445760" cy="4831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505960053"/>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amp; Two Content (Horizantal)">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1" y="1264921"/>
            <a:ext cx="11393117"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06401" y="3571688"/>
            <a:ext cx="11393117"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9" name="Text Placeholder 4"/>
          <p:cNvSpPr>
            <a:spLocks noGrp="1"/>
          </p:cNvSpPr>
          <p:nvPr>
            <p:ph type="body" sz="quarter" idx="10"/>
          </p:nvPr>
        </p:nvSpPr>
        <p:spPr>
          <a:xfrm>
            <a:off x="390144" y="665870"/>
            <a:ext cx="11379200" cy="457200"/>
          </a:xfrm>
        </p:spPr>
        <p:txBody>
          <a:bodyPr/>
          <a:lstStyle>
            <a:lvl1pPr marL="0" indent="0">
              <a:buNone/>
              <a:defRPr baseline="0">
                <a:solidFill>
                  <a:schemeClr val="bg2"/>
                </a:solidFill>
                <a:latin typeface="+mj-lt"/>
              </a:defRPr>
            </a:lvl1pPr>
            <a:lvl2pPr marL="457206" indent="0">
              <a:buNone/>
              <a:defRPr/>
            </a:lvl2pPr>
          </a:lstStyle>
          <a:p>
            <a:pPr lvl="0"/>
            <a:r>
              <a:rPr lang="en-US"/>
              <a:t>Click to edit Master text styles</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1463248988"/>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0" y="1145310"/>
            <a:ext cx="5445760" cy="49506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3757" y="1145310"/>
            <a:ext cx="5445760" cy="49506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534080574"/>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Horizantal)">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401" y="1154545"/>
            <a:ext cx="11393117" cy="2194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06401" y="3537527"/>
            <a:ext cx="11393117" cy="2556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10"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968991072"/>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claimer White Bkg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350" y="1270001"/>
            <a:ext cx="11392252" cy="4826000"/>
          </a:xfrm>
        </p:spPr>
        <p:txBody>
          <a:bodyPr/>
          <a:lstStyle>
            <a:lvl1pPr marL="0" indent="0">
              <a:spcBef>
                <a:spcPts val="1200"/>
              </a:spcBef>
              <a:buNone/>
              <a:defRPr sz="1400"/>
            </a:lvl1pPr>
            <a:lvl2pPr marL="457206" indent="0">
              <a:buNone/>
              <a:defRPr sz="1300"/>
            </a:lvl2pPr>
            <a:lvl3pPr marL="914411" indent="0">
              <a:buNone/>
              <a:defRPr sz="1200"/>
            </a:lvl3pPr>
            <a:lvl4pPr marL="1371617" indent="0">
              <a:buNone/>
              <a:defRPr sz="1100"/>
            </a:lvl4pPr>
            <a:lvl5pPr marL="182882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p:cNvSpPr>
            <a:spLocks noGrp="1"/>
          </p:cNvSpPr>
          <p:nvPr>
            <p:ph type="title"/>
          </p:nvPr>
        </p:nvSpPr>
        <p:spPr>
          <a:xfrm>
            <a:off x="381147" y="173060"/>
            <a:ext cx="11404455" cy="407438"/>
          </a:xfrm>
        </p:spPr>
        <p:txBody>
          <a:bodyPr/>
          <a:lstStyle>
            <a:lvl1pPr>
              <a:defRPr sz="2300"/>
            </a:lvl1pPr>
          </a:lstStyle>
          <a:p>
            <a:r>
              <a:rPr lang="en-US"/>
              <a:t>Click to edit Master title style</a:t>
            </a:r>
          </a:p>
        </p:txBody>
      </p:sp>
      <p:sp>
        <p:nvSpPr>
          <p:cNvPr id="8"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9"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2352476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Header Only">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381147" y="173060"/>
            <a:ext cx="11404455" cy="407438"/>
          </a:xfrm>
        </p:spPr>
        <p:txBody>
          <a:bodyPr/>
          <a:lstStyle>
            <a:lvl1pPr>
              <a:defRPr sz="2300" baseline="0"/>
            </a:lvl1pPr>
          </a:lstStyle>
          <a:p>
            <a:r>
              <a:rPr lang="en-US"/>
              <a:t>Click to edit Master title style</a:t>
            </a:r>
          </a:p>
        </p:txBody>
      </p:sp>
      <p:sp>
        <p:nvSpPr>
          <p:cNvPr id="7" name="Text Placeholder 4"/>
          <p:cNvSpPr>
            <a:spLocks noGrp="1"/>
          </p:cNvSpPr>
          <p:nvPr>
            <p:ph type="body" sz="quarter" idx="10"/>
          </p:nvPr>
        </p:nvSpPr>
        <p:spPr>
          <a:xfrm>
            <a:off x="390144" y="665870"/>
            <a:ext cx="11379200" cy="457200"/>
          </a:xfrm>
        </p:spPr>
        <p:txBody>
          <a:bodyPr/>
          <a:lstStyle>
            <a:lvl1pPr marL="0" indent="0">
              <a:buNone/>
              <a:defRPr>
                <a:solidFill>
                  <a:schemeClr val="bg2"/>
                </a:solidFill>
                <a:latin typeface="+mj-lt"/>
              </a:defRPr>
            </a:lvl1pPr>
            <a:lvl2pPr marL="457206" indent="0">
              <a:buNone/>
              <a:defRPr/>
            </a:lvl2pPr>
          </a:lstStyle>
          <a:p>
            <a:pPr lvl="0"/>
            <a:r>
              <a:rPr lang="en-US"/>
              <a:t>Click to edit Master text styles</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06531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381147" y="173060"/>
            <a:ext cx="11404455" cy="407438"/>
          </a:xfrm>
        </p:spPr>
        <p:txBody>
          <a:bodyPr/>
          <a:lstStyle>
            <a:lvl1pPr>
              <a:defRPr sz="2300" baseline="0"/>
            </a:lvl1pPr>
          </a:lstStyle>
          <a:p>
            <a:r>
              <a:rPr lang="en-US"/>
              <a:t>Click to edit Master title style</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437418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3848" t="23045" r="54437" b="22065"/>
          <a:stretch/>
        </p:blipFill>
        <p:spPr>
          <a:xfrm>
            <a:off x="3944230" y="1776050"/>
            <a:ext cx="4303543" cy="3305907"/>
          </a:xfrm>
          <a:prstGeom prst="rect">
            <a:avLst/>
          </a:prstGeom>
        </p:spPr>
      </p:pic>
      <p:sp>
        <p:nvSpPr>
          <p:cNvPr id="6"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spTree>
    <p:extLst>
      <p:ext uri="{BB962C8B-B14F-4D97-AF65-F5344CB8AC3E}">
        <p14:creationId xmlns:p14="http://schemas.microsoft.com/office/powerpoint/2010/main" val="302729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_2 Text Top &amp; Bottom">
    <p:spTree>
      <p:nvGrpSpPr>
        <p:cNvPr id="1" name=""/>
        <p:cNvGrpSpPr/>
        <p:nvPr/>
      </p:nvGrpSpPr>
      <p:grpSpPr>
        <a:xfrm>
          <a:off x="0" y="0"/>
          <a:ext cx="0" cy="0"/>
          <a:chOff x="0" y="0"/>
          <a:chExt cx="0" cy="0"/>
        </a:xfrm>
      </p:grpSpPr>
      <p:sp>
        <p:nvSpPr>
          <p:cNvPr id="7" name="Rectangle 6"/>
          <p:cNvSpPr/>
          <p:nvPr/>
        </p:nvSpPr>
        <p:spPr>
          <a:xfrm>
            <a:off x="0" y="5943600"/>
            <a:ext cx="12192000" cy="9144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85700" tIns="42850" rIns="85700" bIns="42850" rtlCol="0" anchor="ctr"/>
          <a:lstStyle/>
          <a:p>
            <a:pPr algn="ctr"/>
            <a:endParaRPr lang="en-US" sz="1600"/>
          </a:p>
        </p:txBody>
      </p:sp>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000000"/>
                </a:solidFill>
              </a:defRPr>
            </a:lvl1pPr>
          </a:lstStyle>
          <a:p>
            <a:endParaRPr lang="en-US"/>
          </a:p>
        </p:txBody>
      </p:sp>
      <p:sp>
        <p:nvSpPr>
          <p:cNvPr id="4" name="Slide Number Placeholder 3"/>
          <p:cNvSpPr>
            <a:spLocks noGrp="1"/>
          </p:cNvSpPr>
          <p:nvPr>
            <p:ph type="sldNum" sz="quarter" idx="11"/>
          </p:nvPr>
        </p:nvSpPr>
        <p:spPr/>
        <p:txBody>
          <a:bodyPr/>
          <a:lstStyle>
            <a:lvl1pPr>
              <a:defRPr>
                <a:solidFill>
                  <a:srgbClr val="000000"/>
                </a:solidFill>
              </a:defRPr>
            </a:lvl1pPr>
          </a:lstStyle>
          <a:p>
            <a:fld id="{39E9D6B2-EA4D-467F-86A5-D162FCADCAB3}" type="slidenum">
              <a:rPr lang="en-US" smtClean="0"/>
              <a:t>‹#›</a:t>
            </a:fld>
            <a:endParaRPr lang="en-US"/>
          </a:p>
        </p:txBody>
      </p:sp>
      <p:sp>
        <p:nvSpPr>
          <p:cNvPr id="5" name="Date Placeholder 4"/>
          <p:cNvSpPr>
            <a:spLocks noGrp="1"/>
          </p:cNvSpPr>
          <p:nvPr>
            <p:ph type="dt" sz="half" idx="12"/>
          </p:nvPr>
        </p:nvSpPr>
        <p:spPr/>
        <p:txBody>
          <a:bodyPr/>
          <a:lstStyle>
            <a:lvl1pPr>
              <a:defRPr>
                <a:solidFill>
                  <a:srgbClr val="000000"/>
                </a:solidFill>
              </a:defRPr>
            </a:lvl1pPr>
          </a:lstStyle>
          <a:p>
            <a:endParaRPr lang="en-US"/>
          </a:p>
        </p:txBody>
      </p:sp>
      <p:sp>
        <p:nvSpPr>
          <p:cNvPr id="6" name="Content Placeholder 8"/>
          <p:cNvSpPr>
            <a:spLocks noGrp="1"/>
          </p:cNvSpPr>
          <p:nvPr>
            <p:ph sz="quarter" idx="13"/>
          </p:nvPr>
        </p:nvSpPr>
        <p:spPr>
          <a:xfrm>
            <a:off x="609602" y="1217619"/>
            <a:ext cx="11055836" cy="2540329"/>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256" y="6175313"/>
            <a:ext cx="605536" cy="454152"/>
          </a:xfrm>
          <a:prstGeom prst="rect">
            <a:avLst/>
          </a:prstGeom>
        </p:spPr>
      </p:pic>
      <p:sp>
        <p:nvSpPr>
          <p:cNvPr id="9" name="Content Placeholder 8"/>
          <p:cNvSpPr>
            <a:spLocks noGrp="1"/>
          </p:cNvSpPr>
          <p:nvPr>
            <p:ph sz="quarter" idx="14"/>
          </p:nvPr>
        </p:nvSpPr>
        <p:spPr>
          <a:xfrm>
            <a:off x="621081" y="3777884"/>
            <a:ext cx="11008355" cy="2169044"/>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62946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mp; Bullets &amp; Chart">
    <p:spTree>
      <p:nvGrpSpPr>
        <p:cNvPr id="1" name=""/>
        <p:cNvGrpSpPr/>
        <p:nvPr/>
      </p:nvGrpSpPr>
      <p:grpSpPr>
        <a:xfrm>
          <a:off x="0" y="0"/>
          <a:ext cx="0" cy="0"/>
          <a:chOff x="0" y="0"/>
          <a:chExt cx="0" cy="0"/>
        </a:xfrm>
      </p:grpSpPr>
      <p:sp>
        <p:nvSpPr>
          <p:cNvPr id="7" name="Rectangle 6"/>
          <p:cNvSpPr/>
          <p:nvPr/>
        </p:nvSpPr>
        <p:spPr>
          <a:xfrm>
            <a:off x="0" y="5943600"/>
            <a:ext cx="12192000" cy="9144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85700" tIns="42850" rIns="85700" bIns="42850" rtlCol="0" anchor="ctr"/>
          <a:lstStyle/>
          <a:p>
            <a:pPr algn="ctr"/>
            <a:endParaRPr lang="en-US" sz="1600"/>
          </a:p>
        </p:txBody>
      </p:sp>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solidFill>
                  <a:srgbClr val="000000"/>
                </a:solidFill>
              </a:defRPr>
            </a:lvl1pPr>
          </a:lstStyle>
          <a:p>
            <a:endParaRPr lang="en-US"/>
          </a:p>
        </p:txBody>
      </p:sp>
      <p:sp>
        <p:nvSpPr>
          <p:cNvPr id="4" name="Slide Number Placeholder 3"/>
          <p:cNvSpPr>
            <a:spLocks noGrp="1"/>
          </p:cNvSpPr>
          <p:nvPr>
            <p:ph type="sldNum" sz="quarter" idx="11"/>
          </p:nvPr>
        </p:nvSpPr>
        <p:spPr/>
        <p:txBody>
          <a:bodyPr/>
          <a:lstStyle>
            <a:lvl1pPr>
              <a:defRPr>
                <a:solidFill>
                  <a:srgbClr val="000000"/>
                </a:solidFill>
              </a:defRPr>
            </a:lvl1pPr>
          </a:lstStyle>
          <a:p>
            <a:fld id="{39E9D6B2-EA4D-467F-86A5-D162FCADCAB3}" type="slidenum">
              <a:rPr lang="en-US" smtClean="0"/>
              <a:t>‹#›</a:t>
            </a:fld>
            <a:endParaRPr lang="en-US"/>
          </a:p>
        </p:txBody>
      </p:sp>
      <p:sp>
        <p:nvSpPr>
          <p:cNvPr id="5" name="Date Placeholder 4"/>
          <p:cNvSpPr>
            <a:spLocks noGrp="1"/>
          </p:cNvSpPr>
          <p:nvPr>
            <p:ph type="dt" sz="half" idx="12"/>
          </p:nvPr>
        </p:nvSpPr>
        <p:spPr/>
        <p:txBody>
          <a:bodyPr/>
          <a:lstStyle>
            <a:lvl1pPr>
              <a:defRPr>
                <a:solidFill>
                  <a:srgbClr val="000000"/>
                </a:solidFill>
              </a:defRPr>
            </a:lvl1pPr>
          </a:lstStyle>
          <a:p>
            <a:endParaRPr lang="en-US"/>
          </a:p>
        </p:txBody>
      </p:sp>
      <p:sp>
        <p:nvSpPr>
          <p:cNvPr id="6" name="Content Placeholder 8"/>
          <p:cNvSpPr>
            <a:spLocks noGrp="1"/>
          </p:cNvSpPr>
          <p:nvPr>
            <p:ph sz="quarter" idx="13"/>
          </p:nvPr>
        </p:nvSpPr>
        <p:spPr>
          <a:xfrm>
            <a:off x="609600" y="1217621"/>
            <a:ext cx="5506653" cy="4725987"/>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256" y="6175313"/>
            <a:ext cx="605536" cy="454152"/>
          </a:xfrm>
          <a:prstGeom prst="rect">
            <a:avLst/>
          </a:prstGeom>
        </p:spPr>
      </p:pic>
      <p:sp>
        <p:nvSpPr>
          <p:cNvPr id="9" name="Content Placeholder 8"/>
          <p:cNvSpPr>
            <a:spLocks noGrp="1"/>
          </p:cNvSpPr>
          <p:nvPr>
            <p:ph sz="quarter" idx="14"/>
          </p:nvPr>
        </p:nvSpPr>
        <p:spPr>
          <a:xfrm>
            <a:off x="6122779" y="1220941"/>
            <a:ext cx="5506653" cy="4725987"/>
          </a:xfrm>
          <a:prstGeom prst="rect">
            <a:avLst/>
          </a:prstGeom>
        </p:spPr>
        <p:txBody>
          <a:bodyPr lIns="86486" tIns="43243" rIns="86486" bIns="43243"/>
          <a:lstStyle>
            <a:lvl1pPr marL="283784" indent="-283784">
              <a:spcBef>
                <a:spcPts val="533"/>
              </a:spcBef>
              <a:spcAft>
                <a:spcPts val="533"/>
              </a:spcAft>
              <a:defRPr sz="1594"/>
            </a:lvl1pPr>
            <a:lvl2pPr marL="567568" indent="-243243">
              <a:spcBef>
                <a:spcPts val="533"/>
              </a:spcBef>
              <a:spcAft>
                <a:spcPts val="533"/>
              </a:spcAft>
              <a:buFont typeface="Tahoma" pitchFamily="34" charset="0"/>
              <a:buChar char="–"/>
              <a:defRPr sz="1406" baseline="0"/>
            </a:lvl2pPr>
            <a:lvl3pPr marL="912162" indent="-242117">
              <a:spcBef>
                <a:spcPts val="354"/>
              </a:spcBef>
              <a:spcAft>
                <a:spcPts val="354"/>
              </a:spcAft>
              <a:buFont typeface="Wingdings" pitchFamily="2" charset="2"/>
              <a:buChar char="§"/>
              <a:defRPr sz="1219" baseline="0"/>
            </a:lvl3pPr>
            <a:lvl4pPr marL="1211993" indent="-242117">
              <a:spcBef>
                <a:spcPts val="354"/>
              </a:spcBef>
              <a:spcAft>
                <a:spcPts val="354"/>
              </a:spcAft>
              <a:buFont typeface="Tahoma" pitchFamily="34" charset="0"/>
              <a:buChar char="–"/>
              <a:defRPr sz="1031" baseline="0"/>
            </a:lvl4pPr>
            <a:lvl5pPr marL="1713814" indent="-211252">
              <a:buFont typeface="Segoe U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00745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isclaimer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spcBef>
                <a:spcPts val="1422"/>
              </a:spcBef>
              <a:buNone/>
              <a:defRPr sz="1304"/>
            </a:lvl1pPr>
            <a:lvl2pPr marL="541847" indent="0">
              <a:buNone/>
              <a:defRPr sz="1304"/>
            </a:lvl2pPr>
            <a:lvl3pPr marL="1083694" indent="0">
              <a:buNone/>
              <a:defRPr sz="1244"/>
            </a:lvl3pPr>
            <a:lvl4pPr marL="1625539" indent="0">
              <a:buNone/>
              <a:defRPr sz="1185"/>
            </a:lvl4pPr>
            <a:lvl5pPr marL="2167385" indent="0">
              <a:buNone/>
              <a:defRPr sz="10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9"/>
          <p:cNvSpPr>
            <a:spLocks noGrp="1"/>
          </p:cNvSpPr>
          <p:nvPr>
            <p:ph type="sldNum" sz="quarter" idx="4"/>
          </p:nvPr>
        </p:nvSpPr>
        <p:spPr>
          <a:xfrm>
            <a:off x="11520115" y="6378678"/>
            <a:ext cx="304800" cy="182358"/>
          </a:xfrm>
          <a:prstGeom prst="rect">
            <a:avLst/>
          </a:prstGeom>
        </p:spPr>
        <p:txBody>
          <a:bodyPr vert="horz" wrap="square" lIns="0" tIns="0" rIns="0" bIns="0" rtlCol="0" anchor="ctr">
            <a:spAutoFit/>
          </a:bodyPr>
          <a:lstStyle>
            <a:lvl1pPr algn="ctr" fontAlgn="auto">
              <a:spcBef>
                <a:spcPts val="0"/>
              </a:spcBef>
              <a:spcAft>
                <a:spcPts val="0"/>
              </a:spcAft>
              <a:defRPr sz="1185"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10" name="Text Placeholder 4"/>
          <p:cNvSpPr>
            <a:spLocks noGrp="1"/>
          </p:cNvSpPr>
          <p:nvPr>
            <p:ph type="body" sz="quarter" idx="11"/>
          </p:nvPr>
        </p:nvSpPr>
        <p:spPr>
          <a:xfrm>
            <a:off x="390144" y="792484"/>
            <a:ext cx="11379200" cy="893233"/>
          </a:xfrm>
        </p:spPr>
        <p:txBody>
          <a:bodyPr/>
          <a:lstStyle>
            <a:lvl1pPr marL="0" indent="0">
              <a:buNone/>
              <a:defRPr>
                <a:solidFill>
                  <a:schemeClr val="bg2"/>
                </a:solidFill>
                <a:latin typeface="+mj-lt"/>
              </a:defRPr>
            </a:lvl1pPr>
            <a:lvl2pPr marL="541847" indent="0">
              <a:buNone/>
              <a:defRPr/>
            </a:lvl2pPr>
          </a:lstStyle>
          <a:p>
            <a:pPr lvl="0"/>
            <a:r>
              <a:rPr lang="en-US"/>
              <a:t>Click to edit Master text styles</a:t>
            </a:r>
          </a:p>
        </p:txBody>
      </p:sp>
    </p:spTree>
    <p:extLst>
      <p:ext uri="{BB962C8B-B14F-4D97-AF65-F5344CB8AC3E}">
        <p14:creationId xmlns:p14="http://schemas.microsoft.com/office/powerpoint/2010/main" val="22382575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Title and Content_no bullets">
    <p:spTree>
      <p:nvGrpSpPr>
        <p:cNvPr id="1" name=""/>
        <p:cNvGrpSpPr/>
        <p:nvPr/>
      </p:nvGrpSpPr>
      <p:grpSpPr>
        <a:xfrm>
          <a:off x="0" y="0"/>
          <a:ext cx="0" cy="0"/>
          <a:chOff x="0" y="0"/>
          <a:chExt cx="0" cy="0"/>
        </a:xfrm>
      </p:grpSpPr>
      <p:graphicFrame>
        <p:nvGraphicFramePr>
          <p:cNvPr id="4" name="Object 165" hidden="1"/>
          <p:cNvGraphicFramePr>
            <a:graphicFrameLocks noChangeAspect="1"/>
          </p:cNvGraphicFramePr>
          <p:nvPr>
            <p:custDataLst>
              <p:tags r:id="rId1"/>
            </p:custDataLst>
          </p:nvPr>
        </p:nvGraphicFramePr>
        <p:xfrm>
          <a:off x="2121" y="1593"/>
          <a:ext cx="211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16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1" y="1593"/>
                        <a:ext cx="211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a:extLst>
              <a:ext uri="{FF2B5EF4-FFF2-40B4-BE49-F238E27FC236}">
                <a16:creationId xmlns:a16="http://schemas.microsoft.com/office/drawing/2014/main" id="{FBE9A356-AD01-4E08-8C14-638B51C17093}"/>
              </a:ext>
            </a:extLst>
          </p:cNvPr>
          <p:cNvSpPr/>
          <p:nvPr userDrawn="1">
            <p:custDataLst>
              <p:tags r:id="rId2"/>
            </p:custDataLst>
          </p:nvPr>
        </p:nvSpPr>
        <p:spPr>
          <a:xfrm>
            <a:off x="0" y="0"/>
            <a:ext cx="140074" cy="1400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471" b="0" i="0" baseline="0">
              <a:latin typeface="Georgia" panose="02040502050405020303" pitchFamily="18" charset="0"/>
              <a:ea typeface="+mj-ea"/>
              <a:cs typeface="+mj-cs"/>
              <a:sym typeface="Georgia" panose="02040502050405020303" pitchFamily="18" charset="0"/>
            </a:endParaRPr>
          </a:p>
        </p:txBody>
      </p:sp>
      <p:sp>
        <p:nvSpPr>
          <p:cNvPr id="9" name="Slide Number Placeholder 9"/>
          <p:cNvSpPr>
            <a:spLocks noGrp="1"/>
          </p:cNvSpPr>
          <p:nvPr>
            <p:ph type="sldNum" sz="quarter" idx="11"/>
          </p:nvPr>
        </p:nvSpPr>
        <p:spPr/>
        <p:txBody>
          <a:bodyPr/>
          <a:lstStyle>
            <a:lvl1pPr>
              <a:defRPr>
                <a:solidFill>
                  <a:schemeClr val="tx1"/>
                </a:solidFill>
              </a:defRPr>
            </a:lvl1pPr>
          </a:lstStyle>
          <a:p>
            <a:fld id="{CC505A18-7493-4301-AAE9-66BAD07E9D12}" type="slidenum">
              <a:rPr lang="en-US" altLang="en-US"/>
              <a:pPr/>
              <a:t>‹#›</a:t>
            </a:fld>
            <a:endParaRPr lang="en-US" altLang="en-US"/>
          </a:p>
        </p:txBody>
      </p:sp>
      <p:sp>
        <p:nvSpPr>
          <p:cNvPr id="10" name="Text Placeholder 2">
            <a:extLst>
              <a:ext uri="{FF2B5EF4-FFF2-40B4-BE49-F238E27FC236}">
                <a16:creationId xmlns:a16="http://schemas.microsoft.com/office/drawing/2014/main" id="{144BD4FC-AF69-4B2F-9D70-E12B62D6E640}"/>
              </a:ext>
            </a:extLst>
          </p:cNvPr>
          <p:cNvSpPr>
            <a:spLocks noGrp="1"/>
          </p:cNvSpPr>
          <p:nvPr>
            <p:ph idx="1"/>
          </p:nvPr>
        </p:nvSpPr>
        <p:spPr bwMode="auto">
          <a:xfrm>
            <a:off x="324131" y="1317629"/>
            <a:ext cx="11243458" cy="13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en-US"/>
              <a:t>Click to add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3" name="Picture 11" descr="Picture 50.png">
            <a:extLst>
              <a:ext uri="{FF2B5EF4-FFF2-40B4-BE49-F238E27FC236}">
                <a16:creationId xmlns:a16="http://schemas.microsoft.com/office/drawing/2014/main" id="{27754E91-8C48-4BFB-87BB-4670A45B4481}"/>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324131" y="6196380"/>
            <a:ext cx="522207" cy="45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68199389-797B-4796-8E82-2661FD18E16B}"/>
              </a:ext>
            </a:extLst>
          </p:cNvPr>
          <p:cNvSpPr>
            <a:spLocks noGrp="1"/>
          </p:cNvSpPr>
          <p:nvPr>
            <p:ph type="title"/>
          </p:nvPr>
        </p:nvSpPr>
        <p:spPr>
          <a:xfrm>
            <a:off x="262688" y="207959"/>
            <a:ext cx="11091673" cy="739590"/>
          </a:xfrm>
          <a:prstGeom prst="rect">
            <a:avLst/>
          </a:prstGeom>
        </p:spPr>
        <p:txBody>
          <a:bodyPr/>
          <a:lstStyle>
            <a:lvl1pPr>
              <a:defRPr sz="2824">
                <a:solidFill>
                  <a:schemeClr val="tx1"/>
                </a:solidFill>
              </a:defRPr>
            </a:lvl1pPr>
          </a:lstStyle>
          <a:p>
            <a:r>
              <a:rPr lang="en-US"/>
              <a:t>Click to edit Master title style</a:t>
            </a:r>
          </a:p>
        </p:txBody>
      </p:sp>
    </p:spTree>
    <p:extLst>
      <p:ext uri="{BB962C8B-B14F-4D97-AF65-F5344CB8AC3E}">
        <p14:creationId xmlns:p14="http://schemas.microsoft.com/office/powerpoint/2010/main" val="445674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Dark Blue Wide">
    <p:bg>
      <p:bgPr>
        <a:solidFill>
          <a:srgbClr val="0A385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08429717-203F-9819-30BE-5F4294255F2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2" name="Slide Number Placeholder 9">
            <a:extLst>
              <a:ext uri="{FF2B5EF4-FFF2-40B4-BE49-F238E27FC236}">
                <a16:creationId xmlns:a16="http://schemas.microsoft.com/office/drawing/2014/main" id="{7FB87F42-4A8B-0E59-B080-462B1D774A9A}"/>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1390353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Dark Blue Slide">
    <p:bg>
      <p:bgPr>
        <a:solidFill>
          <a:srgbClr val="0A385E"/>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5"/>
            <a:ext cx="6326400" cy="7396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5" name="Picture 4">
            <a:extLst>
              <a:ext uri="{FF2B5EF4-FFF2-40B4-BE49-F238E27FC236}">
                <a16:creationId xmlns:a16="http://schemas.microsoft.com/office/drawing/2014/main" id="{CF93EB28-CB61-EABD-7783-1B31EC245CF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57FBE748-16D1-66B8-5DA5-34887D0ADDD5}"/>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7436497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solidFill>
        <a:effectLst/>
      </p:bgPr>
    </p:bg>
    <p:spTree>
      <p:nvGrpSpPr>
        <p:cNvPr id="1" name=""/>
        <p:cNvGrpSpPr/>
        <p:nvPr/>
      </p:nvGrpSpPr>
      <p:grpSpPr>
        <a:xfrm>
          <a:off x="0" y="0"/>
          <a:ext cx="0" cy="0"/>
          <a:chOff x="0" y="0"/>
          <a:chExt cx="0" cy="0"/>
        </a:xfrm>
      </p:grpSpPr>
      <p:sp>
        <p:nvSpPr>
          <p:cNvPr id="14" name="Rectangle 13"/>
          <p:cNvSpPr/>
          <p:nvPr userDrawn="1"/>
        </p:nvSpPr>
        <p:spPr>
          <a:xfrm>
            <a:off x="3190240" y="-4642"/>
            <a:ext cx="9001761" cy="5947873"/>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5" y="2797490"/>
            <a:ext cx="8347588"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5" y="4969617"/>
            <a:ext cx="8364431" cy="97825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a:extLst>
              <a:ext uri="{FF2B5EF4-FFF2-40B4-BE49-F238E27FC236}">
                <a16:creationId xmlns:a16="http://schemas.microsoft.com/office/drawing/2014/main" id="{560BF22C-E590-CD41-770E-F562BAFB8963}"/>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393354" y="2815963"/>
            <a:ext cx="2587352" cy="750197"/>
          </a:xfrm>
          <a:prstGeom prst="rect">
            <a:avLst/>
          </a:prstGeom>
        </p:spPr>
      </p:pic>
      <p:sp>
        <p:nvSpPr>
          <p:cNvPr id="4" name="Slide Number Placeholder 9">
            <a:extLst>
              <a:ext uri="{FF2B5EF4-FFF2-40B4-BE49-F238E27FC236}">
                <a16:creationId xmlns:a16="http://schemas.microsoft.com/office/drawing/2014/main" id="{D4598611-5951-1A4D-5809-B18CC94CF289}"/>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062533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943598"/>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3"/>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4790"/>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399" y="5333179"/>
            <a:ext cx="5689601"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7" name="Picture 6">
            <a:extLst>
              <a:ext uri="{FF2B5EF4-FFF2-40B4-BE49-F238E27FC236}">
                <a16:creationId xmlns:a16="http://schemas.microsoft.com/office/drawing/2014/main" id="{3E0E7A41-F85E-9A9B-3A81-8CE2969AF316}"/>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393354" y="321151"/>
            <a:ext cx="2587352" cy="750197"/>
          </a:xfrm>
          <a:prstGeom prst="rect">
            <a:avLst/>
          </a:prstGeom>
        </p:spPr>
      </p:pic>
      <p:sp>
        <p:nvSpPr>
          <p:cNvPr id="8" name="Slide Number Placeholder 9">
            <a:extLst>
              <a:ext uri="{FF2B5EF4-FFF2-40B4-BE49-F238E27FC236}">
                <a16:creationId xmlns:a16="http://schemas.microsoft.com/office/drawing/2014/main" id="{0322EDC3-59BE-4CD6-BD47-7AF1E4B33E2F}"/>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8543347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943598"/>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3"/>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399" y="5333179"/>
            <a:ext cx="5689601"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
        <p:nvSpPr>
          <p:cNvPr id="6" name="Slide Number Placeholder 9">
            <a:extLst>
              <a:ext uri="{FF2B5EF4-FFF2-40B4-BE49-F238E27FC236}">
                <a16:creationId xmlns:a16="http://schemas.microsoft.com/office/drawing/2014/main" id="{B1176B13-09C8-3B21-A31C-B5BDD08FB3A4}"/>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119002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7" name="Picture 6">
            <a:extLst>
              <a:ext uri="{FF2B5EF4-FFF2-40B4-BE49-F238E27FC236}">
                <a16:creationId xmlns:a16="http://schemas.microsoft.com/office/drawing/2014/main" id="{4392E763-E60E-9E58-E254-A340D9AC46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44564012-EF65-C3B5-243A-7BAEEF497E9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1540851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Content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00990"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a:extLst>
              <a:ext uri="{FF2B5EF4-FFF2-40B4-BE49-F238E27FC236}">
                <a16:creationId xmlns:a16="http://schemas.microsoft.com/office/drawing/2014/main" id="{8E7A8901-5243-6781-8EA3-2793C17DF11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8E05AFB5-0431-BC7F-88C7-D53F05357F7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24915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Content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76294"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a:extLst>
              <a:ext uri="{FF2B5EF4-FFF2-40B4-BE49-F238E27FC236}">
                <a16:creationId xmlns:a16="http://schemas.microsoft.com/office/drawing/2014/main" id="{19C50BC6-FD00-02B4-6E71-FD0EAC03CA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59F8E0B5-AAB1-ECD7-ED95-812C1E0CA7D2}"/>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0327608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sp>
        <p:nvSpPr>
          <p:cNvPr id="2" name="Rectangle 1">
            <a:extLst>
              <a:ext uri="{FF2B5EF4-FFF2-40B4-BE49-F238E27FC236}">
                <a16:creationId xmlns:a16="http://schemas.microsoft.com/office/drawing/2014/main" id="{B6E53E59-C874-5438-DA93-2459D6CC55C6}"/>
              </a:ext>
            </a:extLst>
          </p:cNvPr>
          <p:cNvSpPr/>
          <p:nvPr userDrawn="1"/>
        </p:nvSpPr>
        <p:spPr bwMode="ltGray">
          <a:xfrm>
            <a:off x="406398" y="0"/>
            <a:ext cx="11785601" cy="125282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9" name="Picture 8">
            <a:extLst>
              <a:ext uri="{FF2B5EF4-FFF2-40B4-BE49-F238E27FC236}">
                <a16:creationId xmlns:a16="http://schemas.microsoft.com/office/drawing/2014/main" id="{BFDE725F-BC5F-2C58-8AF7-FB8FA431157F}"/>
              </a:ext>
            </a:extLst>
          </p:cNvPr>
          <p:cNvPicPr>
            <a:picLocks noChangeAspect="1"/>
          </p:cNvPicPr>
          <p:nvPr userDrawn="1"/>
        </p:nvPicPr>
        <p:blipFill>
          <a:blip r:embed="rId2">
            <a:extLst>
              <a:ext uri="{28A0092B-C50C-407E-A947-70E740481C1C}">
                <a14:useLocalDpi xmlns:a14="http://schemas.microsoft.com/office/drawing/2010/main" val="0"/>
              </a:ext>
            </a:extLst>
          </a:blip>
          <a:srcRect r="10497" b="34616"/>
          <a:stretch/>
        </p:blipFill>
        <p:spPr>
          <a:xfrm>
            <a:off x="576234" y="321151"/>
            <a:ext cx="2587352" cy="750197"/>
          </a:xfrm>
          <a:prstGeom prst="rect">
            <a:avLst/>
          </a:prstGeom>
        </p:spPr>
      </p:pic>
      <p:sp>
        <p:nvSpPr>
          <p:cNvPr id="10" name="Slide Number Placeholder 9">
            <a:extLst>
              <a:ext uri="{FF2B5EF4-FFF2-40B4-BE49-F238E27FC236}">
                <a16:creationId xmlns:a16="http://schemas.microsoft.com/office/drawing/2014/main" id="{92A0F152-0700-0AB3-3C96-652385465750}"/>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048738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7" name="Picture 6">
            <a:extLst>
              <a:ext uri="{FF2B5EF4-FFF2-40B4-BE49-F238E27FC236}">
                <a16:creationId xmlns:a16="http://schemas.microsoft.com/office/drawing/2014/main" id="{2C040810-D2FD-249A-3D04-538EB175BC5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806CB2E6-DF62-64A9-46C8-AA933E96D6A1}"/>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703840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13244B6C-13A2-DE54-C380-9EA18B52FB9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25CE711D-0644-1099-DB5F-1D416163A2BA}"/>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733083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a:extLst>
              <a:ext uri="{FF2B5EF4-FFF2-40B4-BE49-F238E27FC236}">
                <a16:creationId xmlns:a16="http://schemas.microsoft.com/office/drawing/2014/main" id="{18B8BE60-CD25-339F-4356-B314D4C79F5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45725EC0-A8A3-5233-1643-298BBF34E727}"/>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4240639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DD044149-96F8-47F7-920A-99DFCC7C166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7" name="Slide Number Placeholder 9">
            <a:extLst>
              <a:ext uri="{FF2B5EF4-FFF2-40B4-BE49-F238E27FC236}">
                <a16:creationId xmlns:a16="http://schemas.microsoft.com/office/drawing/2014/main" id="{E9D47A4F-8C8A-FA75-599A-F3C65AEC5BEE}"/>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7386996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s Only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57317" cy="609601"/>
          </a:xfrm>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1"/>
            <a:ext cx="11408496" cy="893233"/>
          </a:xfrm>
        </p:spPr>
        <p:txBody>
          <a:bodyPr/>
          <a:lstStyle>
            <a:lvl1pPr marL="0" indent="0">
              <a:buNone/>
              <a:defRPr>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BD86F73E-8ED1-352A-398F-91D49E3452E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8" name="Slide Number Placeholder 9">
            <a:extLst>
              <a:ext uri="{FF2B5EF4-FFF2-40B4-BE49-F238E27FC236}">
                <a16:creationId xmlns:a16="http://schemas.microsoft.com/office/drawing/2014/main" id="{E650658E-372D-1FC6-0B55-F3D44ECC2625}"/>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963744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2D3B40-AA82-2302-50B5-3730BF6B10F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49251708-DBF9-181B-F806-58581B50D0EC}"/>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1071498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716455-3359-5417-7584-CF740BE722A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021313C7-1385-34A3-2BC0-E06121E50F00}"/>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33470532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Dark Blue">
    <p:bg>
      <p:bgPr>
        <a:solidFill>
          <a:srgbClr val="0A385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A14D42-BF5B-29E8-314B-5F35F3156D8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r="3796" b="35447"/>
          <a:stretch/>
        </p:blipFill>
        <p:spPr>
          <a:xfrm>
            <a:off x="9609046" y="6188864"/>
            <a:ext cx="2024154" cy="539086"/>
          </a:xfrm>
          <a:prstGeom prst="rect">
            <a:avLst/>
          </a:prstGeom>
        </p:spPr>
      </p:pic>
      <p:sp>
        <p:nvSpPr>
          <p:cNvPr id="5" name="Slide Number Placeholder 9">
            <a:extLst>
              <a:ext uri="{FF2B5EF4-FFF2-40B4-BE49-F238E27FC236}">
                <a16:creationId xmlns:a16="http://schemas.microsoft.com/office/drawing/2014/main" id="{02B01620-CA6C-C848-73B5-F7C10B85F1DD}"/>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6959949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7" name="Picture 6" descr="A blue and black logo  AI-generated content may be incorrect.">
            <a:extLst>
              <a:ext uri="{FF2B5EF4-FFF2-40B4-BE49-F238E27FC236}">
                <a16:creationId xmlns:a16="http://schemas.microsoft.com/office/drawing/2014/main" id="{A118DB1A-7D14-10C8-A0E2-4952BCF635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59805" y="2419511"/>
            <a:ext cx="5072390" cy="1435704"/>
          </a:xfrm>
          <a:prstGeom prst="rect">
            <a:avLst/>
          </a:prstGeom>
        </p:spPr>
      </p:pic>
      <p:sp>
        <p:nvSpPr>
          <p:cNvPr id="8" name="Slide Number Placeholder 9">
            <a:extLst>
              <a:ext uri="{FF2B5EF4-FFF2-40B4-BE49-F238E27FC236}">
                <a16:creationId xmlns:a16="http://schemas.microsoft.com/office/drawing/2014/main" id="{B9735EAA-F5D5-6075-5A50-62EB57F054B4}"/>
              </a:ext>
            </a:extLst>
          </p:cNvPr>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8401599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0"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13483" t="23045" r="54224" b="23088"/>
          <a:stretch/>
        </p:blipFill>
        <p:spPr>
          <a:xfrm>
            <a:off x="4453844" y="1803401"/>
            <a:ext cx="3284312" cy="3242212"/>
          </a:xfrm>
          <a:prstGeom prst="rect">
            <a:avLst/>
          </a:prstGeom>
        </p:spPr>
      </p:pic>
    </p:spTree>
    <p:extLst>
      <p:ext uri="{BB962C8B-B14F-4D97-AF65-F5344CB8AC3E}">
        <p14:creationId xmlns:p14="http://schemas.microsoft.com/office/powerpoint/2010/main" val="47486635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Slide Wid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CC85EE-0AB1-DE11-C3AD-001C3D676E00}"/>
              </a:ext>
            </a:extLst>
          </p:cNvPr>
          <p:cNvPicPr>
            <a:picLocks noChangeAspect="1"/>
          </p:cNvPicPr>
          <p:nvPr userDrawn="1"/>
        </p:nvPicPr>
        <p:blipFill>
          <a:blip r:embed="rId2">
            <a:extLst>
              <a:ext uri="{28A0092B-C50C-407E-A947-70E740481C1C}">
                <a14:useLocalDpi xmlns:a14="http://schemas.microsoft.com/office/drawing/2010/main" val="0"/>
              </a:ext>
            </a:extLst>
          </a:blip>
          <a:srcRect t="25585" b="-19182"/>
          <a:stretch/>
        </p:blipFill>
        <p:spPr>
          <a:xfrm>
            <a:off x="1" y="-1235"/>
            <a:ext cx="12192000" cy="5949108"/>
          </a:xfrm>
          <a:prstGeom prst="rect">
            <a:avLst/>
          </a:prstGeom>
        </p:spPr>
      </p:pic>
      <p:sp>
        <p:nvSpPr>
          <p:cNvPr id="6" name="Rectangle 5">
            <a:extLst>
              <a:ext uri="{FF2B5EF4-FFF2-40B4-BE49-F238E27FC236}">
                <a16:creationId xmlns:a16="http://schemas.microsoft.com/office/drawing/2014/main" id="{27C419DF-692C-1698-9885-EDD7A97D3ED5}"/>
              </a:ext>
            </a:extLst>
          </p:cNvPr>
          <p:cNvSpPr/>
          <p:nvPr userDrawn="1"/>
        </p:nvSpPr>
        <p:spPr bwMode="ltGray">
          <a:xfrm>
            <a:off x="3" y="4728673"/>
            <a:ext cx="12191997" cy="1219199"/>
          </a:xfrm>
          <a:prstGeom prst="rect">
            <a:avLst/>
          </a:prstGeom>
          <a:solidFill>
            <a:srgbClr val="2E86AF"/>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8" name="Picture 7">
            <a:extLst>
              <a:ext uri="{FF2B5EF4-FFF2-40B4-BE49-F238E27FC236}">
                <a16:creationId xmlns:a16="http://schemas.microsoft.com/office/drawing/2014/main" id="{8AF8BB61-89B7-38FF-115F-CACC47F41D3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06400" y="202649"/>
            <a:ext cx="2244696" cy="884895"/>
          </a:xfrm>
          <a:prstGeom prst="rect">
            <a:avLst/>
          </a:prstGeom>
        </p:spPr>
      </p:pic>
      <p:sp>
        <p:nvSpPr>
          <p:cNvPr id="12" name="Slide Number Placeholder 9">
            <a:extLst>
              <a:ext uri="{FF2B5EF4-FFF2-40B4-BE49-F238E27FC236}">
                <a16:creationId xmlns:a16="http://schemas.microsoft.com/office/drawing/2014/main" id="{6A2D2AFE-B1C6-ED8A-B793-E8882B34141E}"/>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13" name="TextBox 12">
            <a:extLst>
              <a:ext uri="{FF2B5EF4-FFF2-40B4-BE49-F238E27FC236}">
                <a16:creationId xmlns:a16="http://schemas.microsoft.com/office/drawing/2014/main" id="{4B6468CF-AFEE-BE66-6F4A-6EA3010A62D1}"/>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4" name="TextBox 13">
            <a:extLst>
              <a:ext uri="{FF2B5EF4-FFF2-40B4-BE49-F238E27FC236}">
                <a16:creationId xmlns:a16="http://schemas.microsoft.com/office/drawing/2014/main" id="{78BB27D9-E8B7-A245-E5C5-23DB8DAAC1B7}"/>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2" name="Straight Connector 1">
            <a:extLst>
              <a:ext uri="{FF2B5EF4-FFF2-40B4-BE49-F238E27FC236}">
                <a16:creationId xmlns:a16="http://schemas.microsoft.com/office/drawing/2014/main" id="{4B34AF8B-2C05-4A48-1207-2A3F2CD979D4}"/>
              </a:ext>
            </a:extLst>
          </p:cNvPr>
          <p:cNvCxnSpPr>
            <a:cxnSpLocks/>
          </p:cNvCxnSpPr>
          <p:nvPr userDrawn="1"/>
        </p:nvCxnSpPr>
        <p:spPr>
          <a:xfrm>
            <a:off x="410197" y="4902936"/>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8496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Slide Wide">
    <p:bg>
      <p:bgPr>
        <a:solidFill>
          <a:srgbClr val="2E86A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04A35D9-EB01-3686-CA7F-2C616069B178}"/>
              </a:ext>
            </a:extLst>
          </p:cNvPr>
          <p:cNvPicPr>
            <a:picLocks noChangeAspect="1"/>
          </p:cNvPicPr>
          <p:nvPr userDrawn="1"/>
        </p:nvPicPr>
        <p:blipFill>
          <a:blip r:embed="rId2">
            <a:extLst>
              <a:ext uri="{28A0092B-C50C-407E-A947-70E740481C1C}">
                <a14:useLocalDpi xmlns:a14="http://schemas.microsoft.com/office/drawing/2010/main" val="0"/>
              </a:ext>
            </a:extLst>
          </a:blip>
          <a:srcRect l="6411" t="13203" b="18298"/>
          <a:stretch/>
        </p:blipFill>
        <p:spPr>
          <a:xfrm>
            <a:off x="1" y="-1235"/>
            <a:ext cx="12192000" cy="5949108"/>
          </a:xfrm>
          <a:prstGeom prst="rect">
            <a:avLst/>
          </a:prstGeom>
        </p:spPr>
      </p:pic>
      <p:sp>
        <p:nvSpPr>
          <p:cNvPr id="5" name="Rectangle 4">
            <a:extLst>
              <a:ext uri="{FF2B5EF4-FFF2-40B4-BE49-F238E27FC236}">
                <a16:creationId xmlns:a16="http://schemas.microsoft.com/office/drawing/2014/main" id="{E00222E5-2FC9-FC7C-7AF9-7B031373543D}"/>
              </a:ext>
            </a:extLst>
          </p:cNvPr>
          <p:cNvSpPr/>
          <p:nvPr userDrawn="1"/>
        </p:nvSpPr>
        <p:spPr bwMode="ltGray">
          <a:xfrm>
            <a:off x="3" y="4728673"/>
            <a:ext cx="12191997" cy="1219199"/>
          </a:xfrm>
          <a:prstGeom prst="rect">
            <a:avLst/>
          </a:prstGeom>
          <a:solidFill>
            <a:srgbClr val="2E86AF">
              <a:alpha val="90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0" name="Title 1">
            <a:extLst>
              <a:ext uri="{FF2B5EF4-FFF2-40B4-BE49-F238E27FC236}">
                <a16:creationId xmlns:a16="http://schemas.microsoft.com/office/drawing/2014/main" id="{AA9ED650-246E-9FF9-4453-C383178BD484}"/>
              </a:ext>
            </a:extLst>
          </p:cNvPr>
          <p:cNvSpPr>
            <a:spLocks noGrp="1"/>
          </p:cNvSpPr>
          <p:nvPr>
            <p:ph type="ctrTitle"/>
          </p:nvPr>
        </p:nvSpPr>
        <p:spPr>
          <a:xfrm>
            <a:off x="406400" y="499872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pic>
        <p:nvPicPr>
          <p:cNvPr id="2" name="Picture 1">
            <a:extLst>
              <a:ext uri="{FF2B5EF4-FFF2-40B4-BE49-F238E27FC236}">
                <a16:creationId xmlns:a16="http://schemas.microsoft.com/office/drawing/2014/main" id="{FB07C2B9-F8B1-5E89-6077-707BC0BEF18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06400" y="202649"/>
            <a:ext cx="2244696" cy="884895"/>
          </a:xfrm>
          <a:prstGeom prst="rect">
            <a:avLst/>
          </a:prstGeom>
        </p:spPr>
      </p:pic>
      <p:sp>
        <p:nvSpPr>
          <p:cNvPr id="3" name="Slide Number Placeholder 9">
            <a:extLst>
              <a:ext uri="{FF2B5EF4-FFF2-40B4-BE49-F238E27FC236}">
                <a16:creationId xmlns:a16="http://schemas.microsoft.com/office/drawing/2014/main" id="{1A33F5CC-1C13-24F8-69D5-E1B28ED493E4}"/>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C5294F46-E115-F515-ECD2-5A66710F2BBF}"/>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7" name="TextBox 6">
            <a:extLst>
              <a:ext uri="{FF2B5EF4-FFF2-40B4-BE49-F238E27FC236}">
                <a16:creationId xmlns:a16="http://schemas.microsoft.com/office/drawing/2014/main" id="{3E95B84A-F483-31E8-8067-DA3CA715E58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13" name="Straight Connector 12">
            <a:extLst>
              <a:ext uri="{FF2B5EF4-FFF2-40B4-BE49-F238E27FC236}">
                <a16:creationId xmlns:a16="http://schemas.microsoft.com/office/drawing/2014/main" id="{44B217A4-2AF7-94A7-2A2F-1DB58A123041}"/>
              </a:ext>
            </a:extLst>
          </p:cNvPr>
          <p:cNvCxnSpPr>
            <a:cxnSpLocks/>
          </p:cNvCxnSpPr>
          <p:nvPr userDrawn="1"/>
        </p:nvCxnSpPr>
        <p:spPr>
          <a:xfrm>
            <a:off x="410197" y="4902936"/>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4835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15605" t="36867" r="2906" b="3647"/>
          <a:stretch/>
        </p:blipFill>
        <p:spPr>
          <a:xfrm>
            <a:off x="0" y="0"/>
            <a:ext cx="12192000" cy="5933440"/>
          </a:xfrm>
          <a:prstGeom prst="rect">
            <a:avLst/>
          </a:prstGeom>
        </p:spPr>
      </p:pic>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6" name="TextBox 15">
            <a:extLst>
              <a:ext uri="{FF2B5EF4-FFF2-40B4-BE49-F238E27FC236}">
                <a16:creationId xmlns:a16="http://schemas.microsoft.com/office/drawing/2014/main" id="{60CB0F5E-8D2E-CD55-0B6E-819ECCCF8565}"/>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Rectangle 10">
            <a:extLst>
              <a:ext uri="{FF2B5EF4-FFF2-40B4-BE49-F238E27FC236}">
                <a16:creationId xmlns:a16="http://schemas.microsoft.com/office/drawing/2014/main" id="{6165DD23-F8B8-7C50-34E5-723685660B38}"/>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7" name="Straight Connector 16">
            <a:extLst>
              <a:ext uri="{FF2B5EF4-FFF2-40B4-BE49-F238E27FC236}">
                <a16:creationId xmlns:a16="http://schemas.microsoft.com/office/drawing/2014/main" id="{568901DC-DC20-D81D-93FF-3A58392A1D6F}"/>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0047" y="3862413"/>
            <a:ext cx="6354069" cy="115514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0047" y="5150555"/>
            <a:ext cx="6354069" cy="63043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5533551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4864" t="31208" r="7308" b="11803"/>
          <a:stretch/>
        </p:blipFill>
        <p:spPr>
          <a:xfrm>
            <a:off x="0" y="0"/>
            <a:ext cx="12192000" cy="5933440"/>
          </a:xfrm>
          <a:prstGeom prst="rect">
            <a:avLst/>
          </a:prstGeom>
        </p:spPr>
      </p:pic>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5" name="TextBox 4">
            <a:extLst>
              <a:ext uri="{FF2B5EF4-FFF2-40B4-BE49-F238E27FC236}">
                <a16:creationId xmlns:a16="http://schemas.microsoft.com/office/drawing/2014/main" id="{2CE069B5-B49F-C3AB-EE6D-F1C2178B98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8" name="Rectangle 7">
            <a:extLst>
              <a:ext uri="{FF2B5EF4-FFF2-40B4-BE49-F238E27FC236}">
                <a16:creationId xmlns:a16="http://schemas.microsoft.com/office/drawing/2014/main" id="{C2538352-F6FF-F3DE-A18D-1C8D0B19ABDD}"/>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4" name="Straight Connector 13">
            <a:extLst>
              <a:ext uri="{FF2B5EF4-FFF2-40B4-BE49-F238E27FC236}">
                <a16:creationId xmlns:a16="http://schemas.microsoft.com/office/drawing/2014/main" id="{D7C66257-D3F4-062A-DFCC-27C740DEA4C4}"/>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6429" y="3860838"/>
            <a:ext cx="6326400" cy="127799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4745" y="5150233"/>
            <a:ext cx="6326400" cy="794601"/>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22026788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t="25896" b="1104"/>
          <a:stretch/>
        </p:blipFill>
        <p:spPr>
          <a:xfrm>
            <a:off x="0" y="0"/>
            <a:ext cx="12192000" cy="5933440"/>
          </a:xfrm>
          <a:prstGeom prst="rect">
            <a:avLst/>
          </a:prstGeom>
        </p:spPr>
      </p:pic>
      <p:sp>
        <p:nvSpPr>
          <p:cNvPr id="5" name="Rectangle 4">
            <a:extLst>
              <a:ext uri="{FF2B5EF4-FFF2-40B4-BE49-F238E27FC236}">
                <a16:creationId xmlns:a16="http://schemas.microsoft.com/office/drawing/2014/main" id="{45910567-731F-E3FC-9799-CC7CF236D9F2}"/>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cxnSp>
        <p:nvCxnSpPr>
          <p:cNvPr id="10" name="Straight Connector 9">
            <a:extLst>
              <a:ext uri="{FF2B5EF4-FFF2-40B4-BE49-F238E27FC236}">
                <a16:creationId xmlns:a16="http://schemas.microsoft.com/office/drawing/2014/main" id="{8201C10E-DB33-E1C0-6183-D36C12CC2C8C}"/>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5"/>
            <a:ext cx="6326400" cy="7396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7" name="TextBox 6">
            <a:extLst>
              <a:ext uri="{FF2B5EF4-FFF2-40B4-BE49-F238E27FC236}">
                <a16:creationId xmlns:a16="http://schemas.microsoft.com/office/drawing/2014/main" id="{A6A8A39A-B274-BDBB-CD4F-B36E86AE2E13}"/>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9168447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8EA975B-F186-5B1B-C9A7-4793BF252D90}"/>
              </a:ext>
            </a:extLst>
          </p:cNvPr>
          <p:cNvPicPr>
            <a:picLocks noChangeAspect="1"/>
          </p:cNvPicPr>
          <p:nvPr userDrawn="1"/>
        </p:nvPicPr>
        <p:blipFill>
          <a:blip r:embed="rId2">
            <a:extLst>
              <a:ext uri="{28A0092B-C50C-407E-A947-70E740481C1C}">
                <a14:useLocalDpi xmlns:a14="http://schemas.microsoft.com/office/drawing/2010/main" val="0"/>
              </a:ext>
            </a:extLst>
          </a:blip>
          <a:srcRect l="15584" t="37366" r="942" b="1775"/>
          <a:stretch/>
        </p:blipFill>
        <p:spPr>
          <a:xfrm flipH="1">
            <a:off x="0" y="0"/>
            <a:ext cx="12192000" cy="5933440"/>
          </a:xfrm>
          <a:prstGeom prst="rect">
            <a:avLst/>
          </a:prstGeom>
        </p:spPr>
      </p:pic>
      <p:sp>
        <p:nvSpPr>
          <p:cNvPr id="9" name="Rectangle 8">
            <a:extLst>
              <a:ext uri="{FF2B5EF4-FFF2-40B4-BE49-F238E27FC236}">
                <a16:creationId xmlns:a16="http://schemas.microsoft.com/office/drawing/2014/main" id="{DF0FA295-FC70-86E0-FDF7-36B321D75196}"/>
              </a:ext>
            </a:extLst>
          </p:cNvPr>
          <p:cNvSpPr/>
          <p:nvPr userDrawn="1"/>
        </p:nvSpPr>
        <p:spPr bwMode="ltGray">
          <a:xfrm>
            <a:off x="1" y="3488261"/>
            <a:ext cx="7064523" cy="2445180"/>
          </a:xfrm>
          <a:prstGeom prst="rect">
            <a:avLst/>
          </a:prstGeom>
          <a:solidFill>
            <a:srgbClr val="2E86AF">
              <a:alpha val="88000"/>
            </a:srgbClr>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2" name="Title 1"/>
          <p:cNvSpPr>
            <a:spLocks noGrp="1"/>
          </p:cNvSpPr>
          <p:nvPr>
            <p:ph type="ctrTitle"/>
          </p:nvPr>
        </p:nvSpPr>
        <p:spPr>
          <a:xfrm>
            <a:off x="402175" y="3860837"/>
            <a:ext cx="6326400" cy="1222219"/>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2175" y="5150026"/>
            <a:ext cx="6326400" cy="641041"/>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2" name="Picture 1" descr="A blue and black logo  Description automatically generated">
            <a:extLst>
              <a:ext uri="{FF2B5EF4-FFF2-40B4-BE49-F238E27FC236}">
                <a16:creationId xmlns:a16="http://schemas.microsoft.com/office/drawing/2014/main" id="{50CDBA03-BB32-0968-82AD-C1944C799F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3" name="Slide Number Placeholder 9">
            <a:extLst>
              <a:ext uri="{FF2B5EF4-FFF2-40B4-BE49-F238E27FC236}">
                <a16:creationId xmlns:a16="http://schemas.microsoft.com/office/drawing/2014/main" id="{AA576C83-CFCF-4403-47C9-35AAD069B780}"/>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D9CFFA7C-0114-8D6F-923A-BF646912F8E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cxnSp>
        <p:nvCxnSpPr>
          <p:cNvPr id="8" name="Straight Connector 7">
            <a:extLst>
              <a:ext uri="{FF2B5EF4-FFF2-40B4-BE49-F238E27FC236}">
                <a16:creationId xmlns:a16="http://schemas.microsoft.com/office/drawing/2014/main" id="{5DDBEC11-B732-D6ED-4932-386D116C25BC}"/>
              </a:ext>
            </a:extLst>
          </p:cNvPr>
          <p:cNvCxnSpPr>
            <a:cxnSpLocks/>
          </p:cNvCxnSpPr>
          <p:nvPr userDrawn="1"/>
        </p:nvCxnSpPr>
        <p:spPr>
          <a:xfrm>
            <a:off x="402175" y="3778308"/>
            <a:ext cx="635407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2624296-2AA1-E517-EE37-B22C1A8A06F6}"/>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5492556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alpha val="60000"/>
          </a:srgbClr>
        </a:solidFill>
        <a:effectLst/>
      </p:bgPr>
    </p:bg>
    <p:spTree>
      <p:nvGrpSpPr>
        <p:cNvPr id="1" name=""/>
        <p:cNvGrpSpPr/>
        <p:nvPr/>
      </p:nvGrpSpPr>
      <p:grpSpPr>
        <a:xfrm>
          <a:off x="0" y="0"/>
          <a:ext cx="0" cy="0"/>
          <a:chOff x="0" y="0"/>
          <a:chExt cx="0" cy="0"/>
        </a:xfrm>
      </p:grpSpPr>
      <p:sp>
        <p:nvSpPr>
          <p:cNvPr id="14" name="Rectangle 13"/>
          <p:cNvSpPr/>
          <p:nvPr userDrawn="1"/>
        </p:nvSpPr>
        <p:spPr>
          <a:xfrm>
            <a:off x="3053698" y="-4642"/>
            <a:ext cx="9138303" cy="5947873"/>
          </a:xfrm>
          <a:prstGeom prst="rect">
            <a:avLst/>
          </a:prstGeom>
          <a:solidFill>
            <a:srgbClr val="2E86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7" y="2797763"/>
            <a:ext cx="8364432"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5" y="4969617"/>
            <a:ext cx="8364431" cy="978256"/>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descr="A blue text on a black background  Description automatically generated">
            <a:extLst>
              <a:ext uri="{FF2B5EF4-FFF2-40B4-BE49-F238E27FC236}">
                <a16:creationId xmlns:a16="http://schemas.microsoft.com/office/drawing/2014/main" id="{560BF22C-E590-CD41-770E-F562BAFB89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0197" y="1494399"/>
            <a:ext cx="2244696" cy="886589"/>
          </a:xfrm>
          <a:prstGeom prst="rect">
            <a:avLst/>
          </a:prstGeom>
        </p:spPr>
      </p:pic>
      <p:sp>
        <p:nvSpPr>
          <p:cNvPr id="16" name="Slide Number Placeholder 9">
            <a:extLst>
              <a:ext uri="{FF2B5EF4-FFF2-40B4-BE49-F238E27FC236}">
                <a16:creationId xmlns:a16="http://schemas.microsoft.com/office/drawing/2014/main" id="{491AE6F0-1557-928A-B369-1FFFC0D3976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7" name="TextBox 16">
            <a:extLst>
              <a:ext uri="{FF2B5EF4-FFF2-40B4-BE49-F238E27FC236}">
                <a16:creationId xmlns:a16="http://schemas.microsoft.com/office/drawing/2014/main" id="{6D9D738B-1DAE-15AF-E31D-BA63F5272083}"/>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8" name="TextBox 17">
            <a:extLst>
              <a:ext uri="{FF2B5EF4-FFF2-40B4-BE49-F238E27FC236}">
                <a16:creationId xmlns:a16="http://schemas.microsoft.com/office/drawing/2014/main" id="{C7E0D88A-94A3-9352-1B1B-F67A43AE8C3B}"/>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2" name="Straight Connector 1">
            <a:extLst>
              <a:ext uri="{FF2B5EF4-FFF2-40B4-BE49-F238E27FC236}">
                <a16:creationId xmlns:a16="http://schemas.microsoft.com/office/drawing/2014/main" id="{DBFF2781-9139-FB63-7002-48A6F85A3D25}"/>
              </a:ext>
            </a:extLst>
          </p:cNvPr>
          <p:cNvCxnSpPr>
            <a:cxnSpLocks/>
          </p:cNvCxnSpPr>
          <p:nvPr userDrawn="1"/>
        </p:nvCxnSpPr>
        <p:spPr>
          <a:xfrm>
            <a:off x="410197" y="2679268"/>
            <a:ext cx="11388448"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895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1"/>
            <a:ext cx="12192000" cy="5070505"/>
          </a:xfrm>
          <a:prstGeom prst="rect">
            <a:avLst/>
          </a:prstGeom>
          <a:solidFill>
            <a:srgbClr val="2E86A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4"/>
            <a:ext cx="11379200" cy="1402080"/>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2" name="Slide Number Placeholder 9">
            <a:extLst>
              <a:ext uri="{FF2B5EF4-FFF2-40B4-BE49-F238E27FC236}">
                <a16:creationId xmlns:a16="http://schemas.microsoft.com/office/drawing/2014/main" id="{FF62F35B-2B71-3E03-CAB1-3C480E382D56}"/>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4" name="TextBox 3">
            <a:extLst>
              <a:ext uri="{FF2B5EF4-FFF2-40B4-BE49-F238E27FC236}">
                <a16:creationId xmlns:a16="http://schemas.microsoft.com/office/drawing/2014/main" id="{89E8AA3A-CDA9-43AF-DCE7-4D1AB5464FC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pic>
        <p:nvPicPr>
          <p:cNvPr id="6" name="Picture 5" descr="A black background with white text  Description automatically generated">
            <a:extLst>
              <a:ext uri="{FF2B5EF4-FFF2-40B4-BE49-F238E27FC236}">
                <a16:creationId xmlns:a16="http://schemas.microsoft.com/office/drawing/2014/main" id="{D5B11082-2948-B536-D469-9A0DC6E3D50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6400" y="513176"/>
            <a:ext cx="2476381" cy="976229"/>
          </a:xfrm>
          <a:prstGeom prst="rect">
            <a:avLst/>
          </a:prstGeom>
        </p:spPr>
      </p:pic>
      <p:sp>
        <p:nvSpPr>
          <p:cNvPr id="7" name="TextBox 6">
            <a:extLst>
              <a:ext uri="{FF2B5EF4-FFF2-40B4-BE49-F238E27FC236}">
                <a16:creationId xmlns:a16="http://schemas.microsoft.com/office/drawing/2014/main" id="{3382F894-C4DA-7678-BCBF-C92C46E19B1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5063686"/>
            <a:ext cx="12192000" cy="879913"/>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399" y="5333179"/>
            <a:ext cx="11392249" cy="638863"/>
          </a:xfrm>
          <a:prstGeom prst="rect">
            <a:avLst/>
          </a:prstGeom>
        </p:spPr>
        <p:txBody>
          <a:bodyPr rtlCol="0">
            <a:noAutofit/>
          </a:bodyPr>
          <a:lstStyle>
            <a:lvl1pPr marL="0" indent="0" algn="l" defTabSz="1219027" rtl="0" eaLnBrk="1" latinLnBrk="0" hangingPunct="1">
              <a:lnSpc>
                <a:spcPct val="100000"/>
              </a:lnSpc>
              <a:spcBef>
                <a:spcPts val="0"/>
              </a:spcBef>
              <a:buFont typeface="Arial" pitchFamily="34" charset="0"/>
              <a:buNone/>
              <a:defRPr lang="en-US" sz="2400" b="0" kern="1200" baseline="0" dirty="0">
                <a:solidFill>
                  <a:srgbClr val="0A3C53"/>
                </a:solidFill>
                <a:latin typeface="Effra Pro" panose="020B0603020203020204" pitchFamily="34" charset="0"/>
                <a:ea typeface="+mn-ea"/>
                <a:cs typeface="+mn-cs"/>
              </a:defRPr>
            </a:lvl1pPr>
            <a:lvl2pPr marL="609513" indent="0" algn="ctr">
              <a:buNone/>
              <a:defRPr>
                <a:solidFill>
                  <a:schemeClr val="tx1">
                    <a:tint val="75000"/>
                  </a:schemeClr>
                </a:solidFill>
              </a:defRPr>
            </a:lvl2pPr>
            <a:lvl3pPr marL="1219027" indent="0" algn="ctr">
              <a:buNone/>
              <a:defRPr>
                <a:solidFill>
                  <a:schemeClr val="tx1">
                    <a:tint val="75000"/>
                  </a:schemeClr>
                </a:solidFill>
              </a:defRPr>
            </a:lvl3pPr>
            <a:lvl4pPr marL="1828541" indent="0" algn="ctr">
              <a:buNone/>
              <a:defRPr>
                <a:solidFill>
                  <a:schemeClr val="tx1">
                    <a:tint val="75000"/>
                  </a:schemeClr>
                </a:solidFill>
              </a:defRPr>
            </a:lvl4pPr>
            <a:lvl5pPr marL="2438054" indent="0" algn="ctr">
              <a:buNone/>
              <a:defRPr>
                <a:solidFill>
                  <a:schemeClr val="tx1">
                    <a:tint val="75000"/>
                  </a:schemeClr>
                </a:solidFill>
              </a:defRPr>
            </a:lvl5pPr>
            <a:lvl6pPr marL="3047568" indent="0" algn="ctr">
              <a:buNone/>
              <a:defRPr>
                <a:solidFill>
                  <a:schemeClr val="tx1">
                    <a:tint val="75000"/>
                  </a:schemeClr>
                </a:solidFill>
              </a:defRPr>
            </a:lvl6pPr>
            <a:lvl7pPr marL="3657081" indent="0" algn="ctr">
              <a:buNone/>
              <a:defRPr>
                <a:solidFill>
                  <a:schemeClr val="tx1">
                    <a:tint val="75000"/>
                  </a:schemeClr>
                </a:solidFill>
              </a:defRPr>
            </a:lvl7pPr>
            <a:lvl8pPr marL="4266595" indent="0" algn="ctr">
              <a:buNone/>
              <a:defRPr>
                <a:solidFill>
                  <a:schemeClr val="tx1">
                    <a:tint val="75000"/>
                  </a:schemeClr>
                </a:solidFill>
              </a:defRPr>
            </a:lvl8pPr>
            <a:lvl9pPr marL="4876107" indent="0" algn="ctr">
              <a:buNone/>
              <a:defRPr>
                <a:solidFill>
                  <a:schemeClr val="tx1">
                    <a:tint val="75000"/>
                  </a:schemeClr>
                </a:solidFill>
              </a:defRPr>
            </a:lvl9pPr>
          </a:lstStyle>
          <a:p>
            <a:pPr>
              <a:spcBef>
                <a:spcPct val="0"/>
              </a:spcBef>
            </a:pPr>
            <a:r>
              <a:rPr lang="en-US"/>
              <a:t>Click to edit Master subtitle style</a:t>
            </a:r>
          </a:p>
        </p:txBody>
      </p:sp>
      <p:cxnSp>
        <p:nvCxnSpPr>
          <p:cNvPr id="3" name="Straight Connector 2">
            <a:extLst>
              <a:ext uri="{FF2B5EF4-FFF2-40B4-BE49-F238E27FC236}">
                <a16:creationId xmlns:a16="http://schemas.microsoft.com/office/drawing/2014/main" id="{53F8BE30-C6AC-03B1-BFB9-0204899D5708}"/>
              </a:ext>
            </a:extLst>
          </p:cNvPr>
          <p:cNvCxnSpPr>
            <a:cxnSpLocks/>
          </p:cNvCxnSpPr>
          <p:nvPr userDrawn="1"/>
        </p:nvCxnSpPr>
        <p:spPr>
          <a:xfrm>
            <a:off x="410197" y="2890468"/>
            <a:ext cx="5685803"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29969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Tree>
    <p:extLst>
      <p:ext uri="{BB962C8B-B14F-4D97-AF65-F5344CB8AC3E}">
        <p14:creationId xmlns:p14="http://schemas.microsoft.com/office/powerpoint/2010/main" val="25998033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0708990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amp; Content">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4" name="TextBox 3">
            <a:extLst>
              <a:ext uri="{FF2B5EF4-FFF2-40B4-BE49-F238E27FC236}">
                <a16:creationId xmlns:a16="http://schemas.microsoft.com/office/drawing/2014/main" id="{7D9C22F3-CAD2-27BB-ACB4-E1DA24EA00D8}"/>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9640172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amp; Content">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4" name="TextBox 3">
            <a:extLst>
              <a:ext uri="{FF2B5EF4-FFF2-40B4-BE49-F238E27FC236}">
                <a16:creationId xmlns:a16="http://schemas.microsoft.com/office/drawing/2014/main" id="{7D9C22F3-CAD2-27BB-ACB4-E1DA24EA00D8}"/>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2193762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amp;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1">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6959802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itle &amp;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1">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14405366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2E86AF"/>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1" y="3145417"/>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pic>
        <p:nvPicPr>
          <p:cNvPr id="3" name="Picture 2" descr="A black background with white text  Description automatically generated">
            <a:extLst>
              <a:ext uri="{FF2B5EF4-FFF2-40B4-BE49-F238E27FC236}">
                <a16:creationId xmlns:a16="http://schemas.microsoft.com/office/drawing/2014/main" id="{42DF9BEA-2AA5-2FA7-8DF2-DF522D6570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6400" y="513176"/>
            <a:ext cx="2476381" cy="976229"/>
          </a:xfrm>
          <a:prstGeom prst="rect">
            <a:avLst/>
          </a:prstGeom>
        </p:spPr>
      </p:pic>
      <p:sp>
        <p:nvSpPr>
          <p:cNvPr id="4" name="Slide Number Placeholder 9">
            <a:extLst>
              <a:ext uri="{FF2B5EF4-FFF2-40B4-BE49-F238E27FC236}">
                <a16:creationId xmlns:a16="http://schemas.microsoft.com/office/drawing/2014/main" id="{A751E4CE-FA75-6B82-38DF-65371AF4DBF6}"/>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7" name="TextBox 6">
            <a:extLst>
              <a:ext uri="{FF2B5EF4-FFF2-40B4-BE49-F238E27FC236}">
                <a16:creationId xmlns:a16="http://schemas.microsoft.com/office/drawing/2014/main" id="{95CF1ACF-4343-65A6-5176-49C3ABFCEE53}"/>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8" name="TextBox 7">
            <a:extLst>
              <a:ext uri="{FF2B5EF4-FFF2-40B4-BE49-F238E27FC236}">
                <a16:creationId xmlns:a16="http://schemas.microsoft.com/office/drawing/2014/main" id="{C74F07DD-A61A-0B90-C699-6CE7249977E5}"/>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cxnSp>
        <p:nvCxnSpPr>
          <p:cNvPr id="11" name="Straight Connector 10">
            <a:extLst>
              <a:ext uri="{FF2B5EF4-FFF2-40B4-BE49-F238E27FC236}">
                <a16:creationId xmlns:a16="http://schemas.microsoft.com/office/drawing/2014/main" id="{AFD57F77-CF41-C038-4516-961DC4249B66}"/>
              </a:ext>
            </a:extLst>
          </p:cNvPr>
          <p:cNvCxnSpPr>
            <a:cxnSpLocks/>
          </p:cNvCxnSpPr>
          <p:nvPr userDrawn="1"/>
        </p:nvCxnSpPr>
        <p:spPr>
          <a:xfrm>
            <a:off x="410198" y="2934936"/>
            <a:ext cx="4307081"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2940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itle &amp; Content">
    <p:bg>
      <p:bgPr>
        <a:solidFill>
          <a:schemeClr val="tx1"/>
        </a:solidFill>
        <a:effectLst/>
      </p:bgPr>
    </p:bg>
    <p:spTree>
      <p:nvGrpSpPr>
        <p:cNvPr id="1" name=""/>
        <p:cNvGrpSpPr/>
        <p:nvPr/>
      </p:nvGrpSpPr>
      <p:grpSpPr>
        <a:xfrm>
          <a:off x="0" y="0"/>
          <a:ext cx="0" cy="0"/>
          <a:chOff x="0" y="0"/>
          <a:chExt cx="0" cy="0"/>
        </a:xfrm>
      </p:grpSpPr>
      <p:pic>
        <p:nvPicPr>
          <p:cNvPr id="5" name="Picture 4" descr="A blue and black logo  Description automatically generated">
            <a:extLst>
              <a:ext uri="{FF2B5EF4-FFF2-40B4-BE49-F238E27FC236}">
                <a16:creationId xmlns:a16="http://schemas.microsoft.com/office/drawing/2014/main" id="{F64881C7-C7C6-6388-16A8-1334C60CA7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9" name="TextBox 18">
            <a:extLst>
              <a:ext uri="{FF2B5EF4-FFF2-40B4-BE49-F238E27FC236}">
                <a16:creationId xmlns:a16="http://schemas.microsoft.com/office/drawing/2014/main" id="{B650C2DF-D3D7-471F-E39A-1A02D25A5E3E}"/>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7355405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9973056" cy="682752"/>
          </a:xfrm>
        </p:spPr>
        <p:txBody>
          <a:bodyPr/>
          <a:lstStyle>
            <a:lvl1pPr>
              <a:defRPr>
                <a:solidFill>
                  <a:srgbClr val="0A3C53"/>
                </a:solidFill>
                <a:latin typeface="Alda Pro" pitchFamily="50" charset="0"/>
              </a:defRPr>
            </a:lvl1pPr>
          </a:lstStyle>
          <a:p>
            <a:r>
              <a:rPr lang="en-US"/>
              <a:t>Click to edit Master title style</a:t>
            </a:r>
          </a:p>
        </p:txBody>
      </p:sp>
      <p:sp>
        <p:nvSpPr>
          <p:cNvPr id="4" name="Text Placeholder 4">
            <a:extLst>
              <a:ext uri="{FF2B5EF4-FFF2-40B4-BE49-F238E27FC236}">
                <a16:creationId xmlns:a16="http://schemas.microsoft.com/office/drawing/2014/main" id="{B543914A-A034-47B8-6874-1A1E53275B84}"/>
              </a:ext>
            </a:extLst>
          </p:cNvPr>
          <p:cNvSpPr>
            <a:spLocks noGrp="1"/>
          </p:cNvSpPr>
          <p:nvPr>
            <p:ph type="body" sz="quarter" idx="10"/>
          </p:nvPr>
        </p:nvSpPr>
        <p:spPr>
          <a:xfrm>
            <a:off x="390144" y="920583"/>
            <a:ext cx="11408497" cy="682752"/>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5" name="Picture 4" descr="A blue and black logo  Description automatically generated">
            <a:extLst>
              <a:ext uri="{FF2B5EF4-FFF2-40B4-BE49-F238E27FC236}">
                <a16:creationId xmlns:a16="http://schemas.microsoft.com/office/drawing/2014/main" id="{47D3FDA2-C986-CEC7-58CF-EC133311B0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6" name="Straight Connector 5">
            <a:extLst>
              <a:ext uri="{FF2B5EF4-FFF2-40B4-BE49-F238E27FC236}">
                <a16:creationId xmlns:a16="http://schemas.microsoft.com/office/drawing/2014/main" id="{845E3E50-97D3-FED3-8C1E-5E132875A5F1}"/>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0028641-CFDA-5143-5ADD-BE2983FCF1D7}"/>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8" name="TextBox 7">
            <a:extLst>
              <a:ext uri="{FF2B5EF4-FFF2-40B4-BE49-F238E27FC236}">
                <a16:creationId xmlns:a16="http://schemas.microsoft.com/office/drawing/2014/main" id="{E1EACA4D-DC32-C153-5D43-39C148ACD25C}"/>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EB2F8F96-5527-7550-D330-07EA937AA1C3}"/>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26529380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pic>
        <p:nvPicPr>
          <p:cNvPr id="6" name="Picture 5" descr="A blue and black logo  Description automatically generated">
            <a:extLst>
              <a:ext uri="{FF2B5EF4-FFF2-40B4-BE49-F238E27FC236}">
                <a16:creationId xmlns:a16="http://schemas.microsoft.com/office/drawing/2014/main" id="{89017371-FA5D-663D-ADE0-5B811A0E80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7" name="Straight Connector 6">
            <a:extLst>
              <a:ext uri="{FF2B5EF4-FFF2-40B4-BE49-F238E27FC236}">
                <a16:creationId xmlns:a16="http://schemas.microsoft.com/office/drawing/2014/main" id="{248EE82B-0BAD-788D-6411-331580B37909}"/>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C1CAC46B-7BBD-9D9F-6071-5C3D65F6BE50}"/>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41576689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White Bkgd">
    <p:bg>
      <p:bgPr>
        <a:solidFill>
          <a:srgbClr val="2E86A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1"/>
            <a:ext cx="11408496" cy="893233"/>
          </a:xfrm>
        </p:spPr>
        <p:txBody>
          <a:bodyPr/>
          <a:lstStyle>
            <a:lvl1pPr marL="0" indent="0">
              <a:buNone/>
              <a:defRPr>
                <a:solidFill>
                  <a:schemeClr val="tx1"/>
                </a:solidFill>
                <a:latin typeface="Effra Pro" panose="020B0603020203020204" pitchFamily="34" charset="0"/>
              </a:defRPr>
            </a:lvl1pPr>
            <a:lvl2pPr marL="609585" indent="0">
              <a:buNone/>
              <a:defRPr/>
            </a:lvl2pPr>
          </a:lstStyle>
          <a:p>
            <a:pPr lvl="0"/>
            <a:r>
              <a:rPr lang="en-US"/>
              <a:t>Click to edit Master text styles</a:t>
            </a:r>
          </a:p>
        </p:txBody>
      </p:sp>
      <p:pic>
        <p:nvPicPr>
          <p:cNvPr id="4" name="Picture 3" descr="A blue and black logo  Description automatically generated">
            <a:extLst>
              <a:ext uri="{FF2B5EF4-FFF2-40B4-BE49-F238E27FC236}">
                <a16:creationId xmlns:a16="http://schemas.microsoft.com/office/drawing/2014/main" id="{4EC6F971-6548-9BD7-AC4A-1964144B755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cxnSp>
        <p:nvCxnSpPr>
          <p:cNvPr id="6" name="Straight Connector 5">
            <a:extLst>
              <a:ext uri="{FF2B5EF4-FFF2-40B4-BE49-F238E27FC236}">
                <a16:creationId xmlns:a16="http://schemas.microsoft.com/office/drawing/2014/main" id="{B107E062-E2DE-0C9D-99B4-ACC5F128250F}"/>
              </a:ext>
            </a:extLst>
          </p:cNvPr>
          <p:cNvCxnSpPr>
            <a:cxnSpLocks/>
          </p:cNvCxnSpPr>
          <p:nvPr userDrawn="1"/>
        </p:nvCxnSpPr>
        <p:spPr>
          <a:xfrm>
            <a:off x="390153" y="1475864"/>
            <a:ext cx="11408497" cy="0"/>
          </a:xfrm>
          <a:prstGeom prst="line">
            <a:avLst/>
          </a:prstGeom>
          <a:ln>
            <a:solidFill>
              <a:srgbClr val="E2B32F"/>
            </a:solidFill>
          </a:ln>
        </p:spPr>
        <p:style>
          <a:lnRef idx="1">
            <a:schemeClr val="accent1"/>
          </a:lnRef>
          <a:fillRef idx="0">
            <a:schemeClr val="accent1"/>
          </a:fillRef>
          <a:effectRef idx="0">
            <a:schemeClr val="accent1"/>
          </a:effectRef>
          <a:fontRef idx="minor">
            <a:schemeClr val="tx1"/>
          </a:fontRef>
        </p:style>
      </p:cxnSp>
      <p:sp>
        <p:nvSpPr>
          <p:cNvPr id="7" name="Slide Number Placeholder 9">
            <a:extLst>
              <a:ext uri="{FF2B5EF4-FFF2-40B4-BE49-F238E27FC236}">
                <a16:creationId xmlns:a16="http://schemas.microsoft.com/office/drawing/2014/main" id="{82753250-AB15-D338-886B-ADA77DEAB5A6}"/>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8" name="TextBox 7">
            <a:extLst>
              <a:ext uri="{FF2B5EF4-FFF2-40B4-BE49-F238E27FC236}">
                <a16:creationId xmlns:a16="http://schemas.microsoft.com/office/drawing/2014/main" id="{0D84ED21-DF0A-64CE-033F-AE56DAE27A9F}"/>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23B801E1-DB0B-1C33-7128-9E96E10F97A2}"/>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2749173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Picture 5" descr="A blue and black logo  Description automatically generated">
            <a:extLst>
              <a:ext uri="{FF2B5EF4-FFF2-40B4-BE49-F238E27FC236}">
                <a16:creationId xmlns:a16="http://schemas.microsoft.com/office/drawing/2014/main" id="{89017371-FA5D-663D-ADE0-5B811A0E80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179" y="6023131"/>
            <a:ext cx="1538471" cy="445091"/>
          </a:xfrm>
          <a:prstGeom prst="rect">
            <a:avLst/>
          </a:prstGeom>
        </p:spPr>
      </p:pic>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10" name="TextBox 9">
            <a:extLst>
              <a:ext uri="{FF2B5EF4-FFF2-40B4-BE49-F238E27FC236}">
                <a16:creationId xmlns:a16="http://schemas.microsoft.com/office/drawing/2014/main" id="{C1CAC46B-7BBD-9D9F-6071-5C3D65F6BE50}"/>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29583221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19674" y="1959965"/>
            <a:ext cx="5152653" cy="2035145"/>
          </a:xfrm>
          <a:prstGeom prst="rect">
            <a:avLst/>
          </a:prstGeom>
        </p:spPr>
      </p:pic>
      <p:sp>
        <p:nvSpPr>
          <p:cNvPr id="2" name="TextBox 1">
            <a:extLst>
              <a:ext uri="{FF2B5EF4-FFF2-40B4-BE49-F238E27FC236}">
                <a16:creationId xmlns:a16="http://schemas.microsoft.com/office/drawing/2014/main" id="{E98972CC-B2EC-0A42-C66F-B2C25B2EFA9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3" name="TextBox 2">
            <a:extLst>
              <a:ext uri="{FF2B5EF4-FFF2-40B4-BE49-F238E27FC236}">
                <a16:creationId xmlns:a16="http://schemas.microsoft.com/office/drawing/2014/main" id="{6FC2E232-DCD5-E378-930F-E010982384CF}"/>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a:t>
            </a:r>
            <a:r>
              <a:rPr lang="en-US" sz="1467">
                <a:solidFill>
                  <a:srgbClr val="2E86A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2E86AF"/>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
        <p:nvSpPr>
          <p:cNvPr id="6" name="Slide Number Placeholder 9">
            <a:extLst>
              <a:ext uri="{FF2B5EF4-FFF2-40B4-BE49-F238E27FC236}">
                <a16:creationId xmlns:a16="http://schemas.microsoft.com/office/drawing/2014/main" id="{FBDC37F1-83A0-F9BE-9023-B31FC76D5071}"/>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Tree>
    <p:extLst>
      <p:ext uri="{BB962C8B-B14F-4D97-AF65-F5344CB8AC3E}">
        <p14:creationId xmlns:p14="http://schemas.microsoft.com/office/powerpoint/2010/main" val="11150953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2E86A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519674" y="1961907"/>
            <a:ext cx="5152653" cy="2031259"/>
          </a:xfrm>
          <a:prstGeom prst="rect">
            <a:avLst/>
          </a:prstGeom>
        </p:spPr>
      </p:pic>
      <p:sp>
        <p:nvSpPr>
          <p:cNvPr id="2" name="TextBox 1">
            <a:extLst>
              <a:ext uri="{FF2B5EF4-FFF2-40B4-BE49-F238E27FC236}">
                <a16:creationId xmlns:a16="http://schemas.microsoft.com/office/drawing/2014/main" id="{E98972CC-B2EC-0A42-C66F-B2C25B2EFA9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A3C53"/>
                </a:solidFill>
                <a:latin typeface="Effra Pro" panose="020B0603020203020204" pitchFamily="34" charset="0"/>
              </a:rPr>
              <a:t>For internal use only. Not to be used with the public.</a:t>
            </a:r>
          </a:p>
        </p:txBody>
      </p:sp>
      <p:sp>
        <p:nvSpPr>
          <p:cNvPr id="6" name="Slide Number Placeholder 9">
            <a:extLst>
              <a:ext uri="{FF2B5EF4-FFF2-40B4-BE49-F238E27FC236}">
                <a16:creationId xmlns:a16="http://schemas.microsoft.com/office/drawing/2014/main" id="{FBDC37F1-83A0-F9BE-9023-B31FC76D5071}"/>
              </a:ext>
            </a:extLst>
          </p:cNvPr>
          <p:cNvSpPr txBox="1">
            <a:spLocks/>
          </p:cNvSpPr>
          <p:nvPr userDrawn="1"/>
        </p:nvSpPr>
        <p:spPr>
          <a:xfrm>
            <a:off x="11493849" y="6575705"/>
            <a:ext cx="304800" cy="153888"/>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1000" smtClean="0"/>
              <a:pPr>
                <a:defRPr/>
              </a:pPr>
              <a:t>‹#›</a:t>
            </a:fld>
            <a:endParaRPr lang="en-US" sz="1000"/>
          </a:p>
        </p:txBody>
      </p:sp>
      <p:sp>
        <p:nvSpPr>
          <p:cNvPr id="5" name="TextBox 4">
            <a:extLst>
              <a:ext uri="{FF2B5EF4-FFF2-40B4-BE49-F238E27FC236}">
                <a16:creationId xmlns:a16="http://schemas.microsoft.com/office/drawing/2014/main" id="{2A60A7AE-F6F5-F819-941E-DB8BE84CEEFA}"/>
              </a:ext>
            </a:extLst>
          </p:cNvPr>
          <p:cNvSpPr txBox="1"/>
          <p:nvPr userDrawn="1"/>
        </p:nvSpPr>
        <p:spPr>
          <a:xfrm>
            <a:off x="10836067" y="182882"/>
            <a:ext cx="962584" cy="225703"/>
          </a:xfrm>
          <a:prstGeom prst="rect">
            <a:avLst/>
          </a:prstGeom>
          <a:noFill/>
        </p:spPr>
        <p:txBody>
          <a:bodyPr wrap="square" lIns="0" tIns="0" rIns="0" bIns="0" rtlCol="0">
            <a:spAutoFit/>
          </a:bodyPr>
          <a:lstStyle/>
          <a:p>
            <a:pPr algn="r"/>
            <a:r>
              <a:rPr lang="en-US" sz="1467" b="1">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1Q</a:t>
            </a:r>
            <a:r>
              <a:rPr lang="en-US" sz="1467">
                <a:solidFill>
                  <a:schemeClr val="tx1"/>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rgbClr val="E2B32F"/>
                </a:solidFill>
                <a:latin typeface="AirbnbCereal_W_Bd" panose="020B0702020203020204" pitchFamily="34" charset="-18"/>
                <a:ea typeface="AirbnbCereal_W_Bd" panose="020B0702020203020204" pitchFamily="34" charset="-18"/>
                <a:cs typeface="AirbnbCereal_W_Bd" panose="020B0702020203020204" pitchFamily="34" charset="-18"/>
              </a:rPr>
              <a:t>| </a:t>
            </a:r>
            <a:r>
              <a:rPr lang="en-US" sz="1467">
                <a:solidFill>
                  <a:schemeClr val="tx1"/>
                </a:solidFill>
                <a:latin typeface="AirbnbCereal_W_Md Med" panose="020B0602020203020204" pitchFamily="34" charset="-18"/>
                <a:ea typeface="AirbnbCereal_W_Md Med" panose="020B0602020203020204" pitchFamily="34" charset="-18"/>
                <a:cs typeface="AirbnbCereal_W_Md Med" panose="020B0602020203020204" pitchFamily="34" charset="-18"/>
              </a:rPr>
              <a:t>2025</a:t>
            </a:r>
          </a:p>
        </p:txBody>
      </p:sp>
    </p:spTree>
    <p:extLst>
      <p:ext uri="{BB962C8B-B14F-4D97-AF65-F5344CB8AC3E}">
        <p14:creationId xmlns:p14="http://schemas.microsoft.com/office/powerpoint/2010/main" val="32132782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0"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l="13483" t="23045" r="54224" b="23088"/>
          <a:stretch/>
        </p:blipFill>
        <p:spPr>
          <a:xfrm>
            <a:off x="4453844" y="1803401"/>
            <a:ext cx="3284312" cy="3242212"/>
          </a:xfrm>
          <a:prstGeom prst="rect">
            <a:avLst/>
          </a:prstGeom>
        </p:spPr>
      </p:pic>
    </p:spTree>
    <p:extLst>
      <p:ext uri="{BB962C8B-B14F-4D97-AF65-F5344CB8AC3E}">
        <p14:creationId xmlns:p14="http://schemas.microsoft.com/office/powerpoint/2010/main" val="3683883655"/>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lide Dark Blue Wide">
    <p:bg>
      <p:bgPr>
        <a:solidFill>
          <a:srgbClr val="0A385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529F1A3-DA06-3597-CF6E-1EC74AA9DC0B}"/>
              </a:ext>
            </a:extLst>
          </p:cNvPr>
          <p:cNvSpPr>
            <a:spLocks noGrp="1"/>
          </p:cNvSpPr>
          <p:nvPr>
            <p:ph type="ctrTitle"/>
          </p:nvPr>
        </p:nvSpPr>
        <p:spPr>
          <a:xfrm>
            <a:off x="406400" y="5000071"/>
            <a:ext cx="11379200" cy="571556"/>
          </a:xfrm>
        </p:spPr>
        <p:txBody>
          <a:bodyPr>
            <a:noAutofit/>
          </a:bodyPr>
          <a:lstStyle>
            <a:lvl1pPr>
              <a:lnSpc>
                <a:spcPct val="100000"/>
              </a:lnSpc>
              <a:defRPr sz="2667" b="0" baseline="0">
                <a:solidFill>
                  <a:schemeClr val="tx1"/>
                </a:solidFill>
                <a:latin typeface="Alda Pro" pitchFamily="50" charset="0"/>
              </a:defRPr>
            </a:lvl1pPr>
          </a:lstStyle>
          <a:p>
            <a:r>
              <a:rPr lang="en-US"/>
              <a:t>Click to edit Master title style</a:t>
            </a:r>
          </a:p>
        </p:txBody>
      </p:sp>
      <p:sp>
        <p:nvSpPr>
          <p:cNvPr id="12" name="Slide Number Placeholder 9">
            <a:extLst>
              <a:ext uri="{FF2B5EF4-FFF2-40B4-BE49-F238E27FC236}">
                <a16:creationId xmlns:a16="http://schemas.microsoft.com/office/drawing/2014/main" id="{6A2D2AFE-B1C6-ED8A-B793-E8882B34141E}"/>
              </a:ext>
            </a:extLst>
          </p:cNvPr>
          <p:cNvSpPr txBox="1">
            <a:spLocks/>
          </p:cNvSpPr>
          <p:nvPr userDrawn="1"/>
        </p:nvSpPr>
        <p:spPr>
          <a:xfrm>
            <a:off x="11493849" y="6583401"/>
            <a:ext cx="304800" cy="138500"/>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
        <p:nvSpPr>
          <p:cNvPr id="13" name="TextBox 12">
            <a:extLst>
              <a:ext uri="{FF2B5EF4-FFF2-40B4-BE49-F238E27FC236}">
                <a16:creationId xmlns:a16="http://schemas.microsoft.com/office/drawing/2014/main" id="{4B6468CF-AFEE-BE66-6F4A-6EA3010A62D1}"/>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2" name="Picture 1">
            <a:extLst>
              <a:ext uri="{FF2B5EF4-FFF2-40B4-BE49-F238E27FC236}">
                <a16:creationId xmlns:a16="http://schemas.microsoft.com/office/drawing/2014/main" id="{6F35B463-55D5-C686-40B8-A1B41C679AA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30109465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Title Dark Blue Slide">
    <p:bg>
      <p:bgPr>
        <a:solidFill>
          <a:srgbClr val="0A385E"/>
        </a:solidFill>
        <a:effectLst/>
      </p:bgPr>
    </p:bg>
    <p:spTree>
      <p:nvGrpSpPr>
        <p:cNvPr id="1" name=""/>
        <p:cNvGrpSpPr/>
        <p:nvPr/>
      </p:nvGrpSpPr>
      <p:grpSpPr>
        <a:xfrm>
          <a:off x="0" y="0"/>
          <a:ext cx="0" cy="0"/>
          <a:chOff x="0" y="0"/>
          <a:chExt cx="0" cy="0"/>
        </a:xfrm>
      </p:grpSpPr>
      <p:sp>
        <p:nvSpPr>
          <p:cNvPr id="12" name="Title 1"/>
          <p:cNvSpPr>
            <a:spLocks noGrp="1"/>
          </p:cNvSpPr>
          <p:nvPr>
            <p:ph type="ctrTitle"/>
          </p:nvPr>
        </p:nvSpPr>
        <p:spPr>
          <a:xfrm>
            <a:off x="402175" y="3858619"/>
            <a:ext cx="6326400" cy="1116956"/>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406431" y="5155866"/>
            <a:ext cx="6326400" cy="739663"/>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spTree>
    <p:extLst>
      <p:ext uri="{BB962C8B-B14F-4D97-AF65-F5344CB8AC3E}">
        <p14:creationId xmlns:p14="http://schemas.microsoft.com/office/powerpoint/2010/main" val="16498896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B2D4E4">
            <a:alpha val="60000"/>
          </a:srgbClr>
        </a:solidFill>
        <a:effectLst/>
      </p:bgPr>
    </p:bg>
    <p:spTree>
      <p:nvGrpSpPr>
        <p:cNvPr id="1" name=""/>
        <p:cNvGrpSpPr/>
        <p:nvPr/>
      </p:nvGrpSpPr>
      <p:grpSpPr>
        <a:xfrm>
          <a:off x="0" y="0"/>
          <a:ext cx="0" cy="0"/>
          <a:chOff x="0" y="0"/>
          <a:chExt cx="0" cy="0"/>
        </a:xfrm>
      </p:grpSpPr>
      <p:sp>
        <p:nvSpPr>
          <p:cNvPr id="14" name="Rectangle 13"/>
          <p:cNvSpPr/>
          <p:nvPr userDrawn="1"/>
        </p:nvSpPr>
        <p:spPr>
          <a:xfrm>
            <a:off x="3053699" y="-4641"/>
            <a:ext cx="9138303" cy="5947873"/>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3434215" y="2797491"/>
            <a:ext cx="8347588" cy="1513487"/>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13" name="Subtitle 2"/>
          <p:cNvSpPr>
            <a:spLocks noGrp="1"/>
          </p:cNvSpPr>
          <p:nvPr>
            <p:ph type="subTitle" idx="1"/>
          </p:nvPr>
        </p:nvSpPr>
        <p:spPr>
          <a:xfrm>
            <a:off x="3434217" y="4969617"/>
            <a:ext cx="8364431" cy="978256"/>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pic>
        <p:nvPicPr>
          <p:cNvPr id="11" name="Picture 10">
            <a:extLst>
              <a:ext uri="{FF2B5EF4-FFF2-40B4-BE49-F238E27FC236}">
                <a16:creationId xmlns:a16="http://schemas.microsoft.com/office/drawing/2014/main" id="{560BF22C-E590-CD41-770E-F562BAFB896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0197" y="2815964"/>
            <a:ext cx="2244696" cy="378065"/>
          </a:xfrm>
          <a:prstGeom prst="rect">
            <a:avLst/>
          </a:prstGeom>
        </p:spPr>
      </p:pic>
      <p:sp>
        <p:nvSpPr>
          <p:cNvPr id="16" name="Slide Number Placeholder 9">
            <a:extLst>
              <a:ext uri="{FF2B5EF4-FFF2-40B4-BE49-F238E27FC236}">
                <a16:creationId xmlns:a16="http://schemas.microsoft.com/office/drawing/2014/main" id="{491AE6F0-1557-928A-B369-1FFFC0D3976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7" name="TextBox 16">
            <a:extLst>
              <a:ext uri="{FF2B5EF4-FFF2-40B4-BE49-F238E27FC236}">
                <a16:creationId xmlns:a16="http://schemas.microsoft.com/office/drawing/2014/main" id="{6D9D738B-1DAE-15AF-E31D-BA63F5272083}"/>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Tree>
    <p:extLst>
      <p:ext uri="{BB962C8B-B14F-4D97-AF65-F5344CB8AC3E}">
        <p14:creationId xmlns:p14="http://schemas.microsoft.com/office/powerpoint/2010/main" val="9230518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Wide">
    <p:bg>
      <p:bgPr>
        <a:solidFill>
          <a:schemeClr val="tx1"/>
        </a:solidFill>
        <a:effectLst/>
      </p:bgPr>
    </p:bg>
    <p:spTree>
      <p:nvGrpSpPr>
        <p:cNvPr id="1" name=""/>
        <p:cNvGrpSpPr/>
        <p:nvPr/>
      </p:nvGrpSpPr>
      <p:grpSpPr>
        <a:xfrm>
          <a:off x="0" y="0"/>
          <a:ext cx="0" cy="0"/>
          <a:chOff x="0" y="0"/>
          <a:chExt cx="0" cy="0"/>
        </a:xfrm>
      </p:grpSpPr>
      <p:sp>
        <p:nvSpPr>
          <p:cNvPr id="14" name="Rectangle 13"/>
          <p:cNvSpPr/>
          <p:nvPr userDrawn="1"/>
        </p:nvSpPr>
        <p:spPr>
          <a:xfrm>
            <a:off x="0" y="2"/>
            <a:ext cx="12192000" cy="5943599"/>
          </a:xfrm>
          <a:prstGeom prst="rect">
            <a:avLst/>
          </a:prstGeom>
          <a:solidFill>
            <a:srgbClr val="0A38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lvl="0" algn="ctr"/>
            <a:endParaRPr lang="en-US"/>
          </a:p>
        </p:txBody>
      </p:sp>
      <p:sp>
        <p:nvSpPr>
          <p:cNvPr id="12" name="Title 1"/>
          <p:cNvSpPr>
            <a:spLocks noGrp="1"/>
          </p:cNvSpPr>
          <p:nvPr>
            <p:ph type="ctrTitle"/>
          </p:nvPr>
        </p:nvSpPr>
        <p:spPr>
          <a:xfrm>
            <a:off x="406400" y="2961805"/>
            <a:ext cx="5689600" cy="1731575"/>
          </a:xfrm>
        </p:spPr>
        <p:txBody>
          <a:bodyPr>
            <a:noAutofit/>
          </a:bodyPr>
          <a:lstStyle>
            <a:lvl1pPr>
              <a:lnSpc>
                <a:spcPct val="100000"/>
              </a:lnSpc>
              <a:defRPr sz="3200" b="0" baseline="0">
                <a:solidFill>
                  <a:schemeClr val="tx1"/>
                </a:solidFill>
                <a:latin typeface="Alda Pro" pitchFamily="50" charset="0"/>
              </a:defRPr>
            </a:lvl1pPr>
          </a:lstStyle>
          <a:p>
            <a:r>
              <a:rPr lang="en-US"/>
              <a:t>Click to edit Master title style</a:t>
            </a:r>
          </a:p>
        </p:txBody>
      </p:sp>
      <p:sp>
        <p:nvSpPr>
          <p:cNvPr id="9" name="Rectangle 8">
            <a:extLst>
              <a:ext uri="{FF2B5EF4-FFF2-40B4-BE49-F238E27FC236}">
                <a16:creationId xmlns:a16="http://schemas.microsoft.com/office/drawing/2014/main" id="{9AD69C26-6051-E69B-97F3-5D15868C56E3}"/>
              </a:ext>
            </a:extLst>
          </p:cNvPr>
          <p:cNvSpPr/>
          <p:nvPr userDrawn="1"/>
        </p:nvSpPr>
        <p:spPr bwMode="ltGray">
          <a:xfrm>
            <a:off x="0" y="-4791"/>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sp>
        <p:nvSpPr>
          <p:cNvPr id="13" name="Subtitle 2"/>
          <p:cNvSpPr>
            <a:spLocks noGrp="1"/>
          </p:cNvSpPr>
          <p:nvPr>
            <p:ph type="subTitle" idx="1"/>
          </p:nvPr>
        </p:nvSpPr>
        <p:spPr>
          <a:xfrm>
            <a:off x="406401" y="5333181"/>
            <a:ext cx="5689601" cy="638863"/>
          </a:xfrm>
          <a:prstGeom prst="rect">
            <a:avLst/>
          </a:prstGeom>
        </p:spPr>
        <p:txBody>
          <a:bodyPr rtlCol="0">
            <a:noAutofit/>
          </a:bodyPr>
          <a:lstStyle>
            <a:lvl1pPr marL="0" indent="0" algn="l" defTabSz="1218996" rtl="0" eaLnBrk="1" latinLnBrk="0" hangingPunct="1">
              <a:lnSpc>
                <a:spcPct val="100000"/>
              </a:lnSpc>
              <a:spcBef>
                <a:spcPts val="0"/>
              </a:spcBef>
              <a:buFont typeface="Arial" pitchFamily="34" charset="0"/>
              <a:buNone/>
              <a:defRPr lang="en-US" sz="2400" b="0" kern="1200" baseline="0" dirty="0">
                <a:solidFill>
                  <a:schemeClr val="tx1"/>
                </a:solidFill>
                <a:latin typeface="Effra Pro" panose="020B0603020203020204" pitchFamily="34" charset="0"/>
                <a:ea typeface="+mn-ea"/>
                <a:cs typeface="+mn-cs"/>
              </a:defRPr>
            </a:lvl1pPr>
            <a:lvl2pPr marL="609498" indent="0" algn="ctr">
              <a:buNone/>
              <a:defRPr>
                <a:solidFill>
                  <a:schemeClr val="tx1">
                    <a:tint val="75000"/>
                  </a:schemeClr>
                </a:solidFill>
              </a:defRPr>
            </a:lvl2pPr>
            <a:lvl3pPr marL="1218996" indent="0" algn="ctr">
              <a:buNone/>
              <a:defRPr>
                <a:solidFill>
                  <a:schemeClr val="tx1">
                    <a:tint val="75000"/>
                  </a:schemeClr>
                </a:solidFill>
              </a:defRPr>
            </a:lvl3pPr>
            <a:lvl4pPr marL="1828496" indent="0" algn="ctr">
              <a:buNone/>
              <a:defRPr>
                <a:solidFill>
                  <a:schemeClr val="tx1">
                    <a:tint val="75000"/>
                  </a:schemeClr>
                </a:solidFill>
              </a:defRPr>
            </a:lvl4pPr>
            <a:lvl5pPr marL="2437994" indent="0" algn="ctr">
              <a:buNone/>
              <a:defRPr>
                <a:solidFill>
                  <a:schemeClr val="tx1">
                    <a:tint val="75000"/>
                  </a:schemeClr>
                </a:solidFill>
              </a:defRPr>
            </a:lvl5pPr>
            <a:lvl6pPr marL="3047492" indent="0" algn="ctr">
              <a:buNone/>
              <a:defRPr>
                <a:solidFill>
                  <a:schemeClr val="tx1">
                    <a:tint val="75000"/>
                  </a:schemeClr>
                </a:solidFill>
              </a:defRPr>
            </a:lvl6pPr>
            <a:lvl7pPr marL="3656990" indent="0" algn="ctr">
              <a:buNone/>
              <a:defRPr>
                <a:solidFill>
                  <a:schemeClr val="tx1">
                    <a:tint val="75000"/>
                  </a:schemeClr>
                </a:solidFill>
              </a:defRPr>
            </a:lvl7pPr>
            <a:lvl8pPr marL="4266488" indent="0" algn="ctr">
              <a:buNone/>
              <a:defRPr>
                <a:solidFill>
                  <a:schemeClr val="tx1">
                    <a:tint val="75000"/>
                  </a:schemeClr>
                </a:solidFill>
              </a:defRPr>
            </a:lvl8pPr>
            <a:lvl9pPr marL="4875985" indent="0" algn="ctr">
              <a:buNone/>
              <a:defRPr>
                <a:solidFill>
                  <a:schemeClr val="tx1">
                    <a:tint val="75000"/>
                  </a:schemeClr>
                </a:solidFill>
              </a:defRPr>
            </a:lvl9pPr>
          </a:lstStyle>
          <a:p>
            <a:pPr>
              <a:spcBef>
                <a:spcPct val="0"/>
              </a:spcBef>
            </a:pPr>
            <a:r>
              <a:rPr lang="en-US"/>
              <a:t>Click to edit Master subtitle style</a:t>
            </a:r>
          </a:p>
        </p:txBody>
      </p:sp>
      <p:pic>
        <p:nvPicPr>
          <p:cNvPr id="3" name="Picture 2">
            <a:extLst>
              <a:ext uri="{FF2B5EF4-FFF2-40B4-BE49-F238E27FC236}">
                <a16:creationId xmlns:a16="http://schemas.microsoft.com/office/drawing/2014/main" id="{0BD23008-9FB7-4B48-7405-3B28D52F4DE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6399" y="481934"/>
            <a:ext cx="2567711" cy="432468"/>
          </a:xfrm>
          <a:prstGeom prst="rect">
            <a:avLst/>
          </a:prstGeom>
        </p:spPr>
      </p:pic>
    </p:spTree>
    <p:extLst>
      <p:ext uri="{BB962C8B-B14F-4D97-AF65-F5344CB8AC3E}">
        <p14:creationId xmlns:p14="http://schemas.microsoft.com/office/powerpoint/2010/main" val="7518042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93917"/>
            <a:ext cx="1343087" cy="226211"/>
          </a:xfrm>
          <a:prstGeom prst="rect">
            <a:avLst/>
          </a:prstGeom>
        </p:spPr>
      </p:pic>
    </p:spTree>
    <p:extLst>
      <p:ext uri="{BB962C8B-B14F-4D97-AF65-F5344CB8AC3E}">
        <p14:creationId xmlns:p14="http://schemas.microsoft.com/office/powerpoint/2010/main" val="418610713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mp; Content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00991" cy="682752"/>
          </a:xfrm>
        </p:spPr>
        <p:txBody>
          <a:bodyPr/>
          <a:lstStyle>
            <a:lvl1pPr>
              <a:defRPr>
                <a:solidFill>
                  <a:schemeClr val="tx1"/>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tx1"/>
                </a:solidFill>
                <a:latin typeface="Effra Pro" panose="020B0603020203020204" pitchFamily="34" charset="0"/>
              </a:defRPr>
            </a:lvl1pPr>
            <a:lvl2pPr>
              <a:defRPr sz="2400">
                <a:solidFill>
                  <a:schemeClr val="tx1"/>
                </a:solidFill>
                <a:latin typeface="Effra Pro" panose="020B0603020203020204" pitchFamily="34" charset="0"/>
              </a:defRPr>
            </a:lvl2pPr>
            <a:lvl3pPr>
              <a:defRPr sz="2133">
                <a:solidFill>
                  <a:schemeClr val="tx1"/>
                </a:solidFill>
                <a:latin typeface="Effra Pro" panose="020B0603020203020204" pitchFamily="34" charset="0"/>
              </a:defRPr>
            </a:lvl3pPr>
            <a:lvl4pPr>
              <a:defRPr sz="2133">
                <a:solidFill>
                  <a:schemeClr val="tx1"/>
                </a:solidFill>
                <a:latin typeface="Effra Pro" panose="020B0603020203020204" pitchFamily="34" charset="0"/>
              </a:defRPr>
            </a:lvl4pPr>
            <a:lvl5pPr>
              <a:defRPr sz="2133">
                <a:solidFill>
                  <a:schemeClr val="tx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chemeClr val="tx1"/>
                </a:solidFill>
                <a:latin typeface="Effra Pro" panose="020B0603020203020204" pitchFamily="34" charset="0"/>
              </a:defRPr>
            </a:lvl1pPr>
            <a:lvl2pPr marL="609570" indent="0">
              <a:buNone/>
              <a:defRPr/>
            </a:lvl2pPr>
          </a:lstStyle>
          <a:p>
            <a:pPr lvl="0"/>
            <a:r>
              <a:rPr lang="en-US"/>
              <a:t>Click to edit Master text styles</a:t>
            </a:r>
          </a:p>
        </p:txBody>
      </p:sp>
      <p:pic>
        <p:nvPicPr>
          <p:cNvPr id="8" name="Picture 7">
            <a:extLst>
              <a:ext uri="{FF2B5EF4-FFF2-40B4-BE49-F238E27FC236}">
                <a16:creationId xmlns:a16="http://schemas.microsoft.com/office/drawing/2014/main" id="{76BB4121-411C-E959-BFE2-82AA4671FC6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89499"/>
            <a:ext cx="1343087" cy="226211"/>
          </a:xfrm>
          <a:prstGeom prst="rect">
            <a:avLst/>
          </a:prstGeom>
        </p:spPr>
      </p:pic>
    </p:spTree>
    <p:extLst>
      <p:ext uri="{BB962C8B-B14F-4D97-AF65-F5344CB8AC3E}">
        <p14:creationId xmlns:p14="http://schemas.microsoft.com/office/powerpoint/2010/main" val="38786363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mp; Content Whit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76295"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4" y="931978"/>
            <a:ext cx="11408507" cy="651540"/>
          </a:xfrm>
        </p:spPr>
        <p:txBody>
          <a:bodyPr/>
          <a:lstStyle>
            <a:lvl1pPr marL="0" indent="0">
              <a:buNone/>
              <a:defRPr sz="2400" b="0">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16502069-9F9E-3DE8-FE38-93507AD5B71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122620916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A385E"/>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406402" y="3145418"/>
            <a:ext cx="4310879" cy="1252820"/>
          </a:xfrm>
        </p:spPr>
        <p:txBody>
          <a:bodyPr anchor="t" anchorCtr="0">
            <a:noAutofit/>
          </a:bodyPr>
          <a:lstStyle>
            <a:lvl1pPr algn="l">
              <a:lnSpc>
                <a:spcPct val="100000"/>
              </a:lnSpc>
              <a:defRPr sz="3200" b="0" cap="none">
                <a:solidFill>
                  <a:schemeClr val="tx1"/>
                </a:solidFill>
                <a:latin typeface="Alda Pro" pitchFamily="50" charset="0"/>
              </a:defRPr>
            </a:lvl1pPr>
          </a:lstStyle>
          <a:p>
            <a:r>
              <a:rPr lang="en-US"/>
              <a:t>Click to edit Master title style</a:t>
            </a:r>
          </a:p>
        </p:txBody>
      </p:sp>
      <p:sp>
        <p:nvSpPr>
          <p:cNvPr id="4" name="Slide Number Placeholder 9">
            <a:extLst>
              <a:ext uri="{FF2B5EF4-FFF2-40B4-BE49-F238E27FC236}">
                <a16:creationId xmlns:a16="http://schemas.microsoft.com/office/drawing/2014/main" id="{A751E4CE-FA75-6B82-38DF-65371AF4DBF6}"/>
              </a:ext>
            </a:extLst>
          </p:cNvPr>
          <p:cNvSpPr txBox="1">
            <a:spLocks/>
          </p:cNvSpPr>
          <p:nvPr userDrawn="1"/>
        </p:nvSpPr>
        <p:spPr>
          <a:xfrm>
            <a:off x="11493849" y="6583401"/>
            <a:ext cx="304800" cy="138500"/>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
        <p:nvSpPr>
          <p:cNvPr id="7" name="TextBox 6">
            <a:extLst>
              <a:ext uri="{FF2B5EF4-FFF2-40B4-BE49-F238E27FC236}">
                <a16:creationId xmlns:a16="http://schemas.microsoft.com/office/drawing/2014/main" id="{95CF1ACF-4343-65A6-5176-49C3ABFCEE53}"/>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2" name="Rectangle 1">
            <a:extLst>
              <a:ext uri="{FF2B5EF4-FFF2-40B4-BE49-F238E27FC236}">
                <a16:creationId xmlns:a16="http://schemas.microsoft.com/office/drawing/2014/main" id="{B6E53E59-C874-5438-DA93-2459D6CC55C6}"/>
              </a:ext>
            </a:extLst>
          </p:cNvPr>
          <p:cNvSpPr/>
          <p:nvPr userDrawn="1"/>
        </p:nvSpPr>
        <p:spPr bwMode="ltGray">
          <a:xfrm>
            <a:off x="0" y="-4791"/>
            <a:ext cx="12192000" cy="1402080"/>
          </a:xfrm>
          <a:prstGeom prst="rect">
            <a:avLst/>
          </a:prstGeom>
          <a:solidFill>
            <a:srgbClr val="B2D4E4"/>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6" name="Picture 5">
            <a:extLst>
              <a:ext uri="{FF2B5EF4-FFF2-40B4-BE49-F238E27FC236}">
                <a16:creationId xmlns:a16="http://schemas.microsoft.com/office/drawing/2014/main" id="{B8956E04-F1EC-92A3-974D-E220A954D93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6399" y="481934"/>
            <a:ext cx="2567711" cy="432468"/>
          </a:xfrm>
          <a:prstGeom prst="rect">
            <a:avLst/>
          </a:prstGeom>
        </p:spPr>
      </p:pic>
    </p:spTree>
    <p:extLst>
      <p:ext uri="{BB962C8B-B14F-4D97-AF65-F5344CB8AC3E}">
        <p14:creationId xmlns:p14="http://schemas.microsoft.com/office/powerpoint/2010/main" val="33611273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5"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5" y="920584"/>
            <a:ext cx="11408497" cy="739344"/>
          </a:xfrm>
        </p:spPr>
        <p:txBody>
          <a:bodyPr/>
          <a:lstStyle>
            <a:lvl1pPr marL="0" indent="0">
              <a:buNone/>
              <a:defRPr>
                <a:solidFill>
                  <a:srgbClr val="0A3C53"/>
                </a:solidFill>
                <a:latin typeface="Effra Pro" panose="020B0603020203020204" pitchFamily="34" charset="0"/>
              </a:defRPr>
            </a:lvl1pPr>
            <a:lvl2pPr marL="609570" indent="0">
              <a:buNone/>
              <a:defRPr/>
            </a:lvl2pPr>
          </a:lstStyle>
          <a:p>
            <a:pPr lvl="0"/>
            <a:r>
              <a:rPr lang="en-US"/>
              <a:t>Click to edit Master text styles</a:t>
            </a:r>
          </a:p>
        </p:txBody>
      </p:sp>
      <p:pic>
        <p:nvPicPr>
          <p:cNvPr id="4" name="Picture 3">
            <a:extLst>
              <a:ext uri="{FF2B5EF4-FFF2-40B4-BE49-F238E27FC236}">
                <a16:creationId xmlns:a16="http://schemas.microsoft.com/office/drawing/2014/main" id="{A939D159-3D30-0E0E-2BD1-9355452D8D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99264"/>
            <a:ext cx="1343087" cy="226211"/>
          </a:xfrm>
          <a:prstGeom prst="rect">
            <a:avLst/>
          </a:prstGeom>
        </p:spPr>
      </p:pic>
    </p:spTree>
    <p:extLst>
      <p:ext uri="{BB962C8B-B14F-4D97-AF65-F5344CB8AC3E}">
        <p14:creationId xmlns:p14="http://schemas.microsoft.com/office/powerpoint/2010/main" val="9106035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s Only Dark Blue">
    <p:bg>
      <p:bgPr>
        <a:solidFill>
          <a:srgbClr val="0A385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1"/>
            <a:ext cx="10457317" cy="609601"/>
          </a:xfrm>
        </p:spPr>
        <p:txBody>
          <a:bodyPr/>
          <a:lstStyle>
            <a:lvl1pPr>
              <a:defRPr>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390144" y="792482"/>
            <a:ext cx="11408496" cy="893233"/>
          </a:xfrm>
        </p:spPr>
        <p:txBody>
          <a:bodyPr/>
          <a:lstStyle>
            <a:lvl1pPr marL="0" indent="0">
              <a:buNone/>
              <a:defRPr>
                <a:solidFill>
                  <a:schemeClr val="tx1"/>
                </a:solidFill>
                <a:latin typeface="Effra Pro" panose="020B0603020203020204" pitchFamily="34" charset="0"/>
              </a:defRPr>
            </a:lvl1pPr>
            <a:lvl2pPr marL="609570" indent="0">
              <a:buNone/>
              <a:defRPr/>
            </a:lvl2pPr>
          </a:lstStyle>
          <a:p>
            <a:pPr lvl="0"/>
            <a:r>
              <a:rPr lang="en-US"/>
              <a:t>Click to edit Master text styles</a:t>
            </a:r>
          </a:p>
        </p:txBody>
      </p:sp>
      <p:sp>
        <p:nvSpPr>
          <p:cNvPr id="7" name="Slide Number Placeholder 9">
            <a:extLst>
              <a:ext uri="{FF2B5EF4-FFF2-40B4-BE49-F238E27FC236}">
                <a16:creationId xmlns:a16="http://schemas.microsoft.com/office/drawing/2014/main" id="{82753250-AB15-D338-886B-ADA77DEAB5A6}"/>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8" name="TextBox 7">
            <a:extLst>
              <a:ext uri="{FF2B5EF4-FFF2-40B4-BE49-F238E27FC236}">
                <a16:creationId xmlns:a16="http://schemas.microsoft.com/office/drawing/2014/main" id="{0D84ED21-DF0A-64CE-033F-AE56DAE27A9F}"/>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9" name="Picture 8">
            <a:extLst>
              <a:ext uri="{FF2B5EF4-FFF2-40B4-BE49-F238E27FC236}">
                <a16:creationId xmlns:a16="http://schemas.microsoft.com/office/drawing/2014/main" id="{E7DD41D7-6DD2-BFE7-D453-6DEDB9D0AB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22288071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chemeClr val="tx1"/>
        </a:solidFill>
        <a:effectLst/>
      </p:bgPr>
    </p:bg>
    <p:spTree>
      <p:nvGrpSpPr>
        <p:cNvPr id="1" name=""/>
        <p:cNvGrpSpPr/>
        <p:nvPr/>
      </p:nvGrpSpPr>
      <p:grpSpPr>
        <a:xfrm>
          <a:off x="0" y="0"/>
          <a:ext cx="0" cy="0"/>
          <a:chOff x="0" y="0"/>
          <a:chExt cx="0" cy="0"/>
        </a:xfrm>
      </p:grpSpPr>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400"/>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7" y="6574486"/>
            <a:ext cx="4889500" cy="138500"/>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3" name="Picture 2">
            <a:extLst>
              <a:ext uri="{FF2B5EF4-FFF2-40B4-BE49-F238E27FC236}">
                <a16:creationId xmlns:a16="http://schemas.microsoft.com/office/drawing/2014/main" id="{FE21A419-5D5F-8A0F-7F85-9084494A7A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192317"/>
            <a:ext cx="1343087" cy="226211"/>
          </a:xfrm>
          <a:prstGeom prst="rect">
            <a:avLst/>
          </a:prstGeom>
        </p:spPr>
      </p:pic>
    </p:spTree>
    <p:extLst>
      <p:ext uri="{BB962C8B-B14F-4D97-AF65-F5344CB8AC3E}">
        <p14:creationId xmlns:p14="http://schemas.microsoft.com/office/powerpoint/2010/main" val="79355631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9139-127F-8583-3E63-D0500205C1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289499"/>
            <a:ext cx="1343087" cy="226211"/>
          </a:xfrm>
          <a:prstGeom prst="rect">
            <a:avLst/>
          </a:prstGeom>
        </p:spPr>
      </p:pic>
    </p:spTree>
    <p:extLst>
      <p:ext uri="{BB962C8B-B14F-4D97-AF65-F5344CB8AC3E}">
        <p14:creationId xmlns:p14="http://schemas.microsoft.com/office/powerpoint/2010/main" val="401925345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Dark Blue">
    <p:bg>
      <p:bgPr>
        <a:solidFill>
          <a:srgbClr val="0A385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9139-127F-8583-3E63-D0500205C1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55563" y="6317363"/>
            <a:ext cx="1343087" cy="226211"/>
          </a:xfrm>
          <a:prstGeom prst="rect">
            <a:avLst/>
          </a:prstGeom>
        </p:spPr>
      </p:pic>
    </p:spTree>
    <p:extLst>
      <p:ext uri="{BB962C8B-B14F-4D97-AF65-F5344CB8AC3E}">
        <p14:creationId xmlns:p14="http://schemas.microsoft.com/office/powerpoint/2010/main" val="130862658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B2D4E4">
            <a:alpha val="6000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775869-9BE2-C91E-FE1C-C531659F2D5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519675" y="2543618"/>
            <a:ext cx="5152653" cy="867841"/>
          </a:xfrm>
          <a:prstGeom prst="rect">
            <a:avLst/>
          </a:prstGeom>
        </p:spPr>
      </p:pic>
    </p:spTree>
    <p:extLst>
      <p:ext uri="{BB962C8B-B14F-4D97-AF65-F5344CB8AC3E}">
        <p14:creationId xmlns:p14="http://schemas.microsoft.com/office/powerpoint/2010/main" val="251701728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B2D4E4">
            <a:alpha val="60000"/>
          </a:srgbClr>
        </a:solidFill>
        <a:effectLst/>
      </p:bgPr>
    </p:bg>
    <p:spTree>
      <p:nvGrpSpPr>
        <p:cNvPr id="1" name=""/>
        <p:cNvGrpSpPr/>
        <p:nvPr/>
      </p:nvGrpSpPr>
      <p:grpSpPr>
        <a:xfrm>
          <a:off x="0" y="0"/>
          <a:ext cx="0" cy="0"/>
          <a:chOff x="0" y="0"/>
          <a:chExt cx="0" cy="0"/>
        </a:xfrm>
      </p:grpSpPr>
      <p:sp>
        <p:nvSpPr>
          <p:cNvPr id="2" name="Rectangle 1"/>
          <p:cNvSpPr/>
          <p:nvPr userDrawn="1"/>
        </p:nvSpPr>
        <p:spPr bwMode="ltGray">
          <a:xfrm>
            <a:off x="4715071" y="2090057"/>
            <a:ext cx="2761860" cy="2718056"/>
          </a:xfrm>
          <a:prstGeom prst="rect">
            <a:avLst/>
          </a:prstGeom>
          <a:solidFill>
            <a:schemeClr val="bg1"/>
          </a:solidFill>
          <a:ln w="12700" cap="flat" cmpd="sng" algn="ctr">
            <a:noFill/>
            <a:prstDash val="solid"/>
            <a:round/>
            <a:headEnd type="none" w="sm" len="sm"/>
            <a:tailEnd type="none" w="sm" len="sm"/>
          </a:ln>
        </p:spPr>
        <p:txBody>
          <a:bodyPr rtlCol="0" anchor="ctr"/>
          <a:lstStyle/>
          <a:p>
            <a:pPr algn="ctr"/>
            <a:endParaRPr lang="en-US">
              <a:latin typeface="+mj-lt"/>
            </a:endParaRPr>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53844" y="1803402"/>
            <a:ext cx="3284312" cy="3242212"/>
          </a:xfrm>
          <a:prstGeom prst="rect">
            <a:avLst/>
          </a:prstGeom>
        </p:spPr>
      </p:pic>
    </p:spTree>
    <p:extLst>
      <p:ext uri="{BB962C8B-B14F-4D97-AF65-F5344CB8AC3E}">
        <p14:creationId xmlns:p14="http://schemas.microsoft.com/office/powerpoint/2010/main" val="3483227670"/>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amp; Content">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445923"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9E3651F1-08A3-86F1-206B-F810C02D3112}"/>
              </a:ext>
            </a:extLst>
          </p:cNvPr>
          <p:cNvCxnSpPr>
            <a:cxnSpLocks/>
          </p:cNvCxnSpPr>
          <p:nvPr userDrawn="1"/>
        </p:nvCxnSpPr>
        <p:spPr>
          <a:xfrm>
            <a:off x="390153" y="1475864"/>
            <a:ext cx="11408497" cy="0"/>
          </a:xfrm>
          <a:prstGeom prst="line">
            <a:avLst/>
          </a:prstGeom>
          <a:ln>
            <a:solidFill>
              <a:srgbClr val="0042E8"/>
            </a:solidFill>
          </a:ln>
        </p:spPr>
        <p:style>
          <a:lnRef idx="1">
            <a:schemeClr val="accent1"/>
          </a:lnRef>
          <a:fillRef idx="0">
            <a:schemeClr val="accent1"/>
          </a:fillRef>
          <a:effectRef idx="0">
            <a:schemeClr val="accent1"/>
          </a:effectRef>
          <a:fontRef idx="minor">
            <a:schemeClr val="tx1"/>
          </a:fontRef>
        </p:style>
      </p:cxn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75705"/>
            <a:ext cx="304800" cy="153888"/>
          </a:xfrm>
          <a:prstGeom prst="rect">
            <a:avLst/>
          </a:prstGeom>
        </p:spPr>
        <p:txBody>
          <a:bodyPr vert="horz" wrap="square" lIns="0" tIns="0" rIns="0" bIns="0" rtlCol="0" anchor="ctr">
            <a:spAutoFit/>
          </a:bodyPr>
          <a:lstStyle>
            <a:lvl1pPr algn="r" fontAlgn="auto">
              <a:spcBef>
                <a:spcPts val="0"/>
              </a:spcBef>
              <a:spcAft>
                <a:spcPts val="0"/>
              </a:spcAft>
              <a:defRPr sz="1000" smtClean="0">
                <a:solidFill>
                  <a:srgbClr val="002840"/>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53888"/>
          </a:xfrm>
          <a:prstGeom prst="rect">
            <a:avLst/>
          </a:prstGeom>
          <a:noFill/>
        </p:spPr>
        <p:txBody>
          <a:bodyPr wrap="square" lIns="0" tIns="0" rIns="0" bIns="0" rtlCol="0">
            <a:spAutoFit/>
          </a:bodyPr>
          <a:lstStyle/>
          <a:p>
            <a:pPr algn="r"/>
            <a:r>
              <a:rPr lang="en-US" sz="1000">
                <a:solidFill>
                  <a:srgbClr val="002840"/>
                </a:solidFill>
                <a:latin typeface="Effra Pro" panose="020B0603020203020204" pitchFamily="34" charset="0"/>
              </a:rPr>
              <a:t>For internal use only. Not to be used with the public.</a:t>
            </a:r>
          </a:p>
        </p:txBody>
      </p:sp>
      <p:pic>
        <p:nvPicPr>
          <p:cNvPr id="7" name="Picture 6" descr="A blue and black logo  Description automatically generated">
            <a:extLst>
              <a:ext uri="{FF2B5EF4-FFF2-40B4-BE49-F238E27FC236}">
                <a16:creationId xmlns:a16="http://schemas.microsoft.com/office/drawing/2014/main" id="{C0F543E7-355B-FD1E-E417-53A4CC5A7AF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23192" y="6207262"/>
            <a:ext cx="1825749" cy="310377"/>
          </a:xfrm>
          <a:prstGeom prst="rect">
            <a:avLst/>
          </a:prstGeom>
        </p:spPr>
      </p:pic>
    </p:spTree>
    <p:extLst>
      <p:ext uri="{BB962C8B-B14F-4D97-AF65-F5344CB8AC3E}">
        <p14:creationId xmlns:p14="http://schemas.microsoft.com/office/powerpoint/2010/main" val="16776946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Agenda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6"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3" name="Rectangle: Rounded Corners 2">
            <a:extLst>
              <a:ext uri="{FF2B5EF4-FFF2-40B4-BE49-F238E27FC236}">
                <a16:creationId xmlns:a16="http://schemas.microsoft.com/office/drawing/2014/main" id="{D799F1DC-0D6F-AFDB-2736-2A213B66C2DA}"/>
              </a:ext>
            </a:extLst>
          </p:cNvPr>
          <p:cNvSpPr/>
          <p:nvPr userDrawn="1"/>
        </p:nvSpPr>
        <p:spPr>
          <a:xfrm>
            <a:off x="9077945" y="6214406"/>
            <a:ext cx="2437164" cy="421981"/>
          </a:xfrm>
          <a:prstGeom prst="roundRect">
            <a:avLst>
              <a:gd name="adj" fmla="val 7131"/>
            </a:avLst>
          </a:prstGeom>
          <a:solidFill>
            <a:srgbClr val="FFFFFF"/>
          </a:solidFill>
          <a:ln w="12700" cap="flat" cmpd="sng" algn="ctr">
            <a:solidFill>
              <a:srgbClr val="FF0000"/>
            </a:solidFill>
            <a:prstDash val="solid"/>
            <a:miter lim="800000"/>
          </a:ln>
          <a:effectLst/>
        </p:spPr>
        <p:txBody>
          <a:bodyPr wrap="square" lIns="18288" tIns="18288" rIns="18288" bIns="18288" rtlCol="0" anchor="ctr">
            <a:spAutoFit/>
          </a:bodyPr>
          <a:lstStyle/>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0000"/>
                </a:solidFill>
                <a:effectLst/>
                <a:uLnTx/>
                <a:uFillTx/>
                <a:ea typeface="+mn-ea"/>
                <a:cs typeface="+mn-cs"/>
              </a:rPr>
              <a:t>PRIVILEGED AND CONFIDENTIAL.</a:t>
            </a:r>
          </a:p>
          <a:p>
            <a:pPr marL="0" marR="0" lvl="0" indent="0" algn="ctr" defTabSz="914377"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FF0000"/>
                </a:solidFill>
                <a:effectLst/>
                <a:uLnTx/>
                <a:uFillTx/>
                <a:ea typeface="+mn-ea"/>
                <a:cs typeface="+mn-cs"/>
              </a:rPr>
              <a:t>INTERNAL USE ONLY. NOT TO BE DISTRIBUTED.</a:t>
            </a:r>
          </a:p>
        </p:txBody>
      </p:sp>
      <p:sp>
        <p:nvSpPr>
          <p:cNvPr id="4" name="TextBox 3">
            <a:extLst>
              <a:ext uri="{FF2B5EF4-FFF2-40B4-BE49-F238E27FC236}">
                <a16:creationId xmlns:a16="http://schemas.microsoft.com/office/drawing/2014/main" id="{CD62E374-DF87-4422-5E5F-AD7F7F5B3678}"/>
              </a:ext>
            </a:extLst>
          </p:cNvPr>
          <p:cNvSpPr txBox="1"/>
          <p:nvPr userDrawn="1"/>
        </p:nvSpPr>
        <p:spPr>
          <a:xfrm>
            <a:off x="772539" y="6192859"/>
            <a:ext cx="4931264" cy="276999"/>
          </a:xfrm>
          <a:prstGeom prst="rect">
            <a:avLst/>
          </a:prstGeom>
          <a:noFill/>
        </p:spPr>
        <p:txBody>
          <a:bodyPr wrap="square" rtlCol="0">
            <a:spAutoFit/>
          </a:bodyPr>
          <a:lstStyle/>
          <a:p>
            <a:r>
              <a:rPr lang="en-US" sz="1200" b="1" i="1">
                <a:solidFill>
                  <a:schemeClr val="tx2"/>
                </a:solidFill>
              </a:rPr>
              <a:t>“Promote integrity and humanity to ensure and protect growth.”</a:t>
            </a:r>
          </a:p>
        </p:txBody>
      </p:sp>
    </p:spTree>
    <p:extLst>
      <p:ext uri="{BB962C8B-B14F-4D97-AF65-F5344CB8AC3E}">
        <p14:creationId xmlns:p14="http://schemas.microsoft.com/office/powerpoint/2010/main" val="76334808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42127340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862652"/>
            <a:ext cx="10939462"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26269" y="1178214"/>
            <a:ext cx="10939462"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Title Placeholder 1">
            <a:extLst>
              <a:ext uri="{FF2B5EF4-FFF2-40B4-BE49-F238E27FC236}">
                <a16:creationId xmlns:a16="http://schemas.microsoft.com/office/drawing/2014/main" id="{B8DBD592-F085-1AD1-F2E5-21AFE28F03E9}"/>
              </a:ext>
            </a:extLst>
          </p:cNvPr>
          <p:cNvSpPr>
            <a:spLocks noGrp="1"/>
          </p:cNvSpPr>
          <p:nvPr>
            <p:ph type="title"/>
          </p:nvPr>
        </p:nvSpPr>
        <p:spPr>
          <a:xfrm>
            <a:off x="626269" y="493776"/>
            <a:ext cx="10939462" cy="54480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125850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itle Placeholder 1">
            <a:extLst>
              <a:ext uri="{FF2B5EF4-FFF2-40B4-BE49-F238E27FC236}">
                <a16:creationId xmlns:a16="http://schemas.microsoft.com/office/drawing/2014/main" id="{7DC46692-028A-73AD-0EBF-CFDDE25504EC}"/>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4194895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6592421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382358385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40108246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4626638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23890562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40668347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40247291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07878176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227938909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377537318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415877490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24353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54085113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246413253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206883682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605070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106998303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8117802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5460925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4368314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Webinar/Event Layout 2 headsho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DB92-AB9D-4418-6216-59EE5F676AE4}"/>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Add in event or webinar title</a:t>
            </a:r>
          </a:p>
        </p:txBody>
      </p:sp>
      <p:sp>
        <p:nvSpPr>
          <p:cNvPr id="3" name="Text Placeholder 7">
            <a:extLst>
              <a:ext uri="{FF2B5EF4-FFF2-40B4-BE49-F238E27FC236}">
                <a16:creationId xmlns:a16="http://schemas.microsoft.com/office/drawing/2014/main" id="{BE10FE7A-E00A-3D90-5D24-0526DDFBAB55}"/>
              </a:ext>
            </a:extLst>
          </p:cNvPr>
          <p:cNvSpPr>
            <a:spLocks noGrp="1"/>
          </p:cNvSpPr>
          <p:nvPr>
            <p:ph type="body" sz="quarter" idx="13" hasCustomPrompt="1"/>
          </p:nvPr>
        </p:nvSpPr>
        <p:spPr>
          <a:xfrm>
            <a:off x="393349" y="775858"/>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Month day, year and time ET of the event goes here</a:t>
            </a:r>
          </a:p>
        </p:txBody>
      </p:sp>
      <p:sp>
        <p:nvSpPr>
          <p:cNvPr id="4" name="Text Placeholder 4">
            <a:extLst>
              <a:ext uri="{FF2B5EF4-FFF2-40B4-BE49-F238E27FC236}">
                <a16:creationId xmlns:a16="http://schemas.microsoft.com/office/drawing/2014/main" id="{A5E1522F-5BA1-E933-7822-5CBA84429D67}"/>
              </a:ext>
            </a:extLst>
          </p:cNvPr>
          <p:cNvSpPr>
            <a:spLocks noGrp="1"/>
          </p:cNvSpPr>
          <p:nvPr>
            <p:ph type="body" sz="quarter" idx="14" hasCustomPrompt="1"/>
          </p:nvPr>
        </p:nvSpPr>
        <p:spPr>
          <a:xfrm>
            <a:off x="393349" y="1674813"/>
            <a:ext cx="5471120" cy="2791679"/>
          </a:xfrm>
          <a:prstGeom prst="rect">
            <a:avLst/>
          </a:prstGeom>
        </p:spPr>
        <p:txBody>
          <a:bodyPr/>
          <a:lstStyle>
            <a:lvl1pPr marL="0" indent="0">
              <a:buFont typeface="Arial" panose="020B0604020202020204" pitchFamily="34" charset="0"/>
              <a:buNone/>
              <a:defRPr sz="2000">
                <a:solidFill>
                  <a:schemeClr val="bg2"/>
                </a:solidFill>
              </a:defRPr>
            </a:lvl1pPr>
            <a:lvl2pPr marL="914377" indent="-304792">
              <a:buFont typeface="Arial" panose="020B0604020202020204" pitchFamily="34" charset="0"/>
              <a:buChar char="•"/>
              <a:defRPr sz="1600">
                <a:solidFill>
                  <a:schemeClr val="bg2"/>
                </a:solidFill>
              </a:defRPr>
            </a:lvl2pPr>
            <a:lvl3pPr>
              <a:defRPr sz="2000">
                <a:solidFill>
                  <a:schemeClr val="bg2"/>
                </a:solidFill>
              </a:defRPr>
            </a:lvl3pPr>
            <a:lvl4pPr>
              <a:defRPr sz="1800">
                <a:solidFill>
                  <a:schemeClr val="bg2"/>
                </a:solidFill>
              </a:defRPr>
            </a:lvl4pPr>
            <a:lvl5pPr>
              <a:defRPr sz="1800">
                <a:solidFill>
                  <a:schemeClr val="bg2"/>
                </a:solidFill>
              </a:defRPr>
            </a:lvl5pPr>
          </a:lstStyle>
          <a:p>
            <a:pPr lvl="0"/>
            <a:r>
              <a:rPr lang="en-US"/>
              <a:t>Briefly describe the event or webinar. </a:t>
            </a:r>
            <a:br>
              <a:rPr lang="en-US"/>
            </a:br>
            <a:r>
              <a:rPr lang="en-US"/>
              <a:t>Share some (2-3 benefits or things that will be highlighted below.)</a:t>
            </a:r>
          </a:p>
          <a:p>
            <a:pPr lvl="0"/>
            <a:r>
              <a:rPr lang="en-US" b="1" u="sng">
                <a:solidFill>
                  <a:schemeClr val="bg2"/>
                </a:solidFill>
                <a:latin typeface="Effra Pro" panose="020B0603020203020204" pitchFamily="34" charset="0"/>
              </a:rPr>
              <a:t>Benefits</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one</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two</a:t>
            </a:r>
          </a:p>
          <a:p>
            <a:pPr marL="742950" lvl="1" indent="-285750">
              <a:buFont typeface="Arial" panose="020B0604020202020204" pitchFamily="34" charset="0"/>
              <a:buChar char="•"/>
            </a:pPr>
            <a:r>
              <a:rPr lang="en-US">
                <a:solidFill>
                  <a:schemeClr val="bg2"/>
                </a:solidFill>
                <a:latin typeface="Effra Pro" panose="020B0603020203020204" pitchFamily="34" charset="0"/>
              </a:rPr>
              <a:t>Benefit three </a:t>
            </a:r>
          </a:p>
          <a:p>
            <a:pPr lvl="0"/>
            <a:br>
              <a:rPr lang="en-US"/>
            </a:br>
            <a:r>
              <a:rPr lang="en-US"/>
              <a:t>	</a:t>
            </a:r>
          </a:p>
        </p:txBody>
      </p:sp>
    </p:spTree>
    <p:extLst>
      <p:ext uri="{BB962C8B-B14F-4D97-AF65-F5344CB8AC3E}">
        <p14:creationId xmlns:p14="http://schemas.microsoft.com/office/powerpoint/2010/main" val="53756384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301968140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9" name="Text Placeholder 4"/>
          <p:cNvSpPr>
            <a:spLocks noGrp="1"/>
          </p:cNvSpPr>
          <p:nvPr>
            <p:ph type="body" sz="quarter" idx="11"/>
          </p:nvPr>
        </p:nvSpPr>
        <p:spPr>
          <a:xfrm>
            <a:off x="390144" y="792481"/>
            <a:ext cx="11379200" cy="893233"/>
          </a:xfrm>
        </p:spPr>
        <p:txBody>
          <a:bodyPr/>
          <a:lstStyle>
            <a:lvl1pPr marL="0" indent="0">
              <a:buNone/>
              <a:defRPr>
                <a:solidFill>
                  <a:schemeClr val="bg2"/>
                </a:solidFill>
                <a:latin typeface="+mj-lt"/>
              </a:defRPr>
            </a:lvl1pPr>
            <a:lvl2pPr marL="609585" indent="0">
              <a:buNone/>
              <a:defRPr/>
            </a:lvl2pPr>
          </a:lstStyle>
          <a:p>
            <a:pPr lvl="0"/>
            <a:r>
              <a:rPr lang="en-US"/>
              <a:t>Click to edit Master text styles</a:t>
            </a:r>
          </a:p>
        </p:txBody>
      </p:sp>
    </p:spTree>
    <p:extLst>
      <p:ext uri="{BB962C8B-B14F-4D97-AF65-F5344CB8AC3E}">
        <p14:creationId xmlns:p14="http://schemas.microsoft.com/office/powerpoint/2010/main" val="225550841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itles Only Light Blue">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737704"/>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390144" y="920584"/>
            <a:ext cx="11408497"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83399"/>
            <a:ext cx="304800" cy="138499"/>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spTree>
    <p:extLst>
      <p:ext uri="{BB962C8B-B14F-4D97-AF65-F5344CB8AC3E}">
        <p14:creationId xmlns:p14="http://schemas.microsoft.com/office/powerpoint/2010/main" val="143746629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310021"/>
          </a:xfrm>
          <a:prstGeom prst="rect">
            <a:avLst/>
          </a:prstGeom>
        </p:spPr>
        <p:txBody>
          <a:bodyPr wrap="square">
            <a:noAutofit/>
          </a:bodyPr>
          <a:lstStyle>
            <a:lvl1pPr marL="0" indent="0">
              <a:lnSpc>
                <a:spcPct val="110000"/>
              </a:lnSpc>
              <a:spcBef>
                <a:spcPts val="800"/>
              </a:spcBef>
              <a:spcAft>
                <a:spcPts val="0"/>
              </a:spcAft>
              <a:buNone/>
              <a:defRPr sz="20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
        <p:nvSpPr>
          <p:cNvPr id="4" name="Footer Placeholder 3">
            <a:extLst>
              <a:ext uri="{FF2B5EF4-FFF2-40B4-BE49-F238E27FC236}">
                <a16:creationId xmlns:a16="http://schemas.microsoft.com/office/drawing/2014/main" id="{6EB9147D-DC14-E918-3763-AF6C74F9CB60}"/>
              </a:ext>
            </a:extLst>
          </p:cNvPr>
          <p:cNvSpPr>
            <a:spLocks noGrp="1"/>
          </p:cNvSpPr>
          <p:nvPr>
            <p:ph type="ftr" sz="quarter" idx="13"/>
          </p:nvPr>
        </p:nvSpPr>
        <p:spPr/>
        <p:txBody>
          <a:bodyPr/>
          <a:lstStyle/>
          <a:p>
            <a:r>
              <a:rPr lang="en-US"/>
              <a:t>Optional Footer / edit or hide</a:t>
            </a:r>
          </a:p>
        </p:txBody>
      </p:sp>
    </p:spTree>
    <p:extLst>
      <p:ext uri="{BB962C8B-B14F-4D97-AF65-F5344CB8AC3E}">
        <p14:creationId xmlns:p14="http://schemas.microsoft.com/office/powerpoint/2010/main" val="1400583363"/>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31245943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4017827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862652"/>
            <a:ext cx="10939462"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26269" y="1178214"/>
            <a:ext cx="10939462"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Title Placeholder 1">
            <a:extLst>
              <a:ext uri="{FF2B5EF4-FFF2-40B4-BE49-F238E27FC236}">
                <a16:creationId xmlns:a16="http://schemas.microsoft.com/office/drawing/2014/main" id="{B8DBD592-F085-1AD1-F2E5-21AFE28F03E9}"/>
              </a:ext>
            </a:extLst>
          </p:cNvPr>
          <p:cNvSpPr>
            <a:spLocks noGrp="1"/>
          </p:cNvSpPr>
          <p:nvPr>
            <p:ph type="title"/>
          </p:nvPr>
        </p:nvSpPr>
        <p:spPr>
          <a:xfrm>
            <a:off x="626269" y="493776"/>
            <a:ext cx="10939462" cy="54480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25194158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itle Placeholder 1">
            <a:extLst>
              <a:ext uri="{FF2B5EF4-FFF2-40B4-BE49-F238E27FC236}">
                <a16:creationId xmlns:a16="http://schemas.microsoft.com/office/drawing/2014/main" id="{7DC46692-028A-73AD-0EBF-CFDDE25504EC}"/>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3325521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22953284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354145328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02706853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40460783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931502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406498190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340366950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390672300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180144264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322381081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152265685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360974801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357433583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14194109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381176327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600232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55230273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155214004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85450196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68594026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396069757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148549196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8599411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49224" y="1554480"/>
            <a:ext cx="10890504"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653123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649224" y="493777"/>
            <a:ext cx="10890504"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49224" y="1862652"/>
            <a:ext cx="10890504"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649288" y="1178214"/>
            <a:ext cx="10929937" cy="544803"/>
          </a:xfrm>
        </p:spPr>
        <p:txBody>
          <a:bodyPr/>
          <a:lstStyle>
            <a:lvl1pPr marL="0" indent="0">
              <a:buFontTx/>
              <a:buNone/>
              <a:defRPr sz="24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135308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649224" y="493777"/>
            <a:ext cx="10890504"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273584326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838200" y="2112264"/>
            <a:ext cx="10515600"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168272172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  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196254360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62860858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649224" y="493776"/>
            <a:ext cx="10890504" cy="804672"/>
          </a:xfrm>
        </p:spPr>
        <p:txBody>
          <a:bodyPr/>
          <a:lstStyle/>
          <a:p>
            <a:endParaRPr lang="en-US"/>
          </a:p>
        </p:txBody>
      </p:sp>
    </p:spTree>
    <p:extLst>
      <p:ext uri="{BB962C8B-B14F-4D97-AF65-F5344CB8AC3E}">
        <p14:creationId xmlns:p14="http://schemas.microsoft.com/office/powerpoint/2010/main" val="349355635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15833791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176047778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2-COL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1484"/>
            <a:ext cx="10890504"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51703984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649224" y="492029"/>
            <a:ext cx="10890504" cy="804672"/>
          </a:xfrm>
        </p:spPr>
        <p:txBody>
          <a:bodyPr/>
          <a:lstStyle/>
          <a:p>
            <a:endParaRPr lang="en-US"/>
          </a:p>
        </p:txBody>
      </p:sp>
    </p:spTree>
    <p:extLst>
      <p:ext uri="{BB962C8B-B14F-4D97-AF65-F5344CB8AC3E}">
        <p14:creationId xmlns:p14="http://schemas.microsoft.com/office/powerpoint/2010/main" val="162472740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3511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222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49331"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528002"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650875"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53069"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72204"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453069"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650875"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072204"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140094522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5"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8033395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42951560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29265"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147136"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331191"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813320"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649224" y="492033"/>
            <a:ext cx="10890504" cy="804672"/>
          </a:xfrm>
        </p:spPr>
        <p:txBody>
          <a:bodyPr/>
          <a:lstStyle/>
          <a:p>
            <a:endParaRPr lang="en-US"/>
          </a:p>
        </p:txBody>
      </p:sp>
    </p:spTree>
    <p:extLst>
      <p:ext uri="{BB962C8B-B14F-4D97-AF65-F5344CB8AC3E}">
        <p14:creationId xmlns:p14="http://schemas.microsoft.com/office/powerpoint/2010/main" val="190790539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18413024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8" name="Rectangle 7">
            <a:extLst>
              <a:ext uri="{FF2B5EF4-FFF2-40B4-BE49-F238E27FC236}">
                <a16:creationId xmlns:a16="http://schemas.microsoft.com/office/drawing/2014/main" id="{32009CAA-4961-064E-27E1-6CE5724DBF53}"/>
              </a:ext>
            </a:extLst>
          </p:cNvPr>
          <p:cNvSpPr/>
          <p:nvPr userDrawn="1"/>
        </p:nvSpPr>
        <p:spPr>
          <a:xfrm>
            <a:off x="0" y="303692"/>
            <a:ext cx="6096000" cy="904220"/>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838200" y="3014133"/>
            <a:ext cx="4930422" cy="2314900"/>
          </a:xfrm>
        </p:spPr>
        <p:txBody>
          <a:bodyPr/>
          <a:lstStyle>
            <a:lvl1pPr>
              <a:defRPr sz="3600"/>
            </a:lvl1pPr>
          </a:lstStyle>
          <a:p>
            <a:endParaRPr lang="en-US"/>
          </a:p>
        </p:txBody>
      </p:sp>
      <p:pic>
        <p:nvPicPr>
          <p:cNvPr id="5" name="Picture 4" descr="A blue and black logo  AI-generated content may be incorrect.">
            <a:extLst>
              <a:ext uri="{FF2B5EF4-FFF2-40B4-BE49-F238E27FC236}">
                <a16:creationId xmlns:a16="http://schemas.microsoft.com/office/drawing/2014/main" id="{BB1C3FEE-ADC6-ACA4-4A21-1EDFD7AF909E}"/>
              </a:ext>
            </a:extLst>
          </p:cNvPr>
          <p:cNvPicPr>
            <a:picLocks noChangeAspect="1"/>
          </p:cNvPicPr>
          <p:nvPr userDrawn="1"/>
        </p:nvPicPr>
        <p:blipFill>
          <a:blip r:embed="rId3"/>
          <a:stretch>
            <a:fillRect/>
          </a:stretch>
        </p:blipFill>
        <p:spPr>
          <a:xfrm>
            <a:off x="838200" y="5960743"/>
            <a:ext cx="1792111" cy="454049"/>
          </a:xfrm>
          <a:prstGeom prst="rect">
            <a:avLst/>
          </a:prstGeom>
        </p:spPr>
      </p:pic>
      <p:pic>
        <p:nvPicPr>
          <p:cNvPr id="6" name="Graphic 11">
            <a:extLst>
              <a:ext uri="{FF2B5EF4-FFF2-40B4-BE49-F238E27FC236}">
                <a16:creationId xmlns:a16="http://schemas.microsoft.com/office/drawing/2014/main" id="{FEA01748-2A0C-F541-9B25-57C5144BE9B8}"/>
              </a:ext>
            </a:extLst>
          </p:cNvPr>
          <p:cNvPicPr>
            <a:picLocks noChangeAspect="1"/>
          </p:cNvPicPr>
          <p:nvPr userDrawn="1"/>
        </p:nvPicPr>
        <p:blipFill>
          <a:blip r:embed="rId4"/>
          <a:srcRect/>
          <a:stretch/>
        </p:blipFill>
        <p:spPr>
          <a:xfrm>
            <a:off x="838200" y="422717"/>
            <a:ext cx="663222" cy="666171"/>
          </a:xfrm>
          <a:prstGeom prst="rect">
            <a:avLst/>
          </a:prstGeom>
          <a:effectLst/>
        </p:spPr>
      </p:pic>
    </p:spTree>
    <p:extLst>
      <p:ext uri="{BB962C8B-B14F-4D97-AF65-F5344CB8AC3E}">
        <p14:creationId xmlns:p14="http://schemas.microsoft.com/office/powerpoint/2010/main" val="153728134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  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361319586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649224" y="492027"/>
            <a:ext cx="10890504"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313531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13626636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410712"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7220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892454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1381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575304"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3679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08913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1381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575304"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3679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08913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649224" y="492028"/>
            <a:ext cx="10890504" cy="804672"/>
          </a:xfrm>
        </p:spPr>
        <p:txBody>
          <a:bodyPr/>
          <a:lstStyle/>
          <a:p>
            <a:endParaRPr lang="en-US"/>
          </a:p>
        </p:txBody>
      </p:sp>
    </p:spTree>
    <p:extLst>
      <p:ext uri="{BB962C8B-B14F-4D97-AF65-F5344CB8AC3E}">
        <p14:creationId xmlns:p14="http://schemas.microsoft.com/office/powerpoint/2010/main" val="128388100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381809791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9797201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27674325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  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  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340752731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142912294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pPr marL="0" marR="0" lvl="0" indent="0" algn="r" defTabSz="914400" rtl="0" eaLnBrk="1" fontAlgn="base" latinLnBrk="0" hangingPunct="1">
              <a:lnSpc>
                <a:spcPct val="100000"/>
              </a:lnSpc>
              <a:spcBef>
                <a:spcPct val="0"/>
              </a:spcBef>
              <a:spcAft>
                <a:spcPct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Geneva" pitchFamily="-109"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endParaRP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363511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6400" y="182880"/>
            <a:ext cx="10711748" cy="1184448"/>
          </a:xfrm>
        </p:spPr>
        <p:txBody>
          <a:bodyPr/>
          <a:lstStyle>
            <a:lvl1pPr>
              <a:defRPr>
                <a:solidFill>
                  <a:srgbClr val="0A3C53"/>
                </a:solidFill>
              </a:defRPr>
            </a:lvl1pPr>
          </a:lstStyle>
          <a:p>
            <a:r>
              <a:rPr lang="en-US"/>
              <a:t>Click to edit Master title style</a:t>
            </a:r>
          </a:p>
        </p:txBody>
      </p:sp>
      <p:sp>
        <p:nvSpPr>
          <p:cNvPr id="5" name="Text Placeholder 4"/>
          <p:cNvSpPr>
            <a:spLocks noGrp="1"/>
          </p:cNvSpPr>
          <p:nvPr>
            <p:ph type="body" sz="quarter" idx="11"/>
          </p:nvPr>
        </p:nvSpPr>
        <p:spPr>
          <a:xfrm>
            <a:off x="406401" y="920584"/>
            <a:ext cx="11379200" cy="739344"/>
          </a:xfrm>
        </p:spPr>
        <p:txBody>
          <a:bodyPr/>
          <a:lstStyle>
            <a:lvl1pPr marL="0" indent="0">
              <a:buNone/>
              <a:defRPr>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8" name="TextBox 7">
            <a:extLst>
              <a:ext uri="{FF2B5EF4-FFF2-40B4-BE49-F238E27FC236}">
                <a16:creationId xmlns:a16="http://schemas.microsoft.com/office/drawing/2014/main" id="{5858C8BA-0269-938C-602B-D7EB8F16A3B9}"/>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sp>
        <p:nvSpPr>
          <p:cNvPr id="11" name="Slide Number Placeholder 9">
            <a:extLst>
              <a:ext uri="{FF2B5EF4-FFF2-40B4-BE49-F238E27FC236}">
                <a16:creationId xmlns:a16="http://schemas.microsoft.com/office/drawing/2014/main" id="{75011B78-F9FE-4FE9-05EE-C969AF893A6C}"/>
              </a:ext>
            </a:extLst>
          </p:cNvPr>
          <p:cNvSpPr txBox="1">
            <a:spLocks/>
          </p:cNvSpPr>
          <p:nvPr userDrawn="1"/>
        </p:nvSpPr>
        <p:spPr>
          <a:xfrm>
            <a:off x="11493849" y="6583399"/>
            <a:ext cx="304800" cy="138499"/>
          </a:xfrm>
          <a:prstGeom prst="rect">
            <a:avLst/>
          </a:prstGeom>
        </p:spPr>
        <p:txBody>
          <a:bodyPr vert="horz" wrap="square" lIns="0" tIns="0" rIns="0" bIns="0" rtlCol="0" anchor="ctr">
            <a:spAutoFit/>
          </a:bodyPr>
          <a:lstStyle>
            <a:defPPr>
              <a:defRPr lang="en-US"/>
            </a:defPPr>
            <a:lvl1pPr algn="r" rtl="0" fontAlgn="auto">
              <a:spcBef>
                <a:spcPts val="0"/>
              </a:spcBef>
              <a:spcAft>
                <a:spcPts val="0"/>
              </a:spcAft>
              <a:defRPr sz="750" kern="1200" smtClean="0">
                <a:solidFill>
                  <a:srgbClr val="0A3C53"/>
                </a:solidFill>
                <a:latin typeface="Effra Pro" panose="020B0603020203020204" pitchFamily="34" charset="0"/>
                <a:ea typeface="Geneva" pitchFamily="-109" charset="-128"/>
                <a:cs typeface="+mn-cs"/>
              </a:defRPr>
            </a:lvl1pPr>
            <a:lvl2pPr marL="457146" algn="l" rtl="0" fontAlgn="base">
              <a:spcBef>
                <a:spcPct val="0"/>
              </a:spcBef>
              <a:spcAft>
                <a:spcPct val="0"/>
              </a:spcAft>
              <a:defRPr kern="1200">
                <a:solidFill>
                  <a:schemeClr val="tx1"/>
                </a:solidFill>
                <a:latin typeface="Arial" charset="0"/>
                <a:ea typeface="Geneva" pitchFamily="-109" charset="-128"/>
                <a:cs typeface="+mn-cs"/>
              </a:defRPr>
            </a:lvl2pPr>
            <a:lvl3pPr marL="914293" algn="l" rtl="0" fontAlgn="base">
              <a:spcBef>
                <a:spcPct val="0"/>
              </a:spcBef>
              <a:spcAft>
                <a:spcPct val="0"/>
              </a:spcAft>
              <a:defRPr kern="1200">
                <a:solidFill>
                  <a:schemeClr val="tx1"/>
                </a:solidFill>
                <a:latin typeface="Arial" charset="0"/>
                <a:ea typeface="Geneva" pitchFamily="-109" charset="-128"/>
                <a:cs typeface="+mn-cs"/>
              </a:defRPr>
            </a:lvl3pPr>
            <a:lvl4pPr marL="1371440" algn="l" rtl="0" fontAlgn="base">
              <a:spcBef>
                <a:spcPct val="0"/>
              </a:spcBef>
              <a:spcAft>
                <a:spcPct val="0"/>
              </a:spcAft>
              <a:defRPr kern="1200">
                <a:solidFill>
                  <a:schemeClr val="tx1"/>
                </a:solidFill>
                <a:latin typeface="Arial" charset="0"/>
                <a:ea typeface="Geneva" pitchFamily="-109" charset="-128"/>
                <a:cs typeface="+mn-cs"/>
              </a:defRPr>
            </a:lvl4pPr>
            <a:lvl5pPr marL="1828586" algn="l" rtl="0" fontAlgn="base">
              <a:spcBef>
                <a:spcPct val="0"/>
              </a:spcBef>
              <a:spcAft>
                <a:spcPct val="0"/>
              </a:spcAft>
              <a:defRPr kern="1200">
                <a:solidFill>
                  <a:schemeClr val="tx1"/>
                </a:solidFill>
                <a:latin typeface="Arial" charset="0"/>
                <a:ea typeface="Geneva" pitchFamily="-109" charset="-128"/>
                <a:cs typeface="+mn-cs"/>
              </a:defRPr>
            </a:lvl5pPr>
            <a:lvl6pPr marL="2285733" algn="l" defTabSz="914293" rtl="0" eaLnBrk="1" latinLnBrk="0" hangingPunct="1">
              <a:defRPr kern="1200">
                <a:solidFill>
                  <a:schemeClr val="tx1"/>
                </a:solidFill>
                <a:latin typeface="Arial" charset="0"/>
                <a:ea typeface="Geneva" pitchFamily="-109" charset="-128"/>
                <a:cs typeface="+mn-cs"/>
              </a:defRPr>
            </a:lvl6pPr>
            <a:lvl7pPr marL="2742879" algn="l" defTabSz="914293" rtl="0" eaLnBrk="1" latinLnBrk="0" hangingPunct="1">
              <a:defRPr kern="1200">
                <a:solidFill>
                  <a:schemeClr val="tx1"/>
                </a:solidFill>
                <a:latin typeface="Arial" charset="0"/>
                <a:ea typeface="Geneva" pitchFamily="-109" charset="-128"/>
                <a:cs typeface="+mn-cs"/>
              </a:defRPr>
            </a:lvl7pPr>
            <a:lvl8pPr marL="3200026" algn="l" defTabSz="914293" rtl="0" eaLnBrk="1" latinLnBrk="0" hangingPunct="1">
              <a:defRPr kern="1200">
                <a:solidFill>
                  <a:schemeClr val="tx1"/>
                </a:solidFill>
                <a:latin typeface="Arial" charset="0"/>
                <a:ea typeface="Geneva" pitchFamily="-109" charset="-128"/>
                <a:cs typeface="+mn-cs"/>
              </a:defRPr>
            </a:lvl8pPr>
            <a:lvl9pPr marL="3657172" algn="l" defTabSz="914293" rtl="0" eaLnBrk="1" latinLnBrk="0" hangingPunct="1">
              <a:defRPr kern="1200">
                <a:solidFill>
                  <a:schemeClr val="tx1"/>
                </a:solidFill>
                <a:latin typeface="Arial" charset="0"/>
                <a:ea typeface="Geneva" pitchFamily="-109" charset="-128"/>
                <a:cs typeface="+mn-cs"/>
              </a:defRPr>
            </a:lvl9pPr>
          </a:lstStyle>
          <a:p>
            <a:pPr>
              <a:defRPr/>
            </a:pPr>
            <a:fld id="{2EDAC284-59FC-4EEB-A7F8-63017E0BC0CE}" type="slidenum">
              <a:rPr lang="en-US" sz="900" smtClean="0"/>
              <a:pPr>
                <a:defRPr/>
              </a:pPr>
              <a:t>‹#›</a:t>
            </a:fld>
            <a:endParaRPr lang="en-US" sz="900"/>
          </a:p>
        </p:txBody>
      </p:sp>
      <p:pic>
        <p:nvPicPr>
          <p:cNvPr id="4" name="Picture 3">
            <a:extLst>
              <a:ext uri="{FF2B5EF4-FFF2-40B4-BE49-F238E27FC236}">
                <a16:creationId xmlns:a16="http://schemas.microsoft.com/office/drawing/2014/main" id="{A939D159-3D30-0E0E-2BD1-9355452D8DA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148659386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tags" Target="../tags/tag6.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image" Target="../media/image7.png"/><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image" Target="../media/image6.emf"/><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oleObject" Target="../embeddings/oleObject3.bin"/></Relationships>
</file>

<file path=ppt/slideMasters/_rels/slideMaster3.xml.rels><?xml version="1.0" encoding="UTF-8"?><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oleObject" Target="../embeddings/oleObject4.bin"/><Relationship Id="rId3" Type="http://schemas.openxmlformats.org/officeDocument/2006/relationships/slideLayout" Target="../slideLayouts/slideLayout41.xml"/><Relationship Id="rId21" Type="http://schemas.openxmlformats.org/officeDocument/2006/relationships/slideLayout" Target="../slideLayouts/slideLayout59.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tags" Target="../tags/tag7.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theme" Target="../theme/theme3.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image" Target="../media/image7.png"/><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image" Target="../media/image6.emf"/></Relationships>
</file>

<file path=ppt/slideMasters/_rels/slideMaster4.xml.rels><?xml version="1.0" encoding="UTF-8"?><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4.xml"/><Relationship Id="rId3" Type="http://schemas.openxmlformats.org/officeDocument/2006/relationships/slideLayout" Target="../slideLayouts/slideLayout64.xml"/><Relationship Id="rId21" Type="http://schemas.openxmlformats.org/officeDocument/2006/relationships/image" Target="../media/image6.emf"/><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oleObject" Target="../embeddings/oleObject5.bin"/><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tags" Target="../tags/tag8.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image" Target="../media/image7.png"/></Relationships>
</file>

<file path=ppt/slideMasters/_rels/slideMaster5.xml.rels><?xml version="1.0" encoding="UTF-8"?><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21" Type="http://schemas.openxmlformats.org/officeDocument/2006/relationships/slideLayout" Target="../slideLayouts/slideLayout99.xml"/><Relationship Id="rId34" Type="http://schemas.openxmlformats.org/officeDocument/2006/relationships/theme" Target="../theme/theme5.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image" Target="../media/image31.png"/><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image" Target="../media/image30.emf"/><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image" Target="../media/image29.png"/><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image" Target="../media/image28.png"/><Relationship Id="rId8" Type="http://schemas.openxmlformats.org/officeDocument/2006/relationships/slideLayout" Target="../slideLayouts/slideLayout86.xml"/><Relationship Id="rId3" Type="http://schemas.openxmlformats.org/officeDocument/2006/relationships/slideLayout" Target="../slideLayouts/slideLayout81.xml"/></Relationships>
</file>

<file path=ppt/slideMasters/_rels/slideMaster6.xml.rels><?xml version="1.0" encoding="UTF-8"?><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3" Type="http://schemas.openxmlformats.org/officeDocument/2006/relationships/slideLayout" Target="../slideLayouts/slideLayout114.xml"/><Relationship Id="rId21" Type="http://schemas.openxmlformats.org/officeDocument/2006/relationships/slideLayout" Target="../slideLayouts/slideLayout132.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0" Type="http://schemas.openxmlformats.org/officeDocument/2006/relationships/slideLayout" Target="../slideLayouts/slideLayout131.xml"/><Relationship Id="rId29" Type="http://schemas.openxmlformats.org/officeDocument/2006/relationships/image" Target="../media/image28.png"/><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theme" Target="../theme/theme6.xml"/><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31" Type="http://schemas.openxmlformats.org/officeDocument/2006/relationships/image" Target="../media/image30.emf"/><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image" Target="../media/image29.png"/></Relationships>
</file>

<file path=ppt/slideMasters/_rels/slideMaster7.xml.rels><?xml version="1.0" encoding="UTF-8"?><Relationships xmlns="http://schemas.openxmlformats.org/package/2006/relationships"><Relationship Id="rId13" Type="http://schemas.openxmlformats.org/officeDocument/2006/relationships/slideLayout" Target="../slideLayouts/slideLayout151.xml"/><Relationship Id="rId18" Type="http://schemas.openxmlformats.org/officeDocument/2006/relationships/slideLayout" Target="../slideLayouts/slideLayout156.xml"/><Relationship Id="rId26" Type="http://schemas.openxmlformats.org/officeDocument/2006/relationships/slideLayout" Target="../slideLayouts/slideLayout164.xml"/><Relationship Id="rId3" Type="http://schemas.openxmlformats.org/officeDocument/2006/relationships/slideLayout" Target="../slideLayouts/slideLayout141.xml"/><Relationship Id="rId21" Type="http://schemas.openxmlformats.org/officeDocument/2006/relationships/slideLayout" Target="../slideLayouts/slideLayout159.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slideLayout" Target="../slideLayouts/slideLayout155.xml"/><Relationship Id="rId25" Type="http://schemas.openxmlformats.org/officeDocument/2006/relationships/slideLayout" Target="../slideLayouts/slideLayout163.xml"/><Relationship Id="rId33" Type="http://schemas.openxmlformats.org/officeDocument/2006/relationships/image" Target="../media/image31.png"/><Relationship Id="rId2" Type="http://schemas.openxmlformats.org/officeDocument/2006/relationships/slideLayout" Target="../slideLayouts/slideLayout140.xml"/><Relationship Id="rId16" Type="http://schemas.openxmlformats.org/officeDocument/2006/relationships/slideLayout" Target="../slideLayouts/slideLayout154.xml"/><Relationship Id="rId20" Type="http://schemas.openxmlformats.org/officeDocument/2006/relationships/slideLayout" Target="../slideLayouts/slideLayout158.xml"/><Relationship Id="rId29" Type="http://schemas.openxmlformats.org/officeDocument/2006/relationships/theme" Target="../theme/theme7.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24" Type="http://schemas.openxmlformats.org/officeDocument/2006/relationships/slideLayout" Target="../slideLayouts/slideLayout162.xml"/><Relationship Id="rId32" Type="http://schemas.openxmlformats.org/officeDocument/2006/relationships/image" Target="../media/image30.emf"/><Relationship Id="rId5" Type="http://schemas.openxmlformats.org/officeDocument/2006/relationships/slideLayout" Target="../slideLayouts/slideLayout143.xml"/><Relationship Id="rId15" Type="http://schemas.openxmlformats.org/officeDocument/2006/relationships/slideLayout" Target="../slideLayouts/slideLayout153.xml"/><Relationship Id="rId23" Type="http://schemas.openxmlformats.org/officeDocument/2006/relationships/slideLayout" Target="../slideLayouts/slideLayout161.xml"/><Relationship Id="rId28" Type="http://schemas.openxmlformats.org/officeDocument/2006/relationships/slideLayout" Target="../slideLayouts/slideLayout166.xml"/><Relationship Id="rId10" Type="http://schemas.openxmlformats.org/officeDocument/2006/relationships/slideLayout" Target="../slideLayouts/slideLayout148.xml"/><Relationship Id="rId19" Type="http://schemas.openxmlformats.org/officeDocument/2006/relationships/slideLayout" Target="../slideLayouts/slideLayout157.xml"/><Relationship Id="rId31" Type="http://schemas.openxmlformats.org/officeDocument/2006/relationships/image" Target="../media/image29.png"/><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 Id="rId22" Type="http://schemas.openxmlformats.org/officeDocument/2006/relationships/slideLayout" Target="../slideLayouts/slideLayout160.xml"/><Relationship Id="rId27" Type="http://schemas.openxmlformats.org/officeDocument/2006/relationships/slideLayout" Target="../slideLayouts/slideLayout165.xml"/><Relationship Id="rId30" Type="http://schemas.openxmlformats.org/officeDocument/2006/relationships/image" Target="../media/image28.png"/><Relationship Id="rId8"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A1DA51F-9FE4-49B5-B9A4-D7DE111BCAAD}"/>
              </a:ext>
            </a:extLst>
          </p:cNvPr>
          <p:cNvGraphicFramePr>
            <a:graphicFrameLocks noChangeAspect="1"/>
          </p:cNvGraphicFramePr>
          <p:nvPr>
            <p:custDataLst>
              <p:tags r:id="rId21"/>
            </p:custDataLst>
          </p:nvPr>
        </p:nvGraphicFramePr>
        <p:xfrm>
          <a:off x="2118" y="1588"/>
          <a:ext cx="2117" cy="1588"/>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5" name="Object 4" hidden="1">
                        <a:extLst>
                          <a:ext uri="{FF2B5EF4-FFF2-40B4-BE49-F238E27FC236}">
                            <a16:creationId xmlns:a16="http://schemas.microsoft.com/office/drawing/2014/main" id="{BA1DA51F-9FE4-49B5-B9A4-D7DE111BCAAD}"/>
                          </a:ext>
                        </a:extLst>
                      </p:cNvPr>
                      <p:cNvPicPr/>
                      <p:nvPr/>
                    </p:nvPicPr>
                    <p:blipFill>
                      <a:blip r:embed="rId24"/>
                      <a:stretch>
                        <a:fillRect/>
                      </a:stretch>
                    </p:blipFill>
                    <p:spPr>
                      <a:xfrm>
                        <a:off x="2118" y="1588"/>
                        <a:ext cx="2117"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230EE80-DDFD-49BA-ADC5-263022767731}"/>
              </a:ext>
            </a:extLst>
          </p:cNvPr>
          <p:cNvSpPr/>
          <p:nvPr>
            <p:custDataLst>
              <p:tags r:id="rId22"/>
            </p:custDataLst>
          </p:nvPr>
        </p:nvSpPr>
        <p:spPr bwMode="ltGray">
          <a:xfrm>
            <a:off x="1" y="0"/>
            <a:ext cx="211667" cy="158750"/>
          </a:xfrm>
          <a:prstGeom prst="rect">
            <a:avLst/>
          </a:prstGeom>
          <a:solidFill>
            <a:schemeClr val="accent1"/>
          </a:solidFill>
          <a:ln w="12700" cap="flat" cmpd="sng" algn="ctr">
            <a:noFill/>
            <a:prstDash val="solid"/>
            <a:round/>
            <a:headEnd type="none" w="sm" len="sm"/>
            <a:tailEnd type="none" w="sm" len="sm"/>
          </a:ln>
        </p:spPr>
        <p:txBody>
          <a:bodyPr vert="horz" wrap="none" lIns="0" tIns="0" rIns="0" bIns="0" numCol="1" spcCol="0" rtlCol="0" anchor="ctr" anchorCtr="0">
            <a:noAutofit/>
          </a:bodyPr>
          <a:lstStyle/>
          <a:p>
            <a:pPr marL="0" lvl="0" indent="0" algn="ctr"/>
            <a:endParaRPr lang="en-US" sz="2300" b="0" i="0" baseline="0">
              <a:latin typeface="Georgia" panose="02040502050405020303" pitchFamily="18" charset="0"/>
              <a:ea typeface="+mj-ea"/>
              <a:cs typeface="+mj-cs"/>
              <a:sym typeface="Georgia" panose="02040502050405020303" pitchFamily="18" charset="0"/>
            </a:endParaRPr>
          </a:p>
        </p:txBody>
      </p:sp>
      <p:sp>
        <p:nvSpPr>
          <p:cNvPr id="2" name="Title Placeholder 1"/>
          <p:cNvSpPr>
            <a:spLocks noGrp="1"/>
          </p:cNvSpPr>
          <p:nvPr>
            <p:ph type="title"/>
          </p:nvPr>
        </p:nvSpPr>
        <p:spPr>
          <a:xfrm>
            <a:off x="388159" y="313740"/>
            <a:ext cx="11392252" cy="682752"/>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88159" y="1188380"/>
            <a:ext cx="11392252" cy="496120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4717" y="6469144"/>
            <a:ext cx="304800" cy="153888"/>
          </a:xfrm>
          <a:prstGeom prst="rect">
            <a:avLst/>
          </a:prstGeom>
        </p:spPr>
        <p:txBody>
          <a:bodyPr vert="horz" wrap="square" lIns="0" tIns="0" rIns="0" bIns="0" rtlCol="0" anchor="ctr">
            <a:spAutoFit/>
          </a:bodyPr>
          <a:lstStyle>
            <a:lvl1pPr algn="ctr" fontAlgn="auto">
              <a:spcBef>
                <a:spcPts val="0"/>
              </a:spcBef>
              <a:spcAft>
                <a:spcPts val="0"/>
              </a:spcAft>
              <a:defRPr sz="1000" smtClean="0">
                <a:solidFill>
                  <a:schemeClr val="tx1"/>
                </a:solidFill>
                <a:latin typeface="+mn-lt"/>
              </a:defRPr>
            </a:lvl1pPr>
          </a:lstStyle>
          <a:p>
            <a:fld id="{39E9D6B2-EA4D-467F-86A5-D162FCADCAB3}" type="slidenum">
              <a:rPr lang="en-US" smtClean="0"/>
              <a:t>‹#›</a:t>
            </a:fld>
            <a:endParaRPr lang="en-US"/>
          </a:p>
        </p:txBody>
      </p:sp>
      <p:pic>
        <p:nvPicPr>
          <p:cNvPr id="9" name="Picture 8"/>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421544" y="6270171"/>
            <a:ext cx="426720" cy="378148"/>
          </a:xfrm>
          <a:prstGeom prst="rect">
            <a:avLst/>
          </a:prstGeom>
        </p:spPr>
      </p:pic>
    </p:spTree>
    <p:extLst>
      <p:ext uri="{BB962C8B-B14F-4D97-AF65-F5344CB8AC3E}">
        <p14:creationId xmlns:p14="http://schemas.microsoft.com/office/powerpoint/2010/main" val="3901722210"/>
      </p:ext>
    </p:extLst>
  </p:cSld>
  <p:clrMap bg1="lt1" tx1="dk1" bg2="lt2" tx2="dk2" accent1="accent1" accent2="accent2" accent3="accent3" accent4="accent4" accent5="accent5" accent6="accent6" hlink="hlink" folHlink="folHlink"/>
  <p:sldLayoutIdLst>
    <p:sldLayoutId id="2147485799" r:id="rId1"/>
    <p:sldLayoutId id="2147485800" r:id="rId2"/>
    <p:sldLayoutId id="2147485801" r:id="rId3"/>
    <p:sldLayoutId id="2147485802" r:id="rId4"/>
    <p:sldLayoutId id="2147485803" r:id="rId5"/>
    <p:sldLayoutId id="2147485804" r:id="rId6"/>
    <p:sldLayoutId id="2147485805" r:id="rId7"/>
    <p:sldLayoutId id="2147485806" r:id="rId8"/>
    <p:sldLayoutId id="2147485807" r:id="rId9"/>
    <p:sldLayoutId id="2147485808" r:id="rId10"/>
    <p:sldLayoutId id="2147485809" r:id="rId11"/>
    <p:sldLayoutId id="2147485810" r:id="rId12"/>
    <p:sldLayoutId id="2147485811" r:id="rId13"/>
    <p:sldLayoutId id="2147485812" r:id="rId14"/>
    <p:sldLayoutId id="2147485813" r:id="rId15"/>
    <p:sldLayoutId id="2147485814" r:id="rId16"/>
    <p:sldLayoutId id="2147485815" r:id="rId17"/>
    <p:sldLayoutId id="2147485816" r:id="rId18"/>
    <p:sldLayoutId id="2147485817" r:id="rId19"/>
  </p:sldLayoutIdLst>
  <p:hf hdr="0" ftr="0" dt="0"/>
  <p:txStyles>
    <p:titleStyle>
      <a:lvl1pPr algn="l" defTabSz="914411" rtl="0" eaLnBrk="1" latinLnBrk="0" hangingPunct="1">
        <a:lnSpc>
          <a:spcPct val="100000"/>
        </a:lnSpc>
        <a:spcBef>
          <a:spcPct val="0"/>
        </a:spcBef>
        <a:buNone/>
        <a:defRPr sz="2300" kern="1200">
          <a:solidFill>
            <a:schemeClr val="bg2"/>
          </a:solidFill>
          <a:latin typeface="+mj-lt"/>
          <a:ea typeface="+mj-ea"/>
          <a:cs typeface="+mj-cs"/>
        </a:defRPr>
      </a:lvl1pPr>
    </p:titleStyle>
    <p:bodyStyle>
      <a:lvl1pPr marL="228603" indent="-228603" algn="l" defTabSz="914411"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1pPr>
      <a:lvl2pPr marL="685809" indent="-228603" algn="l" defTabSz="914411" rtl="0" eaLnBrk="1" latinLnBrk="0" hangingPunct="1">
        <a:lnSpc>
          <a:spcPct val="100000"/>
        </a:lnSpc>
        <a:spcBef>
          <a:spcPts val="600"/>
        </a:spcBef>
        <a:spcAft>
          <a:spcPts val="600"/>
        </a:spcAft>
        <a:buFont typeface="Tahoma" panose="020B0604030504040204" pitchFamily="34" charset="0"/>
        <a:buChar char="–"/>
        <a:defRPr sz="1300" kern="1200">
          <a:solidFill>
            <a:schemeClr val="tx1"/>
          </a:solidFill>
          <a:latin typeface="+mn-lt"/>
          <a:ea typeface="+mn-ea"/>
          <a:cs typeface="+mn-cs"/>
        </a:defRPr>
      </a:lvl2pPr>
      <a:lvl3pPr marL="1143014" indent="-228603" algn="l" defTabSz="914411" rtl="0" eaLnBrk="1" latinLnBrk="0" hangingPunct="1">
        <a:lnSpc>
          <a:spcPct val="100000"/>
        </a:lnSpc>
        <a:spcBef>
          <a:spcPts val="400"/>
        </a:spcBef>
        <a:spcAft>
          <a:spcPts val="400"/>
        </a:spcAft>
        <a:buFont typeface="Arial" panose="020B0604020202020204" pitchFamily="34" charset="0"/>
        <a:buChar char="•"/>
        <a:defRPr sz="1200" kern="1200">
          <a:solidFill>
            <a:schemeClr val="tx1"/>
          </a:solidFill>
          <a:latin typeface="+mn-lt"/>
          <a:ea typeface="+mn-ea"/>
          <a:cs typeface="+mn-cs"/>
        </a:defRPr>
      </a:lvl3pPr>
      <a:lvl4pPr marL="1600220" indent="-228603" algn="l" defTabSz="914411" rtl="0" eaLnBrk="1" latinLnBrk="0" hangingPunct="1">
        <a:lnSpc>
          <a:spcPct val="100000"/>
        </a:lnSpc>
        <a:spcBef>
          <a:spcPts val="300"/>
        </a:spcBef>
        <a:spcAft>
          <a:spcPts val="300"/>
        </a:spcAft>
        <a:buFont typeface="Tahoma" panose="020B0604030504040204" pitchFamily="34" charset="0"/>
        <a:buChar char="–"/>
        <a:defRPr sz="1100" kern="1200">
          <a:solidFill>
            <a:schemeClr val="tx1"/>
          </a:solidFill>
          <a:latin typeface="+mn-lt"/>
          <a:ea typeface="+mn-ea"/>
          <a:cs typeface="+mn-cs"/>
        </a:defRPr>
      </a:lvl4pPr>
      <a:lvl5pPr marL="2057426" indent="-228603" algn="l" defTabSz="914411" rtl="0" eaLnBrk="1" latinLnBrk="0" hangingPunct="1">
        <a:lnSpc>
          <a:spcPct val="100000"/>
        </a:lnSpc>
        <a:spcBef>
          <a:spcPts val="300"/>
        </a:spcBef>
        <a:spcAft>
          <a:spcPts val="300"/>
        </a:spcAft>
        <a:buFont typeface="Arial" panose="020B0604020202020204" pitchFamily="34" charset="0"/>
        <a:buChar char="•"/>
        <a:defRPr sz="1100" kern="1200">
          <a:solidFill>
            <a:schemeClr val="tx1"/>
          </a:solidFill>
          <a:latin typeface="+mn-lt"/>
          <a:ea typeface="+mn-ea"/>
          <a:cs typeface="+mn-cs"/>
        </a:defRPr>
      </a:lvl5pPr>
      <a:lvl6pPr marL="2514631"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9"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
          <p15:clr>
            <a:srgbClr val="F26B43"/>
          </p15:clr>
        </p15:guide>
        <p15:guide id="3" pos="8352">
          <p15:clr>
            <a:srgbClr val="F26B43"/>
          </p15:clr>
        </p15:guide>
        <p15:guide id="4" orient="horz" pos="912">
          <p15:clr>
            <a:srgbClr val="F26B43"/>
          </p15:clr>
        </p15:guide>
        <p15:guide id="5" orient="horz" pos="960">
          <p15:clr>
            <a:srgbClr val="F26B43"/>
          </p15:clr>
        </p15:guide>
        <p15:guide id="6" orient="horz"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3E0150E-E50B-9FF8-A4D2-11C4727326D6}"/>
              </a:ext>
            </a:extLst>
          </p:cNvPr>
          <p:cNvGraphicFramePr>
            <a:graphicFrameLocks noChangeAspect="1"/>
          </p:cNvGraphicFramePr>
          <p:nvPr userDrawn="1">
            <p:custDataLst>
              <p:tags r:id="rId21"/>
            </p:custDataLst>
            <p:extLst>
              <p:ext uri="{D42A27DB-BD31-4B8C-83A1-F6EECF244321}">
                <p14:modId xmlns:p14="http://schemas.microsoft.com/office/powerpoint/2010/main" val="1041286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59" imgH="355" progId="TCLayout.ActiveDocument.1">
                  <p:embed/>
                </p:oleObj>
              </mc:Choice>
              <mc:Fallback>
                <p:oleObj name="think-cell Slide" r:id="rId22" imgW="359" imgH="355" progId="TCLayout.ActiveDocument.1">
                  <p:embed/>
                  <p:pic>
                    <p:nvPicPr>
                      <p:cNvPr id="5" name="think-cell data - do not delete" hidden="1">
                        <a:extLst>
                          <a:ext uri="{FF2B5EF4-FFF2-40B4-BE49-F238E27FC236}">
                            <a16:creationId xmlns:a16="http://schemas.microsoft.com/office/drawing/2014/main" id="{83E0150E-E50B-9FF8-A4D2-11C4727326D6}"/>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4" y="1691169"/>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3851" y="6566891"/>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chemeClr val="tx1">
                    <a:lumMod val="50000"/>
                  </a:schemeClr>
                </a:solidFill>
                <a:latin typeface="Effra Pro" panose="020B0603020203020204" pitchFamily="34" charset="0"/>
              </a:defRPr>
            </a:lvl1pPr>
          </a:lstStyle>
          <a:p>
            <a:pPr>
              <a:defRPr/>
            </a:pPr>
            <a:fld id="{2EDAC284-59FC-4EEB-A7F8-63017E0BC0CE}" type="slidenum">
              <a:rPr lang="en-US" smtClean="0"/>
              <a:pPr>
                <a:defRPr/>
              </a:pPr>
              <a:t>‹#›</a:t>
            </a:fld>
            <a:endParaRPr lang="en-US"/>
          </a:p>
        </p:txBody>
      </p:sp>
      <p:pic>
        <p:nvPicPr>
          <p:cNvPr id="11" name="Picture 10"/>
          <p:cNvPicPr>
            <a:picLocks noChangeAspect="1"/>
          </p:cNvPicPr>
          <p:nvPr userDrawn="1"/>
        </p:nvPicPr>
        <p:blipFill>
          <a:blip r:embed="rId24" cstate="print">
            <a:extLst>
              <a:ext uri="{28A0092B-C50C-407E-A947-70E740481C1C}">
                <a14:useLocalDpi xmlns:a14="http://schemas.microsoft.com/office/drawing/2010/main" val="0"/>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4026908429"/>
      </p:ext>
    </p:extLst>
  </p:cSld>
  <p:clrMap bg1="lt1" tx1="dk1" bg2="lt2" tx2="dk2" accent1="accent1" accent2="accent2" accent3="accent3" accent4="accent4" accent5="accent5" accent6="accent6" hlink="hlink" folHlink="folHlink"/>
  <p:sldLayoutIdLst>
    <p:sldLayoutId id="2147485676" r:id="rId1"/>
    <p:sldLayoutId id="2147485677" r:id="rId2"/>
    <p:sldLayoutId id="2147485678" r:id="rId3"/>
    <p:sldLayoutId id="2147485679" r:id="rId4"/>
    <p:sldLayoutId id="2147485680" r:id="rId5"/>
    <p:sldLayoutId id="2147485681" r:id="rId6"/>
    <p:sldLayoutId id="2147485682" r:id="rId7"/>
    <p:sldLayoutId id="2147485683" r:id="rId8"/>
    <p:sldLayoutId id="2147485684" r:id="rId9"/>
    <p:sldLayoutId id="2147485685" r:id="rId10"/>
    <p:sldLayoutId id="2147485686" r:id="rId11"/>
    <p:sldLayoutId id="2147485687" r:id="rId12"/>
    <p:sldLayoutId id="2147485688" r:id="rId13"/>
    <p:sldLayoutId id="2147485689" r:id="rId14"/>
    <p:sldLayoutId id="2147485690" r:id="rId15"/>
    <p:sldLayoutId id="2147485691" r:id="rId16"/>
    <p:sldLayoutId id="2147485692" r:id="rId17"/>
    <p:sldLayoutId id="2147485693" r:id="rId18"/>
    <p:sldLayoutId id="2147485694" r:id="rId19"/>
  </p:sldLayoutIdLst>
  <p:hf hdr="0" ftr="0" dt="0"/>
  <p:txStyles>
    <p:titleStyle>
      <a:lvl1pPr algn="l" defTabSz="1219170" rtl="0" eaLnBrk="1" latinLnBrk="0" hangingPunct="1">
        <a:lnSpc>
          <a:spcPct val="100000"/>
        </a:lnSpc>
        <a:spcBef>
          <a:spcPct val="0"/>
        </a:spcBef>
        <a:buNone/>
        <a:defRPr sz="3200" kern="1200">
          <a:solidFill>
            <a:srgbClr val="0A3C53"/>
          </a:solidFill>
          <a:latin typeface="Alda Pro" pitchFamily="50" charset="0"/>
          <a:ea typeface="+mj-ea"/>
          <a:cs typeface="+mj-cs"/>
        </a:defRPr>
      </a:lvl1pPr>
    </p:titleStyle>
    <p:bodyStyle>
      <a:lvl1pPr marL="304792" indent="-304792" algn="l" defTabSz="1219170" rtl="0" eaLnBrk="1" latinLnBrk="0" hangingPunct="1">
        <a:lnSpc>
          <a:spcPct val="100000"/>
        </a:lnSpc>
        <a:spcBef>
          <a:spcPts val="400"/>
        </a:spcBef>
        <a:buFont typeface="Arial" panose="020B0604020202020204" pitchFamily="34" charset="0"/>
        <a:buChar char="•"/>
        <a:defRPr sz="2667" kern="1200">
          <a:solidFill>
            <a:srgbClr val="0A3C53"/>
          </a:solidFill>
          <a:latin typeface="Effra Pro" panose="020B0603020203020204" pitchFamily="34" charset="0"/>
          <a:ea typeface="+mn-ea"/>
          <a:cs typeface="+mn-cs"/>
        </a:defRPr>
      </a:lvl1pPr>
      <a:lvl2pPr marL="914377" indent="-304792" algn="l" defTabSz="1219170" rtl="0" eaLnBrk="1" latinLnBrk="0" hangingPunct="1">
        <a:lnSpc>
          <a:spcPct val="100000"/>
        </a:lnSpc>
        <a:spcBef>
          <a:spcPts val="400"/>
        </a:spcBef>
        <a:buFont typeface="Tahoma" panose="020B0604030504040204" pitchFamily="34" charset="0"/>
        <a:buChar char="–"/>
        <a:defRPr sz="2400" kern="1200">
          <a:solidFill>
            <a:srgbClr val="0A3C53"/>
          </a:solidFill>
          <a:latin typeface="Effra Pro" panose="020B0603020203020204" pitchFamily="34" charset="0"/>
          <a:ea typeface="+mn-ea"/>
          <a:cs typeface="+mn-cs"/>
        </a:defRPr>
      </a:lvl2pPr>
      <a:lvl3pPr marL="1523962" indent="-304792" algn="l" defTabSz="1219170" rtl="0" eaLnBrk="1" latinLnBrk="0" hangingPunct="1">
        <a:lnSpc>
          <a:spcPct val="100000"/>
        </a:lnSpc>
        <a:spcBef>
          <a:spcPts val="400"/>
        </a:spcBef>
        <a:buFont typeface="Arial" panose="020B0604020202020204" pitchFamily="34" charset="0"/>
        <a:buChar char="•"/>
        <a:defRPr sz="2400" kern="1200">
          <a:solidFill>
            <a:srgbClr val="0A3C53"/>
          </a:solidFill>
          <a:latin typeface="Effra Pro" panose="020B0603020203020204" pitchFamily="34" charset="0"/>
          <a:ea typeface="+mn-ea"/>
          <a:cs typeface="+mn-cs"/>
        </a:defRPr>
      </a:lvl3pPr>
      <a:lvl4pPr marL="2133547" indent="-304792" algn="l" defTabSz="1219170" rtl="0" eaLnBrk="1" latinLnBrk="0" hangingPunct="1">
        <a:lnSpc>
          <a:spcPct val="100000"/>
        </a:lnSpc>
        <a:spcBef>
          <a:spcPts val="400"/>
        </a:spcBef>
        <a:buFont typeface="Tahoma" panose="020B0604030504040204" pitchFamily="34" charset="0"/>
        <a:buChar char="–"/>
        <a:defRPr sz="2133" kern="1200">
          <a:solidFill>
            <a:srgbClr val="0A3C53"/>
          </a:solidFill>
          <a:latin typeface="Effra Pro" panose="020B0603020203020204" pitchFamily="34" charset="0"/>
          <a:ea typeface="+mn-ea"/>
          <a:cs typeface="+mn-cs"/>
        </a:defRPr>
      </a:lvl4pPr>
      <a:lvl5pPr marL="2743131" indent="-304792" algn="l" defTabSz="1219170" rtl="0" eaLnBrk="1" latinLnBrk="0" hangingPunct="1">
        <a:lnSpc>
          <a:spcPct val="100000"/>
        </a:lnSpc>
        <a:spcBef>
          <a:spcPts val="400"/>
        </a:spcBef>
        <a:buFont typeface="Arial" panose="020B0604020202020204" pitchFamily="34" charset="0"/>
        <a:buChar char="•"/>
        <a:defRPr sz="2133" kern="1200">
          <a:solidFill>
            <a:srgbClr val="0A3C53"/>
          </a:solidFill>
          <a:latin typeface="Effra Pro" panose="020B0603020203020204" pitchFamily="34" charset="0"/>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F26B43"/>
          </p15:clr>
        </p15:guide>
        <p15:guide id="2" pos="7424">
          <p15:clr>
            <a:srgbClr val="F26B43"/>
          </p15:clr>
        </p15:guide>
        <p15:guide id="3" orient="horz" pos="1136">
          <p15:clr>
            <a:srgbClr val="F26B43"/>
          </p15:clr>
        </p15:guide>
        <p15:guide id="4" orient="horz" pos="1200">
          <p15:clr>
            <a:srgbClr val="F26B43"/>
          </p15:clr>
        </p15:guide>
        <p15:guide id="5" orient="horz" pos="432">
          <p15:clr>
            <a:srgbClr val="F26B43"/>
          </p15:clr>
        </p15:guide>
        <p15:guide id="6" orient="horz" pos="112">
          <p15:clr>
            <a:srgbClr val="F26B43"/>
          </p15:clr>
        </p15:guide>
        <p15:guide id="7" orient="horz" pos="4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D30729D-0D26-747D-AD24-1C33F368B2A1}"/>
              </a:ext>
            </a:extLst>
          </p:cNvPr>
          <p:cNvGraphicFramePr>
            <a:graphicFrameLocks noChangeAspect="1"/>
          </p:cNvGraphicFramePr>
          <p:nvPr userDrawn="1">
            <p:custDataLst>
              <p:tags r:id="rId25"/>
            </p:custDataLst>
            <p:extLst>
              <p:ext uri="{D42A27DB-BD31-4B8C-83A1-F6EECF244321}">
                <p14:modId xmlns:p14="http://schemas.microsoft.com/office/powerpoint/2010/main" val="15356342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359" imgH="355" progId="TCLayout.ActiveDocument.1">
                  <p:embed/>
                </p:oleObj>
              </mc:Choice>
              <mc:Fallback>
                <p:oleObj name="think-cell Slide" r:id="rId26" imgW="359" imgH="355" progId="TCLayout.ActiveDocument.1">
                  <p:embed/>
                  <p:pic>
                    <p:nvPicPr>
                      <p:cNvPr id="5" name="think-cell data - do not delete" hidden="1">
                        <a:extLst>
                          <a:ext uri="{FF2B5EF4-FFF2-40B4-BE49-F238E27FC236}">
                            <a16:creationId xmlns:a16="http://schemas.microsoft.com/office/drawing/2014/main" id="{9D30729D-0D26-747D-AD24-1C33F368B2A1}"/>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4" y="1691169"/>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9"/>
          <p:cNvSpPr>
            <a:spLocks noGrp="1"/>
          </p:cNvSpPr>
          <p:nvPr>
            <p:ph type="sldNum" sz="quarter" idx="4"/>
          </p:nvPr>
        </p:nvSpPr>
        <p:spPr>
          <a:xfrm>
            <a:off x="11493851" y="6564227"/>
            <a:ext cx="304800" cy="164148"/>
          </a:xfrm>
          <a:prstGeom prst="rect">
            <a:avLst/>
          </a:prstGeom>
        </p:spPr>
        <p:txBody>
          <a:bodyPr vert="horz" wrap="square" lIns="0" tIns="0" rIns="0" bIns="0" rtlCol="0" anchor="ctr">
            <a:spAutoFit/>
          </a:bodyPr>
          <a:lstStyle>
            <a:lvl1pPr algn="r" fontAlgn="auto">
              <a:spcBef>
                <a:spcPts val="0"/>
              </a:spcBef>
              <a:spcAft>
                <a:spcPts val="0"/>
              </a:spcAft>
              <a:defRPr sz="1067"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pic>
        <p:nvPicPr>
          <p:cNvPr id="11" name="Picture 10"/>
          <p:cNvPicPr>
            <a:picLocks noChangeAspect="1"/>
          </p:cNvPicPr>
          <p:nvPr userDrawn="1"/>
        </p:nvPicPr>
        <p:blipFill>
          <a:blip r:embed="rId28" cstate="print">
            <a:extLst>
              <a:ext uri="{28A0092B-C50C-407E-A947-70E740481C1C}">
                <a14:useLocalDpi xmlns:a14="http://schemas.microsoft.com/office/drawing/2010/main" val="0"/>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27370487"/>
      </p:ext>
    </p:extLst>
  </p:cSld>
  <p:clrMap bg1="lt1" tx1="dk1" bg2="lt2" tx2="dk2" accent1="accent1" accent2="accent2" accent3="accent3" accent4="accent4" accent5="accent5" accent6="accent6" hlink="hlink" folHlink="folHlink"/>
  <p:sldLayoutIdLst>
    <p:sldLayoutId id="2147484788" r:id="rId1"/>
    <p:sldLayoutId id="2147484789" r:id="rId2"/>
    <p:sldLayoutId id="2147484787" r:id="rId3"/>
    <p:sldLayoutId id="2147484794" r:id="rId4"/>
    <p:sldLayoutId id="2147484800" r:id="rId5"/>
    <p:sldLayoutId id="2147484801" r:id="rId6"/>
    <p:sldLayoutId id="2147484763" r:id="rId7"/>
    <p:sldLayoutId id="2147484782" r:id="rId8"/>
    <p:sldLayoutId id="2147484764" r:id="rId9"/>
    <p:sldLayoutId id="2147484802" r:id="rId10"/>
    <p:sldLayoutId id="2147484797" r:id="rId11"/>
    <p:sldLayoutId id="2147484803" r:id="rId12"/>
    <p:sldLayoutId id="2147484793" r:id="rId13"/>
    <p:sldLayoutId id="2147484804" r:id="rId14"/>
    <p:sldLayoutId id="2147484765" r:id="rId15"/>
    <p:sldLayoutId id="2147484796" r:id="rId16"/>
    <p:sldLayoutId id="2147484776" r:id="rId17"/>
    <p:sldLayoutId id="2147484768" r:id="rId18"/>
    <p:sldLayoutId id="2147484779" r:id="rId19"/>
    <p:sldLayoutId id="2147484795" r:id="rId20"/>
    <p:sldLayoutId id="2147484769" r:id="rId21"/>
    <p:sldLayoutId id="2147484798" r:id="rId22"/>
    <p:sldLayoutId id="2147484771" r:id="rId23"/>
  </p:sldLayoutIdLst>
  <p:hf hdr="0" ftr="0" dt="0"/>
  <p:txStyles>
    <p:titleStyle>
      <a:lvl1pPr algn="l" defTabSz="914400" rtl="0" eaLnBrk="1" latinLnBrk="0" hangingPunct="1">
        <a:lnSpc>
          <a:spcPct val="100000"/>
        </a:lnSpc>
        <a:spcBef>
          <a:spcPct val="0"/>
        </a:spcBef>
        <a:buNone/>
        <a:defRPr sz="2400" kern="1200">
          <a:solidFill>
            <a:srgbClr val="0A3C53"/>
          </a:solidFill>
          <a:latin typeface="Alda Pro" pitchFamily="50" charset="0"/>
          <a:ea typeface="+mj-ea"/>
          <a:cs typeface="+mj-cs"/>
        </a:defRPr>
      </a:lvl1pPr>
    </p:titleStyle>
    <p:bodyStyle>
      <a:lvl1pPr marL="228600" indent="-228600" algn="l" defTabSz="914400" rtl="0" eaLnBrk="1" latinLnBrk="0" hangingPunct="1">
        <a:lnSpc>
          <a:spcPct val="100000"/>
        </a:lnSpc>
        <a:spcBef>
          <a:spcPts val="300"/>
        </a:spcBef>
        <a:buFont typeface="Arial" panose="020B0604020202020204" pitchFamily="34" charset="0"/>
        <a:buChar char="•"/>
        <a:defRPr sz="2000" kern="1200">
          <a:solidFill>
            <a:srgbClr val="0A3C53"/>
          </a:solidFill>
          <a:latin typeface="Effra Pro" panose="020B0603020203020204" pitchFamily="34" charset="0"/>
          <a:ea typeface="+mn-ea"/>
          <a:cs typeface="+mn-cs"/>
        </a:defRPr>
      </a:lvl1pPr>
      <a:lvl2pPr marL="685800" indent="-228600" algn="l" defTabSz="914400" rtl="0" eaLnBrk="1" latinLnBrk="0" hangingPunct="1">
        <a:lnSpc>
          <a:spcPct val="100000"/>
        </a:lnSpc>
        <a:spcBef>
          <a:spcPts val="300"/>
        </a:spcBef>
        <a:buFont typeface="Tahoma" panose="020B0604030504040204" pitchFamily="34" charset="0"/>
        <a:buChar char="–"/>
        <a:defRPr sz="1800" kern="1200">
          <a:solidFill>
            <a:srgbClr val="0A3C53"/>
          </a:solidFill>
          <a:latin typeface="Effra Pro" panose="020B0603020203020204" pitchFamily="34" charset="0"/>
          <a:ea typeface="+mn-ea"/>
          <a:cs typeface="+mn-cs"/>
        </a:defRPr>
      </a:lvl2pPr>
      <a:lvl3pPr marL="1143000" indent="-228600" algn="l" defTabSz="914400" rtl="0" eaLnBrk="1" latinLnBrk="0" hangingPunct="1">
        <a:lnSpc>
          <a:spcPct val="100000"/>
        </a:lnSpc>
        <a:spcBef>
          <a:spcPts val="300"/>
        </a:spcBef>
        <a:buFont typeface="Arial" panose="020B0604020202020204" pitchFamily="34" charset="0"/>
        <a:buChar char="•"/>
        <a:defRPr sz="1800" kern="1200">
          <a:solidFill>
            <a:srgbClr val="0A3C53"/>
          </a:solidFill>
          <a:latin typeface="Effra Pro" panose="020B0603020203020204" pitchFamily="34" charset="0"/>
          <a:ea typeface="+mn-ea"/>
          <a:cs typeface="+mn-cs"/>
        </a:defRPr>
      </a:lvl3pPr>
      <a:lvl4pPr marL="1600200" indent="-228600" algn="l" defTabSz="914400" rtl="0" eaLnBrk="1" latinLnBrk="0" hangingPunct="1">
        <a:lnSpc>
          <a:spcPct val="100000"/>
        </a:lnSpc>
        <a:spcBef>
          <a:spcPts val="300"/>
        </a:spcBef>
        <a:buFont typeface="Tahoma" panose="020B0604030504040204" pitchFamily="34" charset="0"/>
        <a:buChar char="–"/>
        <a:defRPr sz="1600" kern="1200">
          <a:solidFill>
            <a:srgbClr val="0A3C53"/>
          </a:solidFill>
          <a:latin typeface="Effra Pro" panose="020B0603020203020204" pitchFamily="34" charset="0"/>
          <a:ea typeface="+mn-ea"/>
          <a:cs typeface="+mn-cs"/>
        </a:defRPr>
      </a:lvl4pPr>
      <a:lvl5pPr marL="2057400" indent="-228600" algn="l" defTabSz="914400" rtl="0" eaLnBrk="1" latinLnBrk="0" hangingPunct="1">
        <a:lnSpc>
          <a:spcPct val="100000"/>
        </a:lnSpc>
        <a:spcBef>
          <a:spcPts val="300"/>
        </a:spcBef>
        <a:buFont typeface="Arial" panose="020B0604020202020204" pitchFamily="34" charset="0"/>
        <a:buChar char="•"/>
        <a:defRPr sz="1600" kern="1200">
          <a:solidFill>
            <a:srgbClr val="0A3C53"/>
          </a:solidFill>
          <a:latin typeface="Effra Pro" panose="020B06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F26B43"/>
          </p15:clr>
        </p15:guide>
        <p15:guide id="2" pos="7424" userDrawn="1">
          <p15:clr>
            <a:srgbClr val="F26B43"/>
          </p15:clr>
        </p15:guide>
        <p15:guide id="3" orient="horz" pos="1136" userDrawn="1">
          <p15:clr>
            <a:srgbClr val="F26B43"/>
          </p15:clr>
        </p15:guide>
        <p15:guide id="4" orient="horz" pos="1200" userDrawn="1">
          <p15:clr>
            <a:srgbClr val="F26B43"/>
          </p15:clr>
        </p15:guide>
        <p15:guide id="5" orient="horz" pos="432" userDrawn="1">
          <p15:clr>
            <a:srgbClr val="F26B43"/>
          </p15:clr>
        </p15:guide>
        <p15:guide id="6" orient="horz" pos="112" userDrawn="1">
          <p15:clr>
            <a:srgbClr val="F26B43"/>
          </p15:clr>
        </p15:guide>
        <p15:guide id="7" orient="horz" pos="49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D4E4">
            <a:alpha val="60000"/>
          </a:srgb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6220683-AF66-8E2D-0592-63202EC61B72}"/>
              </a:ext>
            </a:extLst>
          </p:cNvPr>
          <p:cNvGraphicFramePr>
            <a:graphicFrameLocks noChangeAspect="1"/>
          </p:cNvGraphicFramePr>
          <p:nvPr userDrawn="1">
            <p:custDataLst>
              <p:tags r:id="rId19"/>
            </p:custDataLst>
            <p:extLst>
              <p:ext uri="{D42A27DB-BD31-4B8C-83A1-F6EECF244321}">
                <p14:modId xmlns:p14="http://schemas.microsoft.com/office/powerpoint/2010/main" val="4127426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59" imgH="355" progId="TCLayout.ActiveDocument.1">
                  <p:embed/>
                </p:oleObj>
              </mc:Choice>
              <mc:Fallback>
                <p:oleObj name="think-cell Slide" r:id="rId20" imgW="359" imgH="355" progId="TCLayout.ActiveDocument.1">
                  <p:embed/>
                  <p:pic>
                    <p:nvPicPr>
                      <p:cNvPr id="5" name="think-cell data - do not delete" hidden="1">
                        <a:extLst>
                          <a:ext uri="{FF2B5EF4-FFF2-40B4-BE49-F238E27FC236}">
                            <a16:creationId xmlns:a16="http://schemas.microsoft.com/office/drawing/2014/main" id="{E6220683-AF66-8E2D-0592-63202EC61B72}"/>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10" name="Rectangle 9"/>
          <p:cNvSpPr/>
          <p:nvPr userDrawn="1"/>
        </p:nvSpPr>
        <p:spPr bwMode="white">
          <a:xfrm>
            <a:off x="0" y="5943600"/>
            <a:ext cx="12192000"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Placeholder 1"/>
          <p:cNvSpPr>
            <a:spLocks noGrp="1"/>
          </p:cNvSpPr>
          <p:nvPr>
            <p:ph type="title"/>
          </p:nvPr>
        </p:nvSpPr>
        <p:spPr>
          <a:xfrm>
            <a:off x="390144" y="182880"/>
            <a:ext cx="10457317" cy="118444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390145" y="1691170"/>
            <a:ext cx="11408507" cy="405063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393349" y="6187440"/>
            <a:ext cx="426720" cy="426720"/>
          </a:xfrm>
          <a:prstGeom prst="rect">
            <a:avLst/>
          </a:prstGeom>
        </p:spPr>
      </p:pic>
    </p:spTree>
    <p:extLst>
      <p:ext uri="{BB962C8B-B14F-4D97-AF65-F5344CB8AC3E}">
        <p14:creationId xmlns:p14="http://schemas.microsoft.com/office/powerpoint/2010/main" val="3008841035"/>
      </p:ext>
    </p:extLst>
  </p:cSld>
  <p:clrMap bg1="lt1" tx1="dk1" bg2="lt2" tx2="dk2" accent1="accent1" accent2="accent2" accent3="accent3" accent4="accent4" accent5="accent5" accent6="accent6" hlink="hlink" folHlink="folHlink"/>
  <p:sldLayoutIdLst>
    <p:sldLayoutId id="2147484831" r:id="rId1"/>
    <p:sldLayoutId id="2147484832" r:id="rId2"/>
    <p:sldLayoutId id="2147484833" r:id="rId3"/>
    <p:sldLayoutId id="2147484834" r:id="rId4"/>
    <p:sldLayoutId id="2147484835" r:id="rId5"/>
    <p:sldLayoutId id="2147484836" r:id="rId6"/>
    <p:sldLayoutId id="2147484837" r:id="rId7"/>
    <p:sldLayoutId id="2147484838" r:id="rId8"/>
    <p:sldLayoutId id="2147484839" r:id="rId9"/>
    <p:sldLayoutId id="2147484840" r:id="rId10"/>
    <p:sldLayoutId id="2147484841" r:id="rId11"/>
    <p:sldLayoutId id="2147484842" r:id="rId12"/>
    <p:sldLayoutId id="2147484843" r:id="rId13"/>
    <p:sldLayoutId id="2147484844" r:id="rId14"/>
    <p:sldLayoutId id="2147484845" r:id="rId15"/>
    <p:sldLayoutId id="2147484846" r:id="rId16"/>
    <p:sldLayoutId id="2147484855" r:id="rId17"/>
  </p:sldLayoutIdLst>
  <p:hf hdr="0" ftr="0" dt="0"/>
  <p:txStyles>
    <p:titleStyle>
      <a:lvl1pPr algn="l" defTabSz="914378" rtl="0" eaLnBrk="1" latinLnBrk="0" hangingPunct="1">
        <a:lnSpc>
          <a:spcPct val="100000"/>
        </a:lnSpc>
        <a:spcBef>
          <a:spcPct val="0"/>
        </a:spcBef>
        <a:buNone/>
        <a:defRPr sz="2400" kern="1200">
          <a:solidFill>
            <a:srgbClr val="0A3C53"/>
          </a:solidFill>
          <a:latin typeface="Alda Pro" pitchFamily="50" charset="0"/>
          <a:ea typeface="+mj-ea"/>
          <a:cs typeface="+mj-cs"/>
        </a:defRPr>
      </a:lvl1pPr>
    </p:titleStyle>
    <p:bodyStyle>
      <a:lvl1pPr marL="228594" indent="-228594" algn="l" defTabSz="914378" rtl="0" eaLnBrk="1" latinLnBrk="0" hangingPunct="1">
        <a:lnSpc>
          <a:spcPct val="100000"/>
        </a:lnSpc>
        <a:spcBef>
          <a:spcPts val="300"/>
        </a:spcBef>
        <a:buFont typeface="Arial" panose="020B0604020202020204" pitchFamily="34" charset="0"/>
        <a:buChar char="•"/>
        <a:defRPr sz="2000" kern="1200">
          <a:solidFill>
            <a:srgbClr val="0A3C53"/>
          </a:solidFill>
          <a:latin typeface="Effra Pro" panose="020B0603020203020204" pitchFamily="34" charset="0"/>
          <a:ea typeface="+mn-ea"/>
          <a:cs typeface="+mn-cs"/>
        </a:defRPr>
      </a:lvl1pPr>
      <a:lvl2pPr marL="685783" indent="-228594" algn="l" defTabSz="914378" rtl="0" eaLnBrk="1" latinLnBrk="0" hangingPunct="1">
        <a:lnSpc>
          <a:spcPct val="100000"/>
        </a:lnSpc>
        <a:spcBef>
          <a:spcPts val="300"/>
        </a:spcBef>
        <a:buFont typeface="Tahoma" panose="020B0604030504040204" pitchFamily="34" charset="0"/>
        <a:buChar char="–"/>
        <a:defRPr sz="1800" kern="1200">
          <a:solidFill>
            <a:srgbClr val="0A3C53"/>
          </a:solidFill>
          <a:latin typeface="Effra Pro" panose="020B0603020203020204" pitchFamily="34" charset="0"/>
          <a:ea typeface="+mn-ea"/>
          <a:cs typeface="+mn-cs"/>
        </a:defRPr>
      </a:lvl2pPr>
      <a:lvl3pPr marL="1142972" indent="-228594" algn="l" defTabSz="914378" rtl="0" eaLnBrk="1" latinLnBrk="0" hangingPunct="1">
        <a:lnSpc>
          <a:spcPct val="100000"/>
        </a:lnSpc>
        <a:spcBef>
          <a:spcPts val="300"/>
        </a:spcBef>
        <a:buFont typeface="Arial" panose="020B0604020202020204" pitchFamily="34" charset="0"/>
        <a:buChar char="•"/>
        <a:defRPr sz="1800" kern="1200">
          <a:solidFill>
            <a:srgbClr val="0A3C53"/>
          </a:solidFill>
          <a:latin typeface="Effra Pro" panose="020B0603020203020204" pitchFamily="34" charset="0"/>
          <a:ea typeface="+mn-ea"/>
          <a:cs typeface="+mn-cs"/>
        </a:defRPr>
      </a:lvl3pPr>
      <a:lvl4pPr marL="1600160" indent="-228594" algn="l" defTabSz="914378" rtl="0" eaLnBrk="1" latinLnBrk="0" hangingPunct="1">
        <a:lnSpc>
          <a:spcPct val="100000"/>
        </a:lnSpc>
        <a:spcBef>
          <a:spcPts val="300"/>
        </a:spcBef>
        <a:buFont typeface="Tahoma" panose="020B0604030504040204" pitchFamily="34" charset="0"/>
        <a:buChar char="–"/>
        <a:defRPr sz="1600" kern="1200">
          <a:solidFill>
            <a:srgbClr val="0A3C53"/>
          </a:solidFill>
          <a:latin typeface="Effra Pro" panose="020B0603020203020204" pitchFamily="34" charset="0"/>
          <a:ea typeface="+mn-ea"/>
          <a:cs typeface="+mn-cs"/>
        </a:defRPr>
      </a:lvl4pPr>
      <a:lvl5pPr marL="2057348" indent="-228594" algn="l" defTabSz="914378" rtl="0" eaLnBrk="1" latinLnBrk="0" hangingPunct="1">
        <a:lnSpc>
          <a:spcPct val="100000"/>
        </a:lnSpc>
        <a:spcBef>
          <a:spcPts val="300"/>
        </a:spcBef>
        <a:buFont typeface="Arial" panose="020B0604020202020204" pitchFamily="34" charset="0"/>
        <a:buChar char="•"/>
        <a:defRPr sz="1600" kern="1200">
          <a:solidFill>
            <a:srgbClr val="0A3C53"/>
          </a:solidFill>
          <a:latin typeface="Effra Pro" panose="020B0603020203020204"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1" userDrawn="1">
          <p15:clr>
            <a:srgbClr val="F26B43"/>
          </p15:clr>
        </p15:guide>
        <p15:guide id="2" pos="9899" userDrawn="1">
          <p15:clr>
            <a:srgbClr val="F26B43"/>
          </p15:clr>
        </p15:guide>
        <p15:guide id="3" orient="horz" pos="1515" userDrawn="1">
          <p15:clr>
            <a:srgbClr val="F26B43"/>
          </p15:clr>
        </p15:guide>
        <p15:guide id="4" orient="horz" pos="1600" userDrawn="1">
          <p15:clr>
            <a:srgbClr val="F26B43"/>
          </p15:clr>
        </p15:guide>
        <p15:guide id="5" orient="horz" pos="576" userDrawn="1">
          <p15:clr>
            <a:srgbClr val="F26B43"/>
          </p15:clr>
        </p15:guide>
        <p15:guide id="6" orient="horz" pos="149" userDrawn="1">
          <p15:clr>
            <a:srgbClr val="F26B43"/>
          </p15:clr>
        </p15:guide>
        <p15:guide id="7" orient="horz" pos="661"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5">
            <a:alphaModFix amt="20000"/>
          </a:blip>
          <a:stretch>
            <a:fillRect/>
          </a:stretch>
        </p:blipFill>
        <p:spPr>
          <a:xfrm>
            <a:off x="0" y="616856"/>
            <a:ext cx="6265333" cy="6241143"/>
          </a:xfrm>
          <a:prstGeom prst="rect">
            <a:avLst/>
          </a:prstGeom>
        </p:spPr>
      </p:pic>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6"/>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26269" y="1554480"/>
            <a:ext cx="1093946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7"/>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  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8"/>
          <a:stretch>
            <a:fillRect/>
          </a:stretch>
        </p:blipFill>
        <p:spPr>
          <a:xfrm>
            <a:off x="10300075" y="6257753"/>
            <a:ext cx="1239653" cy="314078"/>
          </a:xfrm>
          <a:prstGeom prst="rect">
            <a:avLst/>
          </a:prstGeom>
        </p:spPr>
      </p:pic>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5858" r:id="rId2"/>
    <p:sldLayoutId id="2147485859" r:id="rId3"/>
    <p:sldLayoutId id="2147485860" r:id="rId4"/>
    <p:sldLayoutId id="2147485861" r:id="rId5"/>
    <p:sldLayoutId id="2147485862" r:id="rId6"/>
    <p:sldLayoutId id="2147485863" r:id="rId7"/>
    <p:sldLayoutId id="2147485864" r:id="rId8"/>
    <p:sldLayoutId id="2147485865" r:id="rId9"/>
    <p:sldLayoutId id="2147485866" r:id="rId10"/>
    <p:sldLayoutId id="2147485867" r:id="rId11"/>
    <p:sldLayoutId id="2147485868" r:id="rId12"/>
    <p:sldLayoutId id="2147485869" r:id="rId13"/>
    <p:sldLayoutId id="2147485870" r:id="rId14"/>
    <p:sldLayoutId id="2147485871" r:id="rId15"/>
    <p:sldLayoutId id="2147485872" r:id="rId16"/>
    <p:sldLayoutId id="2147485873" r:id="rId17"/>
    <p:sldLayoutId id="2147485874" r:id="rId18"/>
    <p:sldLayoutId id="2147485875" r:id="rId19"/>
    <p:sldLayoutId id="2147485876" r:id="rId20"/>
    <p:sldLayoutId id="2147485877" r:id="rId21"/>
    <p:sldLayoutId id="2147485878" r:id="rId22"/>
    <p:sldLayoutId id="2147485879" r:id="rId23"/>
    <p:sldLayoutId id="2147485880" r:id="rId24"/>
    <p:sldLayoutId id="2147485881" r:id="rId25"/>
    <p:sldLayoutId id="2147485882" r:id="rId26"/>
    <p:sldLayoutId id="2147485883" r:id="rId27"/>
    <p:sldLayoutId id="2147485884" r:id="rId28"/>
    <p:sldLayoutId id="2147485886" r:id="rId29"/>
    <p:sldLayoutId id="2147485888" r:id="rId30"/>
    <p:sldLayoutId id="2147485889" r:id="rId31"/>
    <p:sldLayoutId id="2147486006" r:id="rId32"/>
    <p:sldLayoutId id="2147486035" r:id="rId33"/>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29">
            <a:alphaModFix amt="20000"/>
          </a:blip>
          <a:stretch>
            <a:fillRect/>
          </a:stretch>
        </p:blipFill>
        <p:spPr>
          <a:xfrm>
            <a:off x="0" y="616856"/>
            <a:ext cx="6265333" cy="6241143"/>
          </a:xfrm>
          <a:prstGeom prst="rect">
            <a:avLst/>
          </a:prstGeom>
        </p:spPr>
      </p:pic>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0"/>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26269" y="1554480"/>
            <a:ext cx="1093946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1"/>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886228704"/>
      </p:ext>
    </p:extLst>
  </p:cSld>
  <p:clrMap bg1="lt1" tx1="dk1" bg2="lt2" tx2="dk2" accent1="accent1" accent2="accent2" accent3="accent3" accent4="accent4" accent5="accent5" accent6="accent6" hlink="hlink" folHlink="folHlink"/>
  <p:sldLayoutIdLst>
    <p:sldLayoutId id="2147486037" r:id="rId1"/>
    <p:sldLayoutId id="2147486038" r:id="rId2"/>
    <p:sldLayoutId id="2147486039" r:id="rId3"/>
    <p:sldLayoutId id="2147486040" r:id="rId4"/>
    <p:sldLayoutId id="2147486041" r:id="rId5"/>
    <p:sldLayoutId id="2147486042" r:id="rId6"/>
    <p:sldLayoutId id="2147486043" r:id="rId7"/>
    <p:sldLayoutId id="2147486044" r:id="rId8"/>
    <p:sldLayoutId id="2147486045" r:id="rId9"/>
    <p:sldLayoutId id="2147486046" r:id="rId10"/>
    <p:sldLayoutId id="2147486047" r:id="rId11"/>
    <p:sldLayoutId id="2147486048" r:id="rId12"/>
    <p:sldLayoutId id="2147486049" r:id="rId13"/>
    <p:sldLayoutId id="2147486050" r:id="rId14"/>
    <p:sldLayoutId id="2147486051" r:id="rId15"/>
    <p:sldLayoutId id="2147486052" r:id="rId16"/>
    <p:sldLayoutId id="2147486053" r:id="rId17"/>
    <p:sldLayoutId id="2147486054" r:id="rId18"/>
    <p:sldLayoutId id="2147486055" r:id="rId19"/>
    <p:sldLayoutId id="2147486056" r:id="rId20"/>
    <p:sldLayoutId id="2147486057" r:id="rId21"/>
    <p:sldLayoutId id="2147486058" r:id="rId22"/>
    <p:sldLayoutId id="2147486059" r:id="rId23"/>
    <p:sldLayoutId id="2147486060" r:id="rId24"/>
    <p:sldLayoutId id="2147486061" r:id="rId25"/>
    <p:sldLayoutId id="2147486062" r:id="rId26"/>
    <p:sldLayoutId id="2147486063" r:id="rId27"/>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8" name="Picture 7" descr="A blue and grey square  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0">
            <a:alphaModFix amt="20000"/>
          </a:blip>
          <a:stretch>
            <a:fillRect/>
          </a:stretch>
        </p:blipFill>
        <p:spPr>
          <a:xfrm>
            <a:off x="0" y="616856"/>
            <a:ext cx="6265333" cy="6241143"/>
          </a:xfrm>
          <a:prstGeom prst="rect">
            <a:avLst/>
          </a:prstGeom>
        </p:spPr>
      </p:pic>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31"/>
          <a:srcRect/>
          <a:stretch/>
        </p:blipFill>
        <p:spPr>
          <a:xfrm>
            <a:off x="612892"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649224" y="493776"/>
            <a:ext cx="10890504"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649224" y="1554480"/>
            <a:ext cx="1089050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579107"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2"/>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  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3"/>
          <a:stretch>
            <a:fillRect/>
          </a:stretch>
        </p:blipFill>
        <p:spPr>
          <a:xfrm>
            <a:off x="10300075" y="6257753"/>
            <a:ext cx="1239653" cy="314078"/>
          </a:xfrm>
          <a:prstGeom prst="rect">
            <a:avLst/>
          </a:prstGeom>
        </p:spPr>
      </p:pic>
    </p:spTree>
    <p:extLst>
      <p:ext uri="{BB962C8B-B14F-4D97-AF65-F5344CB8AC3E}">
        <p14:creationId xmlns:p14="http://schemas.microsoft.com/office/powerpoint/2010/main" val="4257624716"/>
      </p:ext>
    </p:extLst>
  </p:cSld>
  <p:clrMap bg1="lt1" tx1="dk1" bg2="lt2" tx2="dk2" accent1="accent1" accent2="accent2" accent3="accent3" accent4="accent4" accent5="accent5" accent6="accent6" hlink="hlink" folHlink="folHlink"/>
  <p:sldLayoutIdLst>
    <p:sldLayoutId id="2147486065" r:id="rId1"/>
    <p:sldLayoutId id="2147486066" r:id="rId2"/>
    <p:sldLayoutId id="2147486067" r:id="rId3"/>
    <p:sldLayoutId id="2147486068" r:id="rId4"/>
    <p:sldLayoutId id="2147486069" r:id="rId5"/>
    <p:sldLayoutId id="2147486070" r:id="rId6"/>
    <p:sldLayoutId id="2147486071" r:id="rId7"/>
    <p:sldLayoutId id="2147486072" r:id="rId8"/>
    <p:sldLayoutId id="2147486073" r:id="rId9"/>
    <p:sldLayoutId id="2147486074" r:id="rId10"/>
    <p:sldLayoutId id="2147486075" r:id="rId11"/>
    <p:sldLayoutId id="2147486076" r:id="rId12"/>
    <p:sldLayoutId id="2147486077" r:id="rId13"/>
    <p:sldLayoutId id="2147486078" r:id="rId14"/>
    <p:sldLayoutId id="2147486079" r:id="rId15"/>
    <p:sldLayoutId id="2147486080" r:id="rId16"/>
    <p:sldLayoutId id="2147486081" r:id="rId17"/>
    <p:sldLayoutId id="2147486082" r:id="rId18"/>
    <p:sldLayoutId id="2147486083" r:id="rId19"/>
    <p:sldLayoutId id="2147486084" r:id="rId20"/>
    <p:sldLayoutId id="2147486085" r:id="rId21"/>
    <p:sldLayoutId id="2147486086" r:id="rId22"/>
    <p:sldLayoutId id="2147486087" r:id="rId23"/>
    <p:sldLayoutId id="2147486088" r:id="rId24"/>
    <p:sldLayoutId id="2147486089" r:id="rId25"/>
    <p:sldLayoutId id="2147486090" r:id="rId26"/>
    <p:sldLayoutId id="2147486091" r:id="rId27"/>
    <p:sldLayoutId id="2147486092" r:id="rId28"/>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5.xml"/><Relationship Id="rId1" Type="http://schemas.openxmlformats.org/officeDocument/2006/relationships/tags" Target="../tags/tag9.xml"/></Relationships>
</file>

<file path=ppt/slides/_rels/slide2.xml.rels><?xml version="1.0" encoding="UTF-8"?><Relationships xmlns="http://schemas.openxmlformats.org/package/2006/relationships"><Relationship Id="rId3" Type="http://schemas.openxmlformats.org/officeDocument/2006/relationships/hyperlink" Target="https://www.today.newyorklife.com/agencyportal/s/article/Agent-incentive-bonuses-and-conditional-check" TargetMode="External"/><Relationship Id="rId2" Type="http://schemas.openxmlformats.org/officeDocument/2006/relationships/notesSlide" Target="../notesSlides/notesSlide2.xml"/><Relationship Id="rId1" Type="http://schemas.openxmlformats.org/officeDocument/2006/relationships/slideLayout" Target="../slideLayouts/slideLayout7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hyperlink" Target="https://www.today.newyorklife.com/agencyportal/s/article/Life-and-Annuity-Expense-Allowance-Plan" TargetMode="External"/></Relationships>
</file>

<file path=ppt/slides/_rels/slide3.xml.rels><?xml version="1.0" encoding="UTF-8"?><Relationships xmlns="http://schemas.openxmlformats.org/package/2006/relationships"><Relationship Id="rId3" Type="http://schemas.openxmlformats.org/officeDocument/2006/relationships/hyperlink" Target="https://money.com/best-life-insurance/#method" TargetMode="External"/><Relationship Id="rId2" Type="http://schemas.openxmlformats.org/officeDocument/2006/relationships/notesSlide" Target="../notesSlides/notesSlide3.xml"/><Relationship Id="rId1" Type="http://schemas.openxmlformats.org/officeDocument/2006/relationships/slideLayout" Target="../slideLayouts/slideLayout1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xml.rels><?xml version="1.0" encoding="UTF-8"?><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9.xml"/><Relationship Id="rId6" Type="http://schemas.openxmlformats.org/officeDocument/2006/relationships/image" Target="../media/image40.png"/><Relationship Id="rId5" Type="http://schemas.openxmlformats.org/officeDocument/2006/relationships/image" Target="../media/image39.jpeg"/><Relationship Id="rId4" Type="http://schemas.openxmlformats.org/officeDocument/2006/relationships/image" Target="../media/image38.png"/></Relationships>
</file>

<file path=ppt/slides/_rels/slide5.xml.rels><?xml version="1.0" encoding="UTF-8"?><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79.xml"/><Relationship Id="rId4" Type="http://schemas.openxmlformats.org/officeDocument/2006/relationships/image" Target="../media/image42.png"/></Relationships>
</file>

<file path=ppt/slides/_rels/slide6.xml.rels><?xml version="1.0" encoding="UTF-8"?><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39.xml"/><Relationship Id="rId4" Type="http://schemas.openxmlformats.org/officeDocument/2006/relationships/image" Target="../media/image44.png"/></Relationships>
</file>

<file path=ppt/slides/_rels/slide7.xml.rels><?xml version="1.0" encoding="UTF-8"?><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7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xml.rels><?xml version="1.0" encoding="UTF-8"?><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7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79.xml"/><Relationship Id="rId5" Type="http://schemas.openxmlformats.org/officeDocument/2006/relationships/image" Target="../media/image56.png"/><Relationship Id="rId4" Type="http://schemas.openxmlformats.org/officeDocument/2006/relationships/image" Target="../media/image55.png"/></Relationships>
</file>

<file path=ppt/slides/_rels/slide10.xml.rels><?xml version="1.0" encoding="UTF-8"?><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80.xml"/><Relationship Id="rId4" Type="http://schemas.openxmlformats.org/officeDocument/2006/relationships/image" Target="../media/image58.png"/></Relationships>
</file>

<file path=ppt/slides/_rels/slide11.xml.rels><?xml version="1.0" encoding="UTF-8"?><Relationships xmlns="http://schemas.openxmlformats.org/package/2006/relationships"><Relationship Id="rId8" Type="http://schemas.openxmlformats.org/officeDocument/2006/relationships/image" Target="../media/image62.png"/><Relationship Id="rId13" Type="http://schemas.openxmlformats.org/officeDocument/2006/relationships/hyperlink" Target="https://nylife.zoom.us/webinar/register/WN_79ekzU5ER7mJW_aR4445Ew" TargetMode="External"/><Relationship Id="rId3" Type="http://schemas.openxmlformats.org/officeDocument/2006/relationships/hyperlink" Target="mailto:nylhealthyliving@newyorklife.com" TargetMode="External"/><Relationship Id="rId7" Type="http://schemas.openxmlformats.org/officeDocument/2006/relationships/image" Target="../media/image61.png"/><Relationship Id="rId12" Type="http://schemas.openxmlformats.org/officeDocument/2006/relationships/hyperlink" Target="https://nylife.zoom.us/webinar/register/WN_xYjzVrWTQyCCqDPtJtPHtQ" TargetMode="External"/><Relationship Id="rId2" Type="http://schemas.openxmlformats.org/officeDocument/2006/relationships/notesSlide" Target="../notesSlides/notesSlide11.xml"/><Relationship Id="rId1" Type="http://schemas.openxmlformats.org/officeDocument/2006/relationships/slideLayout" Target="../slideLayouts/slideLayout111.xml"/><Relationship Id="rId6" Type="http://schemas.openxmlformats.org/officeDocument/2006/relationships/hyperlink" Target="https://nylife.zoom.us/webinar/register/WN_0S0jBULrS4qOWObETFbEww" TargetMode="External"/><Relationship Id="rId11" Type="http://schemas.openxmlformats.org/officeDocument/2006/relationships/hyperlink" Target="https://nylife.zoom.us/webinar/register/WN_rm1GYZNDSmSkCyrkIlHntQ" TargetMode="External"/><Relationship Id="rId5" Type="http://schemas.openxmlformats.org/officeDocument/2006/relationships/image" Target="../media/image60.png"/><Relationship Id="rId10" Type="http://schemas.openxmlformats.org/officeDocument/2006/relationships/image" Target="../media/image64.png"/><Relationship Id="rId4" Type="http://schemas.openxmlformats.org/officeDocument/2006/relationships/image" Target="../media/image59.svg"/><Relationship Id="rId9" Type="http://schemas.openxmlformats.org/officeDocument/2006/relationships/image" Target="../media/image63.png"/></Relationships>
</file>

<file path=ppt/slides/_rels/slide12.xml.rels><?xml version="1.0" encoding="UTF-8"?><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2.xml"/><Relationship Id="rId1" Type="http://schemas.openxmlformats.org/officeDocument/2006/relationships/slideLayout" Target="../slideLayouts/slideLayout80.xml"/><Relationship Id="rId4" Type="http://schemas.openxmlformats.org/officeDocument/2006/relationships/image" Target="../media/image66.png"/></Relationships>
</file>

<file path=ppt/slides/_rels/slide13.xml.rels><?xml version="1.0" encoding="UTF-8"?><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10.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3.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4.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5.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6.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7.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8.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9.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20.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1.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2.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3.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4.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8" name="Slide Number Placeholder 7">
            <a:extLst>
              <a:ext uri="{FF2B5EF4-FFF2-40B4-BE49-F238E27FC236}">
                <a16:creationId xmlns:a16="http://schemas.microsoft.com/office/drawing/2014/main" id="{1DE4A73E-40CD-BE4F-0432-60D3D5EF419E}"/>
              </a:ext>
            </a:extLst>
          </p:cNvPr>
          <p:cNvSpPr>
            <a:spLocks noGrp="1"/>
          </p:cNvSpPr>
          <p:nvPr>
            <p:ph type="sldNum" sz="quarter" idx="10"/>
          </p:nvPr>
        </p:nvSpPr>
        <p:spPr>
          <a:xfrm>
            <a:off x="11579107" y="6232230"/>
            <a:ext cx="430079" cy="365125"/>
          </a:xfrm>
        </p:spPr>
        <p:txBody>
          <a:bodyPr/>
          <a:lstStyle/>
          <a:p>
            <a:fld id="{A1371F83-EA4D-3B47-99B9-95D90583DC1D}" type="slidenum">
              <a:rPr lang="en-US" smtClean="0"/>
              <a:pPr/>
              <a:t>1</a:t>
            </a:fld>
            <a:endParaRPr lang="en-US"/>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a:latin typeface="Georgia"/>
              </a:rPr>
              <a:t>New Org: </a:t>
            </a:r>
            <a:br>
              <a:rPr lang="en-US" sz="4400"/>
            </a:br>
            <a:r>
              <a:rPr lang="en-US" sz="4400">
                <a:latin typeface="Georgia"/>
              </a:rPr>
              <a:t>What’s important week of </a:t>
            </a:r>
            <a:br>
              <a:rPr lang="en-US" sz="4400">
                <a:latin typeface="Georgia"/>
              </a:rPr>
            </a:br>
            <a:r>
              <a:rPr lang="en-US" sz="4400">
                <a:latin typeface="Georgia"/>
              </a:rPr>
              <a:t>May 18</a:t>
            </a:r>
            <a:endParaRPr lang="en-US" sz="440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55D21-1195-A5A2-30B4-C5841389E4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6B8F55-BD08-24E9-6002-A415E27C9AE1}"/>
              </a:ext>
            </a:extLst>
          </p:cNvPr>
          <p:cNvSpPr/>
          <p:nvPr/>
        </p:nvSpPr>
        <p:spPr>
          <a:xfrm>
            <a:off x="262759" y="1521937"/>
            <a:ext cx="11565731" cy="4389120"/>
          </a:xfrm>
          <a:prstGeom prst="rect">
            <a:avLst/>
          </a:prstGeom>
          <a:solidFill>
            <a:schemeClr val="bg1">
              <a:alpha val="34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5" name="Rectangle: Rounded Corners 14">
            <a:extLst>
              <a:ext uri="{FF2B5EF4-FFF2-40B4-BE49-F238E27FC236}">
                <a16:creationId xmlns:a16="http://schemas.microsoft.com/office/drawing/2014/main" id="{CD69873E-93FB-D000-74C7-0386CCF7CEE7}"/>
              </a:ext>
            </a:extLst>
          </p:cNvPr>
          <p:cNvSpPr/>
          <p:nvPr/>
        </p:nvSpPr>
        <p:spPr>
          <a:xfrm>
            <a:off x="623666" y="1679939"/>
            <a:ext cx="6196682" cy="943529"/>
          </a:xfrm>
          <a:prstGeom prst="roundRect">
            <a:avLst>
              <a:gd name="adj" fmla="val 0"/>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lIns="731520" tIns="45720" rIns="91440" bIns="45720" rtlCol="0" anchor="ctr"/>
          <a:lstStyle/>
          <a:p>
            <a:pPr marL="109538"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a:ea typeface="+mn-ea"/>
                <a:cs typeface="+mn-cs"/>
              </a:rPr>
              <a:t>Pick your Council: </a:t>
            </a:r>
            <a:r>
              <a:rPr kumimoji="0" lang="en-US" sz="1600" b="0" i="0" u="none" strike="noStrike" kern="1200" cap="none" spc="0" normalizeH="0" baseline="0" noProof="0">
                <a:ln>
                  <a:noFill/>
                </a:ln>
                <a:solidFill>
                  <a:srgbClr val="FFFFFF"/>
                </a:solidFill>
                <a:effectLst/>
                <a:uLnTx/>
                <a:uFillTx/>
                <a:latin typeface="Arial"/>
                <a:ea typeface="+mn-ea"/>
                <a:cs typeface="+mn-cs"/>
              </a:rPr>
              <a:t>Qualifiers for the </a:t>
            </a:r>
            <a:r>
              <a:rPr kumimoji="0" lang="en-US" sz="1600" b="1" i="0" u="none" strike="noStrike" kern="1200" cap="none" spc="0" normalizeH="0" baseline="0" noProof="0">
                <a:ln>
                  <a:noFill/>
                </a:ln>
                <a:solidFill>
                  <a:srgbClr val="FFFFFF"/>
                </a:solidFill>
                <a:effectLst/>
                <a:uLnTx/>
                <a:uFillTx/>
                <a:latin typeface="Arial"/>
                <a:ea typeface="+mn-ea"/>
                <a:cs typeface="+mn-cs"/>
              </a:rPr>
              <a:t>1,000 bonus </a:t>
            </a:r>
            <a:br>
              <a:rPr kumimoji="0" lang="en-US" sz="1600" b="1" i="0" u="none" strike="noStrike" kern="1200" cap="none" spc="0" normalizeH="0" baseline="0" noProof="0">
                <a:ln>
                  <a:noFill/>
                </a:ln>
                <a:solidFill>
                  <a:srgbClr val="FFFFFF"/>
                </a:solidFill>
                <a:effectLst/>
                <a:uLnTx/>
                <a:uFillTx/>
                <a:latin typeface="Arial"/>
                <a:ea typeface="+mn-ea"/>
                <a:cs typeface="+mn-cs"/>
              </a:rPr>
            </a:br>
            <a:r>
              <a:rPr kumimoji="0" lang="en-US" sz="1600" b="1" i="0" u="none" strike="noStrike" kern="1200" cap="none" spc="0" normalizeH="0" baseline="0" noProof="0">
                <a:ln>
                  <a:noFill/>
                </a:ln>
                <a:solidFill>
                  <a:srgbClr val="FFFFFF"/>
                </a:solidFill>
                <a:effectLst/>
                <a:uLnTx/>
                <a:uFillTx/>
                <a:latin typeface="Arial"/>
                <a:ea typeface="+mn-ea"/>
                <a:cs typeface="+mn-cs"/>
              </a:rPr>
              <a:t>Council Credits</a:t>
            </a:r>
            <a:r>
              <a:rPr kumimoji="0" lang="en-US" sz="1600" b="0" i="0" u="none" strike="noStrike" kern="1200" cap="none" spc="0" normalizeH="0" baseline="0" noProof="0">
                <a:ln>
                  <a:noFill/>
                </a:ln>
                <a:solidFill>
                  <a:srgbClr val="FFFFFF"/>
                </a:solidFill>
                <a:effectLst/>
                <a:uLnTx/>
                <a:uFillTx/>
                <a:latin typeface="Arial"/>
                <a:ea typeface="+mn-ea"/>
                <a:cs typeface="+mn-cs"/>
              </a:rPr>
              <a:t> will have the opportunity to choose whether to apply them to </a:t>
            </a:r>
            <a:r>
              <a:rPr kumimoji="0" lang="en-US" sz="1600" b="1" i="0" u="none" strike="noStrike" kern="1200" cap="none" spc="0" normalizeH="0" baseline="0" noProof="0">
                <a:ln>
                  <a:noFill/>
                </a:ln>
                <a:solidFill>
                  <a:srgbClr val="FFFFFF"/>
                </a:solidFill>
                <a:effectLst/>
                <a:uLnTx/>
                <a:uFillTx/>
                <a:latin typeface="Arial"/>
                <a:ea typeface="+mn-ea"/>
                <a:cs typeface="+mn-cs"/>
              </a:rPr>
              <a:t>Council year 2026 or 2027.</a:t>
            </a:r>
            <a:endParaRPr kumimoji="0" lang="en-US" sz="1600" b="1" i="0" u="none" strike="noStrike" kern="1200" cap="none" spc="0" normalizeH="0" baseline="3000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58366310-2B64-F0D8-9291-84265F6B7A8E}"/>
              </a:ext>
            </a:extLst>
          </p:cNvPr>
          <p:cNvSpPr>
            <a:spLocks noGrp="1"/>
          </p:cNvSpPr>
          <p:nvPr>
            <p:ph type="title"/>
          </p:nvPr>
        </p:nvSpPr>
        <p:spPr>
          <a:xfrm>
            <a:off x="626267" y="493776"/>
            <a:ext cx="9310131" cy="586043"/>
          </a:xfrm>
        </p:spPr>
        <p:txBody>
          <a:bodyPr vert="horz" lIns="0" tIns="0" rIns="0" bIns="0" anchor="t" anchorCtr="0"/>
          <a:lstStyle/>
          <a:p>
            <a:r>
              <a:rPr lang="en-US" sz="3600" dirty="0"/>
              <a:t>April-May New Org Bonus — </a:t>
            </a:r>
            <a:r>
              <a:rPr lang="en-US" sz="3600"/>
              <a:t>one</a:t>
            </a:r>
            <a:r>
              <a:rPr lang="en-US" sz="3600" dirty="0"/>
              <a:t> month left</a:t>
            </a:r>
          </a:p>
        </p:txBody>
      </p:sp>
      <p:sp>
        <p:nvSpPr>
          <p:cNvPr id="51" name="Slide Number Placeholder 50">
            <a:extLst>
              <a:ext uri="{FF2B5EF4-FFF2-40B4-BE49-F238E27FC236}">
                <a16:creationId xmlns:a16="http://schemas.microsoft.com/office/drawing/2014/main" id="{FE6FE122-B73D-04AA-EF0F-E80CB31E3F8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EE4FF40F-7CA1-CB88-53E1-21B44ADFDF5E}"/>
              </a:ext>
            </a:extLst>
          </p:cNvPr>
          <p:cNvSpPr/>
          <p:nvPr/>
        </p:nvSpPr>
        <p:spPr bwMode="ltGray">
          <a:xfrm>
            <a:off x="6925774" y="4852097"/>
            <a:ext cx="4652454" cy="978432"/>
          </a:xfrm>
          <a:prstGeom prst="rect">
            <a:avLst/>
          </a:prstGeom>
          <a:solidFill>
            <a:srgbClr val="A4EFBE"/>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A6C37C85-B26D-B6E9-61AC-7D06ECEA1A07}"/>
              </a:ext>
            </a:extLst>
          </p:cNvPr>
          <p:cNvSpPr txBox="1">
            <a:spLocks/>
          </p:cNvSpPr>
          <p:nvPr/>
        </p:nvSpPr>
        <p:spPr>
          <a:xfrm>
            <a:off x="626267" y="1115288"/>
            <a:ext cx="11565731" cy="338554"/>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srgbClr val="000A62"/>
                </a:solidFill>
                <a:effectLst/>
                <a:uLnTx/>
                <a:uFillTx/>
                <a:latin typeface="Arial"/>
                <a:ea typeface="+mn-ea"/>
                <a:cs typeface="Arial"/>
              </a:rPr>
              <a:t>Make it yours: Qualify for bonus credits and choose your Council year</a:t>
            </a:r>
          </a:p>
        </p:txBody>
      </p:sp>
      <p:sp>
        <p:nvSpPr>
          <p:cNvPr id="11" name="TextBox 10">
            <a:extLst>
              <a:ext uri="{FF2B5EF4-FFF2-40B4-BE49-F238E27FC236}">
                <a16:creationId xmlns:a16="http://schemas.microsoft.com/office/drawing/2014/main" id="{5C7CAAA1-59E2-70EE-1F6F-B1138D0238FB}"/>
              </a:ext>
            </a:extLst>
          </p:cNvPr>
          <p:cNvSpPr txBox="1"/>
          <p:nvPr/>
        </p:nvSpPr>
        <p:spPr>
          <a:xfrm>
            <a:off x="7140630" y="5021619"/>
            <a:ext cx="2958399"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Scan the QR code for complete eligibility rules, payment details, </a:t>
            </a:r>
            <a:br>
              <a:rPr kumimoji="0" lang="en-US" sz="1400" b="0" i="0" u="none" strike="noStrike" kern="1200" cap="none" spc="0" normalizeH="0" baseline="0" noProof="0">
                <a:ln>
                  <a:noFill/>
                </a:ln>
                <a:solidFill>
                  <a:srgbClr val="000A62"/>
                </a:solidFill>
                <a:effectLst/>
                <a:uLnTx/>
                <a:uFillTx/>
                <a:latin typeface="Arial"/>
                <a:ea typeface="+mn-ea"/>
                <a:cs typeface="+mn-cs"/>
              </a:rPr>
            </a:br>
            <a:r>
              <a:rPr kumimoji="0" lang="en-US" sz="1400" b="0" i="0" u="none" strike="noStrike" kern="1200" cap="none" spc="0" normalizeH="0" baseline="0" noProof="0">
                <a:ln>
                  <a:noFill/>
                </a:ln>
                <a:solidFill>
                  <a:srgbClr val="000A62"/>
                </a:solidFill>
                <a:effectLst/>
                <a:uLnTx/>
                <a:uFillTx/>
                <a:latin typeface="Arial"/>
                <a:ea typeface="+mn-ea"/>
                <a:cs typeface="+mn-cs"/>
              </a:rPr>
              <a:t>and program terms on Info Central.</a:t>
            </a:r>
          </a:p>
        </p:txBody>
      </p:sp>
      <p:sp>
        <p:nvSpPr>
          <p:cNvPr id="13" name="Isosceles Triangle 12">
            <a:extLst>
              <a:ext uri="{FF2B5EF4-FFF2-40B4-BE49-F238E27FC236}">
                <a16:creationId xmlns:a16="http://schemas.microsoft.com/office/drawing/2014/main" id="{F6F3A491-5FF3-A024-C404-B9D125EF80A9}"/>
              </a:ext>
            </a:extLst>
          </p:cNvPr>
          <p:cNvSpPr/>
          <p:nvPr/>
        </p:nvSpPr>
        <p:spPr bwMode="ltGray">
          <a:xfrm rot="5400000">
            <a:off x="10053259" y="5223297"/>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6" name="TextBox 5">
            <a:extLst>
              <a:ext uri="{FF2B5EF4-FFF2-40B4-BE49-F238E27FC236}">
                <a16:creationId xmlns:a16="http://schemas.microsoft.com/office/drawing/2014/main" id="{184E877D-5FEB-7D9F-839A-0E663DF3B158}"/>
              </a:ext>
            </a:extLst>
          </p:cNvPr>
          <p:cNvSpPr txBox="1"/>
          <p:nvPr/>
        </p:nvSpPr>
        <p:spPr>
          <a:xfrm>
            <a:off x="626267" y="3750990"/>
            <a:ext cx="6084651" cy="144655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a:ea typeface="+mn-ea"/>
                <a:cs typeface="+mn-cs"/>
              </a:rPr>
              <a:t>Between April 1 – May 29, 2026:</a:t>
            </a:r>
          </a:p>
          <a:p>
            <a:pPr marL="461963" marR="0" lvl="1"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Pay for </a:t>
            </a:r>
            <a:r>
              <a:rPr kumimoji="0" lang="en-US" sz="1600" b="1" i="0" u="none" strike="noStrike" kern="1200" cap="none" spc="0" normalizeH="0" baseline="0" noProof="0">
                <a:ln>
                  <a:noFill/>
                </a:ln>
                <a:solidFill>
                  <a:srgbClr val="000A62"/>
                </a:solidFill>
                <a:effectLst/>
                <a:uLnTx/>
                <a:uFillTx/>
                <a:latin typeface="Arial"/>
                <a:ea typeface="+mn-ea"/>
                <a:cs typeface="+mn-cs"/>
              </a:rPr>
              <a:t>3 life cases </a:t>
            </a:r>
            <a:r>
              <a:rPr kumimoji="0" lang="en-US" sz="1600" b="0" i="0" u="none" strike="noStrike" kern="1200" cap="none" spc="0" normalizeH="0" baseline="0" noProof="0">
                <a:ln>
                  <a:noFill/>
                </a:ln>
                <a:solidFill>
                  <a:srgbClr val="000A62"/>
                </a:solidFill>
                <a:effectLst/>
                <a:uLnTx/>
                <a:uFillTx/>
                <a:latin typeface="Arial"/>
                <a:ea typeface="+mn-ea"/>
                <a:cs typeface="+mn-cs"/>
              </a:rPr>
              <a:t>(EWL 3:1; VUL excluded) to qualify for a </a:t>
            </a:r>
            <a:r>
              <a:rPr kumimoji="0" lang="en-US" sz="1600" b="1" i="0" u="none" strike="noStrike" kern="1200" cap="none" spc="0" normalizeH="0" baseline="0" noProof="0">
                <a:ln>
                  <a:noFill/>
                </a:ln>
                <a:solidFill>
                  <a:srgbClr val="000A62"/>
                </a:solidFill>
                <a:effectLst/>
                <a:uLnTx/>
                <a:uFillTx/>
                <a:latin typeface="Arial"/>
                <a:ea typeface="+mn-ea"/>
                <a:cs typeface="+mn-cs"/>
              </a:rPr>
              <a:t>$300 bonus</a:t>
            </a:r>
          </a:p>
          <a:p>
            <a:pPr marL="461963" marR="0" lvl="1"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Pay for </a:t>
            </a:r>
            <a:r>
              <a:rPr kumimoji="0" lang="en-US" sz="1600" b="1" i="0" u="none" strike="noStrike" kern="1200" cap="none" spc="0" normalizeH="0" baseline="0" noProof="0">
                <a:ln>
                  <a:noFill/>
                </a:ln>
                <a:solidFill>
                  <a:srgbClr val="000A62"/>
                </a:solidFill>
                <a:effectLst/>
                <a:uLnTx/>
                <a:uFillTx/>
                <a:latin typeface="Arial"/>
                <a:ea typeface="+mn-ea"/>
                <a:cs typeface="+mn-cs"/>
              </a:rPr>
              <a:t>1 additional life case </a:t>
            </a:r>
            <a:r>
              <a:rPr kumimoji="0" lang="en-US" sz="1600" b="0" i="0" u="none" strike="noStrike" kern="1200" cap="none" spc="0" normalizeH="0" baseline="0" noProof="0">
                <a:ln>
                  <a:noFill/>
                </a:ln>
                <a:solidFill>
                  <a:srgbClr val="000A62"/>
                </a:solidFill>
                <a:effectLst/>
                <a:uLnTx/>
                <a:uFillTx/>
                <a:latin typeface="Arial"/>
                <a:ea typeface="+mn-ea"/>
                <a:cs typeface="+mn-cs"/>
              </a:rPr>
              <a:t>for a total of </a:t>
            </a:r>
            <a:r>
              <a:rPr kumimoji="0" lang="en-US" sz="1600" b="1" i="0" u="none" strike="noStrike" kern="1200" cap="none" spc="0" normalizeH="0" baseline="0" noProof="0">
                <a:ln>
                  <a:noFill/>
                </a:ln>
                <a:solidFill>
                  <a:srgbClr val="000A62"/>
                </a:solidFill>
                <a:effectLst/>
                <a:uLnTx/>
                <a:uFillTx/>
                <a:latin typeface="Arial"/>
                <a:ea typeface="+mn-ea"/>
                <a:cs typeface="+mn-cs"/>
              </a:rPr>
              <a:t>4</a:t>
            </a:r>
            <a:r>
              <a:rPr kumimoji="0" lang="en-US" sz="1600" b="0" i="0" u="none" strike="noStrike" kern="1200" cap="none" spc="0" normalizeH="0" baseline="0" noProof="0">
                <a:ln>
                  <a:noFill/>
                </a:ln>
                <a:solidFill>
                  <a:srgbClr val="000A62"/>
                </a:solidFill>
                <a:effectLst/>
                <a:uLnTx/>
                <a:uFillTx/>
                <a:latin typeface="Arial"/>
                <a:ea typeface="+mn-ea"/>
                <a:cs typeface="+mn-cs"/>
              </a:rPr>
              <a:t> (EWL 3:1; VUL excluded) to also receive </a:t>
            </a:r>
            <a:r>
              <a:rPr kumimoji="0" lang="en-US" sz="1600" b="1" i="0" u="none" strike="noStrike" kern="1200" cap="none" spc="0" normalizeH="0" baseline="0" noProof="0">
                <a:ln>
                  <a:noFill/>
                </a:ln>
                <a:solidFill>
                  <a:srgbClr val="000A62"/>
                </a:solidFill>
                <a:effectLst/>
                <a:uLnTx/>
                <a:uFillTx/>
                <a:latin typeface="Arial"/>
                <a:ea typeface="+mn-ea"/>
                <a:cs typeface="+mn-cs"/>
              </a:rPr>
              <a:t>1,000 bonus Council Credits</a:t>
            </a:r>
          </a:p>
        </p:txBody>
      </p:sp>
      <p:sp>
        <p:nvSpPr>
          <p:cNvPr id="14" name="TextBox 13">
            <a:extLst>
              <a:ext uri="{FF2B5EF4-FFF2-40B4-BE49-F238E27FC236}">
                <a16:creationId xmlns:a16="http://schemas.microsoft.com/office/drawing/2014/main" id="{37CFB653-0A94-05FA-86DA-62A3546F3B0A}"/>
              </a:ext>
            </a:extLst>
          </p:cNvPr>
          <p:cNvSpPr txBox="1"/>
          <p:nvPr/>
        </p:nvSpPr>
        <p:spPr>
          <a:xfrm>
            <a:off x="613774" y="2761991"/>
            <a:ext cx="6111989"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New Org agents have just </a:t>
            </a:r>
            <a:r>
              <a:rPr kumimoji="0" lang="en-US" sz="1800" b="1" i="0" u="none" strike="noStrike" kern="1200" cap="none" spc="0" normalizeH="0" baseline="0" noProof="0">
                <a:ln>
                  <a:noFill/>
                </a:ln>
                <a:solidFill>
                  <a:srgbClr val="000962"/>
                </a:solidFill>
                <a:effectLst/>
                <a:uLnTx/>
                <a:uFillTx/>
                <a:latin typeface="Arial"/>
                <a:ea typeface="+mn-ea"/>
                <a:cs typeface="+mn-cs"/>
              </a:rPr>
              <a:t>1 month left</a:t>
            </a:r>
            <a:r>
              <a:rPr kumimoji="0" lang="en-US" sz="1800" b="0" i="0" u="none" strike="noStrike" kern="1200" cap="none" spc="0" normalizeH="0" baseline="0" noProof="0">
                <a:ln>
                  <a:noFill/>
                </a:ln>
                <a:solidFill>
                  <a:srgbClr val="000962"/>
                </a:solidFill>
                <a:effectLst/>
                <a:uLnTx/>
                <a:uFillTx/>
                <a:latin typeface="Arial"/>
                <a:ea typeface="+mn-ea"/>
                <a:cs typeface="+mn-cs"/>
              </a:rPr>
              <a:t> to qualify for a </a:t>
            </a:r>
            <a:br>
              <a:rPr kumimoji="0" lang="en-US" sz="1800" b="0" i="0" u="none" strike="noStrike" kern="1200" cap="none" spc="0" normalizeH="0" baseline="0" noProof="0">
                <a:ln>
                  <a:noFill/>
                </a:ln>
                <a:solidFill>
                  <a:srgbClr val="000962"/>
                </a:solidFill>
                <a:effectLst/>
                <a:uLnTx/>
                <a:uFillTx/>
                <a:latin typeface="Arial"/>
                <a:ea typeface="+mn-ea"/>
                <a:cs typeface="+mn-cs"/>
              </a:rPr>
            </a:br>
            <a:r>
              <a:rPr kumimoji="0" lang="en-US" sz="1800" b="1" i="0" u="none" strike="noStrike" kern="1200" cap="none" spc="0" normalizeH="0" baseline="0" noProof="0">
                <a:ln>
                  <a:noFill/>
                </a:ln>
                <a:solidFill>
                  <a:srgbClr val="000962"/>
                </a:solidFill>
                <a:effectLst/>
                <a:uLnTx/>
                <a:uFillTx/>
                <a:latin typeface="Arial"/>
                <a:ea typeface="+mn-ea"/>
                <a:cs typeface="+mn-cs"/>
              </a:rPr>
              <a:t>$300 bonus</a:t>
            </a:r>
            <a:r>
              <a:rPr kumimoji="0" lang="en-US" sz="1800" b="0" i="0" u="none" strike="noStrike" kern="1200" cap="none" spc="0" normalizeH="0" baseline="0" noProof="0">
                <a:ln>
                  <a:noFill/>
                </a:ln>
                <a:solidFill>
                  <a:srgbClr val="000962"/>
                </a:solidFill>
                <a:effectLst/>
                <a:uLnTx/>
                <a:uFillTx/>
                <a:latin typeface="Arial"/>
                <a:ea typeface="+mn-ea"/>
                <a:cs typeface="+mn-cs"/>
              </a:rPr>
              <a:t> and </a:t>
            </a:r>
            <a:r>
              <a:rPr kumimoji="0" lang="en-US" sz="1800" b="1" i="0" u="none" strike="noStrike" kern="1200" cap="none" spc="0" normalizeH="0" baseline="0" noProof="0">
                <a:ln>
                  <a:noFill/>
                </a:ln>
                <a:solidFill>
                  <a:srgbClr val="000962"/>
                </a:solidFill>
                <a:effectLst/>
                <a:uLnTx/>
                <a:uFillTx/>
                <a:latin typeface="Arial"/>
                <a:ea typeface="+mn-ea"/>
                <a:cs typeface="+mn-cs"/>
              </a:rPr>
              <a:t>1,000 bonus Council Credits</a:t>
            </a:r>
            <a:r>
              <a:rPr kumimoji="0" lang="en-US" sz="1800" b="0" i="0" u="none" strike="noStrike" kern="1200" cap="none" spc="0" normalizeH="0" baseline="0" noProof="0">
                <a:ln>
                  <a:noFill/>
                </a:ln>
                <a:solidFill>
                  <a:srgbClr val="000962"/>
                </a:solidFill>
                <a:effectLst/>
                <a:uLnTx/>
                <a:uFillTx/>
                <a:latin typeface="Arial"/>
                <a:ea typeface="+mn-ea"/>
                <a:cs typeface="+mn-cs"/>
              </a:rPr>
              <a:t> based on paid life cases in April and May.</a:t>
            </a:r>
            <a:endParaRPr kumimoji="0" lang="en-US" sz="1800" b="0" i="0" u="none" strike="noStrike" kern="1200" cap="none" spc="0" normalizeH="0" baseline="0" noProof="0">
              <a:ln>
                <a:noFill/>
              </a:ln>
              <a:solidFill>
                <a:srgbClr val="000A62"/>
              </a:solidFill>
              <a:effectLst/>
              <a:uLnTx/>
              <a:uFillTx/>
              <a:latin typeface="Arial"/>
              <a:ea typeface="+mn-ea"/>
              <a:cs typeface="+mn-cs"/>
            </a:endParaRPr>
          </a:p>
        </p:txBody>
      </p:sp>
      <p:sp>
        <p:nvSpPr>
          <p:cNvPr id="9" name="TextBox 8">
            <a:extLst>
              <a:ext uri="{FF2B5EF4-FFF2-40B4-BE49-F238E27FC236}">
                <a16:creationId xmlns:a16="http://schemas.microsoft.com/office/drawing/2014/main" id="{7C6189F8-8E95-8AAA-95FA-991E460330F8}"/>
              </a:ext>
            </a:extLst>
          </p:cNvPr>
          <p:cNvSpPr txBox="1"/>
          <p:nvPr/>
        </p:nvSpPr>
        <p:spPr>
          <a:xfrm>
            <a:off x="626268" y="5336063"/>
            <a:ext cx="6111988"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tab pos="117475" algn="l"/>
              </a:tabLst>
              <a:defRPr/>
            </a:pPr>
            <a:r>
              <a:rPr kumimoji="0" lang="en-US" sz="1000" b="0" i="0" u="none" strike="noStrike" kern="1200" cap="none" spc="0" normalizeH="0" baseline="0" noProof="0">
                <a:ln>
                  <a:noFill/>
                </a:ln>
                <a:solidFill>
                  <a:srgbClr val="E2DFDD">
                    <a:lumMod val="50000"/>
                  </a:srgbClr>
                </a:solidFill>
                <a:effectLst/>
                <a:uLnTx/>
                <a:uFillTx/>
                <a:latin typeface="Arial"/>
                <a:ea typeface="+mn-ea"/>
                <a:cs typeface="+mn-cs"/>
              </a:rPr>
              <a:t>In some instances, cash bonuses may be withheld when an agent has reached the maximum legal allowance under the </a:t>
            </a:r>
            <a:r>
              <a:rPr kumimoji="0" lang="en-US" sz="1000" b="0" i="0" u="sng" strike="noStrike" kern="1200" cap="none" spc="0" normalizeH="0" baseline="0" noProof="0">
                <a:ln>
                  <a:noFill/>
                </a:ln>
                <a:solidFill>
                  <a:srgbClr val="0042E8"/>
                </a:solidFill>
                <a:effectLst/>
                <a:uLnTx/>
                <a:uFillTx/>
                <a:latin typeface="Arial"/>
                <a:ea typeface="+mn-ea"/>
                <a:cs typeface="+mn-cs"/>
                <a:hlinkClick r:id="rId3">
                  <a:extLst>
                    <a:ext uri="{A12FA001-AC4F-418D-AE19-62706E023703}">
                      <ahyp:hlinkClr xmlns:ahyp="http://schemas.microsoft.com/office/drawing/2018/hyperlinkcolor" val="tx"/>
                    </a:ext>
                  </a:extLst>
                </a:hlinkClick>
              </a:rPr>
              <a:t>Conditional Check formula</a:t>
            </a:r>
            <a:r>
              <a:rPr kumimoji="0" lang="en-US" sz="1000" b="0" i="0" u="none" strike="noStrike" kern="1200" cap="none" spc="0" normalizeH="0" baseline="0" noProof="0">
                <a:ln>
                  <a:noFill/>
                </a:ln>
                <a:solidFill>
                  <a:srgbClr val="E2DFDD">
                    <a:lumMod val="50000"/>
                  </a:srgbClr>
                </a:solidFill>
                <a:effectLst/>
                <a:uLnTx/>
                <a:uFillTx/>
                <a:latin typeface="Arial"/>
                <a:ea typeface="+mn-ea"/>
                <a:cs typeface="+mn-cs"/>
              </a:rPr>
              <a:t>. For more information, see </a:t>
            </a:r>
            <a:r>
              <a:rPr kumimoji="0" lang="en-US" sz="1000" b="0" i="0" u="sng" strike="noStrike" kern="1200" cap="none" spc="0" normalizeH="0" baseline="0" noProof="0">
                <a:ln>
                  <a:noFill/>
                </a:ln>
                <a:solidFill>
                  <a:srgbClr val="0042E8"/>
                </a:solidFill>
                <a:effectLst/>
                <a:uLnTx/>
                <a:uFillTx/>
                <a:latin typeface="Arial"/>
                <a:ea typeface="+mn-ea"/>
                <a:cs typeface="+mn-cs"/>
                <a:hlinkClick r:id="rId4">
                  <a:extLst>
                    <a:ext uri="{A12FA001-AC4F-418D-AE19-62706E023703}">
                      <ahyp:hlinkClr xmlns:ahyp="http://schemas.microsoft.com/office/drawing/2018/hyperlinkcolor" val="tx"/>
                    </a:ext>
                  </a:extLst>
                </a:hlinkClick>
              </a:rPr>
              <a:t>Life and Annuity Expense Allowance Plan</a:t>
            </a:r>
            <a:r>
              <a:rPr kumimoji="0" lang="en-US" sz="1000" b="0" i="0" u="none" strike="noStrike" kern="1200" cap="none" spc="0" normalizeH="0" baseline="0" noProof="0">
                <a:ln>
                  <a:noFill/>
                </a:ln>
                <a:solidFill>
                  <a:srgbClr val="E2DFDD">
                    <a:lumMod val="50000"/>
                  </a:srgbClr>
                </a:solidFill>
                <a:effectLst/>
                <a:uLnTx/>
                <a:uFillTx/>
                <a:latin typeface="Arial"/>
                <a:ea typeface="+mn-ea"/>
                <a:cs typeface="+mn-cs"/>
              </a:rPr>
              <a:t> on Info Central.</a:t>
            </a:r>
          </a:p>
        </p:txBody>
      </p:sp>
      <p:pic>
        <p:nvPicPr>
          <p:cNvPr id="10" name="Picture 9">
            <a:extLst>
              <a:ext uri="{FF2B5EF4-FFF2-40B4-BE49-F238E27FC236}">
                <a16:creationId xmlns:a16="http://schemas.microsoft.com/office/drawing/2014/main" id="{75BE4B36-CF62-F213-421E-2C580E6E7D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99797" y="4852097"/>
            <a:ext cx="978432" cy="978432"/>
          </a:xfrm>
          <a:prstGeom prst="rect">
            <a:avLst/>
          </a:prstGeom>
        </p:spPr>
      </p:pic>
      <p:pic>
        <p:nvPicPr>
          <p:cNvPr id="17" name="Picture 16">
            <a:extLst>
              <a:ext uri="{FF2B5EF4-FFF2-40B4-BE49-F238E27FC236}">
                <a16:creationId xmlns:a16="http://schemas.microsoft.com/office/drawing/2014/main" id="{9F922C79-93A9-44AA-AC03-92CE9D4E98E2}"/>
              </a:ext>
            </a:extLst>
          </p:cNvPr>
          <p:cNvPicPr>
            <a:picLocks noChangeAspect="1"/>
          </p:cNvPicPr>
          <p:nvPr/>
        </p:nvPicPr>
        <p:blipFill>
          <a:blip r:embed="rId6">
            <a:extLst>
              <a:ext uri="{28A0092B-C50C-407E-A947-70E740481C1C}">
                <a14:useLocalDpi xmlns:a14="http://schemas.microsoft.com/office/drawing/2010/main" val="0"/>
              </a:ext>
            </a:extLst>
          </a:blip>
          <a:srcRect l="17633" t="9393" r="17633" b="15043"/>
          <a:stretch>
            <a:fillRect/>
          </a:stretch>
        </p:blipFill>
        <p:spPr>
          <a:xfrm>
            <a:off x="6925774" y="1679939"/>
            <a:ext cx="4652452" cy="3056387"/>
          </a:xfrm>
          <a:prstGeom prst="rect">
            <a:avLst/>
          </a:prstGeom>
        </p:spPr>
      </p:pic>
      <p:sp>
        <p:nvSpPr>
          <p:cNvPr id="5" name="Arrow: Chevron 4">
            <a:extLst>
              <a:ext uri="{FF2B5EF4-FFF2-40B4-BE49-F238E27FC236}">
                <a16:creationId xmlns:a16="http://schemas.microsoft.com/office/drawing/2014/main" id="{8132171A-623B-DD57-01F1-B08C6FBD3913}"/>
              </a:ext>
            </a:extLst>
          </p:cNvPr>
          <p:cNvSpPr/>
          <p:nvPr/>
        </p:nvSpPr>
        <p:spPr>
          <a:xfrm>
            <a:off x="802224" y="1787949"/>
            <a:ext cx="456421" cy="727508"/>
          </a:xfrm>
          <a:prstGeom prst="chevron">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8" name="Star: 32 Points 7">
            <a:extLst>
              <a:ext uri="{FF2B5EF4-FFF2-40B4-BE49-F238E27FC236}">
                <a16:creationId xmlns:a16="http://schemas.microsoft.com/office/drawing/2014/main" id="{12A4215A-62A8-A36C-1E74-304379589CFA}"/>
              </a:ext>
            </a:extLst>
          </p:cNvPr>
          <p:cNvSpPr/>
          <p:nvPr/>
        </p:nvSpPr>
        <p:spPr>
          <a:xfrm>
            <a:off x="10354737" y="1079819"/>
            <a:ext cx="1889975" cy="1889975"/>
          </a:xfrm>
          <a:prstGeom prst="star32">
            <a:avLst>
              <a:gd name="adj" fmla="val 43039"/>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Box 11">
            <a:extLst>
              <a:ext uri="{FF2B5EF4-FFF2-40B4-BE49-F238E27FC236}">
                <a16:creationId xmlns:a16="http://schemas.microsoft.com/office/drawing/2014/main" id="{2547B69D-9898-E3C1-9213-6960688E0B85}"/>
              </a:ext>
            </a:extLst>
          </p:cNvPr>
          <p:cNvSpPr txBox="1"/>
          <p:nvPr/>
        </p:nvSpPr>
        <p:spPr>
          <a:xfrm>
            <a:off x="10557657" y="1447725"/>
            <a:ext cx="1484135" cy="115416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a:ea typeface="Aptos" panose="020B0004020202020204" pitchFamily="34" charset="0"/>
                <a:cs typeface="Aptos" panose="020B0004020202020204" pitchFamily="34" charset="0"/>
              </a:rPr>
              <a:t>Tracking available on Dashboard 2.0 &gt; Recognition &gt; Incentives</a:t>
            </a:r>
          </a:p>
        </p:txBody>
      </p:sp>
    </p:spTree>
    <p:extLst>
      <p:ext uri="{BB962C8B-B14F-4D97-AF65-F5344CB8AC3E}">
        <p14:creationId xmlns:p14="http://schemas.microsoft.com/office/powerpoint/2010/main" val="663638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0EE9B9-A8F6-E5AC-2EA0-823E0548855C}"/>
              </a:ext>
            </a:extLst>
          </p:cNvPr>
          <p:cNvSpPr/>
          <p:nvPr/>
        </p:nvSpPr>
        <p:spPr>
          <a:xfrm>
            <a:off x="346841" y="1521936"/>
            <a:ext cx="11456276" cy="4447939"/>
          </a:xfrm>
          <a:prstGeom prst="rect">
            <a:avLst/>
          </a:prstGeom>
          <a:solidFill>
            <a:schemeClr val="bg1">
              <a:alpha val="34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Rectangle: Rounded Corners 32">
            <a:extLst>
              <a:ext uri="{FF2B5EF4-FFF2-40B4-BE49-F238E27FC236}">
                <a16:creationId xmlns:a16="http://schemas.microsoft.com/office/drawing/2014/main" id="{3CF72A27-B405-C1E8-6C56-41663CD5F008}"/>
              </a:ext>
            </a:extLst>
          </p:cNvPr>
          <p:cNvSpPr/>
          <p:nvPr/>
        </p:nvSpPr>
        <p:spPr bwMode="ltGray">
          <a:xfrm>
            <a:off x="6096000" y="4101599"/>
            <a:ext cx="2847437" cy="1770923"/>
          </a:xfrm>
          <a:prstGeom prst="roundRect">
            <a:avLst>
              <a:gd name="adj" fmla="val 4769"/>
            </a:avLst>
          </a:prstGeom>
          <a:solidFill>
            <a:schemeClr val="bg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eorgia"/>
              <a:ea typeface="+mn-ea"/>
              <a:cs typeface="+mn-cs"/>
            </a:endParaRPr>
          </a:p>
        </p:txBody>
      </p:sp>
      <p:sp>
        <p:nvSpPr>
          <p:cNvPr id="29" name="Rectangle: Rounded Corners 28">
            <a:extLst>
              <a:ext uri="{FF2B5EF4-FFF2-40B4-BE49-F238E27FC236}">
                <a16:creationId xmlns:a16="http://schemas.microsoft.com/office/drawing/2014/main" id="{96D67B4F-3E67-212B-8E34-91B8CB7E4526}"/>
              </a:ext>
            </a:extLst>
          </p:cNvPr>
          <p:cNvSpPr/>
          <p:nvPr/>
        </p:nvSpPr>
        <p:spPr bwMode="ltGray">
          <a:xfrm>
            <a:off x="9068696" y="1616878"/>
            <a:ext cx="2495614" cy="4252640"/>
          </a:xfrm>
          <a:prstGeom prst="roundRect">
            <a:avLst>
              <a:gd name="adj" fmla="val 4769"/>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eorgia"/>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10939462" cy="604613"/>
          </a:xfrm>
        </p:spPr>
        <p:txBody>
          <a:bodyPr vert="horz" lIns="0" tIns="0" rIns="0" bIns="0" anchor="t" anchorCtr="0"/>
          <a:lstStyle/>
          <a:p>
            <a:r>
              <a:rPr lang="en-US" i="1" dirty="0"/>
              <a:t>Money </a:t>
            </a:r>
            <a:r>
              <a:rPr lang="en-US" dirty="0"/>
              <a:t>ranks New York Life Best in Whole Life for 2026</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a:xfrm>
            <a:off x="11134230" y="6232230"/>
            <a:ext cx="430079"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Geneva" pitchFamily="-109" charset="-128"/>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endParaRPr>
          </a:p>
        </p:txBody>
      </p:sp>
      <p:sp>
        <p:nvSpPr>
          <p:cNvPr id="6" name="TextBox 5">
            <a:extLst>
              <a:ext uri="{FF2B5EF4-FFF2-40B4-BE49-F238E27FC236}">
                <a16:creationId xmlns:a16="http://schemas.microsoft.com/office/drawing/2014/main" id="{D70F984C-B4E7-BB62-6AE5-CA745D75BBFC}"/>
              </a:ext>
            </a:extLst>
          </p:cNvPr>
          <p:cNvSpPr txBox="1"/>
          <p:nvPr/>
        </p:nvSpPr>
        <p:spPr>
          <a:xfrm>
            <a:off x="626270" y="1607084"/>
            <a:ext cx="8300016" cy="2402645"/>
          </a:xfrm>
          <a:prstGeom prst="rect">
            <a:avLst/>
          </a:prstGeom>
          <a:noFill/>
        </p:spPr>
        <p:txBody>
          <a:bodyPr wrap="square" lIns="0" tIns="0" rIns="0" bIns="0">
            <a:spAutoFit/>
          </a:bodyPr>
          <a:lstStyle/>
          <a:p>
            <a:pPr marL="0" marR="0" lvl="0" indent="0" algn="l" defTabSz="914400" rtl="0" eaLnBrk="1" fontAlgn="base" latinLnBrk="0" hangingPunct="1">
              <a:lnSpc>
                <a:spcPct val="105000"/>
              </a:lnSpc>
              <a:spcBef>
                <a:spcPts val="0"/>
              </a:spcBef>
              <a:spcAft>
                <a:spcPts val="400"/>
              </a:spcAft>
              <a:buClrTx/>
              <a:buSzTx/>
              <a:buFontTx/>
              <a:buNone/>
              <a:tabLst/>
              <a:defRPr/>
            </a:pPr>
            <a:r>
              <a:rPr kumimoji="0" lang="en-US" sz="2000" b="0" i="0" u="none" strike="noStrike" kern="1200" cap="none" spc="0" normalizeH="0" baseline="0" noProof="0">
                <a:ln>
                  <a:noFill/>
                </a:ln>
                <a:solidFill>
                  <a:srgbClr val="000962"/>
                </a:solidFill>
                <a:effectLst/>
                <a:uLnTx/>
                <a:uFillTx/>
                <a:latin typeface="Georgia"/>
                <a:ea typeface="Geneva" pitchFamily="-109" charset="-128"/>
                <a:cs typeface="Arial" panose="020B0604020202020204" pitchFamily="34" charset="0"/>
              </a:rPr>
              <a:t>Key highlights: </a:t>
            </a:r>
          </a:p>
          <a:p>
            <a:pPr marL="231775" marR="0" lvl="0" indent="-231775" algn="l" defTabSz="914400" rtl="0" eaLnBrk="1" fontAlgn="base" latinLnBrk="0" hangingPunct="1">
              <a:lnSpc>
                <a:spcPct val="105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Recognized for multiple permanent life insurance options, a comprehensive selection of optional riders and a strong dividend history.</a:t>
            </a:r>
          </a:p>
          <a:p>
            <a:pPr marL="231775" marR="0" lvl="0" indent="-231775" algn="l" defTabSz="914400" rtl="0" eaLnBrk="1" fontAlgn="base" latinLnBrk="0" hangingPunct="1">
              <a:lnSpc>
                <a:spcPct val="105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Celebrated for exceptional financial strength among the highest ratings awarded to US life insurers</a:t>
            </a:r>
          </a:p>
          <a:p>
            <a:pPr marL="231775" marR="0" lvl="0" indent="-231775" algn="l" defTabSz="914400" rtl="0" eaLnBrk="1" fontAlgn="base" latinLnBrk="0" hangingPunct="1">
              <a:lnSpc>
                <a:spcPct val="105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Proudly continuing our legacy of annual dividend payments to participating policies since 1854 — with a record $2.78 billion declared for 2026.* </a:t>
            </a:r>
            <a:br>
              <a:rPr kumimoji="0" lang="en-US" sz="16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b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 Dividends are not guaranteed.</a:t>
            </a:r>
          </a:p>
        </p:txBody>
      </p:sp>
      <p:sp>
        <p:nvSpPr>
          <p:cNvPr id="10" name="TextBox 1">
            <a:extLst>
              <a:ext uri="{FF2B5EF4-FFF2-40B4-BE49-F238E27FC236}">
                <a16:creationId xmlns:a16="http://schemas.microsoft.com/office/drawing/2014/main" id="{6D50521D-DB35-40C6-F3A3-E870D0C57BF0}"/>
              </a:ext>
            </a:extLst>
          </p:cNvPr>
          <p:cNvSpPr txBox="1"/>
          <p:nvPr/>
        </p:nvSpPr>
        <p:spPr>
          <a:xfrm>
            <a:off x="1532506" y="6167065"/>
            <a:ext cx="8627494" cy="415498"/>
          </a:xfrm>
          <a:prstGeom prst="rect">
            <a:avLst/>
          </a:prstGeom>
          <a:noFill/>
        </p:spPr>
        <p:txBody>
          <a:bodyPr wrap="square" lIns="0" tIns="0" rIns="0"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ts val="200"/>
              </a:spcAft>
              <a:buClrTx/>
              <a:buSzTx/>
              <a:buFontTx/>
              <a:buNone/>
              <a:tabLst/>
              <a:defRPr/>
            </a:pPr>
            <a:r>
              <a:rPr kumimoji="0" lang="en-US" sz="900" b="0" i="0" u="none" strike="noStrike" kern="1200" cap="none" spc="0" normalizeH="0" baseline="0" noProof="0">
                <a:ln>
                  <a:noFill/>
                </a:ln>
                <a:solidFill>
                  <a:srgbClr val="000A62"/>
                </a:solidFill>
                <a:effectLst/>
                <a:uLnTx/>
                <a:uFillTx/>
                <a:latin typeface="Arial" panose="020B0604020202020204" pitchFamily="34" charset="0"/>
                <a:ea typeface="Aptos" panose="020B0004020202020204" pitchFamily="34" charset="0"/>
                <a:cs typeface="Arial" panose="020B0604020202020204" pitchFamily="34" charset="0"/>
              </a:rPr>
              <a:t>Money’s Best Life Insurance Companies list is based on a thorough evaluation of each provider’s ability to pay claims, product offerings, pricing, and financial strength. They also analyzed customer satisfaction, complaint data from the NAIC, and the ease of the underwriting process and gathered further insights from company interviews. </a:t>
            </a:r>
            <a:r>
              <a:rPr kumimoji="0" lang="en-US" sz="900" b="0" i="0" u="none" strike="noStrike" kern="1200" cap="none" spc="0" normalizeH="0" baseline="0" noProof="0">
                <a:ln>
                  <a:noFill/>
                </a:ln>
                <a:solidFill>
                  <a:srgbClr val="0468FF"/>
                </a:solidFill>
                <a:effectLst/>
                <a:uLnTx/>
                <a:uFillTx/>
                <a:latin typeface="Arial" panose="020B0604020202020204" pitchFamily="34" charset="0"/>
                <a:ea typeface="Aptos" panose="020B00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Click here</a:t>
            </a:r>
            <a:r>
              <a:rPr kumimoji="0" lang="en-US" sz="900" b="0" i="0" u="none" strike="noStrike" kern="1200" cap="none" spc="0" normalizeH="0" baseline="0" noProof="0">
                <a:ln>
                  <a:noFill/>
                </a:ln>
                <a:solidFill>
                  <a:srgbClr val="000A62"/>
                </a:solidFill>
                <a:effectLst/>
                <a:uLnTx/>
                <a:uFillTx/>
                <a:latin typeface="Arial" panose="020B0604020202020204" pitchFamily="34" charset="0"/>
                <a:ea typeface="Aptos" panose="020B0004020202020204" pitchFamily="34" charset="0"/>
                <a:cs typeface="Arial" panose="020B0604020202020204" pitchFamily="34" charset="0"/>
              </a:rPr>
              <a:t> for more details on the methodology for this award. </a:t>
            </a:r>
          </a:p>
        </p:txBody>
      </p:sp>
      <p:pic>
        <p:nvPicPr>
          <p:cNvPr id="8" name="Picture 7">
            <a:extLst>
              <a:ext uri="{FF2B5EF4-FFF2-40B4-BE49-F238E27FC236}">
                <a16:creationId xmlns:a16="http://schemas.microsoft.com/office/drawing/2014/main" id="{FF41E665-959E-30B7-0744-E43B849EED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11379" y="1791149"/>
            <a:ext cx="1610248" cy="2313454"/>
          </a:xfrm>
          <a:prstGeom prst="rect">
            <a:avLst/>
          </a:prstGeom>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A36576D9-8E37-7429-9D0F-3F9548F4F074}"/>
              </a:ext>
            </a:extLst>
          </p:cNvPr>
          <p:cNvSpPr/>
          <p:nvPr/>
        </p:nvSpPr>
        <p:spPr bwMode="ltGray">
          <a:xfrm>
            <a:off x="626268" y="4094877"/>
            <a:ext cx="8191911" cy="1777645"/>
          </a:xfrm>
          <a:prstGeom prst="roundRect">
            <a:avLst>
              <a:gd name="adj" fmla="val 4769"/>
            </a:avLst>
          </a:prstGeom>
          <a:solidFill>
            <a:srgbClr val="E3E0DD"/>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eorgia"/>
              <a:ea typeface="+mn-ea"/>
              <a:cs typeface="+mn-cs"/>
            </a:endParaRPr>
          </a:p>
        </p:txBody>
      </p:sp>
      <p:sp>
        <p:nvSpPr>
          <p:cNvPr id="13" name="TextBox 12">
            <a:extLst>
              <a:ext uri="{FF2B5EF4-FFF2-40B4-BE49-F238E27FC236}">
                <a16:creationId xmlns:a16="http://schemas.microsoft.com/office/drawing/2014/main" id="{DB967352-A14E-042D-4531-4DAA8716E58E}"/>
              </a:ext>
            </a:extLst>
          </p:cNvPr>
          <p:cNvSpPr txBox="1"/>
          <p:nvPr/>
        </p:nvSpPr>
        <p:spPr>
          <a:xfrm>
            <a:off x="857869" y="4202741"/>
            <a:ext cx="4436619" cy="12926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A62"/>
                </a:solidFill>
                <a:effectLst/>
                <a:uLnTx/>
                <a:uFillTx/>
                <a:latin typeface="Georgia"/>
                <a:ea typeface="+mn-ea"/>
                <a:cs typeface="+mn-cs"/>
              </a:rPr>
              <a:t>2026 </a:t>
            </a:r>
            <a:r>
              <a:rPr kumimoji="0" lang="en-US" sz="1600" b="0" i="1" u="none" strike="noStrike" kern="1200" cap="none" spc="0" normalizeH="0" baseline="0" noProof="0">
                <a:ln>
                  <a:noFill/>
                </a:ln>
                <a:solidFill>
                  <a:srgbClr val="000A62"/>
                </a:solidFill>
                <a:effectLst/>
                <a:uLnTx/>
                <a:uFillTx/>
                <a:latin typeface="Georgia"/>
                <a:ea typeface="+mn-ea"/>
                <a:cs typeface="+mn-cs"/>
              </a:rPr>
              <a:t>Money </a:t>
            </a:r>
            <a:r>
              <a:rPr kumimoji="0" lang="en-US" sz="1600" b="0" i="0" u="none" strike="noStrike" kern="1200" cap="none" spc="0" normalizeH="0" baseline="0" noProof="0">
                <a:ln>
                  <a:noFill/>
                </a:ln>
                <a:solidFill>
                  <a:srgbClr val="000A62"/>
                </a:solidFill>
                <a:effectLst/>
                <a:uLnTx/>
                <a:uFillTx/>
                <a:latin typeface="Georgia"/>
                <a:ea typeface="+mn-ea"/>
                <a:cs typeface="+mn-cs"/>
              </a:rPr>
              <a:t>Badge Outlook email signature</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a:ln>
                  <a:noFill/>
                </a:ln>
                <a:solidFill>
                  <a:srgbClr val="000A62"/>
                </a:solidFill>
                <a:effectLst/>
                <a:uLnTx/>
                <a:uFillTx/>
                <a:latin typeface="Arial"/>
                <a:ea typeface="+mn-ea"/>
                <a:cs typeface="+mn-cs"/>
              </a:rPr>
              <a:t>Highlight New York Life’s top spot in Whole Life from Money magazine—add the new recognition to your email signature.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468FF"/>
                </a:solidFill>
                <a:effectLst/>
                <a:uLnTx/>
                <a:uFillTx/>
                <a:latin typeface="Arial"/>
                <a:ea typeface="+mn-ea"/>
                <a:cs typeface="+mn-cs"/>
              </a:rPr>
              <a:t>Scan the QR code to access the email signature, guidelines and other resources.</a:t>
            </a:r>
            <a:endParaRPr kumimoji="0" lang="en-US" sz="1200" b="1" i="0" u="none" strike="noStrike" kern="1200" cap="none" spc="0" normalizeH="0" baseline="0" noProof="0">
              <a:ln>
                <a:noFill/>
              </a:ln>
              <a:solidFill>
                <a:srgbClr val="0468FF"/>
              </a:solidFill>
              <a:effectLst/>
              <a:uLnTx/>
              <a:uFillTx/>
              <a:latin typeface="Arial"/>
              <a:ea typeface="+mn-ea"/>
              <a:cs typeface="Arial"/>
            </a:endParaRPr>
          </a:p>
        </p:txBody>
      </p:sp>
      <p:pic>
        <p:nvPicPr>
          <p:cNvPr id="16" name="Picture 15">
            <a:extLst>
              <a:ext uri="{FF2B5EF4-FFF2-40B4-BE49-F238E27FC236}">
                <a16:creationId xmlns:a16="http://schemas.microsoft.com/office/drawing/2014/main" id="{B18D96AE-40E2-549E-CE66-130AC7CCF59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93457" y="4301793"/>
            <a:ext cx="1446093" cy="1446093"/>
          </a:xfrm>
          <a:prstGeom prst="rect">
            <a:avLst/>
          </a:prstGeom>
        </p:spPr>
      </p:pic>
      <p:cxnSp>
        <p:nvCxnSpPr>
          <p:cNvPr id="18" name="Straight Connector 17">
            <a:extLst>
              <a:ext uri="{FF2B5EF4-FFF2-40B4-BE49-F238E27FC236}">
                <a16:creationId xmlns:a16="http://schemas.microsoft.com/office/drawing/2014/main" id="{EBFD9F8D-125B-3E39-0A44-CD284F910560}"/>
              </a:ext>
            </a:extLst>
          </p:cNvPr>
          <p:cNvCxnSpPr>
            <a:cxnSpLocks/>
          </p:cNvCxnSpPr>
          <p:nvPr/>
        </p:nvCxnSpPr>
        <p:spPr>
          <a:xfrm>
            <a:off x="857869" y="4991885"/>
            <a:ext cx="4346308" cy="0"/>
          </a:xfrm>
          <a:prstGeom prst="line">
            <a:avLst/>
          </a:prstGeom>
          <a:ln>
            <a:solidFill>
              <a:srgbClr val="000A62"/>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ECF3B97F-7DB2-00BD-DB3C-132CB303E750}"/>
              </a:ext>
            </a:extLst>
          </p:cNvPr>
          <p:cNvPicPr>
            <a:picLocks noChangeAspect="1"/>
          </p:cNvPicPr>
          <p:nvPr/>
        </p:nvPicPr>
        <p:blipFill>
          <a:blip r:embed="rId6"/>
          <a:srcRect l="2794" t="6448" r="13057"/>
          <a:stretch>
            <a:fillRect/>
          </a:stretch>
        </p:blipFill>
        <p:spPr>
          <a:xfrm>
            <a:off x="5354801" y="4104603"/>
            <a:ext cx="3492554" cy="1764915"/>
          </a:xfrm>
          <a:prstGeom prst="rect">
            <a:avLst/>
          </a:prstGeom>
        </p:spPr>
      </p:pic>
      <p:sp>
        <p:nvSpPr>
          <p:cNvPr id="4" name="Text Placeholder 2">
            <a:extLst>
              <a:ext uri="{FF2B5EF4-FFF2-40B4-BE49-F238E27FC236}">
                <a16:creationId xmlns:a16="http://schemas.microsoft.com/office/drawing/2014/main" id="{5EA72E54-040C-10A2-E7CA-60813E64E848}"/>
              </a:ext>
            </a:extLst>
          </p:cNvPr>
          <p:cNvSpPr txBox="1">
            <a:spLocks/>
          </p:cNvSpPr>
          <p:nvPr/>
        </p:nvSpPr>
        <p:spPr>
          <a:xfrm>
            <a:off x="626267" y="1115288"/>
            <a:ext cx="11565731" cy="338554"/>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srgbClr val="000A62"/>
                </a:solidFill>
                <a:effectLst/>
                <a:uLnTx/>
                <a:uFillTx/>
                <a:latin typeface="Arial"/>
                <a:ea typeface="+mn-ea"/>
                <a:cs typeface="Arial"/>
              </a:rPr>
              <a:t>A trusted endorsement to boost client conversations and drive growth</a:t>
            </a:r>
          </a:p>
        </p:txBody>
      </p:sp>
    </p:spTree>
    <p:extLst>
      <p:ext uri="{BB962C8B-B14F-4D97-AF65-F5344CB8AC3E}">
        <p14:creationId xmlns:p14="http://schemas.microsoft.com/office/powerpoint/2010/main" val="3803052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810C7-A499-3306-38EC-D5F461FC477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5CC4DCB-4576-050D-A384-C2ACD4ED497D}"/>
              </a:ext>
            </a:extLst>
          </p:cNvPr>
          <p:cNvSpPr/>
          <p:nvPr/>
        </p:nvSpPr>
        <p:spPr>
          <a:xfrm>
            <a:off x="6280010" y="1588759"/>
            <a:ext cx="5282582" cy="3103731"/>
          </a:xfrm>
          <a:prstGeom prst="rect">
            <a:avLst/>
          </a:prstGeom>
          <a:solidFill>
            <a:srgbClr val="000A6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6C137EDA-8ACE-4CA9-34E8-A67199D8929F}"/>
              </a:ext>
            </a:extLst>
          </p:cNvPr>
          <p:cNvSpPr/>
          <p:nvPr/>
        </p:nvSpPr>
        <p:spPr>
          <a:xfrm>
            <a:off x="7656723" y="2203269"/>
            <a:ext cx="3605714" cy="1428828"/>
          </a:xfrm>
          <a:prstGeom prst="rect">
            <a:avLst/>
          </a:prstGeom>
          <a:solidFill>
            <a:srgbClr val="7FB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7DFAF00C-1420-528C-1028-9BCA52AB58CD}"/>
              </a:ext>
            </a:extLst>
          </p:cNvPr>
          <p:cNvSpPr/>
          <p:nvPr/>
        </p:nvSpPr>
        <p:spPr>
          <a:xfrm>
            <a:off x="656240" y="1588759"/>
            <a:ext cx="5439760" cy="4429166"/>
          </a:xfrm>
          <a:prstGeom prst="rect">
            <a:avLst/>
          </a:prstGeom>
          <a:solidFill>
            <a:schemeClr val="bg1">
              <a:alpha val="34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D2BD2B59-DAE0-3C10-0D6F-3CE78254B3D6}"/>
              </a:ext>
            </a:extLst>
          </p:cNvPr>
          <p:cNvSpPr>
            <a:spLocks noGrp="1"/>
          </p:cNvSpPr>
          <p:nvPr>
            <p:ph type="title"/>
          </p:nvPr>
        </p:nvSpPr>
        <p:spPr>
          <a:xfrm>
            <a:off x="626269" y="493776"/>
            <a:ext cx="9642567" cy="534756"/>
          </a:xfrm>
        </p:spPr>
        <p:txBody>
          <a:bodyPr vert="horz" lIns="0" tIns="0" rIns="0" bIns="0" anchor="t" anchorCtr="0"/>
          <a:lstStyle/>
          <a:p>
            <a:r>
              <a:rPr lang="en-US" dirty="0"/>
              <a:t>VUL Mastery webinar series </a:t>
            </a:r>
            <a:r>
              <a:rPr lang="en-US"/>
              <a:t>- </a:t>
            </a:r>
            <a:r>
              <a:rPr lang="en-US" dirty="0"/>
              <a:t>session 2</a:t>
            </a:r>
          </a:p>
        </p:txBody>
      </p:sp>
      <p:sp>
        <p:nvSpPr>
          <p:cNvPr id="51" name="Slide Number Placeholder 50">
            <a:extLst>
              <a:ext uri="{FF2B5EF4-FFF2-40B4-BE49-F238E27FC236}">
                <a16:creationId xmlns:a16="http://schemas.microsoft.com/office/drawing/2014/main" id="{376A671E-2283-3D30-7392-39D7F71A4D8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 Placeholder 2">
            <a:extLst>
              <a:ext uri="{FF2B5EF4-FFF2-40B4-BE49-F238E27FC236}">
                <a16:creationId xmlns:a16="http://schemas.microsoft.com/office/drawing/2014/main" id="{B2EB5BC6-7FD4-451A-B1B3-8C2E35D92865}"/>
              </a:ext>
            </a:extLst>
          </p:cNvPr>
          <p:cNvSpPr txBox="1">
            <a:spLocks/>
          </p:cNvSpPr>
          <p:nvPr/>
        </p:nvSpPr>
        <p:spPr>
          <a:xfrm>
            <a:off x="627063" y="1077841"/>
            <a:ext cx="10951963" cy="338554"/>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srgbClr val="000A62"/>
                </a:solidFill>
                <a:effectLst/>
                <a:uLnTx/>
                <a:uFillTx/>
                <a:latin typeface="Arial"/>
                <a:ea typeface="+mn-ea"/>
                <a:cs typeface="Arial" panose="020B0604020202020204" pitchFamily="34" charset="0"/>
              </a:rPr>
              <a:t>Keep the momentum going. Practical ideas for stronger VUL conversations.</a:t>
            </a:r>
          </a:p>
        </p:txBody>
      </p:sp>
      <p:sp>
        <p:nvSpPr>
          <p:cNvPr id="24" name="TextBox 23">
            <a:extLst>
              <a:ext uri="{FF2B5EF4-FFF2-40B4-BE49-F238E27FC236}">
                <a16:creationId xmlns:a16="http://schemas.microsoft.com/office/drawing/2014/main" id="{0D4E65A4-D41B-733F-81CC-35CDC1C0F365}"/>
              </a:ext>
            </a:extLst>
          </p:cNvPr>
          <p:cNvSpPr txBox="1"/>
          <p:nvPr/>
        </p:nvSpPr>
        <p:spPr>
          <a:xfrm>
            <a:off x="882063" y="1709052"/>
            <a:ext cx="5009259" cy="379591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a:ln>
                  <a:noFill/>
                </a:ln>
                <a:solidFill>
                  <a:srgbClr val="000962"/>
                </a:solidFill>
                <a:effectLst/>
                <a:uLnTx/>
                <a:uFillTx/>
                <a:latin typeface="Georgia"/>
                <a:ea typeface="+mn-ea"/>
                <a:cs typeface="+mn-cs"/>
              </a:rPr>
              <a:t>Survivorship Variable Universal Life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a:ln>
                  <a:noFill/>
                </a:ln>
                <a:solidFill>
                  <a:srgbClr val="000962"/>
                </a:solidFill>
                <a:effectLst/>
                <a:uLnTx/>
                <a:uFillTx/>
                <a:latin typeface="Arial"/>
                <a:ea typeface="+mn-ea"/>
                <a:cs typeface="+mn-cs"/>
              </a:rPr>
              <a:t>Session 2</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sz="1800" b="1" i="0" u="none" strike="noStrike" kern="1200" cap="none" spc="0" normalizeH="0" baseline="0" noProof="0">
                <a:ln>
                  <a:noFill/>
                </a:ln>
                <a:solidFill>
                  <a:srgbClr val="000962"/>
                </a:solidFill>
                <a:effectLst/>
                <a:uLnTx/>
                <a:uFillTx/>
                <a:latin typeface="Arial"/>
                <a:ea typeface="+mn-ea"/>
                <a:cs typeface="+mn-cs"/>
              </a:rPr>
              <a:t>Monday, May 18, 2026 | 3 pm ET</a:t>
            </a:r>
            <a:r>
              <a:rPr kumimoji="0" lang="en-US" sz="1800" b="1" i="0" u="none" strike="noStrike" kern="1200" cap="none" spc="0" normalizeH="0" baseline="30000" noProof="0">
                <a:ln>
                  <a:noFill/>
                </a:ln>
                <a:solidFill>
                  <a:srgbClr val="000962"/>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Focusing on </a:t>
            </a:r>
            <a:r>
              <a:rPr kumimoji="0" lang="en-US" sz="1800" b="1" i="0" u="none" strike="noStrike" kern="1200" cap="none" spc="0" normalizeH="0" baseline="0" noProof="0">
                <a:ln>
                  <a:noFill/>
                </a:ln>
                <a:solidFill>
                  <a:srgbClr val="000962"/>
                </a:solidFill>
                <a:effectLst/>
                <a:uLnTx/>
                <a:uFillTx/>
                <a:latin typeface="Arial"/>
                <a:ea typeface="+mn-ea"/>
                <a:cs typeface="+mn-cs"/>
              </a:rPr>
              <a:t>SVUL Accumulator II</a:t>
            </a:r>
            <a:r>
              <a:rPr kumimoji="0" lang="en-US" sz="1800" b="0" i="0" u="none" strike="noStrike" kern="1200" cap="none" spc="0" normalizeH="0" baseline="0" noProof="0">
                <a:ln>
                  <a:noFill/>
                </a:ln>
                <a:solidFill>
                  <a:srgbClr val="000962"/>
                </a:solidFill>
                <a:effectLst/>
                <a:uLnTx/>
                <a:uFillTx/>
                <a:latin typeface="Arial"/>
                <a:ea typeface="+mn-ea"/>
                <a:cs typeface="+mn-cs"/>
              </a:rPr>
              <a:t> (AD126), </a:t>
            </a:r>
            <a:br>
              <a:rPr kumimoji="0" lang="en-US" sz="1800" b="0" i="0" u="none" strike="noStrike" kern="1200" cap="none" spc="0" normalizeH="0" baseline="0" noProof="0">
                <a:ln>
                  <a:noFill/>
                </a:ln>
                <a:solidFill>
                  <a:srgbClr val="000962"/>
                </a:solidFill>
                <a:effectLst/>
                <a:uLnTx/>
                <a:uFillTx/>
                <a:latin typeface="Arial"/>
                <a:ea typeface="+mn-ea"/>
                <a:cs typeface="+mn-cs"/>
              </a:rPr>
            </a:br>
            <a:r>
              <a:rPr kumimoji="0" lang="en-US" sz="1800" b="0" i="0" u="none" strike="noStrike" kern="1200" cap="none" spc="0" normalizeH="0" baseline="0" noProof="0">
                <a:ln>
                  <a:noFill/>
                </a:ln>
                <a:solidFill>
                  <a:srgbClr val="000962"/>
                </a:solidFill>
                <a:effectLst/>
                <a:uLnTx/>
                <a:uFillTx/>
                <a:latin typeface="Arial"/>
                <a:ea typeface="+mn-ea"/>
                <a:cs typeface="+mn-cs"/>
              </a:rPr>
              <a:t>our new </a:t>
            </a:r>
            <a:r>
              <a:rPr kumimoji="0" lang="en-US" sz="1800" b="1" i="0" u="none" strike="noStrike" kern="1200" cap="none" spc="0" normalizeH="0" baseline="0" noProof="0">
                <a:ln>
                  <a:noFill/>
                </a:ln>
                <a:solidFill>
                  <a:srgbClr val="000962"/>
                </a:solidFill>
                <a:effectLst/>
                <a:uLnTx/>
                <a:uFillTx/>
                <a:latin typeface="Arial"/>
                <a:ea typeface="+mn-ea"/>
                <a:cs typeface="+mn-cs"/>
              </a:rPr>
              <a:t>Survivorship Variable Universal Life</a:t>
            </a:r>
            <a:r>
              <a:rPr kumimoji="0" lang="en-US" sz="1800" b="0" i="0" u="none" strike="noStrike" kern="1200" cap="none" spc="0" normalizeH="0" baseline="0" noProof="0">
                <a:ln>
                  <a:noFill/>
                </a:ln>
                <a:solidFill>
                  <a:srgbClr val="000962"/>
                </a:solidFill>
                <a:effectLst/>
                <a:uLnTx/>
                <a:uFillTx/>
                <a:latin typeface="Arial"/>
                <a:ea typeface="+mn-ea"/>
                <a:cs typeface="+mn-cs"/>
              </a:rPr>
              <a:t> (SVUL) solution, and how to position it with the right clients.</a:t>
            </a:r>
          </a:p>
          <a:p>
            <a:pPr marL="1884363" marR="0" lvl="0" indent="-225425" algn="l" defTabSz="914400" rtl="0" eaLnBrk="1" fontAlgn="auto" latinLnBrk="0" hangingPunct="1">
              <a:lnSpc>
                <a:spcPct val="100000"/>
              </a:lnSpc>
              <a:spcBef>
                <a:spcPts val="0"/>
              </a:spcBef>
              <a:spcAft>
                <a:spcPts val="400"/>
              </a:spcAft>
              <a:buClrTx/>
              <a:buSzTx/>
              <a:buFontTx/>
              <a:buNone/>
              <a:tabLst>
                <a:tab pos="2344738" algn="l"/>
              </a:tabLst>
              <a:defRPr/>
            </a:pPr>
            <a:r>
              <a:rPr kumimoji="0" lang="en-US" sz="1800" b="1" i="0" u="none" strike="noStrike" kern="1200" cap="none" spc="0" normalizeH="0" baseline="0" noProof="0">
                <a:ln>
                  <a:noFill/>
                </a:ln>
                <a:solidFill>
                  <a:srgbClr val="000962"/>
                </a:solidFill>
                <a:effectLst/>
                <a:uLnTx/>
                <a:uFillTx/>
                <a:latin typeface="Arial"/>
                <a:ea typeface="+mn-ea"/>
                <a:cs typeface="+mn-cs"/>
              </a:rPr>
              <a:t>Key takeaways:</a:t>
            </a:r>
          </a:p>
          <a:p>
            <a:pPr marL="1884363" marR="0" lvl="0" indent="-22542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Why it matters now</a:t>
            </a:r>
          </a:p>
          <a:p>
            <a:pPr marL="1884363" marR="0" lvl="0" indent="-22542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Ideal client opportunities</a:t>
            </a:r>
          </a:p>
          <a:p>
            <a:pPr marL="1884363" marR="0" lvl="0" indent="-225425"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Legacy planning ideas</a:t>
            </a:r>
          </a:p>
        </p:txBody>
      </p:sp>
      <p:sp>
        <p:nvSpPr>
          <p:cNvPr id="26" name="Rectangle 25">
            <a:extLst>
              <a:ext uri="{FF2B5EF4-FFF2-40B4-BE49-F238E27FC236}">
                <a16:creationId xmlns:a16="http://schemas.microsoft.com/office/drawing/2014/main" id="{3EE1FDAB-A623-D714-4D56-2AF4704228B1}"/>
              </a:ext>
            </a:extLst>
          </p:cNvPr>
          <p:cNvSpPr/>
          <p:nvPr/>
        </p:nvSpPr>
        <p:spPr bwMode="ltGray">
          <a:xfrm>
            <a:off x="6280010" y="4919164"/>
            <a:ext cx="5207696" cy="1099220"/>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7" name="TextBox 26">
            <a:extLst>
              <a:ext uri="{FF2B5EF4-FFF2-40B4-BE49-F238E27FC236}">
                <a16:creationId xmlns:a16="http://schemas.microsoft.com/office/drawing/2014/main" id="{ED9786C8-C9F2-18E0-B435-8620A13E2E46}"/>
              </a:ext>
            </a:extLst>
          </p:cNvPr>
          <p:cNvSpPr txBox="1"/>
          <p:nvPr/>
        </p:nvSpPr>
        <p:spPr>
          <a:xfrm>
            <a:off x="6514624" y="5222553"/>
            <a:ext cx="3323186"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for </a:t>
            </a:r>
            <a:br>
              <a:rPr kumimoji="0" lang="en-US" sz="1600" b="0" i="0" u="none" strike="noStrike" kern="1200" cap="none" spc="0" normalizeH="0" baseline="0" noProof="0">
                <a:ln>
                  <a:noFill/>
                </a:ln>
                <a:solidFill>
                  <a:srgbClr val="000A62"/>
                </a:solidFill>
                <a:effectLst/>
                <a:uLnTx/>
                <a:uFillTx/>
                <a:latin typeface="Arial"/>
                <a:ea typeface="+mn-ea"/>
                <a:cs typeface="+mn-cs"/>
              </a:rPr>
            </a:br>
            <a:r>
              <a:rPr kumimoji="0" lang="en-US" sz="1600" b="0" i="0" u="none" strike="noStrike" kern="1200" cap="none" spc="0" normalizeH="0" baseline="0" noProof="0">
                <a:ln>
                  <a:noFill/>
                </a:ln>
                <a:solidFill>
                  <a:srgbClr val="000A62"/>
                </a:solidFill>
                <a:effectLst/>
                <a:uLnTx/>
                <a:uFillTx/>
                <a:latin typeface="Arial"/>
                <a:ea typeface="+mn-ea"/>
                <a:cs typeface="+mn-cs"/>
              </a:rPr>
              <a:t>session 2 of the VUL Mastery today.</a:t>
            </a:r>
          </a:p>
        </p:txBody>
      </p:sp>
      <p:sp>
        <p:nvSpPr>
          <p:cNvPr id="28" name="Isosceles Triangle 27">
            <a:extLst>
              <a:ext uri="{FF2B5EF4-FFF2-40B4-BE49-F238E27FC236}">
                <a16:creationId xmlns:a16="http://schemas.microsoft.com/office/drawing/2014/main" id="{F15A48E3-662E-029D-0E68-2C0D8128CE1A}"/>
              </a:ext>
            </a:extLst>
          </p:cNvPr>
          <p:cNvSpPr/>
          <p:nvPr/>
        </p:nvSpPr>
        <p:spPr bwMode="ltGray">
          <a:xfrm rot="5400000">
            <a:off x="10008210" y="5350758"/>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pic>
        <p:nvPicPr>
          <p:cNvPr id="29" name="Picture 28">
            <a:extLst>
              <a:ext uri="{FF2B5EF4-FFF2-40B4-BE49-F238E27FC236}">
                <a16:creationId xmlns:a16="http://schemas.microsoft.com/office/drawing/2014/main" id="{C75C3429-BE5D-9EB5-36F8-6FC0BF4C7F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463831" y="4919394"/>
            <a:ext cx="1098761" cy="1098761"/>
          </a:xfrm>
          <a:prstGeom prst="rect">
            <a:avLst/>
          </a:prstGeom>
        </p:spPr>
      </p:pic>
      <p:pic>
        <p:nvPicPr>
          <p:cNvPr id="31" name="Picture 30">
            <a:extLst>
              <a:ext uri="{FF2B5EF4-FFF2-40B4-BE49-F238E27FC236}">
                <a16:creationId xmlns:a16="http://schemas.microsoft.com/office/drawing/2014/main" id="{F1D90241-109A-74AD-AE78-178CF6988D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82063" y="4340053"/>
            <a:ext cx="1428203" cy="1443386"/>
          </a:xfrm>
          <a:prstGeom prst="rect">
            <a:avLst/>
          </a:prstGeom>
        </p:spPr>
      </p:pic>
      <p:sp>
        <p:nvSpPr>
          <p:cNvPr id="35" name="TextBox 34">
            <a:extLst>
              <a:ext uri="{FF2B5EF4-FFF2-40B4-BE49-F238E27FC236}">
                <a16:creationId xmlns:a16="http://schemas.microsoft.com/office/drawing/2014/main" id="{8C04B93B-48B9-E1F0-38CF-C70F66324E16}"/>
              </a:ext>
            </a:extLst>
          </p:cNvPr>
          <p:cNvSpPr txBox="1"/>
          <p:nvPr/>
        </p:nvSpPr>
        <p:spPr>
          <a:xfrm>
            <a:off x="626267" y="6342985"/>
            <a:ext cx="10936325" cy="1692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Arial"/>
                <a:ea typeface="+mn-ea"/>
                <a:cs typeface="+mn-cs"/>
              </a:rPr>
              <a:t>*3:00 PM EST  |  2:00 PM CST  |  1:00 PM MST  |  12:00 PM PST  |  11:00 PM Alaska  |  9:00 AM Hawaii</a:t>
            </a:r>
          </a:p>
        </p:txBody>
      </p:sp>
      <p:sp>
        <p:nvSpPr>
          <p:cNvPr id="5" name="TextBox 4">
            <a:extLst>
              <a:ext uri="{FF2B5EF4-FFF2-40B4-BE49-F238E27FC236}">
                <a16:creationId xmlns:a16="http://schemas.microsoft.com/office/drawing/2014/main" id="{9084524C-8722-6AFF-13E0-EB2252301F3A}"/>
              </a:ext>
            </a:extLst>
          </p:cNvPr>
          <p:cNvSpPr txBox="1"/>
          <p:nvPr/>
        </p:nvSpPr>
        <p:spPr>
          <a:xfrm>
            <a:off x="6514623" y="3816045"/>
            <a:ext cx="4843767" cy="6924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FFFFFF"/>
                </a:solidFill>
                <a:effectLst/>
                <a:uLnTx/>
                <a:uFillTx/>
                <a:latin typeface="Arial"/>
                <a:ea typeface="+mn-ea"/>
                <a:cs typeface="+mn-cs"/>
              </a:rPr>
              <a:t>Catch up before Session 2. The </a:t>
            </a:r>
            <a:r>
              <a:rPr kumimoji="0" lang="en-US" sz="1500" b="1" i="0" u="none" strike="noStrike" kern="1200" cap="none" spc="0" normalizeH="0" baseline="0" noProof="0">
                <a:ln>
                  <a:noFill/>
                </a:ln>
                <a:solidFill>
                  <a:srgbClr val="FFFFFF"/>
                </a:solidFill>
                <a:effectLst/>
                <a:uLnTx/>
                <a:uFillTx/>
                <a:latin typeface="Arial"/>
                <a:ea typeface="+mn-ea"/>
                <a:cs typeface="+mn-cs"/>
              </a:rPr>
              <a:t>May 6 PLAN webinar replay</a:t>
            </a:r>
            <a:r>
              <a:rPr kumimoji="0" lang="en-US" sz="1500" b="0" i="0" u="none" strike="noStrike" kern="1200" cap="none" spc="0" normalizeH="0" baseline="0" noProof="0">
                <a:ln>
                  <a:noFill/>
                </a:ln>
                <a:solidFill>
                  <a:srgbClr val="FFFFFF"/>
                </a:solidFill>
                <a:effectLst/>
                <a:uLnTx/>
                <a:uFillTx/>
                <a:latin typeface="Arial"/>
                <a:ea typeface="+mn-ea"/>
                <a:cs typeface="+mn-cs"/>
              </a:rPr>
              <a:t> covers the new SVUL product and key strategies that tie directly into the VUL Mastery series.</a:t>
            </a:r>
          </a:p>
        </p:txBody>
      </p:sp>
      <p:pic>
        <p:nvPicPr>
          <p:cNvPr id="11" name="Picture 10">
            <a:extLst>
              <a:ext uri="{FF2B5EF4-FFF2-40B4-BE49-F238E27FC236}">
                <a16:creationId xmlns:a16="http://schemas.microsoft.com/office/drawing/2014/main" id="{D153F707-3CD0-C860-4E79-32AA76CC6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5229" y="2203269"/>
            <a:ext cx="1207924" cy="1428828"/>
          </a:xfrm>
          <a:prstGeom prst="rect">
            <a:avLst/>
          </a:prstGeom>
        </p:spPr>
      </p:pic>
      <p:sp>
        <p:nvSpPr>
          <p:cNvPr id="12" name="TextBox 11">
            <a:extLst>
              <a:ext uri="{FF2B5EF4-FFF2-40B4-BE49-F238E27FC236}">
                <a16:creationId xmlns:a16="http://schemas.microsoft.com/office/drawing/2014/main" id="{5A8CFDCA-A227-75AE-B01C-B6C346F1C1CD}"/>
              </a:ext>
            </a:extLst>
          </p:cNvPr>
          <p:cNvSpPr txBox="1"/>
          <p:nvPr/>
        </p:nvSpPr>
        <p:spPr>
          <a:xfrm>
            <a:off x="8006548" y="2340602"/>
            <a:ext cx="1754620" cy="1154162"/>
          </a:xfrm>
          <a:prstGeom prst="rect">
            <a:avLst/>
          </a:prstGeom>
          <a:noFill/>
        </p:spPr>
        <p:txBody>
          <a:bodyPr wrap="square" lIns="0" tIns="0" rIns="0" bIns="0" anchor="ctr" anchorCtr="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Featured speaker:</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Nicholas D. Hjorth </a:t>
            </a:r>
            <a:r>
              <a:rPr kumimoji="0" lang="en-US" sz="1400" b="0" i="0" u="none" strike="noStrike" kern="1200" cap="none" spc="0" normalizeH="0" baseline="0" noProof="0">
                <a:ln>
                  <a:noFill/>
                </a:ln>
                <a:solidFill>
                  <a:srgbClr val="000A62"/>
                </a:solidFill>
                <a:effectLst/>
                <a:uLnTx/>
                <a:uFillTx/>
                <a:latin typeface="Arial"/>
                <a:ea typeface="+mn-ea"/>
                <a:cs typeface="+mn-cs"/>
              </a:rPr>
              <a:t>CPA, CLTC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Chairman’s Cabinet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Anaheim Office</a:t>
            </a:r>
          </a:p>
        </p:txBody>
      </p:sp>
      <p:sp>
        <p:nvSpPr>
          <p:cNvPr id="15" name="TextBox 14">
            <a:extLst>
              <a:ext uri="{FF2B5EF4-FFF2-40B4-BE49-F238E27FC236}">
                <a16:creationId xmlns:a16="http://schemas.microsoft.com/office/drawing/2014/main" id="{328845B9-C320-68C4-5DD2-55EBF13E83D8}"/>
              </a:ext>
            </a:extLst>
          </p:cNvPr>
          <p:cNvSpPr txBox="1"/>
          <p:nvPr/>
        </p:nvSpPr>
        <p:spPr>
          <a:xfrm>
            <a:off x="6582371" y="1765600"/>
            <a:ext cx="4082284"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a:ea typeface="+mn-ea"/>
                <a:cs typeface="+mn-cs"/>
              </a:rPr>
              <a:t>Replay of May 6 PLAN webinar </a:t>
            </a:r>
          </a:p>
        </p:txBody>
      </p:sp>
      <p:cxnSp>
        <p:nvCxnSpPr>
          <p:cNvPr id="21" name="Straight Connector 20">
            <a:extLst>
              <a:ext uri="{FF2B5EF4-FFF2-40B4-BE49-F238E27FC236}">
                <a16:creationId xmlns:a16="http://schemas.microsoft.com/office/drawing/2014/main" id="{21E5E3E4-FAA2-269E-6F66-495EBE4EA2EF}"/>
              </a:ext>
            </a:extLst>
          </p:cNvPr>
          <p:cNvCxnSpPr/>
          <p:nvPr/>
        </p:nvCxnSpPr>
        <p:spPr>
          <a:xfrm>
            <a:off x="882063" y="2880410"/>
            <a:ext cx="4920394" cy="0"/>
          </a:xfrm>
          <a:prstGeom prst="line">
            <a:avLst/>
          </a:prstGeom>
          <a:ln w="6350"/>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12E098DC-5642-5775-1101-ABD0A8FE7F7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974563" y="2368302"/>
            <a:ext cx="1098761" cy="1098761"/>
          </a:xfrm>
          <a:prstGeom prst="rect">
            <a:avLst/>
          </a:prstGeom>
        </p:spPr>
      </p:pic>
    </p:spTree>
    <p:extLst>
      <p:ext uri="{BB962C8B-B14F-4D97-AF65-F5344CB8AC3E}">
        <p14:creationId xmlns:p14="http://schemas.microsoft.com/office/powerpoint/2010/main" val="171776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5B53-0B79-2505-8ACA-3523E4DC38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0EE9B9-A8F6-E5AC-2EA0-823E0548855C}"/>
              </a:ext>
            </a:extLst>
          </p:cNvPr>
          <p:cNvSpPr/>
          <p:nvPr/>
        </p:nvSpPr>
        <p:spPr>
          <a:xfrm>
            <a:off x="0" y="1521937"/>
            <a:ext cx="12191999"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522420FD-1FB1-0878-9050-529860189120}"/>
              </a:ext>
            </a:extLst>
          </p:cNvPr>
          <p:cNvSpPr/>
          <p:nvPr/>
        </p:nvSpPr>
        <p:spPr>
          <a:xfrm>
            <a:off x="611199" y="1609925"/>
            <a:ext cx="2697480" cy="273644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E5EAF265-183D-5E06-A04B-F92E7A14C9B9}"/>
              </a:ext>
            </a:extLst>
          </p:cNvPr>
          <p:cNvSpPr/>
          <p:nvPr/>
        </p:nvSpPr>
        <p:spPr>
          <a:xfrm>
            <a:off x="3373596" y="1609925"/>
            <a:ext cx="2697480" cy="273644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74C93C3E-E7EA-2FBE-86ED-A0A026D7D783}"/>
              </a:ext>
            </a:extLst>
          </p:cNvPr>
          <p:cNvSpPr/>
          <p:nvPr/>
        </p:nvSpPr>
        <p:spPr>
          <a:xfrm>
            <a:off x="6120923" y="1609925"/>
            <a:ext cx="2697480" cy="2736449"/>
          </a:xfrm>
          <a:prstGeom prst="rect">
            <a:avLst/>
          </a:prstGeom>
          <a:solidFill>
            <a:srgbClr val="0468FF">
              <a:alpha val="3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31843864-54FB-9186-5405-3B3FD3D21484}"/>
              </a:ext>
            </a:extLst>
          </p:cNvPr>
          <p:cNvSpPr/>
          <p:nvPr/>
        </p:nvSpPr>
        <p:spPr>
          <a:xfrm>
            <a:off x="8868251" y="1609925"/>
            <a:ext cx="2697480" cy="2736449"/>
          </a:xfrm>
          <a:prstGeom prst="rect">
            <a:avLst/>
          </a:prstGeom>
          <a:solidFill>
            <a:srgbClr val="0468FF">
              <a:alpha val="3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7EBB195A-14F3-E791-D7BB-88322C30BF46}"/>
              </a:ext>
            </a:extLst>
          </p:cNvPr>
          <p:cNvSpPr>
            <a:spLocks noGrp="1"/>
          </p:cNvSpPr>
          <p:nvPr>
            <p:ph type="title"/>
          </p:nvPr>
        </p:nvSpPr>
        <p:spPr>
          <a:xfrm>
            <a:off x="626269" y="493776"/>
            <a:ext cx="10939462" cy="586043"/>
          </a:xfrm>
        </p:spPr>
        <p:txBody>
          <a:bodyPr vert="horz" lIns="0" tIns="0" rIns="0" bIns="0" anchor="t" anchorCtr="0"/>
          <a:lstStyle/>
          <a:p>
            <a:r>
              <a:rPr lang="en-US" dirty="0"/>
              <a:t>Disability Income Awareness Month (DIAM) training series</a:t>
            </a:r>
          </a:p>
        </p:txBody>
      </p:sp>
      <p:sp>
        <p:nvSpPr>
          <p:cNvPr id="51" name="Slide Number Placeholder 50">
            <a:extLst>
              <a:ext uri="{FF2B5EF4-FFF2-40B4-BE49-F238E27FC236}">
                <a16:creationId xmlns:a16="http://schemas.microsoft.com/office/drawing/2014/main" id="{27EB90EB-1D4F-4CB5-1C9F-413B44B820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B4AE04D7-1EB3-9809-A364-86014BD56338}"/>
              </a:ext>
            </a:extLst>
          </p:cNvPr>
          <p:cNvSpPr/>
          <p:nvPr/>
        </p:nvSpPr>
        <p:spPr bwMode="ltGray">
          <a:xfrm>
            <a:off x="6120924" y="4428406"/>
            <a:ext cx="5443169" cy="109967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Text Placeholder 2">
            <a:extLst>
              <a:ext uri="{FF2B5EF4-FFF2-40B4-BE49-F238E27FC236}">
                <a16:creationId xmlns:a16="http://schemas.microsoft.com/office/drawing/2014/main" id="{CE2C9AF7-F677-4169-C04A-EA4797D89D51}"/>
              </a:ext>
            </a:extLst>
          </p:cNvPr>
          <p:cNvSpPr txBox="1">
            <a:spLocks/>
          </p:cNvSpPr>
          <p:nvPr/>
        </p:nvSpPr>
        <p:spPr>
          <a:xfrm>
            <a:off x="627063" y="1054657"/>
            <a:ext cx="11520487" cy="338554"/>
          </a:xfrm>
          <a:prstGeom prst="rect">
            <a:avLst/>
          </a:prstGeom>
        </p:spPr>
        <p:txBody>
          <a:bodyPr vert="horz"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i="0" u="none" strike="noStrike" kern="1200" cap="none" spc="0" normalizeH="0" baseline="0" noProof="0" dirty="0">
                <a:ln>
                  <a:noFill/>
                </a:ln>
                <a:solidFill>
                  <a:srgbClr val="000A62"/>
                </a:solidFill>
                <a:effectLst/>
                <a:uLnTx/>
                <a:uFillTx/>
                <a:latin typeface="Arial"/>
                <a:ea typeface="+mn-ea"/>
                <a:cs typeface="Arial" panose="020B0604020202020204" pitchFamily="34" charset="0"/>
              </a:rPr>
              <a:t>Practical strategies to grow your DI business</a:t>
            </a:r>
          </a:p>
        </p:txBody>
      </p:sp>
      <p:sp>
        <p:nvSpPr>
          <p:cNvPr id="11" name="TextBox 10">
            <a:extLst>
              <a:ext uri="{FF2B5EF4-FFF2-40B4-BE49-F238E27FC236}">
                <a16:creationId xmlns:a16="http://schemas.microsoft.com/office/drawing/2014/main" id="{44226748-1BEE-9713-717C-D4D938DA14B0}"/>
              </a:ext>
            </a:extLst>
          </p:cNvPr>
          <p:cNvSpPr txBox="1"/>
          <p:nvPr/>
        </p:nvSpPr>
        <p:spPr>
          <a:xfrm>
            <a:off x="6503897" y="4608913"/>
            <a:ext cx="3389461"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a:ea typeface="+mn-ea"/>
                <a:cs typeface="+mn-cs"/>
              </a:rPr>
              <a:t>Scan the QR code to sign up for the DIAM training series and save your spot for all four sessions.</a:t>
            </a:r>
          </a:p>
        </p:txBody>
      </p:sp>
      <p:sp>
        <p:nvSpPr>
          <p:cNvPr id="13" name="Isosceles Triangle 12">
            <a:extLst>
              <a:ext uri="{FF2B5EF4-FFF2-40B4-BE49-F238E27FC236}">
                <a16:creationId xmlns:a16="http://schemas.microsoft.com/office/drawing/2014/main" id="{3FEB05AB-2BB1-BB06-C5C8-C9DDEA3B3DA4}"/>
              </a:ext>
            </a:extLst>
          </p:cNvPr>
          <p:cNvSpPr/>
          <p:nvPr/>
        </p:nvSpPr>
        <p:spPr bwMode="ltGray">
          <a:xfrm rot="5400000">
            <a:off x="10036735" y="486022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rial"/>
              <a:ea typeface="+mn-ea"/>
              <a:cs typeface="+mn-cs"/>
            </a:endParaRPr>
          </a:p>
        </p:txBody>
      </p:sp>
      <p:sp>
        <p:nvSpPr>
          <p:cNvPr id="20" name="Rectangle 19">
            <a:extLst>
              <a:ext uri="{FF2B5EF4-FFF2-40B4-BE49-F238E27FC236}">
                <a16:creationId xmlns:a16="http://schemas.microsoft.com/office/drawing/2014/main" id="{49CE8699-E213-7637-21DE-2B398D0252F2}"/>
              </a:ext>
            </a:extLst>
          </p:cNvPr>
          <p:cNvSpPr/>
          <p:nvPr/>
        </p:nvSpPr>
        <p:spPr bwMode="ltGray">
          <a:xfrm>
            <a:off x="626269" y="4428406"/>
            <a:ext cx="5444807" cy="1099679"/>
          </a:xfrm>
          <a:prstGeom prst="rect">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26" name="Picture 25">
            <a:extLst>
              <a:ext uri="{FF2B5EF4-FFF2-40B4-BE49-F238E27FC236}">
                <a16:creationId xmlns:a16="http://schemas.microsoft.com/office/drawing/2014/main" id="{5C73CC94-3146-63A8-7AA4-1D5F0CE891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5332" y="4428865"/>
            <a:ext cx="1098761" cy="1098761"/>
          </a:xfrm>
          <a:prstGeom prst="rect">
            <a:avLst/>
          </a:prstGeom>
        </p:spPr>
      </p:pic>
      <p:sp>
        <p:nvSpPr>
          <p:cNvPr id="27" name="Rectangle 26">
            <a:extLst>
              <a:ext uri="{FF2B5EF4-FFF2-40B4-BE49-F238E27FC236}">
                <a16:creationId xmlns:a16="http://schemas.microsoft.com/office/drawing/2014/main" id="{A7EF9D22-CCF2-3D02-ED8E-15FC6BF285C5}"/>
              </a:ext>
            </a:extLst>
          </p:cNvPr>
          <p:cNvSpPr/>
          <p:nvPr/>
        </p:nvSpPr>
        <p:spPr bwMode="ltGray">
          <a:xfrm>
            <a:off x="626268" y="1609925"/>
            <a:ext cx="2694343" cy="527841"/>
          </a:xfrm>
          <a:prstGeom prst="rect">
            <a:avLst/>
          </a:prstGeom>
          <a:solidFill>
            <a:schemeClr val="bg1">
              <a:lumMod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6" name="TextBox 5">
            <a:extLst>
              <a:ext uri="{FF2B5EF4-FFF2-40B4-BE49-F238E27FC236}">
                <a16:creationId xmlns:a16="http://schemas.microsoft.com/office/drawing/2014/main" id="{D70F984C-B4E7-BB62-6AE5-CA745D75BBFC}"/>
              </a:ext>
            </a:extLst>
          </p:cNvPr>
          <p:cNvSpPr txBox="1"/>
          <p:nvPr/>
        </p:nvSpPr>
        <p:spPr>
          <a:xfrm>
            <a:off x="747136" y="1685475"/>
            <a:ext cx="2408657" cy="223651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a:ea typeface="+mn-ea"/>
                <a:cs typeface="+mn-cs"/>
              </a:rPr>
              <a:t>    </a:t>
            </a:r>
            <a:r>
              <a:rPr kumimoji="0" lang="en-US" sz="2400" b="0" i="0" u="none" strike="noStrike" kern="1200" cap="none" spc="0" normalizeH="0" baseline="0" noProof="0">
                <a:ln>
                  <a:noFill/>
                </a:ln>
                <a:solidFill>
                  <a:srgbClr val="FFFFFF">
                    <a:lumMod val="75000"/>
                  </a:srgbClr>
                </a:solidFill>
                <a:effectLst/>
                <a:uLnTx/>
                <a:uFillTx/>
                <a:latin typeface="Georgia" panose="02040502050405020303" pitchFamily="18" charset="0"/>
                <a:ea typeface="+mn-ea"/>
                <a:cs typeface="+mn-cs"/>
              </a:rPr>
              <a:t>May 6</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1" i="0" u="none" strike="noStrike" kern="1200" cap="none" spc="0" normalizeH="0" baseline="0" noProof="0">
                <a:ln>
                  <a:noFill/>
                </a:ln>
                <a:solidFill>
                  <a:srgbClr val="FFFFFF">
                    <a:lumMod val="50000"/>
                  </a:srgbClr>
                </a:solidFill>
                <a:effectLst/>
                <a:uLnTx/>
                <a:uFillTx/>
                <a:latin typeface="Arial"/>
                <a:ea typeface="+mn-ea"/>
                <a:cs typeface="+mn-cs"/>
              </a:rPr>
              <a:t>Unlocking Growth with Multi-Life IDI</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lumMod val="50000"/>
                  </a:srgbClr>
                </a:solidFill>
                <a:effectLst/>
                <a:uLnTx/>
                <a:uFillTx/>
                <a:latin typeface="Arial"/>
                <a:ea typeface="+mn-ea"/>
                <a:cs typeface="+mn-cs"/>
              </a:rPr>
              <a:t>Discover how Multi-Life can help you reach more clients and create new opportunities for individual DI conversations.</a:t>
            </a:r>
          </a:p>
        </p:txBody>
      </p:sp>
      <p:sp>
        <p:nvSpPr>
          <p:cNvPr id="28" name="Rectangle 27">
            <a:extLst>
              <a:ext uri="{FF2B5EF4-FFF2-40B4-BE49-F238E27FC236}">
                <a16:creationId xmlns:a16="http://schemas.microsoft.com/office/drawing/2014/main" id="{05DF0017-889E-6D6A-AB75-3AFD99E24A58}"/>
              </a:ext>
            </a:extLst>
          </p:cNvPr>
          <p:cNvSpPr/>
          <p:nvPr/>
        </p:nvSpPr>
        <p:spPr bwMode="ltGray">
          <a:xfrm>
            <a:off x="3376732" y="1609925"/>
            <a:ext cx="2694343" cy="527841"/>
          </a:xfrm>
          <a:prstGeom prst="rect">
            <a:avLst/>
          </a:prstGeom>
          <a:solidFill>
            <a:schemeClr val="bg1">
              <a:lumMod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7" name="TextBox 16">
            <a:extLst>
              <a:ext uri="{FF2B5EF4-FFF2-40B4-BE49-F238E27FC236}">
                <a16:creationId xmlns:a16="http://schemas.microsoft.com/office/drawing/2014/main" id="{AF468E81-3251-9B3D-B41C-B8B7C99ADBC2}"/>
              </a:ext>
            </a:extLst>
          </p:cNvPr>
          <p:cNvSpPr txBox="1"/>
          <p:nvPr/>
        </p:nvSpPr>
        <p:spPr>
          <a:xfrm>
            <a:off x="3488582" y="1685475"/>
            <a:ext cx="2473108" cy="223651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a:ea typeface="+mn-ea"/>
                <a:cs typeface="+mn-cs"/>
              </a:rPr>
              <a:t>    </a:t>
            </a:r>
            <a:r>
              <a:rPr kumimoji="0" lang="en-US" sz="2400" b="0" i="0" u="none" strike="noStrike" kern="1200" cap="none" spc="0" normalizeH="0" baseline="0" noProof="0">
                <a:ln>
                  <a:noFill/>
                </a:ln>
                <a:solidFill>
                  <a:srgbClr val="FFFFFF">
                    <a:lumMod val="75000"/>
                  </a:srgbClr>
                </a:solidFill>
                <a:effectLst/>
                <a:uLnTx/>
                <a:uFillTx/>
                <a:latin typeface="Georgia" panose="02040502050405020303" pitchFamily="18" charset="0"/>
                <a:ea typeface="+mn-ea"/>
                <a:cs typeface="+mn-cs"/>
              </a:rPr>
              <a:t>May 13</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1" i="0" u="none" strike="noStrike" kern="1200" cap="none" spc="0" normalizeH="0" baseline="0" noProof="0">
                <a:ln>
                  <a:noFill/>
                </a:ln>
                <a:solidFill>
                  <a:srgbClr val="FFFFFF">
                    <a:lumMod val="50000"/>
                  </a:srgbClr>
                </a:solidFill>
                <a:effectLst/>
                <a:uLnTx/>
                <a:uFillTx/>
                <a:latin typeface="Arial"/>
                <a:ea typeface="+mn-ea"/>
                <a:cs typeface="+mn-cs"/>
              </a:rPr>
              <a:t>Beyond DIOP: Positioning the Right Coverage for </a:t>
            </a:r>
            <a:br>
              <a:rPr kumimoji="0" lang="en-US" sz="1400" b="1" i="0" u="none" strike="noStrike" kern="1200" cap="none" spc="0" normalizeH="0" baseline="0" noProof="0">
                <a:ln>
                  <a:noFill/>
                </a:ln>
                <a:solidFill>
                  <a:srgbClr val="FFFFFF">
                    <a:lumMod val="50000"/>
                  </a:srgbClr>
                </a:solidFill>
                <a:effectLst/>
                <a:uLnTx/>
                <a:uFillTx/>
                <a:latin typeface="Arial"/>
                <a:ea typeface="+mn-ea"/>
                <a:cs typeface="+mn-cs"/>
              </a:rPr>
            </a:br>
            <a:r>
              <a:rPr kumimoji="0" lang="en-US" sz="1400" b="1" i="0" u="none" strike="noStrike" kern="1200" cap="none" spc="0" normalizeH="0" baseline="0" noProof="0">
                <a:ln>
                  <a:noFill/>
                </a:ln>
                <a:solidFill>
                  <a:srgbClr val="FFFFFF">
                    <a:lumMod val="50000"/>
                  </a:srgbClr>
                </a:solidFill>
                <a:effectLst/>
                <a:uLnTx/>
                <a:uFillTx/>
                <a:latin typeface="Arial"/>
                <a:ea typeface="+mn-ea"/>
                <a:cs typeface="+mn-cs"/>
              </a:rPr>
              <a:t>Your Clients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lumMod val="50000"/>
                  </a:srgbClr>
                </a:solidFill>
                <a:effectLst/>
                <a:uLnTx/>
                <a:uFillTx/>
                <a:latin typeface="Arial"/>
                <a:ea typeface="+mn-ea"/>
                <a:cs typeface="+mn-cs"/>
              </a:rPr>
              <a:t>Learn how to identify additional protection needs and guide clients toward more complete coverage solutions.</a:t>
            </a:r>
          </a:p>
        </p:txBody>
      </p:sp>
      <p:sp>
        <p:nvSpPr>
          <p:cNvPr id="29" name="Rectangle 28">
            <a:extLst>
              <a:ext uri="{FF2B5EF4-FFF2-40B4-BE49-F238E27FC236}">
                <a16:creationId xmlns:a16="http://schemas.microsoft.com/office/drawing/2014/main" id="{9C0EF825-3F52-B084-46BB-FAC721748CDB}"/>
              </a:ext>
            </a:extLst>
          </p:cNvPr>
          <p:cNvSpPr/>
          <p:nvPr/>
        </p:nvSpPr>
        <p:spPr bwMode="ltGray">
          <a:xfrm>
            <a:off x="6124060" y="1609925"/>
            <a:ext cx="2694343" cy="52784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8" name="TextBox 17">
            <a:extLst>
              <a:ext uri="{FF2B5EF4-FFF2-40B4-BE49-F238E27FC236}">
                <a16:creationId xmlns:a16="http://schemas.microsoft.com/office/drawing/2014/main" id="{3A419C5B-D2B8-C744-778F-6D2E4433A7D0}"/>
              </a:ext>
            </a:extLst>
          </p:cNvPr>
          <p:cNvSpPr txBox="1"/>
          <p:nvPr/>
        </p:nvSpPr>
        <p:spPr>
          <a:xfrm>
            <a:off x="6230028" y="1685475"/>
            <a:ext cx="2543685" cy="2236510"/>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a:ea typeface="+mn-ea"/>
                <a:cs typeface="+mn-cs"/>
              </a:rPr>
              <a:t>    </a:t>
            </a:r>
            <a:r>
              <a:rPr kumimoji="0" lang="en-US" sz="2400" b="0" i="0" u="none" strike="noStrike" kern="1200" cap="none" spc="0" normalizeH="0" baseline="0" noProof="0">
                <a:ln>
                  <a:noFill/>
                </a:ln>
                <a:solidFill>
                  <a:srgbClr val="FFFFFF"/>
                </a:solidFill>
                <a:effectLst/>
                <a:uLnTx/>
                <a:uFillTx/>
                <a:latin typeface="Georgia" panose="02040502050405020303" pitchFamily="18" charset="0"/>
                <a:ea typeface="+mn-ea"/>
                <a:cs typeface="+mn-cs"/>
              </a:rPr>
              <a:t>May 20</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1" i="0" u="none" strike="noStrike" kern="1200" cap="none" spc="0" normalizeH="0" baseline="0" noProof="0">
                <a:ln>
                  <a:noFill/>
                </a:ln>
                <a:solidFill>
                  <a:srgbClr val="000962"/>
                </a:solidFill>
                <a:effectLst/>
                <a:uLnTx/>
                <a:uFillTx/>
                <a:latin typeface="Arial"/>
                <a:ea typeface="+mn-ea"/>
                <a:cs typeface="+mn-cs"/>
              </a:rPr>
              <a:t>Closing Modified Offers: Turning UW Decisions into Placed Cases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962"/>
                </a:solidFill>
                <a:effectLst/>
                <a:uLnTx/>
                <a:uFillTx/>
                <a:latin typeface="Arial"/>
                <a:ea typeface="+mn-ea"/>
                <a:cs typeface="+mn-cs"/>
              </a:rPr>
              <a:t>Strengthen your ability to explain modified offers, overcome objections, and </a:t>
            </a:r>
            <a:br>
              <a:rPr kumimoji="0" lang="en-US" sz="1400" b="0" i="0" u="none" strike="noStrike" kern="1200" cap="none" spc="0" normalizeH="0" baseline="0" noProof="0">
                <a:ln>
                  <a:noFill/>
                </a:ln>
                <a:solidFill>
                  <a:srgbClr val="000962"/>
                </a:solidFill>
                <a:effectLst/>
                <a:uLnTx/>
                <a:uFillTx/>
                <a:latin typeface="Arial"/>
                <a:ea typeface="+mn-ea"/>
                <a:cs typeface="+mn-cs"/>
              </a:rPr>
            </a:br>
            <a:r>
              <a:rPr kumimoji="0" lang="en-US" sz="1400" b="0" i="0" u="none" strike="noStrike" kern="1200" cap="none" spc="0" normalizeH="0" baseline="0" noProof="0">
                <a:ln>
                  <a:noFill/>
                </a:ln>
                <a:solidFill>
                  <a:srgbClr val="000962"/>
                </a:solidFill>
                <a:effectLst/>
                <a:uLnTx/>
                <a:uFillTx/>
                <a:latin typeface="Arial"/>
                <a:ea typeface="+mn-ea"/>
                <a:cs typeface="+mn-cs"/>
              </a:rPr>
              <a:t>move more cases to placement.</a:t>
            </a:r>
          </a:p>
        </p:txBody>
      </p:sp>
      <p:sp>
        <p:nvSpPr>
          <p:cNvPr id="30" name="Rectangle 29">
            <a:extLst>
              <a:ext uri="{FF2B5EF4-FFF2-40B4-BE49-F238E27FC236}">
                <a16:creationId xmlns:a16="http://schemas.microsoft.com/office/drawing/2014/main" id="{3B6B89E9-63A7-046B-DBAF-FBE700F61D4C}"/>
              </a:ext>
            </a:extLst>
          </p:cNvPr>
          <p:cNvSpPr/>
          <p:nvPr/>
        </p:nvSpPr>
        <p:spPr bwMode="ltGray">
          <a:xfrm>
            <a:off x="8868250" y="1609925"/>
            <a:ext cx="2694343" cy="52784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9" name="TextBox 18">
            <a:extLst>
              <a:ext uri="{FF2B5EF4-FFF2-40B4-BE49-F238E27FC236}">
                <a16:creationId xmlns:a16="http://schemas.microsoft.com/office/drawing/2014/main" id="{E464614D-1B21-6593-C58F-CA4C3692182B}"/>
              </a:ext>
            </a:extLst>
          </p:cNvPr>
          <p:cNvSpPr txBox="1"/>
          <p:nvPr/>
        </p:nvSpPr>
        <p:spPr>
          <a:xfrm>
            <a:off x="8998086" y="1685475"/>
            <a:ext cx="2473107" cy="202106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4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a:ea typeface="+mn-ea"/>
                <a:cs typeface="+mn-cs"/>
              </a:rPr>
              <a:t>    </a:t>
            </a:r>
            <a:r>
              <a:rPr kumimoji="0" lang="en-US" sz="2400" b="0" i="0" u="none" strike="noStrike" kern="1200" cap="none" spc="0" normalizeH="0" baseline="0" noProof="0">
                <a:ln>
                  <a:noFill/>
                </a:ln>
                <a:solidFill>
                  <a:srgbClr val="FFFFFF"/>
                </a:solidFill>
                <a:effectLst/>
                <a:uLnTx/>
                <a:uFillTx/>
                <a:latin typeface="Georgia"/>
                <a:ea typeface="+mn-ea"/>
                <a:cs typeface="+mn-cs"/>
              </a:rPr>
              <a:t>May 27</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1" i="0" u="none" strike="noStrike" kern="1200" cap="none" spc="0" normalizeH="0" baseline="0" noProof="0">
                <a:ln>
                  <a:noFill/>
                </a:ln>
                <a:solidFill>
                  <a:srgbClr val="000962"/>
                </a:solidFill>
                <a:effectLst/>
                <a:uLnTx/>
                <a:uFillTx/>
                <a:latin typeface="Arial"/>
                <a:ea typeface="+mn-ea"/>
                <a:cs typeface="+mn-cs"/>
              </a:rPr>
              <a:t>Using Data &amp; Tools to Find Better DI Opportunities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000962"/>
                </a:solidFill>
                <a:effectLst/>
                <a:uLnTx/>
                <a:uFillTx/>
                <a:latin typeface="Arial"/>
                <a:ea typeface="+mn-ea"/>
                <a:cs typeface="+mn-cs"/>
              </a:rPr>
              <a:t>Use business-building tools and data insights to find qualified prospects and prioritize the right opportunities.</a:t>
            </a:r>
          </a:p>
        </p:txBody>
      </p:sp>
      <p:sp>
        <p:nvSpPr>
          <p:cNvPr id="32" name="TextBox 31">
            <a:extLst>
              <a:ext uri="{FF2B5EF4-FFF2-40B4-BE49-F238E27FC236}">
                <a16:creationId xmlns:a16="http://schemas.microsoft.com/office/drawing/2014/main" id="{B1BA6AA6-C591-2476-1517-7A641BF97746}"/>
              </a:ext>
            </a:extLst>
          </p:cNvPr>
          <p:cNvSpPr txBox="1"/>
          <p:nvPr/>
        </p:nvSpPr>
        <p:spPr>
          <a:xfrm>
            <a:off x="1805489" y="4624302"/>
            <a:ext cx="4231449" cy="707886"/>
          </a:xfrm>
          <a:prstGeom prst="rect">
            <a:avLst/>
          </a:prstGeom>
          <a:noFill/>
        </p:spPr>
        <p:txBody>
          <a:bodyPr wrap="square" lIns="91440" tIns="45720" rIns="91440" bIns="4572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a:ea typeface="+mn-ea"/>
                <a:cs typeface="+mn-cs"/>
              </a:rPr>
              <a:t>Live webinar series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a:ea typeface="+mn-ea"/>
                <a:cs typeface="+mn-cs"/>
              </a:rPr>
              <a:t>Wednesdays  in May | </a:t>
            </a:r>
            <a:r>
              <a:rPr lang="en-US" sz="2000">
                <a:solidFill>
                  <a:srgbClr val="FFFFFF"/>
                </a:solidFill>
                <a:latin typeface="Arial"/>
              </a:rPr>
              <a:t>4</a:t>
            </a:r>
            <a:r>
              <a:rPr kumimoji="0" lang="en-US" sz="2000" b="0" i="0" u="none" strike="noStrike" kern="1200" cap="none" spc="0" normalizeH="0" baseline="0" noProof="0">
                <a:ln>
                  <a:noFill/>
                </a:ln>
                <a:solidFill>
                  <a:srgbClr val="FFFFFF"/>
                </a:solidFill>
                <a:effectLst/>
                <a:uLnTx/>
                <a:uFillTx/>
                <a:latin typeface="Arial"/>
                <a:ea typeface="+mn-ea"/>
                <a:cs typeface="+mn-cs"/>
              </a:rPr>
              <a:t> </a:t>
            </a:r>
            <a:r>
              <a:rPr lang="en-US" sz="2000">
                <a:solidFill>
                  <a:srgbClr val="FFFFFF"/>
                </a:solidFill>
                <a:latin typeface="Arial"/>
              </a:rPr>
              <a:t>pm</a:t>
            </a:r>
            <a:r>
              <a:rPr kumimoji="0" lang="en-US" sz="2000" b="0" i="0" u="none" strike="noStrike" kern="1200" cap="none" spc="0" normalizeH="0" baseline="0" noProof="0">
                <a:ln>
                  <a:noFill/>
                </a:ln>
                <a:solidFill>
                  <a:srgbClr val="FFFFFF"/>
                </a:solidFill>
                <a:effectLst/>
                <a:uLnTx/>
                <a:uFillTx/>
                <a:latin typeface="Arial"/>
                <a:ea typeface="+mn-ea"/>
                <a:cs typeface="+mn-cs"/>
              </a:rPr>
              <a:t> ET</a:t>
            </a:r>
            <a:r>
              <a:rPr kumimoji="0" lang="en-US" sz="2000" b="0" i="0" u="none" strike="noStrike" kern="1200" cap="none" spc="0" normalizeH="0" baseline="30000" noProof="0">
                <a:ln>
                  <a:noFill/>
                </a:ln>
                <a:solidFill>
                  <a:srgbClr val="FFFFFF"/>
                </a:solidFill>
                <a:effectLst/>
                <a:uLnTx/>
                <a:uFillTx/>
                <a:latin typeface="Arial"/>
                <a:ea typeface="+mn-ea"/>
                <a:cs typeface="+mn-cs"/>
              </a:rPr>
              <a:t>*</a:t>
            </a:r>
            <a:endParaRPr lang="en-US" sz="2000" b="0" i="0" u="none" strike="noStrike" kern="1200" cap="none" spc="0" normalizeH="0" baseline="30000" noProof="0">
              <a:ln>
                <a:noFill/>
              </a:ln>
              <a:solidFill>
                <a:srgbClr val="FFFFFF"/>
              </a:solidFill>
              <a:effectLst/>
              <a:uLnTx/>
              <a:uFillTx/>
              <a:latin typeface="Arial"/>
              <a:cs typeface="Arial"/>
            </a:endParaRPr>
          </a:p>
        </p:txBody>
      </p:sp>
      <p:pic>
        <p:nvPicPr>
          <p:cNvPr id="35" name="Picture 34">
            <a:extLst>
              <a:ext uri="{FF2B5EF4-FFF2-40B4-BE49-F238E27FC236}">
                <a16:creationId xmlns:a16="http://schemas.microsoft.com/office/drawing/2014/main" id="{E4ADEF54-F511-6200-FC58-2500925DB0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1197" y="4542933"/>
            <a:ext cx="832181" cy="824904"/>
          </a:xfrm>
          <a:prstGeom prst="rect">
            <a:avLst/>
          </a:prstGeom>
        </p:spPr>
      </p:pic>
      <p:sp>
        <p:nvSpPr>
          <p:cNvPr id="37" name="TextBox 36">
            <a:extLst>
              <a:ext uri="{FF2B5EF4-FFF2-40B4-BE49-F238E27FC236}">
                <a16:creationId xmlns:a16="http://schemas.microsoft.com/office/drawing/2014/main" id="{2086E93E-9D25-3568-6AFF-C9B6D2F0FBC1}"/>
              </a:ext>
            </a:extLst>
          </p:cNvPr>
          <p:cNvSpPr txBox="1"/>
          <p:nvPr/>
        </p:nvSpPr>
        <p:spPr>
          <a:xfrm>
            <a:off x="626267" y="5659027"/>
            <a:ext cx="10936325" cy="169277"/>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Arial"/>
                <a:ea typeface="+mn-ea"/>
                <a:cs typeface="+mn-cs"/>
              </a:rPr>
              <a:t>*4:00 PM </a:t>
            </a:r>
            <a:r>
              <a:rPr lang="en-US" sz="1100">
                <a:solidFill>
                  <a:srgbClr val="000A62"/>
                </a:solidFill>
                <a:latin typeface="Arial"/>
              </a:rPr>
              <a:t>ET</a:t>
            </a:r>
            <a:r>
              <a:rPr kumimoji="0" lang="en-US" sz="1100" b="0" i="0" u="none" strike="noStrike" kern="1200" cap="none" spc="0" normalizeH="0" baseline="0" noProof="0">
                <a:ln>
                  <a:noFill/>
                </a:ln>
                <a:solidFill>
                  <a:srgbClr val="000A62"/>
                </a:solidFill>
                <a:effectLst/>
                <a:uLnTx/>
                <a:uFillTx/>
                <a:latin typeface="Arial"/>
                <a:ea typeface="+mn-ea"/>
                <a:cs typeface="+mn-cs"/>
              </a:rPr>
              <a:t>  |  3:00 PM </a:t>
            </a:r>
            <a:r>
              <a:rPr lang="en-US" sz="1100">
                <a:solidFill>
                  <a:srgbClr val="000A62"/>
                </a:solidFill>
                <a:latin typeface="Arial"/>
              </a:rPr>
              <a:t>CT</a:t>
            </a:r>
            <a:r>
              <a:rPr kumimoji="0" lang="en-US" sz="1100" b="0" i="0" u="none" strike="noStrike" kern="1200" cap="none" spc="0" normalizeH="0" baseline="0" noProof="0">
                <a:ln>
                  <a:noFill/>
                </a:ln>
                <a:solidFill>
                  <a:srgbClr val="000A62"/>
                </a:solidFill>
                <a:effectLst/>
                <a:uLnTx/>
                <a:uFillTx/>
                <a:latin typeface="Arial"/>
                <a:ea typeface="+mn-ea"/>
                <a:cs typeface="+mn-cs"/>
              </a:rPr>
              <a:t>  |  2:00 PM </a:t>
            </a:r>
            <a:r>
              <a:rPr lang="en-US" sz="1100">
                <a:solidFill>
                  <a:srgbClr val="000A62"/>
                </a:solidFill>
                <a:latin typeface="Arial"/>
              </a:rPr>
              <a:t>MT</a:t>
            </a:r>
            <a:r>
              <a:rPr kumimoji="0" lang="en-US" sz="1100" b="0" i="0" u="none" strike="noStrike" kern="1200" cap="none" spc="0" normalizeH="0" baseline="0" noProof="0">
                <a:ln>
                  <a:noFill/>
                </a:ln>
                <a:solidFill>
                  <a:srgbClr val="000A62"/>
                </a:solidFill>
                <a:effectLst/>
                <a:uLnTx/>
                <a:uFillTx/>
                <a:latin typeface="Arial"/>
                <a:ea typeface="+mn-ea"/>
                <a:cs typeface="+mn-cs"/>
              </a:rPr>
              <a:t>  |  1:00 PM </a:t>
            </a:r>
            <a:r>
              <a:rPr lang="en-US" sz="1100">
                <a:solidFill>
                  <a:srgbClr val="000A62"/>
                </a:solidFill>
                <a:latin typeface="Arial"/>
              </a:rPr>
              <a:t>PT</a:t>
            </a:r>
            <a:r>
              <a:rPr kumimoji="0" lang="en-US" sz="1100" b="0" i="0" u="none" strike="noStrike" kern="1200" cap="none" spc="0" normalizeH="0" baseline="0" noProof="0">
                <a:ln>
                  <a:noFill/>
                </a:ln>
                <a:solidFill>
                  <a:srgbClr val="000A62"/>
                </a:solidFill>
                <a:effectLst/>
                <a:uLnTx/>
                <a:uFillTx/>
                <a:latin typeface="Arial"/>
                <a:ea typeface="+mn-ea"/>
                <a:cs typeface="+mn-cs"/>
              </a:rPr>
              <a:t>  |  12:00 PM Alaska  |  10:00 AM Hawaii</a:t>
            </a:r>
          </a:p>
        </p:txBody>
      </p:sp>
      <p:sp>
        <p:nvSpPr>
          <p:cNvPr id="38" name="Isosceles Triangle 37">
            <a:extLst>
              <a:ext uri="{FF2B5EF4-FFF2-40B4-BE49-F238E27FC236}">
                <a16:creationId xmlns:a16="http://schemas.microsoft.com/office/drawing/2014/main" id="{18D0120D-2464-9D83-8EE8-51230A5D9DA6}"/>
              </a:ext>
            </a:extLst>
          </p:cNvPr>
          <p:cNvSpPr/>
          <p:nvPr/>
        </p:nvSpPr>
        <p:spPr>
          <a:xfrm rot="5400000">
            <a:off x="742384" y="1755902"/>
            <a:ext cx="297625" cy="256573"/>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9" name="Isosceles Triangle 38">
            <a:extLst>
              <a:ext uri="{FF2B5EF4-FFF2-40B4-BE49-F238E27FC236}">
                <a16:creationId xmlns:a16="http://schemas.microsoft.com/office/drawing/2014/main" id="{29001B78-A540-B8BF-5156-B534B1B9651E}"/>
              </a:ext>
            </a:extLst>
          </p:cNvPr>
          <p:cNvSpPr/>
          <p:nvPr/>
        </p:nvSpPr>
        <p:spPr>
          <a:xfrm rot="5400000">
            <a:off x="3464918" y="1755902"/>
            <a:ext cx="297625" cy="256573"/>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0" name="Isosceles Triangle 39">
            <a:extLst>
              <a:ext uri="{FF2B5EF4-FFF2-40B4-BE49-F238E27FC236}">
                <a16:creationId xmlns:a16="http://schemas.microsoft.com/office/drawing/2014/main" id="{A8F34C50-AAF4-5570-A8E0-AE807CEB675B}"/>
              </a:ext>
            </a:extLst>
          </p:cNvPr>
          <p:cNvSpPr/>
          <p:nvPr/>
        </p:nvSpPr>
        <p:spPr>
          <a:xfrm rot="5400000">
            <a:off x="6219644" y="1755902"/>
            <a:ext cx="297625" cy="256573"/>
          </a:xfrm>
          <a:prstGeom prst="triangle">
            <a:avLst/>
          </a:prstGeom>
          <a:solidFill>
            <a:srgbClr val="80B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1" name="Isosceles Triangle 40">
            <a:extLst>
              <a:ext uri="{FF2B5EF4-FFF2-40B4-BE49-F238E27FC236}">
                <a16:creationId xmlns:a16="http://schemas.microsoft.com/office/drawing/2014/main" id="{AD8D3931-F6CD-5B96-0D05-3129DF3723C6}"/>
              </a:ext>
            </a:extLst>
          </p:cNvPr>
          <p:cNvSpPr/>
          <p:nvPr/>
        </p:nvSpPr>
        <p:spPr>
          <a:xfrm rot="5400000">
            <a:off x="8982724" y="1755902"/>
            <a:ext cx="297625" cy="256573"/>
          </a:xfrm>
          <a:prstGeom prst="triangle">
            <a:avLst/>
          </a:prstGeom>
          <a:solidFill>
            <a:srgbClr val="80B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889445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5D1A8865-2C7E-C091-B04F-C20CE8177368}"/>
              </a:ext>
            </a:extLst>
          </p:cNvPr>
          <p:cNvSpPr/>
          <p:nvPr/>
        </p:nvSpPr>
        <p:spPr bwMode="ltGray">
          <a:xfrm>
            <a:off x="649224" y="1258625"/>
            <a:ext cx="7043813" cy="4586589"/>
          </a:xfrm>
          <a:prstGeom prst="roundRect">
            <a:avLst>
              <a:gd name="adj" fmla="val 0"/>
            </a:avLst>
          </a:prstGeom>
          <a:solidFill>
            <a:srgbClr val="FFFFFF">
              <a:alpha val="70000"/>
            </a:srgbClr>
          </a:solidFill>
          <a:ln w="12700" cap="flat" cmpd="sng" algn="ctr">
            <a:solidFill>
              <a:schemeClr val="bg1"/>
            </a:solid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9" name="Rectangle: Rounded Corners 8">
            <a:extLst>
              <a:ext uri="{FF2B5EF4-FFF2-40B4-BE49-F238E27FC236}">
                <a16:creationId xmlns:a16="http://schemas.microsoft.com/office/drawing/2014/main" id="{71C67556-C1ED-7EEC-1C3E-B40E53FD0109}"/>
              </a:ext>
            </a:extLst>
          </p:cNvPr>
          <p:cNvSpPr>
            <a:spLocks/>
          </p:cNvSpPr>
          <p:nvPr/>
        </p:nvSpPr>
        <p:spPr bwMode="ltGray">
          <a:xfrm>
            <a:off x="7778187" y="1258625"/>
            <a:ext cx="4230999" cy="4586590"/>
          </a:xfrm>
          <a:prstGeom prst="roundRect">
            <a:avLst>
              <a:gd name="adj" fmla="val 4888"/>
            </a:avLst>
          </a:prstGeom>
          <a:solidFill>
            <a:srgbClr val="A5EFBF"/>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50D03690-946F-8AEF-E947-86CE8DF6696C}"/>
              </a:ext>
            </a:extLst>
          </p:cNvPr>
          <p:cNvSpPr>
            <a:spLocks noGrp="1"/>
          </p:cNvSpPr>
          <p:nvPr>
            <p:ph type="title"/>
          </p:nvPr>
        </p:nvSpPr>
        <p:spPr/>
        <p:txBody>
          <a:bodyPr/>
          <a:lstStyle/>
          <a:p>
            <a:r>
              <a:rPr lang="en-US" dirty="0"/>
              <a:t>2Q 2026 Registered Rep </a:t>
            </a:r>
            <a:r>
              <a:rPr lang="en-US" dirty="0" err="1"/>
              <a:t>MasterClass</a:t>
            </a:r>
            <a:r>
              <a:rPr lang="en-US" dirty="0"/>
              <a:t> </a:t>
            </a:r>
          </a:p>
        </p:txBody>
      </p:sp>
      <p:sp>
        <p:nvSpPr>
          <p:cNvPr id="6" name="Slide Number Placeholder 2">
            <a:extLst>
              <a:ext uri="{FF2B5EF4-FFF2-40B4-BE49-F238E27FC236}">
                <a16:creationId xmlns:a16="http://schemas.microsoft.com/office/drawing/2014/main" id="{EFD2ECEF-51D3-E048-E13F-9DD15184A095}"/>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4" name="Content Placeholder 3">
            <a:extLst>
              <a:ext uri="{FF2B5EF4-FFF2-40B4-BE49-F238E27FC236}">
                <a16:creationId xmlns:a16="http://schemas.microsoft.com/office/drawing/2014/main" id="{B4432B76-B29C-71DD-8610-8768237760D2}"/>
              </a:ext>
            </a:extLst>
          </p:cNvPr>
          <p:cNvSpPr>
            <a:spLocks noGrp="1"/>
          </p:cNvSpPr>
          <p:nvPr>
            <p:ph idx="1"/>
          </p:nvPr>
        </p:nvSpPr>
        <p:spPr>
          <a:xfrm>
            <a:off x="829021" y="1407481"/>
            <a:ext cx="6844932" cy="4486944"/>
          </a:xfrm>
        </p:spPr>
        <p:txBody>
          <a:bodyPr/>
          <a:lstStyle/>
          <a:p>
            <a:pPr marL="0" indent="0">
              <a:spcBef>
                <a:spcPts val="0"/>
              </a:spcBef>
              <a:spcAft>
                <a:spcPts val="1300"/>
              </a:spcAft>
              <a:buNone/>
              <a:tabLst>
                <a:tab pos="1090613" algn="l"/>
                <a:tab pos="4397375" algn="l"/>
              </a:tabLst>
            </a:pPr>
            <a:r>
              <a:rPr lang="en-US" sz="1600" b="1">
                <a:solidFill>
                  <a:schemeClr val="bg1">
                    <a:lumMod val="65000"/>
                  </a:schemeClr>
                </a:solidFill>
                <a:latin typeface="Arial Narrow" panose="020B0606020202030204" pitchFamily="34" charset="0"/>
              </a:rPr>
              <a:t>Session 1	</a:t>
            </a:r>
            <a:r>
              <a:rPr lang="en-US" sz="1600">
                <a:solidFill>
                  <a:schemeClr val="bg1">
                    <a:lumMod val="65000"/>
                  </a:schemeClr>
                </a:solidFill>
                <a:latin typeface="Arial Narrow" panose="020B0606020202030204" pitchFamily="34" charset="0"/>
              </a:rPr>
              <a:t>NYLIFE Securities and Mutual Funds: 	</a:t>
            </a:r>
            <a:r>
              <a:rPr lang="en-US" sz="1600" b="1">
                <a:solidFill>
                  <a:schemeClr val="bg1">
                    <a:lumMod val="65000"/>
                  </a:schemeClr>
                </a:solidFill>
                <a:latin typeface="Arial Narrow" panose="020B0606020202030204" pitchFamily="34" charset="0"/>
              </a:rPr>
              <a:t>April 21, 2026, </a:t>
            </a:r>
            <a:r>
              <a:rPr lang="en-US" sz="1600">
                <a:solidFill>
                  <a:schemeClr val="bg1">
                    <a:lumMod val="65000"/>
                  </a:schemeClr>
                </a:solidFill>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solidFill>
                  <a:schemeClr val="bg1">
                    <a:lumMod val="65000"/>
                  </a:schemeClr>
                </a:solidFill>
                <a:latin typeface="Arial Narrow" panose="020B0606020202030204" pitchFamily="34" charset="0"/>
              </a:rPr>
              <a:t>Session 2 	</a:t>
            </a:r>
            <a:r>
              <a:rPr lang="en-US" sz="1600">
                <a:solidFill>
                  <a:schemeClr val="bg1">
                    <a:lumMod val="65000"/>
                  </a:schemeClr>
                </a:solidFill>
                <a:latin typeface="Arial Narrow" panose="020B0606020202030204" pitchFamily="34" charset="0"/>
              </a:rPr>
              <a:t>Variable Annuities, What You Need to Know	</a:t>
            </a:r>
            <a:r>
              <a:rPr lang="en-US" sz="1600" b="1">
                <a:solidFill>
                  <a:schemeClr val="bg1">
                    <a:lumMod val="65000"/>
                  </a:schemeClr>
                </a:solidFill>
                <a:latin typeface="Arial Narrow" panose="020B0606020202030204" pitchFamily="34" charset="0"/>
              </a:rPr>
              <a:t>April 28, 2026, </a:t>
            </a:r>
            <a:r>
              <a:rPr lang="en-US" sz="1600">
                <a:solidFill>
                  <a:schemeClr val="bg1">
                    <a:lumMod val="65000"/>
                  </a:schemeClr>
                </a:solidFill>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solidFill>
                  <a:schemeClr val="bg1">
                    <a:lumMod val="65000"/>
                  </a:schemeClr>
                </a:solidFill>
                <a:latin typeface="Arial Narrow" panose="020B0606020202030204" pitchFamily="34" charset="0"/>
              </a:rPr>
              <a:t>Session 3 	</a:t>
            </a:r>
            <a:r>
              <a:rPr lang="en-US" sz="1600">
                <a:solidFill>
                  <a:schemeClr val="bg1">
                    <a:lumMod val="65000"/>
                  </a:schemeClr>
                </a:solidFill>
                <a:latin typeface="Arial Narrow" panose="020B0606020202030204" pitchFamily="34" charset="0"/>
              </a:rPr>
              <a:t>Variable Annuity Riders IPR 5.0 and ADBR	</a:t>
            </a:r>
            <a:r>
              <a:rPr lang="en-US" sz="1600" b="1">
                <a:solidFill>
                  <a:schemeClr val="bg1">
                    <a:lumMod val="65000"/>
                  </a:schemeClr>
                </a:solidFill>
                <a:latin typeface="Arial Narrow" panose="020B0606020202030204" pitchFamily="34" charset="0"/>
              </a:rPr>
              <a:t>May 5, 2026, </a:t>
            </a:r>
            <a:r>
              <a:rPr lang="en-US" sz="1600">
                <a:solidFill>
                  <a:schemeClr val="bg1">
                    <a:lumMod val="65000"/>
                  </a:schemeClr>
                </a:solidFill>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solidFill>
                  <a:schemeClr val="bg1">
                    <a:lumMod val="65000"/>
                  </a:schemeClr>
                </a:solidFill>
                <a:latin typeface="Arial Narrow" panose="020B0606020202030204" pitchFamily="34" charset="0"/>
              </a:rPr>
              <a:t>Session 4 	</a:t>
            </a:r>
            <a:r>
              <a:rPr lang="en-US" sz="1600">
                <a:solidFill>
                  <a:schemeClr val="bg1">
                    <a:lumMod val="65000"/>
                  </a:schemeClr>
                </a:solidFill>
                <a:latin typeface="Arial Narrow" panose="020B0606020202030204" pitchFamily="34" charset="0"/>
              </a:rPr>
              <a:t>Positioning VUL and Market Wealth Plus 	</a:t>
            </a:r>
            <a:r>
              <a:rPr lang="en-US" sz="1600" b="1">
                <a:solidFill>
                  <a:schemeClr val="bg1">
                    <a:lumMod val="65000"/>
                  </a:schemeClr>
                </a:solidFill>
                <a:latin typeface="Arial Narrow" panose="020B0606020202030204" pitchFamily="34" charset="0"/>
              </a:rPr>
              <a:t>May 12, 2026, </a:t>
            </a:r>
            <a:r>
              <a:rPr lang="en-US" sz="1600">
                <a:solidFill>
                  <a:schemeClr val="bg1">
                    <a:lumMod val="65000"/>
                  </a:schemeClr>
                </a:solidFill>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5 	</a:t>
            </a:r>
            <a:r>
              <a:rPr lang="en-US" sz="1600">
                <a:latin typeface="Arial Narrow" panose="020B0606020202030204" pitchFamily="34" charset="0"/>
              </a:rPr>
              <a:t>Positioning </a:t>
            </a:r>
            <a:r>
              <a:rPr lang="en-US" sz="1600" err="1">
                <a:latin typeface="Arial Narrow" panose="020B0606020202030204" pitchFamily="34" charset="0"/>
              </a:rPr>
              <a:t>IndexFlex</a:t>
            </a:r>
            <a:r>
              <a:rPr lang="en-US" sz="1600">
                <a:latin typeface="Arial Narrow" panose="020B0606020202030204" pitchFamily="34" charset="0"/>
              </a:rPr>
              <a:t> 	</a:t>
            </a:r>
            <a:r>
              <a:rPr lang="en-US" sz="1600" b="1">
                <a:latin typeface="Arial Narrow" panose="020B0606020202030204" pitchFamily="34" charset="0"/>
              </a:rPr>
              <a:t>May 19, 2026, </a:t>
            </a:r>
            <a:r>
              <a:rPr lang="en-US" sz="1600">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6 	</a:t>
            </a:r>
            <a:r>
              <a:rPr lang="en-US" sz="1600">
                <a:latin typeface="Arial Narrow" panose="020B0606020202030204" pitchFamily="34" charset="0"/>
              </a:rPr>
              <a:t>Working in the Rollover Market 	</a:t>
            </a:r>
            <a:r>
              <a:rPr lang="en-US" sz="1600" b="1">
                <a:latin typeface="Arial Narrow" panose="020B0606020202030204" pitchFamily="34" charset="0"/>
              </a:rPr>
              <a:t>May 26, 2026, </a:t>
            </a:r>
            <a:r>
              <a:rPr lang="en-US" sz="1600">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7 	</a:t>
            </a:r>
            <a:r>
              <a:rPr lang="en-US" sz="1600">
                <a:latin typeface="Arial Narrow" panose="020B0606020202030204" pitchFamily="34" charset="0"/>
              </a:rPr>
              <a:t>Understanding IRA Opportunities 	</a:t>
            </a:r>
            <a:r>
              <a:rPr lang="en-US" sz="1600" b="1">
                <a:latin typeface="Arial Narrow" panose="020B0606020202030204" pitchFamily="34" charset="0"/>
              </a:rPr>
              <a:t>June 2, 2026, </a:t>
            </a:r>
            <a:r>
              <a:rPr lang="en-US" sz="1600">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8 	</a:t>
            </a:r>
            <a:r>
              <a:rPr lang="en-US" sz="1600">
                <a:latin typeface="Arial Narrow" panose="020B0606020202030204" pitchFamily="34" charset="0"/>
              </a:rPr>
              <a:t>Annuity New Business and Suitability 	</a:t>
            </a:r>
            <a:r>
              <a:rPr lang="en-US" sz="1600" b="1">
                <a:latin typeface="Arial Narrow" panose="020B0606020202030204" pitchFamily="34" charset="0"/>
              </a:rPr>
              <a:t>June 9, 2026, </a:t>
            </a:r>
            <a:r>
              <a:rPr lang="en-US" sz="1600">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9 	</a:t>
            </a:r>
            <a:r>
              <a:rPr lang="en-US" sz="1600">
                <a:latin typeface="Arial Narrow" panose="020B0606020202030204" pitchFamily="34" charset="0"/>
              </a:rPr>
              <a:t>Small Business Solutions 	</a:t>
            </a:r>
            <a:r>
              <a:rPr lang="en-US" sz="1600" b="1">
                <a:latin typeface="Arial Narrow" panose="020B0606020202030204" pitchFamily="34" charset="0"/>
              </a:rPr>
              <a:t>June 16, 2026, </a:t>
            </a:r>
            <a:r>
              <a:rPr lang="en-US" sz="1600">
                <a:latin typeface="Arial Narrow" panose="020B0606020202030204" pitchFamily="34" charset="0"/>
              </a:rPr>
              <a:t>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10 	</a:t>
            </a:r>
            <a:r>
              <a:rPr lang="en-US" sz="1600">
                <a:latin typeface="Arial Narrow" panose="020B0606020202030204" pitchFamily="34" charset="0"/>
              </a:rPr>
              <a:t>Benefits of College 529’s	</a:t>
            </a:r>
            <a:r>
              <a:rPr lang="en-US" sz="1600" b="1">
                <a:latin typeface="Arial Narrow" panose="020B0606020202030204" pitchFamily="34" charset="0"/>
              </a:rPr>
              <a:t>June 23, 2026,</a:t>
            </a:r>
            <a:r>
              <a:rPr lang="en-US" sz="1600">
                <a:latin typeface="Arial Narrow" panose="020B0606020202030204" pitchFamily="34" charset="0"/>
              </a:rPr>
              <a:t> at 3:00 PM ET </a:t>
            </a:r>
          </a:p>
          <a:p>
            <a:pPr marL="0" indent="0">
              <a:spcBef>
                <a:spcPts val="0"/>
              </a:spcBef>
              <a:spcAft>
                <a:spcPts val="1300"/>
              </a:spcAft>
              <a:buNone/>
              <a:tabLst>
                <a:tab pos="1090613" algn="l"/>
                <a:tab pos="4397375" algn="l"/>
              </a:tabLst>
            </a:pPr>
            <a:r>
              <a:rPr lang="en-US" sz="1600" b="1">
                <a:latin typeface="Arial Narrow" panose="020B0606020202030204" pitchFamily="34" charset="0"/>
              </a:rPr>
              <a:t>Session 11 	</a:t>
            </a:r>
            <a:r>
              <a:rPr lang="en-US" sz="1600">
                <a:latin typeface="Arial Narrow" panose="020B0606020202030204" pitchFamily="34" charset="0"/>
              </a:rPr>
              <a:t>Morningstar: Researching Funds	</a:t>
            </a:r>
            <a:r>
              <a:rPr lang="en-US" sz="1600" b="1">
                <a:latin typeface="Arial Narrow" panose="020B0606020202030204" pitchFamily="34" charset="0"/>
              </a:rPr>
              <a:t>June 30, 2026, </a:t>
            </a:r>
            <a:r>
              <a:rPr lang="en-US" sz="1600">
                <a:latin typeface="Arial Narrow" panose="020B0606020202030204" pitchFamily="34" charset="0"/>
              </a:rPr>
              <a:t>at 3:00 PM ET</a:t>
            </a:r>
          </a:p>
        </p:txBody>
      </p:sp>
      <p:sp>
        <p:nvSpPr>
          <p:cNvPr id="10" name="TextBox 9">
            <a:extLst>
              <a:ext uri="{FF2B5EF4-FFF2-40B4-BE49-F238E27FC236}">
                <a16:creationId xmlns:a16="http://schemas.microsoft.com/office/drawing/2014/main" id="{07D0EA06-45BF-8664-6D85-2DC604E09A67}"/>
              </a:ext>
            </a:extLst>
          </p:cNvPr>
          <p:cNvSpPr txBox="1"/>
          <p:nvPr/>
        </p:nvSpPr>
        <p:spPr>
          <a:xfrm>
            <a:off x="7916262" y="3704935"/>
            <a:ext cx="2031238" cy="1826141"/>
          </a:xfrm>
          <a:prstGeom prst="rect">
            <a:avLst/>
          </a:prstGeom>
          <a:noFill/>
        </p:spPr>
        <p:txBody>
          <a:bodyPr wrap="square" lIns="0" tIns="0" rIns="0" bIns="0" rtlCol="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8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a:ea typeface="Geneva"/>
                <a:cs typeface="Arial"/>
              </a:rPr>
              <a:t>Register today to ensure prompt </a:t>
            </a:r>
            <a:br>
              <a:rPr lang="en-US" sz="1600" b="0"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0" i="0" u="none" strike="noStrike" kern="1200" cap="none" spc="0" normalizeH="0" baseline="0" noProof="0">
                <a:ln>
                  <a:noFill/>
                </a:ln>
                <a:solidFill>
                  <a:srgbClr val="000962"/>
                </a:solidFill>
                <a:effectLst/>
                <a:uLnTx/>
                <a:uFillTx/>
                <a:latin typeface="Arial"/>
                <a:ea typeface="Geneva"/>
                <a:cs typeface="Arial"/>
              </a:rPr>
              <a:t>access to these highly anticipated events.</a:t>
            </a:r>
          </a:p>
          <a:p>
            <a:pPr marL="0" lvl="1" defTabSz="1219080">
              <a:spcAft>
                <a:spcPts val="800"/>
              </a:spcAft>
              <a:defRPr/>
            </a:pPr>
            <a:r>
              <a:rPr kumimoji="0" lang="en-US" sz="1600" b="1" i="0" u="none" strike="noStrike" kern="1200" cap="none" spc="0" normalizeH="0" baseline="0" noProof="0">
                <a:ln>
                  <a:noFill/>
                </a:ln>
                <a:solidFill>
                  <a:srgbClr val="000962"/>
                </a:solidFill>
                <a:effectLst/>
                <a:uLnTx/>
                <a:uFillTx/>
                <a:latin typeface="Arial"/>
                <a:ea typeface="Geneva"/>
                <a:cs typeface="Arial"/>
              </a:rPr>
              <a:t>Events start at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lang="en-US" sz="1600" b="1">
                <a:solidFill>
                  <a:srgbClr val="000962"/>
                </a:solidFill>
                <a:latin typeface="Arial"/>
                <a:ea typeface="Geneva"/>
                <a:cs typeface="Arial"/>
              </a:rPr>
              <a:t>3 pm</a:t>
            </a:r>
            <a:r>
              <a:rPr kumimoji="0" lang="en-US" sz="1600" b="1" i="0" u="none" strike="noStrike" kern="1200" cap="none" spc="0" normalizeH="0" baseline="0" noProof="0">
                <a:ln>
                  <a:noFill/>
                </a:ln>
                <a:solidFill>
                  <a:srgbClr val="000962"/>
                </a:solidFill>
                <a:effectLst/>
                <a:uLnTx/>
                <a:uFillTx/>
                <a:latin typeface="Arial"/>
                <a:ea typeface="Geneva"/>
                <a:cs typeface="Arial"/>
              </a:rPr>
              <a:t> </a:t>
            </a:r>
            <a:r>
              <a:rPr lang="en-US" sz="1600" b="1">
                <a:solidFill>
                  <a:srgbClr val="000962"/>
                </a:solidFill>
                <a:latin typeface="Arial"/>
                <a:ea typeface="Geneva"/>
                <a:cs typeface="Arial"/>
              </a:rPr>
              <a:t>ET</a:t>
            </a:r>
            <a:r>
              <a:rPr kumimoji="0" lang="en-US" sz="1600" b="1" i="0" u="none" strike="noStrike" kern="1200" cap="none" spc="0" normalizeH="0" baseline="0" noProof="0">
                <a:ln>
                  <a:noFill/>
                </a:ln>
                <a:solidFill>
                  <a:srgbClr val="000962"/>
                </a:solidFill>
                <a:effectLst/>
                <a:uLnTx/>
                <a:uFillTx/>
                <a:latin typeface="Arial"/>
                <a:ea typeface="Geneva"/>
                <a:cs typeface="Arial"/>
              </a:rPr>
              <a:t>* and run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60 minutes.</a:t>
            </a:r>
            <a:endParaRPr lang="en-US" sz="1600" b="1" i="0" u="none" strike="noStrike" kern="1200" cap="none" spc="0" normalizeH="0" baseline="0" noProof="0">
              <a:ln>
                <a:noFill/>
              </a:ln>
              <a:solidFill>
                <a:srgbClr val="000962"/>
              </a:solidFill>
              <a:effectLst/>
              <a:uLnTx/>
              <a:uFillTx/>
              <a:latin typeface="Arial"/>
              <a:ea typeface="Geneva"/>
              <a:cs typeface="Arial"/>
            </a:endParaRPr>
          </a:p>
        </p:txBody>
      </p:sp>
      <p:sp>
        <p:nvSpPr>
          <p:cNvPr id="11" name="TextBox 10">
            <a:extLst>
              <a:ext uri="{FF2B5EF4-FFF2-40B4-BE49-F238E27FC236}">
                <a16:creationId xmlns:a16="http://schemas.microsoft.com/office/drawing/2014/main" id="{6B18121B-374A-2A53-8491-5A93B12181B7}"/>
              </a:ext>
            </a:extLst>
          </p:cNvPr>
          <p:cNvSpPr txBox="1"/>
          <p:nvPr/>
        </p:nvSpPr>
        <p:spPr>
          <a:xfrm>
            <a:off x="7916261" y="2291420"/>
            <a:ext cx="4025191" cy="1292662"/>
          </a:xfrm>
          <a:prstGeom prst="rect">
            <a:avLst/>
          </a:prstGeom>
          <a:noFill/>
        </p:spPr>
        <p:txBody>
          <a:bodyPr wrap="square" lIns="0" tIns="0" rIns="0" bIns="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a:ea typeface="Geneva"/>
                <a:cs typeface="Arial"/>
              </a:rPr>
              <a:t>11-part quarterly series - Tuesdays at 3pm </a:t>
            </a:r>
            <a:r>
              <a:rPr lang="en-US" sz="1600" b="1">
                <a:solidFill>
                  <a:srgbClr val="000962"/>
                </a:solidFill>
                <a:latin typeface="Arial Narrow"/>
                <a:ea typeface="Geneva"/>
                <a:cs typeface="Arial"/>
              </a:rPr>
              <a:t>ET</a:t>
            </a:r>
            <a:endPar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endParaRP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8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12" name="TextBox 11">
            <a:extLst>
              <a:ext uri="{FF2B5EF4-FFF2-40B4-BE49-F238E27FC236}">
                <a16:creationId xmlns:a16="http://schemas.microsoft.com/office/drawing/2014/main" id="{E21720A2-D269-317A-46C6-E8EEC273D5EC}"/>
              </a:ext>
            </a:extLst>
          </p:cNvPr>
          <p:cNvSpPr txBox="1"/>
          <p:nvPr/>
        </p:nvSpPr>
        <p:spPr>
          <a:xfrm>
            <a:off x="7916261" y="1546611"/>
            <a:ext cx="3963156"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A62"/>
                </a:solidFill>
                <a:effectLst/>
                <a:uLnTx/>
                <a:uFillTx/>
                <a:latin typeface="Georgia" panose="02040502050405020303"/>
                <a:ea typeface="Geneva" pitchFamily="-109" charset="-128"/>
                <a:cs typeface="Arial" panose="020B0604020202020204" pitchFamily="34" charset="0"/>
              </a:rPr>
              <a:t>Strengthening </a:t>
            </a:r>
            <a:br>
              <a:rPr kumimoji="0" lang="en-US" sz="2000" b="0" i="0" u="none" strike="noStrike" kern="1200" cap="none" spc="0" normalizeH="0" baseline="0" noProof="0">
                <a:ln>
                  <a:noFill/>
                </a:ln>
                <a:solidFill>
                  <a:srgbClr val="000A62"/>
                </a:solidFill>
                <a:effectLst/>
                <a:uLnTx/>
                <a:uFillTx/>
                <a:latin typeface="Georgia" panose="02040502050405020303"/>
                <a:ea typeface="Geneva" pitchFamily="-109" charset="-128"/>
                <a:cs typeface="Arial" panose="020B0604020202020204" pitchFamily="34" charset="0"/>
              </a:rPr>
            </a:br>
            <a:r>
              <a:rPr kumimoji="0" lang="en-US" sz="2000" b="0" i="0" u="none" strike="noStrike" kern="1200" cap="none" spc="0" normalizeH="0" baseline="0" noProof="0">
                <a:ln>
                  <a:noFill/>
                </a:ln>
                <a:solidFill>
                  <a:srgbClr val="000A62"/>
                </a:solidFill>
                <a:effectLst/>
                <a:uLnTx/>
                <a:uFillTx/>
                <a:latin typeface="Georgia" panose="02040502050405020303"/>
                <a:ea typeface="Geneva" pitchFamily="-109" charset="-128"/>
                <a:cs typeface="Arial" panose="020B0604020202020204" pitchFamily="34" charset="0"/>
              </a:rPr>
              <a:t>the foundation</a:t>
            </a:r>
          </a:p>
        </p:txBody>
      </p:sp>
      <p:pic>
        <p:nvPicPr>
          <p:cNvPr id="13" name="Picture 12">
            <a:extLst>
              <a:ext uri="{FF2B5EF4-FFF2-40B4-BE49-F238E27FC236}">
                <a16:creationId xmlns:a16="http://schemas.microsoft.com/office/drawing/2014/main" id="{29D6FF6F-D13D-E0F1-0C5A-A2FE2F7F3678}"/>
              </a:ext>
            </a:extLst>
          </p:cNvPr>
          <p:cNvPicPr>
            <a:picLocks noChangeAspect="1"/>
          </p:cNvPicPr>
          <p:nvPr/>
        </p:nvPicPr>
        <p:blipFill>
          <a:blip r:embed="rId3" cstate="print">
            <a:extLst>
              <a:ext uri="{28A0092B-C50C-407E-A947-70E740481C1C}">
                <a14:useLocalDpi xmlns:a14="http://schemas.microsoft.com/office/drawing/2010/main" val="0"/>
              </a:ext>
            </a:extLst>
          </a:blip>
          <a:srcRect l="478" r="478"/>
          <a:stretch/>
        </p:blipFill>
        <p:spPr>
          <a:xfrm>
            <a:off x="10379534" y="3948005"/>
            <a:ext cx="1499883" cy="1514360"/>
          </a:xfrm>
          <a:prstGeom prst="roundRect">
            <a:avLst>
              <a:gd name="adj" fmla="val 0"/>
            </a:avLst>
          </a:prstGeom>
        </p:spPr>
      </p:pic>
      <p:sp>
        <p:nvSpPr>
          <p:cNvPr id="17" name="Oval 16">
            <a:extLst>
              <a:ext uri="{FF2B5EF4-FFF2-40B4-BE49-F238E27FC236}">
                <a16:creationId xmlns:a16="http://schemas.microsoft.com/office/drawing/2014/main" id="{FC35ABFE-4886-AE56-E646-D3094AAD5E57}"/>
              </a:ext>
            </a:extLst>
          </p:cNvPr>
          <p:cNvSpPr/>
          <p:nvPr/>
        </p:nvSpPr>
        <p:spPr>
          <a:xfrm>
            <a:off x="10100422" y="177592"/>
            <a:ext cx="1935722" cy="193572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16" name="Picture 15" descr="A blue and white circle with a briefcase and pen  AI-generated content may be incorrect.">
            <a:extLst>
              <a:ext uri="{FF2B5EF4-FFF2-40B4-BE49-F238E27FC236}">
                <a16:creationId xmlns:a16="http://schemas.microsoft.com/office/drawing/2014/main" id="{36C9354E-7555-3A26-29C4-04AC0DDCB1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88992" y="262742"/>
            <a:ext cx="1762001" cy="1762001"/>
          </a:xfrm>
          <a:prstGeom prst="rect">
            <a:avLst/>
          </a:prstGeom>
        </p:spPr>
      </p:pic>
      <p:cxnSp>
        <p:nvCxnSpPr>
          <p:cNvPr id="5" name="Straight Connector 4">
            <a:extLst>
              <a:ext uri="{FF2B5EF4-FFF2-40B4-BE49-F238E27FC236}">
                <a16:creationId xmlns:a16="http://schemas.microsoft.com/office/drawing/2014/main" id="{15BB54EB-2D05-7971-2A06-3B26EBC5CB54}"/>
              </a:ext>
            </a:extLst>
          </p:cNvPr>
          <p:cNvCxnSpPr/>
          <p:nvPr/>
        </p:nvCxnSpPr>
        <p:spPr>
          <a:xfrm>
            <a:off x="829021" y="1732328"/>
            <a:ext cx="6621687"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E277D41-1F48-2CBB-7624-AA92BE0EEDA2}"/>
              </a:ext>
            </a:extLst>
          </p:cNvPr>
          <p:cNvCxnSpPr/>
          <p:nvPr/>
        </p:nvCxnSpPr>
        <p:spPr>
          <a:xfrm>
            <a:off x="829021" y="2129248"/>
            <a:ext cx="6621687"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A2CC1B5-063E-35AE-5A28-07B189F6AFFF}"/>
              </a:ext>
            </a:extLst>
          </p:cNvPr>
          <p:cNvCxnSpPr/>
          <p:nvPr/>
        </p:nvCxnSpPr>
        <p:spPr>
          <a:xfrm>
            <a:off x="829021" y="2537054"/>
            <a:ext cx="6621687"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B5AAE9A-FBE4-1405-18D3-0D34DB465FAA}"/>
              </a:ext>
            </a:extLst>
          </p:cNvPr>
          <p:cNvCxnSpPr/>
          <p:nvPr/>
        </p:nvCxnSpPr>
        <p:spPr>
          <a:xfrm>
            <a:off x="829021" y="2955746"/>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8C63349-6921-B5E3-EC49-0ADCFFC6D293}"/>
              </a:ext>
            </a:extLst>
          </p:cNvPr>
          <p:cNvCxnSpPr/>
          <p:nvPr/>
        </p:nvCxnSpPr>
        <p:spPr>
          <a:xfrm>
            <a:off x="829021" y="3363552"/>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AE3E12F-D451-73B3-B3B9-8BB12A248DFF}"/>
              </a:ext>
            </a:extLst>
          </p:cNvPr>
          <p:cNvCxnSpPr/>
          <p:nvPr/>
        </p:nvCxnSpPr>
        <p:spPr>
          <a:xfrm>
            <a:off x="829021" y="3771358"/>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C6E38E0-8471-B6C2-1B28-3B8D742EC97C}"/>
              </a:ext>
            </a:extLst>
          </p:cNvPr>
          <p:cNvCxnSpPr/>
          <p:nvPr/>
        </p:nvCxnSpPr>
        <p:spPr>
          <a:xfrm>
            <a:off x="829021" y="4168278"/>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97B80F9-7D70-5C9F-81FE-4D5000CDCE2D}"/>
              </a:ext>
            </a:extLst>
          </p:cNvPr>
          <p:cNvCxnSpPr/>
          <p:nvPr/>
        </p:nvCxnSpPr>
        <p:spPr>
          <a:xfrm>
            <a:off x="829021" y="4586970"/>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EE9DC3D-931D-5A04-9B24-B11014D28652}"/>
              </a:ext>
            </a:extLst>
          </p:cNvPr>
          <p:cNvCxnSpPr/>
          <p:nvPr/>
        </p:nvCxnSpPr>
        <p:spPr>
          <a:xfrm>
            <a:off x="829021" y="4994776"/>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17A00E6-3E7C-C65B-3AC1-B95B8BF8E514}"/>
              </a:ext>
            </a:extLst>
          </p:cNvPr>
          <p:cNvCxnSpPr/>
          <p:nvPr/>
        </p:nvCxnSpPr>
        <p:spPr>
          <a:xfrm>
            <a:off x="829021" y="5413464"/>
            <a:ext cx="6621687" cy="0"/>
          </a:xfrm>
          <a:prstGeom prst="line">
            <a:avLst/>
          </a:prstGeom>
          <a:ln w="9525">
            <a:solidFill>
              <a:srgbClr val="000A62"/>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242A98C-A615-EDAC-B812-42533E4A8E3D}"/>
              </a:ext>
            </a:extLst>
          </p:cNvPr>
          <p:cNvSpPr txBox="1"/>
          <p:nvPr/>
        </p:nvSpPr>
        <p:spPr>
          <a:xfrm>
            <a:off x="626267" y="6342985"/>
            <a:ext cx="10936325" cy="169277"/>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A62"/>
                </a:solidFill>
                <a:effectLst/>
                <a:uLnTx/>
                <a:uFillTx/>
                <a:latin typeface="Arial"/>
                <a:ea typeface="+mn-ea"/>
                <a:cs typeface="+mn-cs"/>
              </a:rPr>
              <a:t>*3:00 PM </a:t>
            </a:r>
            <a:r>
              <a:rPr lang="en-US" sz="1100">
                <a:solidFill>
                  <a:srgbClr val="000A62"/>
                </a:solidFill>
                <a:latin typeface="Arial"/>
              </a:rPr>
              <a:t>ET</a:t>
            </a:r>
            <a:r>
              <a:rPr kumimoji="0" lang="en-US" sz="1100" b="0" i="0" u="none" strike="noStrike" kern="1200" cap="none" spc="0" normalizeH="0" baseline="0" noProof="0">
                <a:ln>
                  <a:noFill/>
                </a:ln>
                <a:solidFill>
                  <a:srgbClr val="000A62"/>
                </a:solidFill>
                <a:effectLst/>
                <a:uLnTx/>
                <a:uFillTx/>
                <a:latin typeface="Arial"/>
                <a:ea typeface="+mn-ea"/>
                <a:cs typeface="+mn-cs"/>
              </a:rPr>
              <a:t>  |  2:00 PM </a:t>
            </a:r>
            <a:r>
              <a:rPr lang="en-US" sz="1100">
                <a:solidFill>
                  <a:srgbClr val="000A62"/>
                </a:solidFill>
                <a:latin typeface="Arial"/>
              </a:rPr>
              <a:t>CT</a:t>
            </a:r>
            <a:r>
              <a:rPr kumimoji="0" lang="en-US" sz="1100" b="0" i="0" u="none" strike="noStrike" kern="1200" cap="none" spc="0" normalizeH="0" baseline="0" noProof="0">
                <a:ln>
                  <a:noFill/>
                </a:ln>
                <a:solidFill>
                  <a:srgbClr val="000A62"/>
                </a:solidFill>
                <a:effectLst/>
                <a:uLnTx/>
                <a:uFillTx/>
                <a:latin typeface="Arial"/>
                <a:ea typeface="+mn-ea"/>
                <a:cs typeface="+mn-cs"/>
              </a:rPr>
              <a:t>  |  1:00 PM </a:t>
            </a:r>
            <a:r>
              <a:rPr lang="en-US" sz="1100">
                <a:solidFill>
                  <a:srgbClr val="000A62"/>
                </a:solidFill>
                <a:latin typeface="Arial"/>
              </a:rPr>
              <a:t>MT</a:t>
            </a:r>
            <a:r>
              <a:rPr kumimoji="0" lang="en-US" sz="1100" b="0" i="0" u="none" strike="noStrike" kern="1200" cap="none" spc="0" normalizeH="0" baseline="0" noProof="0">
                <a:ln>
                  <a:noFill/>
                </a:ln>
                <a:solidFill>
                  <a:srgbClr val="000A62"/>
                </a:solidFill>
                <a:effectLst/>
                <a:uLnTx/>
                <a:uFillTx/>
                <a:latin typeface="Arial"/>
                <a:ea typeface="+mn-ea"/>
                <a:cs typeface="+mn-cs"/>
              </a:rPr>
              <a:t>  |  12:00 PM </a:t>
            </a:r>
            <a:r>
              <a:rPr lang="en-US" sz="1100">
                <a:solidFill>
                  <a:srgbClr val="000A62"/>
                </a:solidFill>
                <a:latin typeface="Arial"/>
              </a:rPr>
              <a:t>PT</a:t>
            </a:r>
            <a:r>
              <a:rPr kumimoji="0" lang="en-US" sz="1100" b="0" i="0" u="none" strike="noStrike" kern="1200" cap="none" spc="0" normalizeH="0" baseline="0" noProof="0">
                <a:ln>
                  <a:noFill/>
                </a:ln>
                <a:solidFill>
                  <a:srgbClr val="000A62"/>
                </a:solidFill>
                <a:effectLst/>
                <a:uLnTx/>
                <a:uFillTx/>
                <a:latin typeface="Arial"/>
                <a:ea typeface="+mn-ea"/>
                <a:cs typeface="+mn-cs"/>
              </a:rPr>
              <a:t>  |  11:00 PM Alaska  |  9:00 AM Hawaii</a:t>
            </a:r>
          </a:p>
        </p:txBody>
      </p:sp>
    </p:spTree>
    <p:extLst>
      <p:ext uri="{BB962C8B-B14F-4D97-AF65-F5344CB8AC3E}">
        <p14:creationId xmlns:p14="http://schemas.microsoft.com/office/powerpoint/2010/main" val="1934909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D385-9BCD-A441-11A6-309E4F750535}"/>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A80EEBA2-7FF4-DA4C-B9DD-51DB6B116573}"/>
              </a:ext>
            </a:extLst>
          </p:cNvPr>
          <p:cNvSpPr/>
          <p:nvPr/>
        </p:nvSpPr>
        <p:spPr>
          <a:xfrm>
            <a:off x="7024162" y="1521937"/>
            <a:ext cx="4479279" cy="4389120"/>
          </a:xfrm>
          <a:prstGeom prst="rect">
            <a:avLst/>
          </a:prstGeom>
          <a:solidFill>
            <a:srgbClr val="0468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A8A20A18-2B85-4E27-E7DE-853D3B214EC2}"/>
              </a:ext>
            </a:extLst>
          </p:cNvPr>
          <p:cNvSpPr/>
          <p:nvPr/>
        </p:nvSpPr>
        <p:spPr>
          <a:xfrm>
            <a:off x="688559" y="1521937"/>
            <a:ext cx="6264565" cy="4389120"/>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2825721D-878E-A5A4-8E6C-2E08BB0B17FC}"/>
              </a:ext>
            </a:extLst>
          </p:cNvPr>
          <p:cNvSpPr txBox="1"/>
          <p:nvPr/>
        </p:nvSpPr>
        <p:spPr>
          <a:xfrm>
            <a:off x="894956" y="3027533"/>
            <a:ext cx="5851773" cy="252376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US" sz="1800" b="1" i="0" u="none" strike="noStrike" kern="1200" cap="none" spc="0" normalizeH="0" baseline="0" noProof="0">
                <a:ln>
                  <a:noFill/>
                </a:ln>
                <a:solidFill>
                  <a:srgbClr val="000962"/>
                </a:solidFill>
                <a:effectLst/>
                <a:uLnTx/>
                <a:uFillTx/>
                <a:latin typeface="Arial"/>
                <a:ea typeface="+mn-ea"/>
                <a:cs typeface="+mn-cs"/>
              </a:rPr>
              <a:t>Join field and home office leaders for practical ideas on positioning Mutual Income in client conversations.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Explore why Mutual Income can be a powerful advantage in income planning conversations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Hear how </a:t>
            </a:r>
            <a:r>
              <a:rPr kumimoji="0" lang="en-US" sz="1800" b="1" i="0" u="none" strike="noStrike" kern="1200" cap="none" spc="0" normalizeH="0" baseline="0" noProof="0">
                <a:ln>
                  <a:noFill/>
                </a:ln>
                <a:solidFill>
                  <a:srgbClr val="000962"/>
                </a:solidFill>
                <a:effectLst/>
                <a:uLnTx/>
                <a:uFillTx/>
                <a:latin typeface="Arial"/>
                <a:ea typeface="+mn-ea"/>
                <a:cs typeface="+mn-cs"/>
              </a:rPr>
              <a:t>Mark Derby </a:t>
            </a:r>
            <a:r>
              <a:rPr kumimoji="0" lang="en-US" sz="1800" b="0" i="0" u="none" strike="noStrike" kern="1200" cap="none" spc="0" normalizeH="0" baseline="0" noProof="0">
                <a:ln>
                  <a:noFill/>
                </a:ln>
                <a:solidFill>
                  <a:srgbClr val="000962"/>
                </a:solidFill>
                <a:effectLst/>
                <a:uLnTx/>
                <a:uFillTx/>
                <a:latin typeface="Arial"/>
                <a:ea typeface="+mn-ea"/>
                <a:cs typeface="+mn-cs"/>
              </a:rPr>
              <a:t>has successfully integrated Mutual Income into his practice</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000962"/>
                </a:solidFill>
                <a:effectLst/>
                <a:uLnTx/>
                <a:uFillTx/>
                <a:latin typeface="Arial"/>
                <a:ea typeface="+mn-ea"/>
                <a:cs typeface="+mn-cs"/>
              </a:rPr>
              <a:t>Learn positioning ideas that can help enhance client protection and support stronger retirement outcomes</a:t>
            </a:r>
          </a:p>
        </p:txBody>
      </p:sp>
      <p:sp>
        <p:nvSpPr>
          <p:cNvPr id="33" name="Rectangle 32">
            <a:extLst>
              <a:ext uri="{FF2B5EF4-FFF2-40B4-BE49-F238E27FC236}">
                <a16:creationId xmlns:a16="http://schemas.microsoft.com/office/drawing/2014/main" id="{A3583F4F-B404-2773-3EE4-205F6F1DE372}"/>
              </a:ext>
            </a:extLst>
          </p:cNvPr>
          <p:cNvSpPr>
            <a:spLocks/>
          </p:cNvSpPr>
          <p:nvPr/>
        </p:nvSpPr>
        <p:spPr>
          <a:xfrm>
            <a:off x="632355" y="1470650"/>
            <a:ext cx="10951962"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horz"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4FD73D67-6F89-01EF-D58B-A775201DA346}"/>
              </a:ext>
            </a:extLst>
          </p:cNvPr>
          <p:cNvSpPr>
            <a:spLocks noGrp="1"/>
          </p:cNvSpPr>
          <p:nvPr>
            <p:ph type="title"/>
          </p:nvPr>
        </p:nvSpPr>
        <p:spPr>
          <a:xfrm>
            <a:off x="626269" y="493776"/>
            <a:ext cx="10939462" cy="453167"/>
          </a:xfrm>
        </p:spPr>
        <p:txBody>
          <a:bodyPr vert="horz" lIns="0" tIns="0" rIns="0" bIns="0" anchor="t" anchorCtr="0"/>
          <a:lstStyle/>
          <a:p>
            <a:r>
              <a:rPr lang="en-US" dirty="0"/>
              <a:t>Register for the Mutual Income webinar</a:t>
            </a:r>
          </a:p>
        </p:txBody>
      </p:sp>
      <p:sp>
        <p:nvSpPr>
          <p:cNvPr id="51" name="Slide Number Placeholder 50">
            <a:extLst>
              <a:ext uri="{FF2B5EF4-FFF2-40B4-BE49-F238E27FC236}">
                <a16:creationId xmlns:a16="http://schemas.microsoft.com/office/drawing/2014/main" id="{4AF76391-25E2-FB0A-8A0B-4FE73C31B7E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 Placeholder 2">
            <a:extLst>
              <a:ext uri="{FF2B5EF4-FFF2-40B4-BE49-F238E27FC236}">
                <a16:creationId xmlns:a16="http://schemas.microsoft.com/office/drawing/2014/main" id="{931FAD3A-86C6-066A-5E14-FB9AA27968C6}"/>
              </a:ext>
            </a:extLst>
          </p:cNvPr>
          <p:cNvSpPr txBox="1">
            <a:spLocks/>
          </p:cNvSpPr>
          <p:nvPr/>
        </p:nvSpPr>
        <p:spPr>
          <a:xfrm>
            <a:off x="627063" y="1056349"/>
            <a:ext cx="10951963" cy="338554"/>
          </a:xfrm>
          <a:prstGeom prst="rect">
            <a:avLst/>
          </a:prstGeom>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000A62"/>
                </a:solidFill>
                <a:effectLst/>
                <a:uLnTx/>
                <a:uFillTx/>
                <a:latin typeface="Arial"/>
                <a:ea typeface="+mn-ea"/>
                <a:cs typeface="Arial" panose="020B0604020202020204" pitchFamily="34" charset="0"/>
              </a:rPr>
              <a:t>Council Close: Drive Protection and Better Retirement Outcomes with Mutual Income</a:t>
            </a:r>
          </a:p>
        </p:txBody>
      </p:sp>
      <p:sp>
        <p:nvSpPr>
          <p:cNvPr id="9" name="Rectangle 8">
            <a:extLst>
              <a:ext uri="{FF2B5EF4-FFF2-40B4-BE49-F238E27FC236}">
                <a16:creationId xmlns:a16="http://schemas.microsoft.com/office/drawing/2014/main" id="{5EFD0962-19F0-1E5E-521D-B2E2C34530D0}"/>
              </a:ext>
            </a:extLst>
          </p:cNvPr>
          <p:cNvSpPr/>
          <p:nvPr/>
        </p:nvSpPr>
        <p:spPr bwMode="ltGray">
          <a:xfrm>
            <a:off x="7159521" y="4662867"/>
            <a:ext cx="4202946" cy="110554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0" name="TextBox 9">
            <a:extLst>
              <a:ext uri="{FF2B5EF4-FFF2-40B4-BE49-F238E27FC236}">
                <a16:creationId xmlns:a16="http://schemas.microsoft.com/office/drawing/2014/main" id="{3ED4FD34-16DE-025F-F002-CFC104DAEC4C}"/>
              </a:ext>
            </a:extLst>
          </p:cNvPr>
          <p:cNvSpPr txBox="1"/>
          <p:nvPr/>
        </p:nvSpPr>
        <p:spPr>
          <a:xfrm>
            <a:off x="7454754" y="4889541"/>
            <a:ext cx="2238624"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Scan the QR code and register for the Mutual Income webinar today.</a:t>
            </a:r>
          </a:p>
        </p:txBody>
      </p:sp>
      <p:sp>
        <p:nvSpPr>
          <p:cNvPr id="12" name="Isosceles Triangle 11">
            <a:extLst>
              <a:ext uri="{FF2B5EF4-FFF2-40B4-BE49-F238E27FC236}">
                <a16:creationId xmlns:a16="http://schemas.microsoft.com/office/drawing/2014/main" id="{96FA53CF-364F-F4B1-6F56-EF8B6239B1DB}"/>
              </a:ext>
            </a:extLst>
          </p:cNvPr>
          <p:cNvSpPr/>
          <p:nvPr/>
        </p:nvSpPr>
        <p:spPr bwMode="ltGray">
          <a:xfrm rot="5400000">
            <a:off x="9668784" y="5094690"/>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5B5F335D-1460-EDA2-7003-75DEA667B63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256917" y="4659932"/>
            <a:ext cx="1105549" cy="1105549"/>
          </a:xfrm>
          <a:prstGeom prst="rect">
            <a:avLst/>
          </a:prstGeom>
        </p:spPr>
      </p:pic>
      <p:sp>
        <p:nvSpPr>
          <p:cNvPr id="15" name="Rectangle 14">
            <a:extLst>
              <a:ext uri="{FF2B5EF4-FFF2-40B4-BE49-F238E27FC236}">
                <a16:creationId xmlns:a16="http://schemas.microsoft.com/office/drawing/2014/main" id="{B6880588-DA8F-6C0D-F4EE-14961B63355B}"/>
              </a:ext>
            </a:extLst>
          </p:cNvPr>
          <p:cNvSpPr/>
          <p:nvPr/>
        </p:nvSpPr>
        <p:spPr bwMode="ltGray">
          <a:xfrm>
            <a:off x="894956" y="1674895"/>
            <a:ext cx="5851773" cy="1099679"/>
          </a:xfrm>
          <a:prstGeom prst="rect">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16" name="Picture 15">
            <a:extLst>
              <a:ext uri="{FF2B5EF4-FFF2-40B4-BE49-F238E27FC236}">
                <a16:creationId xmlns:a16="http://schemas.microsoft.com/office/drawing/2014/main" id="{7BABA43F-9B14-283E-7165-8DFF9D36AE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4068" y="1827896"/>
            <a:ext cx="508694" cy="508456"/>
          </a:xfrm>
          <a:prstGeom prst="rect">
            <a:avLst/>
          </a:prstGeom>
        </p:spPr>
      </p:pic>
      <p:sp>
        <p:nvSpPr>
          <p:cNvPr id="17" name="TextBox 16">
            <a:extLst>
              <a:ext uri="{FF2B5EF4-FFF2-40B4-BE49-F238E27FC236}">
                <a16:creationId xmlns:a16="http://schemas.microsoft.com/office/drawing/2014/main" id="{669D8F56-9BB3-AC40-16A2-D6386761FEEB}"/>
              </a:ext>
            </a:extLst>
          </p:cNvPr>
          <p:cNvSpPr txBox="1"/>
          <p:nvPr/>
        </p:nvSpPr>
        <p:spPr>
          <a:xfrm>
            <a:off x="1950195" y="1769633"/>
            <a:ext cx="3899788" cy="61555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Georgia"/>
                <a:ea typeface="+mn-ea"/>
                <a:cs typeface="+mn-cs"/>
              </a:rPr>
              <a:t>Date: Wednesday, May 20, 2026</a:t>
            </a:r>
            <a:br>
              <a:rPr lang="en-US" sz="2000" b="0" i="0" u="none" strike="noStrike" kern="1200" cap="none" spc="0" normalizeH="0" baseline="0" noProof="0">
                <a:ln>
                  <a:noFill/>
                </a:ln>
                <a:effectLst/>
                <a:uLnTx/>
                <a:uFillTx/>
                <a:latin typeface="Georgia"/>
              </a:rPr>
            </a:br>
            <a:r>
              <a:rPr kumimoji="0" lang="en-US" sz="2000" b="0" i="0" u="none" strike="noStrike" kern="1200" cap="none" spc="0" normalizeH="0" baseline="0" noProof="0">
                <a:ln>
                  <a:noFill/>
                </a:ln>
                <a:solidFill>
                  <a:srgbClr val="FFFFFF"/>
                </a:solidFill>
                <a:effectLst/>
                <a:uLnTx/>
                <a:uFillTx/>
                <a:latin typeface="Georgia"/>
                <a:ea typeface="+mn-ea"/>
                <a:cs typeface="+mn-cs"/>
              </a:rPr>
              <a:t>Time: </a:t>
            </a:r>
            <a:r>
              <a:rPr lang="en-US" sz="2000">
                <a:solidFill>
                  <a:srgbClr val="FFFFFF"/>
                </a:solidFill>
                <a:latin typeface="Georgia"/>
              </a:rPr>
              <a:t>3</a:t>
            </a:r>
            <a:r>
              <a:rPr kumimoji="0" lang="en-US" sz="2000" b="0" i="0" u="none" strike="noStrike" kern="1200" cap="none" spc="0" normalizeH="0" baseline="0" noProof="0">
                <a:ln>
                  <a:noFill/>
                </a:ln>
                <a:solidFill>
                  <a:srgbClr val="FFFFFF"/>
                </a:solidFill>
                <a:effectLst/>
                <a:uLnTx/>
                <a:uFillTx/>
                <a:latin typeface="Georgia"/>
                <a:ea typeface="+mn-ea"/>
                <a:cs typeface="+mn-cs"/>
              </a:rPr>
              <a:t> </a:t>
            </a:r>
            <a:r>
              <a:rPr lang="en-US" sz="2000">
                <a:solidFill>
                  <a:srgbClr val="FFFFFF"/>
                </a:solidFill>
                <a:latin typeface="Georgia"/>
              </a:rPr>
              <a:t>pm</a:t>
            </a:r>
            <a:r>
              <a:rPr kumimoji="0" lang="en-US" sz="2000" b="0" i="0" u="none" strike="noStrike" kern="1200" cap="none" spc="0" normalizeH="0" baseline="0" noProof="0">
                <a:ln>
                  <a:noFill/>
                </a:ln>
                <a:solidFill>
                  <a:srgbClr val="FFFFFF"/>
                </a:solidFill>
                <a:effectLst/>
                <a:uLnTx/>
                <a:uFillTx/>
                <a:latin typeface="Georgia"/>
                <a:ea typeface="+mn-ea"/>
                <a:cs typeface="+mn-cs"/>
              </a:rPr>
              <a:t> ET</a:t>
            </a:r>
            <a:endParaRPr kumimoji="0" lang="en-US" sz="2000" b="0" i="0" u="none" strike="noStrike" kern="1200" cap="none" spc="0" normalizeH="0" baseline="30000" noProof="0">
              <a:ln>
                <a:noFill/>
              </a:ln>
              <a:solidFill>
                <a:srgbClr val="FFFFFF"/>
              </a:solidFill>
              <a:effectLst/>
              <a:uLnTx/>
              <a:uFillTx/>
              <a:latin typeface="Georgia"/>
              <a:ea typeface="+mn-ea"/>
              <a:cs typeface="+mn-cs"/>
            </a:endParaRPr>
          </a:p>
        </p:txBody>
      </p:sp>
      <p:cxnSp>
        <p:nvCxnSpPr>
          <p:cNvPr id="18" name="Straight Connector 17">
            <a:extLst>
              <a:ext uri="{FF2B5EF4-FFF2-40B4-BE49-F238E27FC236}">
                <a16:creationId xmlns:a16="http://schemas.microsoft.com/office/drawing/2014/main" id="{CE68A6AC-DBEC-07AF-83BE-DD766B8BE294}"/>
              </a:ext>
            </a:extLst>
          </p:cNvPr>
          <p:cNvCxnSpPr>
            <a:cxnSpLocks/>
          </p:cNvCxnSpPr>
          <p:nvPr/>
        </p:nvCxnSpPr>
        <p:spPr>
          <a:xfrm>
            <a:off x="1125359" y="2470956"/>
            <a:ext cx="5390967" cy="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2E08B05-4BE8-1A08-8C9D-FFBEE8B6D2C4}"/>
              </a:ext>
            </a:extLst>
          </p:cNvPr>
          <p:cNvSpPr txBox="1"/>
          <p:nvPr/>
        </p:nvSpPr>
        <p:spPr>
          <a:xfrm>
            <a:off x="1404272" y="2551041"/>
            <a:ext cx="4833140" cy="153888"/>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3711575" algn="l"/>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2:00 </a:t>
            </a:r>
            <a:r>
              <a:rPr lang="en-US" sz="1000">
                <a:solidFill>
                  <a:srgbClr val="FFFFFF"/>
                </a:solidFill>
                <a:latin typeface="Arial"/>
              </a:rPr>
              <a:t>pm</a:t>
            </a:r>
            <a:r>
              <a:rPr kumimoji="0" lang="en-US" sz="1000" b="0" i="0" u="none" strike="noStrike" kern="1200" cap="none" spc="0" normalizeH="0" baseline="0" noProof="0">
                <a:ln>
                  <a:noFill/>
                </a:ln>
                <a:solidFill>
                  <a:srgbClr val="FFFFFF"/>
                </a:solidFill>
                <a:effectLst/>
                <a:uLnTx/>
                <a:uFillTx/>
                <a:latin typeface="Arial"/>
                <a:ea typeface="+mn-ea"/>
                <a:cs typeface="+mn-cs"/>
              </a:rPr>
              <a:t> CT | 1:00 </a:t>
            </a:r>
            <a:r>
              <a:rPr lang="en-US" sz="1000">
                <a:solidFill>
                  <a:srgbClr val="FFFFFF"/>
                </a:solidFill>
                <a:latin typeface="Arial"/>
              </a:rPr>
              <a:t>pm</a:t>
            </a:r>
            <a:r>
              <a:rPr kumimoji="0" lang="en-US" sz="1000" b="0" i="0" u="none" strike="noStrike" kern="1200" cap="none" spc="0" normalizeH="0" baseline="0" noProof="0">
                <a:ln>
                  <a:noFill/>
                </a:ln>
                <a:solidFill>
                  <a:srgbClr val="FFFFFF"/>
                </a:solidFill>
                <a:effectLst/>
                <a:uLnTx/>
                <a:uFillTx/>
                <a:latin typeface="Arial"/>
                <a:ea typeface="+mn-ea"/>
                <a:cs typeface="+mn-cs"/>
              </a:rPr>
              <a:t> MT | 12:00 </a:t>
            </a:r>
            <a:r>
              <a:rPr lang="en-US" sz="1000">
                <a:solidFill>
                  <a:srgbClr val="FFFFFF"/>
                </a:solidFill>
                <a:latin typeface="Arial"/>
              </a:rPr>
              <a:t>pm</a:t>
            </a:r>
            <a:r>
              <a:rPr kumimoji="0" lang="en-US" sz="1000" b="0" i="0" u="none" strike="noStrike" kern="1200" cap="none" spc="0" normalizeH="0" baseline="0" noProof="0">
                <a:ln>
                  <a:noFill/>
                </a:ln>
                <a:solidFill>
                  <a:srgbClr val="FFFFFF"/>
                </a:solidFill>
                <a:effectLst/>
                <a:uLnTx/>
                <a:uFillTx/>
                <a:latin typeface="Arial"/>
                <a:ea typeface="+mn-ea"/>
                <a:cs typeface="+mn-cs"/>
              </a:rPr>
              <a:t> PT | 11:00 </a:t>
            </a:r>
            <a:r>
              <a:rPr lang="en-US" sz="1000">
                <a:solidFill>
                  <a:srgbClr val="FFFFFF"/>
                </a:solidFill>
                <a:latin typeface="Arial"/>
              </a:rPr>
              <a:t>am</a:t>
            </a:r>
            <a:r>
              <a:rPr kumimoji="0" lang="en-US" sz="1000" b="0" i="0" u="none" strike="noStrike" kern="1200" cap="none" spc="0" normalizeH="0" baseline="0" noProof="0">
                <a:ln>
                  <a:noFill/>
                </a:ln>
                <a:solidFill>
                  <a:srgbClr val="FFFFFF"/>
                </a:solidFill>
                <a:effectLst/>
                <a:uLnTx/>
                <a:uFillTx/>
                <a:latin typeface="Arial"/>
                <a:ea typeface="+mn-ea"/>
                <a:cs typeface="+mn-cs"/>
              </a:rPr>
              <a:t> AKT | 9:00 </a:t>
            </a:r>
            <a:r>
              <a:rPr lang="en-US" sz="1000">
                <a:solidFill>
                  <a:srgbClr val="FFFFFF"/>
                </a:solidFill>
                <a:latin typeface="Arial"/>
              </a:rPr>
              <a:t>am</a:t>
            </a:r>
            <a:r>
              <a:rPr kumimoji="0" lang="en-US" sz="1000" b="0" i="0" u="none" strike="noStrike" kern="1200" cap="none" spc="0" normalizeH="0" baseline="0" noProof="0">
                <a:ln>
                  <a:noFill/>
                </a:ln>
                <a:solidFill>
                  <a:srgbClr val="FFFFFF"/>
                </a:solidFill>
                <a:effectLst/>
                <a:uLnTx/>
                <a:uFillTx/>
                <a:latin typeface="Arial"/>
                <a:ea typeface="+mn-ea"/>
                <a:cs typeface="+mn-cs"/>
              </a:rPr>
              <a:t> HT</a:t>
            </a:r>
          </a:p>
        </p:txBody>
      </p:sp>
      <p:pic>
        <p:nvPicPr>
          <p:cNvPr id="23" name="Picture 22">
            <a:extLst>
              <a:ext uri="{FF2B5EF4-FFF2-40B4-BE49-F238E27FC236}">
                <a16:creationId xmlns:a16="http://schemas.microsoft.com/office/drawing/2014/main" id="{DD30B996-A7C8-F4DE-C766-0C19939BAE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0067" y="2045576"/>
            <a:ext cx="1341793" cy="1814159"/>
          </a:xfrm>
          <a:prstGeom prst="ellipse">
            <a:avLst/>
          </a:prstGeom>
        </p:spPr>
      </p:pic>
      <p:pic>
        <p:nvPicPr>
          <p:cNvPr id="24" name="Picture 23">
            <a:extLst>
              <a:ext uri="{FF2B5EF4-FFF2-40B4-BE49-F238E27FC236}">
                <a16:creationId xmlns:a16="http://schemas.microsoft.com/office/drawing/2014/main" id="{FB6FEE08-CCBF-6B19-7FC5-61167A07452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90370" y="2045576"/>
            <a:ext cx="1341793" cy="1814158"/>
          </a:xfrm>
          <a:prstGeom prst="ellipse">
            <a:avLst/>
          </a:prstGeom>
        </p:spPr>
      </p:pic>
      <p:pic>
        <p:nvPicPr>
          <p:cNvPr id="25" name="Picture 24">
            <a:extLst>
              <a:ext uri="{FF2B5EF4-FFF2-40B4-BE49-F238E27FC236}">
                <a16:creationId xmlns:a16="http://schemas.microsoft.com/office/drawing/2014/main" id="{5FA59947-3A1E-04D4-7487-6658FC1C543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020673" y="2045576"/>
            <a:ext cx="1341793" cy="1814158"/>
          </a:xfrm>
          <a:prstGeom prst="ellipse">
            <a:avLst/>
          </a:prstGeom>
        </p:spPr>
      </p:pic>
      <p:sp>
        <p:nvSpPr>
          <p:cNvPr id="27" name="TextBox 26">
            <a:extLst>
              <a:ext uri="{FF2B5EF4-FFF2-40B4-BE49-F238E27FC236}">
                <a16:creationId xmlns:a16="http://schemas.microsoft.com/office/drawing/2014/main" id="{68B4D6F5-AFF7-3872-EDE3-AA4A0C267045}"/>
              </a:ext>
            </a:extLst>
          </p:cNvPr>
          <p:cNvSpPr txBox="1"/>
          <p:nvPr/>
        </p:nvSpPr>
        <p:spPr>
          <a:xfrm>
            <a:off x="7159521" y="1674895"/>
            <a:ext cx="2772642" cy="276999"/>
          </a:xfrm>
          <a:prstGeom prst="rect">
            <a:avLst/>
          </a:prstGeom>
          <a:solidFill>
            <a:srgbClr val="000A62"/>
          </a:solid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8" name="TextBox 27">
            <a:extLst>
              <a:ext uri="{FF2B5EF4-FFF2-40B4-BE49-F238E27FC236}">
                <a16:creationId xmlns:a16="http://schemas.microsoft.com/office/drawing/2014/main" id="{1BFC4D1A-6B2E-9926-9165-7393FA8098EB}"/>
              </a:ext>
            </a:extLst>
          </p:cNvPr>
          <p:cNvSpPr txBox="1"/>
          <p:nvPr/>
        </p:nvSpPr>
        <p:spPr>
          <a:xfrm>
            <a:off x="10020673" y="1674895"/>
            <a:ext cx="1341793" cy="276999"/>
          </a:xfrm>
          <a:prstGeom prst="rect">
            <a:avLst/>
          </a:prstGeom>
          <a:solidFill>
            <a:srgbClr val="000A62"/>
          </a:solid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Moderator</a:t>
            </a:r>
          </a:p>
        </p:txBody>
      </p:sp>
      <p:sp>
        <p:nvSpPr>
          <p:cNvPr id="31" name="TextBox 30">
            <a:extLst>
              <a:ext uri="{FF2B5EF4-FFF2-40B4-BE49-F238E27FC236}">
                <a16:creationId xmlns:a16="http://schemas.microsoft.com/office/drawing/2014/main" id="{39EDE4A6-E8B1-9DDD-A84E-794CE58CD7B0}"/>
              </a:ext>
            </a:extLst>
          </p:cNvPr>
          <p:cNvSpPr txBox="1"/>
          <p:nvPr/>
        </p:nvSpPr>
        <p:spPr>
          <a:xfrm>
            <a:off x="7159521" y="3946822"/>
            <a:ext cx="1341793" cy="63094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Mark Derby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President’s Council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and Diamond Annuity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Elite Member</a:t>
            </a:r>
            <a:endPar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Box 31">
            <a:extLst>
              <a:ext uri="{FF2B5EF4-FFF2-40B4-BE49-F238E27FC236}">
                <a16:creationId xmlns:a16="http://schemas.microsoft.com/office/drawing/2014/main" id="{4F8E30E8-EA8E-6C83-7684-9C27EC57EB48}"/>
              </a:ext>
            </a:extLst>
          </p:cNvPr>
          <p:cNvSpPr txBox="1"/>
          <p:nvPr/>
        </p:nvSpPr>
        <p:spPr>
          <a:xfrm>
            <a:off x="8590097" y="3946822"/>
            <a:ext cx="1341793" cy="63094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Justin Bateman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CVP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Advanced Income Solutions</a:t>
            </a:r>
            <a:endPar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4" name="TextBox 33">
            <a:extLst>
              <a:ext uri="{FF2B5EF4-FFF2-40B4-BE49-F238E27FC236}">
                <a16:creationId xmlns:a16="http://schemas.microsoft.com/office/drawing/2014/main" id="{779895D0-0775-478F-9CC9-F62FA05D1E52}"/>
              </a:ext>
            </a:extLst>
          </p:cNvPr>
          <p:cNvSpPr txBox="1"/>
          <p:nvPr/>
        </p:nvSpPr>
        <p:spPr>
          <a:xfrm>
            <a:off x="10020672" y="3946822"/>
            <a:ext cx="1341793" cy="630942"/>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Josh Bauer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Investment Product Consultant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Aptos" panose="020B0004020202020204" pitchFamily="34" charset="0"/>
                <a:cs typeface="Arial" panose="020B0604020202020204" pitchFamily="34" charset="0"/>
              </a:rPr>
              <a:t>Pacific Zone</a:t>
            </a:r>
            <a:endPar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489FB421-B3B9-910B-210C-434AC26C240F}"/>
              </a:ext>
            </a:extLst>
          </p:cNvPr>
          <p:cNvCxnSpPr/>
          <p:nvPr/>
        </p:nvCxnSpPr>
        <p:spPr>
          <a:xfrm>
            <a:off x="9972954" y="1674895"/>
            <a:ext cx="0" cy="2942652"/>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A049DF2-9797-07B6-249D-9643019AFD31}"/>
              </a:ext>
            </a:extLst>
          </p:cNvPr>
          <p:cNvCxnSpPr>
            <a:cxnSpLocks/>
          </p:cNvCxnSpPr>
          <p:nvPr/>
        </p:nvCxnSpPr>
        <p:spPr>
          <a:xfrm>
            <a:off x="8534956" y="2045576"/>
            <a:ext cx="0" cy="257197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4022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368F-0C5F-00B6-3321-A100ABCFFF27}"/>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CC6225CC-B365-FACF-D390-E386AA0E6987}"/>
              </a:ext>
            </a:extLst>
          </p:cNvPr>
          <p:cNvSpPr>
            <a:spLocks/>
          </p:cNvSpPr>
          <p:nvPr/>
        </p:nvSpPr>
        <p:spPr>
          <a:xfrm>
            <a:off x="628650" y="1085732"/>
            <a:ext cx="11082245" cy="4518330"/>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a:solidFill>
                <a:schemeClr val="tx1"/>
              </a:solidFill>
            </a:endParaRPr>
          </a:p>
        </p:txBody>
      </p:sp>
      <p:sp>
        <p:nvSpPr>
          <p:cNvPr id="2" name="Title 1">
            <a:extLst>
              <a:ext uri="{FF2B5EF4-FFF2-40B4-BE49-F238E27FC236}">
                <a16:creationId xmlns:a16="http://schemas.microsoft.com/office/drawing/2014/main" id="{0065EAC4-7AE3-19BE-4506-8E10E701FE40}"/>
              </a:ext>
            </a:extLst>
          </p:cNvPr>
          <p:cNvSpPr>
            <a:spLocks noGrp="1"/>
          </p:cNvSpPr>
          <p:nvPr>
            <p:ph type="title"/>
          </p:nvPr>
        </p:nvSpPr>
        <p:spPr>
          <a:xfrm>
            <a:off x="626269" y="493776"/>
            <a:ext cx="10939462" cy="804672"/>
          </a:xfrm>
        </p:spPr>
        <p:txBody>
          <a:bodyPr lIns="91440" tIns="45720" rIns="91440" bIns="45720" anchor="t"/>
          <a:lstStyle/>
          <a:p>
            <a:r>
              <a:rPr lang="en-IN" dirty="0"/>
              <a:t>Target Markets upcoming webinars</a:t>
            </a:r>
            <a:endParaRPr lang="en-US" dirty="0"/>
          </a:p>
        </p:txBody>
      </p:sp>
      <p:sp>
        <p:nvSpPr>
          <p:cNvPr id="33" name="Rectangle 32">
            <a:extLst>
              <a:ext uri="{FF2B5EF4-FFF2-40B4-BE49-F238E27FC236}">
                <a16:creationId xmlns:a16="http://schemas.microsoft.com/office/drawing/2014/main" id="{7BF6399A-43EF-2F24-92BB-E257EDD373BD}"/>
              </a:ext>
            </a:extLst>
          </p:cNvPr>
          <p:cNvSpPr>
            <a:spLocks/>
          </p:cNvSpPr>
          <p:nvPr/>
        </p:nvSpPr>
        <p:spPr>
          <a:xfrm>
            <a:off x="664435" y="1117363"/>
            <a:ext cx="5421630" cy="448460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Slide Number Placeholder 50">
            <a:extLst>
              <a:ext uri="{FF2B5EF4-FFF2-40B4-BE49-F238E27FC236}">
                <a16:creationId xmlns:a16="http://schemas.microsoft.com/office/drawing/2014/main" id="{7EDB93FF-A39B-77FE-8F58-2E3563F2691D}"/>
              </a:ext>
            </a:extLst>
          </p:cNvPr>
          <p:cNvSpPr>
            <a:spLocks noGrp="1"/>
          </p:cNvSpPr>
          <p:nvPr>
            <p:ph type="sldNum" sz="quarter" idx="10"/>
          </p:nvPr>
        </p:nvSpPr>
        <p:spPr/>
        <p:txBody>
          <a:bodyPr/>
          <a:lstStyle/>
          <a:p>
            <a:fld id="{A1371F83-EA4D-3B47-99B9-95D90583DC1D}" type="slidenum">
              <a:rPr lang="en-US" smtClean="0"/>
              <a:pPr/>
              <a:t>8</a:t>
            </a:fld>
            <a:endParaRPr lang="en-US"/>
          </a:p>
        </p:txBody>
      </p:sp>
      <p:grpSp>
        <p:nvGrpSpPr>
          <p:cNvPr id="12" name="Group 11">
            <a:extLst>
              <a:ext uri="{FF2B5EF4-FFF2-40B4-BE49-F238E27FC236}">
                <a16:creationId xmlns:a16="http://schemas.microsoft.com/office/drawing/2014/main" id="{FB044AFC-156E-0BC7-58F1-EE3CD389240F}"/>
              </a:ext>
            </a:extLst>
          </p:cNvPr>
          <p:cNvGrpSpPr/>
          <p:nvPr/>
        </p:nvGrpSpPr>
        <p:grpSpPr>
          <a:xfrm>
            <a:off x="4118651" y="3529667"/>
            <a:ext cx="1920240" cy="2011680"/>
            <a:chOff x="4089216" y="3935692"/>
            <a:chExt cx="1920240" cy="2011680"/>
          </a:xfrm>
        </p:grpSpPr>
        <p:sp>
          <p:nvSpPr>
            <p:cNvPr id="4" name="Rectangle 3">
              <a:extLst>
                <a:ext uri="{FF2B5EF4-FFF2-40B4-BE49-F238E27FC236}">
                  <a16:creationId xmlns:a16="http://schemas.microsoft.com/office/drawing/2014/main" id="{7371ED61-D938-8330-80F6-E673F665B99F}"/>
                </a:ext>
              </a:extLst>
            </p:cNvPr>
            <p:cNvSpPr/>
            <p:nvPr/>
          </p:nvSpPr>
          <p:spPr bwMode="ltGray">
            <a:xfrm>
              <a:off x="4089216" y="3935692"/>
              <a:ext cx="1920240" cy="2011680"/>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11" name="TextBox 10">
              <a:extLst>
                <a:ext uri="{FF2B5EF4-FFF2-40B4-BE49-F238E27FC236}">
                  <a16:creationId xmlns:a16="http://schemas.microsoft.com/office/drawing/2014/main" id="{B6BF4C2A-8C88-07B1-066B-3531C8979DE0}"/>
                </a:ext>
              </a:extLst>
            </p:cNvPr>
            <p:cNvSpPr txBox="1"/>
            <p:nvPr/>
          </p:nvSpPr>
          <p:spPr>
            <a:xfrm>
              <a:off x="4196642" y="4209991"/>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a:ea typeface="+mn-ea"/>
                  <a:cs typeface="+mn-cs"/>
                </a:rPr>
                <a:t>Scan the QR code to register today!</a:t>
              </a:r>
            </a:p>
          </p:txBody>
        </p:sp>
        <p:sp>
          <p:nvSpPr>
            <p:cNvPr id="13" name="Isosceles Triangle 12">
              <a:extLst>
                <a:ext uri="{FF2B5EF4-FFF2-40B4-BE49-F238E27FC236}">
                  <a16:creationId xmlns:a16="http://schemas.microsoft.com/office/drawing/2014/main" id="{6DC688EE-072F-914F-7A1B-36F7FA96A446}"/>
                </a:ext>
              </a:extLst>
            </p:cNvPr>
            <p:cNvSpPr/>
            <p:nvPr/>
          </p:nvSpPr>
          <p:spPr bwMode="ltGray">
            <a:xfrm rot="5400000">
              <a:off x="4258484" y="523628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algn="ctr"/>
              <a:endParaRPr lang="en-US"/>
            </a:p>
          </p:txBody>
        </p:sp>
        <p:pic>
          <p:nvPicPr>
            <p:cNvPr id="1028" name="Picture 4">
              <a:extLst>
                <a:ext uri="{FF2B5EF4-FFF2-40B4-BE49-F238E27FC236}">
                  <a16:creationId xmlns:a16="http://schemas.microsoft.com/office/drawing/2014/main" id="{65B9176F-94A5-1A60-1075-3ED9ED1AC7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4950368" y="4868998"/>
              <a:ext cx="942975" cy="9429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6FD070B1-2309-73EE-2DE0-15C23316C301}"/>
              </a:ext>
            </a:extLst>
          </p:cNvPr>
          <p:cNvGrpSpPr/>
          <p:nvPr/>
        </p:nvGrpSpPr>
        <p:grpSpPr>
          <a:xfrm>
            <a:off x="4118652" y="1268426"/>
            <a:ext cx="1899649" cy="2014519"/>
            <a:chOff x="4089217" y="1656522"/>
            <a:chExt cx="1899649" cy="2014519"/>
          </a:xfrm>
        </p:grpSpPr>
        <p:sp>
          <p:nvSpPr>
            <p:cNvPr id="6" name="Rectangle 5">
              <a:extLst>
                <a:ext uri="{FF2B5EF4-FFF2-40B4-BE49-F238E27FC236}">
                  <a16:creationId xmlns:a16="http://schemas.microsoft.com/office/drawing/2014/main" id="{D0280767-A2C6-4B96-96BC-67C1FDE4BD23}"/>
                </a:ext>
              </a:extLst>
            </p:cNvPr>
            <p:cNvSpPr/>
            <p:nvPr/>
          </p:nvSpPr>
          <p:spPr bwMode="ltGray">
            <a:xfrm>
              <a:off x="4089217" y="1656522"/>
              <a:ext cx="1899649" cy="2014519"/>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7" name="TextBox 6">
              <a:extLst>
                <a:ext uri="{FF2B5EF4-FFF2-40B4-BE49-F238E27FC236}">
                  <a16:creationId xmlns:a16="http://schemas.microsoft.com/office/drawing/2014/main" id="{E997F868-EC77-B546-6BD5-BF9CFA62394A}"/>
                </a:ext>
              </a:extLst>
            </p:cNvPr>
            <p:cNvSpPr txBox="1"/>
            <p:nvPr/>
          </p:nvSpPr>
          <p:spPr>
            <a:xfrm>
              <a:off x="4256651" y="1913636"/>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a:ea typeface="+mn-ea"/>
                  <a:cs typeface="+mn-cs"/>
                </a:rPr>
                <a:t>Scan the QR code to register today!</a:t>
              </a:r>
            </a:p>
          </p:txBody>
        </p:sp>
        <p:sp>
          <p:nvSpPr>
            <p:cNvPr id="8" name="Isosceles Triangle 7">
              <a:extLst>
                <a:ext uri="{FF2B5EF4-FFF2-40B4-BE49-F238E27FC236}">
                  <a16:creationId xmlns:a16="http://schemas.microsoft.com/office/drawing/2014/main" id="{DC42CC51-87B7-2E34-2FD4-9C0102702F55}"/>
                </a:ext>
              </a:extLst>
            </p:cNvPr>
            <p:cNvSpPr/>
            <p:nvPr/>
          </p:nvSpPr>
          <p:spPr bwMode="ltGray">
            <a:xfrm rot="5400000">
              <a:off x="4258484" y="299327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algn="ctr"/>
              <a:endParaRPr lang="en-US"/>
            </a:p>
          </p:txBody>
        </p:sp>
        <p:pic>
          <p:nvPicPr>
            <p:cNvPr id="9" name="Picture 4">
              <a:extLst>
                <a:ext uri="{FF2B5EF4-FFF2-40B4-BE49-F238E27FC236}">
                  <a16:creationId xmlns:a16="http://schemas.microsoft.com/office/drawing/2014/main" id="{ABC7A364-14E5-DC54-36F3-758514CB304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4950368" y="2625995"/>
              <a:ext cx="942975" cy="9429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64874161-A354-670D-6C7F-BA148F620A8A}"/>
              </a:ext>
            </a:extLst>
          </p:cNvPr>
          <p:cNvGrpSpPr/>
          <p:nvPr/>
        </p:nvGrpSpPr>
        <p:grpSpPr>
          <a:xfrm>
            <a:off x="9630634" y="3509915"/>
            <a:ext cx="1923647" cy="2011680"/>
            <a:chOff x="4065219" y="3915941"/>
            <a:chExt cx="1923647" cy="2011680"/>
          </a:xfrm>
        </p:grpSpPr>
        <p:sp>
          <p:nvSpPr>
            <p:cNvPr id="21" name="Rectangle 20">
              <a:extLst>
                <a:ext uri="{FF2B5EF4-FFF2-40B4-BE49-F238E27FC236}">
                  <a16:creationId xmlns:a16="http://schemas.microsoft.com/office/drawing/2014/main" id="{C8D2C346-D78C-7BA3-615B-D13A8EFC4FE5}"/>
                </a:ext>
              </a:extLst>
            </p:cNvPr>
            <p:cNvSpPr/>
            <p:nvPr/>
          </p:nvSpPr>
          <p:spPr bwMode="ltGray">
            <a:xfrm>
              <a:off x="4065219" y="3915941"/>
              <a:ext cx="1923647" cy="2011680"/>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23" name="TextBox 22">
              <a:extLst>
                <a:ext uri="{FF2B5EF4-FFF2-40B4-BE49-F238E27FC236}">
                  <a16:creationId xmlns:a16="http://schemas.microsoft.com/office/drawing/2014/main" id="{78FCD6A6-BFC9-B485-8643-D576D046D88C}"/>
                </a:ext>
              </a:extLst>
            </p:cNvPr>
            <p:cNvSpPr txBox="1"/>
            <p:nvPr/>
          </p:nvSpPr>
          <p:spPr>
            <a:xfrm>
              <a:off x="4176704" y="4206988"/>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a:ea typeface="+mn-ea"/>
                  <a:cs typeface="+mn-cs"/>
                </a:rPr>
                <a:t>Scan the QR code to register today!</a:t>
              </a:r>
            </a:p>
          </p:txBody>
        </p:sp>
        <p:sp>
          <p:nvSpPr>
            <p:cNvPr id="25" name="Isosceles Triangle 24">
              <a:extLst>
                <a:ext uri="{FF2B5EF4-FFF2-40B4-BE49-F238E27FC236}">
                  <a16:creationId xmlns:a16="http://schemas.microsoft.com/office/drawing/2014/main" id="{17E67264-D754-38C0-5ED2-9D9764CBB50F}"/>
                </a:ext>
              </a:extLst>
            </p:cNvPr>
            <p:cNvSpPr/>
            <p:nvPr/>
          </p:nvSpPr>
          <p:spPr bwMode="ltGray">
            <a:xfrm rot="5400000">
              <a:off x="4258484" y="523628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algn="ctr"/>
              <a:endParaRPr lang="en-US"/>
            </a:p>
          </p:txBody>
        </p:sp>
        <p:pic>
          <p:nvPicPr>
            <p:cNvPr id="27" name="Picture 4">
              <a:extLst>
                <a:ext uri="{FF2B5EF4-FFF2-40B4-BE49-F238E27FC236}">
                  <a16:creationId xmlns:a16="http://schemas.microsoft.com/office/drawing/2014/main" id="{808819F3-3A5A-2640-27EF-7356475A552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p:blipFill>
          <p:spPr bwMode="auto">
            <a:xfrm>
              <a:off x="4950368" y="4868998"/>
              <a:ext cx="942975" cy="9429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B30C8C22-D3F5-4BF9-6A63-A7C407CEC060}"/>
              </a:ext>
            </a:extLst>
          </p:cNvPr>
          <p:cNvGrpSpPr/>
          <p:nvPr/>
        </p:nvGrpSpPr>
        <p:grpSpPr>
          <a:xfrm>
            <a:off x="9630635" y="1268426"/>
            <a:ext cx="1919670" cy="2014520"/>
            <a:chOff x="4069197" y="1656522"/>
            <a:chExt cx="1919670" cy="2014520"/>
          </a:xfrm>
        </p:grpSpPr>
        <p:sp>
          <p:nvSpPr>
            <p:cNvPr id="29" name="Rectangle 28">
              <a:extLst>
                <a:ext uri="{FF2B5EF4-FFF2-40B4-BE49-F238E27FC236}">
                  <a16:creationId xmlns:a16="http://schemas.microsoft.com/office/drawing/2014/main" id="{4289BD96-75BB-2C0C-4CFE-A08BE657188E}"/>
                </a:ext>
              </a:extLst>
            </p:cNvPr>
            <p:cNvSpPr/>
            <p:nvPr/>
          </p:nvSpPr>
          <p:spPr bwMode="ltGray">
            <a:xfrm>
              <a:off x="4069197" y="1656522"/>
              <a:ext cx="1919670" cy="2014520"/>
            </a:xfrm>
            <a:prstGeom prst="rect">
              <a:avLst/>
            </a:prstGeom>
            <a:solidFill>
              <a:schemeClr val="accent3">
                <a:alpha val="7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Geneva" pitchFamily="-109" charset="-128"/>
                <a:cs typeface="+mn-cs"/>
              </a:endParaRPr>
            </a:p>
          </p:txBody>
        </p:sp>
        <p:sp>
          <p:nvSpPr>
            <p:cNvPr id="30" name="TextBox 29">
              <a:extLst>
                <a:ext uri="{FF2B5EF4-FFF2-40B4-BE49-F238E27FC236}">
                  <a16:creationId xmlns:a16="http://schemas.microsoft.com/office/drawing/2014/main" id="{D80FBDD0-3F60-134E-AA76-7872773CD9B4}"/>
                </a:ext>
              </a:extLst>
            </p:cNvPr>
            <p:cNvSpPr txBox="1"/>
            <p:nvPr/>
          </p:nvSpPr>
          <p:spPr>
            <a:xfrm>
              <a:off x="4200619" y="1888960"/>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a:ea typeface="+mn-ea"/>
                  <a:cs typeface="+mn-cs"/>
                </a:rPr>
                <a:t>Scan the QR code to register today!</a:t>
              </a:r>
            </a:p>
          </p:txBody>
        </p:sp>
        <p:sp>
          <p:nvSpPr>
            <p:cNvPr id="31" name="Isosceles Triangle 30">
              <a:extLst>
                <a:ext uri="{FF2B5EF4-FFF2-40B4-BE49-F238E27FC236}">
                  <a16:creationId xmlns:a16="http://schemas.microsoft.com/office/drawing/2014/main" id="{3CA939C9-8941-5A1D-24FD-FF572DF3F5BF}"/>
                </a:ext>
              </a:extLst>
            </p:cNvPr>
            <p:cNvSpPr/>
            <p:nvPr/>
          </p:nvSpPr>
          <p:spPr bwMode="ltGray">
            <a:xfrm rot="5400000">
              <a:off x="4258484" y="299327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algn="ctr"/>
              <a:endParaRPr lang="en-US"/>
            </a:p>
          </p:txBody>
        </p:sp>
        <p:pic>
          <p:nvPicPr>
            <p:cNvPr id="32" name="Picture 4">
              <a:extLst>
                <a:ext uri="{FF2B5EF4-FFF2-40B4-BE49-F238E27FC236}">
                  <a16:creationId xmlns:a16="http://schemas.microsoft.com/office/drawing/2014/main" id="{4D47B3B6-8580-00C2-B907-73552B54EBC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p:blipFill>
          <p:spPr bwMode="auto">
            <a:xfrm>
              <a:off x="4950368" y="2625995"/>
              <a:ext cx="942975" cy="942975"/>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Text Placeholder 3">
            <a:extLst>
              <a:ext uri="{FF2B5EF4-FFF2-40B4-BE49-F238E27FC236}">
                <a16:creationId xmlns:a16="http://schemas.microsoft.com/office/drawing/2014/main" id="{9713A82F-63F9-04B7-39FA-2EEAE7C103D1}"/>
              </a:ext>
            </a:extLst>
          </p:cNvPr>
          <p:cNvSpPr txBox="1">
            <a:spLocks/>
          </p:cNvSpPr>
          <p:nvPr/>
        </p:nvSpPr>
        <p:spPr>
          <a:xfrm>
            <a:off x="801595" y="1298448"/>
            <a:ext cx="5147310"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b="1">
                <a:latin typeface="+mn-lt"/>
                <a:ea typeface="Geneva"/>
                <a:cs typeface="Geneva" charset="0"/>
              </a:rPr>
              <a:t>AAMU Strong: </a:t>
            </a:r>
            <a:br>
              <a:rPr lang="en-US" sz="1400" b="1">
                <a:latin typeface="+mn-lt"/>
                <a:ea typeface="Geneva"/>
                <a:cs typeface="Geneva" charset="0"/>
              </a:rPr>
            </a:br>
            <a:r>
              <a:rPr lang="en-US" sz="1400" b="1">
                <a:latin typeface="+mn-lt"/>
                <a:ea typeface="Geneva"/>
                <a:cs typeface="Geneva" charset="0"/>
              </a:rPr>
              <a:t>Council Close</a:t>
            </a:r>
            <a:br>
              <a:rPr lang="en-US" sz="1400" b="1">
                <a:latin typeface="+mn-lt"/>
                <a:ea typeface="Geneva" charset="0"/>
                <a:cs typeface="Geneva" charset="0"/>
              </a:rPr>
            </a:br>
            <a:endParaRPr lang="en-US" sz="800" b="1">
              <a:latin typeface="+mn-lt"/>
              <a:ea typeface="Geneva" charset="0"/>
              <a:cs typeface="Geneva" charset="0"/>
            </a:endParaRPr>
          </a:p>
          <a:p>
            <a:pPr marL="0" indent="0">
              <a:buNone/>
            </a:pPr>
            <a:r>
              <a:rPr lang="en-US" sz="1400">
                <a:solidFill>
                  <a:srgbClr val="000962"/>
                </a:solidFill>
                <a:latin typeface="+mn-lt"/>
                <a:ea typeface="Geneva"/>
                <a:cs typeface="Geneva" charset="0"/>
              </a:rPr>
              <a:t>Monday, May 18, 4 pm ET</a:t>
            </a:r>
          </a:p>
          <a:p>
            <a:pPr marL="0" indent="0">
              <a:buNone/>
            </a:pPr>
            <a:endParaRPr lang="en-US" sz="1600" b="1">
              <a:solidFill>
                <a:srgbClr val="000962"/>
              </a:solidFill>
              <a:latin typeface="+mn-lt"/>
              <a:ea typeface="Geneva"/>
              <a:cs typeface="Geneva" charset="0"/>
            </a:endParaRPr>
          </a:p>
          <a:p>
            <a:pPr marL="0" indent="0">
              <a:buNone/>
            </a:pPr>
            <a:r>
              <a:rPr lang="en-US" sz="1600" b="1">
                <a:solidFill>
                  <a:srgbClr val="000962"/>
                </a:solidFill>
                <a:latin typeface="+mn-lt"/>
                <a:ea typeface="Geneva"/>
                <a:cs typeface="Geneva" charset="0"/>
              </a:rPr>
              <a:t>   </a:t>
            </a:r>
            <a:endParaRPr lang="en-US" sz="1600">
              <a:solidFill>
                <a:srgbClr val="000962"/>
              </a:solidFill>
              <a:latin typeface="+mn-lt"/>
              <a:ea typeface="Geneva"/>
              <a:cs typeface="Arial"/>
            </a:endParaRPr>
          </a:p>
          <a:p>
            <a:pPr marL="0" indent="0">
              <a:spcBef>
                <a:spcPts val="600"/>
              </a:spcBef>
              <a:buNone/>
            </a:pPr>
            <a:endParaRPr lang="en-US" sz="1600">
              <a:solidFill>
                <a:schemeClr val="accent4"/>
              </a:solidFill>
              <a:latin typeface="+mn-lt"/>
              <a:ea typeface="Geneva"/>
              <a:cs typeface="Geneva" charset="0"/>
            </a:endParaRPr>
          </a:p>
        </p:txBody>
      </p:sp>
      <p:sp>
        <p:nvSpPr>
          <p:cNvPr id="38" name="Rectangle 37">
            <a:extLst>
              <a:ext uri="{FF2B5EF4-FFF2-40B4-BE49-F238E27FC236}">
                <a16:creationId xmlns:a16="http://schemas.microsoft.com/office/drawing/2014/main" id="{A13E8206-522D-D8FE-DF4F-2697AFEC51BC}"/>
              </a:ext>
            </a:extLst>
          </p:cNvPr>
          <p:cNvSpPr>
            <a:spLocks/>
          </p:cNvSpPr>
          <p:nvPr/>
        </p:nvSpPr>
        <p:spPr>
          <a:xfrm>
            <a:off x="6196927" y="1110271"/>
            <a:ext cx="5421630" cy="449169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1" name="Straight Connector 40">
            <a:extLst>
              <a:ext uri="{FF2B5EF4-FFF2-40B4-BE49-F238E27FC236}">
                <a16:creationId xmlns:a16="http://schemas.microsoft.com/office/drawing/2014/main" id="{1E2F4EB4-5AE7-5C8E-732A-4958575BF6C5}"/>
              </a:ext>
            </a:extLst>
          </p:cNvPr>
          <p:cNvCxnSpPr/>
          <p:nvPr/>
        </p:nvCxnSpPr>
        <p:spPr>
          <a:xfrm>
            <a:off x="678329" y="3392936"/>
            <a:ext cx="542239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17E5624-51AA-6004-C198-970617E441EE}"/>
              </a:ext>
            </a:extLst>
          </p:cNvPr>
          <p:cNvCxnSpPr/>
          <p:nvPr/>
        </p:nvCxnSpPr>
        <p:spPr>
          <a:xfrm>
            <a:off x="6203655" y="3392936"/>
            <a:ext cx="542239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4" name="Text Placeholder 3">
            <a:extLst>
              <a:ext uri="{FF2B5EF4-FFF2-40B4-BE49-F238E27FC236}">
                <a16:creationId xmlns:a16="http://schemas.microsoft.com/office/drawing/2014/main" id="{3C870B65-E3EF-B452-8532-A38A03D87069}"/>
              </a:ext>
            </a:extLst>
          </p:cNvPr>
          <p:cNvSpPr txBox="1">
            <a:spLocks/>
          </p:cNvSpPr>
          <p:nvPr/>
        </p:nvSpPr>
        <p:spPr>
          <a:xfrm>
            <a:off x="6327926" y="1298448"/>
            <a:ext cx="5147310"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b="1"/>
              <a:t>Korean Market Agents Resource Lab</a:t>
            </a:r>
            <a:br>
              <a:rPr lang="en-US" sz="1400" b="1">
                <a:ea typeface="Geneva" charset="0"/>
                <a:cs typeface="Geneva" charset="0"/>
              </a:rPr>
            </a:br>
            <a:endParaRPr lang="en-US" sz="800" b="1">
              <a:ea typeface="Geneva" charset="0"/>
              <a:cs typeface="Geneva" charset="0"/>
            </a:endParaRPr>
          </a:p>
          <a:p>
            <a:pPr marL="0" indent="0">
              <a:buNone/>
            </a:pPr>
            <a:r>
              <a:rPr lang="en-US" sz="1400">
                <a:solidFill>
                  <a:srgbClr val="000962"/>
                </a:solidFill>
                <a:ea typeface="Geneva"/>
                <a:cs typeface="Geneva" charset="0"/>
              </a:rPr>
              <a:t>Monday, May</a:t>
            </a:r>
            <a:r>
              <a:rPr lang="en-US" sz="1400"/>
              <a:t> 18</a:t>
            </a:r>
            <a:r>
              <a:rPr lang="en-US" sz="1400">
                <a:solidFill>
                  <a:srgbClr val="000962"/>
                </a:solidFill>
                <a:ea typeface="Geneva"/>
                <a:cs typeface="Geneva" charset="0"/>
              </a:rPr>
              <a:t>, 6 pm ET</a:t>
            </a:r>
          </a:p>
          <a:p>
            <a:pPr marL="0" indent="0">
              <a:buNone/>
            </a:pPr>
            <a:r>
              <a:rPr lang="en-US" sz="1600" b="1">
                <a:solidFill>
                  <a:srgbClr val="000962"/>
                </a:solidFill>
                <a:ea typeface="Geneva"/>
                <a:cs typeface="Geneva" charset="0"/>
              </a:rPr>
              <a:t>  </a:t>
            </a:r>
            <a:endParaRPr lang="en-US" sz="1600">
              <a:solidFill>
                <a:srgbClr val="000962"/>
              </a:solidFill>
              <a:ea typeface="Geneva"/>
              <a:cs typeface="Arial"/>
            </a:endParaRPr>
          </a:p>
        </p:txBody>
      </p:sp>
      <p:sp>
        <p:nvSpPr>
          <p:cNvPr id="45" name="Text Placeholder 3">
            <a:extLst>
              <a:ext uri="{FF2B5EF4-FFF2-40B4-BE49-F238E27FC236}">
                <a16:creationId xmlns:a16="http://schemas.microsoft.com/office/drawing/2014/main" id="{782F5ECD-3998-BDD3-7669-0F4792D6F528}"/>
              </a:ext>
            </a:extLst>
          </p:cNvPr>
          <p:cNvSpPr txBox="1">
            <a:spLocks/>
          </p:cNvSpPr>
          <p:nvPr/>
        </p:nvSpPr>
        <p:spPr>
          <a:xfrm>
            <a:off x="792570" y="3604158"/>
            <a:ext cx="5147310"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b="1">
                <a:ea typeface="Calibri"/>
                <a:cs typeface="Calibri"/>
              </a:rPr>
              <a:t>South Asian Market Key to Success</a:t>
            </a:r>
            <a:br>
              <a:rPr lang="en-US" sz="1400" b="1">
                <a:ea typeface="Geneva" charset="0"/>
                <a:cs typeface="Geneva" charset="0"/>
              </a:rPr>
            </a:br>
            <a:endParaRPr lang="en-US" sz="800" b="1">
              <a:ea typeface="Geneva" charset="0"/>
              <a:cs typeface="Geneva" charset="0"/>
            </a:endParaRPr>
          </a:p>
          <a:p>
            <a:pPr marL="0" indent="0">
              <a:buNone/>
            </a:pPr>
            <a:r>
              <a:rPr lang="en-US" sz="1400">
                <a:solidFill>
                  <a:srgbClr val="000962"/>
                </a:solidFill>
                <a:ea typeface="Geneva"/>
                <a:cs typeface="Geneva" charset="0"/>
              </a:rPr>
              <a:t>Monday, May</a:t>
            </a:r>
            <a:r>
              <a:rPr lang="en-US" sz="1400"/>
              <a:t> 18</a:t>
            </a:r>
            <a:r>
              <a:rPr lang="en-US" sz="1400">
                <a:solidFill>
                  <a:srgbClr val="000962"/>
                </a:solidFill>
                <a:ea typeface="Geneva"/>
                <a:cs typeface="Geneva" charset="0"/>
              </a:rPr>
              <a:t>, 4 pm ET</a:t>
            </a:r>
          </a:p>
        </p:txBody>
      </p:sp>
      <p:sp>
        <p:nvSpPr>
          <p:cNvPr id="46" name="Text Placeholder 3">
            <a:extLst>
              <a:ext uri="{FF2B5EF4-FFF2-40B4-BE49-F238E27FC236}">
                <a16:creationId xmlns:a16="http://schemas.microsoft.com/office/drawing/2014/main" id="{855F1215-89E4-4A7A-B263-94D7370E25E1}"/>
              </a:ext>
            </a:extLst>
          </p:cNvPr>
          <p:cNvSpPr txBox="1">
            <a:spLocks/>
          </p:cNvSpPr>
          <p:nvPr/>
        </p:nvSpPr>
        <p:spPr>
          <a:xfrm>
            <a:off x="6318901" y="3604158"/>
            <a:ext cx="5147310"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b="1">
                <a:ea typeface="Calibri"/>
                <a:cs typeface="Calibri"/>
              </a:rPr>
              <a:t>Vietnamese Market </a:t>
            </a:r>
            <a:br>
              <a:rPr lang="en-US" sz="1400" b="1">
                <a:ea typeface="Calibri"/>
                <a:cs typeface="Calibri"/>
              </a:rPr>
            </a:br>
            <a:r>
              <a:rPr lang="en-US" sz="1400" b="1">
                <a:ea typeface="Calibri"/>
                <a:cs typeface="Calibri"/>
              </a:rPr>
              <a:t>Business Development	</a:t>
            </a:r>
            <a:br>
              <a:rPr lang="en-US" sz="1400" b="1">
                <a:ea typeface="Geneva" charset="0"/>
                <a:cs typeface="Geneva" charset="0"/>
              </a:rPr>
            </a:br>
            <a:endParaRPr lang="en-US" sz="800" b="1">
              <a:ea typeface="Geneva" charset="0"/>
              <a:cs typeface="Geneva" charset="0"/>
            </a:endParaRPr>
          </a:p>
          <a:p>
            <a:pPr marL="0" indent="0">
              <a:buNone/>
            </a:pPr>
            <a:r>
              <a:rPr lang="en-US" sz="1400">
                <a:solidFill>
                  <a:srgbClr val="000962"/>
                </a:solidFill>
                <a:ea typeface="Geneva"/>
                <a:cs typeface="Geneva" charset="0"/>
              </a:rPr>
              <a:t>Monday, May</a:t>
            </a:r>
            <a:r>
              <a:rPr lang="en-US" sz="1400"/>
              <a:t> 18</a:t>
            </a:r>
            <a:r>
              <a:rPr lang="en-US" sz="1400">
                <a:solidFill>
                  <a:srgbClr val="000962"/>
                </a:solidFill>
                <a:ea typeface="Geneva"/>
                <a:cs typeface="Geneva" charset="0"/>
              </a:rPr>
              <a:t>, 4 pm ET</a:t>
            </a:r>
          </a:p>
        </p:txBody>
      </p:sp>
      <p:sp>
        <p:nvSpPr>
          <p:cNvPr id="3" name="Text Placeholder 3">
            <a:extLst>
              <a:ext uri="{FF2B5EF4-FFF2-40B4-BE49-F238E27FC236}">
                <a16:creationId xmlns:a16="http://schemas.microsoft.com/office/drawing/2014/main" id="{4FEE6981-CE0B-1958-D4D3-3247B2864F13}"/>
              </a:ext>
            </a:extLst>
          </p:cNvPr>
          <p:cNvSpPr txBox="1">
            <a:spLocks/>
          </p:cNvSpPr>
          <p:nvPr/>
        </p:nvSpPr>
        <p:spPr>
          <a:xfrm>
            <a:off x="815869" y="2210119"/>
            <a:ext cx="3302781" cy="104234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lvl="0" indent="0" defTabSz="914400" fontAlgn="auto">
              <a:spcBef>
                <a:spcPts val="0"/>
              </a:spcBef>
              <a:spcAft>
                <a:spcPts val="0"/>
              </a:spcAft>
              <a:buNone/>
              <a:defRPr/>
            </a:pPr>
            <a:r>
              <a:rPr lang="en-US" sz="1350"/>
              <a:t>As you close out towards Council, come hear some great ideas to help you get to the finish line or RISE to the next level!</a:t>
            </a:r>
          </a:p>
          <a:p>
            <a:pPr marL="0" lvl="0" indent="0" defTabSz="914400" fontAlgn="auto">
              <a:spcBef>
                <a:spcPts val="0"/>
              </a:spcBef>
              <a:spcAft>
                <a:spcPts val="0"/>
              </a:spcAft>
              <a:buNone/>
              <a:defRPr/>
            </a:pPr>
            <a:endParaRPr lang="en-US" sz="1350"/>
          </a:p>
        </p:txBody>
      </p:sp>
      <p:sp>
        <p:nvSpPr>
          <p:cNvPr id="5" name="Text Placeholder 3">
            <a:extLst>
              <a:ext uri="{FF2B5EF4-FFF2-40B4-BE49-F238E27FC236}">
                <a16:creationId xmlns:a16="http://schemas.microsoft.com/office/drawing/2014/main" id="{DB958811-6DAB-9156-AA7A-95FE4D900685}"/>
              </a:ext>
            </a:extLst>
          </p:cNvPr>
          <p:cNvSpPr txBox="1">
            <a:spLocks/>
          </p:cNvSpPr>
          <p:nvPr/>
        </p:nvSpPr>
        <p:spPr>
          <a:xfrm>
            <a:off x="6319805" y="2083155"/>
            <a:ext cx="3233386" cy="125698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ea typeface="Geneva" charset="0"/>
                <a:cs typeface="Geneva" charset="0"/>
              </a:rPr>
              <a:t>Monthly in-language training and development hour on tools and resources followed by Q&amp;A</a:t>
            </a:r>
          </a:p>
        </p:txBody>
      </p:sp>
      <p:sp>
        <p:nvSpPr>
          <p:cNvPr id="10" name="Text Placeholder 3">
            <a:extLst>
              <a:ext uri="{FF2B5EF4-FFF2-40B4-BE49-F238E27FC236}">
                <a16:creationId xmlns:a16="http://schemas.microsoft.com/office/drawing/2014/main" id="{B582658C-331C-9115-BB8E-D937F11D05E8}"/>
              </a:ext>
            </a:extLst>
          </p:cNvPr>
          <p:cNvSpPr txBox="1">
            <a:spLocks/>
          </p:cNvSpPr>
          <p:nvPr/>
        </p:nvSpPr>
        <p:spPr>
          <a:xfrm>
            <a:off x="824279" y="4361843"/>
            <a:ext cx="3183511" cy="125698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ea typeface="Geneva" charset="0"/>
                <a:cs typeface="Geneva" charset="0"/>
              </a:rPr>
              <a:t>Webinar designed to empower agents with actionable strategies, industry insights and opportunities to elevate their business.</a:t>
            </a:r>
            <a:endParaRPr lang="en-US" sz="1400">
              <a:solidFill>
                <a:srgbClr val="000962"/>
              </a:solidFill>
              <a:ea typeface="Geneva"/>
              <a:cs typeface="Geneva" charset="0"/>
            </a:endParaRPr>
          </a:p>
        </p:txBody>
      </p:sp>
      <p:sp>
        <p:nvSpPr>
          <p:cNvPr id="15" name="Text Placeholder 3">
            <a:extLst>
              <a:ext uri="{FF2B5EF4-FFF2-40B4-BE49-F238E27FC236}">
                <a16:creationId xmlns:a16="http://schemas.microsoft.com/office/drawing/2014/main" id="{425B5A6B-B92F-DCCB-1440-A442F0556391}"/>
              </a:ext>
            </a:extLst>
          </p:cNvPr>
          <p:cNvSpPr txBox="1">
            <a:spLocks/>
          </p:cNvSpPr>
          <p:nvPr/>
        </p:nvSpPr>
        <p:spPr>
          <a:xfrm>
            <a:off x="6327926" y="4568566"/>
            <a:ext cx="3233386" cy="125698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err="1"/>
              <a:t>ClientMine</a:t>
            </a:r>
            <a:r>
              <a:rPr lang="en-US" sz="1400"/>
              <a:t>: Identify the planning gaps</a:t>
            </a:r>
            <a:endParaRPr lang="en-US" sz="1400">
              <a:solidFill>
                <a:srgbClr val="000962"/>
              </a:solidFill>
              <a:ea typeface="Geneva"/>
              <a:cs typeface="Geneva" charset="0"/>
            </a:endParaRPr>
          </a:p>
        </p:txBody>
      </p:sp>
    </p:spTree>
    <p:extLst>
      <p:ext uri="{BB962C8B-B14F-4D97-AF65-F5344CB8AC3E}">
        <p14:creationId xmlns:p14="http://schemas.microsoft.com/office/powerpoint/2010/main" val="349631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AECF6-BAC8-CE73-3E8F-E50C348235F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B2C289F-0D64-57DE-E357-DD5DEC3670EB}"/>
              </a:ext>
            </a:extLst>
          </p:cNvPr>
          <p:cNvSpPr/>
          <p:nvPr/>
        </p:nvSpPr>
        <p:spPr bwMode="ltGray">
          <a:xfrm>
            <a:off x="5763823" y="5039113"/>
            <a:ext cx="5461460" cy="901483"/>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4" name="Rectangle 3">
            <a:extLst>
              <a:ext uri="{FF2B5EF4-FFF2-40B4-BE49-F238E27FC236}">
                <a16:creationId xmlns:a16="http://schemas.microsoft.com/office/drawing/2014/main" id="{EF701FE4-E514-CA90-3524-49C0BB9F0112}"/>
              </a:ext>
            </a:extLst>
          </p:cNvPr>
          <p:cNvSpPr>
            <a:spLocks/>
          </p:cNvSpPr>
          <p:nvPr/>
        </p:nvSpPr>
        <p:spPr>
          <a:xfrm>
            <a:off x="0" y="1063429"/>
            <a:ext cx="12192000" cy="3919035"/>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dirty="0">
              <a:solidFill>
                <a:schemeClr val="tx1"/>
              </a:solidFill>
            </a:endParaRPr>
          </a:p>
        </p:txBody>
      </p:sp>
      <p:sp>
        <p:nvSpPr>
          <p:cNvPr id="2" name="Title 1">
            <a:extLst>
              <a:ext uri="{FF2B5EF4-FFF2-40B4-BE49-F238E27FC236}">
                <a16:creationId xmlns:a16="http://schemas.microsoft.com/office/drawing/2014/main" id="{4C93C838-7A5A-1EC6-B872-22848F6ED552}"/>
              </a:ext>
            </a:extLst>
          </p:cNvPr>
          <p:cNvSpPr>
            <a:spLocks noGrp="1"/>
          </p:cNvSpPr>
          <p:nvPr>
            <p:ph type="title"/>
          </p:nvPr>
        </p:nvSpPr>
        <p:spPr>
          <a:xfrm>
            <a:off x="533801" y="174276"/>
            <a:ext cx="10939462" cy="1000000"/>
          </a:xfrm>
        </p:spPr>
        <p:txBody>
          <a:bodyPr lIns="91440" tIns="45720" rIns="91440" bIns="45720" anchor="t"/>
          <a:lstStyle/>
          <a:p>
            <a:r>
              <a:rPr lang="en-US" dirty="0"/>
              <a:t>Capture benefits faster with Discovery simplified</a:t>
            </a:r>
          </a:p>
          <a:p>
            <a:r>
              <a:rPr lang="en-US" sz="2200" b="0" dirty="0">
                <a:solidFill>
                  <a:schemeClr val="tx1"/>
                </a:solidFill>
              </a:rPr>
              <a:t>Employer contributions and 401(k) match rules now auto-calculate</a:t>
            </a:r>
            <a:r>
              <a:rPr lang="en-US" sz="2200">
                <a:solidFill>
                  <a:schemeClr val="tx1"/>
                </a:solidFill>
              </a:rPr>
              <a:t> </a:t>
            </a:r>
            <a:endParaRPr lang="en-US" sz="2200" b="0" dirty="0">
              <a:solidFill>
                <a:schemeClr val="tx1"/>
              </a:solidFill>
            </a:endParaRPr>
          </a:p>
        </p:txBody>
      </p:sp>
      <p:sp>
        <p:nvSpPr>
          <p:cNvPr id="51" name="Slide Number Placeholder 50">
            <a:extLst>
              <a:ext uri="{FF2B5EF4-FFF2-40B4-BE49-F238E27FC236}">
                <a16:creationId xmlns:a16="http://schemas.microsoft.com/office/drawing/2014/main" id="{17682739-2A61-B052-0A93-3AFC3FE76BE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10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4" name="TextBox 23">
            <a:extLst>
              <a:ext uri="{FF2B5EF4-FFF2-40B4-BE49-F238E27FC236}">
                <a16:creationId xmlns:a16="http://schemas.microsoft.com/office/drawing/2014/main" id="{B475FAE9-3C9E-9F09-8C60-ACA1B82F652B}"/>
              </a:ext>
            </a:extLst>
          </p:cNvPr>
          <p:cNvSpPr txBox="1"/>
          <p:nvPr/>
        </p:nvSpPr>
        <p:spPr>
          <a:xfrm>
            <a:off x="5817448" y="4711740"/>
            <a:ext cx="3068471" cy="21544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8FF"/>
                </a:solidFill>
                <a:effectLst/>
                <a:uLnTx/>
                <a:uFillTx/>
                <a:latin typeface="Arial"/>
                <a:ea typeface="+mn-ea"/>
                <a:cs typeface="+mn-cs"/>
              </a:rPr>
              <a:t>.</a:t>
            </a:r>
          </a:p>
        </p:txBody>
      </p:sp>
      <p:pic>
        <p:nvPicPr>
          <p:cNvPr id="20" name="Picture 19">
            <a:extLst>
              <a:ext uri="{FF2B5EF4-FFF2-40B4-BE49-F238E27FC236}">
                <a16:creationId xmlns:a16="http://schemas.microsoft.com/office/drawing/2014/main" id="{5F47F0B8-C9A5-2578-95EC-763D24CF9F52}"/>
              </a:ext>
            </a:extLst>
          </p:cNvPr>
          <p:cNvPicPr>
            <a:picLocks noChangeAspect="1"/>
          </p:cNvPicPr>
          <p:nvPr/>
        </p:nvPicPr>
        <p:blipFill>
          <a:blip r:embed="rId3"/>
          <a:stretch>
            <a:fillRect/>
          </a:stretch>
        </p:blipFill>
        <p:spPr>
          <a:xfrm>
            <a:off x="580649" y="1319822"/>
            <a:ext cx="3587336" cy="4620295"/>
          </a:xfrm>
          <a:prstGeom prst="rect">
            <a:avLst/>
          </a:prstGeom>
        </p:spPr>
      </p:pic>
      <p:sp>
        <p:nvSpPr>
          <p:cNvPr id="9" name="TextBox 8">
            <a:extLst>
              <a:ext uri="{FF2B5EF4-FFF2-40B4-BE49-F238E27FC236}">
                <a16:creationId xmlns:a16="http://schemas.microsoft.com/office/drawing/2014/main" id="{915F5A7F-DC57-7FB0-FCD4-7EA2E0BBBF80}"/>
              </a:ext>
            </a:extLst>
          </p:cNvPr>
          <p:cNvSpPr txBox="1"/>
          <p:nvPr/>
        </p:nvSpPr>
        <p:spPr>
          <a:xfrm>
            <a:off x="2692881" y="1926996"/>
            <a:ext cx="2221787" cy="584775"/>
          </a:xfrm>
          <a:prstGeom prst="rect">
            <a:avLst/>
          </a:prstGeom>
          <a:noFill/>
        </p:spPr>
        <p:txBody>
          <a:bodyPr wrap="square">
            <a:spAutoFit/>
          </a:bodyPr>
          <a:lstStyle/>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br>
              <a:rPr kumimoji="0" lang="en-US" sz="1600" b="1" i="0" u="none" strike="noStrike" kern="1200" cap="none" spc="0" normalizeH="0" baseline="0" noProof="0">
                <a:ln>
                  <a:noFill/>
                </a:ln>
                <a:solidFill>
                  <a:srgbClr val="000962"/>
                </a:solidFill>
                <a:effectLst/>
                <a:uLnTx/>
                <a:uFillTx/>
                <a:latin typeface="Arial"/>
                <a:ea typeface="Geneva"/>
                <a:cs typeface="Arial"/>
              </a:rPr>
            </a:br>
            <a:endParaRPr kumimoji="0" lang="en-US" sz="1600" b="0" i="0" u="none" strike="noStrike" kern="1200" cap="none" spc="0" normalizeH="0" baseline="0" noProof="0">
              <a:ln>
                <a:noFill/>
              </a:ln>
              <a:solidFill>
                <a:srgbClr val="000962"/>
              </a:solidFill>
              <a:effectLst/>
              <a:uLnTx/>
              <a:uFillTx/>
              <a:latin typeface="Arial"/>
              <a:ea typeface="Geneva"/>
              <a:cs typeface="Arial"/>
            </a:endParaRPr>
          </a:p>
        </p:txBody>
      </p:sp>
      <p:pic>
        <p:nvPicPr>
          <p:cNvPr id="12" name="Picture 11">
            <a:extLst>
              <a:ext uri="{FF2B5EF4-FFF2-40B4-BE49-F238E27FC236}">
                <a16:creationId xmlns:a16="http://schemas.microsoft.com/office/drawing/2014/main" id="{48431C7F-FB92-7FC7-CA98-7B2F3309EE35}"/>
              </a:ext>
            </a:extLst>
          </p:cNvPr>
          <p:cNvPicPr>
            <a:picLocks noChangeAspect="1"/>
          </p:cNvPicPr>
          <p:nvPr/>
        </p:nvPicPr>
        <p:blipFill>
          <a:blip r:embed="rId4"/>
          <a:stretch>
            <a:fillRect/>
          </a:stretch>
        </p:blipFill>
        <p:spPr>
          <a:xfrm>
            <a:off x="2486505" y="2228738"/>
            <a:ext cx="2683989" cy="1523719"/>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BABB7F98-A5D8-3B18-2E7C-A25194018D32}"/>
              </a:ext>
            </a:extLst>
          </p:cNvPr>
          <p:cNvSpPr txBox="1"/>
          <p:nvPr/>
        </p:nvSpPr>
        <p:spPr>
          <a:xfrm>
            <a:off x="5680398" y="2363720"/>
            <a:ext cx="6113748" cy="2416046"/>
          </a:xfrm>
          <a:prstGeom prst="rect">
            <a:avLst/>
          </a:prstGeom>
          <a:noFill/>
        </p:spPr>
        <p:txBody>
          <a:bodyPr wrap="square">
            <a:spAutoFit/>
          </a:bodyPr>
          <a:lstStyle/>
          <a:p>
            <a:pPr>
              <a:spcBef>
                <a:spcPts val="200"/>
              </a:spcBef>
            </a:pPr>
            <a:r>
              <a:rPr lang="en-US" sz="1400" b="1" dirty="0">
                <a:solidFill>
                  <a:srgbClr val="000962"/>
                </a:solidFill>
                <a:latin typeface="Arial"/>
              </a:rPr>
              <a:t>What’s new</a:t>
            </a:r>
          </a:p>
          <a:p>
            <a:pPr marL="285750" indent="-285750">
              <a:spcBef>
                <a:spcPts val="400"/>
              </a:spcBef>
              <a:buFont typeface="Arial" panose="020B0604020202020204" pitchFamily="34" charset="0"/>
              <a:buChar char="•"/>
            </a:pPr>
            <a:r>
              <a:rPr lang="en-US" sz="1400" b="1" dirty="0">
                <a:solidFill>
                  <a:srgbClr val="000962"/>
                </a:solidFill>
                <a:latin typeface="Arial"/>
              </a:rPr>
              <a:t>Enter employer benefits</a:t>
            </a:r>
            <a:r>
              <a:rPr lang="en-US" sz="1400" dirty="0">
                <a:solidFill>
                  <a:srgbClr val="000962"/>
                </a:solidFill>
                <a:latin typeface="Arial"/>
              </a:rPr>
              <a:t> directly within occupation details</a:t>
            </a:r>
          </a:p>
          <a:p>
            <a:pPr marL="285750" indent="-285750">
              <a:spcBef>
                <a:spcPts val="400"/>
              </a:spcBef>
              <a:buFont typeface="Arial" panose="020B0604020202020204" pitchFamily="34" charset="0"/>
              <a:buChar char="•"/>
            </a:pPr>
            <a:r>
              <a:rPr lang="en-US" sz="1400" b="1" dirty="0">
                <a:solidFill>
                  <a:srgbClr val="000962"/>
                </a:solidFill>
                <a:latin typeface="Arial"/>
              </a:rPr>
              <a:t>Define 401(k) match rules</a:t>
            </a:r>
            <a:r>
              <a:rPr lang="en-US" sz="1400" dirty="0">
                <a:solidFill>
                  <a:srgbClr val="000962"/>
                </a:solidFill>
                <a:latin typeface="Arial"/>
              </a:rPr>
              <a:t> — automatic calculation, no manual work</a:t>
            </a:r>
          </a:p>
          <a:p>
            <a:pPr marL="285750" indent="-285750">
              <a:spcBef>
                <a:spcPts val="400"/>
              </a:spcBef>
              <a:buFont typeface="Arial" panose="020B0604020202020204" pitchFamily="34" charset="0"/>
              <a:buChar char="•"/>
            </a:pPr>
            <a:r>
              <a:rPr lang="en-US" sz="1400" dirty="0">
                <a:solidFill>
                  <a:srgbClr val="000962"/>
                </a:solidFill>
                <a:latin typeface="Arial"/>
              </a:rPr>
              <a:t>Income screen data auto-populates the Financial Snapshot</a:t>
            </a:r>
          </a:p>
          <a:p>
            <a:pPr>
              <a:spcBef>
                <a:spcPts val="600"/>
              </a:spcBef>
            </a:pPr>
            <a:r>
              <a:rPr lang="en-US" sz="1400" b="1" dirty="0">
                <a:solidFill>
                  <a:srgbClr val="000962"/>
                </a:solidFill>
                <a:latin typeface="Arial"/>
              </a:rPr>
              <a:t>Why it matters</a:t>
            </a:r>
          </a:p>
          <a:p>
            <a:pPr marL="285750" indent="-285750">
              <a:spcBef>
                <a:spcPts val="400"/>
              </a:spcBef>
              <a:buFont typeface="Arial" panose="020B0604020202020204" pitchFamily="34" charset="0"/>
              <a:buChar char="•"/>
            </a:pPr>
            <a:r>
              <a:rPr lang="en-US" sz="1400" dirty="0">
                <a:solidFill>
                  <a:srgbClr val="000962"/>
                </a:solidFill>
                <a:latin typeface="Arial"/>
              </a:rPr>
              <a:t>Improves accuracy for Retirement Assessment and MBS</a:t>
            </a:r>
          </a:p>
          <a:p>
            <a:pPr marL="285750" indent="-285750">
              <a:spcBef>
                <a:spcPts val="400"/>
              </a:spcBef>
              <a:buFont typeface="Arial" panose="020B0604020202020204" pitchFamily="34" charset="0"/>
              <a:buChar char="•"/>
            </a:pPr>
            <a:r>
              <a:rPr lang="en-US" sz="1400" dirty="0">
                <a:solidFill>
                  <a:srgbClr val="000962"/>
                </a:solidFill>
                <a:latin typeface="Arial"/>
              </a:rPr>
              <a:t>Ties employer benefits directly to income for a complete picture</a:t>
            </a:r>
          </a:p>
          <a:p>
            <a:pPr marL="285750" indent="-285750">
              <a:spcBef>
                <a:spcPts val="400"/>
              </a:spcBef>
              <a:buFont typeface="Arial" panose="020B0604020202020204" pitchFamily="34" charset="0"/>
              <a:buChar char="•"/>
            </a:pPr>
            <a:r>
              <a:rPr lang="en-US" sz="1400" dirty="0"/>
              <a:t>No need to manually calculate an employer's match. The tool calculates  based off income and method. Also helps tie benefits to income</a:t>
            </a:r>
            <a:endParaRPr lang="en-US" sz="1400" dirty="0">
              <a:latin typeface="Arial"/>
            </a:endParaRPr>
          </a:p>
        </p:txBody>
      </p:sp>
      <p:sp>
        <p:nvSpPr>
          <p:cNvPr id="3" name="TextBox 2">
            <a:extLst>
              <a:ext uri="{FF2B5EF4-FFF2-40B4-BE49-F238E27FC236}">
                <a16:creationId xmlns:a16="http://schemas.microsoft.com/office/drawing/2014/main" id="{816FF8BB-4803-6FA4-BF03-41317442CF52}"/>
              </a:ext>
            </a:extLst>
          </p:cNvPr>
          <p:cNvSpPr txBox="1"/>
          <p:nvPr/>
        </p:nvSpPr>
        <p:spPr>
          <a:xfrm>
            <a:off x="1221778" y="6319959"/>
            <a:ext cx="5213445" cy="48474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For internal use only. Not for use with the 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SMRU 8837959 New York Life Insurance Company(NY,NY)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962"/>
                </a:solidFill>
                <a:effectLst/>
                <a:uLnTx/>
                <a:uFillTx/>
                <a:latin typeface="Arial"/>
                <a:ea typeface="+mn-ea"/>
                <a:cs typeface="+mn-cs"/>
              </a:rPr>
              <a:t> </a:t>
            </a:r>
          </a:p>
        </p:txBody>
      </p:sp>
      <p:sp>
        <p:nvSpPr>
          <p:cNvPr id="43" name="Text Placeholder 3">
            <a:extLst>
              <a:ext uri="{FF2B5EF4-FFF2-40B4-BE49-F238E27FC236}">
                <a16:creationId xmlns:a16="http://schemas.microsoft.com/office/drawing/2014/main" id="{8B9FFAAE-45FA-9CD4-F755-B47E1016FF24}"/>
              </a:ext>
            </a:extLst>
          </p:cNvPr>
          <p:cNvSpPr txBox="1">
            <a:spLocks/>
          </p:cNvSpPr>
          <p:nvPr/>
        </p:nvSpPr>
        <p:spPr>
          <a:xfrm>
            <a:off x="5763672" y="1399853"/>
            <a:ext cx="5792865" cy="663576"/>
          </a:xfrm>
          <a:prstGeom prst="rect">
            <a:avLst/>
          </a:prstGeom>
          <a:solidFill>
            <a:schemeClr val="tx2"/>
          </a:solidFill>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FFFFFF"/>
              </a:solidFill>
              <a:effectLst/>
              <a:uLnTx/>
              <a:uFillTx/>
              <a:latin typeface="Arial"/>
              <a:ea typeface="Geneva"/>
              <a:cs typeface="Arial"/>
            </a:endParaRP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FFFF"/>
                </a:solidFill>
                <a:effectLst/>
                <a:uLnTx/>
                <a:uFillTx/>
                <a:latin typeface="Arial"/>
                <a:ea typeface="Geneva"/>
                <a:cs typeface="Arial"/>
              </a:rPr>
              <a:t>NEW -  Discovery Simplified Features Enabled</a:t>
            </a: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FFFFFF"/>
              </a:solidFill>
              <a:effectLst/>
              <a:uLnTx/>
              <a:uFillTx/>
              <a:latin typeface="Arial"/>
              <a:ea typeface="Geneva"/>
              <a:cs typeface="Arial"/>
            </a:endParaRP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FFFFFF"/>
              </a:solidFill>
              <a:effectLst/>
              <a:uLnTx/>
              <a:uFillTx/>
              <a:latin typeface="Arial"/>
              <a:ea typeface="Geneva"/>
              <a:cs typeface="Arial"/>
            </a:endParaRPr>
          </a:p>
          <a:p>
            <a:pPr marL="0" marR="0" lvl="0" indent="0" algn="ctr"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000962"/>
              </a:solidFill>
              <a:effectLst/>
              <a:uLnTx/>
              <a:uFillTx/>
              <a:latin typeface="Arial"/>
              <a:ea typeface="Geneva"/>
              <a:cs typeface="Arial"/>
            </a:endParaRPr>
          </a:p>
          <a:p>
            <a:pPr marL="0" marR="0" lvl="0" indent="0" algn="l" defTabSz="121917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en-US" sz="3200" b="0" i="0" u="none" strike="noStrike" kern="1200" cap="none" spc="0" normalizeH="0" baseline="0" noProof="0" dirty="0">
              <a:ln>
                <a:noFill/>
              </a:ln>
              <a:solidFill>
                <a:srgbClr val="000962"/>
              </a:solidFill>
              <a:effectLst/>
              <a:uLnTx/>
              <a:uFillTx/>
              <a:latin typeface="Arial" charset="0"/>
              <a:ea typeface="Geneva" pitchFamily="-109" charset="-128"/>
              <a:cs typeface="+mn-cs"/>
            </a:endParaRPr>
          </a:p>
        </p:txBody>
      </p:sp>
      <p:pic>
        <p:nvPicPr>
          <p:cNvPr id="5" name="Picture 4" descr="A qr code with black squares  AI-generated content may be incorrect.">
            <a:extLst>
              <a:ext uri="{FF2B5EF4-FFF2-40B4-BE49-F238E27FC236}">
                <a16:creationId xmlns:a16="http://schemas.microsoft.com/office/drawing/2014/main" id="{6C54BD67-6E63-93EA-2D82-C5D89C56CD1B}"/>
              </a:ext>
            </a:extLst>
          </p:cNvPr>
          <p:cNvPicPr>
            <a:picLocks noChangeAspect="1"/>
          </p:cNvPicPr>
          <p:nvPr/>
        </p:nvPicPr>
        <p:blipFill>
          <a:blip r:embed="rId5"/>
          <a:stretch>
            <a:fillRect/>
          </a:stretch>
        </p:blipFill>
        <p:spPr>
          <a:xfrm>
            <a:off x="10708821" y="5034642"/>
            <a:ext cx="911679" cy="911679"/>
          </a:xfrm>
          <a:prstGeom prst="rect">
            <a:avLst/>
          </a:prstGeom>
        </p:spPr>
      </p:pic>
      <p:sp>
        <p:nvSpPr>
          <p:cNvPr id="11" name="TextBox 10">
            <a:extLst>
              <a:ext uri="{FF2B5EF4-FFF2-40B4-BE49-F238E27FC236}">
                <a16:creationId xmlns:a16="http://schemas.microsoft.com/office/drawing/2014/main" id="{13320130-A9E6-E9ED-272B-FA6ECA727E2B}"/>
              </a:ext>
            </a:extLst>
          </p:cNvPr>
          <p:cNvSpPr txBox="1"/>
          <p:nvPr/>
        </p:nvSpPr>
        <p:spPr>
          <a:xfrm>
            <a:off x="5854583" y="5368769"/>
            <a:ext cx="4888077" cy="246221"/>
          </a:xfrm>
          <a:prstGeom prst="rect">
            <a:avLst/>
          </a:prstGeom>
          <a:noFill/>
        </p:spPr>
        <p:txBody>
          <a:bodyPr wrap="square" lIns="0" tIns="0" rIns="0" bIns="0" rtlCol="0" anchor="ctr">
            <a:spAutoFit/>
          </a:bodyPr>
          <a:lstStyle/>
          <a:p>
            <a:r>
              <a:rPr lang="en-US" sz="1600">
                <a:cs typeface="Arial"/>
              </a:rPr>
              <a:t>Learn more about the latest GuideMe enhancements</a:t>
            </a:r>
            <a:endParaRPr lang="en-US" sz="1600">
              <a:latin typeface="+mn-lt"/>
              <a:cs typeface="Arial"/>
            </a:endParaRPr>
          </a:p>
        </p:txBody>
      </p:sp>
    </p:spTree>
    <p:extLst>
      <p:ext uri="{BB962C8B-B14F-4D97-AF65-F5344CB8AC3E}">
        <p14:creationId xmlns:p14="http://schemas.microsoft.com/office/powerpoint/2010/main" val="3439582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8676-F57A-67D5-1EF1-E344B87853A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8C9E02-5B49-756C-A2C8-35B5005A8C47}"/>
              </a:ext>
            </a:extLst>
          </p:cNvPr>
          <p:cNvSpPr>
            <a:spLocks/>
          </p:cNvSpPr>
          <p:nvPr/>
        </p:nvSpPr>
        <p:spPr>
          <a:xfrm>
            <a:off x="234472" y="1107682"/>
            <a:ext cx="5376062" cy="4848618"/>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dirty="0">
              <a:solidFill>
                <a:schemeClr val="tx1"/>
              </a:solidFill>
            </a:endParaRPr>
          </a:p>
        </p:txBody>
      </p:sp>
      <p:sp>
        <p:nvSpPr>
          <p:cNvPr id="2" name="Slide Number Placeholder 1">
            <a:extLst>
              <a:ext uri="{FF2B5EF4-FFF2-40B4-BE49-F238E27FC236}">
                <a16:creationId xmlns:a16="http://schemas.microsoft.com/office/drawing/2014/main" id="{D12B239F-659E-82EF-DAFE-EB9261C1AF13}"/>
              </a:ext>
            </a:extLst>
          </p:cNvPr>
          <p:cNvSpPr>
            <a:spLocks noGrp="1"/>
          </p:cNvSpPr>
          <p:nvPr>
            <p:ph type="sldNum" sz="quarter" idx="10"/>
          </p:nvPr>
        </p:nvSpPr>
        <p:spPr/>
        <p:txBody>
          <a:bodyPr/>
          <a:lstStyle/>
          <a:p>
            <a:fld id="{A1371F83-EA4D-3B47-99B9-95D90583DC1D}" type="slidenum">
              <a:rPr lang="en-US" smtClean="0"/>
              <a:pPr/>
              <a:t>10</a:t>
            </a:fld>
            <a:endParaRPr lang="en-US"/>
          </a:p>
        </p:txBody>
      </p:sp>
      <p:sp>
        <p:nvSpPr>
          <p:cNvPr id="5" name="TextBox 4">
            <a:extLst>
              <a:ext uri="{FF2B5EF4-FFF2-40B4-BE49-F238E27FC236}">
                <a16:creationId xmlns:a16="http://schemas.microsoft.com/office/drawing/2014/main" id="{C5A95E08-A8A7-344B-648B-9E90200A1CB1}"/>
              </a:ext>
            </a:extLst>
          </p:cNvPr>
          <p:cNvSpPr txBox="1"/>
          <p:nvPr/>
        </p:nvSpPr>
        <p:spPr>
          <a:xfrm>
            <a:off x="300081" y="219236"/>
            <a:ext cx="8806898" cy="492443"/>
          </a:xfrm>
          <a:prstGeom prst="rect">
            <a:avLst/>
          </a:prstGeom>
          <a:noFill/>
        </p:spPr>
        <p:txBody>
          <a:bodyPr wrap="none" lIns="0" tIns="0" rIns="0" bIns="0">
            <a:spAutoFit/>
          </a:bodyPr>
          <a:lstStyle/>
          <a:p>
            <a:r>
              <a:rPr sz="3200" dirty="0">
                <a:solidFill>
                  <a:srgbClr val="00125F"/>
                </a:solidFill>
                <a:latin typeface="Georgia"/>
              </a:rPr>
              <a:t>Earn Your FSCP</a:t>
            </a:r>
            <a:r>
              <a:rPr sz="3200" baseline="30000" dirty="0">
                <a:solidFill>
                  <a:srgbClr val="00125F"/>
                </a:solidFill>
                <a:latin typeface="Georgia"/>
              </a:rPr>
              <a:t>®</a:t>
            </a:r>
            <a:r>
              <a:rPr sz="3200" dirty="0">
                <a:solidFill>
                  <a:srgbClr val="00125F"/>
                </a:solidFill>
                <a:latin typeface="Georgia"/>
              </a:rPr>
              <a:t> or RICP</a:t>
            </a:r>
            <a:r>
              <a:rPr sz="3200" baseline="30000" dirty="0">
                <a:solidFill>
                  <a:srgbClr val="00125F"/>
                </a:solidFill>
                <a:latin typeface="Georgia"/>
              </a:rPr>
              <a:t>®</a:t>
            </a:r>
            <a:r>
              <a:rPr sz="3200" dirty="0">
                <a:solidFill>
                  <a:srgbClr val="00125F"/>
                </a:solidFill>
                <a:latin typeface="Georgia"/>
              </a:rPr>
              <a:t> </a:t>
            </a:r>
            <a:r>
              <a:rPr lang="en-US" sz="3200">
                <a:solidFill>
                  <a:srgbClr val="00125F"/>
                </a:solidFill>
                <a:latin typeface="Georgia"/>
              </a:rPr>
              <a:t>designation</a:t>
            </a:r>
            <a:r>
              <a:rPr sz="3200" dirty="0">
                <a:solidFill>
                  <a:srgbClr val="00125F"/>
                </a:solidFill>
                <a:latin typeface="Georgia"/>
              </a:rPr>
              <a:t> in 2026</a:t>
            </a:r>
          </a:p>
        </p:txBody>
      </p:sp>
      <p:sp>
        <p:nvSpPr>
          <p:cNvPr id="6" name="TextBox 5">
            <a:extLst>
              <a:ext uri="{FF2B5EF4-FFF2-40B4-BE49-F238E27FC236}">
                <a16:creationId xmlns:a16="http://schemas.microsoft.com/office/drawing/2014/main" id="{AA783CA7-A80F-FF73-5D4B-3397A35BF87D}"/>
              </a:ext>
            </a:extLst>
          </p:cNvPr>
          <p:cNvSpPr txBox="1"/>
          <p:nvPr/>
        </p:nvSpPr>
        <p:spPr>
          <a:xfrm>
            <a:off x="300081" y="635262"/>
            <a:ext cx="10100286" cy="338554"/>
          </a:xfrm>
          <a:prstGeom prst="rect">
            <a:avLst/>
          </a:prstGeom>
          <a:noFill/>
        </p:spPr>
        <p:txBody>
          <a:bodyPr wrap="square" lIns="0" tIns="0" rIns="0" bIns="0">
            <a:spAutoFit/>
          </a:bodyPr>
          <a:lstStyle/>
          <a:p>
            <a:pPr algn="l"/>
            <a:r>
              <a:rPr sz="2200" dirty="0"/>
              <a:t>Study </a:t>
            </a:r>
            <a:r>
              <a:rPr lang="en-US" sz="2200"/>
              <a:t>cohorts </a:t>
            </a:r>
            <a:r>
              <a:rPr lang="en-US" sz="2200" dirty="0"/>
              <a:t>s</a:t>
            </a:r>
            <a:r>
              <a:rPr sz="2200" dirty="0"/>
              <a:t>tarting in July</a:t>
            </a:r>
            <a:r>
              <a:rPr lang="en-US" sz="2200" dirty="0"/>
              <a:t> - </a:t>
            </a:r>
            <a:r>
              <a:rPr sz="2200" dirty="0"/>
              <a:t>Register by June 10</a:t>
            </a:r>
            <a:r>
              <a:rPr lang="en-US" sz="2200" dirty="0"/>
              <a:t> to reserve your spot</a:t>
            </a:r>
            <a:endParaRPr sz="2200" dirty="0"/>
          </a:p>
        </p:txBody>
      </p:sp>
      <p:sp>
        <p:nvSpPr>
          <p:cNvPr id="18" name="TextBox 17">
            <a:extLst>
              <a:ext uri="{FF2B5EF4-FFF2-40B4-BE49-F238E27FC236}">
                <a16:creationId xmlns:a16="http://schemas.microsoft.com/office/drawing/2014/main" id="{F341EC4E-56F1-7DC0-ECF0-4AD497B8DE03}"/>
              </a:ext>
            </a:extLst>
          </p:cNvPr>
          <p:cNvSpPr txBox="1"/>
          <p:nvPr/>
        </p:nvSpPr>
        <p:spPr>
          <a:xfrm>
            <a:off x="301135" y="1217526"/>
            <a:ext cx="5409846" cy="1231106"/>
          </a:xfrm>
          <a:prstGeom prst="rect">
            <a:avLst/>
          </a:prstGeom>
          <a:noFill/>
        </p:spPr>
        <p:txBody>
          <a:bodyPr wrap="square">
            <a:spAutoFit/>
          </a:bodyPr>
          <a:lstStyle/>
          <a:p>
            <a:pPr>
              <a:spcBef>
                <a:spcPts val="600"/>
              </a:spcBef>
            </a:pPr>
            <a:r>
              <a:rPr lang="en-US" sz="1400" b="1" dirty="0">
                <a:solidFill>
                  <a:srgbClr val="061060"/>
                </a:solidFill>
                <a:ea typeface="Arial" pitchFamily="34" charset="-122"/>
                <a:cs typeface="Arial" pitchFamily="34" charset="-120"/>
              </a:rPr>
              <a:t>Why join a cohort?</a:t>
            </a:r>
            <a:endParaRPr lang="en-US" sz="1400" b="1" dirty="0"/>
          </a:p>
          <a:p>
            <a:pPr>
              <a:spcBef>
                <a:spcPts val="600"/>
              </a:spcBef>
            </a:pPr>
            <a:r>
              <a:rPr lang="en-US" sz="1200" dirty="0"/>
              <a:t>Whether you’re planning to start or finish your designation this year, a cohort is the most effective way to stay on track and complete it.</a:t>
            </a:r>
          </a:p>
          <a:p>
            <a:pPr>
              <a:spcBef>
                <a:spcPts val="600"/>
              </a:spcBef>
            </a:pPr>
            <a:r>
              <a:rPr lang="en-US" sz="1200" dirty="0"/>
              <a:t>Stay accountable, prepare with support, and build momentum toward your FSCP</a:t>
            </a:r>
            <a:r>
              <a:rPr lang="en-US" sz="1200" baseline="30000" dirty="0"/>
              <a:t>®</a:t>
            </a:r>
            <a:r>
              <a:rPr lang="en-US" sz="1200" dirty="0"/>
              <a:t> or RICP</a:t>
            </a:r>
            <a:r>
              <a:rPr lang="en-US" sz="1200" baseline="30000" dirty="0"/>
              <a:t>®</a:t>
            </a:r>
            <a:r>
              <a:rPr lang="en-US" sz="1200" dirty="0"/>
              <a:t> designation</a:t>
            </a:r>
            <a:r>
              <a:rPr lang="en-US" sz="1400" dirty="0"/>
              <a:t>.</a:t>
            </a:r>
            <a:endParaRPr lang="en-US" sz="1400" b="1" dirty="0"/>
          </a:p>
        </p:txBody>
      </p:sp>
      <p:sp>
        <p:nvSpPr>
          <p:cNvPr id="23" name="Rectangle 22">
            <a:extLst>
              <a:ext uri="{FF2B5EF4-FFF2-40B4-BE49-F238E27FC236}">
                <a16:creationId xmlns:a16="http://schemas.microsoft.com/office/drawing/2014/main" id="{EE782447-6EBE-BF3A-BE4D-F180C5A87789}"/>
              </a:ext>
            </a:extLst>
          </p:cNvPr>
          <p:cNvSpPr/>
          <p:nvPr/>
        </p:nvSpPr>
        <p:spPr>
          <a:xfrm>
            <a:off x="1152208" y="6210466"/>
            <a:ext cx="8291245" cy="4739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 For questions or assistance with course enrollment, connect with your Development Manager or send an email to </a:t>
            </a:r>
            <a:r>
              <a:rPr lang="en-US" sz="1400" b="1" dirty="0"/>
              <a:t>PracticeModels_Support@newyorklife.com</a:t>
            </a:r>
            <a:r>
              <a:rPr lang="en-US" sz="1400" dirty="0"/>
              <a:t>. </a:t>
            </a:r>
          </a:p>
        </p:txBody>
      </p:sp>
      <p:sp>
        <p:nvSpPr>
          <p:cNvPr id="17" name="Rectangle 16">
            <a:extLst>
              <a:ext uri="{FF2B5EF4-FFF2-40B4-BE49-F238E27FC236}">
                <a16:creationId xmlns:a16="http://schemas.microsoft.com/office/drawing/2014/main" id="{C0A791CA-B9A7-E3E5-CD4B-46F386EAA885}"/>
              </a:ext>
            </a:extLst>
          </p:cNvPr>
          <p:cNvSpPr/>
          <p:nvPr/>
        </p:nvSpPr>
        <p:spPr>
          <a:xfrm>
            <a:off x="6126480" y="1163562"/>
            <a:ext cx="5543941" cy="4663440"/>
          </a:xfrm>
          <a:prstGeom prst="rect">
            <a:avLst/>
          </a:prstGeom>
          <a:solidFill>
            <a:srgbClr val="A4EFBE">
              <a:alpha val="698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F7240A0-9326-7450-44AD-F6CD9BF5A972}"/>
              </a:ext>
            </a:extLst>
          </p:cNvPr>
          <p:cNvSpPr txBox="1"/>
          <p:nvPr/>
        </p:nvSpPr>
        <p:spPr>
          <a:xfrm>
            <a:off x="6334254" y="1312009"/>
            <a:ext cx="5128391" cy="307777"/>
          </a:xfrm>
          <a:prstGeom prst="rect">
            <a:avLst/>
          </a:prstGeom>
          <a:noFill/>
        </p:spPr>
        <p:txBody>
          <a:bodyPr wrap="none" lIns="0" tIns="0" rIns="0" bIns="0">
            <a:spAutoFit/>
          </a:bodyPr>
          <a:lstStyle/>
          <a:p>
            <a:pPr algn="ctr"/>
            <a:r>
              <a:rPr lang="en-US" sz="1900" b="1">
                <a:solidFill>
                  <a:srgbClr val="00125F"/>
                </a:solidFill>
              </a:rPr>
              <a:t>FSCP</a:t>
            </a:r>
            <a:r>
              <a:rPr lang="en-US" sz="1900" b="1" baseline="30000">
                <a:solidFill>
                  <a:srgbClr val="00125F"/>
                </a:solidFill>
              </a:rPr>
              <a:t>®</a:t>
            </a:r>
            <a:r>
              <a:rPr lang="en-US" sz="1900" b="1">
                <a:solidFill>
                  <a:srgbClr val="00125F"/>
                </a:solidFill>
              </a:rPr>
              <a:t> &amp; RICP</a:t>
            </a:r>
            <a:r>
              <a:rPr lang="en-US" sz="1900" b="1" baseline="30000">
                <a:solidFill>
                  <a:srgbClr val="00125F"/>
                </a:solidFill>
              </a:rPr>
              <a:t> ®</a:t>
            </a:r>
            <a:r>
              <a:rPr sz="1900" b="1">
                <a:solidFill>
                  <a:srgbClr val="00125F"/>
                </a:solidFill>
              </a:rPr>
              <a:t> Cohorts</a:t>
            </a:r>
            <a:r>
              <a:rPr lang="en-US" sz="1900" b="1">
                <a:solidFill>
                  <a:srgbClr val="00125F"/>
                </a:solidFill>
              </a:rPr>
              <a:t> </a:t>
            </a:r>
            <a:r>
              <a:rPr lang="en-US" sz="2000" b="1">
                <a:solidFill>
                  <a:srgbClr val="061060"/>
                </a:solidFill>
                <a:ea typeface="Georgia" pitchFamily="34" charset="-122"/>
                <a:cs typeface="Georgia" pitchFamily="34" charset="-120"/>
              </a:rPr>
              <a:t>— scan to register</a:t>
            </a:r>
            <a:endParaRPr sz="1900" b="1">
              <a:solidFill>
                <a:srgbClr val="00125F"/>
              </a:solidFill>
            </a:endParaRPr>
          </a:p>
        </p:txBody>
      </p:sp>
      <p:sp>
        <p:nvSpPr>
          <p:cNvPr id="8" name="Rounded Rectangle 11">
            <a:extLst>
              <a:ext uri="{FF2B5EF4-FFF2-40B4-BE49-F238E27FC236}">
                <a16:creationId xmlns:a16="http://schemas.microsoft.com/office/drawing/2014/main" id="{B2534CDA-A195-99F8-C782-D3CCC223F153}"/>
              </a:ext>
            </a:extLst>
          </p:cNvPr>
          <p:cNvSpPr/>
          <p:nvPr/>
        </p:nvSpPr>
        <p:spPr>
          <a:xfrm>
            <a:off x="6376252" y="2015789"/>
            <a:ext cx="2331720" cy="3035808"/>
          </a:xfrm>
          <a:prstGeom prst="rect">
            <a:avLst/>
          </a:prstGeom>
          <a:solidFill>
            <a:srgbClr val="FFFFFF"/>
          </a:solidFill>
          <a:ln w="127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A524867C-DE2F-1350-0DF4-DC1DBD6E60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71147" y="2614379"/>
            <a:ext cx="1737360" cy="1729203"/>
          </a:xfrm>
          <a:prstGeom prst="rect">
            <a:avLst/>
          </a:prstGeom>
        </p:spPr>
      </p:pic>
      <p:sp>
        <p:nvSpPr>
          <p:cNvPr id="12" name="Rounded Rectangle 15">
            <a:extLst>
              <a:ext uri="{FF2B5EF4-FFF2-40B4-BE49-F238E27FC236}">
                <a16:creationId xmlns:a16="http://schemas.microsoft.com/office/drawing/2014/main" id="{9428BED8-68F0-41F2-CACD-704A6E37EB6A}"/>
              </a:ext>
            </a:extLst>
          </p:cNvPr>
          <p:cNvSpPr/>
          <p:nvPr/>
        </p:nvSpPr>
        <p:spPr>
          <a:xfrm>
            <a:off x="9089734" y="2011680"/>
            <a:ext cx="2331720" cy="3035808"/>
          </a:xfrm>
          <a:prstGeom prst="rect">
            <a:avLst/>
          </a:prstGeom>
          <a:solidFill>
            <a:srgbClr val="FFFFFF"/>
          </a:solidFill>
          <a:ln w="12700">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FF2B5EF4-FFF2-40B4-BE49-F238E27FC236}">
                <a16:creationId xmlns:a16="http://schemas.microsoft.com/office/drawing/2014/main" id="{A87516A9-BD3C-09FA-F1F7-E651ACE39E4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396058" y="2618704"/>
            <a:ext cx="1761052" cy="1737360"/>
          </a:xfrm>
          <a:prstGeom prst="rect">
            <a:avLst/>
          </a:prstGeom>
        </p:spPr>
      </p:pic>
      <p:sp>
        <p:nvSpPr>
          <p:cNvPr id="26" name="Text 25">
            <a:extLst>
              <a:ext uri="{FF2B5EF4-FFF2-40B4-BE49-F238E27FC236}">
                <a16:creationId xmlns:a16="http://schemas.microsoft.com/office/drawing/2014/main" id="{56BB2E28-5F85-9DCA-B1D2-DD196D73C1AA}"/>
              </a:ext>
            </a:extLst>
          </p:cNvPr>
          <p:cNvSpPr/>
          <p:nvPr/>
        </p:nvSpPr>
        <p:spPr>
          <a:xfrm>
            <a:off x="6671146" y="1692294"/>
            <a:ext cx="4754880" cy="228600"/>
          </a:xfrm>
          <a:prstGeom prst="rect">
            <a:avLst/>
          </a:prstGeom>
          <a:noFill/>
          <a:ln/>
        </p:spPr>
        <p:txBody>
          <a:bodyPr wrap="square" lIns="0" tIns="0" rIns="0" bIns="0" rtlCol="0" anchor="ctr"/>
          <a:lstStyle/>
          <a:p>
            <a:pPr marL="0" indent="0" algn="ctr">
              <a:buNone/>
            </a:pPr>
            <a:r>
              <a:rPr lang="en-US" sz="1400" b="1">
                <a:solidFill>
                  <a:srgbClr val="061060"/>
                </a:solidFill>
                <a:ea typeface="Arial" pitchFamily="34" charset="-122"/>
                <a:cs typeface="Arial" pitchFamily="34" charset="-120"/>
              </a:rPr>
              <a:t>Select the survey that matches your role and course</a:t>
            </a:r>
            <a:endParaRPr lang="en-US" sz="1400" b="1">
              <a:solidFill>
                <a:srgbClr val="061060"/>
              </a:solidFill>
            </a:endParaRPr>
          </a:p>
        </p:txBody>
      </p:sp>
      <p:sp>
        <p:nvSpPr>
          <p:cNvPr id="27" name="Rectangle 26">
            <a:extLst>
              <a:ext uri="{FF2B5EF4-FFF2-40B4-BE49-F238E27FC236}">
                <a16:creationId xmlns:a16="http://schemas.microsoft.com/office/drawing/2014/main" id="{73030091-3F70-B01A-12A5-D1F44142A8D1}"/>
              </a:ext>
            </a:extLst>
          </p:cNvPr>
          <p:cNvSpPr>
            <a:spLocks/>
          </p:cNvSpPr>
          <p:nvPr/>
        </p:nvSpPr>
        <p:spPr>
          <a:xfrm>
            <a:off x="6032386" y="1069848"/>
            <a:ext cx="5760720" cy="484632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hape 9">
            <a:extLst>
              <a:ext uri="{FF2B5EF4-FFF2-40B4-BE49-F238E27FC236}">
                <a16:creationId xmlns:a16="http://schemas.microsoft.com/office/drawing/2014/main" id="{EB7CF644-93BF-ED68-4C95-F23AC7AF9875}"/>
              </a:ext>
            </a:extLst>
          </p:cNvPr>
          <p:cNvSpPr/>
          <p:nvPr/>
        </p:nvSpPr>
        <p:spPr>
          <a:xfrm>
            <a:off x="324841" y="4603422"/>
            <a:ext cx="4617720" cy="0"/>
          </a:xfrm>
          <a:prstGeom prst="line">
            <a:avLst/>
          </a:prstGeom>
          <a:noFill/>
          <a:ln w="15240">
            <a:solidFill>
              <a:srgbClr val="FFFFFF">
                <a:alpha val="65000"/>
              </a:srgbClr>
            </a:solidFill>
            <a:prstDash val="solid"/>
          </a:ln>
        </p:spPr>
        <p:txBody>
          <a:bodyPr/>
          <a:lstStyle/>
          <a:p>
            <a:endParaRPr lang="en-US" sz="1300"/>
          </a:p>
        </p:txBody>
      </p:sp>
      <p:sp>
        <p:nvSpPr>
          <p:cNvPr id="20" name="Text 22">
            <a:extLst>
              <a:ext uri="{FF2B5EF4-FFF2-40B4-BE49-F238E27FC236}">
                <a16:creationId xmlns:a16="http://schemas.microsoft.com/office/drawing/2014/main" id="{2F6C3F79-3BF0-5230-91E9-55E91F49DCC2}"/>
              </a:ext>
            </a:extLst>
          </p:cNvPr>
          <p:cNvSpPr/>
          <p:nvPr/>
        </p:nvSpPr>
        <p:spPr>
          <a:xfrm>
            <a:off x="1770053" y="3368063"/>
            <a:ext cx="3840480" cy="612137"/>
          </a:xfrm>
          <a:prstGeom prst="rect">
            <a:avLst/>
          </a:prstGeom>
          <a:noFill/>
          <a:ln/>
        </p:spPr>
        <p:txBody>
          <a:bodyPr wrap="square" lIns="0" tIns="0" rIns="0" bIns="0" rtlCol="0" anchor="ctr"/>
          <a:lstStyle/>
          <a:p>
            <a:pPr marL="0" indent="0">
              <a:buNone/>
            </a:pPr>
            <a:r>
              <a:rPr lang="en-US" sz="1300" dirty="0">
                <a:solidFill>
                  <a:srgbClr val="061060"/>
                </a:solidFill>
                <a:ea typeface="Arial" pitchFamily="34" charset="-122"/>
                <a:cs typeface="Arial" pitchFamily="34" charset="-120"/>
              </a:rPr>
              <a:t>Cohort kick-off session. </a:t>
            </a:r>
          </a:p>
          <a:p>
            <a:pPr marL="0" indent="0">
              <a:buNone/>
            </a:pPr>
            <a:r>
              <a:rPr lang="en-US" sz="1100" dirty="0">
                <a:solidFill>
                  <a:srgbClr val="061060"/>
                </a:solidFill>
                <a:ea typeface="Arial" pitchFamily="34" charset="-122"/>
                <a:cs typeface="Arial" pitchFamily="34" charset="-120"/>
              </a:rPr>
              <a:t>If you’re unable to attend the kick-off due to focus on Council close, no worries – you can still join the cohort sessions in July.</a:t>
            </a:r>
            <a:endParaRPr lang="en-US" sz="1300" dirty="0"/>
          </a:p>
        </p:txBody>
      </p:sp>
      <p:sp>
        <p:nvSpPr>
          <p:cNvPr id="25" name="Rectangle 24">
            <a:extLst>
              <a:ext uri="{FF2B5EF4-FFF2-40B4-BE49-F238E27FC236}">
                <a16:creationId xmlns:a16="http://schemas.microsoft.com/office/drawing/2014/main" id="{737AEF02-450F-0C2B-6970-F2C2A8454A1F}"/>
              </a:ext>
            </a:extLst>
          </p:cNvPr>
          <p:cNvSpPr>
            <a:spLocks/>
          </p:cNvSpPr>
          <p:nvPr/>
        </p:nvSpPr>
        <p:spPr>
          <a:xfrm>
            <a:off x="234471" y="1071728"/>
            <a:ext cx="5421630" cy="484632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 11">
            <a:extLst>
              <a:ext uri="{FF2B5EF4-FFF2-40B4-BE49-F238E27FC236}">
                <a16:creationId xmlns:a16="http://schemas.microsoft.com/office/drawing/2014/main" id="{3E4ED9CD-1A82-7200-E66A-58B8BD668B51}"/>
              </a:ext>
            </a:extLst>
          </p:cNvPr>
          <p:cNvSpPr>
            <a:spLocks noChangeAspect="1"/>
          </p:cNvSpPr>
          <p:nvPr/>
        </p:nvSpPr>
        <p:spPr>
          <a:xfrm>
            <a:off x="301135" y="4676971"/>
            <a:ext cx="256032" cy="256032"/>
          </a:xfrm>
          <a:prstGeom prst="rect">
            <a:avLst/>
          </a:prstGeom>
          <a:solidFill>
            <a:srgbClr val="061060"/>
          </a:solidFill>
          <a:ln/>
        </p:spPr>
        <p:txBody>
          <a:bodyPr wrap="square" lIns="0" tIns="0" rIns="0" bIns="0" rtlCol="0" anchor="ctr"/>
          <a:lstStyle/>
          <a:p>
            <a:pPr marL="0" indent="0" algn="ctr">
              <a:buNone/>
            </a:pPr>
            <a:r>
              <a:rPr lang="en-US" sz="1300" b="1">
                <a:solidFill>
                  <a:srgbClr val="FFFFFF"/>
                </a:solidFill>
                <a:ea typeface="Arial" pitchFamily="34" charset="-122"/>
                <a:cs typeface="Arial" pitchFamily="34" charset="-120"/>
              </a:rPr>
              <a:t>1</a:t>
            </a:r>
            <a:endParaRPr lang="en-US" sz="1300"/>
          </a:p>
        </p:txBody>
      </p:sp>
      <p:sp>
        <p:nvSpPr>
          <p:cNvPr id="29" name="Text 12">
            <a:extLst>
              <a:ext uri="{FF2B5EF4-FFF2-40B4-BE49-F238E27FC236}">
                <a16:creationId xmlns:a16="http://schemas.microsoft.com/office/drawing/2014/main" id="{CB7B294C-846C-51DF-5E45-817DA696F1C9}"/>
              </a:ext>
            </a:extLst>
          </p:cNvPr>
          <p:cNvSpPr/>
          <p:nvPr/>
        </p:nvSpPr>
        <p:spPr>
          <a:xfrm>
            <a:off x="621175" y="4594675"/>
            <a:ext cx="4526280" cy="420624"/>
          </a:xfrm>
          <a:prstGeom prst="rect">
            <a:avLst/>
          </a:prstGeom>
          <a:noFill/>
          <a:ln/>
        </p:spPr>
        <p:txBody>
          <a:bodyPr wrap="square" lIns="0" tIns="0" rIns="0" bIns="0" rtlCol="0" anchor="ctr">
            <a:noAutofit/>
          </a:bodyPr>
          <a:lstStyle/>
          <a:p>
            <a:pPr marL="0" indent="0">
              <a:buNone/>
            </a:pPr>
            <a:r>
              <a:rPr lang="en-US" sz="1300">
                <a:solidFill>
                  <a:srgbClr val="061060"/>
                </a:solidFill>
                <a:ea typeface="Arial" pitchFamily="34" charset="-122"/>
                <a:cs typeface="Arial" pitchFamily="34" charset="-120"/>
              </a:rPr>
              <a:t>Scan QR code to complete the cohort interest survey.</a:t>
            </a:r>
            <a:endParaRPr lang="en-US" sz="1300"/>
          </a:p>
        </p:txBody>
      </p:sp>
      <p:sp>
        <p:nvSpPr>
          <p:cNvPr id="30" name="Text 13">
            <a:extLst>
              <a:ext uri="{FF2B5EF4-FFF2-40B4-BE49-F238E27FC236}">
                <a16:creationId xmlns:a16="http://schemas.microsoft.com/office/drawing/2014/main" id="{8EF9839B-4D51-EFB0-7B66-4034694CB143}"/>
              </a:ext>
            </a:extLst>
          </p:cNvPr>
          <p:cNvSpPr>
            <a:spLocks noChangeAspect="1"/>
          </p:cNvSpPr>
          <p:nvPr/>
        </p:nvSpPr>
        <p:spPr>
          <a:xfrm>
            <a:off x="301135" y="5143315"/>
            <a:ext cx="256032" cy="256032"/>
          </a:xfrm>
          <a:prstGeom prst="rect">
            <a:avLst/>
          </a:prstGeom>
          <a:solidFill>
            <a:srgbClr val="061060"/>
          </a:solidFill>
          <a:ln/>
        </p:spPr>
        <p:txBody>
          <a:bodyPr wrap="square" lIns="0" tIns="0" rIns="0" bIns="0" rtlCol="0" anchor="ctr"/>
          <a:lstStyle/>
          <a:p>
            <a:pPr marL="0" indent="0" algn="ctr">
              <a:buNone/>
            </a:pPr>
            <a:r>
              <a:rPr lang="en-US" sz="1300" b="1">
                <a:solidFill>
                  <a:srgbClr val="FFFFFF"/>
                </a:solidFill>
                <a:ea typeface="Arial" pitchFamily="34" charset="-122"/>
                <a:cs typeface="Arial" pitchFamily="34" charset="-120"/>
              </a:rPr>
              <a:t>2</a:t>
            </a:r>
            <a:endParaRPr lang="en-US" sz="1300"/>
          </a:p>
        </p:txBody>
      </p:sp>
      <p:sp>
        <p:nvSpPr>
          <p:cNvPr id="31" name="Text 14">
            <a:extLst>
              <a:ext uri="{FF2B5EF4-FFF2-40B4-BE49-F238E27FC236}">
                <a16:creationId xmlns:a16="http://schemas.microsoft.com/office/drawing/2014/main" id="{6598219D-D1CC-306A-CE78-AD509A96B8F5}"/>
              </a:ext>
            </a:extLst>
          </p:cNvPr>
          <p:cNvSpPr/>
          <p:nvPr/>
        </p:nvSpPr>
        <p:spPr>
          <a:xfrm>
            <a:off x="621175" y="5042731"/>
            <a:ext cx="4989358" cy="457200"/>
          </a:xfrm>
          <a:prstGeom prst="rect">
            <a:avLst/>
          </a:prstGeom>
          <a:noFill/>
          <a:ln/>
        </p:spPr>
        <p:txBody>
          <a:bodyPr wrap="square" lIns="0" tIns="0" rIns="0" bIns="0" rtlCol="0" anchor="ctr">
            <a:noAutofit/>
          </a:bodyPr>
          <a:lstStyle/>
          <a:p>
            <a:pPr marL="0" indent="0">
              <a:buNone/>
            </a:pPr>
            <a:r>
              <a:rPr lang="en-US" sz="1300" dirty="0">
                <a:solidFill>
                  <a:srgbClr val="061060"/>
                </a:solidFill>
                <a:ea typeface="Arial" pitchFamily="34" charset="-122"/>
                <a:cs typeface="Arial" pitchFamily="34" charset="-120"/>
              </a:rPr>
              <a:t>Enroll in your applicable American College course; course enrollment is required to participate*. Enroll for July 1 course start.</a:t>
            </a:r>
            <a:endParaRPr lang="en-US" sz="1300" dirty="0"/>
          </a:p>
        </p:txBody>
      </p:sp>
      <p:sp>
        <p:nvSpPr>
          <p:cNvPr id="32" name="Text 15">
            <a:extLst>
              <a:ext uri="{FF2B5EF4-FFF2-40B4-BE49-F238E27FC236}">
                <a16:creationId xmlns:a16="http://schemas.microsoft.com/office/drawing/2014/main" id="{5A8C6A92-99C8-C5F3-423F-CFF9BDE8272B}"/>
              </a:ext>
            </a:extLst>
          </p:cNvPr>
          <p:cNvSpPr>
            <a:spLocks noChangeAspect="1"/>
          </p:cNvSpPr>
          <p:nvPr/>
        </p:nvSpPr>
        <p:spPr>
          <a:xfrm>
            <a:off x="301135" y="5588138"/>
            <a:ext cx="256032" cy="256032"/>
          </a:xfrm>
          <a:prstGeom prst="rect">
            <a:avLst/>
          </a:prstGeom>
          <a:solidFill>
            <a:srgbClr val="061060"/>
          </a:solidFill>
          <a:ln/>
        </p:spPr>
        <p:txBody>
          <a:bodyPr wrap="square" lIns="0" tIns="0" rIns="0" bIns="0" rtlCol="0" anchor="ctr"/>
          <a:lstStyle/>
          <a:p>
            <a:pPr marL="0" indent="0" algn="ctr">
              <a:buNone/>
            </a:pPr>
            <a:r>
              <a:rPr lang="en-US" sz="1300" b="1">
                <a:solidFill>
                  <a:srgbClr val="FFFFFF"/>
                </a:solidFill>
                <a:ea typeface="Arial" pitchFamily="34" charset="-122"/>
                <a:cs typeface="Arial" pitchFamily="34" charset="-120"/>
              </a:rPr>
              <a:t>3</a:t>
            </a:r>
            <a:endParaRPr lang="en-US" sz="1300"/>
          </a:p>
        </p:txBody>
      </p:sp>
      <p:sp>
        <p:nvSpPr>
          <p:cNvPr id="33" name="Text 16">
            <a:extLst>
              <a:ext uri="{FF2B5EF4-FFF2-40B4-BE49-F238E27FC236}">
                <a16:creationId xmlns:a16="http://schemas.microsoft.com/office/drawing/2014/main" id="{58BC75EA-B409-138D-4000-A97039FC2FBA}"/>
              </a:ext>
            </a:extLst>
          </p:cNvPr>
          <p:cNvSpPr/>
          <p:nvPr/>
        </p:nvSpPr>
        <p:spPr>
          <a:xfrm>
            <a:off x="636443" y="5581373"/>
            <a:ext cx="4526280" cy="274320"/>
          </a:xfrm>
          <a:prstGeom prst="rect">
            <a:avLst/>
          </a:prstGeom>
          <a:noFill/>
          <a:ln/>
        </p:spPr>
        <p:txBody>
          <a:bodyPr wrap="square" lIns="0" tIns="0" rIns="0" bIns="0" rtlCol="0" anchor="ctr"/>
          <a:lstStyle/>
          <a:p>
            <a:pPr marL="0" indent="0">
              <a:buNone/>
            </a:pPr>
            <a:r>
              <a:rPr lang="en-US" sz="1300">
                <a:solidFill>
                  <a:srgbClr val="061060"/>
                </a:solidFill>
                <a:ea typeface="Arial" pitchFamily="34" charset="-122"/>
                <a:cs typeface="Arial" pitchFamily="34" charset="-120"/>
              </a:rPr>
              <a:t>Watch for cohort kick-off details after you opt in.</a:t>
            </a:r>
            <a:endParaRPr lang="en-US" sz="1300"/>
          </a:p>
        </p:txBody>
      </p:sp>
      <p:sp>
        <p:nvSpPr>
          <p:cNvPr id="35" name="TextBox 34">
            <a:extLst>
              <a:ext uri="{FF2B5EF4-FFF2-40B4-BE49-F238E27FC236}">
                <a16:creationId xmlns:a16="http://schemas.microsoft.com/office/drawing/2014/main" id="{0C33C4F7-8D97-3B69-C9CE-CD67D2C16FBC}"/>
              </a:ext>
            </a:extLst>
          </p:cNvPr>
          <p:cNvSpPr txBox="1"/>
          <p:nvPr/>
        </p:nvSpPr>
        <p:spPr>
          <a:xfrm>
            <a:off x="1705991" y="3014806"/>
            <a:ext cx="2468880" cy="292608"/>
          </a:xfrm>
          <a:prstGeom prst="rect">
            <a:avLst/>
          </a:prstGeom>
          <a:noFill/>
        </p:spPr>
        <p:txBody>
          <a:bodyPr wrap="square">
            <a:spAutoFit/>
          </a:bodyPr>
          <a:lstStyle/>
          <a:p>
            <a:r>
              <a:rPr lang="en-US" sz="1300">
                <a:solidFill>
                  <a:srgbClr val="061060"/>
                </a:solidFill>
                <a:ea typeface="Arial" pitchFamily="34" charset="-122"/>
                <a:cs typeface="Arial" pitchFamily="34" charset="-120"/>
              </a:rPr>
              <a:t>Deadline for cohort enrollment. </a:t>
            </a:r>
            <a:endParaRPr lang="en-US" sz="1300"/>
          </a:p>
        </p:txBody>
      </p:sp>
      <p:sp>
        <p:nvSpPr>
          <p:cNvPr id="36" name="TextBox 35">
            <a:extLst>
              <a:ext uri="{FF2B5EF4-FFF2-40B4-BE49-F238E27FC236}">
                <a16:creationId xmlns:a16="http://schemas.microsoft.com/office/drawing/2014/main" id="{E42F424E-4C99-064F-4B5B-326A8DAF1F29}"/>
              </a:ext>
            </a:extLst>
          </p:cNvPr>
          <p:cNvSpPr txBox="1"/>
          <p:nvPr/>
        </p:nvSpPr>
        <p:spPr>
          <a:xfrm>
            <a:off x="293445" y="2608396"/>
            <a:ext cx="1356852" cy="307777"/>
          </a:xfrm>
          <a:prstGeom prst="rect">
            <a:avLst/>
          </a:prstGeom>
          <a:noFill/>
        </p:spPr>
        <p:txBody>
          <a:bodyPr wrap="square">
            <a:spAutoFit/>
          </a:bodyPr>
          <a:lstStyle/>
          <a:p>
            <a:r>
              <a:rPr lang="en-US" sz="1400" b="1" dirty="0"/>
              <a:t>Key dates </a:t>
            </a:r>
          </a:p>
        </p:txBody>
      </p:sp>
      <p:sp>
        <p:nvSpPr>
          <p:cNvPr id="38" name="Text 22">
            <a:extLst>
              <a:ext uri="{FF2B5EF4-FFF2-40B4-BE49-F238E27FC236}">
                <a16:creationId xmlns:a16="http://schemas.microsoft.com/office/drawing/2014/main" id="{27E4C5F7-35D1-92A1-C5C1-DBEB5C32083D}"/>
              </a:ext>
            </a:extLst>
          </p:cNvPr>
          <p:cNvSpPr/>
          <p:nvPr/>
        </p:nvSpPr>
        <p:spPr>
          <a:xfrm>
            <a:off x="1770053" y="4029856"/>
            <a:ext cx="2194560" cy="314656"/>
          </a:xfrm>
          <a:prstGeom prst="rect">
            <a:avLst/>
          </a:prstGeom>
          <a:noFill/>
          <a:ln/>
        </p:spPr>
        <p:txBody>
          <a:bodyPr wrap="square" lIns="0" tIns="0" rIns="0" bIns="0" rtlCol="0" anchor="ctr"/>
          <a:lstStyle/>
          <a:p>
            <a:r>
              <a:rPr lang="en-US" sz="1300" dirty="0">
                <a:solidFill>
                  <a:srgbClr val="061060"/>
                </a:solidFill>
                <a:ea typeface="Arial" pitchFamily="34" charset="-122"/>
                <a:cs typeface="Arial" pitchFamily="34" charset="-120"/>
              </a:rPr>
              <a:t>Weekly study sessions begin.</a:t>
            </a:r>
            <a:endParaRPr lang="en-US" sz="1300" dirty="0"/>
          </a:p>
        </p:txBody>
      </p:sp>
      <p:grpSp>
        <p:nvGrpSpPr>
          <p:cNvPr id="41" name="Group 40">
            <a:extLst>
              <a:ext uri="{FF2B5EF4-FFF2-40B4-BE49-F238E27FC236}">
                <a16:creationId xmlns:a16="http://schemas.microsoft.com/office/drawing/2014/main" id="{46EB910A-E550-5A6B-F9EB-34AB8278BC0C}"/>
              </a:ext>
            </a:extLst>
          </p:cNvPr>
          <p:cNvGrpSpPr/>
          <p:nvPr/>
        </p:nvGrpSpPr>
        <p:grpSpPr>
          <a:xfrm>
            <a:off x="368318" y="2958549"/>
            <a:ext cx="1309430" cy="1412852"/>
            <a:chOff x="321206" y="4454753"/>
            <a:chExt cx="1309430" cy="1412852"/>
          </a:xfrm>
        </p:grpSpPr>
        <p:sp>
          <p:nvSpPr>
            <p:cNvPr id="11" name="Shape 17">
              <a:extLst>
                <a:ext uri="{FF2B5EF4-FFF2-40B4-BE49-F238E27FC236}">
                  <a16:creationId xmlns:a16="http://schemas.microsoft.com/office/drawing/2014/main" id="{1FD86338-6576-E3C7-3584-7CE8982CAC89}"/>
                </a:ext>
              </a:extLst>
            </p:cNvPr>
            <p:cNvSpPr/>
            <p:nvPr/>
          </p:nvSpPr>
          <p:spPr>
            <a:xfrm>
              <a:off x="332188" y="4454753"/>
              <a:ext cx="1298448" cy="402336"/>
            </a:xfrm>
            <a:prstGeom prst="roundRect">
              <a:avLst>
                <a:gd name="adj" fmla="val 18182"/>
              </a:avLst>
            </a:prstGeom>
            <a:solidFill>
              <a:srgbClr val="061060"/>
            </a:solidFill>
            <a:ln w="12700">
              <a:solidFill>
                <a:srgbClr val="061060"/>
              </a:solidFill>
              <a:prstDash val="solid"/>
            </a:ln>
          </p:spPr>
          <p:txBody>
            <a:bodyPr/>
            <a:lstStyle/>
            <a:p>
              <a:endParaRPr lang="en-US" sz="1300"/>
            </a:p>
          </p:txBody>
        </p:sp>
        <p:sp>
          <p:nvSpPr>
            <p:cNvPr id="15" name="Text 18">
              <a:extLst>
                <a:ext uri="{FF2B5EF4-FFF2-40B4-BE49-F238E27FC236}">
                  <a16:creationId xmlns:a16="http://schemas.microsoft.com/office/drawing/2014/main" id="{57B30A96-871A-1D61-080B-2B47E656C649}"/>
                </a:ext>
              </a:extLst>
            </p:cNvPr>
            <p:cNvSpPr/>
            <p:nvPr/>
          </p:nvSpPr>
          <p:spPr>
            <a:xfrm>
              <a:off x="419056" y="4582622"/>
              <a:ext cx="1124712" cy="146304"/>
            </a:xfrm>
            <a:prstGeom prst="rect">
              <a:avLst/>
            </a:prstGeom>
            <a:noFill/>
            <a:ln/>
          </p:spPr>
          <p:txBody>
            <a:bodyPr wrap="square" lIns="0" tIns="0" rIns="0" bIns="0" rtlCol="0" anchor="ctr"/>
            <a:lstStyle/>
            <a:p>
              <a:pPr marL="0" indent="0" algn="ctr">
                <a:buNone/>
              </a:pPr>
              <a:r>
                <a:rPr lang="en-US" sz="1300">
                  <a:solidFill>
                    <a:srgbClr val="FFFFFF"/>
                  </a:solidFill>
                  <a:ea typeface="Arial" pitchFamily="34" charset="-122"/>
                  <a:cs typeface="Arial" pitchFamily="34" charset="-120"/>
                </a:rPr>
                <a:t>June 10</a:t>
              </a:r>
              <a:endParaRPr lang="en-US" sz="1300"/>
            </a:p>
          </p:txBody>
        </p:sp>
        <p:sp>
          <p:nvSpPr>
            <p:cNvPr id="21" name="Shape 20">
              <a:extLst>
                <a:ext uri="{FF2B5EF4-FFF2-40B4-BE49-F238E27FC236}">
                  <a16:creationId xmlns:a16="http://schemas.microsoft.com/office/drawing/2014/main" id="{78CFB3A9-7154-9440-C2CB-EC8EF7FF36C2}"/>
                </a:ext>
              </a:extLst>
            </p:cNvPr>
            <p:cNvSpPr/>
            <p:nvPr/>
          </p:nvSpPr>
          <p:spPr>
            <a:xfrm>
              <a:off x="321206" y="4962427"/>
              <a:ext cx="1298448" cy="402336"/>
            </a:xfrm>
            <a:prstGeom prst="roundRect">
              <a:avLst>
                <a:gd name="adj" fmla="val 18182"/>
              </a:avLst>
            </a:prstGeom>
            <a:solidFill>
              <a:srgbClr val="006CFF"/>
            </a:solidFill>
            <a:ln w="12700">
              <a:solidFill>
                <a:srgbClr val="006CFF"/>
              </a:solidFill>
              <a:prstDash val="solid"/>
            </a:ln>
          </p:spPr>
          <p:txBody>
            <a:bodyPr/>
            <a:lstStyle/>
            <a:p>
              <a:endParaRPr lang="en-US" sz="1300"/>
            </a:p>
          </p:txBody>
        </p:sp>
        <p:sp>
          <p:nvSpPr>
            <p:cNvPr id="22" name="Text 21">
              <a:extLst>
                <a:ext uri="{FF2B5EF4-FFF2-40B4-BE49-F238E27FC236}">
                  <a16:creationId xmlns:a16="http://schemas.microsoft.com/office/drawing/2014/main" id="{20218F9A-289A-06DE-E76C-4ACCCF00C405}"/>
                </a:ext>
              </a:extLst>
            </p:cNvPr>
            <p:cNvSpPr/>
            <p:nvPr/>
          </p:nvSpPr>
          <p:spPr>
            <a:xfrm>
              <a:off x="394078" y="5090443"/>
              <a:ext cx="1124712" cy="146304"/>
            </a:xfrm>
            <a:prstGeom prst="rect">
              <a:avLst/>
            </a:prstGeom>
            <a:noFill/>
            <a:ln/>
          </p:spPr>
          <p:txBody>
            <a:bodyPr wrap="square" lIns="0" tIns="0" rIns="0" bIns="0" rtlCol="0" anchor="ctr"/>
            <a:lstStyle/>
            <a:p>
              <a:pPr marL="0" indent="0" algn="ctr">
                <a:buNone/>
              </a:pPr>
              <a:r>
                <a:rPr lang="en-US" sz="1300">
                  <a:solidFill>
                    <a:srgbClr val="FFFFFF"/>
                  </a:solidFill>
                  <a:ea typeface="Arial" pitchFamily="34" charset="-122"/>
                  <a:cs typeface="Arial" pitchFamily="34" charset="-120"/>
                </a:rPr>
                <a:t>June 23</a:t>
              </a:r>
              <a:endParaRPr lang="en-US" sz="1300"/>
            </a:p>
          </p:txBody>
        </p:sp>
        <p:sp>
          <p:nvSpPr>
            <p:cNvPr id="37" name="Shape 20">
              <a:extLst>
                <a:ext uri="{FF2B5EF4-FFF2-40B4-BE49-F238E27FC236}">
                  <a16:creationId xmlns:a16="http://schemas.microsoft.com/office/drawing/2014/main" id="{B25ECBD0-32CD-9524-3AF6-4A6916B1BA42}"/>
                </a:ext>
              </a:extLst>
            </p:cNvPr>
            <p:cNvSpPr/>
            <p:nvPr/>
          </p:nvSpPr>
          <p:spPr>
            <a:xfrm>
              <a:off x="332188" y="5465269"/>
              <a:ext cx="1298448" cy="402336"/>
            </a:xfrm>
            <a:prstGeom prst="roundRect">
              <a:avLst>
                <a:gd name="adj" fmla="val 18182"/>
              </a:avLst>
            </a:prstGeom>
            <a:solidFill>
              <a:srgbClr val="ADD8E6"/>
            </a:solidFill>
            <a:ln w="12700">
              <a:noFill/>
              <a:prstDash val="solid"/>
            </a:ln>
          </p:spPr>
          <p:txBody>
            <a:bodyPr/>
            <a:lstStyle/>
            <a:p>
              <a:endParaRPr lang="en-US" sz="1300"/>
            </a:p>
          </p:txBody>
        </p:sp>
        <p:sp>
          <p:nvSpPr>
            <p:cNvPr id="39" name="Text 21">
              <a:extLst>
                <a:ext uri="{FF2B5EF4-FFF2-40B4-BE49-F238E27FC236}">
                  <a16:creationId xmlns:a16="http://schemas.microsoft.com/office/drawing/2014/main" id="{64CC9477-1957-3833-7538-BE95ED2257E1}"/>
                </a:ext>
              </a:extLst>
            </p:cNvPr>
            <p:cNvSpPr/>
            <p:nvPr/>
          </p:nvSpPr>
          <p:spPr>
            <a:xfrm>
              <a:off x="414099" y="5612328"/>
              <a:ext cx="1124712" cy="146304"/>
            </a:xfrm>
            <a:prstGeom prst="rect">
              <a:avLst/>
            </a:prstGeom>
            <a:noFill/>
            <a:ln/>
          </p:spPr>
          <p:txBody>
            <a:bodyPr wrap="square" lIns="0" tIns="0" rIns="0" bIns="0" rtlCol="0" anchor="ctr"/>
            <a:lstStyle/>
            <a:p>
              <a:pPr marL="0" indent="0" algn="ctr">
                <a:buNone/>
              </a:pPr>
              <a:r>
                <a:rPr lang="en-US" sz="1300">
                  <a:solidFill>
                    <a:srgbClr val="003366"/>
                  </a:solidFill>
                  <a:ea typeface="Arial" pitchFamily="34" charset="-122"/>
                  <a:cs typeface="Arial"/>
                </a:rPr>
                <a:t>Week of July 6</a:t>
              </a:r>
              <a:endParaRPr lang="en-US" sz="1300">
                <a:solidFill>
                  <a:srgbClr val="003366"/>
                </a:solidFill>
                <a:cs typeface="Arial"/>
              </a:endParaRPr>
            </a:p>
          </p:txBody>
        </p:sp>
      </p:grpSp>
      <p:grpSp>
        <p:nvGrpSpPr>
          <p:cNvPr id="49" name="Group 48">
            <a:extLst>
              <a:ext uri="{FF2B5EF4-FFF2-40B4-BE49-F238E27FC236}">
                <a16:creationId xmlns:a16="http://schemas.microsoft.com/office/drawing/2014/main" id="{9725FC37-DAF7-08A6-61C9-1695772BC49A}"/>
              </a:ext>
            </a:extLst>
          </p:cNvPr>
          <p:cNvGrpSpPr/>
          <p:nvPr/>
        </p:nvGrpSpPr>
        <p:grpSpPr>
          <a:xfrm>
            <a:off x="6501983" y="2251780"/>
            <a:ext cx="4622292" cy="2541436"/>
            <a:chOff x="6501983" y="2361508"/>
            <a:chExt cx="4622292" cy="2541436"/>
          </a:xfrm>
        </p:grpSpPr>
        <p:sp>
          <p:nvSpPr>
            <p:cNvPr id="44" name="Text 28">
              <a:extLst>
                <a:ext uri="{FF2B5EF4-FFF2-40B4-BE49-F238E27FC236}">
                  <a16:creationId xmlns:a16="http://schemas.microsoft.com/office/drawing/2014/main" id="{4EA54391-78AC-551A-6590-EECBAFA11657}"/>
                </a:ext>
              </a:extLst>
            </p:cNvPr>
            <p:cNvSpPr/>
            <p:nvPr/>
          </p:nvSpPr>
          <p:spPr>
            <a:xfrm>
              <a:off x="6501983" y="4624437"/>
              <a:ext cx="2075688" cy="182880"/>
            </a:xfrm>
            <a:prstGeom prst="rect">
              <a:avLst/>
            </a:prstGeom>
            <a:noFill/>
            <a:ln/>
          </p:spPr>
          <p:txBody>
            <a:bodyPr wrap="square" lIns="0" tIns="0" rIns="0" bIns="0" rtlCol="0" anchor="ctr"/>
            <a:lstStyle/>
            <a:p>
              <a:pPr marL="0" indent="0" algn="ctr">
                <a:buNone/>
              </a:pPr>
              <a:r>
                <a:rPr lang="en-US" sz="1600" b="1">
                  <a:solidFill>
                    <a:srgbClr val="061060"/>
                  </a:solidFill>
                  <a:ea typeface="Arial" pitchFamily="34" charset="-122"/>
                  <a:cs typeface="Arial" pitchFamily="34" charset="-120"/>
                </a:rPr>
                <a:t>FSCP</a:t>
              </a:r>
              <a:r>
                <a:rPr lang="en-US" sz="1600" b="1" baseline="30000">
                  <a:solidFill>
                    <a:srgbClr val="061060"/>
                  </a:solidFill>
                  <a:ea typeface="Arial" pitchFamily="34" charset="-122"/>
                  <a:cs typeface="Arial" pitchFamily="34" charset="-120"/>
                </a:rPr>
                <a:t>®</a:t>
              </a:r>
              <a:r>
                <a:rPr lang="en-US" sz="1600" b="1">
                  <a:solidFill>
                    <a:srgbClr val="061060"/>
                  </a:solidFill>
                  <a:ea typeface="Arial" pitchFamily="34" charset="-122"/>
                  <a:cs typeface="Arial" pitchFamily="34" charset="-120"/>
                </a:rPr>
                <a:t> cohort</a:t>
              </a:r>
              <a:endParaRPr lang="en-US" sz="1600"/>
            </a:p>
          </p:txBody>
        </p:sp>
        <p:grpSp>
          <p:nvGrpSpPr>
            <p:cNvPr id="16" name="Group 15">
              <a:extLst>
                <a:ext uri="{FF2B5EF4-FFF2-40B4-BE49-F238E27FC236}">
                  <a16:creationId xmlns:a16="http://schemas.microsoft.com/office/drawing/2014/main" id="{D036C1E7-F961-1C1F-2223-07DE6E301493}"/>
                </a:ext>
              </a:extLst>
            </p:cNvPr>
            <p:cNvGrpSpPr/>
            <p:nvPr/>
          </p:nvGrpSpPr>
          <p:grpSpPr>
            <a:xfrm>
              <a:off x="9377946" y="2363864"/>
              <a:ext cx="1746329" cy="2539080"/>
              <a:chOff x="4352245" y="2625485"/>
              <a:chExt cx="2086402" cy="2539080"/>
            </a:xfrm>
          </p:grpSpPr>
          <p:sp>
            <p:nvSpPr>
              <p:cNvPr id="45" name="Text 31">
                <a:extLst>
                  <a:ext uri="{FF2B5EF4-FFF2-40B4-BE49-F238E27FC236}">
                    <a16:creationId xmlns:a16="http://schemas.microsoft.com/office/drawing/2014/main" id="{6DF2D0F4-9BF7-D8BF-6795-276C0000DCEC}"/>
                  </a:ext>
                </a:extLst>
              </p:cNvPr>
              <p:cNvSpPr/>
              <p:nvPr/>
            </p:nvSpPr>
            <p:spPr>
              <a:xfrm>
                <a:off x="4352245" y="2625485"/>
                <a:ext cx="2075688" cy="182880"/>
              </a:xfrm>
              <a:prstGeom prst="rect">
                <a:avLst/>
              </a:prstGeom>
              <a:noFill/>
              <a:ln/>
            </p:spPr>
            <p:txBody>
              <a:bodyPr wrap="square" lIns="0" tIns="0" rIns="0" bIns="0" rtlCol="0" anchor="ctr"/>
              <a:lstStyle/>
              <a:p>
                <a:pPr marL="0" indent="0" algn="ctr">
                  <a:buNone/>
                </a:pPr>
                <a:r>
                  <a:rPr lang="en-US" sz="1600" b="1">
                    <a:solidFill>
                      <a:srgbClr val="061060"/>
                    </a:solidFill>
                    <a:ea typeface="Arial" pitchFamily="34" charset="-122"/>
                    <a:cs typeface="Arial" pitchFamily="34" charset="-120"/>
                  </a:rPr>
                  <a:t>Agents + Managers</a:t>
                </a:r>
                <a:endParaRPr lang="en-US" sz="1600"/>
              </a:p>
            </p:txBody>
          </p:sp>
          <p:sp>
            <p:nvSpPr>
              <p:cNvPr id="46" name="Text 32">
                <a:extLst>
                  <a:ext uri="{FF2B5EF4-FFF2-40B4-BE49-F238E27FC236}">
                    <a16:creationId xmlns:a16="http://schemas.microsoft.com/office/drawing/2014/main" id="{34C3DC54-EF7C-C14F-8E58-3B0D62B1D4F8}"/>
                  </a:ext>
                </a:extLst>
              </p:cNvPr>
              <p:cNvSpPr/>
              <p:nvPr/>
            </p:nvSpPr>
            <p:spPr>
              <a:xfrm>
                <a:off x="4362959" y="4981685"/>
                <a:ext cx="2075688" cy="182880"/>
              </a:xfrm>
              <a:prstGeom prst="rect">
                <a:avLst/>
              </a:prstGeom>
              <a:noFill/>
              <a:ln/>
            </p:spPr>
            <p:txBody>
              <a:bodyPr wrap="square" lIns="0" tIns="0" rIns="0" bIns="0" rtlCol="0" anchor="ctr"/>
              <a:lstStyle/>
              <a:p>
                <a:pPr marL="0" indent="0" algn="ctr">
                  <a:buNone/>
                </a:pPr>
                <a:r>
                  <a:rPr lang="en-US" sz="1600" b="1" dirty="0">
                    <a:solidFill>
                      <a:srgbClr val="061060"/>
                    </a:solidFill>
                    <a:ea typeface="Arial" pitchFamily="34" charset="-122"/>
                    <a:cs typeface="Arial" pitchFamily="34" charset="-120"/>
                  </a:rPr>
                  <a:t>FSCP</a:t>
                </a:r>
                <a:r>
                  <a:rPr lang="en-US" sz="1600" b="1" baseline="30000" dirty="0">
                    <a:solidFill>
                      <a:srgbClr val="061060"/>
                    </a:solidFill>
                    <a:ea typeface="Arial" pitchFamily="34" charset="-122"/>
                    <a:cs typeface="Arial" pitchFamily="34" charset="-120"/>
                  </a:rPr>
                  <a:t>®</a:t>
                </a:r>
                <a:r>
                  <a:rPr lang="en-US" sz="1600" b="1" dirty="0">
                    <a:solidFill>
                      <a:srgbClr val="061060"/>
                    </a:solidFill>
                    <a:ea typeface="Arial" pitchFamily="34" charset="-122"/>
                    <a:cs typeface="Arial" pitchFamily="34" charset="-120"/>
                  </a:rPr>
                  <a:t> &amp; RICP</a:t>
                </a:r>
                <a:r>
                  <a:rPr lang="en-US" sz="1600" b="1" baseline="30000" dirty="0">
                    <a:solidFill>
                      <a:srgbClr val="061060"/>
                    </a:solidFill>
                    <a:ea typeface="Arial" pitchFamily="34" charset="-122"/>
                    <a:cs typeface="Arial" pitchFamily="34" charset="-120"/>
                  </a:rPr>
                  <a:t>®</a:t>
                </a:r>
                <a:r>
                  <a:rPr lang="en-US" sz="1600" b="1" dirty="0">
                    <a:solidFill>
                      <a:srgbClr val="061060"/>
                    </a:solidFill>
                    <a:ea typeface="Arial" pitchFamily="34" charset="-122"/>
                    <a:cs typeface="Arial" pitchFamily="34" charset="-120"/>
                  </a:rPr>
                  <a:t> cohorts</a:t>
                </a:r>
                <a:endParaRPr lang="en-US" sz="1600" dirty="0"/>
              </a:p>
            </p:txBody>
          </p:sp>
        </p:grpSp>
        <p:sp>
          <p:nvSpPr>
            <p:cNvPr id="47" name="Text 27">
              <a:extLst>
                <a:ext uri="{FF2B5EF4-FFF2-40B4-BE49-F238E27FC236}">
                  <a16:creationId xmlns:a16="http://schemas.microsoft.com/office/drawing/2014/main" id="{5F3E01B2-6BF7-93FD-57A8-EA949658C3BA}"/>
                </a:ext>
              </a:extLst>
            </p:cNvPr>
            <p:cNvSpPr/>
            <p:nvPr/>
          </p:nvSpPr>
          <p:spPr>
            <a:xfrm>
              <a:off x="6501983" y="2361508"/>
              <a:ext cx="2075688" cy="182880"/>
            </a:xfrm>
            <a:prstGeom prst="rect">
              <a:avLst/>
            </a:prstGeom>
            <a:noFill/>
            <a:ln/>
          </p:spPr>
          <p:txBody>
            <a:bodyPr wrap="square" lIns="0" tIns="0" rIns="0" bIns="0" rtlCol="0" anchor="ctr"/>
            <a:lstStyle/>
            <a:p>
              <a:pPr marL="0" indent="0" algn="ctr">
                <a:buNone/>
              </a:pPr>
              <a:r>
                <a:rPr lang="en-US" sz="1600" b="1">
                  <a:solidFill>
                    <a:srgbClr val="061060"/>
                  </a:solidFill>
                  <a:ea typeface="Arial" pitchFamily="34" charset="-122"/>
                  <a:cs typeface="Arial" pitchFamily="34" charset="-120"/>
                </a:rPr>
                <a:t>PMF-enrolled Agents^</a:t>
              </a:r>
              <a:endParaRPr lang="en-US" sz="1600"/>
            </a:p>
          </p:txBody>
        </p:sp>
      </p:grpSp>
      <p:sp>
        <p:nvSpPr>
          <p:cNvPr id="48" name="Text 12">
            <a:extLst>
              <a:ext uri="{FF2B5EF4-FFF2-40B4-BE49-F238E27FC236}">
                <a16:creationId xmlns:a16="http://schemas.microsoft.com/office/drawing/2014/main" id="{B44D6DAD-FE45-10E0-9CEB-69A161C7AECE}"/>
              </a:ext>
            </a:extLst>
          </p:cNvPr>
          <p:cNvSpPr/>
          <p:nvPr/>
        </p:nvSpPr>
        <p:spPr>
          <a:xfrm>
            <a:off x="6376252" y="5277242"/>
            <a:ext cx="5045202" cy="420624"/>
          </a:xfrm>
          <a:prstGeom prst="rect">
            <a:avLst/>
          </a:prstGeom>
          <a:noFill/>
          <a:ln/>
        </p:spPr>
        <p:txBody>
          <a:bodyPr wrap="square" lIns="0" tIns="0" rIns="0" bIns="0" rtlCol="0" anchor="ctr">
            <a:noAutofit/>
          </a:bodyPr>
          <a:lstStyle/>
          <a:p>
            <a:pPr marL="0" indent="0">
              <a:buNone/>
            </a:pPr>
            <a:r>
              <a:rPr lang="en-US" sz="1300" dirty="0"/>
              <a:t>^ If you are currently enrolled in the Practice Model Foundations (PFM) learning plan in NYLIC U, choose the survey on the left. </a:t>
            </a:r>
          </a:p>
        </p:txBody>
      </p:sp>
    </p:spTree>
    <p:extLst>
      <p:ext uri="{BB962C8B-B14F-4D97-AF65-F5344CB8AC3E}">
        <p14:creationId xmlns:p14="http://schemas.microsoft.com/office/powerpoint/2010/main" val="1589240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6A047-2C0F-4E06-410D-2E40EA135B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31EE98F-3FD9-4694-9FB5-5E77F856B92C}"/>
              </a:ext>
            </a:extLst>
          </p:cNvPr>
          <p:cNvSpPr>
            <a:spLocks/>
          </p:cNvSpPr>
          <p:nvPr/>
        </p:nvSpPr>
        <p:spPr>
          <a:xfrm>
            <a:off x="0" y="1639474"/>
            <a:ext cx="12192000" cy="3662101"/>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dirty="0">
              <a:solidFill>
                <a:schemeClr val="tx1"/>
              </a:solidFill>
            </a:endParaRPr>
          </a:p>
        </p:txBody>
      </p:sp>
      <p:sp>
        <p:nvSpPr>
          <p:cNvPr id="21" name="Rectangle 20">
            <a:extLst>
              <a:ext uri="{FF2B5EF4-FFF2-40B4-BE49-F238E27FC236}">
                <a16:creationId xmlns:a16="http://schemas.microsoft.com/office/drawing/2014/main" id="{69932BED-2D8C-36F6-8244-3F0B418E31B6}"/>
              </a:ext>
            </a:extLst>
          </p:cNvPr>
          <p:cNvSpPr/>
          <p:nvPr/>
        </p:nvSpPr>
        <p:spPr>
          <a:xfrm>
            <a:off x="9276537" y="1599056"/>
            <a:ext cx="2686835" cy="368080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itle 1">
            <a:extLst>
              <a:ext uri="{FF2B5EF4-FFF2-40B4-BE49-F238E27FC236}">
                <a16:creationId xmlns:a16="http://schemas.microsoft.com/office/drawing/2014/main" id="{B5B8CD93-04B8-B3D0-8C1E-0D135CA83678}"/>
              </a:ext>
            </a:extLst>
          </p:cNvPr>
          <p:cNvSpPr>
            <a:spLocks noGrp="1"/>
          </p:cNvSpPr>
          <p:nvPr>
            <p:ph type="title"/>
          </p:nvPr>
        </p:nvSpPr>
        <p:spPr>
          <a:xfrm>
            <a:off x="205754" y="283972"/>
            <a:ext cx="11952581" cy="496033"/>
          </a:xfrm>
        </p:spPr>
        <p:txBody>
          <a:bodyPr/>
          <a:lstStyle/>
          <a:p>
            <a:r>
              <a:rPr lang="en-US" sz="2400">
                <a:latin typeface="+mj-lt"/>
              </a:rPr>
              <a:t>Attend the NYL Healthy Living series and learn about the new program for policyholders</a:t>
            </a:r>
            <a:br>
              <a:rPr lang="en-US" sz="2400">
                <a:latin typeface="+mj-lt"/>
              </a:rPr>
            </a:br>
            <a:r>
              <a:rPr lang="en-US" sz="1800">
                <a:latin typeface="+mn-lt"/>
              </a:rPr>
              <a:t>Available</a:t>
            </a:r>
            <a:r>
              <a:rPr lang="en-US" sz="1800" dirty="0">
                <a:latin typeface="+mn-lt"/>
              </a:rPr>
              <a:t> to call clients with policies from Arkansas, Colorado, Connecticut, Georgia, Minnesota, Pennsylvania</a:t>
            </a:r>
            <a:endParaRPr lang="en-CO" sz="2800" dirty="0">
              <a:latin typeface="+mn-lt"/>
            </a:endParaRPr>
          </a:p>
        </p:txBody>
      </p:sp>
      <p:sp>
        <p:nvSpPr>
          <p:cNvPr id="18" name="Rectangle 17">
            <a:extLst>
              <a:ext uri="{FF2B5EF4-FFF2-40B4-BE49-F238E27FC236}">
                <a16:creationId xmlns:a16="http://schemas.microsoft.com/office/drawing/2014/main" id="{55725123-E834-5746-2CE4-6390C283E78D}"/>
              </a:ext>
            </a:extLst>
          </p:cNvPr>
          <p:cNvSpPr/>
          <p:nvPr/>
        </p:nvSpPr>
        <p:spPr>
          <a:xfrm>
            <a:off x="486453" y="1596039"/>
            <a:ext cx="2686835" cy="370553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ectangle 18">
            <a:extLst>
              <a:ext uri="{FF2B5EF4-FFF2-40B4-BE49-F238E27FC236}">
                <a16:creationId xmlns:a16="http://schemas.microsoft.com/office/drawing/2014/main" id="{432C1F49-8C7F-61E6-C391-88379CA79F25}"/>
              </a:ext>
            </a:extLst>
          </p:cNvPr>
          <p:cNvSpPr/>
          <p:nvPr/>
        </p:nvSpPr>
        <p:spPr>
          <a:xfrm>
            <a:off x="3366762" y="1620770"/>
            <a:ext cx="2686835" cy="368080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Rectangle 19">
            <a:extLst>
              <a:ext uri="{FF2B5EF4-FFF2-40B4-BE49-F238E27FC236}">
                <a16:creationId xmlns:a16="http://schemas.microsoft.com/office/drawing/2014/main" id="{1CB0D726-54C5-1BF8-762B-53DD5140ABB0}"/>
              </a:ext>
            </a:extLst>
          </p:cNvPr>
          <p:cNvSpPr/>
          <p:nvPr/>
        </p:nvSpPr>
        <p:spPr>
          <a:xfrm>
            <a:off x="6345197" y="1620770"/>
            <a:ext cx="2686835" cy="368080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6" name="Text Placeholder 3">
            <a:extLst>
              <a:ext uri="{FF2B5EF4-FFF2-40B4-BE49-F238E27FC236}">
                <a16:creationId xmlns:a16="http://schemas.microsoft.com/office/drawing/2014/main" id="{C2E9F49A-3513-2831-A326-8B4B919EFD38}"/>
              </a:ext>
            </a:extLst>
          </p:cNvPr>
          <p:cNvSpPr txBox="1">
            <a:spLocks/>
          </p:cNvSpPr>
          <p:nvPr/>
        </p:nvSpPr>
        <p:spPr>
          <a:xfrm>
            <a:off x="906969" y="1990634"/>
            <a:ext cx="1845803" cy="365892"/>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Introduction</a:t>
            </a:r>
          </a:p>
        </p:txBody>
      </p:sp>
      <p:sp>
        <p:nvSpPr>
          <p:cNvPr id="27" name="Text Placeholder 4">
            <a:extLst>
              <a:ext uri="{FF2B5EF4-FFF2-40B4-BE49-F238E27FC236}">
                <a16:creationId xmlns:a16="http://schemas.microsoft.com/office/drawing/2014/main" id="{15AA6072-8112-94D0-FF5C-96294D64C15F}"/>
              </a:ext>
            </a:extLst>
          </p:cNvPr>
          <p:cNvSpPr txBox="1">
            <a:spLocks/>
          </p:cNvSpPr>
          <p:nvPr/>
        </p:nvSpPr>
        <p:spPr>
          <a:xfrm>
            <a:off x="587140" y="2361209"/>
            <a:ext cx="2485461" cy="899159"/>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indent="-111125">
              <a:spcBef>
                <a:spcPts val="400"/>
              </a:spcBef>
            </a:pPr>
            <a:r>
              <a:rPr lang="en-US" sz="1200" b="1" dirty="0">
                <a:solidFill>
                  <a:schemeClr val="tx1"/>
                </a:solidFill>
              </a:rPr>
              <a:t>Overview of NYL Healthy Living</a:t>
            </a:r>
          </a:p>
          <a:p>
            <a:pPr marL="111125" indent="-111125">
              <a:spcBef>
                <a:spcPts val="400"/>
              </a:spcBef>
            </a:pPr>
            <a:r>
              <a:rPr lang="en-US" sz="1200" dirty="0">
                <a:solidFill>
                  <a:schemeClr val="tx1"/>
                </a:solidFill>
              </a:rPr>
              <a:t>Talking Points w/ clients</a:t>
            </a:r>
          </a:p>
          <a:p>
            <a:pPr marL="111125" indent="-111125">
              <a:spcBef>
                <a:spcPts val="400"/>
              </a:spcBef>
            </a:pPr>
            <a:r>
              <a:rPr lang="en-US" sz="1200" dirty="0">
                <a:solidFill>
                  <a:schemeClr val="tx1"/>
                </a:solidFill>
              </a:rPr>
              <a:t>Resources to get started</a:t>
            </a:r>
          </a:p>
          <a:p>
            <a:pPr marL="111125" indent="-111125">
              <a:spcBef>
                <a:spcPts val="400"/>
              </a:spcBef>
            </a:pPr>
            <a:r>
              <a:rPr lang="en-US" sz="1200" dirty="0">
                <a:solidFill>
                  <a:schemeClr val="tx1"/>
                </a:solidFill>
              </a:rPr>
              <a:t>Guest speakers</a:t>
            </a:r>
          </a:p>
        </p:txBody>
      </p:sp>
      <p:sp>
        <p:nvSpPr>
          <p:cNvPr id="28" name="Text Placeholder 6">
            <a:extLst>
              <a:ext uri="{FF2B5EF4-FFF2-40B4-BE49-F238E27FC236}">
                <a16:creationId xmlns:a16="http://schemas.microsoft.com/office/drawing/2014/main" id="{52417B31-50E0-C529-FB71-9B28FB524D4F}"/>
              </a:ext>
            </a:extLst>
          </p:cNvPr>
          <p:cNvSpPr txBox="1">
            <a:spLocks/>
          </p:cNvSpPr>
          <p:nvPr/>
        </p:nvSpPr>
        <p:spPr>
          <a:xfrm>
            <a:off x="6427546" y="1990634"/>
            <a:ext cx="2522136" cy="365892"/>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Spotlight: Function</a:t>
            </a:r>
          </a:p>
        </p:txBody>
      </p:sp>
      <p:sp>
        <p:nvSpPr>
          <p:cNvPr id="30" name="Text Placeholder 8">
            <a:extLst>
              <a:ext uri="{FF2B5EF4-FFF2-40B4-BE49-F238E27FC236}">
                <a16:creationId xmlns:a16="http://schemas.microsoft.com/office/drawing/2014/main" id="{AE36E2BD-409C-D64B-664B-59F577DCB867}"/>
              </a:ext>
            </a:extLst>
          </p:cNvPr>
          <p:cNvSpPr txBox="1">
            <a:spLocks/>
          </p:cNvSpPr>
          <p:nvPr/>
        </p:nvSpPr>
        <p:spPr>
          <a:xfrm>
            <a:off x="3366761" y="2698196"/>
            <a:ext cx="2686836" cy="365892"/>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000">
              <a:solidFill>
                <a:schemeClr val="tx1"/>
              </a:solidFill>
            </a:endParaRPr>
          </a:p>
        </p:txBody>
      </p:sp>
      <p:sp>
        <p:nvSpPr>
          <p:cNvPr id="10" name="Text Placeholder 4">
            <a:extLst>
              <a:ext uri="{FF2B5EF4-FFF2-40B4-BE49-F238E27FC236}">
                <a16:creationId xmlns:a16="http://schemas.microsoft.com/office/drawing/2014/main" id="{8C4B27E1-F3D8-977A-38F9-57E5FB98A9C4}"/>
              </a:ext>
            </a:extLst>
          </p:cNvPr>
          <p:cNvSpPr txBox="1">
            <a:spLocks/>
          </p:cNvSpPr>
          <p:nvPr/>
        </p:nvSpPr>
        <p:spPr>
          <a:xfrm>
            <a:off x="6478905" y="3309325"/>
            <a:ext cx="2419419" cy="899159"/>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200">
              <a:solidFill>
                <a:schemeClr val="bg2">
                  <a:lumMod val="10000"/>
                </a:schemeClr>
              </a:solidFill>
            </a:endParaRPr>
          </a:p>
        </p:txBody>
      </p:sp>
      <p:sp>
        <p:nvSpPr>
          <p:cNvPr id="11" name="Text Placeholder 4">
            <a:extLst>
              <a:ext uri="{FF2B5EF4-FFF2-40B4-BE49-F238E27FC236}">
                <a16:creationId xmlns:a16="http://schemas.microsoft.com/office/drawing/2014/main" id="{F8FBEB15-BD51-D2D1-25FC-7BD44D9BA33C}"/>
              </a:ext>
            </a:extLst>
          </p:cNvPr>
          <p:cNvSpPr txBox="1">
            <a:spLocks/>
          </p:cNvSpPr>
          <p:nvPr/>
        </p:nvSpPr>
        <p:spPr>
          <a:xfrm>
            <a:off x="3445635" y="2361209"/>
            <a:ext cx="2529088" cy="899159"/>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indent="-111125">
              <a:spcBef>
                <a:spcPts val="400"/>
              </a:spcBef>
            </a:pPr>
            <a:r>
              <a:rPr lang="en-US" sz="1200" b="1" dirty="0">
                <a:solidFill>
                  <a:schemeClr val="tx1"/>
                </a:solidFill>
              </a:rPr>
              <a:t>Learn about Noom’s weight management tools</a:t>
            </a:r>
          </a:p>
          <a:p>
            <a:pPr marL="111125" indent="-111125">
              <a:spcBef>
                <a:spcPts val="400"/>
              </a:spcBef>
            </a:pPr>
            <a:r>
              <a:rPr lang="en-US" sz="1200" dirty="0">
                <a:solidFill>
                  <a:schemeClr val="tx1"/>
                </a:solidFill>
              </a:rPr>
              <a:t>Noom helps you make behavioral changes to live longer with access to apps and medication</a:t>
            </a:r>
          </a:p>
        </p:txBody>
      </p:sp>
      <p:sp>
        <p:nvSpPr>
          <p:cNvPr id="15" name="Text Placeholder 8">
            <a:extLst>
              <a:ext uri="{FF2B5EF4-FFF2-40B4-BE49-F238E27FC236}">
                <a16:creationId xmlns:a16="http://schemas.microsoft.com/office/drawing/2014/main" id="{D4FAE644-FB52-2537-45CC-CA5423C3566E}"/>
              </a:ext>
            </a:extLst>
          </p:cNvPr>
          <p:cNvSpPr txBox="1">
            <a:spLocks/>
          </p:cNvSpPr>
          <p:nvPr/>
        </p:nvSpPr>
        <p:spPr>
          <a:xfrm>
            <a:off x="9276536" y="1990634"/>
            <a:ext cx="2686836" cy="365892"/>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ea typeface="+mn-ea"/>
                <a:cs typeface="+mn-cs"/>
              </a:rPr>
              <a:t>Spotlight: WHOOP</a:t>
            </a:r>
          </a:p>
        </p:txBody>
      </p:sp>
      <p:sp>
        <p:nvSpPr>
          <p:cNvPr id="42" name="Text Placeholder 3">
            <a:extLst>
              <a:ext uri="{FF2B5EF4-FFF2-40B4-BE49-F238E27FC236}">
                <a16:creationId xmlns:a16="http://schemas.microsoft.com/office/drawing/2014/main" id="{B0D12FD3-BD25-5112-A016-360CDF16ACD4}"/>
              </a:ext>
            </a:extLst>
          </p:cNvPr>
          <p:cNvSpPr txBox="1">
            <a:spLocks/>
          </p:cNvSpPr>
          <p:nvPr/>
        </p:nvSpPr>
        <p:spPr>
          <a:xfrm>
            <a:off x="446868" y="3580181"/>
            <a:ext cx="2766005" cy="365892"/>
          </a:xfrm>
          <a:prstGeom prst="rect">
            <a:avLst/>
          </a:prstGeom>
          <a:noFill/>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ea typeface="Tahoma" panose="020B0604030504040204" pitchFamily="34" charset="0"/>
                <a:cs typeface="Tahoma" panose="020B0604030504040204" pitchFamily="34" charset="0"/>
              </a:rPr>
              <a:t>Mon. May 18: 2 – 2:45 pm ET</a:t>
            </a:r>
          </a:p>
        </p:txBody>
      </p:sp>
      <p:sp>
        <p:nvSpPr>
          <p:cNvPr id="43" name="Text Placeholder 3">
            <a:extLst>
              <a:ext uri="{FF2B5EF4-FFF2-40B4-BE49-F238E27FC236}">
                <a16:creationId xmlns:a16="http://schemas.microsoft.com/office/drawing/2014/main" id="{DF2AFE8B-3496-E323-8A02-7E09CE87243F}"/>
              </a:ext>
            </a:extLst>
          </p:cNvPr>
          <p:cNvSpPr txBox="1">
            <a:spLocks/>
          </p:cNvSpPr>
          <p:nvPr/>
        </p:nvSpPr>
        <p:spPr>
          <a:xfrm>
            <a:off x="3366762" y="3580181"/>
            <a:ext cx="2686835" cy="365892"/>
          </a:xfrm>
          <a:prstGeom prst="rect">
            <a:avLst/>
          </a:prstGeom>
          <a:noFill/>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ea typeface="Tahoma" panose="020B0604030504040204" pitchFamily="34" charset="0"/>
                <a:cs typeface="Tahoma" panose="020B0604030504040204" pitchFamily="34" charset="0"/>
              </a:rPr>
              <a:t>Mon. May 18: 4 – 4:45 pm ET</a:t>
            </a:r>
          </a:p>
        </p:txBody>
      </p:sp>
      <p:sp>
        <p:nvSpPr>
          <p:cNvPr id="44" name="Text Placeholder 3">
            <a:extLst>
              <a:ext uri="{FF2B5EF4-FFF2-40B4-BE49-F238E27FC236}">
                <a16:creationId xmlns:a16="http://schemas.microsoft.com/office/drawing/2014/main" id="{C1729AAC-66A3-7411-1025-5E2ABD39CAAF}"/>
              </a:ext>
            </a:extLst>
          </p:cNvPr>
          <p:cNvSpPr txBox="1">
            <a:spLocks/>
          </p:cNvSpPr>
          <p:nvPr/>
        </p:nvSpPr>
        <p:spPr>
          <a:xfrm>
            <a:off x="9268383" y="3580181"/>
            <a:ext cx="2703142" cy="365892"/>
          </a:xfrm>
          <a:prstGeom prst="rect">
            <a:avLst/>
          </a:prstGeom>
          <a:noFill/>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ea typeface="Tahoma" panose="020B0604030504040204" pitchFamily="34" charset="0"/>
                <a:cs typeface="Tahoma" panose="020B0604030504040204" pitchFamily="34" charset="0"/>
              </a:rPr>
              <a:t>Tues. May 27: 3 – 3:45 pm ET</a:t>
            </a:r>
          </a:p>
        </p:txBody>
      </p:sp>
      <p:sp>
        <p:nvSpPr>
          <p:cNvPr id="45" name="Text Placeholder 3">
            <a:extLst>
              <a:ext uri="{FF2B5EF4-FFF2-40B4-BE49-F238E27FC236}">
                <a16:creationId xmlns:a16="http://schemas.microsoft.com/office/drawing/2014/main" id="{8CC7D41E-09B8-F1AE-678D-D8D9FB079D37}"/>
              </a:ext>
            </a:extLst>
          </p:cNvPr>
          <p:cNvSpPr txBox="1">
            <a:spLocks/>
          </p:cNvSpPr>
          <p:nvPr/>
        </p:nvSpPr>
        <p:spPr>
          <a:xfrm>
            <a:off x="6337043" y="3580181"/>
            <a:ext cx="2703142" cy="365892"/>
          </a:xfrm>
          <a:prstGeom prst="rect">
            <a:avLst/>
          </a:prstGeom>
          <a:noFill/>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00" b="1" dirty="0">
                <a:solidFill>
                  <a:schemeClr val="tx1">
                    <a:lumMod val="75000"/>
                    <a:lumOff val="25000"/>
                  </a:schemeClr>
                </a:solidFill>
                <a:ea typeface="Tahoma" panose="020B0604030504040204" pitchFamily="34" charset="0"/>
                <a:cs typeface="Tahoma" panose="020B0604030504040204" pitchFamily="34" charset="0"/>
              </a:rPr>
              <a:t>Thurs. May 21: 1 – 1:45 pm ET</a:t>
            </a:r>
          </a:p>
        </p:txBody>
      </p:sp>
      <p:sp>
        <p:nvSpPr>
          <p:cNvPr id="46" name="Text Placeholder 3">
            <a:extLst>
              <a:ext uri="{FF2B5EF4-FFF2-40B4-BE49-F238E27FC236}">
                <a16:creationId xmlns:a16="http://schemas.microsoft.com/office/drawing/2014/main" id="{65BB4009-1CDA-701B-96A1-E6131A1394D3}"/>
              </a:ext>
            </a:extLst>
          </p:cNvPr>
          <p:cNvSpPr txBox="1">
            <a:spLocks/>
          </p:cNvSpPr>
          <p:nvPr/>
        </p:nvSpPr>
        <p:spPr>
          <a:xfrm>
            <a:off x="330314" y="926435"/>
            <a:ext cx="6148591" cy="365892"/>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200" dirty="0">
                <a:solidFill>
                  <a:schemeClr val="bg2">
                    <a:lumMod val="25000"/>
                  </a:schemeClr>
                </a:solidFill>
                <a:ea typeface="Tahoma" panose="020B0604030504040204" pitchFamily="34" charset="0"/>
                <a:cs typeface="Tahoma" panose="020B0604030504040204" pitchFamily="34" charset="0"/>
              </a:rPr>
              <a:t>Recordings will be available | Questions? Contact </a:t>
            </a:r>
            <a:r>
              <a:rPr lang="en-US" sz="1200" dirty="0">
                <a:solidFill>
                  <a:schemeClr val="bg2">
                    <a:lumMod val="25000"/>
                  </a:schemeClr>
                </a:solidFill>
                <a:ea typeface="Tahoma" panose="020B0604030504040204" pitchFamily="34" charset="0"/>
                <a:cs typeface="Tahoma" panose="020B0604030504040204" pitchFamily="34" charset="0"/>
                <a:hlinkClick r:id="rId3"/>
              </a:rPr>
              <a:t>nylhealthyliving@newyorklife.com</a:t>
            </a:r>
            <a:r>
              <a:rPr lang="en-US" sz="1200" dirty="0">
                <a:solidFill>
                  <a:schemeClr val="bg2">
                    <a:lumMod val="25000"/>
                  </a:schemeClr>
                </a:solidFill>
                <a:ea typeface="Tahoma" panose="020B0604030504040204" pitchFamily="34" charset="0"/>
                <a:cs typeface="Tahoma" panose="020B0604030504040204" pitchFamily="34" charset="0"/>
              </a:rPr>
              <a:t> </a:t>
            </a:r>
          </a:p>
        </p:txBody>
      </p:sp>
      <p:sp>
        <p:nvSpPr>
          <p:cNvPr id="3" name="TextBox 2">
            <a:extLst>
              <a:ext uri="{FF2B5EF4-FFF2-40B4-BE49-F238E27FC236}">
                <a16:creationId xmlns:a16="http://schemas.microsoft.com/office/drawing/2014/main" id="{1FF9D658-FF7F-48E7-65F2-88DBA3AAE1EB}"/>
              </a:ext>
            </a:extLst>
          </p:cNvPr>
          <p:cNvSpPr txBox="1"/>
          <p:nvPr/>
        </p:nvSpPr>
        <p:spPr>
          <a:xfrm>
            <a:off x="439946" y="5355569"/>
            <a:ext cx="11484198" cy="846386"/>
          </a:xfrm>
          <a:prstGeom prst="rect">
            <a:avLst/>
          </a:prstGeom>
          <a:noFill/>
        </p:spPr>
        <p:txBody>
          <a:bodyPr wrap="square">
            <a:spAutoFit/>
          </a:bodyPr>
          <a:lstStyle/>
          <a:p>
            <a:r>
              <a:rPr lang="en-US" sz="700" dirty="0"/>
              <a:t>These optional services from third party service providers are accessible through a partnership with New York Life Insurance Company (“New York Life”). The third-party service providers/companies represented are not affiliated with New York Life Insurance Company or any of its affiliates. The logos and other identifying marks attached are trademarks of and owned by each represented company and/or its affiliates. The service providers are solely responsible for the services and any discounts they provide. You have a choice to engage with the providers for their services. If you choose to do so, those engagements will be governed by the particular applicable terms and conditions of the respective provider. The service providers are solely responsible for the services they provide. You will be responsible to pay any fees or cost associated with the selected service directly to the service provider. New York Life is not responsible for the cost of these services or the relationship with these service providers. Offer not available in all states and limited to designated products. Participation in any Health and Wellness service is intended solely for the individual recipient of this communication and may not be transferred, shared, or used by others and is limited to designated products. Participation in any Health and Wellness service is intended solely for the individual recipient of this communication and may not be transferred, shared, or used by others. The access to these services may be discontinued at any time. Following New York Life Insurance Company’s discontinuance of the program, you can continue the services directly through the service providers or obtain new services at the fees, if any, set by the service providers. </a:t>
            </a:r>
          </a:p>
        </p:txBody>
      </p:sp>
      <p:sp>
        <p:nvSpPr>
          <p:cNvPr id="4" name="TextBox 3">
            <a:extLst>
              <a:ext uri="{FF2B5EF4-FFF2-40B4-BE49-F238E27FC236}">
                <a16:creationId xmlns:a16="http://schemas.microsoft.com/office/drawing/2014/main" id="{B06D27F2-9BCF-9EE9-F84D-7D469F5892FF}"/>
              </a:ext>
            </a:extLst>
          </p:cNvPr>
          <p:cNvSpPr txBox="1"/>
          <p:nvPr/>
        </p:nvSpPr>
        <p:spPr>
          <a:xfrm>
            <a:off x="1174445" y="6306216"/>
            <a:ext cx="6096000" cy="230832"/>
          </a:xfrm>
          <a:prstGeom prst="rect">
            <a:avLst/>
          </a:prstGeom>
          <a:noFill/>
        </p:spPr>
        <p:txBody>
          <a:bodyPr wrap="square">
            <a:spAutoFit/>
          </a:bodyPr>
          <a:lstStyle/>
          <a:p>
            <a:r>
              <a:rPr lang="en-US" sz="900"/>
              <a:t>SMRU# 8921478 Exp. 5/11/2029</a:t>
            </a:r>
          </a:p>
        </p:txBody>
      </p:sp>
      <p:sp>
        <p:nvSpPr>
          <p:cNvPr id="22" name="TextBox 21">
            <a:extLst>
              <a:ext uri="{FF2B5EF4-FFF2-40B4-BE49-F238E27FC236}">
                <a16:creationId xmlns:a16="http://schemas.microsoft.com/office/drawing/2014/main" id="{EE703640-D5DC-2F6A-8133-79018039AD22}"/>
              </a:ext>
            </a:extLst>
          </p:cNvPr>
          <p:cNvSpPr txBox="1"/>
          <p:nvPr/>
        </p:nvSpPr>
        <p:spPr>
          <a:xfrm>
            <a:off x="3443555" y="1990634"/>
            <a:ext cx="253324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ea typeface="+mn-ea"/>
                <a:cs typeface="+mn-cs"/>
              </a:rPr>
              <a:t>Spotlight: Noom</a:t>
            </a:r>
          </a:p>
        </p:txBody>
      </p:sp>
      <p:sp>
        <p:nvSpPr>
          <p:cNvPr id="24" name="Text Placeholder 4">
            <a:extLst>
              <a:ext uri="{FF2B5EF4-FFF2-40B4-BE49-F238E27FC236}">
                <a16:creationId xmlns:a16="http://schemas.microsoft.com/office/drawing/2014/main" id="{C1FDD758-9901-A6C0-C950-F67CA9D3A4A4}"/>
              </a:ext>
            </a:extLst>
          </p:cNvPr>
          <p:cNvSpPr txBox="1">
            <a:spLocks/>
          </p:cNvSpPr>
          <p:nvPr/>
        </p:nvSpPr>
        <p:spPr>
          <a:xfrm>
            <a:off x="9350260" y="2361209"/>
            <a:ext cx="2539388" cy="899159"/>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indent="-111125">
              <a:spcBef>
                <a:spcPts val="400"/>
              </a:spcBef>
            </a:pPr>
            <a:r>
              <a:rPr lang="en-US" sz="1200" b="1" dirty="0">
                <a:solidFill>
                  <a:schemeClr val="tx1"/>
                </a:solidFill>
              </a:rPr>
              <a:t>Learn about WHOOP’s 24/7 wearable health tracker</a:t>
            </a:r>
          </a:p>
          <a:p>
            <a:pPr marL="111125" indent="-111125">
              <a:spcBef>
                <a:spcPts val="400"/>
              </a:spcBef>
            </a:pPr>
            <a:r>
              <a:rPr lang="en-US" sz="1200" dirty="0">
                <a:solidFill>
                  <a:schemeClr val="tx1"/>
                </a:solidFill>
              </a:rPr>
              <a:t>WHOOP tracks your sleep, strain, and stress to coach you in improving your </a:t>
            </a:r>
            <a:r>
              <a:rPr lang="en-US" sz="1200" dirty="0" err="1">
                <a:solidFill>
                  <a:schemeClr val="tx1"/>
                </a:solidFill>
              </a:rPr>
              <a:t>healthspan</a:t>
            </a:r>
            <a:endParaRPr lang="en-US" sz="1200" dirty="0">
              <a:solidFill>
                <a:schemeClr val="tx1"/>
              </a:solidFill>
            </a:endParaRPr>
          </a:p>
        </p:txBody>
      </p:sp>
      <p:sp>
        <p:nvSpPr>
          <p:cNvPr id="29" name="Text Placeholder 4">
            <a:extLst>
              <a:ext uri="{FF2B5EF4-FFF2-40B4-BE49-F238E27FC236}">
                <a16:creationId xmlns:a16="http://schemas.microsoft.com/office/drawing/2014/main" id="{5A7136AD-00CF-760C-5915-43887836F1CB}"/>
              </a:ext>
            </a:extLst>
          </p:cNvPr>
          <p:cNvSpPr txBox="1">
            <a:spLocks/>
          </p:cNvSpPr>
          <p:nvPr/>
        </p:nvSpPr>
        <p:spPr>
          <a:xfrm>
            <a:off x="6392141" y="2361209"/>
            <a:ext cx="2592946" cy="899159"/>
          </a:xfrm>
          <a:prstGeom prst="rect">
            <a:avLst/>
          </a:prstGeom>
        </p:spPr>
        <p:txBody>
          <a:bodyPr/>
          <a:lstStyle>
            <a:lvl1pPr marL="228600" indent="-228600" algn="l" defTabSz="914400" rtl="0" eaLnBrk="1" latinLnBrk="0" hangingPunct="1">
              <a:lnSpc>
                <a:spcPct val="120000"/>
              </a:lnSpc>
              <a:spcBef>
                <a:spcPts val="800"/>
              </a:spcBef>
              <a:buFont typeface="Arial" panose="020B0604020202020204" pitchFamily="34" charset="0"/>
              <a:buChar char="•"/>
              <a:defRPr sz="28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800"/>
              </a:spcBef>
              <a:buFont typeface="Arial" panose="020B0604020202020204" pitchFamily="34" charset="0"/>
              <a:buChar char="•"/>
              <a:defRPr sz="2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800"/>
              </a:spcBef>
              <a:buFont typeface="Arial" panose="020B0604020202020204" pitchFamily="34" charset="0"/>
              <a:buChar char="•"/>
              <a:defRPr sz="20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800"/>
              </a:spcBef>
              <a:buFont typeface="Arial" panose="020B0604020202020204" pitchFamily="34" charset="0"/>
              <a:buChar char="•"/>
              <a:defRPr sz="18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indent="-111125">
              <a:spcBef>
                <a:spcPts val="400"/>
              </a:spcBef>
            </a:pPr>
            <a:r>
              <a:rPr lang="en-US" sz="1200" b="1" dirty="0">
                <a:solidFill>
                  <a:schemeClr val="tx1"/>
                </a:solidFill>
              </a:rPr>
              <a:t>Learn about Function’s biomarker tracking</a:t>
            </a:r>
          </a:p>
          <a:p>
            <a:pPr marL="111125" indent="-111125">
              <a:spcBef>
                <a:spcPts val="400"/>
              </a:spcBef>
            </a:pPr>
            <a:r>
              <a:rPr lang="en-US" sz="1200" dirty="0">
                <a:solidFill>
                  <a:schemeClr val="tx1"/>
                </a:solidFill>
              </a:rPr>
              <a:t>Function’s mission is to help you live 100 healthy years by helping you track patterns through lab tests</a:t>
            </a:r>
          </a:p>
        </p:txBody>
      </p:sp>
      <p:pic>
        <p:nvPicPr>
          <p:cNvPr id="7" name="Graphic 6" descr="Apple with solid fill">
            <a:extLst>
              <a:ext uri="{FF2B5EF4-FFF2-40B4-BE49-F238E27FC236}">
                <a16:creationId xmlns:a16="http://schemas.microsoft.com/office/drawing/2014/main" id="{33D5BDAB-4D6A-6CD4-4FE3-1D4BC74ED0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52979" y="1181154"/>
            <a:ext cx="914400" cy="914400"/>
          </a:xfrm>
          <a:prstGeom prst="rect">
            <a:avLst/>
          </a:prstGeom>
        </p:spPr>
      </p:pic>
      <p:pic>
        <p:nvPicPr>
          <p:cNvPr id="13" name="Picture 12">
            <a:extLst>
              <a:ext uri="{FF2B5EF4-FFF2-40B4-BE49-F238E27FC236}">
                <a16:creationId xmlns:a16="http://schemas.microsoft.com/office/drawing/2014/main" id="{BD69F6F4-7CCF-BBB9-F777-557919552C5B}"/>
              </a:ext>
            </a:extLst>
          </p:cNvPr>
          <p:cNvPicPr>
            <a:picLocks noChangeAspect="1"/>
          </p:cNvPicPr>
          <p:nvPr/>
        </p:nvPicPr>
        <p:blipFill>
          <a:blip r:embed="rId5" cstate="print">
            <a:extLst>
              <a:ext uri="{28A0092B-C50C-407E-A947-70E740481C1C}">
                <a14:useLocalDpi xmlns:a14="http://schemas.microsoft.com/office/drawing/2010/main" val="0"/>
              </a:ext>
            </a:extLst>
          </a:blip>
          <a:srcRect l="50000" t="32312" r="35107" b="41174"/>
          <a:stretch>
            <a:fillRect/>
          </a:stretch>
        </p:blipFill>
        <p:spPr>
          <a:xfrm>
            <a:off x="10263017" y="1248235"/>
            <a:ext cx="713874" cy="847319"/>
          </a:xfrm>
          <a:prstGeom prst="rect">
            <a:avLst/>
          </a:prstGeom>
        </p:spPr>
      </p:pic>
      <p:pic>
        <p:nvPicPr>
          <p:cNvPr id="16" name="Picture 15">
            <a:extLst>
              <a:ext uri="{FF2B5EF4-FFF2-40B4-BE49-F238E27FC236}">
                <a16:creationId xmlns:a16="http://schemas.microsoft.com/office/drawing/2014/main" id="{603F1823-C4B7-37A2-38F5-4E0684E82243}"/>
              </a:ext>
            </a:extLst>
          </p:cNvPr>
          <p:cNvPicPr>
            <a:picLocks noChangeAspect="1"/>
          </p:cNvPicPr>
          <p:nvPr/>
        </p:nvPicPr>
        <p:blipFill>
          <a:blip r:embed="rId5" cstate="print">
            <a:extLst>
              <a:ext uri="{28A0092B-C50C-407E-A947-70E740481C1C}">
                <a14:useLocalDpi xmlns:a14="http://schemas.microsoft.com/office/drawing/2010/main" val="0"/>
              </a:ext>
            </a:extLst>
          </a:blip>
          <a:srcRect l="72138" t="32312" r="6036" b="41174"/>
          <a:stretch>
            <a:fillRect/>
          </a:stretch>
        </p:blipFill>
        <p:spPr>
          <a:xfrm>
            <a:off x="7165512" y="1248235"/>
            <a:ext cx="1046204" cy="847319"/>
          </a:xfrm>
          <a:prstGeom prst="rect">
            <a:avLst/>
          </a:prstGeom>
        </p:spPr>
      </p:pic>
      <p:pic>
        <p:nvPicPr>
          <p:cNvPr id="17" name="Picture 16">
            <a:extLst>
              <a:ext uri="{FF2B5EF4-FFF2-40B4-BE49-F238E27FC236}">
                <a16:creationId xmlns:a16="http://schemas.microsoft.com/office/drawing/2014/main" id="{3A717D60-86C0-FB4C-F1BD-BEEAECDDA690}"/>
              </a:ext>
            </a:extLst>
          </p:cNvPr>
          <p:cNvPicPr>
            <a:picLocks noChangeAspect="1"/>
          </p:cNvPicPr>
          <p:nvPr/>
        </p:nvPicPr>
        <p:blipFill>
          <a:blip r:embed="rId5" cstate="print">
            <a:extLst>
              <a:ext uri="{28A0092B-C50C-407E-A947-70E740481C1C}">
                <a14:useLocalDpi xmlns:a14="http://schemas.microsoft.com/office/drawing/2010/main" val="0"/>
              </a:ext>
            </a:extLst>
          </a:blip>
          <a:srcRect l="1999" t="32312" r="71942" b="41174"/>
          <a:stretch>
            <a:fillRect/>
          </a:stretch>
        </p:blipFill>
        <p:spPr>
          <a:xfrm>
            <a:off x="1205304" y="1248235"/>
            <a:ext cx="1249133" cy="847319"/>
          </a:xfrm>
          <a:prstGeom prst="rect">
            <a:avLst/>
          </a:prstGeom>
        </p:spPr>
      </p:pic>
      <p:sp>
        <p:nvSpPr>
          <p:cNvPr id="9" name="TextBox 8">
            <a:extLst>
              <a:ext uri="{FF2B5EF4-FFF2-40B4-BE49-F238E27FC236}">
                <a16:creationId xmlns:a16="http://schemas.microsoft.com/office/drawing/2014/main" id="{34CEF186-2B1E-F956-6925-024F5A54AF15}"/>
              </a:ext>
            </a:extLst>
          </p:cNvPr>
          <p:cNvSpPr txBox="1"/>
          <p:nvPr/>
        </p:nvSpPr>
        <p:spPr>
          <a:xfrm>
            <a:off x="9276537" y="4976795"/>
            <a:ext cx="2686835" cy="276999"/>
          </a:xfrm>
          <a:prstGeom prst="rect">
            <a:avLst/>
          </a:prstGeom>
          <a:noFill/>
        </p:spPr>
        <p:txBody>
          <a:bodyPr wrap="square">
            <a:spAutoFit/>
          </a:bodyPr>
          <a:lstStyle/>
          <a:p>
            <a:pPr algn="ctr"/>
            <a:r>
              <a:rPr lang="en-US" sz="1200">
                <a:hlinkClick r:id="rId6"/>
              </a:rPr>
              <a:t>Registration Link</a:t>
            </a:r>
            <a:endParaRPr lang="en-US" sz="1200"/>
          </a:p>
        </p:txBody>
      </p:sp>
      <p:pic>
        <p:nvPicPr>
          <p:cNvPr id="34" name="Picture 33">
            <a:extLst>
              <a:ext uri="{FF2B5EF4-FFF2-40B4-BE49-F238E27FC236}">
                <a16:creationId xmlns:a16="http://schemas.microsoft.com/office/drawing/2014/main" id="{A465D222-D986-D30C-FF42-DDEF182E6362}"/>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81230" y="3899220"/>
            <a:ext cx="1097280" cy="1097280"/>
          </a:xfrm>
          <a:prstGeom prst="rect">
            <a:avLst/>
          </a:prstGeom>
          <a:noFill/>
          <a:ln>
            <a:noFill/>
          </a:ln>
        </p:spPr>
      </p:pic>
      <p:pic>
        <p:nvPicPr>
          <p:cNvPr id="35" name="Picture 34">
            <a:extLst>
              <a:ext uri="{FF2B5EF4-FFF2-40B4-BE49-F238E27FC236}">
                <a16:creationId xmlns:a16="http://schemas.microsoft.com/office/drawing/2014/main" id="{68C5C61D-E752-CAE0-06F1-4AF02F9949D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61539" y="3899220"/>
            <a:ext cx="1097280" cy="1097280"/>
          </a:xfrm>
          <a:prstGeom prst="rect">
            <a:avLst/>
          </a:prstGeom>
          <a:noFill/>
          <a:ln>
            <a:noFill/>
          </a:ln>
        </p:spPr>
      </p:pic>
      <p:pic>
        <p:nvPicPr>
          <p:cNvPr id="36" name="Picture 35">
            <a:extLst>
              <a:ext uri="{FF2B5EF4-FFF2-40B4-BE49-F238E27FC236}">
                <a16:creationId xmlns:a16="http://schemas.microsoft.com/office/drawing/2014/main" id="{241A5699-E756-2214-4976-1EA0470404F4}"/>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39974" y="3899220"/>
            <a:ext cx="1097280" cy="1097280"/>
          </a:xfrm>
          <a:prstGeom prst="rect">
            <a:avLst/>
          </a:prstGeom>
          <a:noFill/>
          <a:ln>
            <a:noFill/>
          </a:ln>
        </p:spPr>
      </p:pic>
      <p:pic>
        <p:nvPicPr>
          <p:cNvPr id="38" name="Picture 37">
            <a:extLst>
              <a:ext uri="{FF2B5EF4-FFF2-40B4-BE49-F238E27FC236}">
                <a16:creationId xmlns:a16="http://schemas.microsoft.com/office/drawing/2014/main" id="{86747A2C-198B-512F-80DA-DBFD5176C040}"/>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071314" y="3899220"/>
            <a:ext cx="1097280" cy="1097280"/>
          </a:xfrm>
          <a:prstGeom prst="rect">
            <a:avLst/>
          </a:prstGeom>
          <a:noFill/>
          <a:ln>
            <a:noFill/>
          </a:ln>
        </p:spPr>
      </p:pic>
      <p:sp>
        <p:nvSpPr>
          <p:cNvPr id="39" name="TextBox 38">
            <a:extLst>
              <a:ext uri="{FF2B5EF4-FFF2-40B4-BE49-F238E27FC236}">
                <a16:creationId xmlns:a16="http://schemas.microsoft.com/office/drawing/2014/main" id="{C638E6BD-5D74-3582-691E-1911C02E0FAE}"/>
              </a:ext>
            </a:extLst>
          </p:cNvPr>
          <p:cNvSpPr txBox="1"/>
          <p:nvPr/>
        </p:nvSpPr>
        <p:spPr>
          <a:xfrm>
            <a:off x="6345197" y="4976795"/>
            <a:ext cx="2686835" cy="276999"/>
          </a:xfrm>
          <a:prstGeom prst="rect">
            <a:avLst/>
          </a:prstGeom>
          <a:noFill/>
        </p:spPr>
        <p:txBody>
          <a:bodyPr wrap="square">
            <a:spAutoFit/>
          </a:bodyPr>
          <a:lstStyle/>
          <a:p>
            <a:pPr algn="ctr"/>
            <a:r>
              <a:rPr lang="en-US" sz="1200">
                <a:hlinkClick r:id="rId11"/>
              </a:rPr>
              <a:t>Registration Link</a:t>
            </a:r>
            <a:endParaRPr lang="en-US" sz="1200"/>
          </a:p>
        </p:txBody>
      </p:sp>
      <p:sp>
        <p:nvSpPr>
          <p:cNvPr id="40" name="TextBox 39">
            <a:extLst>
              <a:ext uri="{FF2B5EF4-FFF2-40B4-BE49-F238E27FC236}">
                <a16:creationId xmlns:a16="http://schemas.microsoft.com/office/drawing/2014/main" id="{9661A41F-C404-A927-50BD-668FC1AA6FCC}"/>
              </a:ext>
            </a:extLst>
          </p:cNvPr>
          <p:cNvSpPr txBox="1"/>
          <p:nvPr/>
        </p:nvSpPr>
        <p:spPr>
          <a:xfrm>
            <a:off x="3366762" y="4976795"/>
            <a:ext cx="2686835" cy="276999"/>
          </a:xfrm>
          <a:prstGeom prst="rect">
            <a:avLst/>
          </a:prstGeom>
          <a:noFill/>
        </p:spPr>
        <p:txBody>
          <a:bodyPr wrap="square">
            <a:spAutoFit/>
          </a:bodyPr>
          <a:lstStyle/>
          <a:p>
            <a:pPr algn="ctr"/>
            <a:r>
              <a:rPr lang="en-US" sz="1200">
                <a:hlinkClick r:id="rId12"/>
              </a:rPr>
              <a:t>Registration Link</a:t>
            </a:r>
            <a:endParaRPr lang="en-US" sz="1200"/>
          </a:p>
        </p:txBody>
      </p:sp>
      <p:sp>
        <p:nvSpPr>
          <p:cNvPr id="41" name="TextBox 40">
            <a:extLst>
              <a:ext uri="{FF2B5EF4-FFF2-40B4-BE49-F238E27FC236}">
                <a16:creationId xmlns:a16="http://schemas.microsoft.com/office/drawing/2014/main" id="{0F93A8FD-4340-3311-CDE4-1CF70CEA3E6B}"/>
              </a:ext>
            </a:extLst>
          </p:cNvPr>
          <p:cNvSpPr txBox="1"/>
          <p:nvPr/>
        </p:nvSpPr>
        <p:spPr>
          <a:xfrm>
            <a:off x="486453" y="4976795"/>
            <a:ext cx="2686835" cy="276999"/>
          </a:xfrm>
          <a:prstGeom prst="rect">
            <a:avLst/>
          </a:prstGeom>
          <a:noFill/>
        </p:spPr>
        <p:txBody>
          <a:bodyPr wrap="square">
            <a:spAutoFit/>
          </a:bodyPr>
          <a:lstStyle/>
          <a:p>
            <a:pPr algn="ctr"/>
            <a:r>
              <a:rPr lang="en-US" sz="1200">
                <a:hlinkClick r:id="rId13"/>
              </a:rPr>
              <a:t>Registration Link</a:t>
            </a:r>
            <a:endParaRPr lang="en-US" sz="1200"/>
          </a:p>
        </p:txBody>
      </p:sp>
    </p:spTree>
    <p:extLst>
      <p:ext uri="{BB962C8B-B14F-4D97-AF65-F5344CB8AC3E}">
        <p14:creationId xmlns:p14="http://schemas.microsoft.com/office/powerpoint/2010/main" val="4132484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55B1-D85F-CD99-46D2-8C17CBCD8A9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0C2775F-2A6A-69C0-F51B-E2EC69892C6A}"/>
              </a:ext>
            </a:extLst>
          </p:cNvPr>
          <p:cNvSpPr>
            <a:spLocks/>
          </p:cNvSpPr>
          <p:nvPr/>
        </p:nvSpPr>
        <p:spPr>
          <a:xfrm>
            <a:off x="0" y="1597949"/>
            <a:ext cx="12192000" cy="3662101"/>
          </a:xfrm>
          <a:prstGeom prst="rect">
            <a:avLst/>
          </a:prstGeom>
          <a:solidFill>
            <a:schemeClr val="bg1">
              <a:alpha val="34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tIns="45720" bIns="45720" rtlCol="0" anchor="t"/>
          <a:lstStyle/>
          <a:p>
            <a:pPr>
              <a:spcBef>
                <a:spcPts val="600"/>
              </a:spcBef>
            </a:pPr>
            <a:endParaRPr lang="en-US" sz="1600" dirty="0">
              <a:solidFill>
                <a:schemeClr val="tx1"/>
              </a:solidFill>
            </a:endParaRPr>
          </a:p>
        </p:txBody>
      </p:sp>
      <p:sp>
        <p:nvSpPr>
          <p:cNvPr id="21" name="Rectangle 20">
            <a:extLst>
              <a:ext uri="{FF2B5EF4-FFF2-40B4-BE49-F238E27FC236}">
                <a16:creationId xmlns:a16="http://schemas.microsoft.com/office/drawing/2014/main" id="{BC4C61FC-9618-9204-E9F0-3A3E9205E232}"/>
              </a:ext>
            </a:extLst>
          </p:cNvPr>
          <p:cNvSpPr/>
          <p:nvPr/>
        </p:nvSpPr>
        <p:spPr bwMode="ltGray">
          <a:xfrm>
            <a:off x="824430" y="3841685"/>
            <a:ext cx="5502281" cy="120083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 name="Slide Number Placeholder 1">
            <a:extLst>
              <a:ext uri="{FF2B5EF4-FFF2-40B4-BE49-F238E27FC236}">
                <a16:creationId xmlns:a16="http://schemas.microsoft.com/office/drawing/2014/main" id="{8ED9BF5B-FADD-6915-5571-7BB0CE827491}"/>
              </a:ext>
            </a:extLst>
          </p:cNvPr>
          <p:cNvSpPr>
            <a:spLocks noGrp="1"/>
          </p:cNvSpPr>
          <p:nvPr>
            <p:ph type="sldNum" sz="quarter" idx="10"/>
          </p:nvPr>
        </p:nvSpPr>
        <p:spPr/>
        <p:txBody>
          <a:bodyPr/>
          <a:lstStyle/>
          <a:p>
            <a:fld id="{A1371F83-EA4D-3B47-99B9-95D90583DC1D}" type="slidenum">
              <a:rPr lang="en-US" smtClean="0"/>
              <a:t>12</a:t>
            </a:fld>
            <a:endParaRPr lang="en-US"/>
          </a:p>
        </p:txBody>
      </p:sp>
      <p:sp>
        <p:nvSpPr>
          <p:cNvPr id="10" name="Content Placeholder 9">
            <a:extLst>
              <a:ext uri="{FF2B5EF4-FFF2-40B4-BE49-F238E27FC236}">
                <a16:creationId xmlns:a16="http://schemas.microsoft.com/office/drawing/2014/main" id="{C9AF1272-EBFE-6FFA-7738-BB1186AB3955}"/>
              </a:ext>
            </a:extLst>
          </p:cNvPr>
          <p:cNvSpPr>
            <a:spLocks noGrp="1"/>
          </p:cNvSpPr>
          <p:nvPr>
            <p:ph idx="1"/>
          </p:nvPr>
        </p:nvSpPr>
        <p:spPr>
          <a:xfrm>
            <a:off x="604236" y="1741147"/>
            <a:ext cx="5796564" cy="2753116"/>
          </a:xfrm>
        </p:spPr>
        <p:txBody>
          <a:bodyPr/>
          <a:lstStyle/>
          <a:p>
            <a:pPr marL="0" indent="0">
              <a:buNone/>
            </a:pPr>
            <a:r>
              <a:rPr lang="en-US" sz="1800" dirty="0"/>
              <a:t>New quarterly podcast series hosted by Aaron Ball, EVP and Head of the Foundational Business, and Sonali Virendra, SVP and Head of Agency:</a:t>
            </a:r>
          </a:p>
          <a:p>
            <a:r>
              <a:rPr lang="en-US" sz="1800" b="1" dirty="0"/>
              <a:t>Episode 1:</a:t>
            </a:r>
            <a:r>
              <a:rPr lang="en-US" sz="1800" dirty="0"/>
              <a:t> Removing friction from new business and underwriting feat. Steve Abramo, SVP, Purchase Experience Value Stream</a:t>
            </a:r>
          </a:p>
        </p:txBody>
      </p:sp>
      <p:sp>
        <p:nvSpPr>
          <p:cNvPr id="9" name="Title 8">
            <a:extLst>
              <a:ext uri="{FF2B5EF4-FFF2-40B4-BE49-F238E27FC236}">
                <a16:creationId xmlns:a16="http://schemas.microsoft.com/office/drawing/2014/main" id="{15EB2AE4-8C6D-77DE-EC5D-840F606DC984}"/>
              </a:ext>
            </a:extLst>
          </p:cNvPr>
          <p:cNvSpPr>
            <a:spLocks noGrp="1"/>
          </p:cNvSpPr>
          <p:nvPr>
            <p:ph type="title"/>
          </p:nvPr>
        </p:nvSpPr>
        <p:spPr>
          <a:xfrm>
            <a:off x="682976" y="429825"/>
            <a:ext cx="10939462" cy="402336"/>
          </a:xfrm>
        </p:spPr>
        <p:txBody>
          <a:bodyPr/>
          <a:lstStyle/>
          <a:p>
            <a:r>
              <a:rPr lang="en-US" dirty="0"/>
              <a:t>Tune in quarterly: The Elevate Podcast</a:t>
            </a:r>
          </a:p>
        </p:txBody>
      </p:sp>
      <p:pic>
        <p:nvPicPr>
          <p:cNvPr id="17" name="Picture 16">
            <a:extLst>
              <a:ext uri="{FF2B5EF4-FFF2-40B4-BE49-F238E27FC236}">
                <a16:creationId xmlns:a16="http://schemas.microsoft.com/office/drawing/2014/main" id="{34BA964C-35A3-13B9-98C9-44D0D0C8EA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54816" y="1597948"/>
            <a:ext cx="3646583" cy="3646583"/>
          </a:xfrm>
          <a:prstGeom prst="rect">
            <a:avLst/>
          </a:prstGeom>
        </p:spPr>
      </p:pic>
      <p:pic>
        <p:nvPicPr>
          <p:cNvPr id="19" name="Picture 18">
            <a:extLst>
              <a:ext uri="{FF2B5EF4-FFF2-40B4-BE49-F238E27FC236}">
                <a16:creationId xmlns:a16="http://schemas.microsoft.com/office/drawing/2014/main" id="{9EA582D7-93DC-6A77-2074-485E1ED254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2025" y="3841685"/>
            <a:ext cx="1200839" cy="1200839"/>
          </a:xfrm>
          <a:prstGeom prst="rect">
            <a:avLst/>
          </a:prstGeom>
        </p:spPr>
      </p:pic>
      <p:sp>
        <p:nvSpPr>
          <p:cNvPr id="20" name="TextBox 19">
            <a:extLst>
              <a:ext uri="{FF2B5EF4-FFF2-40B4-BE49-F238E27FC236}">
                <a16:creationId xmlns:a16="http://schemas.microsoft.com/office/drawing/2014/main" id="{0D83F322-D96F-E8F6-1DD3-FADEA78EA08D}"/>
              </a:ext>
            </a:extLst>
          </p:cNvPr>
          <p:cNvSpPr txBox="1"/>
          <p:nvPr/>
        </p:nvSpPr>
        <p:spPr>
          <a:xfrm>
            <a:off x="1132903" y="4314215"/>
            <a:ext cx="3690650" cy="246221"/>
          </a:xfrm>
          <a:prstGeom prst="rect">
            <a:avLst/>
          </a:prstGeom>
          <a:noFill/>
        </p:spPr>
        <p:txBody>
          <a:bodyPr wrap="square" lIns="0" tIns="0" rIns="0" bIns="0" rtlCol="0" anchor="ctr">
            <a:spAutoFit/>
          </a:bodyPr>
          <a:lstStyle/>
          <a:p>
            <a:r>
              <a:rPr lang="en-US" sz="1600"/>
              <a:t>Watch or listen on NYL View</a:t>
            </a:r>
            <a:endParaRPr lang="en-US" sz="1600">
              <a:latin typeface="+mn-lt"/>
            </a:endParaRPr>
          </a:p>
        </p:txBody>
      </p:sp>
      <p:sp>
        <p:nvSpPr>
          <p:cNvPr id="5" name="TextBox 4">
            <a:extLst>
              <a:ext uri="{FF2B5EF4-FFF2-40B4-BE49-F238E27FC236}">
                <a16:creationId xmlns:a16="http://schemas.microsoft.com/office/drawing/2014/main" id="{3F0DAC35-8212-22BF-FD28-59A08F769008}"/>
              </a:ext>
            </a:extLst>
          </p:cNvPr>
          <p:cNvSpPr txBox="1"/>
          <p:nvPr/>
        </p:nvSpPr>
        <p:spPr>
          <a:xfrm>
            <a:off x="567847" y="888539"/>
            <a:ext cx="11125475" cy="430887"/>
          </a:xfrm>
          <a:prstGeom prst="rect">
            <a:avLst/>
          </a:prstGeom>
          <a:noFill/>
        </p:spPr>
        <p:txBody>
          <a:bodyPr wrap="square">
            <a:spAutoFit/>
          </a:bodyPr>
          <a:lstStyle/>
          <a:p>
            <a:r>
              <a:rPr lang="en-US" sz="2200" dirty="0"/>
              <a:t>Listen now: Episode 1: Removing friction from new business and underwriting</a:t>
            </a:r>
          </a:p>
        </p:txBody>
      </p:sp>
      <p:sp>
        <p:nvSpPr>
          <p:cNvPr id="6" name="Isosceles Triangle 5">
            <a:extLst>
              <a:ext uri="{FF2B5EF4-FFF2-40B4-BE49-F238E27FC236}">
                <a16:creationId xmlns:a16="http://schemas.microsoft.com/office/drawing/2014/main" id="{89F76DFD-A27A-DAB8-6448-17AC566DDCFE}"/>
              </a:ext>
            </a:extLst>
          </p:cNvPr>
          <p:cNvSpPr/>
          <p:nvPr/>
        </p:nvSpPr>
        <p:spPr bwMode="ltGray">
          <a:xfrm rot="5400000">
            <a:off x="4478879" y="431930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algn="ctr"/>
            <a:endParaRPr lang="en-US"/>
          </a:p>
        </p:txBody>
      </p:sp>
    </p:spTree>
    <p:extLst>
      <p:ext uri="{BB962C8B-B14F-4D97-AF65-F5344CB8AC3E}">
        <p14:creationId xmlns:p14="http://schemas.microsoft.com/office/powerpoint/2010/main" val="1557471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757F-A3BB-EAF7-80FD-0DA192D5B250}"/>
              </a:ext>
            </a:extLst>
          </p:cNvPr>
          <p:cNvSpPr>
            <a:spLocks noGrp="1"/>
          </p:cNvSpPr>
          <p:nvPr>
            <p:ph type="sldNum" sz="quarter" idx="10"/>
          </p:nvPr>
        </p:nvSpPr>
        <p:spPr/>
        <p:txBody>
          <a:bodyPr/>
          <a:lstStyle/>
          <a:p>
            <a:fld id="{A1371F83-EA4D-3B47-99B9-95D90583DC1D}" type="slidenum">
              <a:rPr lang="en-US" smtClean="0"/>
              <a:t>13</a:t>
            </a:fld>
            <a:endParaRPr lang="en-US"/>
          </a:p>
        </p:txBody>
      </p:sp>
    </p:spTree>
    <p:custDataLst>
      <p:tags r:id="rId1"/>
    </p:custDataLst>
    <p:extLst>
      <p:ext uri="{BB962C8B-B14F-4D97-AF65-F5344CB8AC3E}">
        <p14:creationId xmlns:p14="http://schemas.microsoft.com/office/powerpoint/2010/main" val="2498404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Top Performers</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Week of May 18, 2026 — Recognizing This Week’s Honorees</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a:lnSpc>
                <a:spcPts val="3240"/>
              </a:lnSpc>
            </a:pPr>
            <a:r>
              <a:rPr lang="en-US" sz="1400" i="1" dirty="0">
                <a:solidFill>
                  <a:srgbClr val="666666"/>
                </a:solidFill>
                <a:latin typeface="Arial" pitchFamily="34" charset="0"/>
              </a:rPr>
              <a:t>Presenter: Duplicate this slide as needed and fill in honoree names and achievements before the meeting.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rPr>
              <a:t>Market Week Overview</a:t>
            </a: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Ending May 16, 2026</a:t>
            </a: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Ahead: May 18-22,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Week in Review: U.S. Markets Overview</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Market Performance (May 12-16, 2026)</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S&amp;P 500:</a:t>
            </a:r>
            <a:r>
              <a:rPr lang="en-US" dirty="0">
                <a:solidFill>
                  <a:srgbClr val="000962"/>
                </a:solidFill>
                <a:latin typeface="Arial" pitchFamily="34" charset="0"/>
              </a:rPr>
              <a:t> Extended its weekly winning streak to close at approximately 7,408 — up modestly for the week, though Friday saw a sharp -1.24% selloff on Iran/energy concerns and Trump-Xi summit disappointment.</a:t>
            </a:r>
          </a:p>
          <a:p>
            <a:pPr marL="457189" indent="-457189">
              <a:lnSpc>
                <a:spcPts val="3240"/>
              </a:lnSpc>
              <a:buSzPct val="100000"/>
              <a:buChar char="•"/>
            </a:pPr>
            <a:r>
              <a:rPr lang="en-US" b="1" dirty="0">
                <a:solidFill>
                  <a:srgbClr val="000962"/>
                </a:solidFill>
                <a:latin typeface="Arial" pitchFamily="34" charset="0"/>
              </a:rPr>
              <a:t>Nasdaq Composite:</a:t>
            </a:r>
            <a:r>
              <a:rPr lang="en-US" dirty="0">
                <a:solidFill>
                  <a:srgbClr val="000962"/>
                </a:solidFill>
                <a:latin typeface="Arial" pitchFamily="34" charset="0"/>
              </a:rPr>
              <a:t> Pulled back -1.5% on Friday as investors rotated out of tech and took profits following Cisco's mid-week blowout. Weekly performance was mixed overall.</a:t>
            </a:r>
          </a:p>
          <a:p>
            <a:pPr marL="457189" indent="-457189">
              <a:lnSpc>
                <a:spcPts val="3240"/>
              </a:lnSpc>
              <a:buSzPct val="100000"/>
              <a:buChar char="•"/>
            </a:pPr>
            <a:r>
              <a:rPr lang="en-US" b="1" dirty="0">
                <a:solidFill>
                  <a:srgbClr val="000962"/>
                </a:solidFill>
                <a:latin typeface="Arial" pitchFamily="34" charset="0"/>
              </a:rPr>
              <a:t>Dow Jones:</a:t>
            </a:r>
            <a:r>
              <a:rPr lang="en-US" dirty="0">
                <a:solidFill>
                  <a:srgbClr val="000962"/>
                </a:solidFill>
                <a:latin typeface="Arial" pitchFamily="34" charset="0"/>
              </a:rPr>
              <a:t> Down approximately -1.1% on Friday; the week overall was flat to slightly positive.</a:t>
            </a:r>
          </a:p>
          <a:p>
            <a:pPr marL="457189" indent="-457189">
              <a:lnSpc>
                <a:spcPts val="3240"/>
              </a:lnSpc>
              <a:buSzPct val="100000"/>
              <a:buChar char="•"/>
            </a:pPr>
            <a:r>
              <a:rPr lang="en-US" b="1" dirty="0">
                <a:solidFill>
                  <a:srgbClr val="000962"/>
                </a:solidFill>
                <a:latin typeface="Arial" pitchFamily="34" charset="0"/>
              </a:rPr>
              <a:t>Key Mid-Week Catalyst:</a:t>
            </a:r>
            <a:r>
              <a:rPr lang="en-US" dirty="0">
                <a:solidFill>
                  <a:srgbClr val="000962"/>
                </a:solidFill>
                <a:latin typeface="Arial" pitchFamily="34" charset="0"/>
              </a:rPr>
              <a:t> Cisco Systems (CSCO) reported blowout Q3 earnings — AI infrastructure orders raised to $9 billion from a prior $5 billion forecast, a 80% increase. Shares surged.</a:t>
            </a:r>
          </a:p>
          <a:p>
            <a:pPr marL="457189" indent="-457189">
              <a:lnSpc>
                <a:spcPts val="3240"/>
              </a:lnSpc>
              <a:buSzPct val="100000"/>
              <a:buChar char="•"/>
            </a:pPr>
            <a:r>
              <a:rPr lang="en-US" b="1" dirty="0">
                <a:solidFill>
                  <a:srgbClr val="000962"/>
                </a:solidFill>
                <a:latin typeface="Arial" pitchFamily="34" charset="0"/>
              </a:rPr>
              <a:t>Tech Profit-Taking:</a:t>
            </a:r>
            <a:r>
              <a:rPr lang="en-US" dirty="0">
                <a:solidFill>
                  <a:srgbClr val="000962"/>
                </a:solidFill>
                <a:latin typeface="Arial" pitchFamily="34" charset="0"/>
              </a:rPr>
              <a:t> Nvidia (-4.4%), Intel (-5%), AMD (-3%), Micron (-4%) all saw Friday declines. Investors reduced concentrated tech positions heading into next week's Nvidia earnings.</a:t>
            </a:r>
          </a:p>
          <a:p>
            <a:pPr marL="457189" indent="-457189">
              <a:lnSpc>
                <a:spcPts val="3240"/>
              </a:lnSpc>
              <a:buSzPct val="100000"/>
              <a:buChar char="•"/>
            </a:pPr>
            <a:r>
              <a:rPr lang="en-US" b="1" dirty="0">
                <a:solidFill>
                  <a:srgbClr val="000962"/>
                </a:solidFill>
                <a:latin typeface="Arial" pitchFamily="34" charset="0"/>
              </a:rPr>
              <a:t>NYLIM View:</a:t>
            </a:r>
            <a:r>
              <a:rPr lang="en-US" dirty="0">
                <a:solidFill>
                  <a:srgbClr val="000962"/>
                </a:solidFill>
                <a:latin typeface="Arial" pitchFamily="34" charset="0"/>
              </a:rPr>
              <a:t> Per their latest “Pricing Past the Blockade” update, markets are increasingly looking through the Iran conflict — dispersion across regions, sectors, and asset classes is becoming the defining feature of midyear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Top Performers</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Week of May 18, 2026 — Recognizing This Week’s Honorees</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a:lnSpc>
                <a:spcPts val="3240"/>
              </a:lnSpc>
            </a:pPr>
            <a:r>
              <a:rPr lang="en-US" sz="1400" i="1" dirty="0">
                <a:solidFill>
                  <a:srgbClr val="666666"/>
                </a:solidFill>
                <a:latin typeface="Arial" pitchFamily="34" charset="0"/>
              </a:rPr>
              <a:t>Presenter: Duplicate this slide as needed and fill in honoree names and achievements before the meeting.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rPr>
              <a:t>Market Week Overview</a:t>
            </a: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Ending May 16, 2026</a:t>
            </a: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Ahead: May 18-22,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Week in Review: U.S. Markets Overview</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Market Performance (May 12-16, 2026)</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S&amp;P 500:</a:t>
            </a:r>
            <a:r>
              <a:rPr lang="en-US" dirty="0">
                <a:solidFill>
                  <a:srgbClr val="000962"/>
                </a:solidFill>
                <a:latin typeface="Arial" pitchFamily="34" charset="0"/>
              </a:rPr>
              <a:t> Extended its weekly winning streak to close at approximately 7,408 — up modestly for the week, though Friday saw a sharp -1.24% selloff on Iran/energy concerns and Trump-Xi summit disappointment.</a:t>
            </a:r>
          </a:p>
          <a:p>
            <a:pPr marL="457189" indent="-457189">
              <a:lnSpc>
                <a:spcPts val="3240"/>
              </a:lnSpc>
              <a:buSzPct val="100000"/>
              <a:buChar char="•"/>
            </a:pPr>
            <a:r>
              <a:rPr lang="en-US" b="1" dirty="0">
                <a:solidFill>
                  <a:srgbClr val="000962"/>
                </a:solidFill>
                <a:latin typeface="Arial" pitchFamily="34" charset="0"/>
              </a:rPr>
              <a:t>Nasdaq Composite:</a:t>
            </a:r>
            <a:r>
              <a:rPr lang="en-US" dirty="0">
                <a:solidFill>
                  <a:srgbClr val="000962"/>
                </a:solidFill>
                <a:latin typeface="Arial" pitchFamily="34" charset="0"/>
              </a:rPr>
              <a:t> Pulled back -1.5% on Friday as investors rotated out of tech and took profits following Cisco's mid-week blowout. Weekly performance was mixed overall.</a:t>
            </a:r>
          </a:p>
          <a:p>
            <a:pPr marL="457189" indent="-457189">
              <a:lnSpc>
                <a:spcPts val="3240"/>
              </a:lnSpc>
              <a:buSzPct val="100000"/>
              <a:buChar char="•"/>
            </a:pPr>
            <a:r>
              <a:rPr lang="en-US" b="1" dirty="0">
                <a:solidFill>
                  <a:srgbClr val="000962"/>
                </a:solidFill>
                <a:latin typeface="Arial" pitchFamily="34" charset="0"/>
              </a:rPr>
              <a:t>Dow Jones:</a:t>
            </a:r>
            <a:r>
              <a:rPr lang="en-US" dirty="0">
                <a:solidFill>
                  <a:srgbClr val="000962"/>
                </a:solidFill>
                <a:latin typeface="Arial" pitchFamily="34" charset="0"/>
              </a:rPr>
              <a:t> Down approximately -1.1% on Friday; the week overall was flat to slightly positive.</a:t>
            </a:r>
          </a:p>
          <a:p>
            <a:pPr marL="457189" indent="-457189">
              <a:lnSpc>
                <a:spcPts val="3240"/>
              </a:lnSpc>
              <a:buSzPct val="100000"/>
              <a:buChar char="•"/>
            </a:pPr>
            <a:r>
              <a:rPr lang="en-US" b="1" dirty="0">
                <a:solidFill>
                  <a:srgbClr val="000962"/>
                </a:solidFill>
                <a:latin typeface="Arial" pitchFamily="34" charset="0"/>
              </a:rPr>
              <a:t>Key Mid-Week Catalyst:</a:t>
            </a:r>
            <a:r>
              <a:rPr lang="en-US" dirty="0">
                <a:solidFill>
                  <a:srgbClr val="000962"/>
                </a:solidFill>
                <a:latin typeface="Arial" pitchFamily="34" charset="0"/>
              </a:rPr>
              <a:t> Cisco Systems (CSCO) reported blowout Q3 earnings — AI infrastructure orders raised to $9 billion from a prior $5 billion forecast, a 80% increase. Shares surged.</a:t>
            </a:r>
          </a:p>
          <a:p>
            <a:pPr marL="457189" indent="-457189">
              <a:lnSpc>
                <a:spcPts val="3240"/>
              </a:lnSpc>
              <a:buSzPct val="100000"/>
              <a:buChar char="•"/>
            </a:pPr>
            <a:r>
              <a:rPr lang="en-US" b="1" dirty="0">
                <a:solidFill>
                  <a:srgbClr val="000962"/>
                </a:solidFill>
                <a:latin typeface="Arial" pitchFamily="34" charset="0"/>
              </a:rPr>
              <a:t>Tech Profit-Taking:</a:t>
            </a:r>
            <a:r>
              <a:rPr lang="en-US" dirty="0">
                <a:solidFill>
                  <a:srgbClr val="000962"/>
                </a:solidFill>
                <a:latin typeface="Arial" pitchFamily="34" charset="0"/>
              </a:rPr>
              <a:t> Nvidia (-4.4%), Intel (-5%), AMD (-3%), Micron (-4%) all saw Friday declines. Investors reduced concentrated tech positions heading into next week's Nvidia earnings.</a:t>
            </a:r>
          </a:p>
          <a:p>
            <a:pPr marL="457189" indent="-457189">
              <a:lnSpc>
                <a:spcPts val="3240"/>
              </a:lnSpc>
              <a:buSzPct val="100000"/>
              <a:buChar char="•"/>
            </a:pPr>
            <a:r>
              <a:rPr lang="en-US" b="1" dirty="0">
                <a:solidFill>
                  <a:srgbClr val="000962"/>
                </a:solidFill>
                <a:latin typeface="Arial" pitchFamily="34" charset="0"/>
              </a:rPr>
              <a:t>NYLIM View:</a:t>
            </a:r>
            <a:r>
              <a:rPr lang="en-US" dirty="0">
                <a:solidFill>
                  <a:srgbClr val="000962"/>
                </a:solidFill>
                <a:latin typeface="Arial" pitchFamily="34" charset="0"/>
              </a:rPr>
              <a:t> Per their latest “Pricing Past the Blockade” update, markets are increasingly looking through the Iran conflict — dispersion across regions, sectors, and asset classes is becoming the defining feature of midyear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Top Performers</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Week of May 18, 2026 — Recognizing This Week’s Honorees</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marL="457189" indent="-457189">
              <a:lnSpc>
                <a:spcPts val="3240"/>
              </a:lnSpc>
              <a:buSzPct val="100000"/>
              <a:buChar char="•"/>
            </a:pPr>
            <a:r>
              <a:rPr lang="en-US" b="1" dirty="0">
                <a:solidFill>
                  <a:srgbClr val="000962"/>
                </a:solidFill>
                <a:latin typeface="Arial" pitchFamily="34" charset="0"/>
              </a:rPr>
              <a:t>[Agent Name] — [Achievement / Recognition]</a:t>
            </a:r>
          </a:p>
          <a:p>
            <a:pPr>
              <a:lnSpc>
                <a:spcPts val="3240"/>
              </a:lnSpc>
            </a:pPr>
            <a:r>
              <a:rPr lang="en-US" sz="1400" i="1" dirty="0">
                <a:solidFill>
                  <a:srgbClr val="666666"/>
                </a:solidFill>
                <a:latin typeface="Arial" pitchFamily="34" charset="0"/>
              </a:rPr>
              <a:t>Presenter: Duplicate this slide as needed and fill in honoree names and achievements before the meeting.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rPr>
              <a:t>Market Week Overview</a:t>
            </a: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Ending May 16, 2026</a:t>
            </a: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Ahead: May 18-22,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0" tIns="0" rIns="0" bIns="0" rtlCol="0" anchor="t"/>
          <a:lstStyle/>
          <a:p>
            <a:pPr>
              <a:lnSpc>
                <a:spcPts val="4320"/>
              </a:lnSpc>
            </a:pPr>
            <a:r>
              <a:rPr lang="en-US" sz="3600" b="1" dirty="0">
                <a:solidFill>
                  <a:srgbClr val="0468FF"/>
                </a:solidFill>
                <a:latin typeface="Arial" pitchFamily="34" charset="0"/>
              </a:rPr>
              <a:t>Week in Review: U.S. Markets Overview</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Market Performance (May 12-16, 2026)</a:t>
            </a:r>
          </a:p>
        </p:txBody>
      </p:sp>
      <p:sp>
        <p:nvSpPr>
          <p:cNvPr id="4" name="Text 2"/>
          <p:cNvSpPr/>
          <p:nvPr/>
        </p:nvSpPr>
        <p:spPr>
          <a:xfrm>
            <a:off x="1219200" y="2189163"/>
            <a:ext cx="10160000" cy="4000000"/>
          </a:xfrm>
          <a:prstGeom prst="rect">
            <a:avLst/>
          </a:prstGeom>
          <a:noFill/>
          <a:ln/>
        </p:spPr>
        <p:txBody>
          <a:bodyPr wrap="square" lIns="0" tIns="0" rIns="0" bIns="0" rtlCol="0" anchor="t"/>
          <a:lstStyle/>
          <a:p>
            <a:pPr marL="457189" indent="-457189">
              <a:lnSpc>
                <a:spcPts val="3240"/>
              </a:lnSpc>
              <a:buSzPct val="100000"/>
              <a:buChar char="•"/>
            </a:pPr>
            <a:r>
              <a:rPr lang="en-US" b="1" dirty="0">
                <a:solidFill>
                  <a:srgbClr val="000962"/>
                </a:solidFill>
                <a:latin typeface="Arial" pitchFamily="34" charset="0"/>
              </a:rPr>
              <a:t>S&amp;P 500:</a:t>
            </a:r>
            <a:r>
              <a:rPr lang="en-US" dirty="0">
                <a:solidFill>
                  <a:srgbClr val="000962"/>
                </a:solidFill>
                <a:latin typeface="Arial" pitchFamily="34" charset="0"/>
              </a:rPr>
              <a:t> Extended its weekly winning streak to close at approximately 7,408 — up modestly for the week, though Friday saw a sharp -1.24% selloff on Iran/energy concerns and Trump-Xi summit disappointment.</a:t>
            </a:r>
          </a:p>
          <a:p>
            <a:pPr marL="457189" indent="-457189">
              <a:lnSpc>
                <a:spcPts val="3240"/>
              </a:lnSpc>
              <a:buSzPct val="100000"/>
              <a:buChar char="•"/>
            </a:pPr>
            <a:r>
              <a:rPr lang="en-US" b="1" dirty="0">
                <a:solidFill>
                  <a:srgbClr val="000962"/>
                </a:solidFill>
                <a:latin typeface="Arial" pitchFamily="34" charset="0"/>
              </a:rPr>
              <a:t>Nasdaq Composite:</a:t>
            </a:r>
            <a:r>
              <a:rPr lang="en-US" dirty="0">
                <a:solidFill>
                  <a:srgbClr val="000962"/>
                </a:solidFill>
                <a:latin typeface="Arial" pitchFamily="34" charset="0"/>
              </a:rPr>
              <a:t> Pulled back -1.5% on Friday as investors rotated out of tech and took profits following Cisco's mid-week blowout. Weekly performance was mixed overall.</a:t>
            </a:r>
          </a:p>
          <a:p>
            <a:pPr marL="457189" indent="-457189">
              <a:lnSpc>
                <a:spcPts val="3240"/>
              </a:lnSpc>
              <a:buSzPct val="100000"/>
              <a:buChar char="•"/>
            </a:pPr>
            <a:r>
              <a:rPr lang="en-US" b="1" dirty="0">
                <a:solidFill>
                  <a:srgbClr val="000962"/>
                </a:solidFill>
                <a:latin typeface="Arial" pitchFamily="34" charset="0"/>
              </a:rPr>
              <a:t>Dow Jones:</a:t>
            </a:r>
            <a:r>
              <a:rPr lang="en-US" dirty="0">
                <a:solidFill>
                  <a:srgbClr val="000962"/>
                </a:solidFill>
                <a:latin typeface="Arial" pitchFamily="34" charset="0"/>
              </a:rPr>
              <a:t> Down approximately -1.1% on Friday; the week overall was flat to slightly positive.</a:t>
            </a:r>
          </a:p>
          <a:p>
            <a:pPr marL="457189" indent="-457189">
              <a:lnSpc>
                <a:spcPts val="3240"/>
              </a:lnSpc>
              <a:buSzPct val="100000"/>
              <a:buChar char="•"/>
            </a:pPr>
            <a:r>
              <a:rPr lang="en-US" b="1" dirty="0">
                <a:solidFill>
                  <a:srgbClr val="000962"/>
                </a:solidFill>
                <a:latin typeface="Arial" pitchFamily="34" charset="0"/>
              </a:rPr>
              <a:t>Key Mid-Week Catalyst:</a:t>
            </a:r>
            <a:r>
              <a:rPr lang="en-US" dirty="0">
                <a:solidFill>
                  <a:srgbClr val="000962"/>
                </a:solidFill>
                <a:latin typeface="Arial" pitchFamily="34" charset="0"/>
              </a:rPr>
              <a:t> Cisco Systems (CSCO) reported blowout Q3 earnings — AI infrastructure orders raised to $9 billion from a prior $5 billion forecast, a 80% increase. Shares surged.</a:t>
            </a:r>
          </a:p>
          <a:p>
            <a:pPr marL="457189" indent="-457189">
              <a:lnSpc>
                <a:spcPts val="3240"/>
              </a:lnSpc>
              <a:buSzPct val="100000"/>
              <a:buChar char="•"/>
            </a:pPr>
            <a:r>
              <a:rPr lang="en-US" b="1" dirty="0">
                <a:solidFill>
                  <a:srgbClr val="000962"/>
                </a:solidFill>
                <a:latin typeface="Arial" pitchFamily="34" charset="0"/>
              </a:rPr>
              <a:t>Tech Profit-Taking:</a:t>
            </a:r>
            <a:r>
              <a:rPr lang="en-US" dirty="0">
                <a:solidFill>
                  <a:srgbClr val="000962"/>
                </a:solidFill>
                <a:latin typeface="Arial" pitchFamily="34" charset="0"/>
              </a:rPr>
              <a:t> Nvidia (-4.4%), Intel (-5%), AMD (-3%), Micron (-4%) all saw Friday declines. Investors reduced concentrated tech positions heading into next week's Nvidia earnings.</a:t>
            </a:r>
          </a:p>
          <a:p>
            <a:pPr marL="457189" indent="-457189">
              <a:lnSpc>
                <a:spcPts val="3240"/>
              </a:lnSpc>
              <a:buSzPct val="100000"/>
              <a:buChar char="•"/>
            </a:pPr>
            <a:r>
              <a:rPr lang="en-US" b="1" dirty="0">
                <a:solidFill>
                  <a:srgbClr val="000962"/>
                </a:solidFill>
                <a:latin typeface="Arial" pitchFamily="34" charset="0"/>
              </a:rPr>
              <a:t>NYLIM View:</a:t>
            </a:r>
            <a:r>
              <a:rPr lang="en-US" dirty="0">
                <a:solidFill>
                  <a:srgbClr val="000962"/>
                </a:solidFill>
                <a:latin typeface="Arial" pitchFamily="34" charset="0"/>
              </a:rPr>
              <a:t> Per their latest “Pricing Past the Blockade” update, markets are increasingly looking through the Iran conflict — dispersion across regions, sectors, and asset classes is becoming the defining feature of midyear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Top Performers</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dirty="0">
                <a:solidFill>
                  <a:srgbClr val="000962"/>
                </a:solidFill>
                <a:latin typeface="Arial" pitchFamily="34" charset="0"/>
              </a:rPr>
              <a:t>Week of May 18, 2026 — Recognizing This Week’s Honorees</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400"/>
              </a:lnSpc>
              <a:buSzPct val="100000"/>
              <a:buChar char="•"/>
            </a:pPr>
            <a:r>
              <a:rPr lang="en-US" b="1" dirty="0">
                <a:solidFill>
                  <a:srgbClr val="000962"/>
                </a:solidFill>
                <a:latin typeface="Arial" pitchFamily="34" charset="0"/>
              </a:rPr>
              <a:t>[Agent Name] — [Achievement / Recognition]</a:t>
            </a:r>
          </a:p>
          <a:p>
            <a:pPr marL="457189" indent="-457189">
              <a:lnSpc>
                <a:spcPts val="2400"/>
              </a:lnSpc>
              <a:buSzPct val="100000"/>
              <a:buChar char="•"/>
            </a:pPr>
            <a:r>
              <a:rPr lang="en-US" b="1" dirty="0">
                <a:solidFill>
                  <a:srgbClr val="000962"/>
                </a:solidFill>
                <a:latin typeface="Arial" pitchFamily="34" charset="0"/>
              </a:rPr>
              <a:t>[Agent Name] — [Achievement / Recognition]</a:t>
            </a:r>
          </a:p>
          <a:p>
            <a:pPr marL="457189" indent="-457189">
              <a:lnSpc>
                <a:spcPts val="2400"/>
              </a:lnSpc>
              <a:buSzPct val="100000"/>
              <a:buChar char="•"/>
            </a:pPr>
            <a:r>
              <a:rPr lang="en-US" b="1" dirty="0">
                <a:solidFill>
                  <a:srgbClr val="000962"/>
                </a:solidFill>
                <a:latin typeface="Arial" pitchFamily="34" charset="0"/>
              </a:rPr>
              <a:t>[Agent Name] — [Achievement / Recognition]</a:t>
            </a:r>
          </a:p>
          <a:p>
            <a:pPr>
              <a:lnSpc>
                <a:spcPts val="2400"/>
              </a:lnSpc>
            </a:pPr>
            <a:r>
              <a:rPr lang="en-US" sz="1400" i="1" dirty="0">
                <a:solidFill>
                  <a:srgbClr val="666666"/>
                </a:solidFill>
                <a:latin typeface="Arial" pitchFamily="34" charset="0"/>
              </a:rPr>
              <a:t>Presenter: Duplicate this slide as needed and fill in honoree names and achievements before the meeting.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468FF"/>
        </a:solidFill>
        <a:effectLst/>
      </p:bgPr>
    </p:bg>
    <p:spTree>
      <p:nvGrpSpPr>
        <p:cNvPr id="1" name=""/>
        <p:cNvGrpSpPr/>
        <p:nvPr/>
      </p:nvGrpSpPr>
      <p:grpSpPr>
        <a:xfrm>
          <a:off x="0" y="0"/>
          <a:ext cx="0" cy="0"/>
          <a:chOff x="0" y="0"/>
          <a:chExt cx="0" cy="0"/>
        </a:xfrm>
      </p:grpSpPr>
      <p:sp>
        <p:nvSpPr>
          <p:cNvPr id="2" name="Text 0"/>
          <p:cNvSpPr/>
          <p:nvPr/>
        </p:nvSpPr>
        <p:spPr>
          <a:xfrm>
            <a:off x="2171141" y="2392761"/>
            <a:ext cx="7849719" cy="853281"/>
          </a:xfrm>
          <a:prstGeom prst="rect">
            <a:avLst/>
          </a:prstGeom>
          <a:noFill/>
          <a:ln/>
        </p:spPr>
        <p:txBody>
          <a:bodyPr wrap="square" lIns="0" tIns="0" rIns="0" bIns="0" rtlCol="0" anchor="t"/>
          <a:lstStyle/>
          <a:p>
            <a:pPr algn="ctr" defTabSz="1219170">
              <a:lnSpc>
                <a:spcPts val="6720"/>
              </a:lnSpc>
            </a:pPr>
            <a:r>
              <a:rPr lang="en-US" sz="5600" b="1" dirty="0">
                <a:solidFill>
                  <a:srgbClr val="FFFFFF"/>
                </a:solidFill>
                <a:latin typeface="Arial" pitchFamily="34" charset="0"/>
              </a:rPr>
              <a:t>Market Week Overview</a:t>
            </a:r>
          </a:p>
        </p:txBody>
      </p:sp>
      <p:sp>
        <p:nvSpPr>
          <p:cNvPr id="3" name="Text 1"/>
          <p:cNvSpPr/>
          <p:nvPr/>
        </p:nvSpPr>
        <p:spPr>
          <a:xfrm>
            <a:off x="4463596" y="3550840"/>
            <a:ext cx="326461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Ending May 16, 2026</a:t>
            </a:r>
          </a:p>
        </p:txBody>
      </p:sp>
      <p:sp>
        <p:nvSpPr>
          <p:cNvPr id="4" name="Text 2"/>
          <p:cNvSpPr/>
          <p:nvPr/>
        </p:nvSpPr>
        <p:spPr>
          <a:xfrm>
            <a:off x="4276370" y="4109640"/>
            <a:ext cx="3639061" cy="355600"/>
          </a:xfrm>
          <a:prstGeom prst="rect">
            <a:avLst/>
          </a:prstGeom>
          <a:noFill/>
          <a:ln/>
        </p:spPr>
        <p:txBody>
          <a:bodyPr wrap="square" lIns="0" tIns="0" rIns="0" bIns="0" rtlCol="0" anchor="t"/>
          <a:lstStyle/>
          <a:p>
            <a:pPr algn="ctr" defTabSz="1219170">
              <a:lnSpc>
                <a:spcPts val="2800"/>
              </a:lnSpc>
            </a:pPr>
            <a:r>
              <a:rPr lang="en-US" sz="2000" dirty="0">
                <a:solidFill>
                  <a:srgbClr val="FFFFFF"/>
                </a:solidFill>
                <a:latin typeface="Arial" pitchFamily="34" charset="0"/>
              </a:rPr>
              <a:t>Week Ahead: May 18-22,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Week in Review: U.S. Markets Overview</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400" dirty="0">
                <a:solidFill>
                  <a:srgbClr val="000962"/>
                </a:solidFill>
                <a:latin typeface="Arial" pitchFamily="34" charset="0"/>
              </a:rPr>
              <a:t>Market Performance (May 12-16, 2026)</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200"/>
              </a:lnSpc>
              <a:buSzPct val="100000"/>
              <a:buChar char="•"/>
            </a:pPr>
            <a:r>
              <a:rPr lang="en-US" sz="1400" b="1" dirty="0">
                <a:solidFill>
                  <a:srgbClr val="000962"/>
                </a:solidFill>
                <a:latin typeface="Arial" pitchFamily="34" charset="0"/>
              </a:rPr>
              <a:t>S&amp;P 500:</a:t>
            </a:r>
            <a:r>
              <a:rPr lang="en-US" sz="1400" dirty="0">
                <a:solidFill>
                  <a:srgbClr val="000962"/>
                </a:solidFill>
                <a:latin typeface="Arial" pitchFamily="34" charset="0"/>
              </a:rPr>
              <a:t> Extended its weekly winning streak to close at approximately 7,408 — up modestly for the week, though Friday saw a sharp -1.24% selloff on Iran/energy concerns and Trump-Xi summit disappointment.</a:t>
            </a:r>
          </a:p>
          <a:p>
            <a:pPr marL="457189" indent="-457189">
              <a:lnSpc>
                <a:spcPts val="2200"/>
              </a:lnSpc>
              <a:buSzPct val="100000"/>
              <a:buChar char="•"/>
            </a:pPr>
            <a:r>
              <a:rPr lang="en-US" sz="1400" b="1" dirty="0">
                <a:solidFill>
                  <a:srgbClr val="000962"/>
                </a:solidFill>
                <a:latin typeface="Arial" pitchFamily="34" charset="0"/>
              </a:rPr>
              <a:t>Nasdaq Composite:</a:t>
            </a:r>
            <a:r>
              <a:rPr lang="en-US" sz="1400" dirty="0">
                <a:solidFill>
                  <a:srgbClr val="000962"/>
                </a:solidFill>
                <a:latin typeface="Arial" pitchFamily="34" charset="0"/>
              </a:rPr>
              <a:t> Pulled back -1.5% on Friday as investors rotated out of tech and took profits following Cisco's mid-week blowout. Weekly performance was mixed overall.</a:t>
            </a:r>
          </a:p>
          <a:p>
            <a:pPr marL="457189" indent="-457189">
              <a:lnSpc>
                <a:spcPts val="2200"/>
              </a:lnSpc>
              <a:buSzPct val="100000"/>
              <a:buChar char="•"/>
            </a:pPr>
            <a:r>
              <a:rPr lang="en-US" sz="1400" b="1" dirty="0">
                <a:solidFill>
                  <a:srgbClr val="000962"/>
                </a:solidFill>
                <a:latin typeface="Arial" pitchFamily="34" charset="0"/>
              </a:rPr>
              <a:t>Dow Jones:</a:t>
            </a:r>
            <a:r>
              <a:rPr lang="en-US" sz="1400" dirty="0">
                <a:solidFill>
                  <a:srgbClr val="000962"/>
                </a:solidFill>
                <a:latin typeface="Arial" pitchFamily="34" charset="0"/>
              </a:rPr>
              <a:t> Down approximately -1.1% on Friday; the week overall was flat to slightly positive.</a:t>
            </a:r>
          </a:p>
          <a:p>
            <a:pPr marL="457189" indent="-457189">
              <a:lnSpc>
                <a:spcPts val="2200"/>
              </a:lnSpc>
              <a:buSzPct val="100000"/>
              <a:buChar char="•"/>
            </a:pPr>
            <a:r>
              <a:rPr lang="en-US" sz="1400" b="1" dirty="0">
                <a:solidFill>
                  <a:srgbClr val="000962"/>
                </a:solidFill>
                <a:latin typeface="Arial" pitchFamily="34" charset="0"/>
              </a:rPr>
              <a:t>Key Mid-Week Catalyst:</a:t>
            </a:r>
            <a:r>
              <a:rPr lang="en-US" sz="1400" dirty="0">
                <a:solidFill>
                  <a:srgbClr val="000962"/>
                </a:solidFill>
                <a:latin typeface="Arial" pitchFamily="34" charset="0"/>
              </a:rPr>
              <a:t> Cisco Systems (CSCO) reported blowout Q3 earnings — AI infrastructure orders raised to $9 billion from a prior $5 billion forecast, a 80% increase. Shares surged.</a:t>
            </a:r>
          </a:p>
          <a:p>
            <a:pPr marL="457189" indent="-457189">
              <a:lnSpc>
                <a:spcPts val="2200"/>
              </a:lnSpc>
              <a:buSzPct val="100000"/>
              <a:buChar char="•"/>
            </a:pPr>
            <a:r>
              <a:rPr lang="en-US" sz="1400" b="1" dirty="0">
                <a:solidFill>
                  <a:srgbClr val="000962"/>
                </a:solidFill>
                <a:latin typeface="Arial" pitchFamily="34" charset="0"/>
              </a:rPr>
              <a:t>Tech Profit-Taking:</a:t>
            </a:r>
            <a:r>
              <a:rPr lang="en-US" sz="1400" dirty="0">
                <a:solidFill>
                  <a:srgbClr val="000962"/>
                </a:solidFill>
                <a:latin typeface="Arial" pitchFamily="34" charset="0"/>
              </a:rPr>
              <a:t> Nvidia (-4.4%), Intel (-5%), AMD (-3%), Micron (-4%) all saw Friday declines. Investors reduced concentrated tech positions heading into next week's Nvidia earnings.</a:t>
            </a:r>
          </a:p>
          <a:p>
            <a:pPr marL="457189" indent="-457189">
              <a:lnSpc>
                <a:spcPts val="2200"/>
              </a:lnSpc>
              <a:buSzPct val="100000"/>
              <a:buChar char="•"/>
            </a:pPr>
            <a:r>
              <a:rPr lang="en-US" sz="1400" b="1" dirty="0">
                <a:solidFill>
                  <a:srgbClr val="000962"/>
                </a:solidFill>
                <a:latin typeface="Arial" pitchFamily="34" charset="0"/>
              </a:rPr>
              <a:t>NYLIM View:</a:t>
            </a:r>
            <a:r>
              <a:rPr lang="en-US" sz="1400" dirty="0">
                <a:solidFill>
                  <a:srgbClr val="000962"/>
                </a:solidFill>
                <a:latin typeface="Arial" pitchFamily="34" charset="0"/>
              </a:rPr>
              <a:t> Per their latest “Pricing Past the Blockade” update, markets are increasingly looking through the Iran conflict — dispersion across regions, sectors, and asset classes is becoming the defining feature of midyear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Key Market Drivers Last Week</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400" dirty="0">
                <a:solidFill>
                  <a:srgbClr val="000962"/>
                </a:solidFill>
                <a:latin typeface="Arial" pitchFamily="34" charset="0"/>
              </a:rPr>
              <a:t>Three Themes Defined the Week</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200"/>
              </a:lnSpc>
              <a:buSzPct val="100000"/>
              <a:buChar char="•"/>
            </a:pPr>
            <a:r>
              <a:rPr lang="en-US" sz="1400" b="1" dirty="0">
                <a:solidFill>
                  <a:srgbClr val="000962"/>
                </a:solidFill>
                <a:latin typeface="Arial" pitchFamily="34" charset="0"/>
              </a:rPr>
              <a:t>Iran Conflict &amp; Energy Prices:</a:t>
            </a:r>
            <a:r>
              <a:rPr lang="en-US" sz="1400" dirty="0">
                <a:solidFill>
                  <a:srgbClr val="000962"/>
                </a:solidFill>
                <a:latin typeface="Arial" pitchFamily="34" charset="0"/>
              </a:rPr>
              <a:t> The ongoing U.S.-Iran conflict continued to pressure energy markets. Oil prices remained elevated near $109/barrel (WTI), keeping inflation concerns alive and limiting the Fed’s flexibility. Markets partially priced in the risk, though concern resurged Friday.</a:t>
            </a:r>
          </a:p>
          <a:p>
            <a:pPr marL="457189" indent="-457189">
              <a:lnSpc>
                <a:spcPts val="2200"/>
              </a:lnSpc>
              <a:buSzPct val="100000"/>
              <a:buChar char="•"/>
            </a:pPr>
            <a:r>
              <a:rPr lang="en-US" sz="1400" b="1" dirty="0">
                <a:solidFill>
                  <a:srgbClr val="000962"/>
                </a:solidFill>
                <a:latin typeface="Arial" pitchFamily="34" charset="0"/>
              </a:rPr>
              <a:t>Trump-Xi Summit (Anticlimactic):</a:t>
            </a:r>
            <a:r>
              <a:rPr lang="en-US" sz="1400" dirty="0">
                <a:solidFill>
                  <a:srgbClr val="000962"/>
                </a:solidFill>
                <a:latin typeface="Arial" pitchFamily="34" charset="0"/>
              </a:rPr>
              <a:t> Investors had hoped for a meaningful U.S.-China trade or diplomatic breakthrough from this week’s Trump-Xi meeting. The summit produced no major announcements, disappointing markets and contributing to Friday’s sell-off.</a:t>
            </a:r>
          </a:p>
          <a:p>
            <a:pPr marL="457189" indent="-457189">
              <a:lnSpc>
                <a:spcPts val="2200"/>
              </a:lnSpc>
              <a:buSzPct val="100000"/>
              <a:buChar char="•"/>
            </a:pPr>
            <a:r>
              <a:rPr lang="en-US" sz="1400" b="1" dirty="0">
                <a:solidFill>
                  <a:srgbClr val="000962"/>
                </a:solidFill>
                <a:latin typeface="Arial" pitchFamily="34" charset="0"/>
              </a:rPr>
              <a:t>Cisco AI Orders Signal Acceleration:</a:t>
            </a:r>
            <a:r>
              <a:rPr lang="en-US" sz="1400" dirty="0">
                <a:solidFill>
                  <a:srgbClr val="000962"/>
                </a:solidFill>
                <a:latin typeface="Arial" pitchFamily="34" charset="0"/>
              </a:rPr>
              <a:t> Cisco raised its AI infrastructure order forecast to $9B (from $5B), confirming hyperscaler and enterprise AI investment is accelerating — a positive signal for the technology sector despite short-term profit-taking.</a:t>
            </a:r>
          </a:p>
          <a:p>
            <a:pPr marL="457189" indent="-457189">
              <a:lnSpc>
                <a:spcPts val="2200"/>
              </a:lnSpc>
              <a:buSzPct val="100000"/>
              <a:buChar char="•"/>
            </a:pPr>
            <a:r>
              <a:rPr lang="en-US" sz="1400" b="1" dirty="0">
                <a:solidFill>
                  <a:srgbClr val="000962"/>
                </a:solidFill>
                <a:latin typeface="Arial" pitchFamily="34" charset="0"/>
              </a:rPr>
              <a:t>Fed: Rates Steady, New Chair Era Begins:</a:t>
            </a:r>
            <a:r>
              <a:rPr lang="en-US" sz="1400" dirty="0">
                <a:solidFill>
                  <a:srgbClr val="000962"/>
                </a:solidFill>
                <a:latin typeface="Arial" pitchFamily="34" charset="0"/>
              </a:rPr>
              <a:t> The Fed held rates at 3.50%-3.75% at its April 29 meeting. The April FOMC minutes will be released Wednesday, May 20 — the first major policy document under new Chair Kevin Warsh. One dissenter (Miran) wanted to cut; three others resisted an easing bias.</a:t>
            </a:r>
          </a:p>
          <a:p>
            <a:pPr marL="457189" indent="-457189">
              <a:lnSpc>
                <a:spcPts val="2200"/>
              </a:lnSpc>
              <a:buSzPct val="100000"/>
              <a:buChar char="•"/>
            </a:pPr>
            <a:r>
              <a:rPr lang="en-US" sz="1400" b="1" dirty="0">
                <a:solidFill>
                  <a:srgbClr val="000962"/>
                </a:solidFill>
                <a:latin typeface="Arial" pitchFamily="34" charset="0"/>
              </a:rPr>
              <a:t>Sector Rotation:</a:t>
            </a:r>
            <a:r>
              <a:rPr lang="en-US" sz="1400" dirty="0">
                <a:solidFill>
                  <a:srgbClr val="000962"/>
                </a:solidFill>
                <a:latin typeface="Arial" pitchFamily="34" charset="0"/>
              </a:rPr>
              <a:t> Defensive names and energy outperformed on Iran risk. Technology underperformed as investors reduced exposure ahead of Nvidia’s pivotal earnings Wednesday.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Economic Reports Calendar: Week Ahead</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400" dirty="0">
                <a:solidFill>
                  <a:srgbClr val="000962"/>
                </a:solidFill>
                <a:latin typeface="Arial" pitchFamily="34" charset="0"/>
              </a:rPr>
              <a:t>Key Data Releases to Watch (May 18-22, 2026)</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200"/>
              </a:lnSpc>
              <a:buSzPct val="100000"/>
              <a:buChar char="•"/>
            </a:pPr>
            <a:r>
              <a:rPr lang="en-US" sz="1400" b="1" dirty="0">
                <a:solidFill>
                  <a:srgbClr val="000962"/>
                </a:solidFill>
                <a:latin typeface="Arial" pitchFamily="34" charset="0"/>
              </a:rPr>
              <a:t>Tuesday 5/19 — Housing Starts (April):</a:t>
            </a:r>
            <a:r>
              <a:rPr lang="en-US" sz="1400" dirty="0">
                <a:solidFill>
                  <a:srgbClr val="000962"/>
                </a:solidFill>
                <a:latin typeface="Arial" pitchFamily="34" charset="0"/>
              </a:rPr>
              <a:t> New Residential Construction data at 8:30 AM ET. High interest rates at 3.50-3.75% have continued to weigh on housing activity — this print will reveal whether spring demand is recovering. Also: NAR Pending Home Sales Index at 10:00 AM.</a:t>
            </a:r>
          </a:p>
          <a:p>
            <a:pPr marL="457189" indent="-457189">
              <a:lnSpc>
                <a:spcPts val="2200"/>
              </a:lnSpc>
              <a:buSzPct val="100000"/>
              <a:buChar char="•"/>
            </a:pPr>
            <a:r>
              <a:rPr lang="en-US" sz="1400" b="1" dirty="0">
                <a:solidFill>
                  <a:srgbClr val="000962"/>
                </a:solidFill>
                <a:latin typeface="Arial" pitchFamily="34" charset="0"/>
              </a:rPr>
              <a:t>Wednesday 5/20 — April FOMC Meeting Minutes:</a:t>
            </a:r>
            <a:r>
              <a:rPr lang="en-US" sz="1400" dirty="0">
                <a:solidFill>
                  <a:srgbClr val="000962"/>
                </a:solidFill>
                <a:latin typeface="Arial" pitchFamily="34" charset="0"/>
              </a:rPr>
              <a:t> The Fed releases the minutes from its April 29 meeting — the final policy act of the Powell era, and the first major document under new Chair Kevin Warsh’s oversight. Watch for language around rate cuts, inflation tolerance, and any hints on the June meeting outlook.</a:t>
            </a:r>
          </a:p>
          <a:p>
            <a:pPr marL="457189" indent="-457189">
              <a:lnSpc>
                <a:spcPts val="2200"/>
              </a:lnSpc>
              <a:buSzPct val="100000"/>
              <a:buChar char="•"/>
            </a:pPr>
            <a:r>
              <a:rPr lang="en-US" sz="1400" b="1" dirty="0">
                <a:solidFill>
                  <a:srgbClr val="000962"/>
                </a:solidFill>
                <a:latin typeface="Arial" pitchFamily="34" charset="0"/>
              </a:rPr>
              <a:t>Thursday 5/21 — Initial Jobless Claims + Philly Fed:</a:t>
            </a:r>
            <a:r>
              <a:rPr lang="en-US" sz="1400" dirty="0">
                <a:solidFill>
                  <a:srgbClr val="000962"/>
                </a:solidFill>
                <a:latin typeface="Arial" pitchFamily="34" charset="0"/>
              </a:rPr>
              <a:t> Weekly jobless claims (8:30 AM) provide a real-time read on labor market health. Philadelphia Fed Manufacturing Survey (8:30 AM) will gauge regional industrial conditions. Both indicators are closely watched given current stagflation concerns.</a:t>
            </a:r>
          </a:p>
          <a:p>
            <a:pPr marL="457189" indent="-457189">
              <a:lnSpc>
                <a:spcPts val="2200"/>
              </a:lnSpc>
              <a:buSzPct val="100000"/>
              <a:buChar char="•"/>
            </a:pPr>
            <a:r>
              <a:rPr lang="en-US" sz="1400" b="1" dirty="0">
                <a:solidFill>
                  <a:srgbClr val="000962"/>
                </a:solidFill>
                <a:latin typeface="Arial" pitchFamily="34" charset="0"/>
              </a:rPr>
              <a:t>Friday 5/22 — Michigan Consumer Sentiment (Final):</a:t>
            </a:r>
            <a:r>
              <a:rPr lang="en-US" sz="1400" dirty="0">
                <a:solidFill>
                  <a:srgbClr val="000962"/>
                </a:solidFill>
                <a:latin typeface="Arial" pitchFamily="34" charset="0"/>
              </a:rPr>
              <a:t> The final May reading of consumer confidence (10:00 AM). With energy prices elevated and geopolitical uncertainty high, expect this to be closely scrutinized for any deterioration in consumer outlook or inflation expectations.</a:t>
            </a:r>
          </a:p>
          <a:p>
            <a:pPr marL="457189" indent="-457189">
              <a:lnSpc>
                <a:spcPts val="2200"/>
              </a:lnSpc>
              <a:buSzPct val="100000"/>
              <a:buChar char="•"/>
            </a:pPr>
            <a:r>
              <a:rPr lang="en-US" sz="1400" b="1" dirty="0">
                <a:solidFill>
                  <a:srgbClr val="000962"/>
                </a:solidFill>
                <a:latin typeface="Arial" pitchFamily="34" charset="0"/>
              </a:rPr>
              <a:t>Also This Week:</a:t>
            </a:r>
            <a:r>
              <a:rPr lang="en-US" sz="1400" dirty="0">
                <a:solidFill>
                  <a:srgbClr val="000962"/>
                </a:solidFill>
                <a:latin typeface="Arial" pitchFamily="34" charset="0"/>
              </a:rPr>
              <a:t> Durable Goods Orders (April preliminary) — measures new orders for manufactured goods and is a leading indicator of business investment. A strong reading would support economic resilience narratives.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Earnings Calendar: Week Ahead</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400" dirty="0">
                <a:solidFill>
                  <a:srgbClr val="000962"/>
                </a:solidFill>
                <a:latin typeface="Arial" pitchFamily="34" charset="0"/>
              </a:rPr>
              <a:t>Key S&amp;P 500 Companies Reporting (May 19-22, 2026)</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200"/>
              </a:lnSpc>
              <a:buSzPct val="100000"/>
              <a:buChar char="•"/>
            </a:pPr>
            <a:r>
              <a:rPr lang="en-US" sz="1400" b="1" dirty="0">
                <a:solidFill>
                  <a:srgbClr val="000962"/>
                </a:solidFill>
                <a:latin typeface="Arial" pitchFamily="34" charset="0"/>
              </a:rPr>
              <a:t>Nvidia (NVDA) — Wednesday 5/21:</a:t>
            </a:r>
            <a:r>
              <a:rPr lang="en-US" sz="1400" dirty="0">
                <a:solidFill>
                  <a:srgbClr val="000962"/>
                </a:solidFill>
                <a:latin typeface="Arial" pitchFamily="34" charset="0"/>
              </a:rPr>
              <a:t> The most closely watched earnings call of the quarter. Wall Street wants to see: data center revenue growth, gross margin direction, China demand, and Q2/full-year guidance. Cisco’s $9B AI order upgrade last week raises the bar. Result could set tone for the entire tech sector.</a:t>
            </a:r>
          </a:p>
          <a:p>
            <a:pPr marL="457189" indent="-457189">
              <a:lnSpc>
                <a:spcPts val="2200"/>
              </a:lnSpc>
              <a:buSzPct val="100000"/>
              <a:buChar char="•"/>
            </a:pPr>
            <a:r>
              <a:rPr lang="en-US" sz="1400" b="1" dirty="0">
                <a:solidFill>
                  <a:srgbClr val="000962"/>
                </a:solidFill>
                <a:latin typeface="Arial" pitchFamily="34" charset="0"/>
              </a:rPr>
              <a:t>Walmart (WMT) — Thursday 5/22:</a:t>
            </a:r>
            <a:r>
              <a:rPr lang="en-US" sz="1400" dirty="0">
                <a:solidFill>
                  <a:srgbClr val="000962"/>
                </a:solidFill>
                <a:latin typeface="Arial" pitchFamily="34" charset="0"/>
              </a:rPr>
              <a:t> World’s largest retailer reports Q1 FY27. Analysts expect EPS ~$0.65 on revenue of ~$173B. Walmart is up ~15% YTD and near all-time highs. Watch commentary on consumer spending health, private label trends, and tariff/energy cost pass-through.</a:t>
            </a:r>
          </a:p>
          <a:p>
            <a:pPr marL="457189" indent="-457189">
              <a:lnSpc>
                <a:spcPts val="2200"/>
              </a:lnSpc>
              <a:buSzPct val="100000"/>
              <a:buChar char="•"/>
            </a:pPr>
            <a:r>
              <a:rPr lang="en-US" sz="1400" b="1" dirty="0">
                <a:solidFill>
                  <a:srgbClr val="000962"/>
                </a:solidFill>
                <a:latin typeface="Arial" pitchFamily="34" charset="0"/>
              </a:rPr>
              <a:t>Home Depot (HD) — Tuesday 5/20:</a:t>
            </a:r>
            <a:r>
              <a:rPr lang="en-US" sz="1400" dirty="0">
                <a:solidFill>
                  <a:srgbClr val="000962"/>
                </a:solidFill>
                <a:latin typeface="Arial" pitchFamily="34" charset="0"/>
              </a:rPr>
              <a:t> HD’s result will indicate whether high interest rates are still dampening home improvement spending. With housing turnover low, DIY and pro contractor demand are key metrics to watch.</a:t>
            </a:r>
          </a:p>
          <a:p>
            <a:pPr marL="457189" indent="-457189">
              <a:lnSpc>
                <a:spcPts val="2200"/>
              </a:lnSpc>
              <a:buSzPct val="100000"/>
              <a:buChar char="•"/>
            </a:pPr>
            <a:r>
              <a:rPr lang="en-US" sz="1400" b="1" dirty="0">
                <a:solidFill>
                  <a:srgbClr val="000962"/>
                </a:solidFill>
                <a:latin typeface="Arial" pitchFamily="34" charset="0"/>
              </a:rPr>
              <a:t>Target (TGT) — Wednesday 5/21:</a:t>
            </a:r>
            <a:r>
              <a:rPr lang="en-US" sz="1400" dirty="0">
                <a:solidFill>
                  <a:srgbClr val="000962"/>
                </a:solidFill>
                <a:latin typeface="Arial" pitchFamily="34" charset="0"/>
              </a:rPr>
              <a:t> Q1 FY27 results before market open. Wall Street expects EPS ~$1.34-1.35 on revenue of ~$24.3-24.6B. Target has faced margin pressure — watch for any improvement in discretionary categories.</a:t>
            </a:r>
          </a:p>
          <a:p>
            <a:pPr marL="457189" indent="-457189">
              <a:lnSpc>
                <a:spcPts val="2200"/>
              </a:lnSpc>
              <a:buSzPct val="100000"/>
              <a:buChar char="•"/>
            </a:pPr>
            <a:r>
              <a:rPr lang="en-US" sz="1400" b="1" dirty="0">
                <a:solidFill>
                  <a:srgbClr val="000962"/>
                </a:solidFill>
                <a:latin typeface="Arial" pitchFamily="34" charset="0"/>
              </a:rPr>
              <a:t>Lowe’s (LOW) — Wednesday 5/21 | Palo Alto Networks (PANW) — Thursday:</a:t>
            </a:r>
            <a:r>
              <a:rPr lang="en-US" sz="1400" dirty="0">
                <a:solidFill>
                  <a:srgbClr val="000962"/>
                </a:solidFill>
                <a:latin typeface="Arial" pitchFamily="34" charset="0"/>
              </a:rPr>
              <a:t> Lowe’s pairs with Home Depot for a complete picture of housing-adjacent spending. Palo Alto reports Thursday — a bellwether for enterprise cybersecurity budgets amid heightened geopolitical tensions.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1"/>
            <a:ext cx="10777728" cy="548481"/>
          </a:xfrm>
          <a:prstGeom prst="rect">
            <a:avLst/>
          </a:prstGeom>
          <a:noFill/>
          <a:ln/>
        </p:spPr>
        <p:txBody>
          <a:bodyPr wrap="square" lIns="36576" tIns="18288" rIns="36576" bIns="18288" rtlCol="0" anchor="t">
            <a:normAutofit/>
          </a:bodyPr>
          <a:lstStyle/>
          <a:p>
            <a:pPr>
              <a:lnSpc>
                <a:spcPts val="4320"/>
              </a:lnSpc>
            </a:pPr>
            <a:r>
              <a:rPr lang="en-US" sz="3600" b="1" dirty="0">
                <a:solidFill>
                  <a:srgbClr val="0468FF"/>
                </a:solidFill>
                <a:latin typeface="Arial" pitchFamily="34" charset="0"/>
              </a:rPr>
              <a:t>Client Talking Points: What This Means for You</a:t>
            </a:r>
          </a:p>
        </p:txBody>
      </p:sp>
      <p:sp>
        <p:nvSpPr>
          <p:cNvPr id="3" name="Text 1"/>
          <p:cNvSpPr/>
          <p:nvPr/>
        </p:nvSpPr>
        <p:spPr>
          <a:xfrm>
            <a:off x="812800" y="1666082"/>
            <a:ext cx="10777728" cy="319881"/>
          </a:xfrm>
          <a:prstGeom prst="rect">
            <a:avLst/>
          </a:prstGeom>
          <a:noFill/>
          <a:ln/>
        </p:spPr>
        <p:txBody>
          <a:bodyPr wrap="square" lIns="0" tIns="0" rIns="0" bIns="0" rtlCol="0" anchor="t"/>
          <a:lstStyle/>
          <a:p>
            <a:pPr>
              <a:lnSpc>
                <a:spcPts val="2520"/>
              </a:lnSpc>
            </a:pPr>
            <a:r>
              <a:rPr lang="en-US" sz="1400" dirty="0">
                <a:solidFill>
                  <a:srgbClr val="000962"/>
                </a:solidFill>
                <a:latin typeface="Arial" pitchFamily="34" charset="0"/>
              </a:rPr>
              <a:t>Plain-English Summary for Client Conversations</a:t>
            </a:r>
          </a:p>
        </p:txBody>
      </p:sp>
      <p:sp>
        <p:nvSpPr>
          <p:cNvPr id="4" name="Text 2"/>
          <p:cNvSpPr/>
          <p:nvPr/>
        </p:nvSpPr>
        <p:spPr>
          <a:xfrm>
            <a:off x="1219200" y="2189163"/>
            <a:ext cx="10160000" cy="3500000"/>
          </a:xfrm>
          <a:prstGeom prst="rect">
            <a:avLst/>
          </a:prstGeom>
          <a:noFill/>
          <a:ln/>
        </p:spPr>
        <p:txBody>
          <a:bodyPr wrap="square" lIns="0" tIns="0" rIns="0" bIns="0" rtlCol="0" anchor="t"/>
          <a:lstStyle/>
          <a:p>
            <a:pPr marL="457189" indent="-457189">
              <a:lnSpc>
                <a:spcPts val="2200"/>
              </a:lnSpc>
              <a:buSzPct val="100000"/>
              <a:buChar char="•"/>
            </a:pPr>
            <a:r>
              <a:rPr lang="en-US" sz="1400" b="1" dirty="0">
                <a:solidFill>
                  <a:srgbClr val="000962"/>
                </a:solidFill>
                <a:latin typeface="Arial" pitchFamily="34" charset="0"/>
              </a:rPr>
              <a:t>Markets Had a Good Week — With a Bumpy Finish:</a:t>
            </a:r>
            <a:r>
              <a:rPr lang="en-US" sz="1400" dirty="0">
                <a:solidFill>
                  <a:srgbClr val="000962"/>
                </a:solidFill>
                <a:latin typeface="Arial" pitchFamily="34" charset="0"/>
              </a:rPr>
              <a:t> Stocks generally rose this past week, with the S&amp;P 500 extending its winning streak. However, Friday saw a pullback tied to ongoing tensions in the Middle East and a disappointing U.S.-China summit. Short-term volatility is normal, especially when geopolitical headlines dominate.</a:t>
            </a:r>
          </a:p>
          <a:p>
            <a:pPr marL="457189" indent="-457189">
              <a:lnSpc>
                <a:spcPts val="2200"/>
              </a:lnSpc>
              <a:buSzPct val="100000"/>
              <a:buChar char="•"/>
            </a:pPr>
            <a:r>
              <a:rPr lang="en-US" sz="1400" b="1" dirty="0">
                <a:solidFill>
                  <a:srgbClr val="000962"/>
                </a:solidFill>
                <a:latin typeface="Arial" pitchFamily="34" charset="0"/>
              </a:rPr>
              <a:t>Energy Prices Remain Elevated:</a:t>
            </a:r>
            <a:r>
              <a:rPr lang="en-US" sz="1400" dirty="0">
                <a:solidFill>
                  <a:srgbClr val="000962"/>
                </a:solidFill>
                <a:latin typeface="Arial" pitchFamily="34" charset="0"/>
              </a:rPr>
              <a:t> Oil near $109/barrel due to the U.S.-Iran conflict is the biggest wildcard for your finances. Higher gas and energy costs affect both consumer spending and inflation. The Federal Reserve is watching this closely as they decide when to lower interest rates.</a:t>
            </a:r>
          </a:p>
          <a:p>
            <a:pPr marL="457189" indent="-457189">
              <a:lnSpc>
                <a:spcPts val="2200"/>
              </a:lnSpc>
              <a:buSzPct val="100000"/>
              <a:buChar char="•"/>
            </a:pPr>
            <a:r>
              <a:rPr lang="en-US" sz="1400" b="1" dirty="0">
                <a:solidFill>
                  <a:srgbClr val="000962"/>
                </a:solidFill>
                <a:latin typeface="Arial" pitchFamily="34" charset="0"/>
              </a:rPr>
              <a:t>Big Companies Are Investing Heavily in AI:</a:t>
            </a:r>
            <a:r>
              <a:rPr lang="en-US" sz="1400" dirty="0">
                <a:solidFill>
                  <a:srgbClr val="000962"/>
                </a:solidFill>
                <a:latin typeface="Arial" pitchFamily="34" charset="0"/>
              </a:rPr>
              <a:t> Cisco announced this week that its AI-related orders jumped 80% in one quarter. This week, Nvidia reports earnings — and the results will tell us a great deal about the pace of the AI revolution. This is broadly positive for long-term investors in the technology and innovation space.</a:t>
            </a:r>
          </a:p>
          <a:p>
            <a:pPr marL="457189" indent="-457189">
              <a:lnSpc>
                <a:spcPts val="2200"/>
              </a:lnSpc>
              <a:buSzPct val="100000"/>
              <a:buChar char="•"/>
            </a:pPr>
            <a:r>
              <a:rPr lang="en-US" sz="1400" b="1" dirty="0">
                <a:solidFill>
                  <a:srgbClr val="000962"/>
                </a:solidFill>
                <a:latin typeface="Arial" pitchFamily="34" charset="0"/>
              </a:rPr>
              <a:t>The Economy Is Resilient, But We’re Watching Carefully:</a:t>
            </a:r>
            <a:r>
              <a:rPr lang="en-US" sz="1400" dirty="0">
                <a:solidFill>
                  <a:srgbClr val="000962"/>
                </a:solidFill>
                <a:latin typeface="Arial" pitchFamily="34" charset="0"/>
              </a:rPr>
              <a:t> Important economic reports come out this week, including housing data, weekly job numbers, and consumer confidence. These will help determine the direction for interest rates. The Fed is expected to hold rates steady through at least June, with only one cut projected for all of 2026.</a:t>
            </a:r>
          </a:p>
          <a:p>
            <a:pPr marL="457189" indent="-457189">
              <a:lnSpc>
                <a:spcPts val="2200"/>
              </a:lnSpc>
              <a:buSzPct val="100000"/>
              <a:buChar char="•"/>
            </a:pPr>
            <a:r>
              <a:rPr lang="en-US" sz="1400" b="1" dirty="0">
                <a:solidFill>
                  <a:srgbClr val="000962"/>
                </a:solidFill>
                <a:latin typeface="Arial" pitchFamily="34" charset="0"/>
              </a:rPr>
              <a:t>What This Means for Your Plan:</a:t>
            </a:r>
            <a:r>
              <a:rPr lang="en-US" sz="1400" dirty="0">
                <a:solidFill>
                  <a:srgbClr val="000962"/>
                </a:solidFill>
                <a:latin typeface="Arial" pitchFamily="34" charset="0"/>
              </a:rPr>
              <a:t> Short-term volatility is normal. NYLIM’s view: markets are looking through near-term geopolitical noise. Stay invested, stay diversified, and review your plan if your goals or timeline have changed.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QmBcDDkf.EZSeULvYIKB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Un8ds_piMNzbUFUxUhVYX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YL Widescreen Theme">
  <a:themeElements>
    <a:clrScheme name="NYL Light Office Colors">
      <a:dk1>
        <a:srgbClr val="000000"/>
      </a:dk1>
      <a:lt1>
        <a:srgbClr val="FFFFFF"/>
      </a:lt1>
      <a:dk2>
        <a:srgbClr val="E6E9F0"/>
      </a:dk2>
      <a:lt2>
        <a:srgbClr val="0A3C53"/>
      </a:lt2>
      <a:accent1>
        <a:srgbClr val="42B8FB"/>
      </a:accent1>
      <a:accent2>
        <a:srgbClr val="7C61A7"/>
      </a:accent2>
      <a:accent3>
        <a:srgbClr val="C87A90"/>
      </a:accent3>
      <a:accent4>
        <a:srgbClr val="D07B4A"/>
      </a:accent4>
      <a:accent5>
        <a:srgbClr val="FFD58E"/>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NYL Widescreen Theme" id="{8FB96B9F-713C-4D18-B0BA-A726F512E8EC}" vid="{89FA3B7E-3DC3-48BB-8D01-E50D94EC5E40}"/>
    </a:ext>
  </a:extLst>
</a:theme>
</file>

<file path=ppt/theme/theme2.xml><?xml version="1.0" encoding="utf-8"?>
<a:theme xmlns:a="http://schemas.openxmlformats.org/drawingml/2006/main" name="3_ELEVATE light blue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3.xml><?xml version="1.0" encoding="utf-8"?>
<a:theme xmlns:a="http://schemas.openxmlformats.org/drawingml/2006/main" name="NYL light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4.xml><?xml version="1.0" encoding="utf-8"?>
<a:theme xmlns:a="http://schemas.openxmlformats.org/drawingml/2006/main" name="ELEVATE light blue background 16-9">
  <a:themeElements>
    <a:clrScheme name="NYL Dark Office Colors 2-23-17">
      <a:dk1>
        <a:srgbClr val="FFFFFF"/>
      </a:dk1>
      <a:lt1>
        <a:srgbClr val="000000"/>
      </a:lt1>
      <a:dk2>
        <a:srgbClr val="E6E9F0"/>
      </a:dk2>
      <a:lt2>
        <a:srgbClr val="0A3C53"/>
      </a:lt2>
      <a:accent1>
        <a:srgbClr val="42B8FB"/>
      </a:accent1>
      <a:accent2>
        <a:srgbClr val="7C61A7"/>
      </a:accent2>
      <a:accent3>
        <a:srgbClr val="C87A90"/>
      </a:accent3>
      <a:accent4>
        <a:srgbClr val="D07B4B"/>
      </a:accent4>
      <a:accent5>
        <a:srgbClr val="F8A04B"/>
      </a:accent5>
      <a:accent6>
        <a:srgbClr val="6C9B71"/>
      </a:accent6>
      <a:hlink>
        <a:srgbClr val="0000FF"/>
      </a:hlink>
      <a:folHlink>
        <a:srgbClr val="586992"/>
      </a:folHlink>
    </a:clrScheme>
    <a:fontScheme name="NYL Office Fonts">
      <a:majorFont>
        <a:latin typeface="Georgi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cap="flat" cmpd="sng" algn="ctr">
          <a:noFill/>
          <a:prstDash val="solid"/>
          <a:round/>
          <a:headEnd type="none" w="sm" len="sm"/>
          <a:tailEnd type="none" w="sm" len="sm"/>
        </a:ln>
      </a:spPr>
      <a:bodyPr/>
      <a:lstStyle>
        <a:defPPr>
          <a:defRPr>
            <a:latin typeface="+mj-lt"/>
          </a:defRPr>
        </a:defPPr>
      </a:lstStyle>
    </a:spDef>
  </a:objectDefaults>
  <a:extraClrSchemeLst/>
  <a:extLst>
    <a:ext uri="{05A4C25C-085E-4340-85A3-A5531E510DB2}">
      <thm15:themeFamily xmlns:thm15="http://schemas.microsoft.com/office/thememl/2012/main" name="Presentation4" id="{DAAD2B39-F35F-E442-B000-97132C14D756}" vid="{3E699984-35A0-234D-A4FA-9B45B9B78E75}"/>
    </a:ext>
  </a:extLst>
</a:theme>
</file>

<file path=ppt/theme/theme5.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258A8F-586B-499B-90F0-AA26C728EB82}">
  <ds:schemaRefs>
    <ds:schemaRef ds:uri="879a6a9b-e6a8-4c41-957b-9fddf8c68e29"/>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www.w3.org/XML/1998/namespace"/>
    <ds:schemaRef ds:uri="http://purl.org/dc/elements/1.1/"/>
    <ds:schemaRef ds:uri="http://schemas.microsoft.com/office/infopath/2007/PartnerControls"/>
    <ds:schemaRef ds:uri="f7187551-dcd2-4df2-b465-e591e26c4685"/>
    <ds:schemaRef ds:uri="http://purl.org/dc/terms/"/>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8030252A-2F31-4F5A-B6EB-91BF048F97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87551-dcd2-4df2-b465-e591e26c4685"/>
    <ds:schemaRef ds:uri="879a6a9b-e6a8-4c41-957b-9fddf8c68e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188</TotalTime>
  <Words>3927</Words>
  <Application>Microsoft Office PowerPoint</Application>
  <PresentationFormat>Widescreen</PresentationFormat>
  <Paragraphs>342</Paragraphs>
  <Slides>13</Slides>
  <Notes>12</Notes>
  <HiddenSlides>0</HiddenSlides>
  <MMClips>0</MMClips>
  <ScaleCrop>false</ScaleCrop>
  <HeadingPairs>
    <vt:vector size="8" baseType="variant">
      <vt:variant>
        <vt:lpstr>Fonts Used</vt:lpstr>
      </vt:variant>
      <vt:variant>
        <vt:i4>16</vt:i4>
      </vt:variant>
      <vt:variant>
        <vt:lpstr>Theme</vt:lpstr>
      </vt:variant>
      <vt:variant>
        <vt:i4>7</vt:i4>
      </vt:variant>
      <vt:variant>
        <vt:lpstr>Embedded OLE Servers</vt:lpstr>
      </vt:variant>
      <vt:variant>
        <vt:i4>1</vt:i4>
      </vt:variant>
      <vt:variant>
        <vt:lpstr>Slide Titles</vt:lpstr>
      </vt:variant>
      <vt:variant>
        <vt:i4>13</vt:i4>
      </vt:variant>
    </vt:vector>
  </HeadingPairs>
  <TitlesOfParts>
    <vt:vector size="37" baseType="lpstr">
      <vt:lpstr>AirbnbCereal_W_Bd</vt:lpstr>
      <vt:lpstr>AirbnbCereal_W_Md Med</vt:lpstr>
      <vt:lpstr>Alda Pro</vt:lpstr>
      <vt:lpstr>Aptos</vt:lpstr>
      <vt:lpstr>Arial</vt:lpstr>
      <vt:lpstr>Arial Narrow</vt:lpstr>
      <vt:lpstr>Calibri</vt:lpstr>
      <vt:lpstr>Effra</vt:lpstr>
      <vt:lpstr>Effra Medium</vt:lpstr>
      <vt:lpstr>Effra Pro</vt:lpstr>
      <vt:lpstr>Geneva</vt:lpstr>
      <vt:lpstr>Georgia</vt:lpstr>
      <vt:lpstr>Segoe UI</vt:lpstr>
      <vt:lpstr>System Font Regular</vt:lpstr>
      <vt:lpstr>Tahoma</vt:lpstr>
      <vt:lpstr>Wingdings</vt:lpstr>
      <vt:lpstr>NYL Widescreen Theme</vt:lpstr>
      <vt:lpstr>3_ELEVATE light blue background 16-9</vt:lpstr>
      <vt:lpstr>NYL light background 16-9</vt:lpstr>
      <vt:lpstr>ELEVATE light blue background 16-9</vt:lpstr>
      <vt:lpstr>1_Light Blue</vt:lpstr>
      <vt:lpstr>2_Light Blue</vt:lpstr>
      <vt:lpstr>Light Blue</vt:lpstr>
      <vt:lpstr>think-cell Slide</vt:lpstr>
      <vt:lpstr>New Org:  What’s important week of  May 18</vt:lpstr>
      <vt:lpstr>April-May New Org Bonus — one month left</vt:lpstr>
      <vt:lpstr>Money ranks New York Life Best in Whole Life for 2026</vt:lpstr>
      <vt:lpstr>VUL Mastery webinar series - session 2</vt:lpstr>
      <vt:lpstr>Disability Income Awareness Month (DIAM) training series</vt:lpstr>
      <vt:lpstr>2Q 2026 Registered Rep MasterClass </vt:lpstr>
      <vt:lpstr>Register for the Mutual Income webinar</vt:lpstr>
      <vt:lpstr>Target Markets upcoming webinars</vt:lpstr>
      <vt:lpstr>Capture benefits faster with Discovery simplified Employer contributions and 401(k) match rules now auto-calculate </vt:lpstr>
      <vt:lpstr>PowerPoint Presentation</vt:lpstr>
      <vt:lpstr>Attend the NYL Healthy Living series and learn about the new program for policyholders Available to call clients with policies from Arkansas, Colorado, Connecticut, Georgia, Minnesota, Pennsylvania</vt:lpstr>
      <vt:lpstr>Tune in quarterly: The Elevate Podcast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Bueti, Grazia (Grace)</cp:lastModifiedBy>
  <cp:revision>14</cp:revision>
  <cp:lastPrinted>2026-01-26T22:09:40Z</cp:lastPrinted>
  <dcterms:created xsi:type="dcterms:W3CDTF">2022-07-12T13:52:57Z</dcterms:created>
  <dcterms:modified xsi:type="dcterms:W3CDTF">2026-05-14T19:30:03Z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