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2" r:id="rId2"/>
  </p:sldMasterIdLst>
  <p:notesMasterIdLst>
    <p:notesMasterId r:id="rId16"/>
  </p:notesMasterIdLst>
  <p:sldIdLst>
    <p:sldId id="500" r:id="rId22"/>
    <p:sldId id="501" r:id="rId23"/>
    <p:sldId id="502" r:id="rId24"/>
    <p:sldId id="503" r:id="rId25"/>
    <p:sldId id="504" r:id="rId26"/>
    <p:sldId id="505" r:id="rId27"/>
    <p:sldId id="506" r:id="rId28"/>
    <p:sldId id="507" r:id="rId29"/>
    <p:sldId id="2147475716" r:id="rId3"/>
    <p:sldId id="306" r:id="rId4"/>
    <p:sldId id="304" r:id="rId5"/>
    <p:sldId id="303" r:id="rId6"/>
    <p:sldId id="313" r:id="rId7"/>
    <p:sldId id="2147483602" r:id="rId8"/>
    <p:sldId id="320" r:id="rId9"/>
    <p:sldId id="2147483604" r:id="rId10"/>
    <p:sldId id="2147475715" r:id="rId11"/>
    <p:sldId id="307" r:id="rId12"/>
    <p:sldId id="2147483603" r:id="rId13"/>
    <p:sldId id="2147475714" r:id="rId14"/>
    <p:sldId id="31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12" d="100"/>
          <a:sy n="112" d="100"/>
        </p:scale>
        <p:origin x="438" y="32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eti, Grazia (Grace)" userId="c20da38d-4933-4cf1-8bc7-708859dc483f" providerId="ADAL" clId="{7E691470-409E-4843-8F6C-EEFF9EF1D650}"/>
    <pc:docChg chg="delSld">
      <pc:chgData name="Bueti, Grazia (Grace)" userId="c20da38d-4933-4cf1-8bc7-708859dc483f" providerId="ADAL" clId="{7E691470-409E-4843-8F6C-EEFF9EF1D650}" dt="2026-03-26T19:34:32.718" v="0" actId="47"/>
      <pc:docMkLst>
        <pc:docMk/>
      </pc:docMkLst>
      <pc:sldChg chg="del">
        <pc:chgData name="Bueti, Grazia (Grace)" userId="c20da38d-4933-4cf1-8bc7-708859dc483f" providerId="ADAL" clId="{7E691470-409E-4843-8F6C-EEFF9EF1D650}" dt="2026-03-26T19:34:32.718" v="0" actId="47"/>
        <pc:sldMkLst>
          <pc:docMk/>
          <pc:sldMk cId="2466822959" sldId="289"/>
        </pc:sldMkLst>
      </pc:sldChg>
      <pc:sldChg chg="del">
        <pc:chgData name="Bueti, Grazia (Grace)" userId="c20da38d-4933-4cf1-8bc7-708859dc483f" providerId="ADAL" clId="{7E691470-409E-4843-8F6C-EEFF9EF1D650}" dt="2026-03-26T19:34:32.718" v="0" actId="47"/>
        <pc:sldMkLst>
          <pc:docMk/>
          <pc:sldMk cId="2541035551" sldId="349"/>
        </pc:sldMkLst>
      </pc:sldChg>
      <pc:sldChg chg="del">
        <pc:chgData name="Bueti, Grazia (Grace)" userId="c20da38d-4933-4cf1-8bc7-708859dc483f" providerId="ADAL" clId="{7E691470-409E-4843-8F6C-EEFF9EF1D650}" dt="2026-03-26T19:34:32.718" v="0" actId="47"/>
        <pc:sldMkLst>
          <pc:docMk/>
          <pc:sldMk cId="363964190" sldId="351"/>
        </pc:sldMkLst>
      </pc:sldChg>
      <pc:sldChg chg="del">
        <pc:chgData name="Bueti, Grazia (Grace)" userId="c20da38d-4933-4cf1-8bc7-708859dc483f" providerId="ADAL" clId="{7E691470-409E-4843-8F6C-EEFF9EF1D650}" dt="2026-03-26T19:34:32.718" v="0" actId="47"/>
        <pc:sldMkLst>
          <pc:docMk/>
          <pc:sldMk cId="2195424426" sldId="352"/>
        </pc:sldMkLst>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4C883A-7621-439F-86B0-6BF6156EC5E3}"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4DD55-A490-43B6-BBFE-E3FDF2889E5D}" type="slidenum">
              <a:rPr lang="en-US" smtClean="0"/>
              <a:t>‹#›</a:t>
            </a:fld>
            <a:endParaRPr lang="en-US"/>
          </a:p>
        </p:txBody>
      </p:sp>
    </p:spTree>
    <p:extLst>
      <p:ext uri="{BB962C8B-B14F-4D97-AF65-F5344CB8AC3E}">
        <p14:creationId xmlns:p14="http://schemas.microsoft.com/office/powerpoint/2010/main" val="717369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3" Type="http://schemas.openxmlformats.org/officeDocument/2006/relationships/hyperlink" Target="https://newyorklife.edassist.com/tuition/support"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 xml:space="preserve">New Org Section: </a:t>
            </a:r>
            <a:r>
              <a:rPr lang="en-US"/>
              <a:t xml:space="preserve">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266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r>
              <a:rPr lang="en-US" b="1"/>
              <a:t>Power your 2Q growth with the April PLAN webinar</a:t>
            </a:r>
          </a:p>
          <a:p>
            <a:endParaRPr lang="en-US">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ea typeface="Calibri"/>
                <a:cs typeface="Arial" panose="020B0604020202020204" pitchFamily="34" charset="0"/>
              </a:rPr>
              <a:t xml:space="preserve">This slide highlights the </a:t>
            </a:r>
            <a:r>
              <a:rPr lang="en-US" b="1">
                <a:latin typeface="Arial" panose="020B0604020202020204" pitchFamily="34" charset="0"/>
                <a:ea typeface="Calibri"/>
                <a:cs typeface="Arial" panose="020B0604020202020204" pitchFamily="34" charset="0"/>
              </a:rPr>
              <a:t xml:space="preserve">April PLAN webinar, </a:t>
            </a:r>
            <a:r>
              <a:rPr kumimoji="0" lang="en-US" sz="1200" b="1" i="0" u="none" strike="noStrike" kern="1200" cap="none" spc="0" normalizeH="0" baseline="0" noProof="0">
                <a:ln>
                  <a:noFill/>
                </a:ln>
                <a:solidFill>
                  <a:srgbClr val="000962"/>
                </a:solidFill>
                <a:effectLst/>
                <a:uLnTx/>
                <a:uFillTx/>
                <a:latin typeface="Arial"/>
                <a:ea typeface="+mn-ea"/>
                <a:cs typeface="+mn-cs"/>
              </a:rPr>
              <a:t xml:space="preserve">New Opportunities to Power 2Q Growth </a:t>
            </a:r>
            <a:r>
              <a:rPr lang="en-US">
                <a:latin typeface="Arial" panose="020B0604020202020204" pitchFamily="34" charset="0"/>
                <a:ea typeface="Calibri"/>
                <a:cs typeface="Arial" panose="020B0604020202020204" pitchFamily="34" charset="0"/>
              </a:rPr>
              <a:t>and its focus on supporting protection-powered growth as the second quarter begins. The session will feature timely updates, client opportunities, and practical sales ideas intended to help agents build momentum in 2Q and progress toward Council goals.</a:t>
            </a:r>
          </a:p>
          <a:p>
            <a:endParaRPr lang="en-US">
              <a:latin typeface="Arial" panose="020B0604020202020204" pitchFamily="34" charset="0"/>
              <a:ea typeface="Calibri"/>
              <a:cs typeface="Arial" panose="020B0604020202020204" pitchFamily="34" charset="0"/>
            </a:endParaRPr>
          </a:p>
          <a:p>
            <a:r>
              <a:rPr lang="en-US">
                <a:latin typeface="Arial" panose="020B0604020202020204" pitchFamily="34" charset="0"/>
                <a:ea typeface="Calibri"/>
                <a:cs typeface="Arial" panose="020B0604020202020204" pitchFamily="34" charset="0"/>
              </a:rPr>
              <a:t>Content will include strategies for positioning protection as the foundation of a holistic financial strategy, examples of sales ideas and conversation starters that can be applied immediately, and field-tested insights from a fellow agent.</a:t>
            </a:r>
          </a:p>
          <a:p>
            <a:endParaRPr lang="en-US">
              <a:latin typeface="Arial" panose="020B0604020202020204" pitchFamily="34" charset="0"/>
              <a:ea typeface="Calibri"/>
              <a:cs typeface="Arial" panose="020B0604020202020204" pitchFamily="34" charset="0"/>
            </a:endParaRPr>
          </a:p>
          <a:p>
            <a:r>
              <a:rPr lang="en-US">
                <a:latin typeface="Arial" panose="020B0604020202020204" pitchFamily="34" charset="0"/>
                <a:ea typeface="Calibri"/>
                <a:cs typeface="Arial" panose="020B0604020202020204" pitchFamily="34" charset="0"/>
              </a:rPr>
              <a:t xml:space="preserve">The live webinar is scheduled for </a:t>
            </a:r>
            <a:r>
              <a:rPr lang="en-US" b="1">
                <a:latin typeface="Arial" panose="020B0604020202020204" pitchFamily="34" charset="0"/>
                <a:ea typeface="Calibri"/>
                <a:cs typeface="Arial" panose="020B0604020202020204" pitchFamily="34" charset="0"/>
              </a:rPr>
              <a:t>Tuesday, April 7 at 2:00 PM ET</a:t>
            </a:r>
            <a:r>
              <a:rPr lang="en-US">
                <a:latin typeface="Arial" panose="020B0604020202020204" pitchFamily="34" charset="0"/>
                <a:ea typeface="Calibri"/>
                <a:cs typeface="Arial" panose="020B0604020202020204" pitchFamily="34" charset="0"/>
              </a:rPr>
              <a:t xml:space="preserve">. Registration is available via the QR code on the slide. </a:t>
            </a:r>
            <a:r>
              <a:rPr lang="en-US" b="1">
                <a:latin typeface="Arial" panose="020B0604020202020204" pitchFamily="34" charset="0"/>
                <a:ea typeface="Calibri"/>
                <a:cs typeface="Arial" panose="020B0604020202020204" pitchFamily="34" charset="0"/>
              </a:rPr>
              <a:t>Featured speakers will be announced soon.</a:t>
            </a:r>
          </a:p>
          <a:p>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xml:space="preserve"> PLAN@newyorklife.com</a:t>
            </a:r>
          </a:p>
          <a:p>
            <a:endParaRPr lang="en-US">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 xml:space="preserve">Registration link: </a:t>
            </a:r>
            <a:r>
              <a:rPr lang="en-US">
                <a:latin typeface="Arial" panose="020B0604020202020204" pitchFamily="34" charset="0"/>
                <a:ea typeface="Calibri"/>
                <a:cs typeface="Arial" panose="020B0604020202020204" pitchFamily="34" charset="0"/>
              </a:rPr>
              <a:t>https://nylife.zoom.us/webinar/register/WN_Q0ipUgE1RkqTQc_R_0cp6w#/registration</a:t>
            </a: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FF0000"/>
                </a:solidFill>
                <a:latin typeface="Arial" panose="020B0604020202020204" pitchFamily="34" charset="0"/>
                <a:cs typeface="Arial" panose="020B0604020202020204" pitchFamily="34" charset="0"/>
              </a:rPr>
              <a:t>MANAGERS – REMOVE THIS SLIDE IF YOUR OFFICE IS HAVING AN IN-PERSON ROADSHOW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Protection-Powered Growth: Building Stronger Client Strategies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cs typeface="Arial" panose="020B0604020202020204" pitchFamily="34" charset="0"/>
              </a:rPr>
              <a:t xml:space="preserve">This webinar </a:t>
            </a:r>
            <a:r>
              <a:rPr lang="en-US" b="1">
                <a:latin typeface="Arial" panose="020B0604020202020204" pitchFamily="34" charset="0"/>
                <a:cs typeface="Arial" panose="020B0604020202020204" pitchFamily="34" charset="0"/>
              </a:rPr>
              <a:t>for New Org agents</a:t>
            </a:r>
            <a:r>
              <a:rPr lang="en-US" b="0">
                <a:latin typeface="Arial" panose="020B0604020202020204" pitchFamily="34" charset="0"/>
                <a:cs typeface="Arial" panose="020B0604020202020204" pitchFamily="34" charset="0"/>
              </a:rPr>
              <a:t xml:space="preserve"> highlights practical approaches to using protection-based conversations to develop relationships, open new opportunities and expand reach within the business owner segment. Key topics include strategies for daytime prospecting to acquire new clients, addressing personal planning needs of business owners and identifying solutions to support employees. The webinar will take place on </a:t>
            </a:r>
            <a:r>
              <a:rPr lang="en-US" b="1">
                <a:latin typeface="Arial" panose="020B0604020202020204" pitchFamily="34" charset="0"/>
                <a:cs typeface="Arial" panose="020B0604020202020204" pitchFamily="34" charset="0"/>
              </a:rPr>
              <a:t xml:space="preserve">Friday, April 17 </a:t>
            </a:r>
            <a:r>
              <a:rPr lang="en-US" b="0">
                <a:latin typeface="Arial" panose="020B0604020202020204" pitchFamily="34" charset="0"/>
                <a:cs typeface="Arial" panose="020B0604020202020204" pitchFamily="34" charset="0"/>
              </a:rPr>
              <a:t xml:space="preserve">at </a:t>
            </a:r>
            <a:r>
              <a:rPr lang="en-US" b="1">
                <a:latin typeface="Arial" panose="020B0604020202020204" pitchFamily="34" charset="0"/>
                <a:cs typeface="Arial" panose="020B0604020202020204" pitchFamily="34" charset="0"/>
              </a:rPr>
              <a:t>12:00 p.m. Eastern Time</a:t>
            </a:r>
            <a:r>
              <a:rPr lang="en-US" b="0">
                <a:latin typeface="Arial" panose="020B0604020202020204" pitchFamily="34" charset="0"/>
                <a:cs typeface="Arial" panose="020B0604020202020204" pitchFamily="34" charset="0"/>
              </a:rPr>
              <a:t>, with registration available via the QR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xml:space="preserve"> PLAN@newyorklife.com</a:t>
            </a:r>
          </a:p>
          <a:p>
            <a:endParaRPr lang="en-US" b="1"/>
          </a:p>
          <a:p>
            <a:r>
              <a:rPr lang="en-US" b="1"/>
              <a:t xml:space="preserve">Registration link: </a:t>
            </a:r>
            <a:r>
              <a:rPr lang="en-US"/>
              <a:t>https://nylife.zoom.us/webinar/register/WN_q5A-boKTStyenZJ-ouYxbw</a:t>
            </a:r>
          </a:p>
          <a:p>
            <a:endParaRPr lang="en-US">
              <a:ea typeface="Calibri"/>
              <a:cs typeface="Calibri"/>
            </a:endParaRP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0996-84D0-04BF-B094-502D15C0B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3197F-CF92-E65C-5420-80D4C2F23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4626C-9F5F-CFEE-13E4-763D1604A67E}"/>
              </a:ext>
            </a:extLst>
          </p:cNvPr>
          <p:cNvSpPr>
            <a:spLocks noGrp="1"/>
          </p:cNvSpPr>
          <p:nvPr>
            <p:ph type="body" idx="1"/>
          </p:nvPr>
        </p:nvSpPr>
        <p:spPr/>
        <p:txBody>
          <a:bodyPr/>
          <a:lstStyle/>
          <a:p>
            <a:r>
              <a:rPr lang="en-US">
                <a:latin typeface="Arial" panose="020B0604020202020204" pitchFamily="34" charset="0"/>
                <a:ea typeface="Calibri"/>
                <a:cs typeface="Arial" panose="020B0604020202020204" pitchFamily="34" charset="0"/>
              </a:rPr>
              <a:t xml:space="preserve">The </a:t>
            </a:r>
            <a:r>
              <a:rPr lang="en-US" b="1">
                <a:latin typeface="Arial" panose="020B0604020202020204" pitchFamily="34" charset="0"/>
                <a:ea typeface="Calibri"/>
                <a:cs typeface="Arial" panose="020B0604020202020204" pitchFamily="34" charset="0"/>
              </a:rPr>
              <a:t xml:space="preserve">2Q Protection Products Fundamentals Series </a:t>
            </a:r>
            <a:r>
              <a:rPr lang="en-US">
                <a:latin typeface="Arial" panose="020B0604020202020204" pitchFamily="34" charset="0"/>
                <a:ea typeface="Calibri"/>
                <a:cs typeface="Arial" panose="020B0604020202020204" pitchFamily="34" charset="0"/>
              </a:rPr>
              <a:t>is a 12-part program that helps you strengthen your foundation across life insurance, disability, long-term care, and business solutions. Each session is led by product experts and designed to give you practical, client-ready knowledge.</a:t>
            </a:r>
          </a:p>
          <a:p>
            <a:endParaRPr lang="en-US">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xml:space="preserve"> PLAN@newyorklife.com</a:t>
            </a:r>
          </a:p>
          <a:p>
            <a:endParaRPr lang="en-US">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Registration link:</a:t>
            </a:r>
            <a:r>
              <a:rPr lang="en-US">
                <a:latin typeface="Arial" panose="020B0604020202020204" pitchFamily="34" charset="0"/>
                <a:ea typeface="Calibri"/>
                <a:cs typeface="Arial" panose="020B0604020202020204" pitchFamily="34" charset="0"/>
              </a:rPr>
              <a:t xml:space="preserve"> https://nylife.zoom.us/webinar/register/WN_KrF2To4tRNiVKFQgTNKyFw#/registration</a:t>
            </a:r>
          </a:p>
        </p:txBody>
      </p:sp>
      <p:sp>
        <p:nvSpPr>
          <p:cNvPr id="4" name="Slide Number Placeholder 3">
            <a:extLst>
              <a:ext uri="{FF2B5EF4-FFF2-40B4-BE49-F238E27FC236}">
                <a16:creationId xmlns:a16="http://schemas.microsoft.com/office/drawing/2014/main" id="{C14B7F4D-CBB8-D63B-1D0E-CE30C57FBD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3476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xml:space="preserve">2Q 2026 Registered Rep </a:t>
            </a:r>
            <a:r>
              <a:rPr lang="en-US" b="1" err="1"/>
              <a:t>MasterClass</a:t>
            </a:r>
            <a:r>
              <a:rPr lang="en-US" b="1"/>
              <a:t xml:space="preserve"> </a:t>
            </a:r>
          </a:p>
          <a:p>
            <a:endParaRPr lang="en-US" b="1"/>
          </a:p>
          <a:p>
            <a:r>
              <a:rPr lang="en-US" b="0"/>
              <a:t>Starting Tuesday April 21st at 3pm EST running for 11 weeks</a:t>
            </a:r>
          </a:p>
          <a:p>
            <a:endParaRPr lang="en-US" b="1"/>
          </a:p>
          <a:p>
            <a:r>
              <a:rPr lang="en-US" b="1"/>
              <a:t xml:space="preserve">Contact: </a:t>
            </a:r>
            <a:r>
              <a:rPr lang="en-US" b="0"/>
              <a:t>PLAN@newyorklife.com</a:t>
            </a:r>
          </a:p>
          <a:p>
            <a:endParaRPr lang="en-US" b="1"/>
          </a:p>
          <a:p>
            <a:r>
              <a:rPr lang="en-US" b="1"/>
              <a:t xml:space="preserve">Registration link: </a:t>
            </a:r>
            <a:r>
              <a:rPr lang="en-US"/>
              <a:t>https://nylife.zoom.us/webinar/register/WN_blUdrLegQluNnil5eJb-Gg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C2EB45-E289-47D4-B0E3-AF39ECB9E3B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9899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5DA80-0F33-A7D5-089C-701F602FB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1A757-176F-BB68-846D-08DDBAAA4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DCCDD-346A-F7CC-1A70-AE43A2600BB2}"/>
              </a:ext>
            </a:extLst>
          </p:cNvPr>
          <p:cNvSpPr>
            <a:spLocks noGrp="1"/>
          </p:cNvSpPr>
          <p:nvPr>
            <p:ph type="body" idx="1"/>
          </p:nvPr>
        </p:nvSpPr>
        <p:spPr/>
        <p:txBody>
          <a:bodyPr/>
          <a:lstStyle/>
          <a:p>
            <a:pPr fontAlgn="t"/>
            <a:r>
              <a:rPr lang="en-US" sz="1200" b="0" i="0" kern="1200">
                <a:solidFill>
                  <a:schemeClr val="tx1"/>
                </a:solidFill>
                <a:effectLst/>
                <a:latin typeface="+mn-lt"/>
                <a:ea typeface="+mn-ea"/>
                <a:cs typeface="+mn-cs"/>
              </a:rPr>
              <a:t>New York Life Lifetime Mutual Income Annuity clients enjoy a base of guaranteed income with an opportunity for dividends, providing retirement income that lasts for a lifetime—no matter how long they live. This February, we’re making the LMI value proposition even better.</a:t>
            </a:r>
          </a:p>
          <a:p>
            <a:pPr fontAlgn="t"/>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Effective February 6, 2026, LMI will now deliver more monthly income in the first policy year with the introduction of the new Enhanced Early Income feature. This rider will be automatically applied to all new LMI policies in states where it is approved.</a:t>
            </a:r>
          </a:p>
          <a:p>
            <a:pPr fontAlgn="t"/>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With this change, the premium will be split into two components. The majority of the premium will go into the existing LMI design, with approximately 3-6% of the premium (with the exact amount determined by a formula) allocated to the Enhanced Early Income feature. This will result in higher first-year income compared to the current design, and all monthly income payments in the first year will be fully guaranteed.</a:t>
            </a:r>
          </a:p>
          <a:p>
            <a:pPr fontAlgn="t"/>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This adjustment provides a more consistent income stream beginning with the very first income payment, making LMI more attractive than—and directly comparable to—GLI.</a:t>
            </a:r>
          </a:p>
          <a:p>
            <a:pPr fontAlgn="t"/>
            <a:endParaRPr lang="en-US"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xml:space="preserve"> PLAN@newyorklife.com</a:t>
            </a:r>
          </a:p>
          <a:p>
            <a:pPr fontAlgn="t"/>
            <a:endParaRPr lang="en-US" sz="1200" b="0" i="0" kern="120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ndParaRPr>
          </a:p>
        </p:txBody>
      </p:sp>
      <p:sp>
        <p:nvSpPr>
          <p:cNvPr id="4" name="Slide Number Placeholder 3">
            <a:extLst>
              <a:ext uri="{FF2B5EF4-FFF2-40B4-BE49-F238E27FC236}">
                <a16:creationId xmlns:a16="http://schemas.microsoft.com/office/drawing/2014/main" id="{44FAB715-DEB2-4C1F-200F-8A5F357555D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73D525A-4573-4632-B4C8-F873B94FBFB8}" type="slidenum">
              <a:rPr kumimoji="0" lang="en-US" sz="1200" b="0" i="0" u="none" strike="noStrike" kern="1200" cap="none" spc="0" normalizeH="0" baseline="0" noProof="0" smtClean="0">
                <a:ln>
                  <a:noFill/>
                </a:ln>
                <a:solidFill>
                  <a:prstClr val="black"/>
                </a:solidFill>
                <a:effectLst/>
                <a:uLnTx/>
                <a:uFillTx/>
                <a:latin typeface="Tahoma" pitchFamily="34" charset="0"/>
                <a:ea typeface="Geneva" pitchFamily="-109"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Tahoma" pitchFamily="34" charset="0"/>
              <a:ea typeface="Geneva" pitchFamily="-109" charset="-128"/>
              <a:cs typeface="+mn-cs"/>
            </a:endParaRPr>
          </a:p>
        </p:txBody>
      </p:sp>
    </p:spTree>
    <p:extLst>
      <p:ext uri="{BB962C8B-B14F-4D97-AF65-F5344CB8AC3E}">
        <p14:creationId xmlns:p14="http://schemas.microsoft.com/office/powerpoint/2010/main" val="2092204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pPr defTabSz="942289">
              <a:defRPr/>
            </a:pPr>
            <a:r>
              <a:rPr lang="en-US" b="1"/>
              <a:t xml:space="preserve">New Org Section: </a:t>
            </a:r>
            <a:r>
              <a:rPr lang="en-US"/>
              <a:t xml:space="preserve">For SPs and Partners presenting to </a:t>
            </a:r>
            <a:r>
              <a:rPr lang="en-US" b="1"/>
              <a:t>New Org agents</a:t>
            </a:r>
            <a:r>
              <a:rPr lang="en-US"/>
              <a:t>. These slides are visible to EPs and MPs.</a:t>
            </a:r>
            <a:endParaRPr lang="en-US" b="1"/>
          </a:p>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827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74DC3-DAEE-874D-DB8E-9BA5355A3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FF8A0-29DD-DA88-A737-62775852A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5AFA0-7CF7-A5BB-B1A4-91B004B975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Hunter Bulk, FB Change Management (abulk@newyorklife.com)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are pleased to announce a new formalized, structured training program for agent staff.  Designed to get your staff up to speed quickly, this instructor led, hands on training program delivered by NYL Service covers tools and systems, the new business &amp; underwriting process, inforce service work and compliance. There are ongoing, monthly cohorts, with the next beginning on April 6</a:t>
            </a:r>
            <a:r>
              <a:rPr lang="en-US" baseline="30000"/>
              <a:t>th</a:t>
            </a:r>
            <a:r>
              <a:rPr lang="en-US"/>
              <a:t>.  Spots are limited, so enroll your assistant in the program by scanning the QR code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https://www.today.newyorklife.com/agencyportal/s/article/Agent-Assist-Academy</a:t>
            </a:r>
          </a:p>
          <a:p>
            <a:endParaRPr lang="en-US"/>
          </a:p>
        </p:txBody>
      </p:sp>
      <p:sp>
        <p:nvSpPr>
          <p:cNvPr id="4" name="Slide Number Placeholder 3">
            <a:extLst>
              <a:ext uri="{FF2B5EF4-FFF2-40B4-BE49-F238E27FC236}">
                <a16:creationId xmlns:a16="http://schemas.microsoft.com/office/drawing/2014/main" id="{AF851924-D40A-4BC9-4A2B-C351EC9D2D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5692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Melli Hase &lt;melanie_l_hase@newyorklife.com&gt;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This slide serves as a refresher on the tuition reimbursement process for American College courses.</a:t>
            </a:r>
            <a:br>
              <a:rPr lang="en-US"/>
            </a:b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 xml:space="preserve">Link to QR code: </a:t>
            </a:r>
            <a:r>
              <a:rPr lang="en-US"/>
              <a:t>https://live.gopds.net/nyl/suite/webspace_view/EdAssist%20Application%20-%20How%20to%20request%20tuition%20reimbursement_~_2ab026c0ce/EdAssist%20Application%20-%20How%20to%20request%20tuition%20reimbursement.pdf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b="1"/>
              <a:t>Links to EdAssist sites</a:t>
            </a:r>
            <a:r>
              <a:rPr lang="en-US"/>
              <a:t xml:space="preser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xml:space="preserve">● https://newyorklife.edassist.com/tuition/welcome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xml:space="preserve">● </a:t>
            </a:r>
            <a:r>
              <a:rPr lang="en-US" sz="1200" b="0" u="none">
                <a:solidFill>
                  <a:schemeClr val="tx2">
                    <a:lumMod val="50000"/>
                    <a:lumOff val="50000"/>
                  </a:schemeClr>
                </a:solidFill>
                <a:latin typeface="Arial (Body)"/>
                <a:ea typeface="Geneva"/>
                <a:cs typeface="Arial"/>
                <a:hlinkClick r:id="rId3">
                  <a:extLst>
                    <a:ext uri="{A12FA001-AC4F-418D-AE19-62706E023703}">
                      <ahyp:hlinkClr xmlns:ahyp="http://schemas.microsoft.com/office/drawing/2018/hyperlinkcolor" val="tx"/>
                    </a:ext>
                  </a:extLst>
                </a:hlinkClick>
              </a:rPr>
              <a:t>https://newyorklife.edassist.com/tuition/support</a:t>
            </a:r>
            <a:r>
              <a:rPr lang="en-US" sz="1200" b="0" u="none">
                <a:solidFill>
                  <a:schemeClr val="tx2">
                    <a:lumMod val="50000"/>
                    <a:lumOff val="50000"/>
                  </a:schemeClr>
                </a:solidFill>
                <a:latin typeface="Arial (Body)"/>
                <a:ea typeface="Geneva"/>
                <a:cs typeface="Arial"/>
              </a:rPr>
              <a:t xml:space="preser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Link to Practice Model site on NYLIC U</a:t>
            </a:r>
            <a:r>
              <a:rPr lang="en-US"/>
              <a:t xml:space="preser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xml:space="preserve">● https://nyl.docebosaas.com/pages/67/practice-model-overview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u="none">
              <a:solidFill>
                <a:schemeClr val="tx2">
                  <a:lumMod val="50000"/>
                  <a:lumOff val="50000"/>
                </a:schemeClr>
              </a:solidFill>
              <a:latin typeface="Arial (Body)"/>
              <a:ea typeface="Genev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473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721B4-F534-25AB-E0D3-6E917BCD3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CA1FC7-EF45-5402-DCE7-4A7B0A643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4DDCF-AF25-45B2-775B-CBC9D9CEDF19}"/>
              </a:ext>
            </a:extLst>
          </p:cNvPr>
          <p:cNvSpPr>
            <a:spLocks noGrp="1"/>
          </p:cNvSpPr>
          <p:nvPr>
            <p:ph type="body" idx="1"/>
          </p:nvPr>
        </p:nvSpPr>
        <p:spPr/>
        <p:txBody>
          <a:bodyPr/>
          <a:lstStyle/>
          <a:p>
            <a:pPr rtl="0" fontAlgn="base"/>
            <a:r>
              <a:rPr lang="en-US" sz="1200" b="1" i="0" u="none" strike="noStrike" kern="1200">
                <a:solidFill>
                  <a:schemeClr val="tx1"/>
                </a:solidFill>
                <a:effectLst/>
                <a:latin typeface="Arial" panose="020B0604020202020204" pitchFamily="34" charset="0"/>
                <a:ea typeface="+mn-ea"/>
                <a:cs typeface="Arial" panose="020B0604020202020204" pitchFamily="34" charset="0"/>
              </a:rPr>
              <a:t>Established Agent Las Vegas incentive</a:t>
            </a:r>
          </a:p>
          <a:p>
            <a:pPr rtl="0" fontAlgn="base"/>
            <a:endParaRPr lang="en-US" sz="1200" b="1" i="0" u="none" strike="noStrike" kern="1200">
              <a:solidFill>
                <a:schemeClr val="tx1"/>
              </a:solidFill>
              <a:effectLst/>
              <a:latin typeface="Arial" panose="020B0604020202020204" pitchFamily="34" charset="0"/>
              <a:ea typeface="+mn-ea"/>
              <a:cs typeface="Arial" panose="020B0604020202020204" pitchFamily="34" charset="0"/>
            </a:endParaRPr>
          </a:p>
          <a:p>
            <a:pPr rtl="0" fontAlgn="base"/>
            <a:r>
              <a:rPr lang="en-US" sz="1200" b="1" i="0" u="none" strike="noStrike" kern="1200">
                <a:solidFill>
                  <a:schemeClr val="tx1"/>
                </a:solidFill>
                <a:effectLst/>
                <a:latin typeface="Arial" panose="020B0604020202020204" pitchFamily="34" charset="0"/>
                <a:ea typeface="+mn-ea"/>
                <a:cs typeface="Arial" panose="020B0604020202020204" pitchFamily="34" charset="0"/>
              </a:rPr>
              <a:t>Final days to qualify! Deadline: March 31</a:t>
            </a:r>
          </a:p>
          <a:p>
            <a:pPr rtl="0" fontAlgn="base"/>
            <a:endParaRPr lang="en-US" sz="1200" b="0" i="0" u="none" strike="noStrike" kern="1200">
              <a:solidFill>
                <a:schemeClr val="tx1"/>
              </a:solidFill>
              <a:effectLst/>
              <a:latin typeface="Arial" panose="020B0604020202020204" pitchFamily="34" charset="0"/>
              <a:ea typeface="+mn-ea"/>
              <a:cs typeface="Arial" panose="020B0604020202020204" pitchFamily="34" charset="0"/>
            </a:endParaRPr>
          </a:p>
          <a:p>
            <a:pPr rtl="0" fontAlgn="base"/>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Phase 2 of the established agent incentive is the leaderboard round, running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through March 31, 2026</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 xml:space="preserve">The top 500 agents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in paid insurance premium across Life, including VUL and MWP, LTC, and IDI, with a minimum of $35,000, will qualify. OPP and single premium policies are credited at 10%, while recurring base premium and riders are credited at 100%.</a:t>
            </a:r>
          </a:p>
          <a:p>
            <a:pPr rtl="0" fontAlgn="base"/>
            <a:endParaRPr lang="en-US" sz="1200" b="0" i="0" u="none" strike="noStrike" kern="1200">
              <a:solidFill>
                <a:schemeClr val="tx1"/>
              </a:solidFill>
              <a:effectLst/>
              <a:latin typeface="Arial" panose="020B0604020202020204" pitchFamily="34" charset="0"/>
              <a:ea typeface="+mn-ea"/>
              <a:cs typeface="Arial" panose="020B0604020202020204" pitchFamily="34" charset="0"/>
            </a:endParaRPr>
          </a:p>
          <a:p>
            <a:pPr rtl="0" fontAlgn="base"/>
            <a:r>
              <a:rPr lang="en-US" sz="1200" b="0" i="0" u="none" strike="noStrike" kern="1200">
                <a:solidFill>
                  <a:schemeClr val="tx1"/>
                </a:solidFill>
                <a:effectLst/>
                <a:latin typeface="Arial" panose="020B0604020202020204" pitchFamily="34" charset="0"/>
                <a:ea typeface="+mn-ea"/>
                <a:cs typeface="Arial" panose="020B0604020202020204" pitchFamily="34" charset="0"/>
              </a:rPr>
              <a:t>A 5% premium growth over first quarter 2025 is required, with the growth requirement waived for agents who pay $300,000 or more in premium during first quarter 2026.</a:t>
            </a:r>
          </a:p>
          <a:p>
            <a:pPr rtl="0" fontAlgn="base"/>
            <a:endParaRPr lang="en-US" sz="1200" b="0" i="0" u="none" strike="noStrike" kern="1200">
              <a:solidFill>
                <a:schemeClr val="tx1"/>
              </a:solidFill>
              <a:effectLst/>
              <a:latin typeface="Arial" panose="020B0604020202020204" pitchFamily="34" charset="0"/>
              <a:ea typeface="+mn-ea"/>
              <a:cs typeface="Arial" panose="020B0604020202020204" pitchFamily="34" charset="0"/>
            </a:endParaRPr>
          </a:p>
          <a:p>
            <a:pPr rtl="0" fontAlgn="base"/>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Qualifiers are competing for a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 xml:space="preserve">Las Vegas experience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featuring world-class speakers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Michael Phelps, Jon Dorenbos, and Bobby Samuelson</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 as well as </a:t>
            </a:r>
            <a:r>
              <a:rPr lang="en-US" sz="1200" b="0" i="1" u="none" strike="noStrike" kern="1200">
                <a:solidFill>
                  <a:schemeClr val="tx1"/>
                </a:solidFill>
                <a:effectLst/>
                <a:latin typeface="Arial" panose="020B0604020202020204" pitchFamily="34" charset="0"/>
                <a:ea typeface="+mn-ea"/>
                <a:cs typeface="Arial" panose="020B0604020202020204" pitchFamily="34" charset="0"/>
              </a:rPr>
              <a:t xml:space="preserve">The Wizard of Oz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at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The Sphere</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 The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 xml:space="preserve">top 50 qualifiers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will receive a photo opportunity with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 xml:space="preserve">Michael Phelps and Jon Dorenbos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and a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signed keepsake</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a:t>
            </a:r>
          </a:p>
          <a:p>
            <a:pPr rtl="0" fontAlgn="base"/>
            <a:endParaRPr lang="en-US" sz="1200" b="0" i="0" u="none" strike="noStrike" kern="1200">
              <a:solidFill>
                <a:schemeClr val="tx1"/>
              </a:solidFill>
              <a:effectLst/>
              <a:latin typeface="Arial" panose="020B0604020202020204" pitchFamily="34" charset="0"/>
              <a:ea typeface="+mn-ea"/>
              <a:cs typeface="Arial" panose="020B0604020202020204" pitchFamily="34" charset="0"/>
            </a:endParaRPr>
          </a:p>
          <a:p>
            <a:pPr rtl="0" fontAlgn="base"/>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Standings can be tracked on </a:t>
            </a:r>
            <a:r>
              <a:rPr lang="en-US" sz="1200" b="1" i="0" u="none" strike="noStrike" kern="1200">
                <a:solidFill>
                  <a:schemeClr val="tx1"/>
                </a:solidFill>
                <a:effectLst/>
                <a:latin typeface="Arial" panose="020B0604020202020204" pitchFamily="34" charset="0"/>
                <a:ea typeface="+mn-ea"/>
                <a:cs typeface="Arial" panose="020B0604020202020204" pitchFamily="34" charset="0"/>
              </a:rPr>
              <a:t>Dashboard 2.0</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and complete program rules are available on Info Central.</a:t>
            </a:r>
            <a:r>
              <a:rPr lang="en-US" sz="12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US" sz="12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US" sz="1200" b="1" i="0" u="none" strike="noStrike" kern="1200">
                <a:solidFill>
                  <a:schemeClr val="tx1"/>
                </a:solidFill>
                <a:effectLst/>
                <a:latin typeface="Arial" panose="020B0604020202020204" pitchFamily="34" charset="0"/>
                <a:ea typeface="+mn-ea"/>
                <a:cs typeface="Arial" panose="020B0604020202020204" pitchFamily="34" charset="0"/>
              </a:rPr>
              <a:t>Contact:</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 xml:space="preserve"> PLAN@newyorklife.com</a:t>
            </a:r>
            <a:r>
              <a:rPr lang="en-US" sz="12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US" sz="1200" b="0" i="0" kern="1200">
                <a:solidFill>
                  <a:schemeClr val="tx1"/>
                </a:solidFill>
                <a:effectLst/>
                <a:latin typeface="Arial" panose="020B0604020202020204" pitchFamily="34" charset="0"/>
                <a:ea typeface="+mn-ea"/>
                <a:cs typeface="Arial" panose="020B0604020202020204" pitchFamily="34" charset="0"/>
              </a:rPr>
              <a:t>​</a:t>
            </a:r>
          </a:p>
          <a:p>
            <a:pPr rtl="0" fontAlgn="base"/>
            <a:r>
              <a:rPr lang="en-US" sz="1200" b="1" i="0" u="none" strike="noStrike" kern="1200">
                <a:solidFill>
                  <a:schemeClr val="tx1"/>
                </a:solidFill>
                <a:effectLst/>
                <a:latin typeface="Arial" panose="020B0604020202020204" pitchFamily="34" charset="0"/>
                <a:ea typeface="+mn-ea"/>
                <a:cs typeface="Arial" panose="020B0604020202020204" pitchFamily="34" charset="0"/>
              </a:rPr>
              <a:t xml:space="preserve">Established agent Info Central Incentive page: </a:t>
            </a:r>
            <a:r>
              <a:rPr lang="en-US" sz="1200" b="0" i="0" u="none" strike="noStrike" kern="1200">
                <a:solidFill>
                  <a:schemeClr val="tx1"/>
                </a:solidFill>
                <a:effectLst/>
                <a:latin typeface="Arial" panose="020B0604020202020204" pitchFamily="34" charset="0"/>
                <a:ea typeface="+mn-ea"/>
                <a:cs typeface="Arial" panose="020B0604020202020204" pitchFamily="34" charset="0"/>
              </a:rPr>
              <a:t>https://www.today.newyorklife.com/agencyportal/s/article/Established-Agents-Run-for-Your-Life</a:t>
            </a:r>
            <a:r>
              <a:rPr lang="en-US" sz="1200" b="0" i="0" kern="1200">
                <a:solidFill>
                  <a:schemeClr val="tx1"/>
                </a:solidFill>
                <a:effectLst/>
                <a:latin typeface="Arial" panose="020B0604020202020204" pitchFamily="34" charset="0"/>
                <a:ea typeface="+mn-ea"/>
                <a:cs typeface="Arial" panose="020B0604020202020204" pitchFamily="34" charset="0"/>
              </a:rPr>
              <a:t>​</a:t>
            </a:r>
          </a:p>
        </p:txBody>
      </p:sp>
      <p:sp>
        <p:nvSpPr>
          <p:cNvPr id="4" name="Slide Number Placeholder 3">
            <a:extLst>
              <a:ext uri="{FF2B5EF4-FFF2-40B4-BE49-F238E27FC236}">
                <a16:creationId xmlns:a16="http://schemas.microsoft.com/office/drawing/2014/main" id="{F11C0ABC-2311-71BA-6541-5B009CD910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8829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1731-2E3B-34B1-2AEA-5ABE49A79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3155B-CB33-8511-C320-AC159E2F8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4BC24-EF62-27CA-83DE-658601F4B2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FF0000"/>
                </a:solidFill>
                <a:latin typeface="Arial" panose="020B0604020202020204" pitchFamily="34" charset="0"/>
                <a:cs typeface="Arial" panose="020B0604020202020204" pitchFamily="34" charset="0"/>
              </a:rPr>
              <a:t>MANAGERS – REMOVE THIS SLIDE IF YOUR OFFICE IS HAVING AN IN-PERSON ROADSHOW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with Protection-Powered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xml:space="preserve">This webinar </a:t>
            </a: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Established Agents</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xml:space="preserve"> highlights practical approaches to integrating protection, retirement income, and legacy strategies to support more comprehensive client conversations and uncover additional planning opportunities. Key concepts include using life insurance to help offset taxes from qualified plans, protecting client income and assets, incorporating RMD and SECURE 2.0 considerations into retirement income planning, and supporting legacy goals with life insurance and annuity solutions. The webinar will take place on </a:t>
            </a: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xml:space="preserve">Friday, April 17 </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a:t>
            </a: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xml:space="preserve"> 2:00 p.m. Eastern Time</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with registration available via the QR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Contact:</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xml:space="preserve"> 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 xml:space="preserve">Registration link: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https://nylife.zoom.us/webinar/register/WN_GuQdwA9USu2FQHkisqdhkw#/registration</a:t>
            </a:r>
          </a:p>
          <a:p>
            <a:endParaRPr lang="en-US">
              <a:ea typeface="Calibri"/>
              <a:cs typeface="Calibri"/>
            </a:endParaRPr>
          </a:p>
        </p:txBody>
      </p:sp>
      <p:sp>
        <p:nvSpPr>
          <p:cNvPr id="4" name="Slide Number Placeholder 3">
            <a:extLst>
              <a:ext uri="{FF2B5EF4-FFF2-40B4-BE49-F238E27FC236}">
                <a16:creationId xmlns:a16="http://schemas.microsoft.com/office/drawing/2014/main" id="{E1327B6C-A526-0EC6-D635-3702A9CBB7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6759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Geneva" pitchFamily="-109"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endParaRPr>
          </a:p>
        </p:txBody>
      </p:sp>
    </p:spTree>
    <p:extLst>
      <p:ext uri="{BB962C8B-B14F-4D97-AF65-F5344CB8AC3E}">
        <p14:creationId xmlns:p14="http://schemas.microsoft.com/office/powerpoint/2010/main" val="4192228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Market Week Overview</a:t>
            </a:r>
          </a:p>
          <a:p>
            <a:endParaRPr lang="en-US"/>
          </a:p>
          <a:p>
            <a:r>
              <a:rPr lang="en-US">
                <a:latin typeface="Arial" pitchFamily="34" charset="0"/>
              </a:rPr>
              <a:t>Week Ending March 28, 2026 | Week Ahead: March 30 - April 3, 2026</a:t>
            </a:r>
          </a:p>
          <a:p>
            <a:endParaRPr lang="en-US"/>
          </a:p>
          <a:p>
            <a:r>
              <a:rPr lang="en-US">
                <a:latin typeface="Arial" pitchFamily="34" charset="0"/>
              </a:rPr>
              <a:t>This section provides a comprehensive overview of U.S. equity markets for the week ending March 28, 2026, along with key data releases and earnings reports to watch for the coming week. Market conditions remain volatile amid the ongoing U.S.-Iran conflict, rising energy prices, and concerns about inflation and economic growth.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Week in Review: U.S. Markets Overview</a:t>
            </a:r>
          </a:p>
          <a:p>
            <a:endParaRPr lang="en-US"/>
          </a:p>
          <a:p>
            <a:r>
              <a:rPr lang="en-US">
                <a:latin typeface="Arial" pitchFamily="34" charset="0"/>
              </a:rPr>
              <a:t>Last week marked the fifth consecutive weekly decline for major U.S. equity indices - the longest losing streak since 2022. The Nasdaq entered official correction territory on Thursday (down more than 10% from its October record high), and the Dow followed on Friday. The S&amp;P 500 is now 8.7% below its late-January record high.</a:t>
            </a:r>
          </a:p>
          <a:p>
            <a:endParaRPr lang="en-US"/>
          </a:p>
          <a:p>
            <a:r>
              <a:rPr lang="en-US">
                <a:latin typeface="Arial" pitchFamily="34" charset="0"/>
              </a:rPr>
              <a:t>Key data point: The NASDAQ's forward P/E ratio is now 20.2 - down from 31.7 just five months ago - the lowest in three years. This reflects a significant repricing of growth expectations.</a:t>
            </a:r>
          </a:p>
          <a:p>
            <a:endParaRPr lang="en-US"/>
          </a:p>
          <a:p>
            <a:r>
              <a:rPr lang="en-US">
                <a:latin typeface="Arial" pitchFamily="34" charset="0"/>
              </a:rPr>
              <a:t>The primary driver remains the U.S.-Iran military conflict, which has pushed oil prices sharply higher. WTI crude topped $99/barrel and Brent exceeded $112 - levels not seen in years. Oil above $100 creates a significant tax on consumers and businesses, raising stagflation concerns.</a:t>
            </a:r>
          </a:p>
          <a:p>
            <a:endParaRPr lang="en-US"/>
          </a:p>
          <a:p>
            <a:r>
              <a:rPr lang="en-US">
                <a:latin typeface="Arial" pitchFamily="34" charset="0"/>
              </a:rPr>
              <a:t>Trump gave Iran until April 6 to negotiate, adding geopolitical uncertainty heading into the weekend.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Key Market Drivers: Iran, Consumer Sentiment &amp; Inflation Fears</a:t>
            </a:r>
          </a:p>
          <a:p>
            <a:endParaRPr lang="en-US"/>
          </a:p>
          <a:p>
            <a:r>
              <a:rPr lang="en-US">
                <a:latin typeface="Arial" pitchFamily="34" charset="0"/>
              </a:rPr>
              <a:t>Three major headwinds are converging simultaneously.</a:t>
            </a:r>
          </a:p>
          <a:p>
            <a:endParaRPr lang="en-US"/>
          </a:p>
          <a:p>
            <a:r>
              <a:rPr lang="en-US">
                <a:latin typeface="Arial" pitchFamily="34" charset="0"/>
              </a:rPr>
              <a:t>First, the Iran conflict remains the dominant factor. The U.S./Israel strikes on Iran in late February killed Supreme Leader Khamenei, triggering retaliatory attacks and ongoing military engagement. Oil prices have surged to multi-year highs. Trump's April 6 deadline adds near-term risk.</a:t>
            </a:r>
          </a:p>
          <a:p>
            <a:endParaRPr lang="en-US"/>
          </a:p>
          <a:p>
            <a:r>
              <a:rPr lang="en-US">
                <a:latin typeface="Arial" pitchFamily="34" charset="0"/>
              </a:rPr>
              <a:t>Second, consumer sentiment is deteriorating rapidly. The University of Michigan final March reading came in at 53.3 - down sharply from 56.6 in February - reflecting rising anxiety about energy costs, tariffs, and job security. Short-term inflation expectations jumped to 3.8%, the highest since the post-COVID inflation surge.</a:t>
            </a:r>
          </a:p>
          <a:p>
            <a:endParaRPr lang="en-US"/>
          </a:p>
          <a:p>
            <a:r>
              <a:rPr lang="en-US">
                <a:latin typeface="Arial" pitchFamily="34" charset="0"/>
              </a:rPr>
              <a:t>Third, rate expectations have shifted dramatically. For the first time, the CME FedWatch tool shows a greater than 50% probability (52%) that the Fed will RAISE rates by year-end - a complete reversal from rate-cut expectations earlier this year. This reflects the market pricing in a stagflation scenario.</a:t>
            </a:r>
          </a:p>
          <a:p>
            <a:endParaRPr lang="en-US"/>
          </a:p>
          <a:p>
            <a:r>
              <a:rPr lang="en-US">
                <a:latin typeface="Arial" pitchFamily="34" charset="0"/>
              </a:rPr>
              <a:t>The tech sector's forward P/E at 20.2 is a notable revaluation. As NYLIM's Global Market Strategy team has noted, geopolitical risk can no longer be treated as background noise - it is now a primary driver of market conditions.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Sector Rotation &amp; Fixed Income</a:t>
            </a:r>
          </a:p>
          <a:p>
            <a:endParaRPr lang="en-US"/>
          </a:p>
          <a:p>
            <a:r>
              <a:rPr lang="en-US">
                <a:latin typeface="Arial" pitchFamily="34" charset="0"/>
              </a:rPr>
              <a:t>The Iran conflict has accelerated a significant sector rotation in markets.</a:t>
            </a:r>
          </a:p>
          <a:p>
            <a:endParaRPr lang="en-US"/>
          </a:p>
          <a:p>
            <a:r>
              <a:rPr lang="en-US">
                <a:latin typeface="Arial" pitchFamily="34" charset="0"/>
              </a:rPr>
              <a:t>Energy is the clear beneficiary: WTI crude at ~$99/barrel and Brent at ~$112 has driven energy stocks higher. The Gulf coalition defense posture is reinforcing energy stock premiums.</a:t>
            </a:r>
          </a:p>
          <a:p>
            <a:endParaRPr lang="en-US"/>
          </a:p>
          <a:p>
            <a:r>
              <a:rPr lang="en-US">
                <a:latin typeface="Arial" pitchFamily="34" charset="0"/>
              </a:rPr>
              <a:t>Technology has been the biggest loser. The Nasdaq is down more than 12% from its October record high. The sector's forward P/E has collapsed from 31.7 to 20.2 in five months - a dramatic repricing reflecting both valuation concerns and geopolitical disruption to the AI-driven growth narrative.</a:t>
            </a:r>
          </a:p>
          <a:p>
            <a:endParaRPr lang="en-US"/>
          </a:p>
          <a:p>
            <a:r>
              <a:rPr lang="en-US">
                <a:latin typeface="Arial" pitchFamily="34" charset="0"/>
              </a:rPr>
              <a:t>In fixed income, the 10-year Treasury yield moved to approximately 4.2%, reflecting the market's concern about persistently higher inflation from oil prices. This dynamic is favorable for fixed annuity and income products.</a:t>
            </a:r>
          </a:p>
          <a:p>
            <a:endParaRPr lang="en-US"/>
          </a:p>
          <a:p>
            <a:r>
              <a:rPr lang="en-US">
                <a:latin typeface="Arial" pitchFamily="34" charset="0"/>
              </a:rPr>
              <a:t>The VIX closed the week at 27.44 - elevated but below the spike seen in early March. Volatility is likely to remain high until there is resolution on the Iran situation.</a:t>
            </a:r>
          </a:p>
          <a:p>
            <a:endParaRPr lang="en-US"/>
          </a:p>
          <a:p>
            <a:r>
              <a:rPr lang="en-US">
                <a:latin typeface="Arial" pitchFamily="34" charset="0"/>
              </a:rPr>
              <a:t>Key talking point for advisors: The defensive sectors that NYLIM-managed portfolios are exposed to (utilities, consumer staples, energy) have been relative outperformers during this correction. This is exactly the risk management function that diversification provides.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Economic Calendar: Week Ahead (March 30 - April 3, 2026)</a:t>
            </a:r>
          </a:p>
          <a:p>
            <a:endParaRPr lang="en-US"/>
          </a:p>
          <a:p>
            <a:r>
              <a:rPr lang="en-US">
                <a:latin typeface="Arial" pitchFamily="34" charset="0"/>
              </a:rPr>
              <a:t>This is a critical data week, culminating in Friday's March jobs report - the most important data release in months.</a:t>
            </a:r>
          </a:p>
          <a:p>
            <a:endParaRPr lang="en-US"/>
          </a:p>
          <a:p>
            <a:r>
              <a:rPr lang="en-US">
                <a:latin typeface="Arial" pitchFamily="34" charset="0"/>
              </a:rPr>
              <a:t>Tuesday March 31 - McCormick Q1 earnings before open; Chicago PMI; Consumer Confidence (Conference Board); JOLTS Job Openings for February. The JOLTS report is particularly important: job openings lead unemployment by 3-6 months, so declining openings now signal potential job losses later in the year.</a:t>
            </a:r>
          </a:p>
          <a:p>
            <a:endParaRPr lang="en-US"/>
          </a:p>
          <a:p>
            <a:r>
              <a:rPr lang="en-US">
                <a:latin typeface="Arial" pitchFamily="34" charset="0"/>
              </a:rPr>
              <a:t>Wednesday April 1 - ADP Employment Change for March (private sector jobs preview); ISM Manufacturing PMI (consensus 52.6 vs. 52.4 in February - still in expansion); Conagra Brands Q3 earnings; Cal-Maine Foods Q3 earnings; Construction spending.</a:t>
            </a:r>
          </a:p>
          <a:p>
            <a:endParaRPr lang="en-US"/>
          </a:p>
          <a:p>
            <a:r>
              <a:rPr lang="en-US">
                <a:latin typeface="Arial" pitchFamily="34" charset="0"/>
              </a:rPr>
              <a:t>Thursday April 2 - Business Inventories; Factory Orders.</a:t>
            </a:r>
          </a:p>
          <a:p>
            <a:endParaRPr lang="en-US"/>
          </a:p>
          <a:p>
            <a:r>
              <a:rPr lang="en-US">
                <a:latin typeface="Arial" pitchFamily="34" charset="0"/>
              </a:rPr>
              <a:t>Friday April 3 - The key data: Nonfarm Payrolls for March (consensus estimate: +57,000, a recovery from February's shocking -92,000 loss); Unemployment Rate (expected to hold at 4.4%); Average Hourly Earnings (inflation watch); ISM Non-Manufacturing PMI.</a:t>
            </a:r>
          </a:p>
          <a:p>
            <a:endParaRPr lang="en-US"/>
          </a:p>
          <a:p>
            <a:r>
              <a:rPr lang="en-US">
                <a:latin typeface="Arial" pitchFamily="34" charset="0"/>
              </a:rPr>
              <a:t>The Iran deadline is April 6 - geopolitical resolution or escalation over the weekend could dramatically reset market tone for the following week.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Earnings Calendar: Week Ahead (March 30 - April 3, 2026)</a:t>
            </a:r>
          </a:p>
          <a:p>
            <a:endParaRPr lang="en-US"/>
          </a:p>
          <a:p>
            <a:r>
              <a:rPr lang="en-US">
                <a:latin typeface="Arial" pitchFamily="34" charset="0"/>
              </a:rPr>
              <a:t>This week begins the early cycle of Q1 2026 earnings. The bulk of Q1 reports will come in mid-to-late April, but this week offers important reads on key sectors.</a:t>
            </a:r>
          </a:p>
          <a:p>
            <a:endParaRPr lang="en-US"/>
          </a:p>
          <a:p>
            <a:r>
              <a:rPr lang="en-US">
                <a:latin typeface="Arial" pitchFamily="34" charset="0"/>
              </a:rPr>
              <a:t>McCormick &amp; Company (MKC) - Tuesday March 31, before market open: Analysts expect EPS of $0.63 on revenue of $1.79 billion. McCormick is a consumer staples company - results will provide insight into pricing power and consumer spending on everyday goods in an inflationary environment. The company's full-year 2026 guidance of $3.05-$3.13 EPS will be closely watched for any revision.</a:t>
            </a:r>
          </a:p>
          <a:p>
            <a:endParaRPr lang="en-US"/>
          </a:p>
          <a:p>
            <a:r>
              <a:rPr lang="en-US">
                <a:latin typeface="Arial" pitchFamily="34" charset="0"/>
              </a:rPr>
              <a:t>Paychex (PAYX) - Wednesday April 1, before market open: Paychex is the payroll processing bellwether. Its results provide real-time insight into small business hiring trends and wage growth - critical data in the current labor market environment.</a:t>
            </a:r>
          </a:p>
          <a:p>
            <a:endParaRPr lang="en-US"/>
          </a:p>
          <a:p>
            <a:r>
              <a:rPr lang="en-US">
                <a:latin typeface="Arial" pitchFamily="34" charset="0"/>
              </a:rPr>
              <a:t>Conagra Brands (CAG) - Wednesday April 1: Analysts expect EPS of $0.40, down 21.6% from $0.51 in the year-ago quarter. Conagra is a key read on packaged food demand and consumer trade-down behavior as inflation pressures household budgets.</a:t>
            </a:r>
          </a:p>
          <a:p>
            <a:endParaRPr lang="en-US"/>
          </a:p>
          <a:p>
            <a:r>
              <a:rPr lang="en-US">
                <a:latin typeface="Arial" pitchFamily="34" charset="0"/>
              </a:rPr>
              <a:t>Cal-Maine Foods (CALM) - Wednesday April 1: The nation's largest egg producer. With egg prices elevated due to avian flu disruptions, Cal-Maine's Q3 results will be closely watched for margin trends and any commentary on supply normalization.</a:t>
            </a:r>
          </a:p>
          <a:p>
            <a:endParaRPr lang="en-US"/>
          </a:p>
          <a:p>
            <a:r>
              <a:rPr lang="en-US">
                <a:latin typeface="Arial" pitchFamily="34" charset="0"/>
              </a:rPr>
              <a:t>Note: The Q1 2026 earnings season begins in earnest the week of April 13 when major banks report. Any early guidance this week could set the tone.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Fed, Rates &amp; Macro Watch: NYLIM Perspective</a:t>
            </a:r>
          </a:p>
          <a:p>
            <a:endParaRPr lang="en-US"/>
          </a:p>
          <a:p>
            <a:r>
              <a:rPr lang="en-US">
                <a:latin typeface="Arial" pitchFamily="34" charset="0"/>
              </a:rPr>
              <a:t>The Federal Reserve is navigating an extremely difficult environment - and the market knows it.</a:t>
            </a:r>
          </a:p>
          <a:p>
            <a:endParaRPr lang="en-US"/>
          </a:p>
          <a:p>
            <a:r>
              <a:rPr lang="en-US">
                <a:latin typeface="Arial" pitchFamily="34" charset="0"/>
              </a:rPr>
              <a:t>The current federal funds target range remains at 3.50-3.75%. Just weeks ago, markets were pricing in rate cuts. Now, for the first time since the hiking cycle began, CME FedWatch shows a 52% probability of a rate INCREASE by year-end 2026. This is a dramatic shift driven by oil-fueled inflation expectations and the University of Michigan's 1-year inflation outlook jumping to 3.8%.</a:t>
            </a:r>
          </a:p>
          <a:p>
            <a:endParaRPr lang="en-US"/>
          </a:p>
          <a:p>
            <a:r>
              <a:rPr lang="en-US">
                <a:latin typeface="Arial" pitchFamily="34" charset="0"/>
              </a:rPr>
              <a:t>NYLIM's Global Market Strategy team, including Lauren Goodwin and colleagues, published a perspective in early March framing the Iran escalation as raising the geopolitical risk premium for investors. Key takeaways: The U.S. is showing greater willingness to use force to protect strategic energy routes. Iran's role as a supplier of discounted oil to China makes this conflict an economic as much as a military event. The conditions investors took for granted for decades - a U.S.-led world order, disinflation, geopolitical stability - are shifting simultaneously.</a:t>
            </a:r>
          </a:p>
          <a:p>
            <a:endParaRPr lang="en-US"/>
          </a:p>
          <a:p>
            <a:r>
              <a:rPr lang="en-US">
                <a:latin typeface="Arial" pitchFamily="34" charset="0"/>
              </a:rPr>
              <a:t>NYLIM's framework: Investors need new frameworks, not forecasts, to navigate this environment. Income generation (carry) is becoming more important than price appreciation as a return driver. A higher-for-longer rate environment, likely settling at 3-4%, is NYLIM's base case.</a:t>
            </a:r>
          </a:p>
          <a:p>
            <a:endParaRPr lang="en-US"/>
          </a:p>
          <a:p>
            <a:r>
              <a:rPr lang="en-US">
                <a:latin typeface="Arial" pitchFamily="34" charset="0"/>
              </a:rPr>
              <a:t>For advisors: The key message is that fixed income and income-producing products are increasingly attractive in this environment. The repricing of equities (Nasdaq forward P/E at 20.2, down from 31.7) is creating opportunities, but selectivity matters.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pitchFamily="34" charset="0"/>
              </a:rPr>
              <a:t>Client Talking Points: What This Means for You</a:t>
            </a:r>
          </a:p>
          <a:p>
            <a:endParaRPr lang="en-US"/>
          </a:p>
          <a:p>
            <a:r>
              <a:rPr lang="en-US">
                <a:latin typeface="Arial" pitchFamily="34" charset="0"/>
              </a:rPr>
              <a:t>Here are five clear messages for client conversations this week.</a:t>
            </a:r>
          </a:p>
          <a:p>
            <a:endParaRPr lang="en-US"/>
          </a:p>
          <a:p>
            <a:r>
              <a:rPr lang="en-US">
                <a:latin typeface="Arial" pitchFamily="34" charset="0"/>
              </a:rPr>
              <a:t>First: Markets have had five weeks in a row of declines - but this is the kind of volatility we plan for. The Nasdaq is in correction territory, the Dow entered correction on Friday, and the S&amp;P 500 is about 9% below its January high. These are meaningful moves, not just noise. But they reflect identifiable causes, not random chaos - and identifiable causes can be managed.</a:t>
            </a:r>
          </a:p>
          <a:p>
            <a:endParaRPr lang="en-US"/>
          </a:p>
          <a:p>
            <a:r>
              <a:rPr lang="en-US">
                <a:latin typeface="Arial" pitchFamily="34" charset="0"/>
              </a:rPr>
              <a:t>Second: Oil prices are the wildcard right now. The U.S.-Iran conflict has pushed oil above $100 per barrel, and those costs work their way through the economy over 3-6 months. If the conflict de-escalates before April 6, markets could rebound quickly. We're watching this closely.</a:t>
            </a:r>
          </a:p>
          <a:p>
            <a:endParaRPr lang="en-US"/>
          </a:p>
          <a:p>
            <a:r>
              <a:rPr lang="en-US">
                <a:latin typeface="Arial" pitchFamily="34" charset="0"/>
              </a:rPr>
              <a:t>Third: The Fed is in a difficult spot. Earlier this year, markets expected rate cuts. Now they're pricing in a possible rate increase. This reflects concern that oil-driven inflation could prove sticky. For clients with fixed annuities or income products, a higher-rate environment is actually favorable.</a:t>
            </a:r>
          </a:p>
          <a:p>
            <a:endParaRPr lang="en-US"/>
          </a:p>
          <a:p>
            <a:r>
              <a:rPr lang="en-US">
                <a:latin typeface="Arial" pitchFamily="34" charset="0"/>
              </a:rPr>
              <a:t>Fourth: This week's jobs report on Friday is the most important data point of the month. February showed a loss of 92,000 jobs; economists expect March to show a recovery to about +57,000. The direction of the jobs market will tell us a lot about where the economy - and the Fed - goes from here.</a:t>
            </a:r>
          </a:p>
          <a:p>
            <a:endParaRPr lang="en-US"/>
          </a:p>
          <a:p>
            <a:r>
              <a:rPr lang="en-US">
                <a:latin typeface="Arial" pitchFamily="34" charset="0"/>
              </a:rPr>
              <a:t>Fifth: Your portfolio is designed for moments like this. Diversification across asset classes, with exposure to defensive sectors and income-generating investments, is precisely what protects long-term wealth during volatile periods. New York Life's long-term track record was built on navigating exactly these kinds of environments.</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49.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8584879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41210149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862652"/>
            <a:ext cx="10939462"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26269" y="1178214"/>
            <a:ext cx="10939462"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Title Placeholder 1">
            <a:extLst>
              <a:ext uri="{FF2B5EF4-FFF2-40B4-BE49-F238E27FC236}">
                <a16:creationId xmlns:a16="http://schemas.microsoft.com/office/drawing/2014/main" id="{B8DBD592-F085-1AD1-F2E5-21AFE28F03E9}"/>
              </a:ext>
            </a:extLst>
          </p:cNvPr>
          <p:cNvSpPr>
            <a:spLocks noGrp="1"/>
          </p:cNvSpPr>
          <p:nvPr>
            <p:ph type="title"/>
          </p:nvPr>
        </p:nvSpPr>
        <p:spPr>
          <a:xfrm>
            <a:off x="626269" y="493776"/>
            <a:ext cx="10939462" cy="54480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3048913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itle Placeholder 1">
            <a:extLst>
              <a:ext uri="{FF2B5EF4-FFF2-40B4-BE49-F238E27FC236}">
                <a16:creationId xmlns:a16="http://schemas.microsoft.com/office/drawing/2014/main" id="{7DC46692-028A-73AD-0EBF-CFDDE25504EC}"/>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958853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42768907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341963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0590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8993930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9002050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4280067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793809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274500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471182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636540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388747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1093804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711620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2224278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5339518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7828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1085215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2363597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2146924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0556418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040019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37323969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32314353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 xml:space="preserve">Main headline 6 words or less (Alda Pro font size 32) </a:t>
            </a:r>
          </a:p>
        </p:txBody>
      </p:sp>
    </p:spTree>
    <p:extLst>
      <p:ext uri="{BB962C8B-B14F-4D97-AF65-F5344CB8AC3E}">
        <p14:creationId xmlns:p14="http://schemas.microsoft.com/office/powerpoint/2010/main" val="5657864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ebinar/Event Layout 2 headsho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DB92-AB9D-4418-6216-59EE5F676AE4}"/>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Add in event or webinar title</a:t>
            </a:r>
          </a:p>
        </p:txBody>
      </p:sp>
      <p:sp>
        <p:nvSpPr>
          <p:cNvPr id="3" name="Text Placeholder 7">
            <a:extLst>
              <a:ext uri="{FF2B5EF4-FFF2-40B4-BE49-F238E27FC236}">
                <a16:creationId xmlns:a16="http://schemas.microsoft.com/office/drawing/2014/main" id="{BE10FE7A-E00A-3D90-5D24-0526DDFBAB55}"/>
              </a:ext>
            </a:extLst>
          </p:cNvPr>
          <p:cNvSpPr>
            <a:spLocks noGrp="1"/>
          </p:cNvSpPr>
          <p:nvPr>
            <p:ph type="body" sz="quarter" idx="13" hasCustomPrompt="1"/>
          </p:nvPr>
        </p:nvSpPr>
        <p:spPr>
          <a:xfrm>
            <a:off x="393349" y="775858"/>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Month day, year and time ET of the event goes here</a:t>
            </a:r>
          </a:p>
        </p:txBody>
      </p:sp>
      <p:sp>
        <p:nvSpPr>
          <p:cNvPr id="4" name="Text Placeholder 4">
            <a:extLst>
              <a:ext uri="{FF2B5EF4-FFF2-40B4-BE49-F238E27FC236}">
                <a16:creationId xmlns:a16="http://schemas.microsoft.com/office/drawing/2014/main" id="{A5E1522F-5BA1-E933-7822-5CBA84429D67}"/>
              </a:ext>
            </a:extLst>
          </p:cNvPr>
          <p:cNvSpPr>
            <a:spLocks noGrp="1"/>
          </p:cNvSpPr>
          <p:nvPr>
            <p:ph type="body" sz="quarter" idx="14" hasCustomPrompt="1"/>
          </p:nvPr>
        </p:nvSpPr>
        <p:spPr>
          <a:xfrm>
            <a:off x="393349" y="1674813"/>
            <a:ext cx="5471120" cy="2791679"/>
          </a:xfrm>
          <a:prstGeom prst="rect">
            <a:avLst/>
          </a:prstGeom>
        </p:spPr>
        <p:txBody>
          <a:bodyPr/>
          <a:lstStyle>
            <a:lvl1pPr marL="0" indent="0">
              <a:buFont typeface="Arial" panose="020B0604020202020204" pitchFamily="34" charset="0"/>
              <a:buNone/>
              <a:defRPr sz="2000">
                <a:solidFill>
                  <a:schemeClr val="bg2"/>
                </a:solidFill>
              </a:defRPr>
            </a:lvl1pPr>
            <a:lvl2pPr marL="914377" indent="-304792">
              <a:buFont typeface="Arial" panose="020B0604020202020204" pitchFamily="34" charset="0"/>
              <a:buChar char="•"/>
              <a:defRPr sz="1600">
                <a:solidFill>
                  <a:schemeClr val="bg2"/>
                </a:solidFill>
              </a:defRPr>
            </a:lvl2pPr>
            <a:lvl3pPr>
              <a:defRPr sz="2000">
                <a:solidFill>
                  <a:schemeClr val="bg2"/>
                </a:solidFill>
              </a:defRPr>
            </a:lvl3pPr>
            <a:lvl4pPr>
              <a:defRPr sz="1800">
                <a:solidFill>
                  <a:schemeClr val="bg2"/>
                </a:solidFill>
              </a:defRPr>
            </a:lvl4pPr>
            <a:lvl5pPr>
              <a:defRPr sz="1800">
                <a:solidFill>
                  <a:schemeClr val="bg2"/>
                </a:solidFill>
              </a:defRPr>
            </a:lvl5pPr>
          </a:lstStyle>
          <a:p>
            <a:pPr lvl="0"/>
            <a:r>
              <a:rPr lang="en-US"/>
              <a:t xml:space="preserve">Briefly describe the event or webinar. </a:t>
            </a:r>
            <a:br>
              <a:rPr lang="en-US"/>
            </a:br>
            <a:r>
              <a:rPr lang="en-US"/>
              <a:t>Share some (2-3 benefits or things that will be highlighted below.)</a:t>
            </a:r>
          </a:p>
          <a:p>
            <a:pPr lvl="0"/>
            <a:r>
              <a:rPr lang="en-US" b="1" u="sng">
                <a:solidFill>
                  <a:schemeClr val="bg2"/>
                </a:solidFill>
                <a:latin typeface="Effra Pro" panose="020B0603020203020204" pitchFamily="34" charset="0"/>
              </a:rPr>
              <a:t>Benefits</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one</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two</a:t>
            </a:r>
          </a:p>
          <a:p>
            <a:pPr marL="742950" lvl="1" indent="-285750">
              <a:buFont typeface="Arial" panose="020B0604020202020204" pitchFamily="34" charset="0"/>
              <a:buChar char="•"/>
            </a:pPr>
            <a:r>
              <a:rPr lang="en-US">
                <a:solidFill>
                  <a:schemeClr val="bg2"/>
                </a:solidFill>
                <a:latin typeface="Effra Pro" panose="020B0603020203020204" pitchFamily="34" charset="0"/>
              </a:rPr>
              <a:t xml:space="preserve">Benefit three </a:t>
            </a:r>
          </a:p>
          <a:p>
            <a:pPr lvl="0"/>
            <a:br>
              <a:rPr lang="en-US"/>
            </a:br>
            <a:r>
              <a:rPr lang="en-US"/>
              <a:t xml:space="preserve">	</a:t>
            </a:r>
          </a:p>
        </p:txBody>
      </p:sp>
    </p:spTree>
    <p:extLst>
      <p:ext uri="{BB962C8B-B14F-4D97-AF65-F5344CB8AC3E}">
        <p14:creationId xmlns:p14="http://schemas.microsoft.com/office/powerpoint/2010/main" val="23322190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 xml:space="preserve">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27771183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9" name="Text Placeholder 4"/>
          <p:cNvSpPr>
            <a:spLocks noGrp="1"/>
          </p:cNvSpPr>
          <p:nvPr>
            <p:ph type="body" sz="quarter" idx="11"/>
          </p:nvPr>
        </p:nvSpPr>
        <p:spPr>
          <a:xfrm>
            <a:off x="390144" y="792481"/>
            <a:ext cx="11379200" cy="893233"/>
          </a:xfrm>
        </p:spPr>
        <p:txBody>
          <a:bodyPr/>
          <a:lstStyle>
            <a:lvl1pPr marL="0" indent="0">
              <a:buNone/>
              <a:defRPr>
                <a:solidFill>
                  <a:schemeClr val="bg2"/>
                </a:solidFill>
                <a:latin typeface="+mj-lt"/>
              </a:defRPr>
            </a:lvl1pPr>
            <a:lvl2pPr marL="609585" indent="0">
              <a:buNone/>
              <a:defRPr/>
            </a:lvl2pPr>
          </a:lstStyle>
          <a:p>
            <a:pPr lvl="0"/>
            <a:r>
              <a:rPr lang="en-US"/>
              <a:t>Click to edit Master text styles</a:t>
            </a:r>
          </a:p>
        </p:txBody>
      </p:sp>
    </p:spTree>
    <p:extLst>
      <p:ext uri="{BB962C8B-B14F-4D97-AF65-F5344CB8AC3E}">
        <p14:creationId xmlns:p14="http://schemas.microsoft.com/office/powerpoint/2010/main" val="33077964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49224" y="1554480"/>
            <a:ext cx="10890504"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59459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649224" y="493777"/>
            <a:ext cx="10890504"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49224" y="1862652"/>
            <a:ext cx="10890504"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49288" y="1178214"/>
            <a:ext cx="10929937"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2617673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649224" y="493777"/>
            <a:ext cx="10890504"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16133655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14148800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21088013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4915330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37799290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296836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6588730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9236521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2327938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37598521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6116968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29412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24003560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26718236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4898118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7069824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53062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9465651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14934739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8289341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489703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41854740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35472198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31970817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pPr marL="0" marR="0" lvl="0" indent="0" algn="r" defTabSz="914400" rtl="0" eaLnBrk="1" fontAlgn="base" latinLnBrk="0" hangingPunct="1">
              <a:lnSpc>
                <a:spcPct val="100000"/>
              </a:lnSpc>
              <a:spcBef>
                <a:spcPct val="0"/>
              </a:spcBef>
              <a:spcAft>
                <a:spcPct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Geneva" pitchFamily="-109"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endParaRP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42134974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6400" y="182880"/>
            <a:ext cx="10711748" cy="1184448"/>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406401" y="920584"/>
            <a:ext cx="11379200"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83399"/>
            <a:ext cx="304800" cy="138499"/>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pic>
        <p:nvPicPr>
          <p:cNvPr id="4" name="Picture 3">
            <a:extLst>
              <a:ext uri="{FF2B5EF4-FFF2-40B4-BE49-F238E27FC236}">
                <a16:creationId xmlns:a16="http://schemas.microsoft.com/office/drawing/2014/main" id="{A939D159-3D30-0E0E-2BD1-9355452D8DA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4278625808"/>
      </p:ext>
    </p:extLst>
  </p:cSld>
  <p:clrMapOvr>
    <a:masterClrMapping/>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3.emf"/><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image" Target="../media/image4.png"/><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theme" Target="../theme/theme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image" Target="../media/image3.emf"/><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image" Target="../media/image2.png"/><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image" Target="../media/image1.png"/><Relationship Id="rId8"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3">
            <a:alphaModFix amt="20000"/>
          </a:blip>
          <a:stretch>
            <a:fillRect/>
          </a:stretch>
        </p:blipFill>
        <p:spPr>
          <a:xfrm>
            <a:off x="0" y="616856"/>
            <a:ext cx="6265333" cy="6241143"/>
          </a:xfrm>
          <a:prstGeom prst="rect">
            <a:avLst/>
          </a:prstGeom>
        </p:spPr>
      </p:pic>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4"/>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26269" y="1554480"/>
            <a:ext cx="1093946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5"/>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  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6"/>
          <a:stretch>
            <a:fillRect/>
          </a:stretch>
        </p:blipFill>
        <p:spPr>
          <a:xfrm>
            <a:off x="10300075" y="6257753"/>
            <a:ext cx="1239653" cy="314078"/>
          </a:xfrm>
          <a:prstGeom prst="rect">
            <a:avLst/>
          </a:prstGeom>
        </p:spPr>
      </p:pic>
    </p:spTree>
    <p:extLst>
      <p:ext uri="{BB962C8B-B14F-4D97-AF65-F5344CB8AC3E}">
        <p14:creationId xmlns:p14="http://schemas.microsoft.com/office/powerpoint/2010/main" val="37185421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0">
            <a:alphaModFix amt="20000"/>
          </a:blip>
          <a:stretch>
            <a:fillRect/>
          </a:stretch>
        </p:blipFill>
        <p:spPr>
          <a:xfrm>
            <a:off x="0" y="616856"/>
            <a:ext cx="6265333" cy="6241143"/>
          </a:xfrm>
          <a:prstGeom prst="rect">
            <a:avLst/>
          </a:prstGeom>
        </p:spPr>
      </p:pic>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1"/>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49224" y="493776"/>
            <a:ext cx="10890504"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49224" y="1554480"/>
            <a:ext cx="1089050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2"/>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  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3"/>
          <a:stretch>
            <a:fillRect/>
          </a:stretch>
        </p:blipFill>
        <p:spPr>
          <a:xfrm>
            <a:off x="10300075" y="6257753"/>
            <a:ext cx="1239653" cy="314078"/>
          </a:xfrm>
          <a:prstGeom prst="rect">
            <a:avLst/>
          </a:prstGeom>
        </p:spPr>
      </p:pic>
    </p:spTree>
    <p:extLst>
      <p:ext uri="{BB962C8B-B14F-4D97-AF65-F5344CB8AC3E}">
        <p14:creationId xmlns:p14="http://schemas.microsoft.com/office/powerpoint/2010/main" val="322545730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7.xml"/><Relationship Id="rId1" Type="http://schemas.openxmlformats.org/officeDocument/2006/relationships/tags" Target="../tags/tag1.xml"/></Relationships>
</file>

<file path=ppt/slides/_rels/slide2.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16.png"/></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ags" Target="../tags/tag2.xml"/></Relationships>
</file>

<file path=ppt/slides/_rels/slide8.xml.rels><?xml version="1.0" encoding="UTF-8"?><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8.png"/><Relationship Id="rId4" Type="http://schemas.openxmlformats.org/officeDocument/2006/relationships/image" Target="../media/image17.jpeg"/></Relationships>
</file>

<file path=ppt/slides/_rels/slide9.xml.rels><?xml version="1.0" encoding="UTF-8"?><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9.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hyperlink" Target="https://newyorklife.edassist.com/tuition/welcome" TargetMode="External"/><Relationship Id="rId5" Type="http://schemas.openxmlformats.org/officeDocument/2006/relationships/hyperlink" Target="https://nyl.docebosaas.com/pages/67/practice-model-overview" TargetMode="External"/><Relationship Id="rId4" Type="http://schemas.openxmlformats.org/officeDocument/2006/relationships/hyperlink" Target="https://newyorklife.edassist.com/tuition/support" TargetMode="External"/></Relationships>
</file>

<file path=ppt/slides/_rels/slide10.xml.rels><?xml version="1.0" encoding="UTF-8"?><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11.png"/></Relationships>
</file>

<file path=ppt/slides/_rels/slide12.xml.rels><?xml version="1.0" encoding="UTF-8"?><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9.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0962">
                  <a:lumMod val="90000"/>
                  <a:lumOff val="10000"/>
                </a:srgbClr>
              </a:solidFill>
              <a:effectLst/>
              <a:uLnTx/>
              <a:uFillTx/>
              <a:latin typeface="Arial"/>
              <a:ea typeface="+mn-ea"/>
              <a:cs typeface="+mn-cs"/>
            </a:endParaRPr>
          </a:p>
        </p:txBody>
      </p:sp>
      <p:sp>
        <p:nvSpPr>
          <p:cNvPr id="8" name="Slide Number Placeholder 7">
            <a:extLst>
              <a:ext uri="{FF2B5EF4-FFF2-40B4-BE49-F238E27FC236}">
                <a16:creationId xmlns:a16="http://schemas.microsoft.com/office/drawing/2014/main" id="{1DE4A73E-40CD-BE4F-0432-60D3D5EF419E}"/>
              </a:ext>
            </a:extLst>
          </p:cNvPr>
          <p:cNvSpPr>
            <a:spLocks noGrp="1"/>
          </p:cNvSpPr>
          <p:nvPr>
            <p:ph type="sldNum" sz="quarter" idx="10"/>
          </p:nvPr>
        </p:nvSpPr>
        <p:spPr>
          <a:xfrm>
            <a:off x="11579107" y="6232230"/>
            <a:ext cx="43007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810107" cy="997196"/>
          </a:xfrm>
        </p:spPr>
        <p:txBody>
          <a:bodyPr wrap="square" lIns="0" tIns="0" rIns="0" bIns="0" anchor="t">
            <a:spAutoFit/>
          </a:bodyPr>
          <a:lstStyle/>
          <a:p>
            <a:r>
              <a:rPr lang="en-US">
                <a:latin typeface="Georgia"/>
              </a:rPr>
              <a:t xml:space="preserve">New Org: </a:t>
            </a:r>
            <a:br>
              <a:rPr lang="en-US"/>
            </a:br>
            <a:r>
              <a:rPr lang="en-US">
                <a:latin typeface="Georgia"/>
              </a:rPr>
              <a:t>What’s important week of March 30</a:t>
            </a:r>
            <a:endParaRPr lang="en-US"/>
          </a:p>
        </p:txBody>
      </p:sp>
    </p:spTree>
    <p:custDataLst>
      <p:tags r:id="rId1"/>
    </p:custDataLst>
    <p:extLst>
      <p:ext uri="{BB962C8B-B14F-4D97-AF65-F5344CB8AC3E}">
        <p14:creationId xmlns:p14="http://schemas.microsoft.com/office/powerpoint/2010/main" val="182251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277A0D6-4CA4-C1B9-5F02-051FF64D0946}"/>
              </a:ext>
            </a:extLst>
          </p:cNvPr>
          <p:cNvSpPr/>
          <p:nvPr/>
        </p:nvSpPr>
        <p:spPr>
          <a:xfrm>
            <a:off x="688560" y="1521937"/>
            <a:ext cx="7101202"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02B1FE23-52CC-8F7D-E8B7-5C981F565BA9}"/>
              </a:ext>
            </a:extLst>
          </p:cNvPr>
          <p:cNvSpPr/>
          <p:nvPr/>
        </p:nvSpPr>
        <p:spPr>
          <a:xfrm>
            <a:off x="957134" y="1639011"/>
            <a:ext cx="6603491" cy="1051243"/>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59F7FADF-85AF-160C-7DFA-22DD8A7FD397}"/>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9652150" cy="682757"/>
          </a:xfrm>
        </p:spPr>
        <p:txBody>
          <a:bodyPr vert="horz" lIns="0" tIns="0" rIns="0" bIns="0" anchor="t" anchorCtr="0"/>
          <a:lstStyle/>
          <a:p>
            <a:r>
              <a:rPr lang="en-US"/>
              <a:t>Build bigger cases in 2Q with the April PLAN webinar</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 Placeholder 2">
            <a:extLst>
              <a:ext uri="{FF2B5EF4-FFF2-40B4-BE49-F238E27FC236}">
                <a16:creationId xmlns:a16="http://schemas.microsoft.com/office/drawing/2014/main" id="{CE2C9AF7-F677-4169-C04A-EA4797D89D51}"/>
              </a:ext>
            </a:extLst>
          </p:cNvPr>
          <p:cNvSpPr txBox="1">
            <a:spLocks/>
          </p:cNvSpPr>
          <p:nvPr/>
        </p:nvSpPr>
        <p:spPr>
          <a:xfrm>
            <a:off x="627063" y="1063664"/>
            <a:ext cx="11520487" cy="307777"/>
          </a:xfrm>
          <a:prstGeom prst="rect">
            <a:avLst/>
          </a:prstGeom>
        </p:spPr>
        <p:txBody>
          <a:bodyPr vert="horz"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468FF"/>
                </a:solidFill>
                <a:effectLst/>
                <a:uLnTx/>
                <a:uFillTx/>
                <a:latin typeface="Arial"/>
                <a:ea typeface="+mn-ea"/>
                <a:cs typeface="Arial" panose="020B0604020202020204" pitchFamily="34" charset="0"/>
              </a:rPr>
              <a:t>Sales ideas and field insights to drive higher volume and larger cases</a:t>
            </a:r>
          </a:p>
        </p:txBody>
      </p:sp>
      <p:sp>
        <p:nvSpPr>
          <p:cNvPr id="8" name="Rectangle 7">
            <a:extLst>
              <a:ext uri="{FF2B5EF4-FFF2-40B4-BE49-F238E27FC236}">
                <a16:creationId xmlns:a16="http://schemas.microsoft.com/office/drawing/2014/main" id="{1DEB2461-42D0-F8CB-F301-B7FCD907D98E}"/>
              </a:ext>
            </a:extLst>
          </p:cNvPr>
          <p:cNvSpPr/>
          <p:nvPr/>
        </p:nvSpPr>
        <p:spPr bwMode="ltGray">
          <a:xfrm>
            <a:off x="7845966" y="4811378"/>
            <a:ext cx="2901019" cy="109967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9" name="TextBox 8">
            <a:extLst>
              <a:ext uri="{FF2B5EF4-FFF2-40B4-BE49-F238E27FC236}">
                <a16:creationId xmlns:a16="http://schemas.microsoft.com/office/drawing/2014/main" id="{894EE195-3A54-3B25-BDC1-3260E7038F50}"/>
              </a:ext>
            </a:extLst>
          </p:cNvPr>
          <p:cNvSpPr txBox="1"/>
          <p:nvPr/>
        </p:nvSpPr>
        <p:spPr>
          <a:xfrm>
            <a:off x="8014030" y="5015035"/>
            <a:ext cx="2086681"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468FF"/>
                </a:solidFill>
                <a:effectLst/>
                <a:uLnTx/>
                <a:uFillTx/>
                <a:latin typeface="Arial"/>
                <a:ea typeface="+mn-ea"/>
                <a:cs typeface="+mn-cs"/>
              </a:rPr>
              <a:t>Scan the QR code to register now for the April PLAN webinar</a:t>
            </a:r>
          </a:p>
        </p:txBody>
      </p:sp>
      <p:sp>
        <p:nvSpPr>
          <p:cNvPr id="10" name="Isosceles Triangle 9">
            <a:extLst>
              <a:ext uri="{FF2B5EF4-FFF2-40B4-BE49-F238E27FC236}">
                <a16:creationId xmlns:a16="http://schemas.microsoft.com/office/drawing/2014/main" id="{08834CD4-4F02-1341-951F-B3F5B6E681D8}"/>
              </a:ext>
            </a:extLst>
          </p:cNvPr>
          <p:cNvSpPr/>
          <p:nvPr/>
        </p:nvSpPr>
        <p:spPr bwMode="ltGray">
          <a:xfrm rot="5400000">
            <a:off x="10064542" y="5243201"/>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2" name="TextBox 11">
            <a:extLst>
              <a:ext uri="{FF2B5EF4-FFF2-40B4-BE49-F238E27FC236}">
                <a16:creationId xmlns:a16="http://schemas.microsoft.com/office/drawing/2014/main" id="{6B0A49D2-66ED-F242-19AF-2FE307434E28}"/>
              </a:ext>
            </a:extLst>
          </p:cNvPr>
          <p:cNvSpPr txBox="1"/>
          <p:nvPr/>
        </p:nvSpPr>
        <p:spPr>
          <a:xfrm>
            <a:off x="957134" y="2849940"/>
            <a:ext cx="6603491" cy="255454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1200" cap="none" spc="0" normalizeH="0" baseline="0" noProof="0" dirty="0">
                <a:ln>
                  <a:noFill/>
                </a:ln>
                <a:solidFill>
                  <a:srgbClr val="000962"/>
                </a:solidFill>
                <a:effectLst/>
                <a:uLnTx/>
                <a:uFillTx/>
                <a:latin typeface="Arial"/>
                <a:ea typeface="+mn-ea"/>
                <a:cs typeface="+mn-cs"/>
              </a:rPr>
              <a:t xml:space="preserve">New </a:t>
            </a:r>
            <a:r>
              <a:rPr kumimoji="0" lang="en-US" sz="2400" b="1" i="0" u="none" strike="noStrike" kern="1200" cap="none" spc="0" normalizeH="0" baseline="0" noProof="0">
                <a:ln>
                  <a:noFill/>
                </a:ln>
                <a:solidFill>
                  <a:srgbClr val="000962"/>
                </a:solidFill>
                <a:effectLst/>
                <a:uLnTx/>
                <a:uFillTx/>
                <a:latin typeface="Arial"/>
                <a:ea typeface="+mn-ea"/>
                <a:cs typeface="+mn-cs"/>
              </a:rPr>
              <a:t xml:space="preserve">opportunities </a:t>
            </a:r>
            <a:r>
              <a:rPr kumimoji="0" lang="en-US" sz="2400" b="1" i="0" u="none" strike="noStrike" kern="1200" cap="none" spc="0" normalizeH="0" baseline="0" noProof="0" dirty="0">
                <a:ln>
                  <a:noFill/>
                </a:ln>
                <a:solidFill>
                  <a:srgbClr val="000962"/>
                </a:solidFill>
                <a:effectLst/>
                <a:uLnTx/>
                <a:uFillTx/>
                <a:latin typeface="Arial"/>
                <a:ea typeface="+mn-ea"/>
                <a:cs typeface="+mn-cs"/>
              </a:rPr>
              <a:t xml:space="preserve">to </a:t>
            </a:r>
            <a:r>
              <a:rPr kumimoji="0" lang="en-US" sz="2400" b="1" i="0" u="none" strike="noStrike" kern="1200" cap="none" spc="0" normalizeH="0" baseline="0" noProof="0">
                <a:ln>
                  <a:noFill/>
                </a:ln>
                <a:solidFill>
                  <a:srgbClr val="000962"/>
                </a:solidFill>
                <a:effectLst/>
                <a:uLnTx/>
                <a:uFillTx/>
                <a:latin typeface="Arial"/>
                <a:ea typeface="+mn-ea"/>
                <a:cs typeface="+mn-cs"/>
              </a:rPr>
              <a:t xml:space="preserve">power </a:t>
            </a:r>
            <a:r>
              <a:rPr kumimoji="0" lang="en-US" sz="2400" b="1" i="0" u="none" strike="noStrike" kern="1200" cap="none" spc="0" normalizeH="0" baseline="0" noProof="0" dirty="0">
                <a:ln>
                  <a:noFill/>
                </a:ln>
                <a:solidFill>
                  <a:srgbClr val="000962"/>
                </a:solidFill>
                <a:effectLst/>
                <a:uLnTx/>
                <a:uFillTx/>
                <a:latin typeface="Arial"/>
                <a:ea typeface="+mn-ea"/>
                <a:cs typeface="+mn-cs"/>
              </a:rPr>
              <a:t xml:space="preserve">2Q </a:t>
            </a:r>
            <a:r>
              <a:rPr kumimoji="0" lang="en-US" sz="2400" b="1" i="0" u="none" strike="noStrike" kern="1200" cap="none" spc="0" normalizeH="0" baseline="0" noProof="0">
                <a:ln>
                  <a:noFill/>
                </a:ln>
                <a:solidFill>
                  <a:srgbClr val="000962"/>
                </a:solidFill>
                <a:effectLst/>
                <a:uLnTx/>
                <a:uFillTx/>
                <a:latin typeface="Arial"/>
                <a:ea typeface="+mn-ea"/>
                <a:cs typeface="+mn-cs"/>
              </a:rPr>
              <a:t>growth</a:t>
            </a:r>
            <a:endParaRPr kumimoji="0" lang="en-US" sz="2400" b="1" i="0" u="none" strike="noStrike" kern="1200" cap="none" spc="0" normalizeH="0" baseline="0" noProof="0" dirty="0">
              <a:ln>
                <a:noFill/>
              </a:ln>
              <a:solidFill>
                <a:srgbClr val="000962"/>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0962"/>
                </a:solidFill>
                <a:effectLst/>
                <a:uLnTx/>
                <a:uFillTx/>
                <a:latin typeface="Arial"/>
                <a:ea typeface="+mn-ea"/>
                <a:cs typeface="+mn-cs"/>
              </a:rPr>
              <a:t>Join this session for practical strategies focused on protection-powered growth, including:</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962"/>
                </a:solidFill>
                <a:effectLst/>
                <a:uLnTx/>
                <a:uFillTx/>
                <a:latin typeface="Arial"/>
                <a:ea typeface="+mn-ea"/>
                <a:cs typeface="+mn-cs"/>
              </a:rPr>
              <a:t>New income annuity enhancements and other timely opportunities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962"/>
                </a:solidFill>
                <a:effectLst/>
                <a:uLnTx/>
                <a:uFillTx/>
                <a:latin typeface="Arial"/>
                <a:ea typeface="+mn-ea"/>
                <a:cs typeface="+mn-cs"/>
              </a:rPr>
              <a:t>Strategies to position and fund larger cases more effectively</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962"/>
                </a:solidFill>
                <a:effectLst/>
                <a:uLnTx/>
                <a:uFillTx/>
                <a:latin typeface="Arial"/>
                <a:ea typeface="+mn-ea"/>
                <a:cs typeface="+mn-cs"/>
              </a:rPr>
              <a:t>Sales ideas and conversation frameworks you can apply immediately</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962"/>
                </a:solidFill>
                <a:effectLst/>
                <a:uLnTx/>
                <a:uFillTx/>
                <a:latin typeface="Arial"/>
                <a:ea typeface="+mn-ea"/>
                <a:cs typeface="+mn-cs"/>
              </a:rPr>
              <a:t xml:space="preserve">Insights from a top-producing agent on generating high </a:t>
            </a:r>
            <a:br>
              <a:rPr kumimoji="0" lang="en-US" sz="1600" b="0" i="0" u="none" strike="noStrike" kern="1200" cap="none" spc="0" normalizeH="0" baseline="0" noProof="0" dirty="0">
                <a:ln>
                  <a:noFill/>
                </a:ln>
                <a:solidFill>
                  <a:srgbClr val="000962"/>
                </a:solidFill>
                <a:effectLst/>
                <a:uLnTx/>
                <a:uFillTx/>
                <a:latin typeface="Arial"/>
                <a:ea typeface="+mn-ea"/>
                <a:cs typeface="+mn-cs"/>
              </a:rPr>
            </a:br>
            <a:r>
              <a:rPr kumimoji="0" lang="en-US" sz="1600" b="0" i="0" u="none" strike="noStrike" kern="1200" cap="none" spc="0" normalizeH="0" baseline="0" noProof="0" dirty="0">
                <a:ln>
                  <a:noFill/>
                </a:ln>
                <a:solidFill>
                  <a:srgbClr val="000962"/>
                </a:solidFill>
                <a:effectLst/>
                <a:uLnTx/>
                <a:uFillTx/>
                <a:latin typeface="Arial"/>
                <a:ea typeface="+mn-ea"/>
                <a:cs typeface="+mn-cs"/>
              </a:rPr>
              <a:t>case volume</a:t>
            </a:r>
          </a:p>
        </p:txBody>
      </p:sp>
      <p:sp>
        <p:nvSpPr>
          <p:cNvPr id="14" name="TextBox 13">
            <a:extLst>
              <a:ext uri="{FF2B5EF4-FFF2-40B4-BE49-F238E27FC236}">
                <a16:creationId xmlns:a16="http://schemas.microsoft.com/office/drawing/2014/main" id="{58269B6E-6A83-D2BE-00C2-CCC249D9DD12}"/>
              </a:ext>
            </a:extLst>
          </p:cNvPr>
          <p:cNvSpPr txBox="1"/>
          <p:nvPr/>
        </p:nvSpPr>
        <p:spPr>
          <a:xfrm>
            <a:off x="2136064" y="1825860"/>
            <a:ext cx="4627163"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A62"/>
                </a:solidFill>
                <a:effectLst/>
                <a:uLnTx/>
                <a:uFillTx/>
                <a:latin typeface="Arial"/>
                <a:ea typeface="+mn-ea"/>
                <a:cs typeface="+mn-cs"/>
              </a:rPr>
              <a:t>Date: Tuesday, April 7, 2026</a:t>
            </a:r>
          </a:p>
          <a:p>
            <a:pPr>
              <a:defRPr/>
            </a:pPr>
            <a:r>
              <a:rPr kumimoji="0" lang="en-US" sz="2200" b="1" i="0" u="none" strike="noStrike" kern="1200" cap="none" spc="0" normalizeH="0" baseline="0" noProof="0" dirty="0">
                <a:ln>
                  <a:noFill/>
                </a:ln>
                <a:solidFill>
                  <a:srgbClr val="000A62"/>
                </a:solidFill>
                <a:effectLst/>
                <a:uLnTx/>
                <a:uFillTx/>
                <a:latin typeface="Arial"/>
                <a:ea typeface="+mn-ea"/>
                <a:cs typeface="+mn-cs"/>
              </a:rPr>
              <a:t xml:space="preserve">Live webinar time: </a:t>
            </a:r>
            <a:r>
              <a:rPr lang="en-US" sz="2200" b="1">
                <a:solidFill>
                  <a:srgbClr val="000A62"/>
                </a:solidFill>
                <a:latin typeface="Arial"/>
              </a:rPr>
              <a:t>2 pm</a:t>
            </a:r>
            <a:r>
              <a:rPr kumimoji="0" lang="en-US" sz="2200" b="1" i="0" u="none" strike="noStrike" kern="1200" cap="none" spc="0" normalizeH="0" baseline="0" noProof="0" dirty="0">
                <a:ln>
                  <a:noFill/>
                </a:ln>
                <a:solidFill>
                  <a:srgbClr val="000A62"/>
                </a:solidFill>
                <a:effectLst/>
                <a:uLnTx/>
                <a:uFillTx/>
                <a:latin typeface="Arial"/>
                <a:ea typeface="+mn-ea"/>
                <a:cs typeface="+mn-cs"/>
              </a:rPr>
              <a:t xml:space="preserve"> ET</a:t>
            </a:r>
            <a:endParaRPr kumimoji="0" lang="en-US" sz="2200" b="0" i="0" u="none" strike="noStrike" kern="1200" cap="none" spc="0" normalizeH="0" baseline="0" noProof="0">
              <a:ln>
                <a:noFill/>
              </a:ln>
              <a:solidFill>
                <a:srgbClr val="000A62"/>
              </a:solidFill>
              <a:effectLst/>
              <a:uLnTx/>
              <a:uFillTx/>
              <a:latin typeface="Arial"/>
              <a:ea typeface="+mn-ea"/>
              <a:cs typeface="+mn-cs"/>
            </a:endParaRPr>
          </a:p>
        </p:txBody>
      </p:sp>
      <p:pic>
        <p:nvPicPr>
          <p:cNvPr id="15" name="Picture 14">
            <a:extLst>
              <a:ext uri="{FF2B5EF4-FFF2-40B4-BE49-F238E27FC236}">
                <a16:creationId xmlns:a16="http://schemas.microsoft.com/office/drawing/2014/main" id="{21BB2357-9DBD-47CA-4D21-254279D2AB0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417140" y="4811377"/>
            <a:ext cx="1099679" cy="1099679"/>
          </a:xfrm>
          <a:prstGeom prst="rect">
            <a:avLst/>
          </a:prstGeom>
        </p:spPr>
      </p:pic>
      <p:pic>
        <p:nvPicPr>
          <p:cNvPr id="16" name="Picture 15">
            <a:extLst>
              <a:ext uri="{FF2B5EF4-FFF2-40B4-BE49-F238E27FC236}">
                <a16:creationId xmlns:a16="http://schemas.microsoft.com/office/drawing/2014/main" id="{DC0FD0F8-96EC-FF60-7E88-4F8EECF8EDA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153625" y="1841218"/>
            <a:ext cx="794484" cy="646393"/>
          </a:xfrm>
          <a:prstGeom prst="rect">
            <a:avLst/>
          </a:prstGeom>
        </p:spPr>
      </p:pic>
      <p:pic>
        <p:nvPicPr>
          <p:cNvPr id="6" name="Picture 5">
            <a:extLst>
              <a:ext uri="{FF2B5EF4-FFF2-40B4-BE49-F238E27FC236}">
                <a16:creationId xmlns:a16="http://schemas.microsoft.com/office/drawing/2014/main" id="{389C9F6A-65DE-A53D-C523-BF3020DFEE2E}"/>
              </a:ext>
            </a:extLst>
          </p:cNvPr>
          <p:cNvPicPr>
            <a:picLocks noChangeAspect="1"/>
          </p:cNvPicPr>
          <p:nvPr/>
        </p:nvPicPr>
        <p:blipFill>
          <a:blip r:embed="rId5" cstate="print">
            <a:extLst>
              <a:ext uri="{28A0092B-C50C-407E-A947-70E740481C1C}">
                <a14:useLocalDpi xmlns:a14="http://schemas.microsoft.com/office/drawing/2010/main" val="0"/>
              </a:ext>
            </a:extLst>
          </a:blip>
          <a:srcRect l="8025" t="12127" r="2998" b="10075"/>
          <a:stretch>
            <a:fillRect/>
          </a:stretch>
        </p:blipFill>
        <p:spPr>
          <a:xfrm>
            <a:off x="7845966" y="1521937"/>
            <a:ext cx="3670854" cy="3209597"/>
          </a:xfrm>
          <a:prstGeom prst="rect">
            <a:avLst/>
          </a:prstGeom>
        </p:spPr>
      </p:pic>
      <p:sp>
        <p:nvSpPr>
          <p:cNvPr id="23" name="Star: 32 Points 22">
            <a:extLst>
              <a:ext uri="{FF2B5EF4-FFF2-40B4-BE49-F238E27FC236}">
                <a16:creationId xmlns:a16="http://schemas.microsoft.com/office/drawing/2014/main" id="{D7692648-1AC3-7FCE-2FE4-E1932D11C37A}"/>
              </a:ext>
            </a:extLst>
          </p:cNvPr>
          <p:cNvSpPr/>
          <p:nvPr/>
        </p:nvSpPr>
        <p:spPr>
          <a:xfrm>
            <a:off x="7909106" y="1585099"/>
            <a:ext cx="1338943" cy="1338943"/>
          </a:xfrm>
          <a:prstGeom prst="star32">
            <a:avLst>
              <a:gd name="adj" fmla="val 44004"/>
            </a:avLst>
          </a:prstGeom>
          <a:solidFill>
            <a:srgbClr val="000A6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 name="TextBox 23">
            <a:extLst>
              <a:ext uri="{FF2B5EF4-FFF2-40B4-BE49-F238E27FC236}">
                <a16:creationId xmlns:a16="http://schemas.microsoft.com/office/drawing/2014/main" id="{C0B096C9-0036-0658-6C50-63E55F9465E4}"/>
              </a:ext>
            </a:extLst>
          </p:cNvPr>
          <p:cNvSpPr txBox="1"/>
          <p:nvPr/>
        </p:nvSpPr>
        <p:spPr>
          <a:xfrm>
            <a:off x="8001277" y="1856341"/>
            <a:ext cx="1154601" cy="86177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Featured speakers announced soon</a:t>
            </a:r>
          </a:p>
        </p:txBody>
      </p:sp>
    </p:spTree>
    <p:extLst>
      <p:ext uri="{BB962C8B-B14F-4D97-AF65-F5344CB8AC3E}">
        <p14:creationId xmlns:p14="http://schemas.microsoft.com/office/powerpoint/2010/main" val="239748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9F7FADF-85AF-160C-7DFA-22DD8A7FD397}"/>
              </a:ext>
            </a:extLst>
          </p:cNvPr>
          <p:cNvSpPr>
            <a:spLocks/>
          </p:cNvSpPr>
          <p:nvPr/>
        </p:nvSpPr>
        <p:spPr>
          <a:xfrm>
            <a:off x="632355" y="1298448"/>
            <a:ext cx="10951962" cy="4663896"/>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390EE9B9-A8F6-E5AC-2EA0-823E0548855C}"/>
              </a:ext>
            </a:extLst>
          </p:cNvPr>
          <p:cNvSpPr/>
          <p:nvPr/>
        </p:nvSpPr>
        <p:spPr>
          <a:xfrm>
            <a:off x="688559" y="1359485"/>
            <a:ext cx="10839555" cy="4541823"/>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10939462" cy="804672"/>
          </a:xfrm>
        </p:spPr>
        <p:txBody>
          <a:bodyPr vert="horz" lIns="0" tIns="0" rIns="0" bIns="0" anchor="t" anchorCtr="0"/>
          <a:lstStyle/>
          <a:p>
            <a:r>
              <a:rPr lang="en-US"/>
              <a:t>New Org agents: Protection-Powered Growth webinar</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2AB7EF59-0B84-08E6-0349-031690AC9ACF}"/>
              </a:ext>
            </a:extLst>
          </p:cNvPr>
          <p:cNvSpPr txBox="1">
            <a:spLocks/>
          </p:cNvSpPr>
          <p:nvPr/>
        </p:nvSpPr>
        <p:spPr>
          <a:xfrm>
            <a:off x="1034814" y="2374952"/>
            <a:ext cx="5531238" cy="2417022"/>
          </a:xfrm>
          <a:prstGeom prst="rect">
            <a:avLst/>
          </a:prstGeom>
        </p:spPr>
        <p:txBody>
          <a:bodyPr vert="horz" lIns="0" tIns="0" rIns="0" bIns="0" rtlCol="0" anchor="t" anchorCtr="0">
            <a:noAutofit/>
          </a:bodyPr>
          <a:lstStyle>
            <a:lvl1pPr marL="228600" indent="-228600" algn="l" defTabSz="914400" rtl="0" eaLnBrk="1" latinLnBrk="0" hangingPunct="1">
              <a:lnSpc>
                <a:spcPct val="100000"/>
              </a:lnSpc>
              <a:spcBef>
                <a:spcPts val="1000"/>
              </a:spcBef>
              <a:spcAft>
                <a:spcPts val="200"/>
              </a:spcAft>
              <a:buFont typeface="Arial" panose="020B0604020202020204" pitchFamily="34" charset="0"/>
              <a:buChar char="•"/>
              <a:defRPr sz="24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Learn practical ways to use protection-based conversations to open doors, build relationships and create growth opportunities in the business market.</a:t>
            </a:r>
          </a:p>
          <a:p>
            <a:pPr marL="0"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800" b="1" i="0" u="none" strike="noStrike" kern="1200" cap="none" spc="0" normalizeH="0" baseline="0" noProof="0">
                <a:ln>
                  <a:noFill/>
                </a:ln>
                <a:solidFill>
                  <a:srgbClr val="000A62"/>
                </a:solidFill>
                <a:effectLst/>
                <a:uLnTx/>
                <a:uFillTx/>
                <a:latin typeface="Arial"/>
                <a:cs typeface="Arial"/>
              </a:rPr>
              <a:t xml:space="preserve">Key </a:t>
            </a:r>
            <a:r>
              <a:rPr lang="en-US" sz="1800" b="1">
                <a:latin typeface="Arial"/>
                <a:cs typeface="Arial"/>
              </a:rPr>
              <a:t>takeaways</a:t>
            </a:r>
            <a:endParaRPr lang="en-US" sz="1800" b="1" i="0" u="none" strike="noStrike" kern="1200" cap="none" spc="0" normalizeH="0" baseline="0" noProof="0">
              <a:ln>
                <a:noFill/>
              </a:ln>
              <a:solidFill>
                <a:srgbClr val="000A62"/>
              </a:solidFill>
              <a:effectLst/>
              <a:uLnTx/>
              <a:uFillTx/>
              <a:latin typeface="Arial" panose="020B0604020202020204" pitchFamily="34" charset="0"/>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A62"/>
                </a:solidFill>
                <a:effectLst/>
                <a:uLnTx/>
                <a:uFillTx/>
                <a:latin typeface="Arial"/>
                <a:cs typeface="Arial"/>
              </a:rPr>
              <a:t>Acquire new clients through daytime prospecting</a:t>
            </a:r>
            <a:endParaRPr lang="en-US" sz="1800" b="0" i="0" u="none" strike="noStrike" kern="1200" cap="none" spc="0" normalizeH="0" baseline="0" noProof="0">
              <a:ln>
                <a:noFill/>
              </a:ln>
              <a:solidFill>
                <a:srgbClr val="000A62"/>
              </a:solidFill>
              <a:effectLst/>
              <a:uLnTx/>
              <a:uFillTx/>
              <a:latin typeface="Arial"/>
              <a:cs typeface="Arial"/>
            </a:endParaRP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Support personal planning for business owners</a:t>
            </a:r>
          </a:p>
          <a:p>
            <a:pPr marL="228600" marR="0" lvl="0" indent="-2286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Address the needs of employees</a:t>
            </a:r>
          </a:p>
        </p:txBody>
      </p:sp>
      <p:sp>
        <p:nvSpPr>
          <p:cNvPr id="14" name="Title 2">
            <a:extLst>
              <a:ext uri="{FF2B5EF4-FFF2-40B4-BE49-F238E27FC236}">
                <a16:creationId xmlns:a16="http://schemas.microsoft.com/office/drawing/2014/main" id="{6880AAD3-50FB-3F5F-4F2E-FDAD68BADCEC}"/>
              </a:ext>
            </a:extLst>
          </p:cNvPr>
          <p:cNvSpPr txBox="1">
            <a:spLocks/>
          </p:cNvSpPr>
          <p:nvPr/>
        </p:nvSpPr>
        <p:spPr>
          <a:xfrm>
            <a:off x="1034878" y="1580280"/>
            <a:ext cx="5531174" cy="677108"/>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ct val="0"/>
              </a:spcBef>
              <a:buFontTx/>
              <a:buNone/>
              <a:defRPr sz="3200" b="1" i="0" kern="1200">
                <a:solidFill>
                  <a:schemeClr val="bg1"/>
                </a:solidFill>
                <a:latin typeface="+mj-lt"/>
                <a:ea typeface="+mj-ea"/>
                <a:cs typeface="+mj-cs"/>
              </a:defRPr>
            </a:lvl1pPr>
            <a:lvl2pPr marL="4572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200" b="1" i="0" u="none" strike="noStrike" kern="1200" cap="none" spc="0" normalizeH="0" baseline="0" noProof="0">
                <a:ln>
                  <a:noFill/>
                </a:ln>
                <a:solidFill>
                  <a:srgbClr val="000962"/>
                </a:solidFill>
                <a:effectLst/>
                <a:uLnTx/>
                <a:uFillTx/>
                <a:latin typeface="Arial" panose="020B0604020202020204" pitchFamily="34" charset="0"/>
                <a:ea typeface="+mj-ea"/>
                <a:cs typeface="Arial" panose="020B0604020202020204" pitchFamily="34" charset="0"/>
              </a:rPr>
              <a:t xml:space="preserve">Protection-Powered Growth: </a:t>
            </a:r>
            <a:br>
              <a:rPr kumimoji="0" lang="en-US" sz="2200" b="1" i="0" u="none" strike="noStrike" kern="1200" cap="none" spc="0" normalizeH="0" baseline="0" noProof="0">
                <a:ln>
                  <a:noFill/>
                </a:ln>
                <a:solidFill>
                  <a:srgbClr val="000962"/>
                </a:solidFill>
                <a:effectLst/>
                <a:uLnTx/>
                <a:uFillTx/>
                <a:latin typeface="Arial" panose="020B0604020202020204" pitchFamily="34" charset="0"/>
                <a:ea typeface="+mj-ea"/>
                <a:cs typeface="Arial" panose="020B0604020202020204" pitchFamily="34" charset="0"/>
              </a:rPr>
            </a:br>
            <a:r>
              <a:rPr kumimoji="0" lang="en-US" sz="2200" b="1" i="0" u="none" strike="noStrike" kern="1200" cap="none" spc="0" normalizeH="0" baseline="0" noProof="0">
                <a:ln>
                  <a:noFill/>
                </a:ln>
                <a:solidFill>
                  <a:srgbClr val="000962"/>
                </a:solidFill>
                <a:effectLst/>
                <a:uLnTx/>
                <a:uFillTx/>
                <a:latin typeface="Arial" panose="020B0604020202020204" pitchFamily="34" charset="0"/>
                <a:ea typeface="+mj-ea"/>
                <a:cs typeface="Arial" panose="020B0604020202020204" pitchFamily="34" charset="0"/>
              </a:rPr>
              <a:t xml:space="preserve">Building stronger </a:t>
            </a:r>
            <a:r>
              <a:rPr lang="en-US" sz="2200">
                <a:solidFill>
                  <a:srgbClr val="000962"/>
                </a:solidFill>
                <a:latin typeface="Arial" panose="020B0604020202020204" pitchFamily="34" charset="0"/>
                <a:cs typeface="Arial" panose="020B0604020202020204" pitchFamily="34" charset="0"/>
              </a:rPr>
              <a:t>c</a:t>
            </a:r>
            <a:r>
              <a:rPr kumimoji="0" lang="en-US" sz="2200" b="1" i="0" u="none" strike="noStrike" kern="1200" cap="none" spc="0" normalizeH="0" baseline="0" noProof="0" err="1">
                <a:ln>
                  <a:noFill/>
                </a:ln>
                <a:solidFill>
                  <a:srgbClr val="000962"/>
                </a:solidFill>
                <a:effectLst/>
                <a:uLnTx/>
                <a:uFillTx/>
                <a:latin typeface="Arial" panose="020B0604020202020204" pitchFamily="34" charset="0"/>
                <a:ea typeface="+mj-ea"/>
                <a:cs typeface="Arial" panose="020B0604020202020204" pitchFamily="34" charset="0"/>
              </a:rPr>
              <a:t>lient</a:t>
            </a:r>
            <a:r>
              <a:rPr kumimoji="0" lang="en-US" sz="2200" b="1" i="0" u="none" strike="noStrike" kern="1200" cap="none" spc="0" normalizeH="0" baseline="0" noProof="0">
                <a:ln>
                  <a:noFill/>
                </a:ln>
                <a:solidFill>
                  <a:srgbClr val="000962"/>
                </a:solidFill>
                <a:effectLst/>
                <a:uLnTx/>
                <a:uFillTx/>
                <a:latin typeface="Arial" panose="020B0604020202020204" pitchFamily="34" charset="0"/>
                <a:ea typeface="+mj-ea"/>
                <a:cs typeface="Arial" panose="020B0604020202020204" pitchFamily="34" charset="0"/>
              </a:rPr>
              <a:t xml:space="preserve"> </a:t>
            </a:r>
            <a:r>
              <a:rPr lang="en-US" sz="2200">
                <a:solidFill>
                  <a:srgbClr val="000962"/>
                </a:solidFill>
                <a:latin typeface="Arial" panose="020B0604020202020204" pitchFamily="34" charset="0"/>
                <a:cs typeface="Arial" panose="020B0604020202020204" pitchFamily="34" charset="0"/>
              </a:rPr>
              <a:t>s</a:t>
            </a:r>
            <a:r>
              <a:rPr kumimoji="0" lang="en-US" sz="2200" b="1" i="0" u="none" strike="noStrike" kern="1200" cap="none" spc="0" normalizeH="0" baseline="0" noProof="0">
                <a:ln>
                  <a:noFill/>
                </a:ln>
                <a:solidFill>
                  <a:srgbClr val="000962"/>
                </a:solidFill>
                <a:effectLst/>
                <a:uLnTx/>
                <a:uFillTx/>
                <a:latin typeface="Arial" panose="020B0604020202020204" pitchFamily="34" charset="0"/>
                <a:ea typeface="+mj-ea"/>
                <a:cs typeface="Arial" panose="020B0604020202020204" pitchFamily="34" charset="0"/>
              </a:rPr>
              <a:t>trategies</a:t>
            </a:r>
          </a:p>
        </p:txBody>
      </p:sp>
      <p:sp>
        <p:nvSpPr>
          <p:cNvPr id="15" name="Rectangle 14">
            <a:extLst>
              <a:ext uri="{FF2B5EF4-FFF2-40B4-BE49-F238E27FC236}">
                <a16:creationId xmlns:a16="http://schemas.microsoft.com/office/drawing/2014/main" id="{600B83BA-8D25-E7B6-76BE-46EC76644D7E}"/>
              </a:ext>
            </a:extLst>
          </p:cNvPr>
          <p:cNvSpPr/>
          <p:nvPr/>
        </p:nvSpPr>
        <p:spPr>
          <a:xfrm>
            <a:off x="6808426" y="3872089"/>
            <a:ext cx="4651500" cy="19564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81910A09-77E8-622B-1090-7EFEA90CA11D}"/>
              </a:ext>
            </a:extLst>
          </p:cNvPr>
          <p:cNvPicPr>
            <a:picLocks noChangeAspect="1"/>
          </p:cNvPicPr>
          <p:nvPr/>
        </p:nvPicPr>
        <p:blipFill>
          <a:blip r:embed="rId3">
            <a:extLst>
              <a:ext uri="{28A0092B-C50C-407E-A947-70E740481C1C}">
                <a14:useLocalDpi xmlns:a14="http://schemas.microsoft.com/office/drawing/2010/main" val="0"/>
              </a:ext>
            </a:extLst>
          </a:blip>
          <a:srcRect l="247" t="2174" r="1843" b="28909"/>
          <a:stretch>
            <a:fillRect/>
          </a:stretch>
        </p:blipFill>
        <p:spPr>
          <a:xfrm>
            <a:off x="6808426" y="1424700"/>
            <a:ext cx="4651500" cy="2379280"/>
          </a:xfrm>
          <a:prstGeom prst="rect">
            <a:avLst/>
          </a:prstGeom>
        </p:spPr>
      </p:pic>
      <p:sp>
        <p:nvSpPr>
          <p:cNvPr id="17" name="Text Box 6">
            <a:extLst>
              <a:ext uri="{FF2B5EF4-FFF2-40B4-BE49-F238E27FC236}">
                <a16:creationId xmlns:a16="http://schemas.microsoft.com/office/drawing/2014/main" id="{8171CEF3-A370-1870-B0E8-E1A5E1BFDA5F}"/>
              </a:ext>
            </a:extLst>
          </p:cNvPr>
          <p:cNvSpPr txBox="1"/>
          <p:nvPr/>
        </p:nvSpPr>
        <p:spPr>
          <a:xfrm>
            <a:off x="7767302" y="4095811"/>
            <a:ext cx="3222033" cy="117415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600"/>
              </a:spcAft>
              <a:buClrTx/>
              <a:buSzTx/>
              <a:buFontTx/>
              <a:buNone/>
              <a:tabLst/>
              <a:defRPr/>
            </a:pPr>
            <a:r>
              <a:rPr kumimoji="0" lang="en-US" sz="2000" b="1"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 xml:space="preserve">Date: </a:t>
            </a:r>
            <a:r>
              <a:rPr kumimoji="0" lang="en-US" sz="2000" b="0"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Friday, April 17, 2026</a:t>
            </a:r>
            <a:endParaRPr kumimoji="0" lang="en-US" sz="2000" b="1"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3000"/>
              </a:spcAft>
              <a:buClrTx/>
              <a:buSzTx/>
              <a:buFontTx/>
              <a:buNone/>
              <a:tabLst/>
              <a:defRPr/>
            </a:pPr>
            <a:r>
              <a:rPr kumimoji="0" lang="en-US" sz="2000" b="1" i="0" u="none" strike="noStrike" kern="100" cap="none" spc="0" normalizeH="0" baseline="0" noProof="0">
                <a:ln>
                  <a:noFill/>
                </a:ln>
                <a:solidFill>
                  <a:srgbClr val="FFFFFF"/>
                </a:solidFill>
                <a:effectLst/>
                <a:uLnTx/>
                <a:uFillTx/>
                <a:latin typeface="Arial"/>
                <a:ea typeface="Calibri"/>
                <a:cs typeface="Arial"/>
              </a:rPr>
              <a:t xml:space="preserve">Time: </a:t>
            </a:r>
            <a:r>
              <a:rPr lang="en-US" sz="2000" kern="100">
                <a:solidFill>
                  <a:srgbClr val="FFFFFF"/>
                </a:solidFill>
                <a:latin typeface="Arial"/>
                <a:ea typeface="Calibri"/>
                <a:cs typeface="Arial"/>
              </a:rPr>
              <a:t>12</a:t>
            </a:r>
            <a:r>
              <a:rPr kumimoji="0" lang="en-US" sz="2000" b="0" i="0" u="none" strike="noStrike" kern="100" cap="none" spc="0" normalizeH="0" baseline="0" noProof="0">
                <a:ln>
                  <a:noFill/>
                </a:ln>
                <a:solidFill>
                  <a:srgbClr val="FFFFFF"/>
                </a:solidFill>
                <a:effectLst/>
                <a:uLnTx/>
                <a:uFillTx/>
                <a:latin typeface="Arial"/>
                <a:ea typeface="Calibri"/>
                <a:cs typeface="Arial"/>
              </a:rPr>
              <a:t xml:space="preserve"> </a:t>
            </a:r>
            <a:r>
              <a:rPr lang="en-US" sz="2000" kern="100">
                <a:solidFill>
                  <a:srgbClr val="FFFFFF"/>
                </a:solidFill>
                <a:latin typeface="Arial"/>
                <a:ea typeface="Calibri"/>
                <a:cs typeface="Arial"/>
              </a:rPr>
              <a:t>pm</a:t>
            </a:r>
            <a:r>
              <a:rPr kumimoji="0" lang="en-US" sz="2000" b="0" i="0" u="none" strike="noStrike" kern="100" cap="none" spc="0" normalizeH="0" baseline="0" noProof="0">
                <a:ln>
                  <a:noFill/>
                </a:ln>
                <a:solidFill>
                  <a:srgbClr val="FFFFFF"/>
                </a:solidFill>
                <a:effectLst/>
                <a:uLnTx/>
                <a:uFillTx/>
                <a:latin typeface="Arial"/>
                <a:ea typeface="Calibri"/>
                <a:cs typeface="Arial"/>
              </a:rPr>
              <a:t xml:space="preserve"> ET*</a:t>
            </a:r>
            <a:endParaRPr lang="en-US" sz="2000" b="0" i="0" u="none" strike="noStrike" kern="100" cap="none" spc="0" normalizeH="0" baseline="0" noProof="0">
              <a:ln>
                <a:noFill/>
              </a:ln>
              <a:solidFill>
                <a:srgbClr val="FFFFFF"/>
              </a:solidFill>
              <a:effectLst/>
              <a:uLnTx/>
              <a:uFillTx/>
              <a:latin typeface="Arial"/>
              <a:ea typeface="Calibri"/>
              <a:cs typeface="Arial"/>
            </a:endParaRPr>
          </a:p>
        </p:txBody>
      </p:sp>
      <p:cxnSp>
        <p:nvCxnSpPr>
          <p:cNvPr id="18" name="Straight Connector 17">
            <a:extLst>
              <a:ext uri="{FF2B5EF4-FFF2-40B4-BE49-F238E27FC236}">
                <a16:creationId xmlns:a16="http://schemas.microsoft.com/office/drawing/2014/main" id="{2D9D653D-B8A4-A6E9-B070-DAF5616FA9FC}"/>
              </a:ext>
            </a:extLst>
          </p:cNvPr>
          <p:cNvCxnSpPr>
            <a:cxnSpLocks/>
          </p:cNvCxnSpPr>
          <p:nvPr/>
        </p:nvCxnSpPr>
        <p:spPr>
          <a:xfrm>
            <a:off x="7003381" y="4624161"/>
            <a:ext cx="4261591" cy="0"/>
          </a:xfrm>
          <a:prstGeom prst="line">
            <a:avLst/>
          </a:prstGeom>
          <a:ln w="12700">
            <a:solidFill>
              <a:srgbClr val="A5EFBF"/>
            </a:solidFill>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6D499E0B-95FA-E576-6FA0-0D03093A14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04923" y="4031529"/>
            <a:ext cx="541307" cy="455593"/>
          </a:xfrm>
          <a:prstGeom prst="rect">
            <a:avLst/>
          </a:prstGeom>
        </p:spPr>
      </p:pic>
      <p:pic>
        <p:nvPicPr>
          <p:cNvPr id="20" name="Picture 19">
            <a:extLst>
              <a:ext uri="{FF2B5EF4-FFF2-40B4-BE49-F238E27FC236}">
                <a16:creationId xmlns:a16="http://schemas.microsoft.com/office/drawing/2014/main" id="{7DE17175-D796-F25B-DB9F-E817D29BB00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016842" y="4773656"/>
            <a:ext cx="517468" cy="517468"/>
          </a:xfrm>
          <a:prstGeom prst="rect">
            <a:avLst/>
          </a:prstGeom>
        </p:spPr>
      </p:pic>
      <p:sp>
        <p:nvSpPr>
          <p:cNvPr id="21" name="TextBox 20">
            <a:extLst>
              <a:ext uri="{FF2B5EF4-FFF2-40B4-BE49-F238E27FC236}">
                <a16:creationId xmlns:a16="http://schemas.microsoft.com/office/drawing/2014/main" id="{92662B43-A3F0-352B-D1AB-90496668E147}"/>
              </a:ext>
            </a:extLst>
          </p:cNvPr>
          <p:cNvSpPr txBox="1"/>
          <p:nvPr/>
        </p:nvSpPr>
        <p:spPr>
          <a:xfrm>
            <a:off x="7003381" y="5541488"/>
            <a:ext cx="4261591" cy="18466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cs typeface="Arial"/>
              </a:rPr>
              <a:t xml:space="preserve">*11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CT | 10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MT | 9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PT | 8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AK | 6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HI</a:t>
            </a:r>
          </a:p>
        </p:txBody>
      </p:sp>
      <p:cxnSp>
        <p:nvCxnSpPr>
          <p:cNvPr id="23" name="Straight Connector 22">
            <a:extLst>
              <a:ext uri="{FF2B5EF4-FFF2-40B4-BE49-F238E27FC236}">
                <a16:creationId xmlns:a16="http://schemas.microsoft.com/office/drawing/2014/main" id="{11125BF8-1EF7-1142-51B7-7FF27B4D6F5A}"/>
              </a:ext>
            </a:extLst>
          </p:cNvPr>
          <p:cNvCxnSpPr>
            <a:cxnSpLocks/>
          </p:cNvCxnSpPr>
          <p:nvPr/>
        </p:nvCxnSpPr>
        <p:spPr>
          <a:xfrm>
            <a:off x="7003381" y="5417376"/>
            <a:ext cx="4261591" cy="0"/>
          </a:xfrm>
          <a:prstGeom prst="line">
            <a:avLst/>
          </a:prstGeom>
          <a:ln w="12700">
            <a:solidFill>
              <a:srgbClr val="A5EFBF"/>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76283298-283D-D7BA-453B-A24AF5EBF9BC}"/>
              </a:ext>
            </a:extLst>
          </p:cNvPr>
          <p:cNvSpPr/>
          <p:nvPr/>
        </p:nvSpPr>
        <p:spPr bwMode="ltGray">
          <a:xfrm>
            <a:off x="807727" y="4718146"/>
            <a:ext cx="5758325" cy="1110355"/>
          </a:xfrm>
          <a:prstGeom prst="rect">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5" name="TextBox 24">
            <a:extLst>
              <a:ext uri="{FF2B5EF4-FFF2-40B4-BE49-F238E27FC236}">
                <a16:creationId xmlns:a16="http://schemas.microsoft.com/office/drawing/2014/main" id="{EE81FF6C-618F-0670-87E1-A735572CCA6C}"/>
              </a:ext>
            </a:extLst>
          </p:cNvPr>
          <p:cNvSpPr txBox="1"/>
          <p:nvPr/>
        </p:nvSpPr>
        <p:spPr>
          <a:xfrm>
            <a:off x="1246732" y="5027102"/>
            <a:ext cx="3583899"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468FF"/>
                </a:solidFill>
                <a:effectLst/>
                <a:uLnTx/>
                <a:uFillTx/>
                <a:latin typeface="Arial"/>
                <a:ea typeface="+mn-ea"/>
                <a:cs typeface="+mn-cs"/>
              </a:rPr>
              <a:t>Scan the QR code to secure your spot and build stronger client strategies.</a:t>
            </a:r>
          </a:p>
        </p:txBody>
      </p:sp>
      <p:sp>
        <p:nvSpPr>
          <p:cNvPr id="26" name="Isosceles Triangle 25">
            <a:extLst>
              <a:ext uri="{FF2B5EF4-FFF2-40B4-BE49-F238E27FC236}">
                <a16:creationId xmlns:a16="http://schemas.microsoft.com/office/drawing/2014/main" id="{B5F425E1-1985-90EB-C6DC-BCE3821DE5E5}"/>
              </a:ext>
            </a:extLst>
          </p:cNvPr>
          <p:cNvSpPr/>
          <p:nvPr/>
        </p:nvSpPr>
        <p:spPr bwMode="ltGray">
          <a:xfrm rot="5400000">
            <a:off x="4946526" y="5155307"/>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pic>
        <p:nvPicPr>
          <p:cNvPr id="27" name="Picture 26">
            <a:extLst>
              <a:ext uri="{FF2B5EF4-FFF2-40B4-BE49-F238E27FC236}">
                <a16:creationId xmlns:a16="http://schemas.microsoft.com/office/drawing/2014/main" id="{42B1DCE5-86FD-5419-6FB6-D9368849552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455696" y="4718145"/>
            <a:ext cx="1110356" cy="1110356"/>
          </a:xfrm>
          <a:prstGeom prst="rect">
            <a:avLst/>
          </a:prstGeom>
        </p:spPr>
      </p:pic>
      <p:sp>
        <p:nvSpPr>
          <p:cNvPr id="5" name="TextBox 4">
            <a:extLst>
              <a:ext uri="{FF2B5EF4-FFF2-40B4-BE49-F238E27FC236}">
                <a16:creationId xmlns:a16="http://schemas.microsoft.com/office/drawing/2014/main" id="{7C10704A-7683-77AF-838A-2BD1B446CD08}"/>
              </a:ext>
            </a:extLst>
          </p:cNvPr>
          <p:cNvSpPr txBox="1"/>
          <p:nvPr/>
        </p:nvSpPr>
        <p:spPr>
          <a:xfrm>
            <a:off x="1" y="-386337"/>
            <a:ext cx="12192000" cy="30777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MANAGERS – REMOVE THIS SLIDE IF YOUR OFFICE IS HAVING AN IN-PERSON ROADSHOW</a:t>
            </a:r>
          </a:p>
        </p:txBody>
      </p:sp>
    </p:spTree>
    <p:extLst>
      <p:ext uri="{BB962C8B-B14F-4D97-AF65-F5344CB8AC3E}">
        <p14:creationId xmlns:p14="http://schemas.microsoft.com/office/powerpoint/2010/main" val="1531883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8DA51-3DD6-886C-4E46-4006FCF89CA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B82121F-17B3-73D6-0645-16CCFFD6A3FE}"/>
              </a:ext>
            </a:extLst>
          </p:cNvPr>
          <p:cNvSpPr/>
          <p:nvPr/>
        </p:nvSpPr>
        <p:spPr>
          <a:xfrm>
            <a:off x="7258211" y="1167701"/>
            <a:ext cx="4279392" cy="3008103"/>
          </a:xfrm>
          <a:prstGeom prst="rect">
            <a:avLst/>
          </a:prstGeom>
          <a:solidFill>
            <a:schemeClr val="accent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3CE29A17-49CC-0315-165E-742EF47D99F1}"/>
              </a:ext>
            </a:extLst>
          </p:cNvPr>
          <p:cNvSpPr>
            <a:spLocks/>
          </p:cNvSpPr>
          <p:nvPr/>
        </p:nvSpPr>
        <p:spPr>
          <a:xfrm>
            <a:off x="632355" y="1118795"/>
            <a:ext cx="10951962" cy="484354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CBF9DA6B-043D-503F-AEB8-F752AF61435D}"/>
              </a:ext>
            </a:extLst>
          </p:cNvPr>
          <p:cNvSpPr/>
          <p:nvPr/>
        </p:nvSpPr>
        <p:spPr>
          <a:xfrm>
            <a:off x="688559" y="1165828"/>
            <a:ext cx="6519065" cy="4745736"/>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2DDB5CBC-F67F-9FB6-27FD-F95CB1027934}"/>
              </a:ext>
            </a:extLst>
          </p:cNvPr>
          <p:cNvSpPr>
            <a:spLocks noGrp="1"/>
          </p:cNvSpPr>
          <p:nvPr>
            <p:ph type="title"/>
          </p:nvPr>
        </p:nvSpPr>
        <p:spPr>
          <a:xfrm>
            <a:off x="626269" y="493776"/>
            <a:ext cx="10939462" cy="804672"/>
          </a:xfrm>
        </p:spPr>
        <p:txBody>
          <a:bodyPr vert="horz" lIns="0" tIns="0" rIns="0" bIns="0" anchor="t" anchorCtr="0"/>
          <a:lstStyle/>
          <a:p>
            <a:r>
              <a:rPr lang="en-IN"/>
              <a:t>2Q Protection Products Fundamentals Series</a:t>
            </a:r>
            <a:endParaRPr lang="en-US"/>
          </a:p>
        </p:txBody>
      </p:sp>
      <p:sp>
        <p:nvSpPr>
          <p:cNvPr id="51" name="Slide Number Placeholder 50">
            <a:extLst>
              <a:ext uri="{FF2B5EF4-FFF2-40B4-BE49-F238E27FC236}">
                <a16:creationId xmlns:a16="http://schemas.microsoft.com/office/drawing/2014/main" id="{ED05114B-7DE7-3CC6-451B-D31D698576E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833631DB-AF97-BBCA-3AB3-4ADF3BA29231}"/>
              </a:ext>
            </a:extLst>
          </p:cNvPr>
          <p:cNvSpPr/>
          <p:nvPr/>
        </p:nvSpPr>
        <p:spPr bwMode="ltGray">
          <a:xfrm>
            <a:off x="7258211" y="4226583"/>
            <a:ext cx="4279392" cy="1684982"/>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1" name="TextBox 10">
            <a:extLst>
              <a:ext uri="{FF2B5EF4-FFF2-40B4-BE49-F238E27FC236}">
                <a16:creationId xmlns:a16="http://schemas.microsoft.com/office/drawing/2014/main" id="{9BC00A9F-40F7-3024-6782-1282684F0993}"/>
              </a:ext>
            </a:extLst>
          </p:cNvPr>
          <p:cNvSpPr txBox="1"/>
          <p:nvPr/>
        </p:nvSpPr>
        <p:spPr>
          <a:xfrm>
            <a:off x="7496183" y="4523768"/>
            <a:ext cx="2033814" cy="11541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468FF"/>
                </a:solidFill>
                <a:effectLst/>
                <a:uLnTx/>
                <a:uFillTx/>
                <a:latin typeface="Arial"/>
                <a:ea typeface="+mn-ea"/>
                <a:cs typeface="+mn-cs"/>
              </a:rPr>
              <a:t>Register today to ensure prompt access to these highly anticipated events.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a:ea typeface="+mn-ea"/>
                <a:cs typeface="+mn-cs"/>
              </a:rPr>
              <a:t>Events start at 1 pm ET and run for 60 minutes</a:t>
            </a:r>
            <a:r>
              <a:rPr kumimoji="0" lang="en-US" sz="1400" b="0" i="0" u="none" strike="noStrike" kern="1200" cap="none" spc="0" normalizeH="0" baseline="0" noProof="0">
                <a:ln>
                  <a:noFill/>
                </a:ln>
                <a:solidFill>
                  <a:srgbClr val="0468FF"/>
                </a:solidFill>
                <a:effectLst/>
                <a:uLnTx/>
                <a:uFillTx/>
                <a:latin typeface="Arial"/>
                <a:ea typeface="+mn-ea"/>
                <a:cs typeface="+mn-cs"/>
              </a:rPr>
              <a:t>.</a:t>
            </a:r>
            <a:endParaRPr kumimoji="0" lang="en-US" sz="1400" b="0" i="0" u="none" strike="noStrike" kern="1200" cap="none" spc="0" normalizeH="0" baseline="0" noProof="0">
              <a:ln>
                <a:noFill/>
              </a:ln>
              <a:solidFill>
                <a:srgbClr val="0468FF"/>
              </a:solidFill>
              <a:effectLst/>
              <a:uLnTx/>
              <a:uFillTx/>
              <a:latin typeface="Arial"/>
              <a:ea typeface="+mn-ea"/>
              <a:cs typeface="Arial"/>
            </a:endParaRPr>
          </a:p>
        </p:txBody>
      </p:sp>
      <p:sp>
        <p:nvSpPr>
          <p:cNvPr id="13" name="Isosceles Triangle 12">
            <a:extLst>
              <a:ext uri="{FF2B5EF4-FFF2-40B4-BE49-F238E27FC236}">
                <a16:creationId xmlns:a16="http://schemas.microsoft.com/office/drawing/2014/main" id="{54616EAE-9A38-DFA6-CD9A-EC547E516328}"/>
              </a:ext>
            </a:extLst>
          </p:cNvPr>
          <p:cNvSpPr/>
          <p:nvPr/>
        </p:nvSpPr>
        <p:spPr bwMode="ltGray">
          <a:xfrm rot="5400000">
            <a:off x="9590363" y="4951058"/>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graphicFrame>
        <p:nvGraphicFramePr>
          <p:cNvPr id="8" name="Table 7">
            <a:extLst>
              <a:ext uri="{FF2B5EF4-FFF2-40B4-BE49-F238E27FC236}">
                <a16:creationId xmlns:a16="http://schemas.microsoft.com/office/drawing/2014/main" id="{BFBA62F5-12CC-07A7-64F5-1A365345B20F}"/>
              </a:ext>
            </a:extLst>
          </p:cNvPr>
          <p:cNvGraphicFramePr>
            <a:graphicFrameLocks noGrp="1"/>
          </p:cNvGraphicFramePr>
          <p:nvPr/>
        </p:nvGraphicFramePr>
        <p:xfrm>
          <a:off x="924665" y="1343808"/>
          <a:ext cx="6185160" cy="4392622"/>
        </p:xfrm>
        <a:graphic>
          <a:graphicData uri="http://schemas.openxmlformats.org/drawingml/2006/table">
            <a:tbl>
              <a:tblPr/>
              <a:tblGrid>
                <a:gridCol w="621982">
                  <a:extLst>
                    <a:ext uri="{9D8B030D-6E8A-4147-A177-3AD203B41FA5}">
                      <a16:colId xmlns:a16="http://schemas.microsoft.com/office/drawing/2014/main" val="2782655341"/>
                    </a:ext>
                  </a:extLst>
                </a:gridCol>
                <a:gridCol w="868680">
                  <a:extLst>
                    <a:ext uri="{9D8B030D-6E8A-4147-A177-3AD203B41FA5}">
                      <a16:colId xmlns:a16="http://schemas.microsoft.com/office/drawing/2014/main" val="1710925411"/>
                    </a:ext>
                  </a:extLst>
                </a:gridCol>
                <a:gridCol w="4694498">
                  <a:extLst>
                    <a:ext uri="{9D8B030D-6E8A-4147-A177-3AD203B41FA5}">
                      <a16:colId xmlns:a16="http://schemas.microsoft.com/office/drawing/2014/main" val="398805613"/>
                    </a:ext>
                  </a:extLst>
                </a:gridCol>
              </a:tblGrid>
              <a:tr h="299837">
                <a:tc gridSpan="3">
                  <a:txBody>
                    <a:bodyPr/>
                    <a:lstStyle/>
                    <a:p>
                      <a:pPr algn="l" fontAlgn="b">
                        <a:buNone/>
                      </a:pPr>
                      <a:r>
                        <a:rPr lang="en-US" sz="1400" b="1" i="0" u="none" strike="noStrike">
                          <a:solidFill>
                            <a:srgbClr val="FFE8CF"/>
                          </a:solidFill>
                          <a:effectLst/>
                          <a:latin typeface="Arial" panose="020B0604020202020204" pitchFamily="34" charset="0"/>
                          <a:cs typeface="Arial" panose="020B0604020202020204" pitchFamily="34" charset="0"/>
                        </a:rPr>
                        <a:t xml:space="preserve"> </a:t>
                      </a:r>
                      <a:r>
                        <a:rPr lang="en-US" sz="1400" b="1" i="0" u="none" strike="noStrike">
                          <a:solidFill>
                            <a:schemeClr val="bg1"/>
                          </a:solidFill>
                          <a:effectLst/>
                          <a:latin typeface="Arial" panose="020B0604020202020204" pitchFamily="34" charset="0"/>
                          <a:cs typeface="Arial" panose="020B0604020202020204" pitchFamily="34" charset="0"/>
                        </a:rPr>
                        <a:t xml:space="preserve">Life Insurance </a:t>
                      </a:r>
                    </a:p>
                  </a:txBody>
                  <a:tcPr marL="27432" marR="182880" marT="27432" marB="27432"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339364757"/>
                  </a:ext>
                </a:extLst>
              </a:tr>
              <a:tr h="238645">
                <a:tc>
                  <a:txBody>
                    <a:bodyPr/>
                    <a:lstStyle/>
                    <a:p>
                      <a:pPr algn="r" fontAlgn="b">
                        <a:buNone/>
                      </a:pPr>
                      <a:r>
                        <a:rPr lang="en-US" sz="1200" b="1" i="0" u="none" strike="noStrike">
                          <a:solidFill>
                            <a:schemeClr val="tx1"/>
                          </a:solidFill>
                          <a:effectLst/>
                          <a:latin typeface="Arial"/>
                          <a:cs typeface="Arial"/>
                        </a:rPr>
                        <a:t>4/7</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Session 1</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 xml:space="preserve">Term Life Overview, Riders, &amp; Determining Death Benefit </a:t>
                      </a:r>
                    </a:p>
                  </a:txBody>
                  <a:tcPr marL="27432" marR="27432" marT="27432" marB="27432" anchor="b">
                    <a:lnL>
                      <a:noFill/>
                    </a:lnL>
                    <a:lnR>
                      <a:noFill/>
                    </a:lnR>
                    <a:lnT>
                      <a:noFill/>
                    </a:lnT>
                    <a:lnB>
                      <a:noFill/>
                    </a:lnB>
                    <a:noFill/>
                  </a:tcPr>
                </a:tc>
                <a:extLst>
                  <a:ext uri="{0D108BD9-81ED-4DB2-BD59-A6C34878D82A}">
                    <a16:rowId xmlns:a16="http://schemas.microsoft.com/office/drawing/2014/main" val="909707572"/>
                  </a:ext>
                </a:extLst>
              </a:tr>
              <a:tr h="238645">
                <a:tc>
                  <a:txBody>
                    <a:bodyPr/>
                    <a:lstStyle/>
                    <a:p>
                      <a:pPr algn="r" fontAlgn="b">
                        <a:buNone/>
                      </a:pPr>
                      <a:r>
                        <a:rPr lang="en-US" sz="1200" b="1" i="0" u="none" strike="noStrike">
                          <a:solidFill>
                            <a:schemeClr val="tx1"/>
                          </a:solidFill>
                          <a:effectLst/>
                          <a:latin typeface="Arial"/>
                          <a:cs typeface="Arial"/>
                        </a:rPr>
                        <a:t>4/14</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 xml:space="preserve">Session 2 </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Term Key Concepts: Layering, AOP &amp; Conversions</a:t>
                      </a:r>
                    </a:p>
                  </a:txBody>
                  <a:tcPr marL="27432" marR="27432" marT="27432" marB="27432" anchor="b">
                    <a:lnL>
                      <a:noFill/>
                    </a:lnL>
                    <a:lnR>
                      <a:noFill/>
                    </a:lnR>
                    <a:lnT>
                      <a:noFill/>
                    </a:lnT>
                    <a:lnB>
                      <a:noFill/>
                    </a:lnB>
                    <a:noFill/>
                  </a:tcPr>
                </a:tc>
                <a:extLst>
                  <a:ext uri="{0D108BD9-81ED-4DB2-BD59-A6C34878D82A}">
                    <a16:rowId xmlns:a16="http://schemas.microsoft.com/office/drawing/2014/main" val="1381813382"/>
                  </a:ext>
                </a:extLst>
              </a:tr>
              <a:tr h="238645">
                <a:tc>
                  <a:txBody>
                    <a:bodyPr/>
                    <a:lstStyle/>
                    <a:p>
                      <a:pPr algn="r" fontAlgn="b">
                        <a:buNone/>
                      </a:pPr>
                      <a:r>
                        <a:rPr lang="en-US" sz="1200" b="1" i="0" u="none" strike="noStrike">
                          <a:solidFill>
                            <a:schemeClr val="tx1"/>
                          </a:solidFill>
                          <a:effectLst/>
                          <a:latin typeface="Arial"/>
                          <a:cs typeface="Arial"/>
                        </a:rPr>
                        <a:t>4/21</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Session 3</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Whole Life Product Overview &amp; Riders</a:t>
                      </a:r>
                    </a:p>
                  </a:txBody>
                  <a:tcPr marL="27432" marR="27432" marT="27432" marB="27432" anchor="b">
                    <a:lnL>
                      <a:noFill/>
                    </a:lnL>
                    <a:lnR>
                      <a:noFill/>
                    </a:lnR>
                    <a:lnT>
                      <a:noFill/>
                    </a:lnT>
                    <a:lnB>
                      <a:noFill/>
                    </a:lnB>
                    <a:noFill/>
                  </a:tcPr>
                </a:tc>
                <a:extLst>
                  <a:ext uri="{0D108BD9-81ED-4DB2-BD59-A6C34878D82A}">
                    <a16:rowId xmlns:a16="http://schemas.microsoft.com/office/drawing/2014/main" val="1868455849"/>
                  </a:ext>
                </a:extLst>
              </a:tr>
              <a:tr h="238645">
                <a:tc>
                  <a:txBody>
                    <a:bodyPr/>
                    <a:lstStyle/>
                    <a:p>
                      <a:pPr algn="r" fontAlgn="b">
                        <a:buNone/>
                      </a:pPr>
                      <a:r>
                        <a:rPr lang="en-US" sz="1200" b="1" i="0" u="none" strike="noStrike">
                          <a:solidFill>
                            <a:schemeClr val="tx1"/>
                          </a:solidFill>
                          <a:effectLst/>
                          <a:latin typeface="Arial"/>
                          <a:cs typeface="Arial"/>
                        </a:rPr>
                        <a:t>4/28</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Session 4</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 xml:space="preserve">Whole Life Key Sales Concepts: SLIRP, BOWL, &amp; FIR </a:t>
                      </a:r>
                    </a:p>
                  </a:txBody>
                  <a:tcPr marL="27432" marR="27432" marT="27432" marB="27432" anchor="b">
                    <a:lnL>
                      <a:noFill/>
                    </a:lnL>
                    <a:lnR>
                      <a:noFill/>
                    </a:lnR>
                    <a:lnT>
                      <a:noFill/>
                    </a:lnT>
                    <a:lnB>
                      <a:noFill/>
                    </a:lnB>
                    <a:noFill/>
                  </a:tcPr>
                </a:tc>
                <a:extLst>
                  <a:ext uri="{0D108BD9-81ED-4DB2-BD59-A6C34878D82A}">
                    <a16:rowId xmlns:a16="http://schemas.microsoft.com/office/drawing/2014/main" val="3317296599"/>
                  </a:ext>
                </a:extLst>
              </a:tr>
              <a:tr h="228600">
                <a:tc>
                  <a:txBody>
                    <a:bodyPr/>
                    <a:lstStyle/>
                    <a:p>
                      <a:pPr algn="r" fontAlgn="b">
                        <a:buNone/>
                      </a:pPr>
                      <a:r>
                        <a:rPr lang="en-US" sz="1200" b="1" i="0" u="none" strike="noStrike">
                          <a:solidFill>
                            <a:schemeClr val="tx1"/>
                          </a:solidFill>
                          <a:effectLst/>
                          <a:latin typeface="Arial"/>
                          <a:cs typeface="Arial"/>
                        </a:rPr>
                        <a:t>5/5</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Session 5</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 xml:space="preserve">Universal Life Product Overview &amp; Key Concepts </a:t>
                      </a:r>
                    </a:p>
                  </a:txBody>
                  <a:tcPr marL="27432" marR="27432" marT="27432" marB="27432" anchor="b">
                    <a:lnL>
                      <a:noFill/>
                    </a:lnL>
                    <a:lnR>
                      <a:noFill/>
                    </a:lnR>
                    <a:lnT>
                      <a:noFill/>
                    </a:lnT>
                    <a:lnB>
                      <a:noFill/>
                    </a:lnB>
                    <a:noFill/>
                  </a:tcPr>
                </a:tc>
                <a:extLst>
                  <a:ext uri="{0D108BD9-81ED-4DB2-BD59-A6C34878D82A}">
                    <a16:rowId xmlns:a16="http://schemas.microsoft.com/office/drawing/2014/main" val="1325359472"/>
                  </a:ext>
                </a:extLst>
              </a:tr>
              <a:tr h="348790">
                <a:tc>
                  <a:txBody>
                    <a:bodyPr/>
                    <a:lstStyle/>
                    <a:p>
                      <a:pPr algn="r" fontAlgn="b">
                        <a:buNone/>
                      </a:pPr>
                      <a:r>
                        <a:rPr lang="en-US" sz="1200" b="1" i="0" u="none" strike="noStrike">
                          <a:solidFill>
                            <a:schemeClr val="tx1"/>
                          </a:solidFill>
                          <a:effectLst/>
                          <a:latin typeface="Arial"/>
                          <a:cs typeface="Arial"/>
                        </a:rPr>
                        <a:t>5/12</a:t>
                      </a:r>
                    </a:p>
                  </a:txBody>
                  <a:tcPr marL="27432" marR="182880"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1" i="0" u="none" strike="noStrike">
                          <a:solidFill>
                            <a:schemeClr val="tx1"/>
                          </a:solidFill>
                          <a:effectLst/>
                          <a:latin typeface="Arial"/>
                          <a:cs typeface="Arial"/>
                        </a:rPr>
                        <a:t>Session 6*</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0" i="0" u="none" strike="noStrike">
                          <a:solidFill>
                            <a:schemeClr val="tx1"/>
                          </a:solidFill>
                          <a:effectLst/>
                          <a:latin typeface="Arial"/>
                          <a:cs typeface="Arial"/>
                        </a:rPr>
                        <a:t xml:space="preserve">Variable Universal Life Overview &amp; Key Concepts </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4045166931"/>
                  </a:ext>
                </a:extLst>
              </a:tr>
              <a:tr h="299837">
                <a:tc gridSpan="3">
                  <a:txBody>
                    <a:bodyPr/>
                    <a:lstStyle/>
                    <a:p>
                      <a:pPr algn="l" fontAlgn="b">
                        <a:buNone/>
                      </a:pPr>
                      <a:r>
                        <a:rPr lang="en-US" sz="1400" b="1" i="0" u="none" strike="noStrike">
                          <a:solidFill>
                            <a:srgbClr val="FFE8CF"/>
                          </a:solidFill>
                          <a:effectLst/>
                          <a:latin typeface="Arial"/>
                          <a:cs typeface="Arial"/>
                        </a:rPr>
                        <a:t xml:space="preserve"> </a:t>
                      </a:r>
                      <a:r>
                        <a:rPr lang="en-US" sz="1400" b="1" i="0" u="none" strike="noStrike">
                          <a:solidFill>
                            <a:schemeClr val="bg1"/>
                          </a:solidFill>
                          <a:effectLst/>
                          <a:latin typeface="Arial"/>
                          <a:cs typeface="Arial"/>
                        </a:rPr>
                        <a:t xml:space="preserve">Disability Insurance </a:t>
                      </a:r>
                    </a:p>
                  </a:txBody>
                  <a:tcPr marL="27432" marR="182880" marT="27432" marB="27432"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73834094"/>
                  </a:ext>
                </a:extLst>
              </a:tr>
              <a:tr h="238645">
                <a:tc>
                  <a:txBody>
                    <a:bodyPr/>
                    <a:lstStyle/>
                    <a:p>
                      <a:pPr algn="r" fontAlgn="b">
                        <a:buNone/>
                      </a:pPr>
                      <a:r>
                        <a:rPr lang="en-US" sz="1200" b="1" i="0" u="none" strike="noStrike">
                          <a:solidFill>
                            <a:schemeClr val="tx1"/>
                          </a:solidFill>
                          <a:effectLst/>
                          <a:latin typeface="Arial"/>
                          <a:cs typeface="Arial"/>
                        </a:rPr>
                        <a:t>5/19</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chemeClr val="tx1"/>
                          </a:solidFill>
                          <a:effectLst/>
                          <a:latin typeface="Arial"/>
                          <a:cs typeface="Arial"/>
                        </a:rPr>
                        <a:t>Session 7</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chemeClr val="tx1"/>
                          </a:solidFill>
                          <a:effectLst/>
                          <a:latin typeface="Arial"/>
                          <a:cs typeface="Arial"/>
                        </a:rPr>
                        <a:t xml:space="preserve">Understanding Disability Income Insurance &amp; My Income Protector </a:t>
                      </a:r>
                    </a:p>
                  </a:txBody>
                  <a:tcPr marL="27432" marR="27432" marT="27432" marB="27432" anchor="b">
                    <a:lnL>
                      <a:noFill/>
                    </a:lnL>
                    <a:lnR>
                      <a:noFill/>
                    </a:lnR>
                    <a:lnT>
                      <a:noFill/>
                    </a:lnT>
                    <a:lnB>
                      <a:noFill/>
                    </a:lnB>
                    <a:noFill/>
                  </a:tcPr>
                </a:tc>
                <a:extLst>
                  <a:ext uri="{0D108BD9-81ED-4DB2-BD59-A6C34878D82A}">
                    <a16:rowId xmlns:a16="http://schemas.microsoft.com/office/drawing/2014/main" val="1831599723"/>
                  </a:ext>
                </a:extLst>
              </a:tr>
              <a:tr h="348790">
                <a:tc>
                  <a:txBody>
                    <a:bodyPr/>
                    <a:lstStyle/>
                    <a:p>
                      <a:pPr algn="r" fontAlgn="b">
                        <a:buNone/>
                      </a:pPr>
                      <a:r>
                        <a:rPr lang="en-US" sz="1200" b="1" i="0" u="none" strike="noStrike">
                          <a:solidFill>
                            <a:schemeClr val="tx1"/>
                          </a:solidFill>
                          <a:effectLst/>
                          <a:latin typeface="Arial"/>
                          <a:cs typeface="Arial"/>
                        </a:rPr>
                        <a:t>5/26</a:t>
                      </a:r>
                    </a:p>
                  </a:txBody>
                  <a:tcPr marL="27432" marR="182880"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1" i="0" u="none" strike="noStrike" dirty="0">
                          <a:solidFill>
                            <a:schemeClr val="tx1"/>
                          </a:solidFill>
                          <a:effectLst/>
                          <a:latin typeface="Arial"/>
                          <a:cs typeface="Arial"/>
                        </a:rPr>
                        <a:t>Session 8</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0" i="0" u="none" strike="noStrike">
                          <a:solidFill>
                            <a:schemeClr val="tx1"/>
                          </a:solidFill>
                          <a:effectLst/>
                          <a:latin typeface="Arial"/>
                          <a:cs typeface="Arial"/>
                        </a:rPr>
                        <a:t xml:space="preserve">Strategies for prospecting &amp; presenting Disability Insurance </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718390095"/>
                  </a:ext>
                </a:extLst>
              </a:tr>
              <a:tr h="299837">
                <a:tc gridSpan="3">
                  <a:txBody>
                    <a:bodyPr/>
                    <a:lstStyle/>
                    <a:p>
                      <a:pPr algn="l" fontAlgn="b">
                        <a:buNone/>
                      </a:pPr>
                      <a:r>
                        <a:rPr lang="en-US" sz="1400" b="1" i="0" u="none" strike="noStrike">
                          <a:solidFill>
                            <a:srgbClr val="FFE8CF"/>
                          </a:solidFill>
                          <a:effectLst/>
                          <a:latin typeface="Arial"/>
                          <a:cs typeface="Arial"/>
                        </a:rPr>
                        <a:t xml:space="preserve"> </a:t>
                      </a:r>
                      <a:r>
                        <a:rPr lang="en-US" sz="1400" b="1" i="0" u="none" strike="noStrike">
                          <a:solidFill>
                            <a:schemeClr val="bg1"/>
                          </a:solidFill>
                          <a:effectLst/>
                          <a:latin typeface="Arial"/>
                          <a:cs typeface="Arial"/>
                        </a:rPr>
                        <a:t xml:space="preserve">Long-Term Care Insurance </a:t>
                      </a:r>
                    </a:p>
                  </a:txBody>
                  <a:tcPr marL="27432" marR="182880" marT="27432" marB="27432"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65911153"/>
                  </a:ext>
                </a:extLst>
              </a:tr>
              <a:tr h="238645">
                <a:tc>
                  <a:txBody>
                    <a:bodyPr/>
                    <a:lstStyle/>
                    <a:p>
                      <a:pPr algn="r" fontAlgn="b">
                        <a:buNone/>
                      </a:pPr>
                      <a:r>
                        <a:rPr lang="en-US" sz="1200" b="1" i="0" u="none" strike="noStrike">
                          <a:solidFill>
                            <a:srgbClr val="000A62"/>
                          </a:solidFill>
                          <a:effectLst/>
                          <a:latin typeface="Arial"/>
                          <a:cs typeface="Arial"/>
                        </a:rPr>
                        <a:t>6/2</a:t>
                      </a: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rgbClr val="000A62"/>
                          </a:solidFill>
                          <a:effectLst/>
                          <a:latin typeface="Arial"/>
                          <a:cs typeface="Arial"/>
                        </a:rPr>
                        <a:t>Session 9</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rgbClr val="000A62"/>
                          </a:solidFill>
                          <a:effectLst/>
                          <a:latin typeface="Arial"/>
                          <a:cs typeface="Arial"/>
                        </a:rPr>
                        <a:t xml:space="preserve">My Care &amp; Secure Care Overview </a:t>
                      </a:r>
                    </a:p>
                  </a:txBody>
                  <a:tcPr marL="27432" marR="27432" marT="27432" marB="27432" anchor="b">
                    <a:lnL>
                      <a:noFill/>
                    </a:lnL>
                    <a:lnR>
                      <a:noFill/>
                    </a:lnR>
                    <a:lnT>
                      <a:noFill/>
                    </a:lnT>
                    <a:lnB>
                      <a:noFill/>
                    </a:lnB>
                    <a:noFill/>
                  </a:tcPr>
                </a:tc>
                <a:extLst>
                  <a:ext uri="{0D108BD9-81ED-4DB2-BD59-A6C34878D82A}">
                    <a16:rowId xmlns:a16="http://schemas.microsoft.com/office/drawing/2014/main" val="2876654234"/>
                  </a:ext>
                </a:extLst>
              </a:tr>
              <a:tr h="348790">
                <a:tc>
                  <a:txBody>
                    <a:bodyPr/>
                    <a:lstStyle/>
                    <a:p>
                      <a:pPr algn="r" fontAlgn="b">
                        <a:buNone/>
                      </a:pPr>
                      <a:r>
                        <a:rPr lang="en-US" sz="1200" b="1" i="0" u="none" strike="noStrike">
                          <a:solidFill>
                            <a:srgbClr val="000A62"/>
                          </a:solidFill>
                          <a:effectLst/>
                          <a:latin typeface="Arial"/>
                          <a:cs typeface="Arial"/>
                        </a:rPr>
                        <a:t>6/9</a:t>
                      </a:r>
                      <a:endParaRPr lang="en-US" sz="1200" b="1" i="0" u="none" strike="noStrike">
                        <a:solidFill>
                          <a:srgbClr val="000A62"/>
                        </a:solidFill>
                        <a:effectLst/>
                        <a:latin typeface="Arial" panose="020B0604020202020204" pitchFamily="34" charset="0"/>
                        <a:cs typeface="Arial" panose="020B0604020202020204" pitchFamily="34" charset="0"/>
                      </a:endParaRPr>
                    </a:p>
                  </a:txBody>
                  <a:tcPr marL="27432" marR="182880"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1" i="0" u="none" strike="noStrike">
                          <a:solidFill>
                            <a:srgbClr val="000A62"/>
                          </a:solidFill>
                          <a:effectLst/>
                          <a:latin typeface="Arial" panose="020B0604020202020204" pitchFamily="34" charset="0"/>
                          <a:cs typeface="Arial" panose="020B0604020202020204" pitchFamily="34" charset="0"/>
                        </a:rPr>
                        <a:t>Session 10</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tc>
                  <a:txBody>
                    <a:bodyPr/>
                    <a:lstStyle/>
                    <a:p>
                      <a:pPr algn="l" fontAlgn="b">
                        <a:buNone/>
                      </a:pPr>
                      <a:r>
                        <a:rPr lang="en-US" sz="1200" b="0" i="0" u="none" strike="noStrike">
                          <a:solidFill>
                            <a:srgbClr val="000A62"/>
                          </a:solidFill>
                          <a:effectLst/>
                          <a:latin typeface="Arial" panose="020B0604020202020204" pitchFamily="34" charset="0"/>
                          <a:cs typeface="Arial" panose="020B0604020202020204" pitchFamily="34" charset="0"/>
                        </a:rPr>
                        <a:t xml:space="preserve">Asset Flex Overview </a:t>
                      </a:r>
                    </a:p>
                  </a:txBody>
                  <a:tcPr marL="27432" marR="27432" marT="27432" marB="137160" anchor="b">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3432162768"/>
                  </a:ext>
                </a:extLst>
              </a:tr>
              <a:tr h="299837">
                <a:tc gridSpan="3">
                  <a:txBody>
                    <a:bodyPr/>
                    <a:lstStyle/>
                    <a:p>
                      <a:pPr algn="l" fontAlgn="b">
                        <a:buNone/>
                      </a:pPr>
                      <a:r>
                        <a:rPr lang="en-US" sz="1400" b="1" i="0" u="none" strike="noStrike">
                          <a:solidFill>
                            <a:srgbClr val="FFE8CF"/>
                          </a:solidFill>
                          <a:effectLst/>
                          <a:latin typeface="Arial" panose="020B0604020202020204" pitchFamily="34" charset="0"/>
                          <a:cs typeface="Arial" panose="020B0604020202020204" pitchFamily="34" charset="0"/>
                        </a:rPr>
                        <a:t xml:space="preserve"> </a:t>
                      </a:r>
                      <a:r>
                        <a:rPr lang="en-US" sz="1400" b="1" i="0" u="none" strike="noStrike">
                          <a:solidFill>
                            <a:schemeClr val="bg1"/>
                          </a:solidFill>
                          <a:effectLst/>
                          <a:latin typeface="Arial" panose="020B0604020202020204" pitchFamily="34" charset="0"/>
                          <a:cs typeface="Arial" panose="020B0604020202020204" pitchFamily="34" charset="0"/>
                        </a:rPr>
                        <a:t xml:space="preserve">Business Solutions </a:t>
                      </a:r>
                    </a:p>
                  </a:txBody>
                  <a:tcPr marL="27432" marR="182880" marT="27432" marB="27432"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22002265"/>
                  </a:ext>
                </a:extLst>
              </a:tr>
              <a:tr h="238645">
                <a:tc>
                  <a:txBody>
                    <a:bodyPr/>
                    <a:lstStyle/>
                    <a:p>
                      <a:pPr algn="r" fontAlgn="b">
                        <a:buNone/>
                      </a:pPr>
                      <a:r>
                        <a:rPr lang="en-US" sz="1200" b="1" i="0" u="none" strike="noStrike">
                          <a:solidFill>
                            <a:srgbClr val="000A62"/>
                          </a:solidFill>
                          <a:effectLst/>
                          <a:latin typeface="Arial"/>
                          <a:cs typeface="Arial"/>
                        </a:rPr>
                        <a:t>6/16</a:t>
                      </a:r>
                      <a:endParaRPr lang="en-US" sz="1200" b="1" i="0" u="none" strike="noStrike">
                        <a:solidFill>
                          <a:srgbClr val="000A62"/>
                        </a:solidFill>
                        <a:effectLst/>
                        <a:latin typeface="Arial" panose="020B0604020202020204" pitchFamily="34" charset="0"/>
                        <a:cs typeface="Arial" panose="020B0604020202020204" pitchFamily="34" charset="0"/>
                      </a:endParaRP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rgbClr val="000A62"/>
                          </a:solidFill>
                          <a:effectLst/>
                          <a:latin typeface="Arial" panose="020B0604020202020204" pitchFamily="34" charset="0"/>
                          <a:cs typeface="Arial" panose="020B0604020202020204" pitchFamily="34" charset="0"/>
                        </a:rPr>
                        <a:t>Session 11</a:t>
                      </a:r>
                    </a:p>
                  </a:txBody>
                  <a:tcPr marL="27432" marR="27432" marT="27432" marB="27432" anchor="b">
                    <a:lnL>
                      <a:noFill/>
                    </a:lnL>
                    <a:lnR>
                      <a:noFill/>
                    </a:lnR>
                    <a:lnT>
                      <a:noFill/>
                    </a:lnT>
                    <a:lnB>
                      <a:noFill/>
                    </a:lnB>
                    <a:noFill/>
                  </a:tcPr>
                </a:tc>
                <a:tc>
                  <a:txBody>
                    <a:bodyPr/>
                    <a:lstStyle/>
                    <a:p>
                      <a:pPr algn="l" fontAlgn="b">
                        <a:buNone/>
                      </a:pPr>
                      <a:r>
                        <a:rPr lang="en-US" sz="1200" b="0" i="0" u="none" strike="noStrike">
                          <a:solidFill>
                            <a:srgbClr val="000A62"/>
                          </a:solidFill>
                          <a:effectLst/>
                          <a:latin typeface="Arial" panose="020B0604020202020204" pitchFamily="34" charset="0"/>
                          <a:cs typeface="Arial" panose="020B0604020202020204" pitchFamily="34" charset="0"/>
                        </a:rPr>
                        <a:t xml:space="preserve">Employee’s Whole Life Overview &amp; Employee Benefits Solutions </a:t>
                      </a:r>
                    </a:p>
                  </a:txBody>
                  <a:tcPr marL="27432" marR="27432" marT="27432" marB="27432" anchor="b">
                    <a:lnL>
                      <a:noFill/>
                    </a:lnL>
                    <a:lnR>
                      <a:noFill/>
                    </a:lnR>
                    <a:lnT>
                      <a:noFill/>
                    </a:lnT>
                    <a:lnB>
                      <a:noFill/>
                    </a:lnB>
                    <a:noFill/>
                  </a:tcPr>
                </a:tc>
                <a:extLst>
                  <a:ext uri="{0D108BD9-81ED-4DB2-BD59-A6C34878D82A}">
                    <a16:rowId xmlns:a16="http://schemas.microsoft.com/office/drawing/2014/main" val="449718493"/>
                  </a:ext>
                </a:extLst>
              </a:tr>
              <a:tr h="238645">
                <a:tc>
                  <a:txBody>
                    <a:bodyPr/>
                    <a:lstStyle/>
                    <a:p>
                      <a:pPr algn="r" fontAlgn="b">
                        <a:buNone/>
                      </a:pPr>
                      <a:r>
                        <a:rPr lang="en-US" sz="1200" b="1" i="0" u="none" strike="noStrike">
                          <a:solidFill>
                            <a:srgbClr val="000A62"/>
                          </a:solidFill>
                          <a:effectLst/>
                          <a:latin typeface="Arial"/>
                          <a:cs typeface="Arial"/>
                        </a:rPr>
                        <a:t>6/23</a:t>
                      </a:r>
                      <a:endParaRPr lang="en-US" sz="1200" b="1" i="0" u="none" strike="noStrike">
                        <a:solidFill>
                          <a:srgbClr val="000A62"/>
                        </a:solidFill>
                        <a:effectLst/>
                        <a:latin typeface="Arial" panose="020B0604020202020204" pitchFamily="34" charset="0"/>
                        <a:cs typeface="Arial" panose="020B0604020202020204" pitchFamily="34" charset="0"/>
                      </a:endParaRPr>
                    </a:p>
                  </a:txBody>
                  <a:tcPr marL="27432" marR="182880" marT="27432" marB="27432" anchor="b">
                    <a:lnL>
                      <a:noFill/>
                    </a:lnL>
                    <a:lnR>
                      <a:noFill/>
                    </a:lnR>
                    <a:lnT>
                      <a:noFill/>
                    </a:lnT>
                    <a:lnB>
                      <a:noFill/>
                    </a:lnB>
                    <a:noFill/>
                  </a:tcPr>
                </a:tc>
                <a:tc>
                  <a:txBody>
                    <a:bodyPr/>
                    <a:lstStyle/>
                    <a:p>
                      <a:pPr algn="l" fontAlgn="b">
                        <a:buNone/>
                      </a:pPr>
                      <a:r>
                        <a:rPr lang="en-US" sz="1200" b="1" i="0" u="none" strike="noStrike">
                          <a:solidFill>
                            <a:srgbClr val="000A62"/>
                          </a:solidFill>
                          <a:effectLst/>
                          <a:latin typeface="Arial" panose="020B0604020202020204" pitchFamily="34" charset="0"/>
                          <a:cs typeface="Arial" panose="020B0604020202020204" pitchFamily="34" charset="0"/>
                        </a:rPr>
                        <a:t>Session 12</a:t>
                      </a:r>
                    </a:p>
                  </a:txBody>
                  <a:tcPr marL="27432" marR="27432" marT="27432" marB="27432" anchor="b">
                    <a:lnL>
                      <a:noFill/>
                    </a:lnL>
                    <a:lnR>
                      <a:noFill/>
                    </a:lnR>
                    <a:lnT>
                      <a:noFill/>
                    </a:lnT>
                    <a:lnB>
                      <a:noFill/>
                    </a:lnB>
                    <a:noFill/>
                  </a:tcPr>
                </a:tc>
                <a:tc>
                  <a:txBody>
                    <a:bodyPr/>
                    <a:lstStyle/>
                    <a:p>
                      <a:pPr algn="l" fontAlgn="b">
                        <a:buNone/>
                      </a:pPr>
                      <a:r>
                        <a:rPr lang="en-US" sz="1200" b="0" i="0" u="none" strike="noStrike" dirty="0">
                          <a:solidFill>
                            <a:srgbClr val="000A62"/>
                          </a:solidFill>
                          <a:effectLst/>
                          <a:latin typeface="Arial" panose="020B0604020202020204" pitchFamily="34" charset="0"/>
                          <a:cs typeface="Arial" panose="020B0604020202020204" pitchFamily="34" charset="0"/>
                        </a:rPr>
                        <a:t xml:space="preserve">Multi-Life Solutions to Grow Your Business </a:t>
                      </a:r>
                    </a:p>
                  </a:txBody>
                  <a:tcPr marL="27432" marR="27432" marT="27432" marB="27432" anchor="b">
                    <a:lnL>
                      <a:noFill/>
                    </a:lnL>
                    <a:lnR>
                      <a:noFill/>
                    </a:lnR>
                    <a:lnT>
                      <a:noFill/>
                    </a:lnT>
                    <a:lnB>
                      <a:noFill/>
                    </a:lnB>
                    <a:noFill/>
                  </a:tcPr>
                </a:tc>
                <a:extLst>
                  <a:ext uri="{0D108BD9-81ED-4DB2-BD59-A6C34878D82A}">
                    <a16:rowId xmlns:a16="http://schemas.microsoft.com/office/drawing/2014/main" val="179488635"/>
                  </a:ext>
                </a:extLst>
              </a:tr>
            </a:tbl>
          </a:graphicData>
        </a:graphic>
      </p:graphicFrame>
      <p:pic>
        <p:nvPicPr>
          <p:cNvPr id="12" name="Picture 11">
            <a:extLst>
              <a:ext uri="{FF2B5EF4-FFF2-40B4-BE49-F238E27FC236}">
                <a16:creationId xmlns:a16="http://schemas.microsoft.com/office/drawing/2014/main" id="{CC2243E4-37C1-E8DA-4965-668C75C99FE8}"/>
              </a:ext>
            </a:extLst>
          </p:cNvPr>
          <p:cNvPicPr>
            <a:picLocks noChangeAspect="1"/>
          </p:cNvPicPr>
          <p:nvPr/>
        </p:nvPicPr>
        <p:blipFill>
          <a:blip r:embed="rId3"/>
          <a:srcRect/>
          <a:stretch/>
        </p:blipFill>
        <p:spPr>
          <a:xfrm>
            <a:off x="10126971" y="462397"/>
            <a:ext cx="1874134" cy="1874134"/>
          </a:xfrm>
          <a:prstGeom prst="rect">
            <a:avLst/>
          </a:prstGeom>
        </p:spPr>
      </p:pic>
      <p:sp>
        <p:nvSpPr>
          <p:cNvPr id="15" name="TextBox 14">
            <a:extLst>
              <a:ext uri="{FF2B5EF4-FFF2-40B4-BE49-F238E27FC236}">
                <a16:creationId xmlns:a16="http://schemas.microsoft.com/office/drawing/2014/main" id="{E2103C11-BFAC-C270-800D-9C251D5E44B8}"/>
              </a:ext>
            </a:extLst>
          </p:cNvPr>
          <p:cNvSpPr txBox="1"/>
          <p:nvPr/>
        </p:nvSpPr>
        <p:spPr>
          <a:xfrm>
            <a:off x="7496183" y="2426530"/>
            <a:ext cx="3793502" cy="1487587"/>
          </a:xfrm>
          <a:prstGeom prst="rect">
            <a:avLst/>
          </a:prstGeom>
          <a:noFill/>
        </p:spPr>
        <p:txBody>
          <a:bodyPr wrap="square" lIns="0" tIns="0" rIns="0" bIns="0">
            <a:spAutoFit/>
          </a:bodyPr>
          <a:lstStyle/>
          <a:p>
            <a:pPr marL="225425" marR="0" lvl="0" indent="-225425" algn="l" defTabSz="121914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400" b="1" i="0" u="none" strike="noStrike" kern="1200" cap="none" spc="0" normalizeH="0" baseline="0" noProof="0">
                <a:ln>
                  <a:noFill/>
                </a:ln>
                <a:solidFill>
                  <a:srgbClr val="000A62"/>
                </a:solidFill>
                <a:effectLst/>
                <a:uLnTx/>
                <a:uFillTx/>
                <a:latin typeface="Arial"/>
                <a:ea typeface="Geneva" pitchFamily="-109" charset="-128"/>
                <a:cs typeface="+mn-cs"/>
              </a:rPr>
              <a:t>12-part quarterly series (Tuesdays)</a:t>
            </a:r>
          </a:p>
          <a:p>
            <a:pPr marL="225425" marR="0" lvl="0" indent="-225425" algn="l" defTabSz="121914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400" b="1" i="0" u="none" strike="noStrike" kern="1200" cap="none" spc="0" normalizeH="0" baseline="0" noProof="0">
                <a:ln>
                  <a:noFill/>
                </a:ln>
                <a:solidFill>
                  <a:srgbClr val="000A62"/>
                </a:solidFill>
                <a:effectLst/>
                <a:uLnTx/>
                <a:uFillTx/>
                <a:latin typeface="Arial"/>
                <a:ea typeface="Geneva" pitchFamily="-109" charset="-128"/>
                <a:cs typeface="+mn-cs"/>
              </a:rPr>
              <a:t>Educates on NYL life products</a:t>
            </a:r>
          </a:p>
          <a:p>
            <a:pPr marL="225425" marR="0" lvl="0" indent="-225425" algn="l" defTabSz="121914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400" b="1" i="0" u="none" strike="noStrike" kern="1200" cap="none" spc="0" normalizeH="0" baseline="0" noProof="0">
                <a:ln>
                  <a:noFill/>
                </a:ln>
                <a:solidFill>
                  <a:srgbClr val="000A62"/>
                </a:solidFill>
                <a:effectLst/>
                <a:uLnTx/>
                <a:uFillTx/>
                <a:latin typeface="Arial"/>
                <a:ea typeface="Geneva" pitchFamily="-109" charset="-128"/>
                <a:cs typeface="+mn-cs"/>
              </a:rPr>
              <a:t>Interactive sessions with product experts</a:t>
            </a:r>
          </a:p>
          <a:p>
            <a:pPr marL="225425" marR="0" lvl="0" indent="-225425" algn="l" defTabSz="121914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400" b="1" i="0" u="none" strike="noStrike" kern="1200" cap="none" spc="0" normalizeH="0" baseline="0" noProof="0">
                <a:ln>
                  <a:noFill/>
                </a:ln>
                <a:solidFill>
                  <a:srgbClr val="000A62"/>
                </a:solidFill>
                <a:effectLst/>
                <a:uLnTx/>
                <a:uFillTx/>
                <a:latin typeface="Arial"/>
                <a:ea typeface="Geneva" pitchFamily="-109" charset="-128"/>
                <a:cs typeface="+mn-cs"/>
              </a:rPr>
              <a:t>Provides ongoing education</a:t>
            </a:r>
          </a:p>
          <a:p>
            <a:pPr marL="225425" marR="0" lvl="0" indent="-225425" algn="l" defTabSz="121914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400" b="1" i="0" u="none" strike="noStrike" kern="1200" cap="none" spc="0" normalizeH="0" baseline="0" noProof="0">
                <a:ln>
                  <a:noFill/>
                </a:ln>
                <a:solidFill>
                  <a:srgbClr val="000A62"/>
                </a:solidFill>
                <a:effectLst/>
                <a:uLnTx/>
                <a:uFillTx/>
                <a:latin typeface="Arial"/>
                <a:ea typeface="Geneva" pitchFamily="-109" charset="-128"/>
                <a:cs typeface="+mn-cs"/>
              </a:rPr>
              <a:t>Open to agents and managers</a:t>
            </a:r>
          </a:p>
        </p:txBody>
      </p:sp>
      <p:sp>
        <p:nvSpPr>
          <p:cNvPr id="16" name="TextBox 15">
            <a:extLst>
              <a:ext uri="{FF2B5EF4-FFF2-40B4-BE49-F238E27FC236}">
                <a16:creationId xmlns:a16="http://schemas.microsoft.com/office/drawing/2014/main" id="{835B40D3-CB58-D5C0-BDED-05E29B23E49D}"/>
              </a:ext>
            </a:extLst>
          </p:cNvPr>
          <p:cNvSpPr txBox="1"/>
          <p:nvPr/>
        </p:nvSpPr>
        <p:spPr>
          <a:xfrm>
            <a:off x="7496183" y="1388447"/>
            <a:ext cx="2158733" cy="738664"/>
          </a:xfrm>
          <a:prstGeom prst="rect">
            <a:avLst/>
          </a:prstGeom>
          <a:noFill/>
        </p:spPr>
        <p:txBody>
          <a:bodyPr wrap="square" lIns="0" tIns="0" rIns="0" bIns="0" rtlCol="0">
            <a:spAutoFit/>
          </a:bodyPr>
          <a:lstStyle/>
          <a:p>
            <a:pPr marL="0" marR="0" lvl="0" indent="0" algn="l" defTabSz="121914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Strengthening the foundation</a:t>
            </a:r>
          </a:p>
        </p:txBody>
      </p:sp>
      <p:pic>
        <p:nvPicPr>
          <p:cNvPr id="5" name="Picture 4">
            <a:extLst>
              <a:ext uri="{FF2B5EF4-FFF2-40B4-BE49-F238E27FC236}">
                <a16:creationId xmlns:a16="http://schemas.microsoft.com/office/drawing/2014/main" id="{E1BED344-E781-3E22-86DA-FFC22991CAB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940829" y="4390739"/>
            <a:ext cx="1420221" cy="1420221"/>
          </a:xfrm>
          <a:prstGeom prst="rect">
            <a:avLst/>
          </a:prstGeom>
        </p:spPr>
      </p:pic>
      <p:sp>
        <p:nvSpPr>
          <p:cNvPr id="7" name="TextBox 6">
            <a:extLst>
              <a:ext uri="{FF2B5EF4-FFF2-40B4-BE49-F238E27FC236}">
                <a16:creationId xmlns:a16="http://schemas.microsoft.com/office/drawing/2014/main" id="{C8831FD6-3CA0-F1DC-776C-32B18CF287AE}"/>
              </a:ext>
            </a:extLst>
          </p:cNvPr>
          <p:cNvSpPr txBox="1"/>
          <p:nvPr/>
        </p:nvSpPr>
        <p:spPr>
          <a:xfrm>
            <a:off x="3237996" y="6261964"/>
            <a:ext cx="5716007" cy="30777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A62"/>
                </a:solidFill>
                <a:effectLst/>
                <a:uLnTx/>
                <a:uFillTx/>
                <a:latin typeface="Arial"/>
                <a:ea typeface="+mn-ea"/>
                <a:cs typeface="+mn-cs"/>
              </a:rPr>
              <a:t xml:space="preserve">*Session 6 will be a part of the 2Q Registered Rep Master Class on 5/19 at 3pm. </a:t>
            </a:r>
            <a:br>
              <a:rPr kumimoji="0" lang="en-US" sz="1000" b="0" i="0" u="none" strike="noStrike" kern="1200" cap="none" spc="0" normalizeH="0" baseline="0" noProof="0">
                <a:ln>
                  <a:noFill/>
                </a:ln>
                <a:solidFill>
                  <a:srgbClr val="000A62"/>
                </a:solidFill>
                <a:effectLst/>
                <a:uLnTx/>
                <a:uFillTx/>
                <a:latin typeface="Arial"/>
                <a:ea typeface="+mn-ea"/>
                <a:cs typeface="+mn-cs"/>
              </a:rPr>
            </a:br>
            <a:r>
              <a:rPr kumimoji="0" lang="en-US" sz="1000" b="0" i="0" u="none" strike="noStrike" kern="1200" cap="none" spc="0" normalizeH="0" baseline="0" noProof="0">
                <a:ln>
                  <a:noFill/>
                </a:ln>
                <a:solidFill>
                  <a:srgbClr val="000A62"/>
                </a:solidFill>
                <a:effectLst/>
                <a:uLnTx/>
                <a:uFillTx/>
                <a:latin typeface="Arial"/>
                <a:ea typeface="+mn-ea"/>
                <a:cs typeface="+mn-cs"/>
              </a:rPr>
              <a:t>This session will use the Registered Rep Masterclass link found on Info Central</a:t>
            </a:r>
          </a:p>
        </p:txBody>
      </p:sp>
    </p:spTree>
    <p:extLst>
      <p:ext uri="{BB962C8B-B14F-4D97-AF65-F5344CB8AC3E}">
        <p14:creationId xmlns:p14="http://schemas.microsoft.com/office/powerpoint/2010/main" val="3821816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5D1A8865-2C7E-C091-B04F-C20CE8177368}"/>
              </a:ext>
            </a:extLst>
          </p:cNvPr>
          <p:cNvSpPr/>
          <p:nvPr/>
        </p:nvSpPr>
        <p:spPr bwMode="ltGray">
          <a:xfrm>
            <a:off x="649224" y="1258625"/>
            <a:ext cx="7043813" cy="4586589"/>
          </a:xfrm>
          <a:prstGeom prst="roundRect">
            <a:avLst>
              <a:gd name="adj" fmla="val 2954"/>
            </a:avLst>
          </a:prstGeom>
          <a:solidFill>
            <a:srgbClr val="FFFFF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9" name="Rectangle: Rounded Corners 8">
            <a:extLst>
              <a:ext uri="{FF2B5EF4-FFF2-40B4-BE49-F238E27FC236}">
                <a16:creationId xmlns:a16="http://schemas.microsoft.com/office/drawing/2014/main" id="{71C67556-C1ED-7EEC-1C3E-B40E53FD0109}"/>
              </a:ext>
            </a:extLst>
          </p:cNvPr>
          <p:cNvSpPr>
            <a:spLocks/>
          </p:cNvSpPr>
          <p:nvPr/>
        </p:nvSpPr>
        <p:spPr bwMode="ltGray">
          <a:xfrm>
            <a:off x="7778187" y="1258625"/>
            <a:ext cx="4230999" cy="4586590"/>
          </a:xfrm>
          <a:prstGeom prst="roundRect">
            <a:avLst>
              <a:gd name="adj" fmla="val 2814"/>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50D03690-946F-8AEF-E947-86CE8DF6696C}"/>
              </a:ext>
            </a:extLst>
          </p:cNvPr>
          <p:cNvSpPr>
            <a:spLocks noGrp="1"/>
          </p:cNvSpPr>
          <p:nvPr>
            <p:ph type="title"/>
          </p:nvPr>
        </p:nvSpPr>
        <p:spPr/>
        <p:txBody>
          <a:bodyPr/>
          <a:lstStyle/>
          <a:p>
            <a:r>
              <a:rPr lang="en-US"/>
              <a:t xml:space="preserve">2Q 2026 Registered Rep </a:t>
            </a:r>
            <a:r>
              <a:rPr lang="en-US" err="1"/>
              <a:t>MasterClass</a:t>
            </a:r>
            <a:r>
              <a:rPr lang="en-US"/>
              <a:t xml:space="preserve"> </a:t>
            </a:r>
          </a:p>
        </p:txBody>
      </p:sp>
      <p:sp>
        <p:nvSpPr>
          <p:cNvPr id="6" name="Slide Number Placeholder 2">
            <a:extLst>
              <a:ext uri="{FF2B5EF4-FFF2-40B4-BE49-F238E27FC236}">
                <a16:creationId xmlns:a16="http://schemas.microsoft.com/office/drawing/2014/main" id="{EFD2ECEF-51D3-E048-E13F-9DD15184A095}"/>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Content Placeholder 3">
            <a:extLst>
              <a:ext uri="{FF2B5EF4-FFF2-40B4-BE49-F238E27FC236}">
                <a16:creationId xmlns:a16="http://schemas.microsoft.com/office/drawing/2014/main" id="{B4432B76-B29C-71DD-8610-8768237760D2}"/>
              </a:ext>
            </a:extLst>
          </p:cNvPr>
          <p:cNvSpPr>
            <a:spLocks noGrp="1"/>
          </p:cNvSpPr>
          <p:nvPr>
            <p:ph idx="1"/>
          </p:nvPr>
        </p:nvSpPr>
        <p:spPr>
          <a:xfrm>
            <a:off x="829605" y="1442620"/>
            <a:ext cx="7353789" cy="4809744"/>
          </a:xfrm>
        </p:spPr>
        <p:txBody>
          <a:bodyPr/>
          <a:lstStyle/>
          <a:p>
            <a:pPr marL="0" indent="0">
              <a:spcBef>
                <a:spcPts val="0"/>
              </a:spcBef>
              <a:spcAft>
                <a:spcPts val="1200"/>
              </a:spcAft>
              <a:buNone/>
              <a:tabLst>
                <a:tab pos="1090613" algn="l"/>
              </a:tabLst>
            </a:pPr>
            <a:r>
              <a:rPr lang="en-US" sz="1600" b="1">
                <a:latin typeface="Arial Narrow"/>
                <a:cs typeface="Arial"/>
              </a:rPr>
              <a:t xml:space="preserve">Session 1 </a:t>
            </a:r>
            <a:r>
              <a:rPr lang="en-US" sz="1600">
                <a:latin typeface="Arial Narrow"/>
                <a:cs typeface="Arial"/>
              </a:rPr>
              <a:t xml:space="preserve">– NYLIFE Securities and Mutual Funds: </a:t>
            </a:r>
            <a:r>
              <a:rPr lang="en-US" sz="1600" b="1">
                <a:latin typeface="Arial Narrow"/>
                <a:cs typeface="Arial"/>
              </a:rPr>
              <a:t>April 21, 2026</a:t>
            </a:r>
            <a:r>
              <a:rPr lang="en-US" sz="1600">
                <a:latin typeface="Arial Narrow"/>
                <a:cs typeface="Arial"/>
              </a:rPr>
              <a:t xml:space="preserve"> </a:t>
            </a:r>
            <a:endParaRPr lang="en-US">
              <a:latin typeface="Arial Narrow"/>
              <a:cs typeface="Arial"/>
            </a:endParaRPr>
          </a:p>
          <a:p>
            <a:pPr marL="0" indent="0">
              <a:spcBef>
                <a:spcPts val="0"/>
              </a:spcBef>
              <a:spcAft>
                <a:spcPts val="1200"/>
              </a:spcAft>
              <a:buNone/>
              <a:tabLst>
                <a:tab pos="1090613" algn="l"/>
              </a:tabLst>
            </a:pPr>
            <a:r>
              <a:rPr lang="en-US" sz="1600" b="1">
                <a:latin typeface="Arial Narrow"/>
                <a:cs typeface="Arial"/>
              </a:rPr>
              <a:t xml:space="preserve">Session 2 </a:t>
            </a:r>
            <a:r>
              <a:rPr lang="en-US" sz="1600">
                <a:latin typeface="Arial Narrow"/>
                <a:cs typeface="Arial"/>
              </a:rPr>
              <a:t xml:space="preserve">– Variable Annuities, What You Need to Know: </a:t>
            </a:r>
            <a:r>
              <a:rPr lang="en-US" sz="1600" b="1">
                <a:latin typeface="Arial Narrow"/>
                <a:cs typeface="Arial"/>
              </a:rPr>
              <a:t>April 28, 2026</a:t>
            </a:r>
            <a:r>
              <a:rPr lang="en-US" sz="1600">
                <a:latin typeface="Arial Narrow"/>
                <a:cs typeface="Arial"/>
              </a:rPr>
              <a:t xml:space="preserve"> </a:t>
            </a:r>
            <a:endParaRPr lang="en-US"/>
          </a:p>
          <a:p>
            <a:pPr marL="0" indent="0">
              <a:spcBef>
                <a:spcPts val="0"/>
              </a:spcBef>
              <a:spcAft>
                <a:spcPts val="1200"/>
              </a:spcAft>
              <a:buNone/>
              <a:tabLst>
                <a:tab pos="1090613" algn="l"/>
              </a:tabLst>
            </a:pPr>
            <a:r>
              <a:rPr lang="en-US" sz="1600" b="1">
                <a:latin typeface="Arial Narrow"/>
                <a:cs typeface="Arial"/>
              </a:rPr>
              <a:t xml:space="preserve">Session 3 </a:t>
            </a:r>
            <a:r>
              <a:rPr lang="en-US" sz="1600">
                <a:latin typeface="Arial Narrow"/>
                <a:cs typeface="Arial"/>
              </a:rPr>
              <a:t xml:space="preserve">– Variable Annuity Riders IPR 5.0 and ADBR: </a:t>
            </a:r>
            <a:r>
              <a:rPr lang="en-US" sz="1600" b="1">
                <a:latin typeface="Arial Narrow"/>
                <a:cs typeface="Arial"/>
              </a:rPr>
              <a:t>May 5,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4 </a:t>
            </a:r>
            <a:r>
              <a:rPr lang="en-US" sz="1600">
                <a:latin typeface="Arial Narrow"/>
                <a:cs typeface="Arial"/>
              </a:rPr>
              <a:t xml:space="preserve">– Positioning VUL and Market Wealth Plus: </a:t>
            </a:r>
            <a:r>
              <a:rPr lang="en-US" sz="1600" b="1">
                <a:latin typeface="Arial Narrow"/>
                <a:cs typeface="Arial"/>
              </a:rPr>
              <a:t>May 12,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5 </a:t>
            </a:r>
            <a:r>
              <a:rPr lang="en-US" sz="1600">
                <a:latin typeface="Arial Narrow"/>
                <a:cs typeface="Arial"/>
              </a:rPr>
              <a:t xml:space="preserve">– Positioning </a:t>
            </a:r>
            <a:r>
              <a:rPr lang="en-US" sz="1600" err="1">
                <a:latin typeface="Arial Narrow"/>
                <a:cs typeface="Arial"/>
              </a:rPr>
              <a:t>IndexFlex</a:t>
            </a:r>
            <a:r>
              <a:rPr lang="en-US" sz="1600">
                <a:latin typeface="Arial Narrow"/>
                <a:cs typeface="Arial"/>
              </a:rPr>
              <a:t xml:space="preserve">: </a:t>
            </a:r>
            <a:r>
              <a:rPr lang="en-US" sz="1600" b="1">
                <a:latin typeface="Arial Narrow"/>
                <a:cs typeface="Arial"/>
              </a:rPr>
              <a:t>May 19,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6 </a:t>
            </a:r>
            <a:r>
              <a:rPr lang="en-US" sz="1600">
                <a:latin typeface="Arial Narrow"/>
                <a:cs typeface="Arial"/>
              </a:rPr>
              <a:t xml:space="preserve">– Working in the Rollover Market: </a:t>
            </a:r>
            <a:r>
              <a:rPr lang="en-US" sz="1600" b="1">
                <a:latin typeface="Arial Narrow"/>
                <a:cs typeface="Arial"/>
              </a:rPr>
              <a:t>May 26,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7 </a:t>
            </a:r>
            <a:r>
              <a:rPr lang="en-US" sz="1600">
                <a:latin typeface="Arial Narrow"/>
                <a:cs typeface="Arial"/>
              </a:rPr>
              <a:t xml:space="preserve">– Understanding IRA Opportunities: </a:t>
            </a:r>
            <a:r>
              <a:rPr lang="en-US" sz="1600" b="1">
                <a:latin typeface="Arial Narrow"/>
                <a:cs typeface="Arial"/>
              </a:rPr>
              <a:t>June 2,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8 </a:t>
            </a:r>
            <a:r>
              <a:rPr lang="en-US" sz="1600">
                <a:latin typeface="Arial Narrow"/>
                <a:cs typeface="Arial"/>
              </a:rPr>
              <a:t xml:space="preserve">– Annuity New Business and Suitability: </a:t>
            </a:r>
            <a:r>
              <a:rPr lang="en-US" sz="1600" b="1">
                <a:latin typeface="Arial Narrow"/>
                <a:cs typeface="Arial"/>
              </a:rPr>
              <a:t>June 9,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9 </a:t>
            </a:r>
            <a:r>
              <a:rPr lang="en-US" sz="1600">
                <a:latin typeface="Arial Narrow"/>
                <a:cs typeface="Arial"/>
              </a:rPr>
              <a:t xml:space="preserve">– Small Business Solutions: </a:t>
            </a:r>
            <a:r>
              <a:rPr lang="en-US" sz="1600" b="1">
                <a:latin typeface="Arial Narrow"/>
                <a:cs typeface="Arial"/>
              </a:rPr>
              <a:t>June 16,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10 </a:t>
            </a:r>
            <a:r>
              <a:rPr lang="en-US" sz="1600">
                <a:latin typeface="Arial Narrow"/>
                <a:cs typeface="Arial"/>
              </a:rPr>
              <a:t xml:space="preserve">– Benefits of College 529’s: </a:t>
            </a:r>
            <a:r>
              <a:rPr lang="en-US" sz="1600" b="1">
                <a:latin typeface="Arial Narrow"/>
                <a:cs typeface="Arial"/>
              </a:rPr>
              <a:t>June 23, 2026</a:t>
            </a:r>
            <a:r>
              <a:rPr lang="en-US" sz="1600">
                <a:latin typeface="Arial Narrow"/>
                <a:cs typeface="Arial"/>
              </a:rPr>
              <a:t xml:space="preserve"> </a:t>
            </a:r>
          </a:p>
          <a:p>
            <a:pPr marL="0" indent="0">
              <a:spcBef>
                <a:spcPts val="0"/>
              </a:spcBef>
              <a:spcAft>
                <a:spcPts val="1200"/>
              </a:spcAft>
              <a:buNone/>
              <a:tabLst>
                <a:tab pos="1090613" algn="l"/>
              </a:tabLst>
            </a:pPr>
            <a:r>
              <a:rPr lang="en-US" sz="1600" b="1">
                <a:latin typeface="Arial Narrow"/>
                <a:cs typeface="Arial"/>
              </a:rPr>
              <a:t xml:space="preserve">Session 11 </a:t>
            </a:r>
            <a:r>
              <a:rPr lang="en-US" sz="1600">
                <a:latin typeface="Arial Narrow"/>
                <a:cs typeface="Arial"/>
              </a:rPr>
              <a:t xml:space="preserve">– Morningstar: Researching Funds: </a:t>
            </a:r>
            <a:r>
              <a:rPr lang="en-US" sz="1600" b="1">
                <a:latin typeface="Arial Narrow"/>
                <a:cs typeface="Arial"/>
              </a:rPr>
              <a:t>June 30, 2026</a:t>
            </a:r>
            <a:endParaRPr lang="en-US" sz="1600">
              <a:latin typeface="Arial Narrow"/>
              <a:cs typeface="Arial"/>
            </a:endParaRPr>
          </a:p>
        </p:txBody>
      </p:sp>
      <p:sp>
        <p:nvSpPr>
          <p:cNvPr id="10" name="TextBox 9">
            <a:extLst>
              <a:ext uri="{FF2B5EF4-FFF2-40B4-BE49-F238E27FC236}">
                <a16:creationId xmlns:a16="http://schemas.microsoft.com/office/drawing/2014/main" id="{07D0EA06-45BF-8664-6D85-2DC604E09A67}"/>
              </a:ext>
            </a:extLst>
          </p:cNvPr>
          <p:cNvSpPr txBox="1"/>
          <p:nvPr/>
        </p:nvSpPr>
        <p:spPr>
          <a:xfrm>
            <a:off x="7916262" y="3913844"/>
            <a:ext cx="2031238" cy="1826141"/>
          </a:xfrm>
          <a:prstGeom prst="rect">
            <a:avLst/>
          </a:prstGeom>
          <a:noFill/>
        </p:spPr>
        <p:txBody>
          <a:bodyPr wrap="square" lIns="0" tIns="0" rIns="0" bIns="0" rtlCol="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8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a:ea typeface="Geneva"/>
                <a:cs typeface="Arial"/>
              </a:rPr>
              <a:t>Register today to ensure prompt access to these highly anticipated events.</a:t>
            </a:r>
          </a:p>
          <a:p>
            <a:pPr marL="0" lvl="1" defTabSz="1219080">
              <a:spcAft>
                <a:spcPts val="800"/>
              </a:spcAft>
              <a:defRPr/>
            </a:pPr>
            <a:r>
              <a:rPr kumimoji="0" lang="en-US" sz="1600" b="1" i="0" u="none" strike="noStrike" kern="1200" cap="none" spc="0" normalizeH="0" baseline="0" noProof="0">
                <a:ln>
                  <a:noFill/>
                </a:ln>
                <a:solidFill>
                  <a:srgbClr val="000962"/>
                </a:solidFill>
                <a:effectLst/>
                <a:uLnTx/>
                <a:uFillTx/>
                <a:latin typeface="Arial"/>
                <a:ea typeface="Geneva"/>
                <a:cs typeface="Arial"/>
              </a:rPr>
              <a:t xml:space="preserve">Events start at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lang="en-US" sz="1600" b="1">
                <a:solidFill>
                  <a:srgbClr val="000962"/>
                </a:solidFill>
                <a:latin typeface="Arial"/>
                <a:ea typeface="Geneva"/>
                <a:cs typeface="Arial"/>
              </a:rPr>
              <a:t>3 pm</a:t>
            </a:r>
            <a:r>
              <a:rPr kumimoji="0" lang="en-US" sz="1600" b="1" i="0" u="none" strike="noStrike" kern="1200" cap="none" spc="0" normalizeH="0" baseline="0" noProof="0">
                <a:ln>
                  <a:noFill/>
                </a:ln>
                <a:solidFill>
                  <a:srgbClr val="000962"/>
                </a:solidFill>
                <a:effectLst/>
                <a:uLnTx/>
                <a:uFillTx/>
                <a:latin typeface="Arial"/>
                <a:ea typeface="Geneva"/>
                <a:cs typeface="Arial"/>
              </a:rPr>
              <a:t xml:space="preserve"> </a:t>
            </a:r>
            <a:r>
              <a:rPr lang="en-US" sz="1600" b="1">
                <a:solidFill>
                  <a:srgbClr val="000962"/>
                </a:solidFill>
                <a:latin typeface="Arial"/>
                <a:ea typeface="Geneva"/>
                <a:cs typeface="Arial"/>
              </a:rPr>
              <a:t>ET</a:t>
            </a:r>
            <a:r>
              <a:rPr kumimoji="0" lang="en-US" sz="1600" b="1" i="0" u="none" strike="noStrike" kern="1200" cap="none" spc="0" normalizeH="0" baseline="0" noProof="0">
                <a:ln>
                  <a:noFill/>
                </a:ln>
                <a:solidFill>
                  <a:srgbClr val="000962"/>
                </a:solidFill>
                <a:effectLst/>
                <a:uLnTx/>
                <a:uFillTx/>
                <a:latin typeface="Arial"/>
                <a:ea typeface="Geneva"/>
                <a:cs typeface="Arial"/>
              </a:rPr>
              <a:t xml:space="preserve"> and run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60 minutes.</a:t>
            </a:r>
            <a:endParaRPr lang="en-US" sz="1600" b="1" i="0" u="none" strike="noStrike" kern="1200" cap="none" spc="0" normalizeH="0" baseline="0" noProof="0">
              <a:ln>
                <a:noFill/>
              </a:ln>
              <a:solidFill>
                <a:srgbClr val="000962"/>
              </a:solidFill>
              <a:effectLst/>
              <a:uLnTx/>
              <a:uFillTx/>
              <a:latin typeface="Arial"/>
              <a:ea typeface="Geneva"/>
              <a:cs typeface="Arial"/>
            </a:endParaRPr>
          </a:p>
        </p:txBody>
      </p:sp>
      <p:sp>
        <p:nvSpPr>
          <p:cNvPr id="11" name="TextBox 10">
            <a:extLst>
              <a:ext uri="{FF2B5EF4-FFF2-40B4-BE49-F238E27FC236}">
                <a16:creationId xmlns:a16="http://schemas.microsoft.com/office/drawing/2014/main" id="{6B18121B-374A-2A53-8491-5A93B12181B7}"/>
              </a:ext>
            </a:extLst>
          </p:cNvPr>
          <p:cNvSpPr txBox="1"/>
          <p:nvPr/>
        </p:nvSpPr>
        <p:spPr>
          <a:xfrm>
            <a:off x="7916261" y="2500329"/>
            <a:ext cx="4025191" cy="1292662"/>
          </a:xfrm>
          <a:prstGeom prst="rect">
            <a:avLst/>
          </a:prstGeom>
          <a:noFill/>
        </p:spPr>
        <p:txBody>
          <a:bodyPr wrap="square" lIns="0" tIns="0" rIns="0" bIns="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indent="-257175" defTabSz="1219110">
              <a:spcAft>
                <a:spcPts val="800"/>
              </a:spcAft>
              <a:buFont typeface="Wingdings" panose="05000000000000000000" pitchFamily="2" charset="2"/>
              <a:buChar char="ü"/>
              <a:defRPr/>
            </a:pPr>
            <a:r>
              <a:rPr kumimoji="0" lang="en-US" sz="1600" b="1" i="0" u="none" strike="noStrike" kern="1200" cap="none" spc="0" normalizeH="0" baseline="0" noProof="0">
                <a:ln>
                  <a:noFill/>
                </a:ln>
                <a:solidFill>
                  <a:srgbClr val="000962"/>
                </a:solidFill>
                <a:effectLst/>
                <a:uLnTx/>
                <a:uFillTx/>
                <a:latin typeface="Arial Narrow"/>
                <a:ea typeface="Geneva"/>
                <a:cs typeface="Arial"/>
              </a:rPr>
              <a:t xml:space="preserve">11-part quarterly series - Tuesdays at </a:t>
            </a:r>
            <a:r>
              <a:rPr lang="en-US" sz="1600" b="1">
                <a:solidFill>
                  <a:srgbClr val="000962"/>
                </a:solidFill>
                <a:latin typeface="Arial Narrow"/>
                <a:ea typeface="Geneva"/>
                <a:cs typeface="Arial"/>
              </a:rPr>
              <a:t>3 pm</a:t>
            </a:r>
            <a:r>
              <a:rPr kumimoji="0" lang="en-US" sz="1600" b="1" i="0" u="none" strike="noStrike" kern="1200" cap="none" spc="0" normalizeH="0" baseline="0" noProof="0">
                <a:ln>
                  <a:noFill/>
                </a:ln>
                <a:solidFill>
                  <a:srgbClr val="000962"/>
                </a:solidFill>
                <a:effectLst/>
                <a:uLnTx/>
                <a:uFillTx/>
                <a:latin typeface="Arial Narrow"/>
                <a:ea typeface="Geneva"/>
                <a:cs typeface="Arial"/>
              </a:rPr>
              <a:t xml:space="preserve"> </a:t>
            </a:r>
            <a:r>
              <a:rPr lang="en-US" sz="1600" b="1">
                <a:solidFill>
                  <a:srgbClr val="000962"/>
                </a:solidFill>
                <a:latin typeface="Arial Narrow"/>
                <a:ea typeface="Geneva"/>
                <a:cs typeface="Arial"/>
              </a:rPr>
              <a:t>ET</a:t>
            </a:r>
            <a:endPar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endParaRP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12" name="TextBox 11">
            <a:extLst>
              <a:ext uri="{FF2B5EF4-FFF2-40B4-BE49-F238E27FC236}">
                <a16:creationId xmlns:a16="http://schemas.microsoft.com/office/drawing/2014/main" id="{E21720A2-D269-317A-46C6-E8EEC273D5EC}"/>
              </a:ext>
            </a:extLst>
          </p:cNvPr>
          <p:cNvSpPr txBox="1"/>
          <p:nvPr/>
        </p:nvSpPr>
        <p:spPr>
          <a:xfrm>
            <a:off x="7916261" y="1614632"/>
            <a:ext cx="3963156"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 xml:space="preserve">Strengthening </a:t>
            </a:r>
            <a:b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b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the foundation</a:t>
            </a:r>
          </a:p>
        </p:txBody>
      </p:sp>
      <p:pic>
        <p:nvPicPr>
          <p:cNvPr id="13" name="Picture 12">
            <a:extLst>
              <a:ext uri="{FF2B5EF4-FFF2-40B4-BE49-F238E27FC236}">
                <a16:creationId xmlns:a16="http://schemas.microsoft.com/office/drawing/2014/main" id="{29D6FF6F-D13D-E0F1-0C5A-A2FE2F7F3678}"/>
              </a:ext>
            </a:extLst>
          </p:cNvPr>
          <p:cNvPicPr>
            <a:picLocks noChangeAspect="1"/>
          </p:cNvPicPr>
          <p:nvPr/>
        </p:nvPicPr>
        <p:blipFill>
          <a:blip r:embed="rId3" cstate="print">
            <a:extLst>
              <a:ext uri="{28A0092B-C50C-407E-A947-70E740481C1C}">
                <a14:useLocalDpi xmlns:a14="http://schemas.microsoft.com/office/drawing/2010/main" val="0"/>
              </a:ext>
            </a:extLst>
          </a:blip>
          <a:srcRect l="478" r="478"/>
          <a:stretch/>
        </p:blipFill>
        <p:spPr>
          <a:xfrm>
            <a:off x="10262268" y="3980663"/>
            <a:ext cx="1499883" cy="1514360"/>
          </a:xfrm>
          <a:prstGeom prst="roundRect">
            <a:avLst>
              <a:gd name="adj" fmla="val 0"/>
            </a:avLst>
          </a:prstGeom>
        </p:spPr>
      </p:pic>
      <p:sp>
        <p:nvSpPr>
          <p:cNvPr id="17" name="Oval 16">
            <a:extLst>
              <a:ext uri="{FF2B5EF4-FFF2-40B4-BE49-F238E27FC236}">
                <a16:creationId xmlns:a16="http://schemas.microsoft.com/office/drawing/2014/main" id="{FC35ABFE-4886-AE56-E646-D3094AAD5E57}"/>
              </a:ext>
            </a:extLst>
          </p:cNvPr>
          <p:cNvSpPr/>
          <p:nvPr/>
        </p:nvSpPr>
        <p:spPr>
          <a:xfrm>
            <a:off x="9794432" y="177592"/>
            <a:ext cx="2241712" cy="224171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16" name="Picture 15" descr="A blue and white circle with a briefcase and pen  AI-generated content may be incorrect.">
            <a:extLst>
              <a:ext uri="{FF2B5EF4-FFF2-40B4-BE49-F238E27FC236}">
                <a16:creationId xmlns:a16="http://schemas.microsoft.com/office/drawing/2014/main" id="{36C9354E-7555-3A26-29C4-04AC0DDCB1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79582" y="262742"/>
            <a:ext cx="2071412" cy="2071412"/>
          </a:xfrm>
          <a:prstGeom prst="rect">
            <a:avLst/>
          </a:prstGeom>
        </p:spPr>
      </p:pic>
      <p:cxnSp>
        <p:nvCxnSpPr>
          <p:cNvPr id="19" name="Straight Connector 18">
            <a:extLst>
              <a:ext uri="{FF2B5EF4-FFF2-40B4-BE49-F238E27FC236}">
                <a16:creationId xmlns:a16="http://schemas.microsoft.com/office/drawing/2014/main" id="{81B25E50-353B-C00D-9DE8-9DD059B4E1A6}"/>
              </a:ext>
            </a:extLst>
          </p:cNvPr>
          <p:cNvCxnSpPr>
            <a:cxnSpLocks/>
          </p:cNvCxnSpPr>
          <p:nvPr/>
        </p:nvCxnSpPr>
        <p:spPr>
          <a:xfrm>
            <a:off x="833570" y="1776676"/>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ED8B11B-CDD6-2F09-F357-C906B9A47927}"/>
              </a:ext>
            </a:extLst>
          </p:cNvPr>
          <p:cNvCxnSpPr>
            <a:cxnSpLocks/>
          </p:cNvCxnSpPr>
          <p:nvPr/>
        </p:nvCxnSpPr>
        <p:spPr>
          <a:xfrm>
            <a:off x="833570" y="2170218"/>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C0BF77D-DBD8-7EB2-1688-2A46ABB03E38}"/>
              </a:ext>
            </a:extLst>
          </p:cNvPr>
          <p:cNvCxnSpPr>
            <a:cxnSpLocks/>
          </p:cNvCxnSpPr>
          <p:nvPr/>
        </p:nvCxnSpPr>
        <p:spPr>
          <a:xfrm>
            <a:off x="833570" y="2563953"/>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917DAD5-4476-CF90-F00C-92F362BAE2C1}"/>
              </a:ext>
            </a:extLst>
          </p:cNvPr>
          <p:cNvCxnSpPr>
            <a:cxnSpLocks/>
          </p:cNvCxnSpPr>
          <p:nvPr/>
        </p:nvCxnSpPr>
        <p:spPr>
          <a:xfrm>
            <a:off x="833570" y="2969064"/>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AB2E2BD-2F27-D778-A672-A26F80BF7CF7}"/>
              </a:ext>
            </a:extLst>
          </p:cNvPr>
          <p:cNvCxnSpPr>
            <a:cxnSpLocks/>
          </p:cNvCxnSpPr>
          <p:nvPr/>
        </p:nvCxnSpPr>
        <p:spPr>
          <a:xfrm>
            <a:off x="833570" y="3359550"/>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362016D-CFBE-3862-EF94-EBC561547017}"/>
              </a:ext>
            </a:extLst>
          </p:cNvPr>
          <p:cNvCxnSpPr>
            <a:cxnSpLocks/>
          </p:cNvCxnSpPr>
          <p:nvPr/>
        </p:nvCxnSpPr>
        <p:spPr>
          <a:xfrm>
            <a:off x="833570" y="3749583"/>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A11ED30-B02E-8514-BC25-59960CB71FDB}"/>
              </a:ext>
            </a:extLst>
          </p:cNvPr>
          <p:cNvCxnSpPr>
            <a:cxnSpLocks/>
          </p:cNvCxnSpPr>
          <p:nvPr/>
        </p:nvCxnSpPr>
        <p:spPr>
          <a:xfrm>
            <a:off x="833570" y="4143117"/>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C796F8A-0010-2DDE-20B6-5F76C9FEC6CD}"/>
              </a:ext>
            </a:extLst>
          </p:cNvPr>
          <p:cNvCxnSpPr>
            <a:cxnSpLocks/>
          </p:cNvCxnSpPr>
          <p:nvPr/>
        </p:nvCxnSpPr>
        <p:spPr>
          <a:xfrm>
            <a:off x="833570" y="4536655"/>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5402497-37FE-413C-68D5-4FF236F78786}"/>
              </a:ext>
            </a:extLst>
          </p:cNvPr>
          <p:cNvCxnSpPr>
            <a:cxnSpLocks/>
          </p:cNvCxnSpPr>
          <p:nvPr/>
        </p:nvCxnSpPr>
        <p:spPr>
          <a:xfrm>
            <a:off x="833570" y="4930193"/>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6171E9F-5A20-D9CC-0868-748E26D0D562}"/>
              </a:ext>
            </a:extLst>
          </p:cNvPr>
          <p:cNvCxnSpPr>
            <a:cxnSpLocks/>
          </p:cNvCxnSpPr>
          <p:nvPr/>
        </p:nvCxnSpPr>
        <p:spPr>
          <a:xfrm>
            <a:off x="833570" y="5323732"/>
            <a:ext cx="6675120" cy="0"/>
          </a:xfrm>
          <a:prstGeom prst="line">
            <a:avLst/>
          </a:prstGeom>
          <a:ln w="63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4909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6B042-B14C-67EB-80B6-5AA941A687F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60078ED-076E-30F3-F322-A0659EF5207B}"/>
              </a:ext>
            </a:extLst>
          </p:cNvPr>
          <p:cNvSpPr/>
          <p:nvPr/>
        </p:nvSpPr>
        <p:spPr>
          <a:xfrm>
            <a:off x="0" y="1254904"/>
            <a:ext cx="12192000" cy="4691517"/>
          </a:xfrm>
          <a:prstGeom prst="rect">
            <a:avLst/>
          </a:prstGeom>
          <a:solidFill>
            <a:schemeClr val="bg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6" name="Title 5">
            <a:extLst>
              <a:ext uri="{FF2B5EF4-FFF2-40B4-BE49-F238E27FC236}">
                <a16:creationId xmlns:a16="http://schemas.microsoft.com/office/drawing/2014/main" id="{33AA0519-7027-485D-4227-8ED6A58D1C04}"/>
              </a:ext>
            </a:extLst>
          </p:cNvPr>
          <p:cNvSpPr>
            <a:spLocks noGrp="1"/>
          </p:cNvSpPr>
          <p:nvPr>
            <p:ph type="title"/>
          </p:nvPr>
        </p:nvSpPr>
        <p:spPr/>
        <p:txBody>
          <a:bodyPr/>
          <a:lstStyle/>
          <a:p>
            <a:r>
              <a:rPr lang="en-US" altLang="en-US" sz="3600"/>
              <a:t>Lifetime Mutual Income (LMI)</a:t>
            </a:r>
            <a:endParaRPr lang="en-US" sz="3600"/>
          </a:p>
        </p:txBody>
      </p:sp>
      <p:sp>
        <p:nvSpPr>
          <p:cNvPr id="2" name="Text Placeholder 35">
            <a:extLst>
              <a:ext uri="{FF2B5EF4-FFF2-40B4-BE49-F238E27FC236}">
                <a16:creationId xmlns:a16="http://schemas.microsoft.com/office/drawing/2014/main" id="{41446F10-271F-6F50-8CA9-313C4357DE7D}"/>
              </a:ext>
            </a:extLst>
          </p:cNvPr>
          <p:cNvSpPr>
            <a:spLocks noGrp="1"/>
          </p:cNvSpPr>
          <p:nvPr>
            <p:ph type="body" sz="quarter" idx="4294967295"/>
          </p:nvPr>
        </p:nvSpPr>
        <p:spPr>
          <a:xfrm>
            <a:off x="626269" y="1369564"/>
            <a:ext cx="5076029" cy="847238"/>
          </a:xfrm>
          <a:solidFill>
            <a:srgbClr val="A5EFBF"/>
          </a:solidFill>
        </p:spPr>
        <p:txBody>
          <a:bodyPr lIns="182880" tIns="91440" rIns="91440" bIns="91440" anchor="ctr" anchorCtr="0"/>
          <a:lstStyle/>
          <a:p>
            <a:pPr marL="0" indent="0">
              <a:buNone/>
            </a:pPr>
            <a:r>
              <a:rPr lang="en-US" sz="2000" dirty="0"/>
              <a:t xml:space="preserve">Introducing the </a:t>
            </a:r>
            <a:r>
              <a:rPr lang="en-US" sz="2000" b="1" dirty="0"/>
              <a:t xml:space="preserve">Enhanced Early Income </a:t>
            </a:r>
            <a:r>
              <a:rPr lang="en-US" sz="2000" dirty="0"/>
              <a:t xml:space="preserve">feature - </a:t>
            </a:r>
            <a:r>
              <a:rPr lang="en-US" sz="2000" b="1" dirty="0"/>
              <a:t xml:space="preserve">Effective March 23 </a:t>
            </a:r>
          </a:p>
        </p:txBody>
      </p:sp>
      <p:sp>
        <p:nvSpPr>
          <p:cNvPr id="3" name="TextBox 2">
            <a:extLst>
              <a:ext uri="{FF2B5EF4-FFF2-40B4-BE49-F238E27FC236}">
                <a16:creationId xmlns:a16="http://schemas.microsoft.com/office/drawing/2014/main" id="{0BB56DB8-D59D-8B4A-07B3-236DA5A0E2B8}"/>
              </a:ext>
            </a:extLst>
          </p:cNvPr>
          <p:cNvSpPr txBox="1">
            <a:spLocks/>
          </p:cNvSpPr>
          <p:nvPr/>
        </p:nvSpPr>
        <p:spPr>
          <a:xfrm>
            <a:off x="599518" y="2477309"/>
            <a:ext cx="5102782" cy="3241079"/>
          </a:xfrm>
          <a:prstGeom prst="rect">
            <a:avLst/>
          </a:prstGeom>
          <a:noFill/>
        </p:spPr>
        <p:txBody>
          <a:bodyPr wrap="square" lIns="0" tIns="0" rIns="0" bIns="0">
            <a:noAutofit/>
          </a:bodyPr>
          <a:lstStyle/>
          <a:p>
            <a:pPr marL="0" marR="0" lvl="0" indent="0" algn="l" defTabSz="651917" rtl="0" eaLnBrk="1" fontAlgn="base"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 xml:space="preserve">What Enhanced Early Income means for </a:t>
            </a:r>
          </a:p>
          <a:p>
            <a:pPr marL="0" marR="0" lvl="0" indent="0" algn="l" defTabSz="651917" rtl="0" eaLnBrk="1" fontAlgn="base"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your clients:</a:t>
            </a:r>
          </a:p>
          <a:p>
            <a:pPr marL="304792" marR="0" lvl="0" indent="-304792" algn="l" defTabSz="121917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A62"/>
                </a:solidFill>
                <a:effectLst/>
                <a:uLnTx/>
                <a:uFillTx/>
                <a:latin typeface="Georgia" panose="02040502050405020303"/>
                <a:ea typeface="Geneva" pitchFamily="-109" charset="-128"/>
                <a:cs typeface="+mn-cs"/>
              </a:rPr>
              <a:t>Delivers higher, fully guaranteed monthly income in the first year, starting in month one</a:t>
            </a:r>
          </a:p>
          <a:p>
            <a:pPr marL="304792" marR="0" lvl="0" indent="-304792" algn="l" defTabSz="121917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A62"/>
                </a:solidFill>
                <a:effectLst/>
                <a:uLnTx/>
                <a:uFillTx/>
                <a:latin typeface="Georgia" panose="02040502050405020303"/>
                <a:ea typeface="Geneva" pitchFamily="-109" charset="-128"/>
                <a:cs typeface="+mn-cs"/>
              </a:rPr>
              <a:t>Offsets the lower first‑year income that results from no dividend being paid in policy year one</a:t>
            </a:r>
          </a:p>
          <a:p>
            <a:pPr marL="304792" marR="0" lvl="0" indent="-304792" algn="l" defTabSz="121917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800" b="0" i="0" u="none" strike="noStrike" kern="0" cap="none" spc="0" normalizeH="0" baseline="0" noProof="0">
                <a:ln>
                  <a:noFill/>
                </a:ln>
                <a:solidFill>
                  <a:srgbClr val="000A62"/>
                </a:solidFill>
                <a:effectLst/>
                <a:uLnTx/>
                <a:uFillTx/>
                <a:latin typeface="Georgia" panose="02040502050405020303"/>
                <a:ea typeface="Geneva" pitchFamily="-109" charset="-128"/>
                <a:cs typeface="+mn-cs"/>
              </a:rPr>
              <a:t>Provides a first‑year income boost that makes LMI more attractive than—and directly comparable to—GLI, starting in month one.</a:t>
            </a:r>
          </a:p>
        </p:txBody>
      </p:sp>
      <p:sp>
        <p:nvSpPr>
          <p:cNvPr id="5" name="Rectangle 4">
            <a:extLst>
              <a:ext uri="{FF2B5EF4-FFF2-40B4-BE49-F238E27FC236}">
                <a16:creationId xmlns:a16="http://schemas.microsoft.com/office/drawing/2014/main" id="{36C76CEA-5A76-5CB1-9F22-F427C90F201C}"/>
              </a:ext>
            </a:extLst>
          </p:cNvPr>
          <p:cNvSpPr/>
          <p:nvPr/>
        </p:nvSpPr>
        <p:spPr>
          <a:xfrm>
            <a:off x="626269" y="5454911"/>
            <a:ext cx="11023959" cy="369332"/>
          </a:xfrm>
          <a:prstGeom prst="rect">
            <a:avLst/>
          </a:prstGeom>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4D4D4D"/>
                </a:solidFill>
                <a:effectLst/>
                <a:uLnTx/>
                <a:uFillTx/>
                <a:latin typeface="Georgia" panose="02040502050405020303"/>
                <a:ea typeface="Geneva" pitchFamily="-109" charset="-128"/>
                <a:cs typeface="+mn-cs"/>
              </a:rPr>
              <a:t>The graphics above are intended to help you understand the interplay between the guaranteed income and potential dividends from the Lifetime Mutual Income Annuity. It is not intended to suggest actual payment amounts or ratios between guaranteed income and dividends, or future expected dividend payments. Dividends may not always be declared and dividend rates can fluctuate from year to year. For more information about the income you may receive, request a personalized illustration.</a:t>
            </a:r>
          </a:p>
        </p:txBody>
      </p:sp>
      <p:sp>
        <p:nvSpPr>
          <p:cNvPr id="8" name="Rectangle 7">
            <a:extLst>
              <a:ext uri="{FF2B5EF4-FFF2-40B4-BE49-F238E27FC236}">
                <a16:creationId xmlns:a16="http://schemas.microsoft.com/office/drawing/2014/main" id="{5A39DE5A-3031-0CAB-9E1A-14A816698CF3}"/>
              </a:ext>
            </a:extLst>
          </p:cNvPr>
          <p:cNvSpPr/>
          <p:nvPr/>
        </p:nvSpPr>
        <p:spPr>
          <a:xfrm>
            <a:off x="6266772" y="4589698"/>
            <a:ext cx="965008" cy="169277"/>
          </a:xfrm>
          <a:prstGeom prst="rect">
            <a:avLst/>
          </a:prstGeom>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962"/>
                </a:solidFill>
                <a:effectLst/>
                <a:uLnTx/>
                <a:uFillTx/>
                <a:latin typeface="Georgia" panose="02040502050405020303"/>
                <a:ea typeface="Geneva" pitchFamily="-109" charset="-128"/>
                <a:cs typeface="+mn-cs"/>
              </a:rPr>
              <a:t>Purchase year</a:t>
            </a:r>
          </a:p>
        </p:txBody>
      </p:sp>
      <p:sp>
        <p:nvSpPr>
          <p:cNvPr id="9" name="Rectangle 8">
            <a:extLst>
              <a:ext uri="{FF2B5EF4-FFF2-40B4-BE49-F238E27FC236}">
                <a16:creationId xmlns:a16="http://schemas.microsoft.com/office/drawing/2014/main" id="{9A709BD6-6703-E1AB-5F9A-B398B9640A3E}"/>
              </a:ext>
            </a:extLst>
          </p:cNvPr>
          <p:cNvSpPr/>
          <p:nvPr/>
        </p:nvSpPr>
        <p:spPr>
          <a:xfrm>
            <a:off x="9661025" y="4589698"/>
            <a:ext cx="1780937" cy="169277"/>
          </a:xfrm>
          <a:prstGeom prst="rect">
            <a:avLst/>
          </a:prstGeom>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962"/>
                </a:solidFill>
                <a:effectLst/>
                <a:uLnTx/>
                <a:uFillTx/>
                <a:latin typeface="Georgia" panose="02040502050405020303"/>
                <a:ea typeface="Geneva" pitchFamily="-109" charset="-128"/>
                <a:cs typeface="+mn-cs"/>
              </a:rPr>
              <a:t>Income continues for life...</a:t>
            </a:r>
          </a:p>
        </p:txBody>
      </p:sp>
      <p:sp>
        <p:nvSpPr>
          <p:cNvPr id="11" name="Rectangle 10">
            <a:extLst>
              <a:ext uri="{FF2B5EF4-FFF2-40B4-BE49-F238E27FC236}">
                <a16:creationId xmlns:a16="http://schemas.microsoft.com/office/drawing/2014/main" id="{8B802591-ADC7-4708-07B6-FE198EE9E9A3}"/>
              </a:ext>
            </a:extLst>
          </p:cNvPr>
          <p:cNvSpPr/>
          <p:nvPr/>
        </p:nvSpPr>
        <p:spPr>
          <a:xfrm>
            <a:off x="5977389" y="2273663"/>
            <a:ext cx="289984" cy="2383699"/>
          </a:xfrm>
          <a:prstGeom prst="rect">
            <a:avLst/>
          </a:prstGeom>
        </p:spPr>
        <p:txBody>
          <a:bodyPr vert="vert270" wrap="square" lIns="0" tIns="0" rIns="0" bIns="0">
            <a:no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Total annual income</a:t>
            </a:r>
          </a:p>
        </p:txBody>
      </p:sp>
      <p:sp>
        <p:nvSpPr>
          <p:cNvPr id="17" name="Rectangle 16">
            <a:extLst>
              <a:ext uri="{FF2B5EF4-FFF2-40B4-BE49-F238E27FC236}">
                <a16:creationId xmlns:a16="http://schemas.microsoft.com/office/drawing/2014/main" id="{B9CA1F6A-FC1D-78C5-54FE-F39823F4A5DE}"/>
              </a:ext>
            </a:extLst>
          </p:cNvPr>
          <p:cNvSpPr/>
          <p:nvPr/>
        </p:nvSpPr>
        <p:spPr>
          <a:xfrm>
            <a:off x="6328923" y="4371845"/>
            <a:ext cx="335028" cy="164212"/>
          </a:xfrm>
          <a:prstGeom prst="rect">
            <a:avLst/>
          </a:prstGeom>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067" b="0" i="0" u="none" strike="noStrike" kern="1200" cap="none" spc="0" normalizeH="0" baseline="0" noProof="0">
                <a:ln>
                  <a:noFill/>
                </a:ln>
                <a:solidFill>
                  <a:srgbClr val="000000"/>
                </a:solidFill>
                <a:effectLst/>
                <a:uLnTx/>
                <a:uFillTx/>
                <a:latin typeface="Effra Pro" panose="020B0603020203020204" pitchFamily="34" charset="0"/>
                <a:ea typeface="Geneva" pitchFamily="-109" charset="-128"/>
                <a:cs typeface="+mn-cs"/>
              </a:rPr>
              <a:t>Years</a:t>
            </a:r>
          </a:p>
        </p:txBody>
      </p:sp>
      <p:sp>
        <p:nvSpPr>
          <p:cNvPr id="4" name="Rectangle 3">
            <a:extLst>
              <a:ext uri="{FF2B5EF4-FFF2-40B4-BE49-F238E27FC236}">
                <a16:creationId xmlns:a16="http://schemas.microsoft.com/office/drawing/2014/main" id="{A327C419-FAC2-D112-FB9F-A5FCFCAADB10}"/>
              </a:ext>
            </a:extLst>
          </p:cNvPr>
          <p:cNvSpPr/>
          <p:nvPr/>
        </p:nvSpPr>
        <p:spPr>
          <a:xfrm>
            <a:off x="6207135" y="1369562"/>
            <a:ext cx="1041158" cy="677108"/>
          </a:xfrm>
          <a:prstGeom prst="rect">
            <a:avLst/>
          </a:prstGeom>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Higher guaranteed monthly income in year one</a:t>
            </a:r>
          </a:p>
        </p:txBody>
      </p:sp>
      <p:cxnSp>
        <p:nvCxnSpPr>
          <p:cNvPr id="18" name="Straight Connector 17">
            <a:extLst>
              <a:ext uri="{FF2B5EF4-FFF2-40B4-BE49-F238E27FC236}">
                <a16:creationId xmlns:a16="http://schemas.microsoft.com/office/drawing/2014/main" id="{4E663AC9-10CA-E4D9-F485-A007AB626D13}"/>
              </a:ext>
            </a:extLst>
          </p:cNvPr>
          <p:cNvCxnSpPr>
            <a:cxnSpLocks/>
          </p:cNvCxnSpPr>
          <p:nvPr/>
        </p:nvCxnSpPr>
        <p:spPr>
          <a:xfrm>
            <a:off x="6622944" y="2124085"/>
            <a:ext cx="0" cy="56778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2458C4F-9AE2-A78A-5CFC-73CDCE83E1FF}"/>
              </a:ext>
            </a:extLst>
          </p:cNvPr>
          <p:cNvSpPr/>
          <p:nvPr/>
        </p:nvSpPr>
        <p:spPr>
          <a:xfrm>
            <a:off x="7354540" y="1369562"/>
            <a:ext cx="1532982" cy="677108"/>
          </a:xfrm>
          <a:prstGeom prst="rect">
            <a:avLst/>
          </a:prstGeom>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A small portion of the premium funds higher guaranteed income for the first six policy years</a:t>
            </a:r>
          </a:p>
        </p:txBody>
      </p:sp>
      <p:sp>
        <p:nvSpPr>
          <p:cNvPr id="23" name="Rectangle 22">
            <a:extLst>
              <a:ext uri="{FF2B5EF4-FFF2-40B4-BE49-F238E27FC236}">
                <a16:creationId xmlns:a16="http://schemas.microsoft.com/office/drawing/2014/main" id="{D63FD902-5FF6-A84C-0E4A-131B5AFE5900}"/>
              </a:ext>
            </a:extLst>
          </p:cNvPr>
          <p:cNvSpPr/>
          <p:nvPr/>
        </p:nvSpPr>
        <p:spPr>
          <a:xfrm>
            <a:off x="9475244" y="1369562"/>
            <a:ext cx="1769408" cy="677108"/>
          </a:xfrm>
          <a:prstGeom prst="rect">
            <a:avLst/>
          </a:prstGeom>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Beginning in year 7, the guaranteed income steps down slightly and then continues at that level for life</a:t>
            </a:r>
          </a:p>
        </p:txBody>
      </p:sp>
      <p:sp>
        <p:nvSpPr>
          <p:cNvPr id="28" name="Rectangle 27">
            <a:extLst>
              <a:ext uri="{FF2B5EF4-FFF2-40B4-BE49-F238E27FC236}">
                <a16:creationId xmlns:a16="http://schemas.microsoft.com/office/drawing/2014/main" id="{A2CF6739-C2D5-F2BA-6020-4433AEA21931}"/>
              </a:ext>
            </a:extLst>
          </p:cNvPr>
          <p:cNvSpPr/>
          <p:nvPr/>
        </p:nvSpPr>
        <p:spPr>
          <a:xfrm>
            <a:off x="6519161" y="5039606"/>
            <a:ext cx="2350002" cy="169277"/>
          </a:xfrm>
          <a:prstGeom prst="rect">
            <a:avLst/>
          </a:prstGeom>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Your guaranteed portion of income</a:t>
            </a:r>
          </a:p>
        </p:txBody>
      </p:sp>
      <p:sp>
        <p:nvSpPr>
          <p:cNvPr id="29" name="Rectangle 28">
            <a:extLst>
              <a:ext uri="{FF2B5EF4-FFF2-40B4-BE49-F238E27FC236}">
                <a16:creationId xmlns:a16="http://schemas.microsoft.com/office/drawing/2014/main" id="{CAC5FDF4-470D-0E32-98E3-A4FF9A3E56C6}"/>
              </a:ext>
            </a:extLst>
          </p:cNvPr>
          <p:cNvSpPr/>
          <p:nvPr/>
        </p:nvSpPr>
        <p:spPr>
          <a:xfrm>
            <a:off x="9913423" y="5039606"/>
            <a:ext cx="1776127" cy="169277"/>
          </a:xfrm>
          <a:prstGeom prst="rect">
            <a:avLst/>
          </a:prstGeom>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A62"/>
                </a:solidFill>
                <a:effectLst/>
                <a:uLnTx/>
                <a:uFillTx/>
                <a:latin typeface="Georgia" panose="02040502050405020303"/>
                <a:ea typeface="Geneva" pitchFamily="-109" charset="-128"/>
                <a:cs typeface="+mn-cs"/>
              </a:rPr>
              <a:t>Your dividend (if declared)</a:t>
            </a:r>
          </a:p>
        </p:txBody>
      </p:sp>
      <p:sp>
        <p:nvSpPr>
          <p:cNvPr id="30" name="Rectangle 29">
            <a:extLst>
              <a:ext uri="{FF2B5EF4-FFF2-40B4-BE49-F238E27FC236}">
                <a16:creationId xmlns:a16="http://schemas.microsoft.com/office/drawing/2014/main" id="{DF0E03CF-8DDB-C7B1-9EBC-D7686BE1BDB8}"/>
              </a:ext>
            </a:extLst>
          </p:cNvPr>
          <p:cNvSpPr/>
          <p:nvPr/>
        </p:nvSpPr>
        <p:spPr>
          <a:xfrm>
            <a:off x="6266772" y="5039606"/>
            <a:ext cx="174728" cy="164212"/>
          </a:xfrm>
          <a:prstGeom prst="rect">
            <a:avLst/>
          </a:prstGeom>
          <a:solidFill>
            <a:srgbClr val="0042E8"/>
          </a:solidFill>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067" b="0" i="0" u="none" strike="noStrike" kern="1200" cap="none" spc="0" normalizeH="0" baseline="0" noProof="0">
                <a:ln>
                  <a:noFill/>
                </a:ln>
                <a:solidFill>
                  <a:srgbClr val="0042E8"/>
                </a:solidFill>
                <a:effectLst/>
                <a:uLnTx/>
                <a:uFillTx/>
                <a:latin typeface="Tahoma"/>
                <a:ea typeface="Geneva" pitchFamily="-109" charset="-128"/>
                <a:cs typeface="+mn-cs"/>
              </a:rPr>
              <a:t>YO</a:t>
            </a:r>
          </a:p>
        </p:txBody>
      </p:sp>
      <p:sp>
        <p:nvSpPr>
          <p:cNvPr id="31" name="Rectangle 30">
            <a:extLst>
              <a:ext uri="{FF2B5EF4-FFF2-40B4-BE49-F238E27FC236}">
                <a16:creationId xmlns:a16="http://schemas.microsoft.com/office/drawing/2014/main" id="{3030A6F7-32CA-D9AE-5FD9-B5AA150527A6}"/>
              </a:ext>
            </a:extLst>
          </p:cNvPr>
          <p:cNvSpPr/>
          <p:nvPr/>
        </p:nvSpPr>
        <p:spPr>
          <a:xfrm>
            <a:off x="9661024" y="5039606"/>
            <a:ext cx="174728" cy="164212"/>
          </a:xfrm>
          <a:prstGeom prst="rect">
            <a:avLst/>
          </a:prstGeom>
          <a:solidFill>
            <a:srgbClr val="A5EFBF"/>
          </a:solidFill>
        </p:spPr>
        <p:txBody>
          <a:bodyPr wrap="non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067" b="0" i="0" u="none" strike="noStrike" kern="0" cap="none" spc="0" normalizeH="0" baseline="0" noProof="0">
                <a:ln>
                  <a:noFill/>
                </a:ln>
                <a:solidFill>
                  <a:srgbClr val="A5EFBF"/>
                </a:solidFill>
                <a:effectLst/>
                <a:uLnTx/>
                <a:uFillTx/>
                <a:latin typeface="Tahoma"/>
                <a:ea typeface="Geneva" pitchFamily="-109" charset="-128"/>
                <a:cs typeface="+mn-cs"/>
              </a:rPr>
              <a:t>YO</a:t>
            </a:r>
          </a:p>
        </p:txBody>
      </p:sp>
      <p:cxnSp>
        <p:nvCxnSpPr>
          <p:cNvPr id="35" name="Straight Connector 34">
            <a:extLst>
              <a:ext uri="{FF2B5EF4-FFF2-40B4-BE49-F238E27FC236}">
                <a16:creationId xmlns:a16="http://schemas.microsoft.com/office/drawing/2014/main" id="{9A7AEB87-CD99-5606-D4F2-455D5E46C043}"/>
              </a:ext>
            </a:extLst>
          </p:cNvPr>
          <p:cNvCxnSpPr>
            <a:cxnSpLocks/>
          </p:cNvCxnSpPr>
          <p:nvPr/>
        </p:nvCxnSpPr>
        <p:spPr>
          <a:xfrm>
            <a:off x="7369615" y="2124085"/>
            <a:ext cx="0" cy="71821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161667E-FE74-9423-8AA3-C63AE7B8FB29}"/>
              </a:ext>
            </a:extLst>
          </p:cNvPr>
          <p:cNvCxnSpPr>
            <a:cxnSpLocks/>
          </p:cNvCxnSpPr>
          <p:nvPr/>
        </p:nvCxnSpPr>
        <p:spPr>
          <a:xfrm>
            <a:off x="10365569" y="2124085"/>
            <a:ext cx="0" cy="763515"/>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8421A1D-306F-74C3-5DAD-52C06E2461E0}"/>
              </a:ext>
            </a:extLst>
          </p:cNvPr>
          <p:cNvSpPr/>
          <p:nvPr/>
        </p:nvSpPr>
        <p:spPr>
          <a:xfrm>
            <a:off x="6438714" y="2702888"/>
            <a:ext cx="372653" cy="1638477"/>
          </a:xfrm>
          <a:prstGeom prst="rect">
            <a:avLst/>
          </a:prstGeom>
          <a:solidFill>
            <a:srgbClr val="0042E8"/>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0" name="Rectangle 19">
            <a:extLst>
              <a:ext uri="{FF2B5EF4-FFF2-40B4-BE49-F238E27FC236}">
                <a16:creationId xmlns:a16="http://schemas.microsoft.com/office/drawing/2014/main" id="{57F4BF9F-7440-E72C-B490-73D350D3E69D}"/>
              </a:ext>
            </a:extLst>
          </p:cNvPr>
          <p:cNvSpPr/>
          <p:nvPr/>
        </p:nvSpPr>
        <p:spPr>
          <a:xfrm>
            <a:off x="6940223" y="2848910"/>
            <a:ext cx="372653" cy="149245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1" name="Rectangle 20">
            <a:extLst>
              <a:ext uri="{FF2B5EF4-FFF2-40B4-BE49-F238E27FC236}">
                <a16:creationId xmlns:a16="http://schemas.microsoft.com/office/drawing/2014/main" id="{6CB2A2E1-3CD7-971C-F691-DE1BED03E3E3}"/>
              </a:ext>
            </a:extLst>
          </p:cNvPr>
          <p:cNvSpPr/>
          <p:nvPr/>
        </p:nvSpPr>
        <p:spPr>
          <a:xfrm>
            <a:off x="7438946" y="2848910"/>
            <a:ext cx="372653" cy="149245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5" name="Rectangle 24">
            <a:extLst>
              <a:ext uri="{FF2B5EF4-FFF2-40B4-BE49-F238E27FC236}">
                <a16:creationId xmlns:a16="http://schemas.microsoft.com/office/drawing/2014/main" id="{BC0E5A4B-D261-3E56-361B-767E45F05811}"/>
              </a:ext>
            </a:extLst>
          </p:cNvPr>
          <p:cNvSpPr/>
          <p:nvPr/>
        </p:nvSpPr>
        <p:spPr>
          <a:xfrm>
            <a:off x="7936187" y="2848910"/>
            <a:ext cx="372653" cy="149245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6" name="Rectangle 25">
            <a:extLst>
              <a:ext uri="{FF2B5EF4-FFF2-40B4-BE49-F238E27FC236}">
                <a16:creationId xmlns:a16="http://schemas.microsoft.com/office/drawing/2014/main" id="{29AE22D4-5C70-50B7-48A7-B01D31806C18}"/>
              </a:ext>
            </a:extLst>
          </p:cNvPr>
          <p:cNvSpPr/>
          <p:nvPr/>
        </p:nvSpPr>
        <p:spPr>
          <a:xfrm>
            <a:off x="8431905" y="2848910"/>
            <a:ext cx="372653" cy="149245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7" name="Rectangle 26">
            <a:extLst>
              <a:ext uri="{FF2B5EF4-FFF2-40B4-BE49-F238E27FC236}">
                <a16:creationId xmlns:a16="http://schemas.microsoft.com/office/drawing/2014/main" id="{7C3FE529-42AB-4B1E-4581-88561DBA0F3D}"/>
              </a:ext>
            </a:extLst>
          </p:cNvPr>
          <p:cNvSpPr/>
          <p:nvPr/>
        </p:nvSpPr>
        <p:spPr>
          <a:xfrm>
            <a:off x="8933683" y="2848910"/>
            <a:ext cx="372653" cy="149245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3" name="Rectangle 32">
            <a:extLst>
              <a:ext uri="{FF2B5EF4-FFF2-40B4-BE49-F238E27FC236}">
                <a16:creationId xmlns:a16="http://schemas.microsoft.com/office/drawing/2014/main" id="{B86A2657-94A1-7460-E6A7-4AA13104ABEC}"/>
              </a:ext>
            </a:extLst>
          </p:cNvPr>
          <p:cNvSpPr/>
          <p:nvPr/>
        </p:nvSpPr>
        <p:spPr>
          <a:xfrm>
            <a:off x="9428443" y="2887600"/>
            <a:ext cx="372653" cy="145376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4" name="Rectangle 33">
            <a:extLst>
              <a:ext uri="{FF2B5EF4-FFF2-40B4-BE49-F238E27FC236}">
                <a16:creationId xmlns:a16="http://schemas.microsoft.com/office/drawing/2014/main" id="{C91B7832-2CFF-6166-F26F-48C35922E9C6}"/>
              </a:ext>
            </a:extLst>
          </p:cNvPr>
          <p:cNvSpPr/>
          <p:nvPr/>
        </p:nvSpPr>
        <p:spPr>
          <a:xfrm>
            <a:off x="9929882" y="2887600"/>
            <a:ext cx="372653" cy="145376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6" name="Rectangle 35">
            <a:extLst>
              <a:ext uri="{FF2B5EF4-FFF2-40B4-BE49-F238E27FC236}">
                <a16:creationId xmlns:a16="http://schemas.microsoft.com/office/drawing/2014/main" id="{E593B5B6-9580-558B-A745-53E090C809DD}"/>
              </a:ext>
            </a:extLst>
          </p:cNvPr>
          <p:cNvSpPr/>
          <p:nvPr/>
        </p:nvSpPr>
        <p:spPr>
          <a:xfrm>
            <a:off x="10431284" y="2887600"/>
            <a:ext cx="372653" cy="145376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7" name="Rectangle 36">
            <a:extLst>
              <a:ext uri="{FF2B5EF4-FFF2-40B4-BE49-F238E27FC236}">
                <a16:creationId xmlns:a16="http://schemas.microsoft.com/office/drawing/2014/main" id="{7C22F128-0423-E2E7-C61D-42ECE875F928}"/>
              </a:ext>
            </a:extLst>
          </p:cNvPr>
          <p:cNvSpPr/>
          <p:nvPr/>
        </p:nvSpPr>
        <p:spPr>
          <a:xfrm>
            <a:off x="10925763" y="2887600"/>
            <a:ext cx="372653" cy="1453765"/>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9" name="Rectangle 38">
            <a:extLst>
              <a:ext uri="{FF2B5EF4-FFF2-40B4-BE49-F238E27FC236}">
                <a16:creationId xmlns:a16="http://schemas.microsoft.com/office/drawing/2014/main" id="{0E00DE71-10E4-2858-F82A-24AC32AB3175}"/>
              </a:ext>
            </a:extLst>
          </p:cNvPr>
          <p:cNvSpPr/>
          <p:nvPr/>
        </p:nvSpPr>
        <p:spPr>
          <a:xfrm>
            <a:off x="6940223" y="2605393"/>
            <a:ext cx="372653" cy="243517"/>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0" name="Rectangle 39">
            <a:extLst>
              <a:ext uri="{FF2B5EF4-FFF2-40B4-BE49-F238E27FC236}">
                <a16:creationId xmlns:a16="http://schemas.microsoft.com/office/drawing/2014/main" id="{22C4548C-0D66-CE76-5C82-4EAAE31FE3BF}"/>
              </a:ext>
            </a:extLst>
          </p:cNvPr>
          <p:cNvSpPr/>
          <p:nvPr/>
        </p:nvSpPr>
        <p:spPr>
          <a:xfrm>
            <a:off x="7438946" y="2575449"/>
            <a:ext cx="372653" cy="273461"/>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1" name="Rectangle 40">
            <a:extLst>
              <a:ext uri="{FF2B5EF4-FFF2-40B4-BE49-F238E27FC236}">
                <a16:creationId xmlns:a16="http://schemas.microsoft.com/office/drawing/2014/main" id="{FD99F162-7C2E-EBB5-066B-C271DE049618}"/>
              </a:ext>
            </a:extLst>
          </p:cNvPr>
          <p:cNvSpPr/>
          <p:nvPr/>
        </p:nvSpPr>
        <p:spPr>
          <a:xfrm>
            <a:off x="7936187" y="2575449"/>
            <a:ext cx="372653" cy="273461"/>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2" name="Rectangle 41">
            <a:extLst>
              <a:ext uri="{FF2B5EF4-FFF2-40B4-BE49-F238E27FC236}">
                <a16:creationId xmlns:a16="http://schemas.microsoft.com/office/drawing/2014/main" id="{37C71A43-B8CC-6578-6345-43356A6CB55B}"/>
              </a:ext>
            </a:extLst>
          </p:cNvPr>
          <p:cNvSpPr/>
          <p:nvPr/>
        </p:nvSpPr>
        <p:spPr>
          <a:xfrm>
            <a:off x="8431905" y="2538413"/>
            <a:ext cx="372653" cy="310497"/>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3" name="Rectangle 42">
            <a:extLst>
              <a:ext uri="{FF2B5EF4-FFF2-40B4-BE49-F238E27FC236}">
                <a16:creationId xmlns:a16="http://schemas.microsoft.com/office/drawing/2014/main" id="{E724A308-8210-6091-1BA2-E15DBF14296A}"/>
              </a:ext>
            </a:extLst>
          </p:cNvPr>
          <p:cNvSpPr/>
          <p:nvPr/>
        </p:nvSpPr>
        <p:spPr>
          <a:xfrm>
            <a:off x="8933683" y="2538413"/>
            <a:ext cx="372653" cy="310497"/>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4" name="Rectangle 43">
            <a:extLst>
              <a:ext uri="{FF2B5EF4-FFF2-40B4-BE49-F238E27FC236}">
                <a16:creationId xmlns:a16="http://schemas.microsoft.com/office/drawing/2014/main" id="{82A768BB-6C6C-0E0D-3C10-1AB656F62988}"/>
              </a:ext>
            </a:extLst>
          </p:cNvPr>
          <p:cNvSpPr/>
          <p:nvPr/>
        </p:nvSpPr>
        <p:spPr>
          <a:xfrm>
            <a:off x="9428443" y="2538413"/>
            <a:ext cx="372653" cy="345404"/>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5" name="Rectangle 44">
            <a:extLst>
              <a:ext uri="{FF2B5EF4-FFF2-40B4-BE49-F238E27FC236}">
                <a16:creationId xmlns:a16="http://schemas.microsoft.com/office/drawing/2014/main" id="{2F3C4FED-64CB-2A55-2FCE-EC82CCB5F3B4}"/>
              </a:ext>
            </a:extLst>
          </p:cNvPr>
          <p:cNvSpPr/>
          <p:nvPr/>
        </p:nvSpPr>
        <p:spPr>
          <a:xfrm>
            <a:off x="9929882" y="2505843"/>
            <a:ext cx="372653" cy="377974"/>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6" name="Rectangle 45">
            <a:extLst>
              <a:ext uri="{FF2B5EF4-FFF2-40B4-BE49-F238E27FC236}">
                <a16:creationId xmlns:a16="http://schemas.microsoft.com/office/drawing/2014/main" id="{783BAE69-7BFD-4042-8BAC-32543477ACB0}"/>
              </a:ext>
            </a:extLst>
          </p:cNvPr>
          <p:cNvSpPr/>
          <p:nvPr/>
        </p:nvSpPr>
        <p:spPr>
          <a:xfrm>
            <a:off x="10431284" y="2477309"/>
            <a:ext cx="372653" cy="406508"/>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7" name="Rectangle 46">
            <a:extLst>
              <a:ext uri="{FF2B5EF4-FFF2-40B4-BE49-F238E27FC236}">
                <a16:creationId xmlns:a16="http://schemas.microsoft.com/office/drawing/2014/main" id="{72076CE2-1D8C-D330-DB22-E86E15820FD2}"/>
              </a:ext>
            </a:extLst>
          </p:cNvPr>
          <p:cNvSpPr/>
          <p:nvPr/>
        </p:nvSpPr>
        <p:spPr>
          <a:xfrm>
            <a:off x="10925763" y="2477309"/>
            <a:ext cx="372653" cy="406508"/>
          </a:xfrm>
          <a:prstGeom prst="rect">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cxnSp>
        <p:nvCxnSpPr>
          <p:cNvPr id="49" name="Straight Connector 48">
            <a:extLst>
              <a:ext uri="{FF2B5EF4-FFF2-40B4-BE49-F238E27FC236}">
                <a16:creationId xmlns:a16="http://schemas.microsoft.com/office/drawing/2014/main" id="{C22425A9-BBB2-FBEB-5637-DD7ABFD81B45}"/>
              </a:ext>
            </a:extLst>
          </p:cNvPr>
          <p:cNvCxnSpPr>
            <a:cxnSpLocks/>
          </p:cNvCxnSpPr>
          <p:nvPr/>
        </p:nvCxnSpPr>
        <p:spPr>
          <a:xfrm>
            <a:off x="6266772" y="4349811"/>
            <a:ext cx="5344329" cy="0"/>
          </a:xfrm>
          <a:prstGeom prst="line">
            <a:avLst/>
          </a:prstGeom>
          <a:ln w="28575">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498FF6A-A9B9-D7E5-D899-F2E953A5BBBE}"/>
              </a:ext>
            </a:extLst>
          </p:cNvPr>
          <p:cNvCxnSpPr>
            <a:cxnSpLocks/>
          </p:cNvCxnSpPr>
          <p:nvPr/>
        </p:nvCxnSpPr>
        <p:spPr>
          <a:xfrm flipV="1">
            <a:off x="6811367" y="2848910"/>
            <a:ext cx="2613987" cy="183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0E1379B-88F8-5D24-D5E8-DFFBBEB0425B}"/>
              </a:ext>
            </a:extLst>
          </p:cNvPr>
          <p:cNvCxnSpPr>
            <a:cxnSpLocks/>
          </p:cNvCxnSpPr>
          <p:nvPr/>
        </p:nvCxnSpPr>
        <p:spPr>
          <a:xfrm>
            <a:off x="9425354" y="2887600"/>
            <a:ext cx="216712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773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0962">
                  <a:lumMod val="90000"/>
                  <a:lumOff val="10000"/>
                </a:srgbClr>
              </a:solidFill>
              <a:effectLst/>
              <a:uLnTx/>
              <a:uFillTx/>
              <a:latin typeface="Arial"/>
              <a:ea typeface="+mn-ea"/>
              <a:cs typeface="+mn-cs"/>
            </a:endParaRPr>
          </a:p>
        </p:txBody>
      </p:sp>
      <p:sp>
        <p:nvSpPr>
          <p:cNvPr id="8" name="Slide Number Placeholder 7">
            <a:extLst>
              <a:ext uri="{FF2B5EF4-FFF2-40B4-BE49-F238E27FC236}">
                <a16:creationId xmlns:a16="http://schemas.microsoft.com/office/drawing/2014/main" id="{9AE4E5E8-51E6-B828-49E9-34A85AF8E9A4}"/>
              </a:ext>
            </a:extLst>
          </p:cNvPr>
          <p:cNvSpPr>
            <a:spLocks noGrp="1"/>
          </p:cNvSpPr>
          <p:nvPr>
            <p:ph type="sldNum" sz="quarter" idx="10"/>
          </p:nvPr>
        </p:nvSpPr>
        <p:spPr>
          <a:xfrm>
            <a:off x="11579107" y="6232230"/>
            <a:ext cx="43007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997196"/>
          </a:xfrm>
        </p:spPr>
        <p:txBody>
          <a:bodyPr wrap="square" lIns="0" tIns="0" rIns="0" bIns="0" anchor="t">
            <a:spAutoFit/>
          </a:bodyPr>
          <a:lstStyle/>
          <a:p>
            <a:r>
              <a:rPr lang="en-US" err="1">
                <a:latin typeface="Georgia"/>
              </a:rPr>
              <a:t>Estab</a:t>
            </a:r>
            <a:r>
              <a:rPr lang="en-US">
                <a:latin typeface="Georgia"/>
              </a:rPr>
              <a:t xml:space="preserve">: </a:t>
            </a:r>
            <a:br>
              <a:rPr lang="en-US"/>
            </a:br>
            <a:r>
              <a:rPr lang="en-US">
                <a:latin typeface="Georgia"/>
              </a:rPr>
              <a:t>What’s important week of March 30</a:t>
            </a:r>
            <a:endParaRPr lang="en-US"/>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25496-8282-8393-6817-6470398CE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CAC79-CC91-C0E2-99C0-CF7422892AD5}"/>
              </a:ext>
            </a:extLst>
          </p:cNvPr>
          <p:cNvSpPr>
            <a:spLocks noGrp="1"/>
          </p:cNvSpPr>
          <p:nvPr>
            <p:ph type="title"/>
          </p:nvPr>
        </p:nvSpPr>
        <p:spPr>
          <a:xfrm>
            <a:off x="258378" y="488798"/>
            <a:ext cx="11706758" cy="469234"/>
          </a:xfrm>
        </p:spPr>
        <p:txBody>
          <a:bodyPr/>
          <a:lstStyle/>
          <a:p>
            <a:r>
              <a:rPr lang="en-IN"/>
              <a:t>Agent Assist Academy: NYL trains your staff, you get the support</a:t>
            </a:r>
            <a:endParaRPr lang="en-US"/>
          </a:p>
        </p:txBody>
      </p:sp>
      <p:sp>
        <p:nvSpPr>
          <p:cNvPr id="3" name="Text Placeholder 2">
            <a:extLst>
              <a:ext uri="{FF2B5EF4-FFF2-40B4-BE49-F238E27FC236}">
                <a16:creationId xmlns:a16="http://schemas.microsoft.com/office/drawing/2014/main" id="{19A4177E-917D-D662-D219-2D07CCC61879}"/>
              </a:ext>
            </a:extLst>
          </p:cNvPr>
          <p:cNvSpPr txBox="1">
            <a:spLocks/>
          </p:cNvSpPr>
          <p:nvPr/>
        </p:nvSpPr>
        <p:spPr>
          <a:xfrm>
            <a:off x="172411" y="981458"/>
            <a:ext cx="11308905" cy="249299"/>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468FF"/>
                </a:solidFill>
                <a:effectLst/>
                <a:uLnTx/>
                <a:uFillTx/>
                <a:latin typeface="Arial" panose="020B0604020202020204" pitchFamily="34" charset="0"/>
                <a:ea typeface="+mn-ea"/>
                <a:cs typeface="Arial" panose="020B0604020202020204" pitchFamily="34" charset="0"/>
              </a:rPr>
              <a:t>Get your assistant fully up to speed in just 4 weeks – without taking time away from your business</a:t>
            </a:r>
          </a:p>
        </p:txBody>
      </p:sp>
      <p:sp>
        <p:nvSpPr>
          <p:cNvPr id="5" name="Rectangle 4">
            <a:extLst>
              <a:ext uri="{FF2B5EF4-FFF2-40B4-BE49-F238E27FC236}">
                <a16:creationId xmlns:a16="http://schemas.microsoft.com/office/drawing/2014/main" id="{8D51A99B-96CB-A222-8D48-113C8726C751}"/>
              </a:ext>
            </a:extLst>
          </p:cNvPr>
          <p:cNvSpPr>
            <a:spLocks/>
          </p:cNvSpPr>
          <p:nvPr/>
        </p:nvSpPr>
        <p:spPr>
          <a:xfrm rot="10800000" flipV="1">
            <a:off x="720860" y="1785297"/>
            <a:ext cx="5340096" cy="3669988"/>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INSERT PICTURE</a:t>
            </a:r>
          </a:p>
        </p:txBody>
      </p:sp>
      <p:sp>
        <p:nvSpPr>
          <p:cNvPr id="15" name="Rectangle 14">
            <a:extLst>
              <a:ext uri="{FF2B5EF4-FFF2-40B4-BE49-F238E27FC236}">
                <a16:creationId xmlns:a16="http://schemas.microsoft.com/office/drawing/2014/main" id="{A90EF7C8-8C52-8CA7-BB91-1175C361DA15}"/>
              </a:ext>
            </a:extLst>
          </p:cNvPr>
          <p:cNvSpPr>
            <a:spLocks/>
          </p:cNvSpPr>
          <p:nvPr/>
        </p:nvSpPr>
        <p:spPr>
          <a:xfrm>
            <a:off x="6145899" y="1785297"/>
            <a:ext cx="5335417" cy="3837548"/>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mn-ea"/>
                <a:cs typeface="+mn-cs"/>
              </a:rPr>
              <a:t>Next Cohort</a:t>
            </a:r>
            <a:r>
              <a:rPr kumimoji="0" lang="en-US" sz="1600" b="0" i="0" u="none" strike="noStrike" kern="1200" cap="none" spc="0" normalizeH="0" baseline="0" noProof="0">
                <a:ln>
                  <a:noFill/>
                </a:ln>
                <a:solidFill>
                  <a:srgbClr val="000962"/>
                </a:solidFill>
                <a:effectLst/>
                <a:uLnTx/>
                <a:uFillTx/>
                <a:latin typeface="Arial"/>
                <a:ea typeface="+mn-ea"/>
                <a:cs typeface="+mn-cs"/>
              </a:rPr>
              <a:t xml:space="preserve">: April </a:t>
            </a:r>
            <a:r>
              <a:rPr lang="en-US" sz="1600">
                <a:solidFill>
                  <a:srgbClr val="000962"/>
                </a:solidFill>
                <a:latin typeface="Arial"/>
              </a:rPr>
              <a:t>6</a:t>
            </a:r>
            <a:r>
              <a:rPr kumimoji="0" lang="en-US" sz="1600" b="0" i="0" u="none" strike="noStrike" kern="1200" cap="none" spc="0" normalizeH="0" baseline="0" noProof="0">
                <a:ln>
                  <a:noFill/>
                </a:ln>
                <a:solidFill>
                  <a:srgbClr val="000962"/>
                </a:solidFill>
                <a:effectLst/>
                <a:uLnTx/>
                <a:uFillTx/>
                <a:latin typeface="Arial"/>
                <a:ea typeface="+mn-ea"/>
                <a:cs typeface="+mn-cs"/>
              </a:rPr>
              <a:t>, 2026</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mn-ea"/>
                <a:cs typeface="+mn-cs"/>
              </a:rPr>
              <a:t>Duration</a:t>
            </a:r>
            <a:r>
              <a:rPr kumimoji="0" lang="en-US" sz="1600" b="0" i="0" u="none" strike="noStrike" kern="1200" cap="none" spc="0" normalizeH="0" baseline="0" noProof="0">
                <a:ln>
                  <a:noFill/>
                </a:ln>
                <a:solidFill>
                  <a:srgbClr val="000962"/>
                </a:solidFill>
                <a:effectLst/>
                <a:uLnTx/>
                <a:uFillTx/>
                <a:latin typeface="Arial"/>
                <a:ea typeface="+mn-ea"/>
                <a:cs typeface="+mn-cs"/>
              </a:rPr>
              <a:t>: 4 weeks / 4 hours per day</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mn-ea"/>
                <a:cs typeface="+mn-cs"/>
              </a:rPr>
              <a:t>Tuition</a:t>
            </a:r>
            <a:r>
              <a:rPr kumimoji="0" lang="en-US" sz="1600" b="0" i="0" u="none" strike="noStrike" kern="1200" cap="none" spc="0" normalizeH="0" baseline="0" noProof="0">
                <a:ln>
                  <a:noFill/>
                </a:ln>
                <a:solidFill>
                  <a:srgbClr val="000962"/>
                </a:solidFill>
                <a:effectLst/>
                <a:uLnTx/>
                <a:uFillTx/>
                <a:latin typeface="Arial"/>
                <a:ea typeface="+mn-ea"/>
                <a:cs typeface="+mn-cs"/>
              </a:rPr>
              <a:t>: $1,500 one-time ledger deduction</a:t>
            </a: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600" b="1" i="0" u="none" strike="noStrike" kern="1200" cap="none" spc="0" normalizeH="0" baseline="0" noProof="0">
              <a:ln>
                <a:noFill/>
              </a:ln>
              <a:solidFill>
                <a:srgbClr val="000962"/>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600" b="1" i="0" u="none" strike="noStrike" kern="1200" cap="none" spc="0" normalizeH="0" baseline="0" noProof="0">
              <a:ln>
                <a:noFill/>
              </a:ln>
              <a:solidFill>
                <a:srgbClr val="000962"/>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mn-ea"/>
                <a:cs typeface="+mn-cs"/>
              </a:rPr>
              <a:t>What they’ll learn:</a:t>
            </a:r>
            <a:endParaRPr lang="en-US" sz="1600" b="1" i="0" u="none" strike="noStrike" kern="1200" cap="none" spc="0" normalizeH="0" baseline="0" noProof="0">
              <a:ln>
                <a:noFill/>
              </a:ln>
              <a:solidFill>
                <a:srgbClr val="000962"/>
              </a:solidFill>
              <a:effectLst/>
              <a:uLnTx/>
              <a:uFillTx/>
              <a:latin typeface="Arial"/>
              <a:cs typeface="Arial"/>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Master core </a:t>
            </a:r>
            <a:r>
              <a:rPr kumimoji="0" lang="en-US" sz="1200" b="1" i="0" u="none" strike="noStrike" kern="1200" cap="none" spc="0" normalizeH="0" baseline="0" noProof="0">
                <a:ln>
                  <a:noFill/>
                </a:ln>
                <a:solidFill>
                  <a:srgbClr val="000962"/>
                </a:solidFill>
                <a:effectLst/>
                <a:uLnTx/>
                <a:uFillTx/>
                <a:latin typeface="Arial"/>
                <a:ea typeface="+mn-ea"/>
                <a:cs typeface="+mn-cs"/>
              </a:rPr>
              <a:t>NYL</a:t>
            </a:r>
            <a:r>
              <a:rPr kumimoji="0" lang="en-US" sz="1200" b="0" i="0" u="none" strike="noStrike" kern="1200" cap="none" spc="0" normalizeH="0" baseline="0" noProof="0">
                <a:ln>
                  <a:noFill/>
                </a:ln>
                <a:solidFill>
                  <a:srgbClr val="000962"/>
                </a:solidFill>
                <a:effectLst/>
                <a:uLnTx/>
                <a:uFillTx/>
                <a:latin typeface="Arial"/>
                <a:ea typeface="+mn-ea"/>
                <a:cs typeface="+mn-cs"/>
              </a:rPr>
              <a:t xml:space="preserve"> </a:t>
            </a:r>
            <a:r>
              <a:rPr kumimoji="0" lang="en-US" sz="1200" b="1" i="0" u="none" strike="noStrike" kern="1200" cap="none" spc="0" normalizeH="0" baseline="0" noProof="0">
                <a:ln>
                  <a:noFill/>
                </a:ln>
                <a:solidFill>
                  <a:srgbClr val="000962"/>
                </a:solidFill>
                <a:effectLst/>
                <a:uLnTx/>
                <a:uFillTx/>
                <a:latin typeface="Arial"/>
                <a:ea typeface="+mn-ea"/>
                <a:cs typeface="+mn-cs"/>
              </a:rPr>
              <a:t>tools</a:t>
            </a:r>
            <a:r>
              <a:rPr kumimoji="0" lang="en-US" sz="1200" b="0" i="0" u="none" strike="noStrike" kern="1200" cap="none" spc="0" normalizeH="0" baseline="0" noProof="0">
                <a:ln>
                  <a:noFill/>
                </a:ln>
                <a:solidFill>
                  <a:srgbClr val="000962"/>
                </a:solidFill>
                <a:effectLst/>
                <a:uLnTx/>
                <a:uFillTx/>
                <a:latin typeface="Arial"/>
                <a:ea typeface="+mn-ea"/>
                <a:cs typeface="+mn-cs"/>
              </a:rPr>
              <a:t xml:space="preserve"> and </a:t>
            </a:r>
            <a:r>
              <a:rPr kumimoji="0" lang="en-US" sz="1200" b="1" i="0" u="none" strike="noStrike" kern="1200" cap="none" spc="0" normalizeH="0" baseline="0" noProof="0">
                <a:ln>
                  <a:noFill/>
                </a:ln>
                <a:solidFill>
                  <a:srgbClr val="000962"/>
                </a:solidFill>
                <a:effectLst/>
                <a:uLnTx/>
                <a:uFillTx/>
                <a:latin typeface="Arial"/>
                <a:ea typeface="+mn-ea"/>
                <a:cs typeface="+mn-cs"/>
              </a:rPr>
              <a:t>systems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Navigate </a:t>
            </a:r>
            <a:r>
              <a:rPr kumimoji="0" lang="en-US" sz="1200" b="1" i="0" u="none" strike="noStrike" kern="1200" cap="none" spc="0" normalizeH="0" baseline="0" noProof="0">
                <a:ln>
                  <a:noFill/>
                </a:ln>
                <a:solidFill>
                  <a:srgbClr val="000962"/>
                </a:solidFill>
                <a:effectLst/>
                <a:uLnTx/>
                <a:uFillTx/>
                <a:latin typeface="Arial"/>
                <a:ea typeface="+mn-ea"/>
                <a:cs typeface="+mn-cs"/>
              </a:rPr>
              <a:t>new business</a:t>
            </a:r>
            <a:r>
              <a:rPr kumimoji="0" lang="en-US" sz="1200" b="0" i="0" u="none" strike="noStrike" kern="1200" cap="none" spc="0" normalizeH="0" baseline="0" noProof="0">
                <a:ln>
                  <a:noFill/>
                </a:ln>
                <a:solidFill>
                  <a:srgbClr val="000962"/>
                </a:solidFill>
                <a:effectLst/>
                <a:uLnTx/>
                <a:uFillTx/>
                <a:latin typeface="Arial"/>
                <a:ea typeface="+mn-ea"/>
                <a:cs typeface="+mn-cs"/>
              </a:rPr>
              <a:t xml:space="preserve">, </a:t>
            </a:r>
            <a:r>
              <a:rPr kumimoji="0" lang="en-US" sz="1200" b="1" i="0" u="none" strike="noStrike" kern="1200" cap="none" spc="0" normalizeH="0" baseline="0" noProof="0">
                <a:ln>
                  <a:noFill/>
                </a:ln>
                <a:solidFill>
                  <a:srgbClr val="000962"/>
                </a:solidFill>
                <a:effectLst/>
                <a:uLnTx/>
                <a:uFillTx/>
                <a:latin typeface="Arial"/>
                <a:ea typeface="+mn-ea"/>
                <a:cs typeface="+mn-cs"/>
              </a:rPr>
              <a:t>underwriting</a:t>
            </a:r>
            <a:r>
              <a:rPr kumimoji="0" lang="en-US" sz="1200" b="0" i="0" u="none" strike="noStrike" kern="1200" cap="none" spc="0" normalizeH="0" baseline="0" noProof="0">
                <a:ln>
                  <a:noFill/>
                </a:ln>
                <a:solidFill>
                  <a:srgbClr val="000962"/>
                </a:solidFill>
                <a:effectLst/>
                <a:uLnTx/>
                <a:uFillTx/>
                <a:latin typeface="Arial"/>
                <a:ea typeface="+mn-ea"/>
                <a:cs typeface="+mn-cs"/>
              </a:rPr>
              <a:t xml:space="preserve"> and </a:t>
            </a:r>
            <a:r>
              <a:rPr kumimoji="0" lang="en-US" sz="1200" b="1" i="0" u="none" strike="noStrike" kern="1200" cap="none" spc="0" normalizeH="0" baseline="0" noProof="0">
                <a:ln>
                  <a:noFill/>
                </a:ln>
                <a:solidFill>
                  <a:srgbClr val="000962"/>
                </a:solidFill>
                <a:effectLst/>
                <a:uLnTx/>
                <a:uFillTx/>
                <a:latin typeface="Arial"/>
                <a:ea typeface="+mn-ea"/>
                <a:cs typeface="+mn-cs"/>
              </a:rPr>
              <a:t>policy delivery</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Handle </a:t>
            </a:r>
            <a:r>
              <a:rPr kumimoji="0" lang="en-US" sz="1200" b="1" i="0" u="none" strike="noStrike" kern="1200" cap="none" spc="0" normalizeH="0" baseline="0" noProof="0">
                <a:ln>
                  <a:noFill/>
                </a:ln>
                <a:solidFill>
                  <a:srgbClr val="000962"/>
                </a:solidFill>
                <a:effectLst/>
                <a:uLnTx/>
                <a:uFillTx/>
                <a:latin typeface="Arial"/>
                <a:ea typeface="+mn-ea"/>
                <a:cs typeface="+mn-cs"/>
              </a:rPr>
              <a:t xml:space="preserve">in-force service </a:t>
            </a:r>
            <a:r>
              <a:rPr kumimoji="0" lang="en-US" sz="1200" b="0" i="0" u="none" strike="noStrike" kern="1200" cap="none" spc="0" normalizeH="0" baseline="0" noProof="0">
                <a:ln>
                  <a:noFill/>
                </a:ln>
                <a:solidFill>
                  <a:srgbClr val="000962"/>
                </a:solidFill>
                <a:effectLst/>
                <a:uLnTx/>
                <a:uFillTx/>
                <a:latin typeface="Arial"/>
                <a:ea typeface="+mn-ea"/>
                <a:cs typeface="+mn-cs"/>
              </a:rPr>
              <a:t>and client requests with confidence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Support </a:t>
            </a:r>
            <a:r>
              <a:rPr kumimoji="0" lang="en-US" sz="1200" b="1" i="0" u="none" strike="noStrike" kern="1200" cap="none" spc="0" normalizeH="0" baseline="0" noProof="0">
                <a:ln>
                  <a:noFill/>
                </a:ln>
                <a:solidFill>
                  <a:srgbClr val="000962"/>
                </a:solidFill>
                <a:effectLst/>
                <a:uLnTx/>
                <a:uFillTx/>
                <a:latin typeface="Arial"/>
                <a:ea typeface="+mn-ea"/>
                <a:cs typeface="+mn-cs"/>
              </a:rPr>
              <a:t>compliance</a:t>
            </a:r>
            <a:r>
              <a:rPr kumimoji="0" lang="en-US" sz="1200" b="0" i="0" u="none" strike="noStrike" kern="1200" cap="none" spc="0" normalizeH="0" baseline="0" noProof="0">
                <a:ln>
                  <a:noFill/>
                </a:ln>
                <a:solidFill>
                  <a:srgbClr val="000962"/>
                </a:solidFill>
                <a:effectLst/>
                <a:uLnTx/>
                <a:uFillTx/>
                <a:latin typeface="Arial"/>
                <a:ea typeface="+mn-ea"/>
                <a:cs typeface="+mn-cs"/>
              </a:rPr>
              <a:t xml:space="preserve"> and business operations effectively</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Understanding </a:t>
            </a:r>
            <a:r>
              <a:rPr kumimoji="0" lang="en-US" sz="1200" b="1" i="0" u="none" strike="noStrike" kern="1200" cap="none" spc="0" normalizeH="0" baseline="0" noProof="0">
                <a:ln>
                  <a:noFill/>
                </a:ln>
                <a:solidFill>
                  <a:srgbClr val="000962"/>
                </a:solidFill>
                <a:effectLst/>
                <a:uLnTx/>
                <a:uFillTx/>
                <a:latin typeface="Arial"/>
                <a:ea typeface="+mn-ea"/>
                <a:cs typeface="+mn-cs"/>
              </a:rPr>
              <a:t xml:space="preserve">agent compensation </a:t>
            </a:r>
            <a:r>
              <a:rPr kumimoji="0" lang="en-US" sz="1200" b="0" i="0" u="none" strike="noStrike" kern="1200" cap="none" spc="0" normalizeH="0" baseline="0" noProof="0">
                <a:ln>
                  <a:noFill/>
                </a:ln>
                <a:solidFill>
                  <a:srgbClr val="000962"/>
                </a:solidFill>
                <a:effectLst/>
                <a:uLnTx/>
                <a:uFillTx/>
                <a:latin typeface="Arial"/>
                <a:ea typeface="+mn-ea"/>
                <a:cs typeface="+mn-cs"/>
              </a:rPr>
              <a:t>and ledger system</a:t>
            </a:r>
          </a:p>
        </p:txBody>
      </p:sp>
      <p:sp>
        <p:nvSpPr>
          <p:cNvPr id="29" name="Rectangle 28">
            <a:extLst>
              <a:ext uri="{FF2B5EF4-FFF2-40B4-BE49-F238E27FC236}">
                <a16:creationId xmlns:a16="http://schemas.microsoft.com/office/drawing/2014/main" id="{EC2C5D2A-92C5-1622-EB53-7C70EE922105}"/>
              </a:ext>
            </a:extLst>
          </p:cNvPr>
          <p:cNvSpPr/>
          <p:nvPr/>
        </p:nvSpPr>
        <p:spPr>
          <a:xfrm>
            <a:off x="644407" y="1715528"/>
            <a:ext cx="10934700" cy="404709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4C92C04D-D40F-24DB-4A1A-E8FB1392204D}"/>
              </a:ext>
            </a:extLst>
          </p:cNvPr>
          <p:cNvSpPr/>
          <p:nvPr/>
        </p:nvSpPr>
        <p:spPr bwMode="ltGray">
          <a:xfrm>
            <a:off x="6377652" y="4871300"/>
            <a:ext cx="3934299" cy="657565"/>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2" name="Isosceles Triangle 31">
            <a:extLst>
              <a:ext uri="{FF2B5EF4-FFF2-40B4-BE49-F238E27FC236}">
                <a16:creationId xmlns:a16="http://schemas.microsoft.com/office/drawing/2014/main" id="{8719DF56-A173-D928-0D22-398DF140EA87}"/>
              </a:ext>
            </a:extLst>
          </p:cNvPr>
          <p:cNvSpPr/>
          <p:nvPr/>
        </p:nvSpPr>
        <p:spPr bwMode="ltGray">
          <a:xfrm rot="5400000">
            <a:off x="10007496" y="5081904"/>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34" name="TextBox 33">
            <a:extLst>
              <a:ext uri="{FF2B5EF4-FFF2-40B4-BE49-F238E27FC236}">
                <a16:creationId xmlns:a16="http://schemas.microsoft.com/office/drawing/2014/main" id="{0FC20281-150A-7C8D-EE5D-5945AEA96ECF}"/>
              </a:ext>
            </a:extLst>
          </p:cNvPr>
          <p:cNvSpPr txBox="1"/>
          <p:nvPr/>
        </p:nvSpPr>
        <p:spPr>
          <a:xfrm>
            <a:off x="6387060" y="4990294"/>
            <a:ext cx="3924892" cy="384721"/>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468FF"/>
                </a:solidFill>
                <a:effectLst/>
                <a:uLnTx/>
                <a:uFillTx/>
                <a:latin typeface="Arial"/>
                <a:ea typeface="+mn-ea"/>
                <a:cs typeface="+mn-cs"/>
              </a:rPr>
              <a:t>Scan the QR code to enroll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468FF"/>
                </a:solidFill>
                <a:effectLst/>
                <a:uLnTx/>
                <a:uFillTx/>
                <a:latin typeface="Arial"/>
                <a:ea typeface="+mn-ea"/>
                <a:cs typeface="+mn-cs"/>
              </a:rPr>
              <a:t>Or search “Agent Assist Academy” Info Central</a:t>
            </a:r>
            <a:endParaRPr kumimoji="0" lang="en-US" sz="1400" b="0" i="0" u="none" strike="noStrike" kern="1200" cap="none" spc="0" normalizeH="0" baseline="0" noProof="0">
              <a:ln>
                <a:noFill/>
              </a:ln>
              <a:solidFill>
                <a:srgbClr val="0468FF"/>
              </a:solidFill>
              <a:effectLst/>
              <a:uLnTx/>
              <a:uFillTx/>
              <a:latin typeface="Arial"/>
              <a:ea typeface="+mn-ea"/>
              <a:cs typeface="+mn-cs"/>
            </a:endParaRPr>
          </a:p>
        </p:txBody>
      </p:sp>
      <p:sp>
        <p:nvSpPr>
          <p:cNvPr id="35" name="Rectangle 34">
            <a:extLst>
              <a:ext uri="{FF2B5EF4-FFF2-40B4-BE49-F238E27FC236}">
                <a16:creationId xmlns:a16="http://schemas.microsoft.com/office/drawing/2014/main" id="{90B36441-A343-2741-33FB-1BDC7E4CFF5D}"/>
              </a:ext>
            </a:extLst>
          </p:cNvPr>
          <p:cNvSpPr>
            <a:spLocks/>
          </p:cNvSpPr>
          <p:nvPr/>
        </p:nvSpPr>
        <p:spPr>
          <a:xfrm rot="10800000" flipV="1">
            <a:off x="10409743" y="4617004"/>
            <a:ext cx="1005840" cy="1005840"/>
          </a:xfrm>
          <a:prstGeom prst="rect">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 name="Slide Number Placeholder 44">
            <a:extLst>
              <a:ext uri="{FF2B5EF4-FFF2-40B4-BE49-F238E27FC236}">
                <a16:creationId xmlns:a16="http://schemas.microsoft.com/office/drawing/2014/main" id="{A8C7E906-CF07-C57C-448E-E0C19E1E1B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BBE050DB-6B8D-DF38-A26E-62FA03EC6CF1}"/>
              </a:ext>
            </a:extLst>
          </p:cNvPr>
          <p:cNvSpPr txBox="1"/>
          <p:nvPr/>
        </p:nvSpPr>
        <p:spPr>
          <a:xfrm>
            <a:off x="10523627" y="4935258"/>
            <a:ext cx="778072" cy="36933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Add QR </a:t>
            </a:r>
            <a:br>
              <a:rPr kumimoji="0" lang="en-US" sz="1200" b="0" i="0" u="none" strike="noStrike" kern="1200" cap="none" spc="0" normalizeH="0" baseline="0" noProof="0">
                <a:ln>
                  <a:noFill/>
                </a:ln>
                <a:solidFill>
                  <a:srgbClr val="000962"/>
                </a:solidFill>
                <a:effectLst/>
                <a:uLnTx/>
                <a:uFillTx/>
                <a:latin typeface="Arial"/>
                <a:ea typeface="+mn-ea"/>
                <a:cs typeface="+mn-cs"/>
              </a:rPr>
            </a:br>
            <a:r>
              <a:rPr kumimoji="0" lang="en-US" sz="1200" b="0" i="0" u="none" strike="noStrike" kern="1200" cap="none" spc="0" normalizeH="0" baseline="0" noProof="0">
                <a:ln>
                  <a:noFill/>
                </a:ln>
                <a:solidFill>
                  <a:srgbClr val="000962"/>
                </a:solidFill>
                <a:effectLst/>
                <a:uLnTx/>
                <a:uFillTx/>
                <a:latin typeface="Arial"/>
                <a:ea typeface="+mn-ea"/>
                <a:cs typeface="+mn-cs"/>
              </a:rPr>
              <a:t>code here.</a:t>
            </a:r>
          </a:p>
        </p:txBody>
      </p:sp>
      <p:pic>
        <p:nvPicPr>
          <p:cNvPr id="1028" name="Picture 4" descr="3,245,000+ Training Stock Photos, Pictures &amp; Royalty-Free Images - iStock |  Business training, Learning, Online training">
            <a:extLst>
              <a:ext uri="{FF2B5EF4-FFF2-40B4-BE49-F238E27FC236}">
                <a16:creationId xmlns:a16="http://schemas.microsoft.com/office/drawing/2014/main" id="{E91C9BD5-EDEF-C4BC-7B8B-C4414B065E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417" y="1956850"/>
            <a:ext cx="5220645" cy="33268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B6BEDB8-8298-2A25-3008-C8E1AF6138FE}"/>
              </a:ext>
            </a:extLst>
          </p:cNvPr>
          <p:cNvPicPr>
            <a:picLocks noChangeAspect="1"/>
          </p:cNvPicPr>
          <p:nvPr/>
        </p:nvPicPr>
        <p:blipFill>
          <a:blip r:embed="rId5"/>
          <a:stretch>
            <a:fillRect/>
          </a:stretch>
        </p:blipFill>
        <p:spPr>
          <a:xfrm>
            <a:off x="10443595" y="4656449"/>
            <a:ext cx="953174" cy="944293"/>
          </a:xfrm>
          <a:prstGeom prst="rect">
            <a:avLst/>
          </a:prstGeom>
        </p:spPr>
      </p:pic>
    </p:spTree>
    <p:custDataLst>
      <p:tags r:id="rId1"/>
    </p:custDataLst>
    <p:extLst>
      <p:ext uri="{BB962C8B-B14F-4D97-AF65-F5344CB8AC3E}">
        <p14:creationId xmlns:p14="http://schemas.microsoft.com/office/powerpoint/2010/main" val="4377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D05BF-1BBE-24A6-D8FE-CD2F3B704168}"/>
              </a:ext>
            </a:extLst>
          </p:cNvPr>
          <p:cNvSpPr>
            <a:spLocks noGrp="1"/>
          </p:cNvSpPr>
          <p:nvPr>
            <p:ph type="title"/>
          </p:nvPr>
        </p:nvSpPr>
        <p:spPr>
          <a:xfrm>
            <a:off x="626269" y="493776"/>
            <a:ext cx="10939462" cy="492939"/>
          </a:xfrm>
        </p:spPr>
        <p:txBody>
          <a:bodyPr/>
          <a:lstStyle/>
          <a:p>
            <a:r>
              <a:rPr lang="en-IN" dirty="0" err="1"/>
              <a:t>Estab</a:t>
            </a:r>
            <a:r>
              <a:rPr lang="en-IN"/>
              <a:t> agents</a:t>
            </a:r>
            <a:r>
              <a:rPr lang="en-IN" dirty="0"/>
              <a:t>: Designation tuition reimbursement process</a:t>
            </a:r>
            <a:endParaRPr lang="en-US" dirty="0"/>
          </a:p>
        </p:txBody>
      </p:sp>
      <p:sp>
        <p:nvSpPr>
          <p:cNvPr id="15" name="Rectangle 14">
            <a:extLst>
              <a:ext uri="{FF2B5EF4-FFF2-40B4-BE49-F238E27FC236}">
                <a16:creationId xmlns:a16="http://schemas.microsoft.com/office/drawing/2014/main" id="{5BED761A-97C5-A3AA-38E4-EDD891B5C81D}"/>
              </a:ext>
            </a:extLst>
          </p:cNvPr>
          <p:cNvSpPr>
            <a:spLocks/>
          </p:cNvSpPr>
          <p:nvPr/>
        </p:nvSpPr>
        <p:spPr>
          <a:xfrm>
            <a:off x="6136492" y="1654540"/>
            <a:ext cx="5335417" cy="2803763"/>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dirty="0">
                <a:ln>
                  <a:noFill/>
                </a:ln>
                <a:solidFill>
                  <a:srgbClr val="000962"/>
                </a:solidFill>
                <a:effectLst/>
                <a:uLnTx/>
                <a:uFillTx/>
                <a:latin typeface="Arial (Body)"/>
                <a:ea typeface="Geneva"/>
                <a:cs typeface="Arial"/>
              </a:rPr>
              <a:t xml:space="preserve">Questions?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err="1">
                <a:ln>
                  <a:noFill/>
                </a:ln>
                <a:solidFill>
                  <a:srgbClr val="000962"/>
                </a:solidFill>
                <a:effectLst/>
                <a:uLnTx/>
                <a:uFillTx/>
                <a:latin typeface="Arial (Body)"/>
                <a:ea typeface="Geneva"/>
                <a:cs typeface="Arial"/>
              </a:rPr>
              <a:t>EdAssist</a:t>
            </a:r>
            <a:r>
              <a:rPr kumimoji="0" lang="en-US" sz="1400" b="0" i="0" u="none" strike="noStrike" kern="1200" cap="none" spc="0" normalizeH="0" baseline="0" noProof="0" dirty="0">
                <a:ln>
                  <a:noFill/>
                </a:ln>
                <a:solidFill>
                  <a:srgbClr val="000962"/>
                </a:solidFill>
                <a:effectLst/>
                <a:uLnTx/>
                <a:uFillTx/>
                <a:latin typeface="Arial (Body)"/>
                <a:ea typeface="Geneva"/>
                <a:cs typeface="Arial"/>
              </a:rPr>
              <a:t xml:space="preserve"> is here to help:</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962"/>
                </a:solidFill>
                <a:effectLst/>
                <a:uLnTx/>
                <a:uFillTx/>
                <a:latin typeface="Arial (Body)"/>
                <a:ea typeface="Geneva"/>
                <a:cs typeface="Arial"/>
              </a:rPr>
              <a:t xml:space="preserve">Call </a:t>
            </a:r>
            <a:r>
              <a:rPr kumimoji="0" lang="en-US" sz="1400" b="0" i="0" u="none" strike="noStrike" kern="1200" cap="none" spc="0" normalizeH="0" baseline="0" noProof="0" dirty="0" err="1">
                <a:ln>
                  <a:noFill/>
                </a:ln>
                <a:solidFill>
                  <a:srgbClr val="000962"/>
                </a:solidFill>
                <a:effectLst/>
                <a:uLnTx/>
                <a:uFillTx/>
                <a:latin typeface="Arial (Body)"/>
                <a:ea typeface="Geneva"/>
                <a:cs typeface="Arial"/>
              </a:rPr>
              <a:t>EdAssist</a:t>
            </a:r>
            <a:r>
              <a:rPr kumimoji="0" lang="en-US" sz="1400" b="0" i="0" u="none" strike="noStrike" kern="1200" cap="none" spc="0" normalizeH="0" baseline="0" noProof="0" dirty="0">
                <a:ln>
                  <a:noFill/>
                </a:ln>
                <a:solidFill>
                  <a:srgbClr val="000962"/>
                </a:solidFill>
                <a:effectLst/>
                <a:uLnTx/>
                <a:uFillTx/>
                <a:latin typeface="Arial (Body)"/>
                <a:ea typeface="Geneva"/>
                <a:cs typeface="Arial"/>
              </a:rPr>
              <a:t xml:space="preserve"> at </a:t>
            </a:r>
            <a:r>
              <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rPr>
              <a:t xml:space="preserve">844-358-1620 </a:t>
            </a:r>
            <a:r>
              <a:rPr kumimoji="0" lang="en-US" sz="1400" b="0" i="0" u="none" strike="noStrike" kern="1200" cap="none" spc="0" normalizeH="0" baseline="0" noProof="0" dirty="0">
                <a:ln>
                  <a:noFill/>
                </a:ln>
                <a:solidFill>
                  <a:srgbClr val="000962"/>
                </a:solidFill>
                <a:effectLst/>
                <a:uLnTx/>
                <a:uFillTx/>
                <a:latin typeface="Arial (Body)"/>
                <a:ea typeface="Geneva"/>
                <a:cs typeface="Arial"/>
              </a:rPr>
              <a:t>Mon-Fri from 8am-8pm ET</a:t>
            </a:r>
            <a:endPar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962"/>
                </a:solidFill>
                <a:effectLst/>
                <a:uLnTx/>
                <a:uFillTx/>
                <a:latin typeface="Arial (Body)"/>
                <a:ea typeface="Geneva"/>
                <a:cs typeface="Arial"/>
              </a:rPr>
              <a:t>FAQ and policy documents are available here:</a:t>
            </a: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hlinkClick r:id="rId4">
                  <a:extLst>
                    <a:ext uri="{A12FA001-AC4F-418D-AE19-62706E023703}">
                      <ahyp:hlinkClr xmlns:ahyp="http://schemas.microsoft.com/office/drawing/2018/hyperlinkcolor" val="tx"/>
                    </a:ext>
                  </a:extLst>
                </a:hlinkClick>
              </a:rPr>
              <a:t>https://newyorklife.edassist.com/tuition/support</a:t>
            </a:r>
            <a:r>
              <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rPr>
              <a:t xml:space="preserve"> </a:t>
            </a:r>
          </a:p>
          <a:p>
            <a:pPr marL="28575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962"/>
                </a:solidFill>
                <a:effectLst/>
                <a:uLnTx/>
                <a:uFillTx/>
                <a:latin typeface="Arial"/>
                <a:ea typeface="Geneva"/>
                <a:cs typeface="Arial"/>
              </a:rPr>
              <a:t xml:space="preserve">For step-by-step instructions, scan the QR code below or look for the </a:t>
            </a:r>
            <a:r>
              <a:rPr kumimoji="0" lang="en-US" sz="1400" b="1" i="0" u="none" strike="noStrike" kern="1200" cap="none" spc="0" normalizeH="0" baseline="0" noProof="0" dirty="0">
                <a:ln>
                  <a:noFill/>
                </a:ln>
                <a:solidFill>
                  <a:srgbClr val="000962">
                    <a:lumMod val="50000"/>
                    <a:lumOff val="50000"/>
                  </a:srgbClr>
                </a:solidFill>
                <a:effectLst/>
                <a:uLnTx/>
                <a:uFillTx/>
                <a:latin typeface="Arial"/>
                <a:ea typeface="Geneva"/>
                <a:cs typeface="Arial"/>
              </a:rPr>
              <a:t>How to Create a Reimbursement Application</a:t>
            </a:r>
            <a:r>
              <a:rPr kumimoji="0" lang="en-US" sz="1400" b="0" i="0" u="none" strike="noStrike" kern="1200" cap="none" spc="0" normalizeH="0" baseline="0" noProof="0" dirty="0">
                <a:ln>
                  <a:noFill/>
                </a:ln>
                <a:solidFill>
                  <a:srgbClr val="000962"/>
                </a:solidFill>
                <a:effectLst/>
                <a:uLnTx/>
                <a:uFillTx/>
                <a:latin typeface="Arial"/>
                <a:ea typeface="Geneva"/>
                <a:cs typeface="Arial"/>
              </a:rPr>
              <a:t xml:space="preserve"> link on the NYLIC U Practice Models site: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962"/>
              </a:solidFill>
              <a:effectLst/>
              <a:uLnTx/>
              <a:uFillTx/>
              <a:latin typeface="Arial"/>
              <a:ea typeface="Genev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962">
                    <a:lumMod val="50000"/>
                    <a:lumOff val="50000"/>
                  </a:srgbClr>
                </a:solidFill>
                <a:effectLst/>
                <a:uLnTx/>
                <a:uFillTx/>
                <a:latin typeface="Arial"/>
                <a:ea typeface="Geneva"/>
                <a:cs typeface="Arial"/>
                <a:hlinkClick r:id="rId5">
                  <a:extLst>
                    <a:ext uri="{A12FA001-AC4F-418D-AE19-62706E023703}">
                      <ahyp:hlinkClr xmlns:ahyp="http://schemas.microsoft.com/office/drawing/2018/hyperlinkcolor" val="tx"/>
                    </a:ext>
                  </a:extLst>
                </a:hlinkClick>
              </a:rPr>
              <a:t>https://nyl.docebosaas.com/pages/67/practice-model-overview</a:t>
            </a:r>
            <a:r>
              <a:rPr kumimoji="0" lang="en-US" sz="1350" b="1" i="0" u="none" strike="noStrike" kern="1200" cap="none" spc="0" normalizeH="0" baseline="0" noProof="0" dirty="0">
                <a:ln>
                  <a:noFill/>
                </a:ln>
                <a:solidFill>
                  <a:srgbClr val="000962">
                    <a:lumMod val="50000"/>
                    <a:lumOff val="50000"/>
                  </a:srgbClr>
                </a:solidFill>
                <a:effectLst/>
                <a:uLnTx/>
                <a:uFillTx/>
                <a:latin typeface="Arial"/>
                <a:ea typeface="Geneva"/>
                <a:cs typeface="Arial"/>
              </a:rPr>
              <a:t xml:space="preserv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962">
                  <a:lumMod val="50000"/>
                  <a:lumOff val="50000"/>
                </a:srgbClr>
              </a:solidFill>
              <a:effectLst/>
              <a:uLnTx/>
              <a:uFillTx/>
              <a:latin typeface="Arial (Body)"/>
              <a:ea typeface="Geneva"/>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000962"/>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5211225C-EA67-AC45-29EB-6199D438A8A4}"/>
              </a:ext>
            </a:extLst>
          </p:cNvPr>
          <p:cNvSpPr/>
          <p:nvPr/>
        </p:nvSpPr>
        <p:spPr>
          <a:xfrm>
            <a:off x="635000" y="1488109"/>
            <a:ext cx="10934700" cy="4398983"/>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BBECEC4E-B0AC-9DF8-3BCA-BF09B147B97E}"/>
              </a:ext>
            </a:extLst>
          </p:cNvPr>
          <p:cNvSpPr/>
          <p:nvPr/>
        </p:nvSpPr>
        <p:spPr bwMode="ltGray">
          <a:xfrm>
            <a:off x="6136488" y="4617720"/>
            <a:ext cx="5335421" cy="1154673"/>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4" name="TextBox 33">
            <a:extLst>
              <a:ext uri="{FF2B5EF4-FFF2-40B4-BE49-F238E27FC236}">
                <a16:creationId xmlns:a16="http://schemas.microsoft.com/office/drawing/2014/main" id="{386E4B3A-FFFB-23BB-5DAC-E71CB847D1D1}"/>
              </a:ext>
            </a:extLst>
          </p:cNvPr>
          <p:cNvSpPr txBox="1"/>
          <p:nvPr/>
        </p:nvSpPr>
        <p:spPr>
          <a:xfrm>
            <a:off x="6227126" y="5085666"/>
            <a:ext cx="3802058"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8FF"/>
                </a:solidFill>
                <a:effectLst/>
                <a:uLnTx/>
                <a:uFillTx/>
                <a:latin typeface="Arial"/>
                <a:ea typeface="Geneva"/>
                <a:cs typeface="Arial"/>
              </a:rPr>
              <a:t>Step-by-step instructions</a:t>
            </a:r>
          </a:p>
        </p:txBody>
      </p:sp>
      <p:sp>
        <p:nvSpPr>
          <p:cNvPr id="35" name="Rectangle 34">
            <a:extLst>
              <a:ext uri="{FF2B5EF4-FFF2-40B4-BE49-F238E27FC236}">
                <a16:creationId xmlns:a16="http://schemas.microsoft.com/office/drawing/2014/main" id="{30E9423E-9AC5-697F-798A-2DC498224E85}"/>
              </a:ext>
            </a:extLst>
          </p:cNvPr>
          <p:cNvSpPr>
            <a:spLocks/>
          </p:cNvSpPr>
          <p:nvPr/>
        </p:nvSpPr>
        <p:spPr>
          <a:xfrm rot="10800000" flipV="1">
            <a:off x="10419150" y="4719633"/>
            <a:ext cx="1005840" cy="1005840"/>
          </a:xfrm>
          <a:prstGeom prst="rect">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 name="Slide Number Placeholder 44">
            <a:extLst>
              <a:ext uri="{FF2B5EF4-FFF2-40B4-BE49-F238E27FC236}">
                <a16:creationId xmlns:a16="http://schemas.microsoft.com/office/drawing/2014/main" id="{0D850BA6-7292-9801-DA71-7F5A044CEB7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6" name="Isosceles Triangle 5">
            <a:extLst>
              <a:ext uri="{FF2B5EF4-FFF2-40B4-BE49-F238E27FC236}">
                <a16:creationId xmlns:a16="http://schemas.microsoft.com/office/drawing/2014/main" id="{E68929E6-546C-38A8-B039-4B0D25DF8A9B}"/>
              </a:ext>
            </a:extLst>
          </p:cNvPr>
          <p:cNvSpPr/>
          <p:nvPr/>
        </p:nvSpPr>
        <p:spPr bwMode="ltGray">
          <a:xfrm rot="5400000">
            <a:off x="9702659" y="5075372"/>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8" name="TextBox 7">
            <a:extLst>
              <a:ext uri="{FF2B5EF4-FFF2-40B4-BE49-F238E27FC236}">
                <a16:creationId xmlns:a16="http://schemas.microsoft.com/office/drawing/2014/main" id="{12C26E7E-583A-8228-D2A2-C1D7700143E8}"/>
              </a:ext>
            </a:extLst>
          </p:cNvPr>
          <p:cNvSpPr txBox="1"/>
          <p:nvPr/>
        </p:nvSpPr>
        <p:spPr>
          <a:xfrm>
            <a:off x="10599894" y="5116444"/>
            <a:ext cx="778072" cy="36933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 xml:space="preserve">Add QR </a:t>
            </a:r>
            <a:br>
              <a:rPr kumimoji="0" lang="en-US" sz="1200" b="0" i="0" u="none" strike="noStrike" kern="1200" cap="none" spc="0" normalizeH="0" baseline="0" noProof="0">
                <a:ln>
                  <a:noFill/>
                </a:ln>
                <a:solidFill>
                  <a:srgbClr val="000962"/>
                </a:solidFill>
                <a:effectLst/>
                <a:uLnTx/>
                <a:uFillTx/>
                <a:latin typeface="Arial"/>
                <a:ea typeface="+mn-ea"/>
                <a:cs typeface="+mn-cs"/>
              </a:rPr>
            </a:br>
            <a:r>
              <a:rPr kumimoji="0" lang="en-US" sz="1200" b="0" i="0" u="none" strike="noStrike" kern="1200" cap="none" spc="0" normalizeH="0" baseline="0" noProof="0">
                <a:ln>
                  <a:noFill/>
                </a:ln>
                <a:solidFill>
                  <a:srgbClr val="000962"/>
                </a:solidFill>
                <a:effectLst/>
                <a:uLnTx/>
                <a:uFillTx/>
                <a:latin typeface="Arial"/>
                <a:ea typeface="+mn-ea"/>
                <a:cs typeface="+mn-cs"/>
              </a:rPr>
              <a:t>code here.</a:t>
            </a:r>
          </a:p>
        </p:txBody>
      </p:sp>
      <p:sp>
        <p:nvSpPr>
          <p:cNvPr id="4" name="Text Placeholder 3">
            <a:extLst>
              <a:ext uri="{FF2B5EF4-FFF2-40B4-BE49-F238E27FC236}">
                <a16:creationId xmlns:a16="http://schemas.microsoft.com/office/drawing/2014/main" id="{55F8A89F-4601-D25E-5311-1E76EB3A3397}"/>
              </a:ext>
            </a:extLst>
          </p:cNvPr>
          <p:cNvSpPr txBox="1">
            <a:spLocks/>
          </p:cNvSpPr>
          <p:nvPr/>
        </p:nvSpPr>
        <p:spPr>
          <a:xfrm>
            <a:off x="823993" y="1674796"/>
            <a:ext cx="5024442" cy="4050677"/>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marR="0" lvl="0" indent="0" algn="l" defTabSz="1219170" rtl="0" eaLnBrk="1" fontAlgn="base" latinLnBrk="0" hangingPunct="1">
              <a:lnSpc>
                <a:spcPct val="100000"/>
              </a:lnSpc>
              <a:spcBef>
                <a:spcPct val="0"/>
              </a:spcBef>
              <a:spcAft>
                <a:spcPts val="8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 xml:space="preserve">There are two important steps to submit and complete your tuition reimbursement application in the </a:t>
            </a:r>
            <a:r>
              <a:rPr kumimoji="0" lang="en-US" sz="1400" b="1" i="0" u="none" strike="noStrike" kern="1200" cap="none" spc="0" normalizeH="0" baseline="0" noProof="0" dirty="0" err="1">
                <a:ln>
                  <a:noFill/>
                </a:ln>
                <a:solidFill>
                  <a:srgbClr val="000962"/>
                </a:solidFill>
                <a:effectLst/>
                <a:uLnTx/>
                <a:uFillTx/>
                <a:latin typeface="Arial"/>
                <a:ea typeface="Geneva"/>
                <a:cs typeface="Geneva" charset="0"/>
              </a:rPr>
              <a:t>EdAssist</a:t>
            </a: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 xml:space="preserve"> platform:</a:t>
            </a:r>
          </a:p>
          <a:p>
            <a:pPr marL="404813" marR="0" lvl="1" indent="-303213" algn="l" defTabSz="1219170" rtl="0" eaLnBrk="1" fontAlgn="base" latinLnBrk="0" hangingPunct="1">
              <a:lnSpc>
                <a:spcPct val="100000"/>
              </a:lnSpc>
              <a:spcBef>
                <a:spcPts val="600"/>
              </a:spcBef>
              <a:spcAft>
                <a:spcPts val="800"/>
              </a:spcAft>
              <a:buClrTx/>
              <a:buSzTx/>
              <a:buFont typeface="Wingdings" panose="05000000000000000000" pitchFamily="2" charset="2"/>
              <a:buChar char="q"/>
              <a:tabLst/>
              <a:defRPr/>
            </a:pP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Step #1</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 the tuition reimbursement application must be submitted within 90 days prior to the course </a:t>
            </a: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 xml:space="preserve">start date </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and no later than 30 days past the course </a:t>
            </a: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start date</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a:t>
            </a:r>
          </a:p>
          <a:p>
            <a:pPr marL="404813" marR="0" lvl="1" indent="-303213" algn="l" defTabSz="1219170" rtl="0" eaLnBrk="1" fontAlgn="base" latinLnBrk="0" hangingPunct="1">
              <a:lnSpc>
                <a:spcPct val="100000"/>
              </a:lnSpc>
              <a:spcBef>
                <a:spcPct val="0"/>
              </a:spcBef>
              <a:spcAft>
                <a:spcPts val="800"/>
              </a:spcAft>
              <a:buClrTx/>
              <a:buSzTx/>
              <a:buFont typeface="Wingdings" panose="05000000000000000000" pitchFamily="2" charset="2"/>
              <a:buChar char="q"/>
              <a:tabLst/>
              <a:defRPr/>
            </a:pP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Step #2</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 once you have passed the final exam, you must submit your grade report and an itemized receipt of payment through the </a:t>
            </a:r>
            <a:r>
              <a:rPr kumimoji="0" lang="en-US" sz="1400" b="0" i="0" u="none" strike="noStrike" kern="1200" cap="none" spc="0" normalizeH="0" baseline="0" noProof="0" dirty="0" err="1">
                <a:ln>
                  <a:noFill/>
                </a:ln>
                <a:solidFill>
                  <a:srgbClr val="000962"/>
                </a:solidFill>
                <a:effectLst/>
                <a:uLnTx/>
                <a:uFillTx/>
                <a:latin typeface="Arial"/>
                <a:ea typeface="Geneva"/>
                <a:cs typeface="Geneva" charset="0"/>
              </a:rPr>
              <a:t>EdAssist</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 platform within 180 days of the course </a:t>
            </a: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end date</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 </a:t>
            </a:r>
          </a:p>
          <a:p>
            <a:pPr marL="404813" marR="0" lvl="1" indent="-303213" algn="l" defTabSz="1219170" rtl="0" eaLnBrk="1" fontAlgn="base" latinLnBrk="0" hangingPunct="1">
              <a:lnSpc>
                <a:spcPct val="100000"/>
              </a:lnSpc>
              <a:spcBef>
                <a:spcPct val="0"/>
              </a:spcBef>
              <a:spcAft>
                <a:spcPts val="800"/>
              </a:spcAft>
              <a:buClrTx/>
              <a:buSzTx/>
              <a:buFont typeface="Wingdings" panose="05000000000000000000" pitchFamily="2" charset="2"/>
              <a:buChar char="q"/>
              <a:tabLst/>
              <a:defRPr/>
            </a:pPr>
            <a:r>
              <a:rPr kumimoji="0" lang="en-US" sz="1400" b="1" i="0" u="none" strike="noStrike" kern="1200" cap="none" spc="0" normalizeH="0" baseline="0" noProof="0" dirty="0">
                <a:ln>
                  <a:noFill/>
                </a:ln>
                <a:solidFill>
                  <a:srgbClr val="000962"/>
                </a:solidFill>
                <a:effectLst/>
                <a:uLnTx/>
                <a:uFillTx/>
                <a:latin typeface="Arial"/>
                <a:ea typeface="Geneva"/>
                <a:cs typeface="Geneva" charset="0"/>
              </a:rPr>
              <a:t>Reimbursement</a:t>
            </a:r>
            <a:r>
              <a:rPr kumimoji="0" lang="en-US" sz="1400" b="0" i="0" u="none" strike="noStrike" kern="1200" cap="none" spc="0" normalizeH="0" baseline="0" noProof="0" dirty="0">
                <a:ln>
                  <a:noFill/>
                </a:ln>
                <a:solidFill>
                  <a:srgbClr val="000962"/>
                </a:solidFill>
                <a:effectLst/>
                <a:uLnTx/>
                <a:uFillTx/>
                <a:latin typeface="Arial"/>
                <a:ea typeface="Geneva"/>
                <a:cs typeface="Geneva" charset="0"/>
              </a:rPr>
              <a:t xml:space="preserve"> will be received in your Agent ledger within two pay periods.</a:t>
            </a:r>
            <a:endParaRPr kumimoji="0" lang="en-US" sz="1400" b="1" i="0" u="none" strike="noStrike" kern="1200" cap="none" spc="0" normalizeH="0" baseline="0" noProof="0" dirty="0">
              <a:ln>
                <a:noFill/>
              </a:ln>
              <a:solidFill>
                <a:srgbClr val="000962"/>
              </a:solidFill>
              <a:effectLst/>
              <a:uLnTx/>
              <a:uFillTx/>
              <a:latin typeface="Arial"/>
              <a:ea typeface="Geneva"/>
              <a:cs typeface="Geneva" charset="0"/>
            </a:endParaRPr>
          </a:p>
          <a:p>
            <a:pPr marL="0" marR="0" lvl="0" indent="0" algn="l" defTabSz="1219170" rtl="0" eaLnBrk="1" fontAlgn="base" latinLnBrk="0" hangingPunct="1">
              <a:lnSpc>
                <a:spcPct val="100000"/>
              </a:lnSpc>
              <a:spcBef>
                <a:spcPts val="600"/>
              </a:spcBef>
              <a:spcAft>
                <a:spcPts val="6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962"/>
                </a:solidFill>
                <a:effectLst/>
                <a:uLnTx/>
                <a:uFillTx/>
                <a:latin typeface="Arial"/>
                <a:ea typeface="Geneva"/>
                <a:cs typeface="Arial"/>
              </a:rPr>
              <a:t xml:space="preserve">If you are familiar with the </a:t>
            </a:r>
            <a:r>
              <a:rPr kumimoji="0" lang="en-US" sz="1400" b="0" i="0" u="none" strike="noStrike" kern="1200" cap="none" spc="0" normalizeH="0" baseline="0" noProof="0" dirty="0" err="1">
                <a:ln>
                  <a:noFill/>
                </a:ln>
                <a:solidFill>
                  <a:srgbClr val="000962"/>
                </a:solidFill>
                <a:effectLst/>
                <a:uLnTx/>
                <a:uFillTx/>
                <a:latin typeface="Arial"/>
                <a:ea typeface="Geneva"/>
                <a:cs typeface="Arial"/>
              </a:rPr>
              <a:t>EdAssist</a:t>
            </a:r>
            <a:r>
              <a:rPr kumimoji="0" lang="en-US" sz="1400" b="0" i="0" u="none" strike="noStrike" kern="1200" cap="none" spc="0" normalizeH="0" baseline="0" noProof="0" dirty="0">
                <a:ln>
                  <a:noFill/>
                </a:ln>
                <a:solidFill>
                  <a:srgbClr val="000962"/>
                </a:solidFill>
                <a:effectLst/>
                <a:uLnTx/>
                <a:uFillTx/>
                <a:latin typeface="Arial"/>
                <a:ea typeface="Geneva"/>
                <a:cs typeface="Arial"/>
              </a:rPr>
              <a:t xml:space="preserve"> platform, use this link to submit your reimbursement application:</a:t>
            </a:r>
          </a:p>
          <a:p>
            <a:pPr marL="0" marR="0" lvl="0" indent="0" algn="l" defTabSz="1219170" rtl="0" eaLnBrk="1" fontAlgn="base" latinLnBrk="0" hangingPunct="1">
              <a:lnSpc>
                <a:spcPct val="100000"/>
              </a:lnSpc>
              <a:spcBef>
                <a:spcPct val="0"/>
              </a:spcBef>
              <a:spcAft>
                <a:spcPts val="8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962">
                    <a:lumMod val="50000"/>
                    <a:lumOff val="50000"/>
                  </a:srgbClr>
                </a:solidFill>
                <a:effectLst/>
                <a:uLnTx/>
                <a:uFillTx/>
                <a:latin typeface="Arial"/>
                <a:ea typeface="Geneva"/>
                <a:cs typeface="Arial"/>
                <a:hlinkClick r:id="rId6">
                  <a:extLst>
                    <a:ext uri="{A12FA001-AC4F-418D-AE19-62706E023703}">
                      <ahyp:hlinkClr xmlns:ahyp="http://schemas.microsoft.com/office/drawing/2018/hyperlinkcolor" val="tx"/>
                    </a:ext>
                  </a:extLst>
                </a:hlinkClick>
              </a:rPr>
              <a:t xml:space="preserve">https://newyorklife.edassist.com/tuition/welcome </a:t>
            </a:r>
            <a:endParaRPr kumimoji="0" lang="en-US" sz="1400" b="1" i="0" u="none" strike="noStrike" kern="1200" cap="none" spc="0" normalizeH="0" baseline="0" noProof="0" dirty="0">
              <a:ln>
                <a:noFill/>
              </a:ln>
              <a:solidFill>
                <a:srgbClr val="000962">
                  <a:lumMod val="50000"/>
                  <a:lumOff val="50000"/>
                </a:srgbClr>
              </a:solidFill>
              <a:effectLst/>
              <a:uLnTx/>
              <a:uFillTx/>
              <a:latin typeface="Arial"/>
              <a:ea typeface="Geneva"/>
              <a:cs typeface="Arial"/>
            </a:endParaRPr>
          </a:p>
          <a:p>
            <a:pPr marL="0" marR="0" lvl="0" indent="0" algn="l" defTabSz="121917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006254"/>
              </a:solidFill>
              <a:effectLst/>
              <a:uLnTx/>
              <a:uFillTx/>
              <a:latin typeface="Arial"/>
              <a:ea typeface="Geneva"/>
              <a:cs typeface="Geneva" charset="0"/>
            </a:endParaRPr>
          </a:p>
        </p:txBody>
      </p:sp>
      <p:pic>
        <p:nvPicPr>
          <p:cNvPr id="7" name="Picture 6">
            <a:extLst>
              <a:ext uri="{FF2B5EF4-FFF2-40B4-BE49-F238E27FC236}">
                <a16:creationId xmlns:a16="http://schemas.microsoft.com/office/drawing/2014/main" id="{48C4C8D8-CB2B-5D1E-0457-DFA47F606A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237" y="4617720"/>
            <a:ext cx="1155459" cy="1155459"/>
          </a:xfrm>
          <a:prstGeom prst="rect">
            <a:avLst/>
          </a:prstGeom>
        </p:spPr>
      </p:pic>
    </p:spTree>
    <p:custDataLst>
      <p:tags r:id="rId1"/>
    </p:custDataLst>
    <p:extLst>
      <p:ext uri="{BB962C8B-B14F-4D97-AF65-F5344CB8AC3E}">
        <p14:creationId xmlns:p14="http://schemas.microsoft.com/office/powerpoint/2010/main" val="1383920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810C7-A499-3306-38EC-D5F461FC477D}"/>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01BF6E69-9295-079D-3D85-0D6C5D6EFF86}"/>
              </a:ext>
            </a:extLst>
          </p:cNvPr>
          <p:cNvPicPr>
            <a:picLocks noChangeAspect="1"/>
          </p:cNvPicPr>
          <p:nvPr/>
        </p:nvPicPr>
        <p:blipFill>
          <a:blip r:embed="rId3">
            <a:extLst>
              <a:ext uri="{28A0092B-C50C-407E-A947-70E740481C1C}">
                <a14:useLocalDpi xmlns:a14="http://schemas.microsoft.com/office/drawing/2010/main" val="0"/>
              </a:ext>
            </a:extLst>
          </a:blip>
          <a:srcRect l="2953" t="-308" r="2659" b="19716"/>
          <a:stretch>
            <a:fillRect/>
          </a:stretch>
        </p:blipFill>
        <p:spPr>
          <a:xfrm>
            <a:off x="8049087" y="1414808"/>
            <a:ext cx="3665425" cy="3619870"/>
          </a:xfrm>
          <a:prstGeom prst="rect">
            <a:avLst/>
          </a:prstGeom>
        </p:spPr>
      </p:pic>
      <p:sp>
        <p:nvSpPr>
          <p:cNvPr id="22" name="Rectangle 21">
            <a:extLst>
              <a:ext uri="{FF2B5EF4-FFF2-40B4-BE49-F238E27FC236}">
                <a16:creationId xmlns:a16="http://schemas.microsoft.com/office/drawing/2014/main" id="{2328424C-5F35-6350-9005-28A722C06F5E}"/>
              </a:ext>
            </a:extLst>
          </p:cNvPr>
          <p:cNvSpPr/>
          <p:nvPr/>
        </p:nvSpPr>
        <p:spPr>
          <a:xfrm>
            <a:off x="699271" y="1531081"/>
            <a:ext cx="7232187" cy="437083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76D06245-06C8-CA76-4AD0-7FC6E846A07F}"/>
              </a:ext>
            </a:extLst>
          </p:cNvPr>
          <p:cNvSpPr>
            <a:spLocks/>
          </p:cNvSpPr>
          <p:nvPr/>
        </p:nvSpPr>
        <p:spPr>
          <a:xfrm>
            <a:off x="626269" y="1425048"/>
            <a:ext cx="7377941"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D2BD2B59-DAE0-3C10-0D6F-3CE78254B3D6}"/>
              </a:ext>
            </a:extLst>
          </p:cNvPr>
          <p:cNvSpPr>
            <a:spLocks noGrp="1"/>
          </p:cNvSpPr>
          <p:nvPr>
            <p:ph type="title"/>
          </p:nvPr>
        </p:nvSpPr>
        <p:spPr>
          <a:xfrm>
            <a:off x="626269" y="493776"/>
            <a:ext cx="9197955" cy="509351"/>
          </a:xfrm>
        </p:spPr>
        <p:txBody>
          <a:bodyPr vert="horz" lIns="0" tIns="0" rIns="0" bIns="0" anchor="t" anchorCtr="0"/>
          <a:lstStyle/>
          <a:p>
            <a:r>
              <a:rPr lang="en-US"/>
              <a:t>Established agent Las Vegas incentive</a:t>
            </a:r>
          </a:p>
        </p:txBody>
      </p:sp>
      <p:sp>
        <p:nvSpPr>
          <p:cNvPr id="51" name="Slide Number Placeholder 50">
            <a:extLst>
              <a:ext uri="{FF2B5EF4-FFF2-40B4-BE49-F238E27FC236}">
                <a16:creationId xmlns:a16="http://schemas.microsoft.com/office/drawing/2014/main" id="{376A671E-2283-3D30-7392-39D7F71A4D8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9F9E7595-7188-5783-0884-C81C7B032748}"/>
              </a:ext>
            </a:extLst>
          </p:cNvPr>
          <p:cNvSpPr/>
          <p:nvPr/>
        </p:nvSpPr>
        <p:spPr bwMode="ltGray">
          <a:xfrm>
            <a:off x="8035272" y="5017396"/>
            <a:ext cx="3577904" cy="946892"/>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B2EB5BC6-7FD4-451A-B1B3-8C2E35D92865}"/>
              </a:ext>
            </a:extLst>
          </p:cNvPr>
          <p:cNvSpPr txBox="1">
            <a:spLocks/>
          </p:cNvSpPr>
          <p:nvPr/>
        </p:nvSpPr>
        <p:spPr>
          <a:xfrm>
            <a:off x="627063" y="1007669"/>
            <a:ext cx="11520487" cy="369332"/>
          </a:xfrm>
          <a:prstGeom prst="rect">
            <a:avLst/>
          </a:prstGeom>
        </p:spPr>
        <p:txBody>
          <a:bodyPr vert="horz"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468FF"/>
                </a:solidFill>
                <a:effectLst/>
                <a:uLnTx/>
                <a:uFillTx/>
                <a:latin typeface="Arial"/>
                <a:ea typeface="+mn-ea"/>
                <a:cs typeface="Arial" panose="020B0604020202020204" pitchFamily="34" charset="0"/>
              </a:rPr>
              <a:t xml:space="preserve">March 31 </a:t>
            </a:r>
            <a:r>
              <a:rPr kumimoji="0" lang="en-US" sz="2400" b="0" i="0" u="none" strike="noStrike" kern="1200" cap="none" spc="0" normalizeH="0" baseline="0" noProof="0">
                <a:ln>
                  <a:noFill/>
                </a:ln>
                <a:solidFill>
                  <a:srgbClr val="0468FF"/>
                </a:solidFill>
                <a:effectLst/>
                <a:uLnTx/>
                <a:uFillTx/>
                <a:latin typeface="Arial"/>
                <a:ea typeface="+mn-ea"/>
                <a:cs typeface="Arial" panose="020B0604020202020204" pitchFamily="34" charset="0"/>
              </a:rPr>
              <a:t>deadline</a:t>
            </a:r>
            <a:r>
              <a:rPr kumimoji="0" lang="en-US" sz="2400" b="0" i="0" u="none" strike="noStrike" kern="1200" cap="none" spc="0" normalizeH="0" baseline="0" noProof="0" dirty="0">
                <a:ln>
                  <a:noFill/>
                </a:ln>
                <a:solidFill>
                  <a:srgbClr val="0468FF"/>
                </a:solidFill>
                <a:effectLst/>
                <a:uLnTx/>
                <a:uFillTx/>
                <a:latin typeface="Arial"/>
                <a:ea typeface="+mn-ea"/>
                <a:cs typeface="Arial" panose="020B0604020202020204" pitchFamily="34" charset="0"/>
              </a:rPr>
              <a:t>: Final days to qualify</a:t>
            </a:r>
          </a:p>
        </p:txBody>
      </p:sp>
      <p:sp>
        <p:nvSpPr>
          <p:cNvPr id="16" name="TextBox 15">
            <a:extLst>
              <a:ext uri="{FF2B5EF4-FFF2-40B4-BE49-F238E27FC236}">
                <a16:creationId xmlns:a16="http://schemas.microsoft.com/office/drawing/2014/main" id="{350084C0-4CFB-FEB8-DBF1-5A107F205177}"/>
              </a:ext>
            </a:extLst>
          </p:cNvPr>
          <p:cNvSpPr txBox="1"/>
          <p:nvPr/>
        </p:nvSpPr>
        <p:spPr>
          <a:xfrm>
            <a:off x="8433203" y="5168649"/>
            <a:ext cx="1936935"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42E8"/>
                </a:solidFill>
                <a:effectLst/>
                <a:uLnTx/>
                <a:uFillTx/>
                <a:latin typeface="Arial" panose="020B0604020202020204" pitchFamily="34" charset="0"/>
                <a:ea typeface="+mn-ea"/>
                <a:cs typeface="Arial" panose="020B0604020202020204" pitchFamily="34" charset="0"/>
              </a:rPr>
              <a:t>Scan the QR code for complete rules and details on Info Central.</a:t>
            </a:r>
          </a:p>
        </p:txBody>
      </p:sp>
      <p:pic>
        <p:nvPicPr>
          <p:cNvPr id="18" name="Picture 17">
            <a:extLst>
              <a:ext uri="{FF2B5EF4-FFF2-40B4-BE49-F238E27FC236}">
                <a16:creationId xmlns:a16="http://schemas.microsoft.com/office/drawing/2014/main" id="{80DB3014-7F5B-6765-D804-C9711A484C56}"/>
              </a:ext>
            </a:extLst>
          </p:cNvPr>
          <p:cNvPicPr>
            <a:picLocks noChangeAspect="1"/>
          </p:cNvPicPr>
          <p:nvPr/>
        </p:nvPicPr>
        <p:blipFill>
          <a:blip r:embed="rId4"/>
          <a:stretch>
            <a:fillRect/>
          </a:stretch>
        </p:blipFill>
        <p:spPr>
          <a:xfrm>
            <a:off x="11064240" y="5019342"/>
            <a:ext cx="944946" cy="944946"/>
          </a:xfrm>
          <a:prstGeom prst="rect">
            <a:avLst/>
          </a:prstGeom>
        </p:spPr>
      </p:pic>
      <p:sp>
        <p:nvSpPr>
          <p:cNvPr id="20" name="Content Placeholder 2">
            <a:extLst>
              <a:ext uri="{FF2B5EF4-FFF2-40B4-BE49-F238E27FC236}">
                <a16:creationId xmlns:a16="http://schemas.microsoft.com/office/drawing/2014/main" id="{CC10FD1E-475F-E96E-AEAC-5364B7F01AAC}"/>
              </a:ext>
            </a:extLst>
          </p:cNvPr>
          <p:cNvSpPr txBox="1">
            <a:spLocks/>
          </p:cNvSpPr>
          <p:nvPr/>
        </p:nvSpPr>
        <p:spPr>
          <a:xfrm>
            <a:off x="882712" y="1621728"/>
            <a:ext cx="6911459" cy="4370832"/>
          </a:xfrm>
          <a:prstGeom prst="rect">
            <a:avLst/>
          </a:prstGeom>
        </p:spPr>
        <p:txBody>
          <a:bodyPr vert="horz" lIns="0" tIns="0" rIns="0" bIns="0" rtlCol="0" anchor="t" anchorCtr="0">
            <a:noAutofit/>
          </a:bodyPr>
          <a:lstStyle>
            <a:lvl1pPr marL="228600" indent="-228600" algn="l" defTabSz="914400" rtl="0" eaLnBrk="1" latinLnBrk="0" hangingPunct="1">
              <a:lnSpc>
                <a:spcPct val="100000"/>
              </a:lnSpc>
              <a:spcBef>
                <a:spcPts val="1000"/>
              </a:spcBef>
              <a:spcAft>
                <a:spcPts val="200"/>
              </a:spcAft>
              <a:buFont typeface="Arial" panose="020B0604020202020204" pitchFamily="34" charset="0"/>
              <a:buChar char="•"/>
              <a:defRPr sz="24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Qualification (Top 500) </a:t>
            </a:r>
          </a:p>
          <a:p>
            <a:pPr marL="228600"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A62"/>
                </a:solidFill>
                <a:effectLst/>
                <a:uLnTx/>
                <a:uFillTx/>
                <a:latin typeface="Arial"/>
                <a:ea typeface="+mn-ea"/>
                <a:cs typeface="Arial"/>
              </a:rPr>
              <a:t xml:space="preserve">$35,000 </a:t>
            </a:r>
            <a:r>
              <a:rPr kumimoji="0" lang="en-US" sz="1400" b="0" i="0" u="none" strike="noStrike" kern="1200" cap="none" spc="0" normalizeH="0" baseline="0" noProof="0" dirty="0">
                <a:ln>
                  <a:noFill/>
                </a:ln>
                <a:solidFill>
                  <a:srgbClr val="000A62"/>
                </a:solidFill>
                <a:effectLst/>
                <a:uLnTx/>
                <a:uFillTx/>
                <a:latin typeface="Arial"/>
                <a:ea typeface="+mn-ea"/>
                <a:cs typeface="Arial"/>
              </a:rPr>
              <a:t>minimum paid premium</a:t>
            </a:r>
          </a:p>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Based on total paid insurance premium (Life incl. VUL/MWP, LTC &amp; IDI)</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Premium credit</a:t>
            </a:r>
          </a:p>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OPP &amp; single premium: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10% |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Recurring base &amp; riders:</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 100%</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Growth requirement</a:t>
            </a:r>
          </a:p>
          <a:p>
            <a:pPr marL="228600"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5% growth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over 1Q 2025</a:t>
            </a:r>
          </a:p>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A62"/>
                </a:solidFill>
                <a:effectLst/>
                <a:uLnTx/>
                <a:uFillTx/>
                <a:latin typeface="Arial"/>
                <a:ea typeface="+mn-ea"/>
                <a:cs typeface="Arial"/>
              </a:rPr>
              <a:t xml:space="preserve">Waived with </a:t>
            </a:r>
            <a:r>
              <a:rPr kumimoji="0" lang="en-US" sz="1400" b="1" i="0" u="none" strike="noStrike" kern="1200" cap="none" spc="0" normalizeH="0" baseline="0" noProof="0" dirty="0">
                <a:ln>
                  <a:noFill/>
                </a:ln>
                <a:solidFill>
                  <a:srgbClr val="000A62"/>
                </a:solidFill>
                <a:effectLst/>
                <a:uLnTx/>
                <a:uFillTx/>
                <a:latin typeface="Arial"/>
                <a:ea typeface="+mn-ea"/>
                <a:cs typeface="Arial"/>
              </a:rPr>
              <a:t xml:space="preserve">$300,000+ paid premium </a:t>
            </a:r>
            <a:r>
              <a:rPr kumimoji="0" lang="en-US" sz="1400" b="0" i="0" u="none" strike="noStrike" kern="1200" cap="none" spc="0" normalizeH="0" baseline="0" noProof="0" dirty="0">
                <a:ln>
                  <a:noFill/>
                </a:ln>
                <a:solidFill>
                  <a:srgbClr val="000A62"/>
                </a:solidFill>
                <a:effectLst/>
                <a:uLnTx/>
                <a:uFillTx/>
                <a:latin typeface="Arial"/>
                <a:ea typeface="+mn-ea"/>
                <a:cs typeface="Arial"/>
              </a:rPr>
              <a:t xml:space="preserve">in 1Q 2026 </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a:ea typeface="+mn-ea"/>
                <a:cs typeface="Arial"/>
              </a:rPr>
              <a:t>Why you’re competing</a:t>
            </a:r>
          </a:p>
          <a:p>
            <a:pPr marL="228600"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The Venetian’s luxury accommodations and a one-of-a-kind night at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The Sphere,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including a private dinner followed by The Wizard of Oz 4D experience</a:t>
            </a:r>
          </a:p>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World-class speakers, including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Michael Phelps</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Jon Dorenbos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and </a:t>
            </a:r>
            <a:b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b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Bobby Samuelson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and insights from accomplished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New York Life agents</a:t>
            </a:r>
            <a:endPar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Top 50 Recognition</a:t>
            </a:r>
          </a:p>
          <a:p>
            <a:pPr marL="228600" marR="0" lvl="0" indent="-2286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Photos with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Michael Phelps </a:t>
            </a:r>
            <a:r>
              <a:rPr kumimoji="0" lang="en-US" sz="14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&amp; </a:t>
            </a:r>
            <a:r>
              <a:rPr kumimoji="0" lang="en-US" sz="14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Jon Dorenbos + signed keepsake</a:t>
            </a:r>
            <a:endParaRPr kumimoji="0" lang="en-US" sz="1400" b="1" i="0" u="none" strike="noStrike" kern="1200" cap="none" spc="0" normalizeH="0" baseline="0" noProof="0" dirty="0">
              <a:ln>
                <a:noFill/>
              </a:ln>
              <a:solidFill>
                <a:srgbClr val="000A62"/>
              </a:solidFill>
              <a:effectLst/>
              <a:uLnTx/>
              <a:uFillTx/>
              <a:latin typeface="Arial"/>
              <a:ea typeface="+mn-ea"/>
              <a:cs typeface="Arial"/>
            </a:endParaRPr>
          </a:p>
        </p:txBody>
      </p:sp>
      <p:cxnSp>
        <p:nvCxnSpPr>
          <p:cNvPr id="9" name="Straight Connector 8">
            <a:extLst>
              <a:ext uri="{FF2B5EF4-FFF2-40B4-BE49-F238E27FC236}">
                <a16:creationId xmlns:a16="http://schemas.microsoft.com/office/drawing/2014/main" id="{8DB2B725-8D46-57C5-B53A-8AE979DC7273}"/>
              </a:ext>
            </a:extLst>
          </p:cNvPr>
          <p:cNvCxnSpPr>
            <a:cxnSpLocks/>
          </p:cNvCxnSpPr>
          <p:nvPr/>
        </p:nvCxnSpPr>
        <p:spPr>
          <a:xfrm>
            <a:off x="859634" y="2416628"/>
            <a:ext cx="6911459"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9" name="Isosceles Triangle 18">
            <a:extLst>
              <a:ext uri="{FF2B5EF4-FFF2-40B4-BE49-F238E27FC236}">
                <a16:creationId xmlns:a16="http://schemas.microsoft.com/office/drawing/2014/main" id="{938FEE71-1EB8-E7C9-841C-244E66F18955}"/>
              </a:ext>
            </a:extLst>
          </p:cNvPr>
          <p:cNvSpPr/>
          <p:nvPr/>
        </p:nvSpPr>
        <p:spPr bwMode="ltGray">
          <a:xfrm rot="5400000">
            <a:off x="10525620" y="5415654"/>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cxnSp>
        <p:nvCxnSpPr>
          <p:cNvPr id="29" name="Straight Connector 28">
            <a:extLst>
              <a:ext uri="{FF2B5EF4-FFF2-40B4-BE49-F238E27FC236}">
                <a16:creationId xmlns:a16="http://schemas.microsoft.com/office/drawing/2014/main" id="{91EB1508-A674-A982-1923-3130800C95E5}"/>
              </a:ext>
            </a:extLst>
          </p:cNvPr>
          <p:cNvCxnSpPr>
            <a:cxnSpLocks/>
          </p:cNvCxnSpPr>
          <p:nvPr/>
        </p:nvCxnSpPr>
        <p:spPr>
          <a:xfrm>
            <a:off x="859634" y="3058886"/>
            <a:ext cx="6911459"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63DB729-3FAE-4CA3-8D2A-590E015B96CD}"/>
              </a:ext>
            </a:extLst>
          </p:cNvPr>
          <p:cNvCxnSpPr>
            <a:cxnSpLocks/>
          </p:cNvCxnSpPr>
          <p:nvPr/>
        </p:nvCxnSpPr>
        <p:spPr>
          <a:xfrm>
            <a:off x="859634" y="3918857"/>
            <a:ext cx="6911459"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B2FA823-921B-089F-6103-F8A79F40FC40}"/>
              </a:ext>
            </a:extLst>
          </p:cNvPr>
          <p:cNvCxnSpPr>
            <a:cxnSpLocks/>
          </p:cNvCxnSpPr>
          <p:nvPr/>
        </p:nvCxnSpPr>
        <p:spPr>
          <a:xfrm>
            <a:off x="859634" y="5241008"/>
            <a:ext cx="6911459"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635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FA8F0-AE88-43CC-1341-525FC504403B}"/>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6E0FE80D-2880-75FF-C138-94AC4AF6312C}"/>
              </a:ext>
            </a:extLst>
          </p:cNvPr>
          <p:cNvSpPr>
            <a:spLocks/>
          </p:cNvSpPr>
          <p:nvPr/>
        </p:nvSpPr>
        <p:spPr>
          <a:xfrm>
            <a:off x="632355" y="1298448"/>
            <a:ext cx="10951962" cy="4663896"/>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F6B785F2-FFC3-56D1-B734-A11F88CB4B19}"/>
              </a:ext>
            </a:extLst>
          </p:cNvPr>
          <p:cNvSpPr/>
          <p:nvPr/>
        </p:nvSpPr>
        <p:spPr>
          <a:xfrm>
            <a:off x="688559" y="1359485"/>
            <a:ext cx="10839555" cy="4541823"/>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8BCC6B6F-98F0-B7C7-60B7-20AB054F6C36}"/>
              </a:ext>
            </a:extLst>
          </p:cNvPr>
          <p:cNvSpPr>
            <a:spLocks noGrp="1"/>
          </p:cNvSpPr>
          <p:nvPr>
            <p:ph type="title"/>
          </p:nvPr>
        </p:nvSpPr>
        <p:spPr>
          <a:xfrm>
            <a:off x="626269" y="493776"/>
            <a:ext cx="10939462" cy="804672"/>
          </a:xfrm>
        </p:spPr>
        <p:txBody>
          <a:bodyPr vert="horz" lIns="0" tIns="0" rIns="0" bIns="0" anchor="t" anchorCtr="0"/>
          <a:lstStyle/>
          <a:p>
            <a:r>
              <a:rPr lang="en-US" err="1"/>
              <a:t>Estab</a:t>
            </a:r>
            <a:r>
              <a:rPr lang="en-US"/>
              <a:t xml:space="preserve"> agents: Protection-Powered Growth webinar</a:t>
            </a:r>
          </a:p>
        </p:txBody>
      </p:sp>
      <p:sp>
        <p:nvSpPr>
          <p:cNvPr id="51" name="Slide Number Placeholder 50">
            <a:extLst>
              <a:ext uri="{FF2B5EF4-FFF2-40B4-BE49-F238E27FC236}">
                <a16:creationId xmlns:a16="http://schemas.microsoft.com/office/drawing/2014/main" id="{5527C9E8-CAC8-7985-07F1-63386C2226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4" name="Title 2">
            <a:extLst>
              <a:ext uri="{FF2B5EF4-FFF2-40B4-BE49-F238E27FC236}">
                <a16:creationId xmlns:a16="http://schemas.microsoft.com/office/drawing/2014/main" id="{E2C231B3-CE38-03E9-1600-87C1F49791D4}"/>
              </a:ext>
            </a:extLst>
          </p:cNvPr>
          <p:cNvSpPr txBox="1">
            <a:spLocks/>
          </p:cNvSpPr>
          <p:nvPr/>
        </p:nvSpPr>
        <p:spPr>
          <a:xfrm>
            <a:off x="933020" y="1580280"/>
            <a:ext cx="5717345" cy="338554"/>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ct val="0"/>
              </a:spcBef>
              <a:buFontTx/>
              <a:buNone/>
              <a:defRPr sz="3200" b="1" i="0" kern="1200">
                <a:solidFill>
                  <a:schemeClr val="bg1"/>
                </a:solidFill>
                <a:latin typeface="+mj-lt"/>
                <a:ea typeface="+mj-ea"/>
                <a:cs typeface="+mj-cs"/>
              </a:defRPr>
            </a:lvl1pPr>
            <a:lvl2pPr marL="4572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962"/>
                </a:solidFill>
                <a:effectLst/>
                <a:uLnTx/>
                <a:uFillTx/>
                <a:latin typeface="Arial" panose="020B0604020202020204" pitchFamily="34" charset="0"/>
                <a:ea typeface="+mj-ea"/>
                <a:cs typeface="Arial" panose="020B0604020202020204" pitchFamily="34" charset="0"/>
              </a:rPr>
              <a:t>Planning with Protection-Powered Growth</a:t>
            </a:r>
          </a:p>
        </p:txBody>
      </p:sp>
      <p:sp>
        <p:nvSpPr>
          <p:cNvPr id="15" name="Rectangle 14">
            <a:extLst>
              <a:ext uri="{FF2B5EF4-FFF2-40B4-BE49-F238E27FC236}">
                <a16:creationId xmlns:a16="http://schemas.microsoft.com/office/drawing/2014/main" id="{A96094AA-B9A1-7080-300F-7CD4FAA12142}"/>
              </a:ext>
            </a:extLst>
          </p:cNvPr>
          <p:cNvSpPr/>
          <p:nvPr/>
        </p:nvSpPr>
        <p:spPr>
          <a:xfrm>
            <a:off x="6808426" y="3872089"/>
            <a:ext cx="4651500" cy="19564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7" name="Text Box 6">
            <a:extLst>
              <a:ext uri="{FF2B5EF4-FFF2-40B4-BE49-F238E27FC236}">
                <a16:creationId xmlns:a16="http://schemas.microsoft.com/office/drawing/2014/main" id="{AAB31760-94E5-2E0A-1F43-5F02A515E662}"/>
              </a:ext>
            </a:extLst>
          </p:cNvPr>
          <p:cNvSpPr txBox="1"/>
          <p:nvPr/>
        </p:nvSpPr>
        <p:spPr>
          <a:xfrm>
            <a:off x="7767302" y="4095811"/>
            <a:ext cx="3222033" cy="117415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600"/>
              </a:spcAft>
              <a:buClrTx/>
              <a:buSzTx/>
              <a:buFontTx/>
              <a:buNone/>
              <a:tabLst/>
              <a:defRPr/>
            </a:pPr>
            <a:r>
              <a:rPr kumimoji="0" lang="en-US" sz="2000" b="1"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 xml:space="preserve">Date: </a:t>
            </a:r>
            <a:r>
              <a:rPr kumimoji="0" lang="en-US" sz="2000" b="0"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Friday, April 17, 2026</a:t>
            </a:r>
            <a:endParaRPr kumimoji="0" lang="en-US" sz="2000" b="1" i="0" u="none" strike="noStrike" kern="100" cap="none" spc="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3000"/>
              </a:spcAft>
              <a:buClrTx/>
              <a:buSzTx/>
              <a:buFontTx/>
              <a:buNone/>
              <a:tabLst/>
              <a:defRPr/>
            </a:pPr>
            <a:r>
              <a:rPr kumimoji="0" lang="en-US" sz="2000" b="1" i="0" u="none" strike="noStrike" kern="100" cap="none" spc="0" normalizeH="0" baseline="0" noProof="0">
                <a:ln>
                  <a:noFill/>
                </a:ln>
                <a:solidFill>
                  <a:srgbClr val="FFFFFF"/>
                </a:solidFill>
                <a:effectLst/>
                <a:uLnTx/>
                <a:uFillTx/>
                <a:latin typeface="Arial"/>
                <a:ea typeface="Calibri"/>
                <a:cs typeface="Arial"/>
              </a:rPr>
              <a:t xml:space="preserve">Time: </a:t>
            </a:r>
            <a:r>
              <a:rPr lang="en-US" sz="2000" kern="100">
                <a:solidFill>
                  <a:srgbClr val="FFFFFF"/>
                </a:solidFill>
                <a:latin typeface="Arial"/>
                <a:ea typeface="Calibri"/>
                <a:cs typeface="Arial"/>
              </a:rPr>
              <a:t>2</a:t>
            </a:r>
            <a:r>
              <a:rPr kumimoji="0" lang="en-US" sz="2000" b="0" i="0" u="none" strike="noStrike" kern="100" cap="none" spc="0" normalizeH="0" baseline="0" noProof="0">
                <a:ln>
                  <a:noFill/>
                </a:ln>
                <a:solidFill>
                  <a:srgbClr val="FFFFFF"/>
                </a:solidFill>
                <a:effectLst/>
                <a:uLnTx/>
                <a:uFillTx/>
                <a:latin typeface="Arial"/>
                <a:ea typeface="Calibri"/>
                <a:cs typeface="Arial"/>
              </a:rPr>
              <a:t xml:space="preserve"> </a:t>
            </a:r>
            <a:r>
              <a:rPr lang="en-US" sz="2000" kern="100">
                <a:solidFill>
                  <a:srgbClr val="FFFFFF"/>
                </a:solidFill>
                <a:latin typeface="Arial"/>
                <a:ea typeface="Calibri"/>
                <a:cs typeface="Arial"/>
              </a:rPr>
              <a:t>pm</a:t>
            </a:r>
            <a:r>
              <a:rPr kumimoji="0" lang="en-US" sz="2000" b="0" i="0" u="none" strike="noStrike" kern="100" cap="none" spc="0" normalizeH="0" baseline="0" noProof="0">
                <a:ln>
                  <a:noFill/>
                </a:ln>
                <a:solidFill>
                  <a:srgbClr val="FFFFFF"/>
                </a:solidFill>
                <a:effectLst/>
                <a:uLnTx/>
                <a:uFillTx/>
                <a:latin typeface="Arial"/>
                <a:ea typeface="Calibri"/>
                <a:cs typeface="Arial"/>
              </a:rPr>
              <a:t xml:space="preserve"> ET*</a:t>
            </a:r>
            <a:endParaRPr lang="en-US" sz="2000" b="0" i="0" u="none" strike="noStrike" kern="100" cap="none" spc="0" normalizeH="0" baseline="0" noProof="0">
              <a:ln>
                <a:noFill/>
              </a:ln>
              <a:solidFill>
                <a:srgbClr val="FFFFFF"/>
              </a:solidFill>
              <a:effectLst/>
              <a:uLnTx/>
              <a:uFillTx/>
              <a:latin typeface="Arial"/>
              <a:ea typeface="Calibri"/>
              <a:cs typeface="Arial"/>
            </a:endParaRPr>
          </a:p>
        </p:txBody>
      </p:sp>
      <p:cxnSp>
        <p:nvCxnSpPr>
          <p:cNvPr id="18" name="Straight Connector 17">
            <a:extLst>
              <a:ext uri="{FF2B5EF4-FFF2-40B4-BE49-F238E27FC236}">
                <a16:creationId xmlns:a16="http://schemas.microsoft.com/office/drawing/2014/main" id="{BC6647E4-6BF4-160F-EBE0-1EEAFE08B0DC}"/>
              </a:ext>
            </a:extLst>
          </p:cNvPr>
          <p:cNvCxnSpPr>
            <a:cxnSpLocks/>
          </p:cNvCxnSpPr>
          <p:nvPr/>
        </p:nvCxnSpPr>
        <p:spPr>
          <a:xfrm>
            <a:off x="7003381" y="4624161"/>
            <a:ext cx="4261591" cy="0"/>
          </a:xfrm>
          <a:prstGeom prst="line">
            <a:avLst/>
          </a:prstGeom>
          <a:ln w="12700">
            <a:solidFill>
              <a:srgbClr val="A5EFBF"/>
            </a:solidFill>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73B7ACEC-46BF-64E7-38A0-A097B9C570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923" y="4031529"/>
            <a:ext cx="541307" cy="455593"/>
          </a:xfrm>
          <a:prstGeom prst="rect">
            <a:avLst/>
          </a:prstGeom>
        </p:spPr>
      </p:pic>
      <p:pic>
        <p:nvPicPr>
          <p:cNvPr id="20" name="Picture 19">
            <a:extLst>
              <a:ext uri="{FF2B5EF4-FFF2-40B4-BE49-F238E27FC236}">
                <a16:creationId xmlns:a16="http://schemas.microsoft.com/office/drawing/2014/main" id="{B793E7DE-8052-2402-FAF5-1F45D8DA9B8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016842" y="4773656"/>
            <a:ext cx="517468" cy="517468"/>
          </a:xfrm>
          <a:prstGeom prst="rect">
            <a:avLst/>
          </a:prstGeom>
        </p:spPr>
      </p:pic>
      <p:sp>
        <p:nvSpPr>
          <p:cNvPr id="21" name="TextBox 20">
            <a:extLst>
              <a:ext uri="{FF2B5EF4-FFF2-40B4-BE49-F238E27FC236}">
                <a16:creationId xmlns:a16="http://schemas.microsoft.com/office/drawing/2014/main" id="{6FC69AF6-F0C5-F844-EE19-23E0D291CE41}"/>
              </a:ext>
            </a:extLst>
          </p:cNvPr>
          <p:cNvSpPr txBox="1"/>
          <p:nvPr/>
        </p:nvSpPr>
        <p:spPr>
          <a:xfrm>
            <a:off x="7003381" y="5541488"/>
            <a:ext cx="4261591"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cs typeface="Arial"/>
              </a:rPr>
              <a:t xml:space="preserve">*1 </a:t>
            </a:r>
            <a:r>
              <a:rPr lang="en-US" sz="1200">
                <a:solidFill>
                  <a:srgbClr val="FFFFFF"/>
                </a:solidFill>
                <a:latin typeface="Arial"/>
                <a:cs typeface="Arial"/>
              </a:rPr>
              <a:t>pm</a:t>
            </a:r>
            <a:r>
              <a:rPr kumimoji="0" lang="en-US" sz="1200" b="0" i="0" u="none" strike="noStrike" kern="1200" cap="none" spc="0" normalizeH="0" baseline="0" noProof="0">
                <a:ln>
                  <a:noFill/>
                </a:ln>
                <a:solidFill>
                  <a:srgbClr val="FFFFFF"/>
                </a:solidFill>
                <a:effectLst/>
                <a:uLnTx/>
                <a:uFillTx/>
                <a:latin typeface="Arial"/>
                <a:cs typeface="Arial"/>
              </a:rPr>
              <a:t xml:space="preserve"> CT | 12 </a:t>
            </a:r>
            <a:r>
              <a:rPr lang="en-US" sz="1200">
                <a:solidFill>
                  <a:srgbClr val="FFFFFF"/>
                </a:solidFill>
                <a:latin typeface="Arial"/>
                <a:cs typeface="Arial"/>
              </a:rPr>
              <a:t>pm</a:t>
            </a:r>
            <a:r>
              <a:rPr kumimoji="0" lang="en-US" sz="1200" b="0" i="0" u="none" strike="noStrike" kern="1200" cap="none" spc="0" normalizeH="0" baseline="0" noProof="0">
                <a:ln>
                  <a:noFill/>
                </a:ln>
                <a:solidFill>
                  <a:srgbClr val="FFFFFF"/>
                </a:solidFill>
                <a:effectLst/>
                <a:uLnTx/>
                <a:uFillTx/>
                <a:latin typeface="Arial"/>
                <a:cs typeface="Arial"/>
              </a:rPr>
              <a:t xml:space="preserve"> MT | 11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PT | 10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AK | 8 </a:t>
            </a:r>
            <a:r>
              <a:rPr lang="en-US" sz="1200">
                <a:solidFill>
                  <a:srgbClr val="FFFFFF"/>
                </a:solidFill>
                <a:latin typeface="Arial"/>
                <a:cs typeface="Arial"/>
              </a:rPr>
              <a:t>am</a:t>
            </a:r>
            <a:r>
              <a:rPr kumimoji="0" lang="en-US" sz="1200" b="0" i="0" u="none" strike="noStrike" kern="1200" cap="none" spc="0" normalizeH="0" baseline="0" noProof="0">
                <a:ln>
                  <a:noFill/>
                </a:ln>
                <a:solidFill>
                  <a:srgbClr val="FFFFFF"/>
                </a:solidFill>
                <a:effectLst/>
                <a:uLnTx/>
                <a:uFillTx/>
                <a:latin typeface="Arial"/>
                <a:cs typeface="Arial"/>
              </a:rPr>
              <a:t xml:space="preserve"> HI</a:t>
            </a:r>
          </a:p>
        </p:txBody>
      </p:sp>
      <p:cxnSp>
        <p:nvCxnSpPr>
          <p:cNvPr id="23" name="Straight Connector 22">
            <a:extLst>
              <a:ext uri="{FF2B5EF4-FFF2-40B4-BE49-F238E27FC236}">
                <a16:creationId xmlns:a16="http://schemas.microsoft.com/office/drawing/2014/main" id="{534433C1-25BF-EEE2-D47F-CD19EE5D744B}"/>
              </a:ext>
            </a:extLst>
          </p:cNvPr>
          <p:cNvCxnSpPr>
            <a:cxnSpLocks/>
          </p:cNvCxnSpPr>
          <p:nvPr/>
        </p:nvCxnSpPr>
        <p:spPr>
          <a:xfrm>
            <a:off x="7003381" y="5417376"/>
            <a:ext cx="4261591" cy="0"/>
          </a:xfrm>
          <a:prstGeom prst="line">
            <a:avLst/>
          </a:prstGeom>
          <a:ln w="12700">
            <a:solidFill>
              <a:srgbClr val="A5EFBF"/>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ADD12FE5-F9C4-5FDF-993D-E77D9E6E6B07}"/>
              </a:ext>
            </a:extLst>
          </p:cNvPr>
          <p:cNvSpPr/>
          <p:nvPr/>
        </p:nvSpPr>
        <p:spPr bwMode="ltGray">
          <a:xfrm>
            <a:off x="807727" y="4716465"/>
            <a:ext cx="5758325" cy="1110355"/>
          </a:xfrm>
          <a:prstGeom prst="rect">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Geneva" pitchFamily="-109" charset="-128"/>
              <a:cs typeface="+mn-cs"/>
            </a:endParaRPr>
          </a:p>
        </p:txBody>
      </p:sp>
      <p:sp>
        <p:nvSpPr>
          <p:cNvPr id="25" name="TextBox 24">
            <a:extLst>
              <a:ext uri="{FF2B5EF4-FFF2-40B4-BE49-F238E27FC236}">
                <a16:creationId xmlns:a16="http://schemas.microsoft.com/office/drawing/2014/main" id="{9FDB577F-7C49-906F-220B-DD4421B5F700}"/>
              </a:ext>
            </a:extLst>
          </p:cNvPr>
          <p:cNvSpPr txBox="1"/>
          <p:nvPr/>
        </p:nvSpPr>
        <p:spPr>
          <a:xfrm>
            <a:off x="1111584" y="4993435"/>
            <a:ext cx="3583899"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468FF"/>
                </a:solidFill>
                <a:effectLst/>
                <a:uLnTx/>
                <a:uFillTx/>
                <a:latin typeface="Arial"/>
                <a:ea typeface="+mn-ea"/>
                <a:cs typeface="+mn-cs"/>
              </a:rPr>
              <a:t>Scan the QR code to secure your spot and elevate your planning approach.</a:t>
            </a:r>
          </a:p>
        </p:txBody>
      </p:sp>
      <p:sp>
        <p:nvSpPr>
          <p:cNvPr id="26" name="Isosceles Triangle 25">
            <a:extLst>
              <a:ext uri="{FF2B5EF4-FFF2-40B4-BE49-F238E27FC236}">
                <a16:creationId xmlns:a16="http://schemas.microsoft.com/office/drawing/2014/main" id="{DC51846B-875A-FD5C-3640-48FCA3661BD2}"/>
              </a:ext>
            </a:extLst>
          </p:cNvPr>
          <p:cNvSpPr/>
          <p:nvPr/>
        </p:nvSpPr>
        <p:spPr bwMode="ltGray">
          <a:xfrm rot="5400000">
            <a:off x="4946526" y="5153626"/>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4" name="Content Placeholder 2">
            <a:extLst>
              <a:ext uri="{FF2B5EF4-FFF2-40B4-BE49-F238E27FC236}">
                <a16:creationId xmlns:a16="http://schemas.microsoft.com/office/drawing/2014/main" id="{64DCE98F-F24C-3850-0191-FB36C7B0C9D4}"/>
              </a:ext>
            </a:extLst>
          </p:cNvPr>
          <p:cNvSpPr txBox="1">
            <a:spLocks/>
          </p:cNvSpPr>
          <p:nvPr/>
        </p:nvSpPr>
        <p:spPr>
          <a:xfrm>
            <a:off x="933019" y="2066249"/>
            <a:ext cx="5511375" cy="2712865"/>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Discover practical strategies to integrate protection, retirement income, and legacy planning so you can deepen client conversations and uncover new opportunities.</a:t>
            </a:r>
          </a:p>
          <a:p>
            <a:pPr marL="0" marR="0" lvl="0" indent="0" algn="l" defTabSz="914400" rtl="0" eaLnBrk="1" fontAlgn="auto" latinLnBrk="0" hangingPunct="1">
              <a:lnSpc>
                <a:spcPct val="90000"/>
              </a:lnSpc>
              <a:spcBef>
                <a:spcPts val="0"/>
              </a:spcBef>
              <a:spcAft>
                <a:spcPts val="4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 xml:space="preserve">Key </a:t>
            </a:r>
            <a:r>
              <a:rPr kumimoji="0" lang="en-US" sz="1600" b="1"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takeaways</a:t>
            </a:r>
            <a:endParaRPr kumimoji="0" lang="en-US" sz="1600" b="1"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Offset taxes from qualified plans using life insurance</a:t>
            </a:r>
          </a:p>
          <a:p>
            <a:pPr marL="228600" marR="0" lvl="0" indent="-2286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Help protect clients’ income and assets</a:t>
            </a:r>
          </a:p>
          <a:p>
            <a:pPr marL="228600" marR="0" lvl="0" indent="-2286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Leverage RMD strategies and SECURE 2.0 insights</a:t>
            </a:r>
          </a:p>
          <a:p>
            <a:pPr marL="228600" marR="0" lvl="0" indent="-228600" algn="l" defTabSz="914400" rtl="0" eaLnBrk="1" fontAlgn="auto" latinLnBrk="0" hangingPunct="1">
              <a:lnSpc>
                <a:spcPct val="9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A62"/>
                </a:solidFill>
                <a:effectLst/>
                <a:uLnTx/>
                <a:uFillTx/>
                <a:latin typeface="Arial" panose="020B0604020202020204" pitchFamily="34" charset="0"/>
                <a:ea typeface="+mn-ea"/>
                <a:cs typeface="Arial" panose="020B0604020202020204" pitchFamily="34" charset="0"/>
              </a:rPr>
              <a:t>Enhance legacy planning with life insurance and annuities</a:t>
            </a:r>
          </a:p>
        </p:txBody>
      </p:sp>
      <p:pic>
        <p:nvPicPr>
          <p:cNvPr id="5" name="Picture 4">
            <a:extLst>
              <a:ext uri="{FF2B5EF4-FFF2-40B4-BE49-F238E27FC236}">
                <a16:creationId xmlns:a16="http://schemas.microsoft.com/office/drawing/2014/main" id="{9FBA21FC-A0A3-CFFD-AAD9-558405915E9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477013" y="4716464"/>
            <a:ext cx="1110356" cy="1110356"/>
          </a:xfrm>
          <a:prstGeom prst="rect">
            <a:avLst/>
          </a:prstGeom>
        </p:spPr>
      </p:pic>
      <p:pic>
        <p:nvPicPr>
          <p:cNvPr id="6" name="Picture 5">
            <a:extLst>
              <a:ext uri="{FF2B5EF4-FFF2-40B4-BE49-F238E27FC236}">
                <a16:creationId xmlns:a16="http://schemas.microsoft.com/office/drawing/2014/main" id="{83604C98-42D6-7EE2-E9A1-67FC69A6C7EF}"/>
              </a:ext>
            </a:extLst>
          </p:cNvPr>
          <p:cNvPicPr>
            <a:picLocks noChangeAspect="1"/>
          </p:cNvPicPr>
          <p:nvPr/>
        </p:nvPicPr>
        <p:blipFill>
          <a:blip r:embed="rId6" cstate="print">
            <a:extLst>
              <a:ext uri="{28A0092B-C50C-407E-A947-70E740481C1C}">
                <a14:useLocalDpi xmlns:a14="http://schemas.microsoft.com/office/drawing/2010/main" val="0"/>
              </a:ext>
            </a:extLst>
          </a:blip>
          <a:srcRect l="14844" t="17069" r="18485" b="13609"/>
          <a:stretch>
            <a:fillRect/>
          </a:stretch>
        </p:blipFill>
        <p:spPr>
          <a:xfrm>
            <a:off x="6808426" y="1422558"/>
            <a:ext cx="4651500" cy="2381011"/>
          </a:xfrm>
          <a:prstGeom prst="rect">
            <a:avLst/>
          </a:prstGeom>
        </p:spPr>
      </p:pic>
      <p:sp>
        <p:nvSpPr>
          <p:cNvPr id="7" name="TextBox 6">
            <a:extLst>
              <a:ext uri="{FF2B5EF4-FFF2-40B4-BE49-F238E27FC236}">
                <a16:creationId xmlns:a16="http://schemas.microsoft.com/office/drawing/2014/main" id="{2B8F5719-8F57-45A8-84D2-8155B1A91D57}"/>
              </a:ext>
            </a:extLst>
          </p:cNvPr>
          <p:cNvSpPr txBox="1"/>
          <p:nvPr/>
        </p:nvSpPr>
        <p:spPr>
          <a:xfrm>
            <a:off x="1" y="-386337"/>
            <a:ext cx="12192000" cy="30777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MANAGERS – REMOVE THIS SLIDE IF YOUR OFFICE IS HAVING AN IN-PERSON ROADSHOW</a:t>
            </a:r>
          </a:p>
        </p:txBody>
      </p:sp>
    </p:spTree>
    <p:extLst>
      <p:ext uri="{BB962C8B-B14F-4D97-AF65-F5344CB8AC3E}">
        <p14:creationId xmlns:p14="http://schemas.microsoft.com/office/powerpoint/2010/main" val="1509874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8C8E2C2-FC58-CFFF-E0C9-9F4AF08A24B8}"/>
              </a:ext>
            </a:extLst>
          </p:cNvPr>
          <p:cNvSpPr>
            <a:spLocks/>
          </p:cNvSpPr>
          <p:nvPr/>
        </p:nvSpPr>
        <p:spPr>
          <a:xfrm>
            <a:off x="519354" y="1481113"/>
            <a:ext cx="11267123" cy="4238846"/>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a:ea typeface="+mn-ea"/>
                <a:cs typeface="+mn-cs"/>
              </a:rPr>
              <a:t xml:space="preserve"> </a:t>
            </a:r>
          </a:p>
        </p:txBody>
      </p:sp>
      <p:sp>
        <p:nvSpPr>
          <p:cNvPr id="11" name="Rectangle 10">
            <a:extLst>
              <a:ext uri="{FF2B5EF4-FFF2-40B4-BE49-F238E27FC236}">
                <a16:creationId xmlns:a16="http://schemas.microsoft.com/office/drawing/2014/main" id="{482D94FD-8741-AD27-301A-FF02326DA7C4}"/>
              </a:ext>
            </a:extLst>
          </p:cNvPr>
          <p:cNvSpPr/>
          <p:nvPr/>
        </p:nvSpPr>
        <p:spPr bwMode="ltGray">
          <a:xfrm>
            <a:off x="755879" y="4843828"/>
            <a:ext cx="3791529" cy="771222"/>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 name="Title 1">
            <a:extLst>
              <a:ext uri="{FF2B5EF4-FFF2-40B4-BE49-F238E27FC236}">
                <a16:creationId xmlns:a16="http://schemas.microsoft.com/office/drawing/2014/main" id="{BA2AC86A-BC68-E932-327B-2DB5FDC9CD3C}"/>
              </a:ext>
            </a:extLst>
          </p:cNvPr>
          <p:cNvSpPr>
            <a:spLocks noGrp="1"/>
          </p:cNvSpPr>
          <p:nvPr>
            <p:ph type="title"/>
          </p:nvPr>
        </p:nvSpPr>
        <p:spPr>
          <a:xfrm>
            <a:off x="393349" y="410354"/>
            <a:ext cx="11392252" cy="682752"/>
          </a:xfrm>
        </p:spPr>
        <p:txBody>
          <a:bodyPr vert="horz" lIns="91440" tIns="45720" rIns="91440" bIns="45720" rtlCol="0" anchor="t" anchorCtr="0">
            <a:noAutofit/>
          </a:bodyPr>
          <a:lstStyle/>
          <a:p>
            <a:r>
              <a:rPr lang="en-US">
                <a:latin typeface="Georgia"/>
              </a:rPr>
              <a:t>Morningstar Master Series for compliance and sales</a:t>
            </a:r>
          </a:p>
        </p:txBody>
      </p:sp>
      <p:sp>
        <p:nvSpPr>
          <p:cNvPr id="3" name="Text Placeholder 2">
            <a:extLst>
              <a:ext uri="{FF2B5EF4-FFF2-40B4-BE49-F238E27FC236}">
                <a16:creationId xmlns:a16="http://schemas.microsoft.com/office/drawing/2014/main" id="{024B73B6-F762-17C5-1F23-ADEC1D6A4ABF}"/>
              </a:ext>
            </a:extLst>
          </p:cNvPr>
          <p:cNvSpPr>
            <a:spLocks noGrp="1"/>
          </p:cNvSpPr>
          <p:nvPr>
            <p:ph type="body" sz="quarter" idx="13"/>
          </p:nvPr>
        </p:nvSpPr>
        <p:spPr>
          <a:xfrm>
            <a:off x="393349" y="973080"/>
            <a:ext cx="11520487" cy="558800"/>
          </a:xfrm>
        </p:spPr>
        <p:txBody>
          <a:bodyPr vert="horz" lIns="91440" tIns="45720" rIns="91440" bIns="45720" rtlCol="0" anchor="t">
            <a:noAutofit/>
          </a:bodyPr>
          <a:lstStyle/>
          <a:p>
            <a:r>
              <a:rPr lang="en-US" sz="1800" dirty="0">
                <a:solidFill>
                  <a:srgbClr val="0468FF"/>
                </a:solidFill>
                <a:latin typeface="+mn-lt"/>
              </a:rPr>
              <a:t>Become efficient and leverage for sales</a:t>
            </a:r>
          </a:p>
        </p:txBody>
      </p:sp>
      <p:sp>
        <p:nvSpPr>
          <p:cNvPr id="4" name="Text Placeholder 3">
            <a:extLst>
              <a:ext uri="{FF2B5EF4-FFF2-40B4-BE49-F238E27FC236}">
                <a16:creationId xmlns:a16="http://schemas.microsoft.com/office/drawing/2014/main" id="{F59BF68E-6704-A8F5-AB1B-D8995FE23CAB}"/>
              </a:ext>
            </a:extLst>
          </p:cNvPr>
          <p:cNvSpPr>
            <a:spLocks noGrp="1"/>
          </p:cNvSpPr>
          <p:nvPr>
            <p:ph type="body" sz="quarter" idx="14"/>
          </p:nvPr>
        </p:nvSpPr>
        <p:spPr>
          <a:xfrm>
            <a:off x="752677" y="1671944"/>
            <a:ext cx="5773463" cy="3029811"/>
          </a:xfrm>
        </p:spPr>
        <p:txBody>
          <a:bodyPr/>
          <a:lstStyle/>
          <a:p>
            <a:pPr>
              <a:buNone/>
            </a:pPr>
            <a:r>
              <a:rPr lang="en-US" sz="1400" b="1" dirty="0">
                <a:solidFill>
                  <a:schemeClr val="tx1"/>
                </a:solidFill>
                <a:latin typeface="Arial"/>
                <a:cs typeface="Arial"/>
              </a:rPr>
              <a:t>Topics:</a:t>
            </a:r>
          </a:p>
          <a:p>
            <a:r>
              <a:rPr lang="en-US" sz="1400" dirty="0">
                <a:solidFill>
                  <a:schemeClr val="tx1"/>
                </a:solidFill>
                <a:latin typeface="Arial"/>
                <a:cs typeface="Arial"/>
              </a:rPr>
              <a:t>April 21: Morningstar Rollover Proposals</a:t>
            </a:r>
          </a:p>
          <a:p>
            <a:r>
              <a:rPr lang="en-US" sz="1400" dirty="0">
                <a:solidFill>
                  <a:schemeClr val="tx1"/>
                </a:solidFill>
                <a:latin typeface="Arial"/>
                <a:cs typeface="Arial"/>
              </a:rPr>
              <a:t xml:space="preserve">April 28: Morningstar Existing Assets Proposals </a:t>
            </a:r>
          </a:p>
          <a:p>
            <a:r>
              <a:rPr lang="en-US" sz="1400" dirty="0">
                <a:solidFill>
                  <a:schemeClr val="tx1"/>
                </a:solidFill>
                <a:latin typeface="Arial"/>
                <a:cs typeface="Arial"/>
              </a:rPr>
              <a:t xml:space="preserve">May 12:  Using Morningstar to Conduct Research </a:t>
            </a:r>
          </a:p>
          <a:p>
            <a:r>
              <a:rPr lang="en-US" sz="1400" dirty="0">
                <a:solidFill>
                  <a:schemeClr val="tx1"/>
                </a:solidFill>
                <a:latin typeface="Arial"/>
                <a:cs typeface="Arial"/>
              </a:rPr>
              <a:t>May 19:  Using Morningstar to Conduct Hypothetical Scenarios</a:t>
            </a:r>
          </a:p>
          <a:p>
            <a:pPr>
              <a:buNone/>
            </a:pPr>
            <a:r>
              <a:rPr lang="en-US" sz="1400" b="1" dirty="0">
                <a:solidFill>
                  <a:schemeClr val="tx1"/>
                </a:solidFill>
                <a:latin typeface="Arial"/>
                <a:cs typeface="Arial"/>
              </a:rPr>
              <a:t>Host:</a:t>
            </a:r>
            <a:r>
              <a:rPr lang="en-US" sz="1400" dirty="0">
                <a:solidFill>
                  <a:schemeClr val="tx1"/>
                </a:solidFill>
                <a:latin typeface="Arial"/>
                <a:cs typeface="Arial"/>
              </a:rPr>
              <a:t xml:space="preserve"> Morningstar IPT Training Team</a:t>
            </a:r>
            <a:br>
              <a:rPr lang="en-US" sz="1400"/>
            </a:br>
            <a:r>
              <a:rPr lang="en-US" sz="1400" b="1" dirty="0">
                <a:solidFill>
                  <a:schemeClr val="tx1"/>
                </a:solidFill>
                <a:latin typeface="Arial"/>
                <a:cs typeface="Arial"/>
              </a:rPr>
              <a:t>Duration:</a:t>
            </a:r>
            <a:r>
              <a:rPr lang="en-US" sz="1400" dirty="0">
                <a:solidFill>
                  <a:schemeClr val="tx1"/>
                </a:solidFill>
                <a:latin typeface="Arial"/>
                <a:cs typeface="Arial"/>
              </a:rPr>
              <a:t xml:space="preserve"> 1 Hour Sessions: Choose </a:t>
            </a:r>
            <a:r>
              <a:rPr lang="en-US" sz="1400">
                <a:solidFill>
                  <a:schemeClr val="tx1"/>
                </a:solidFill>
                <a:latin typeface="Arial"/>
                <a:cs typeface="Arial"/>
              </a:rPr>
              <a:t xml:space="preserve">many </a:t>
            </a:r>
            <a:r>
              <a:rPr lang="en-US" sz="1400" dirty="0">
                <a:solidFill>
                  <a:schemeClr val="tx1"/>
                </a:solidFill>
                <a:latin typeface="Arial"/>
                <a:cs typeface="Arial"/>
              </a:rPr>
              <a:t xml:space="preserve">or </a:t>
            </a:r>
            <a:r>
              <a:rPr lang="en-US" sz="1400">
                <a:solidFill>
                  <a:schemeClr val="tx1"/>
                </a:solidFill>
                <a:latin typeface="Arial"/>
                <a:cs typeface="Arial"/>
              </a:rPr>
              <a:t>just one</a:t>
            </a:r>
            <a:endParaRPr lang="en-US" sz="1400" dirty="0">
              <a:solidFill>
                <a:schemeClr val="tx1"/>
              </a:solidFill>
              <a:latin typeface="Arial"/>
              <a:cs typeface="Arial"/>
            </a:endParaRPr>
          </a:p>
          <a:p>
            <a:pPr>
              <a:buNone/>
            </a:pPr>
            <a:endParaRPr lang="en-US" altLang="en-US" sz="1400" dirty="0">
              <a:solidFill>
                <a:schemeClr val="tx1"/>
              </a:solidFill>
              <a:latin typeface="Arial" panose="020B0604020202020204" pitchFamily="34" charset="0"/>
            </a:endParaRPr>
          </a:p>
          <a:p>
            <a:pPr defTabSz="914377" eaLnBrk="0" fontAlgn="base" hangingPunct="0">
              <a:spcBef>
                <a:spcPct val="0"/>
              </a:spcBef>
              <a:spcAft>
                <a:spcPct val="0"/>
              </a:spcAft>
            </a:pPr>
            <a:r>
              <a:rPr lang="en-US" altLang="en-US" sz="1400">
                <a:solidFill>
                  <a:schemeClr val="tx1"/>
                </a:solidFill>
                <a:latin typeface="Arial"/>
                <a:cs typeface="Arial"/>
              </a:rPr>
              <a:t xml:space="preserve"> </a:t>
            </a:r>
            <a:r>
              <a:rPr lang="en-US" altLang="en-US" sz="1400" b="1">
                <a:solidFill>
                  <a:schemeClr val="tx1"/>
                </a:solidFill>
                <a:latin typeface="Arial"/>
                <a:cs typeface="Arial"/>
              </a:rPr>
              <a:t>Live demo</a:t>
            </a:r>
            <a:r>
              <a:rPr lang="en-US" altLang="en-US" sz="1400">
                <a:solidFill>
                  <a:schemeClr val="tx1"/>
                </a:solidFill>
                <a:latin typeface="Arial"/>
                <a:cs typeface="Arial"/>
              </a:rPr>
              <a:t>: Leverage advanced Morningstar features</a:t>
            </a:r>
          </a:p>
          <a:p>
            <a:pPr defTabSz="914377" eaLnBrk="0" fontAlgn="base" hangingPunct="0">
              <a:spcBef>
                <a:spcPct val="0"/>
              </a:spcBef>
              <a:spcAft>
                <a:spcPct val="0"/>
              </a:spcAft>
            </a:pPr>
            <a:r>
              <a:rPr lang="en-US" altLang="en-US" sz="1400">
                <a:solidFill>
                  <a:schemeClr val="tx1"/>
                </a:solidFill>
                <a:latin typeface="Arial"/>
                <a:cs typeface="Arial"/>
              </a:rPr>
              <a:t xml:space="preserve"> </a:t>
            </a:r>
            <a:r>
              <a:rPr lang="en-US" altLang="en-US" sz="1400" b="1">
                <a:solidFill>
                  <a:schemeClr val="tx1"/>
                </a:solidFill>
                <a:latin typeface="Arial"/>
                <a:cs typeface="Arial"/>
              </a:rPr>
              <a:t>Tips &amp; Tricks</a:t>
            </a:r>
            <a:r>
              <a:rPr lang="en-US" altLang="en-US" sz="1400">
                <a:solidFill>
                  <a:schemeClr val="tx1"/>
                </a:solidFill>
                <a:latin typeface="Arial"/>
                <a:cs typeface="Arial"/>
              </a:rPr>
              <a:t>: Complete proposals with ease</a:t>
            </a:r>
          </a:p>
          <a:p>
            <a:pPr defTabSz="914377" eaLnBrk="0" fontAlgn="base" hangingPunct="0">
              <a:spcBef>
                <a:spcPct val="0"/>
              </a:spcBef>
              <a:spcAft>
                <a:spcPct val="0"/>
              </a:spcAft>
            </a:pPr>
            <a:r>
              <a:rPr lang="en-US" altLang="en-US" sz="1400" b="1" dirty="0">
                <a:solidFill>
                  <a:schemeClr val="tx1"/>
                </a:solidFill>
                <a:latin typeface="Arial" panose="020B0604020202020204" pitchFamily="34" charset="0"/>
              </a:rPr>
              <a:t xml:space="preserve"> Live chat:</a:t>
            </a:r>
            <a:r>
              <a:rPr lang="en-US" altLang="en-US" sz="1400" dirty="0">
                <a:solidFill>
                  <a:schemeClr val="tx1"/>
                </a:solidFill>
                <a:latin typeface="Arial" panose="020B0604020202020204" pitchFamily="34" charset="0"/>
              </a:rPr>
              <a:t xml:space="preserve"> Support Throughout!</a:t>
            </a:r>
            <a:endParaRPr lang="en-US" sz="1400" b="1" dirty="0"/>
          </a:p>
          <a:p>
            <a:endParaRPr lang="en-US" sz="1100" b="1" dirty="0"/>
          </a:p>
          <a:p>
            <a:br>
              <a:rPr lang="en-US" sz="1600" dirty="0"/>
            </a:br>
            <a:endParaRPr lang="en-US" dirty="0"/>
          </a:p>
        </p:txBody>
      </p:sp>
      <p:sp>
        <p:nvSpPr>
          <p:cNvPr id="16" name="TextBox 15">
            <a:extLst>
              <a:ext uri="{FF2B5EF4-FFF2-40B4-BE49-F238E27FC236}">
                <a16:creationId xmlns:a16="http://schemas.microsoft.com/office/drawing/2014/main" id="{85AF248A-CC00-7972-AF65-F147BE1932E2}"/>
              </a:ext>
            </a:extLst>
          </p:cNvPr>
          <p:cNvSpPr txBox="1"/>
          <p:nvPr/>
        </p:nvSpPr>
        <p:spPr>
          <a:xfrm>
            <a:off x="752677" y="5048501"/>
            <a:ext cx="1839807"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468FF"/>
                </a:solidFill>
                <a:effectLst/>
                <a:uLnTx/>
                <a:uFillTx/>
                <a:latin typeface="Effra Pro" panose="020B0603020203020204" pitchFamily="34" charset="0"/>
                <a:ea typeface="Geneva" pitchFamily="-109" charset="-128"/>
                <a:cs typeface="+mn-cs"/>
              </a:rPr>
              <a:t xml:space="preserve">Scan to </a:t>
            </a:r>
            <a:r>
              <a:rPr kumimoji="0" lang="en-US" sz="1600" b="0" i="0" u="none" strike="noStrike" kern="1200" cap="none" spc="0" normalizeH="0" baseline="0" noProof="0">
                <a:ln>
                  <a:noFill/>
                </a:ln>
                <a:solidFill>
                  <a:srgbClr val="0468FF"/>
                </a:solidFill>
                <a:effectLst/>
                <a:uLnTx/>
                <a:uFillTx/>
                <a:latin typeface="Effra Pro" panose="020B0603020203020204" pitchFamily="34" charset="0"/>
                <a:ea typeface="Geneva" pitchFamily="-109" charset="-128"/>
                <a:cs typeface="+mn-cs"/>
              </a:rPr>
              <a:t>register</a:t>
            </a:r>
            <a:endParaRPr kumimoji="0" lang="en-US" sz="1600" b="0" i="0" u="none" strike="noStrike" kern="1200" cap="none" spc="0" normalizeH="0" baseline="0" noProof="0" dirty="0">
              <a:ln>
                <a:noFill/>
              </a:ln>
              <a:solidFill>
                <a:srgbClr val="0468FF"/>
              </a:solidFill>
              <a:effectLst/>
              <a:uLnTx/>
              <a:uFillTx/>
              <a:latin typeface="Effra Pro" panose="020B0603020203020204" pitchFamily="34" charset="0"/>
              <a:ea typeface="Geneva" pitchFamily="-109" charset="-128"/>
              <a:cs typeface="+mn-cs"/>
            </a:endParaRPr>
          </a:p>
        </p:txBody>
      </p:sp>
      <p:sp>
        <p:nvSpPr>
          <p:cNvPr id="18" name="TextBox 17">
            <a:extLst>
              <a:ext uri="{FF2B5EF4-FFF2-40B4-BE49-F238E27FC236}">
                <a16:creationId xmlns:a16="http://schemas.microsoft.com/office/drawing/2014/main" id="{0395DD76-3C2D-BFFB-7A3A-3FB63010F497}"/>
              </a:ext>
            </a:extLst>
          </p:cNvPr>
          <p:cNvSpPr txBox="1"/>
          <p:nvPr/>
        </p:nvSpPr>
        <p:spPr>
          <a:xfrm>
            <a:off x="755879" y="4723634"/>
            <a:ext cx="3480759" cy="307777"/>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Effra Pro" panose="020B0603020203020204" pitchFamily="34" charset="0"/>
                <a:ea typeface="Geneva" pitchFamily="-109" charset="-128"/>
                <a:cs typeface="+mn-cs"/>
              </a:rPr>
              <a:t xml:space="preserve"> </a:t>
            </a:r>
          </a:p>
        </p:txBody>
      </p:sp>
      <p:pic>
        <p:nvPicPr>
          <p:cNvPr id="21" name="Picture 20">
            <a:extLst>
              <a:ext uri="{FF2B5EF4-FFF2-40B4-BE49-F238E27FC236}">
                <a16:creationId xmlns:a16="http://schemas.microsoft.com/office/drawing/2014/main" id="{EC332520-366A-83F1-0A61-4B02D6ADF8AE}"/>
              </a:ext>
            </a:extLst>
          </p:cNvPr>
          <p:cNvPicPr>
            <a:picLocks noChangeAspect="1"/>
          </p:cNvPicPr>
          <p:nvPr/>
        </p:nvPicPr>
        <p:blipFill>
          <a:blip r:embed="rId3"/>
          <a:stretch>
            <a:fillRect/>
          </a:stretch>
        </p:blipFill>
        <p:spPr>
          <a:xfrm>
            <a:off x="7634713" y="1664274"/>
            <a:ext cx="3480759" cy="304816"/>
          </a:xfrm>
          <a:prstGeom prst="rect">
            <a:avLst/>
          </a:prstGeom>
        </p:spPr>
      </p:pic>
      <p:pic>
        <p:nvPicPr>
          <p:cNvPr id="23" name="Picture 22">
            <a:extLst>
              <a:ext uri="{FF2B5EF4-FFF2-40B4-BE49-F238E27FC236}">
                <a16:creationId xmlns:a16="http://schemas.microsoft.com/office/drawing/2014/main" id="{C769397E-5526-41F0-4002-E8C1F6DDF91D}"/>
              </a:ext>
            </a:extLst>
          </p:cNvPr>
          <p:cNvPicPr>
            <a:picLocks noChangeAspect="1"/>
          </p:cNvPicPr>
          <p:nvPr/>
        </p:nvPicPr>
        <p:blipFill>
          <a:blip r:embed="rId4"/>
          <a:srcRect l="4840" t="792" b="23841"/>
          <a:stretch>
            <a:fillRect/>
          </a:stretch>
        </p:blipFill>
        <p:spPr>
          <a:xfrm>
            <a:off x="7634713" y="1969090"/>
            <a:ext cx="3480759" cy="3407967"/>
          </a:xfrm>
          <a:prstGeom prst="rect">
            <a:avLst/>
          </a:prstGeom>
        </p:spPr>
      </p:pic>
      <p:pic>
        <p:nvPicPr>
          <p:cNvPr id="8" name="Picture 7">
            <a:extLst>
              <a:ext uri="{FF2B5EF4-FFF2-40B4-BE49-F238E27FC236}">
                <a16:creationId xmlns:a16="http://schemas.microsoft.com/office/drawing/2014/main" id="{2499F77C-DFFF-0D36-5E32-D19370DE00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38982" y="4867094"/>
            <a:ext cx="693507" cy="693507"/>
          </a:xfrm>
          <a:prstGeom prst="rect">
            <a:avLst/>
          </a:prstGeom>
        </p:spPr>
      </p:pic>
      <p:sp>
        <p:nvSpPr>
          <p:cNvPr id="7" name="TextBox 6">
            <a:extLst>
              <a:ext uri="{FF2B5EF4-FFF2-40B4-BE49-F238E27FC236}">
                <a16:creationId xmlns:a16="http://schemas.microsoft.com/office/drawing/2014/main" id="{E5833C93-0A75-5E37-52BF-70D8090B6697}"/>
              </a:ext>
            </a:extLst>
          </p:cNvPr>
          <p:cNvSpPr txBox="1"/>
          <p:nvPr/>
        </p:nvSpPr>
        <p:spPr>
          <a:xfrm>
            <a:off x="1395883" y="6293757"/>
            <a:ext cx="5273211" cy="253916"/>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000962"/>
                </a:solidFill>
                <a:effectLst/>
                <a:uLnTx/>
                <a:uFillTx/>
                <a:latin typeface="Arial" charset="0"/>
                <a:ea typeface="Geneva" pitchFamily="-109" charset="-128"/>
                <a:cs typeface="+mn-cs"/>
              </a:rPr>
              <a:t>SRMU 8751620.1 Exp. 05/20/2026</a:t>
            </a:r>
          </a:p>
        </p:txBody>
      </p:sp>
      <p:sp>
        <p:nvSpPr>
          <p:cNvPr id="12" name="Isosceles Triangle 11">
            <a:extLst>
              <a:ext uri="{FF2B5EF4-FFF2-40B4-BE49-F238E27FC236}">
                <a16:creationId xmlns:a16="http://schemas.microsoft.com/office/drawing/2014/main" id="{9DCCA21E-AE5B-DF65-5081-613900461E41}"/>
              </a:ext>
            </a:extLst>
          </p:cNvPr>
          <p:cNvSpPr/>
          <p:nvPr/>
        </p:nvSpPr>
        <p:spPr bwMode="ltGray">
          <a:xfrm rot="5400000">
            <a:off x="2709802" y="5099762"/>
            <a:ext cx="285220" cy="236032"/>
          </a:xfrm>
          <a:prstGeom prst="triangle">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2D9B3B78-6378-1B7F-0C10-664C2984774D}"/>
              </a:ext>
            </a:extLst>
          </p:cNvPr>
          <p:cNvSpPr>
            <a:spLocks/>
          </p:cNvSpPr>
          <p:nvPr/>
        </p:nvSpPr>
        <p:spPr>
          <a:xfrm>
            <a:off x="519354" y="1470945"/>
            <a:ext cx="11266247" cy="42490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468201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757F-A3BB-EAF7-80FD-0DA192D5B25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98404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rPr>
              <a:t>Market Week Overview</a:t>
            </a:r>
          </a:p>
        </p:txBody>
      </p:sp>
      <p:sp>
        <p:nvSpPr>
          <p:cNvPr id="3" name="Text 1"/>
          <p:cNvSpPr/>
          <p:nvPr/>
        </p:nvSpPr>
        <p:spPr>
          <a:xfrm>
            <a:off x="3353596" y="3550840"/>
            <a:ext cx="547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Ending March 28, 2026</a:t>
            </a:r>
          </a:p>
        </p:txBody>
      </p:sp>
      <p:sp>
        <p:nvSpPr>
          <p:cNvPr id="4" name="Text 2"/>
          <p:cNvSpPr/>
          <p:nvPr/>
        </p:nvSpPr>
        <p:spPr>
          <a:xfrm>
            <a:off x="3166370" y="4109640"/>
            <a:ext cx="584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Ahead: March 30 - April 3,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Week in Review: U.S. Markets Overview</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Market Performance (March 24-28, 2026)</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S&amp;P 500:</a:t>
            </a:r>
            <a:r>
              <a:rPr lang="en-US" sz="1400" dirty="0">
                <a:solidFill>
                  <a:srgbClr val="000962"/>
                </a:solidFill>
                <a:latin typeface="Arial" pitchFamily="34" charset="0"/>
              </a:rPr>
              <a:t xml:space="preserve"> Down 2.1% for the week to 6,369 — fifth straight weekly decline; now 8.7% below its late-January record high</a:t>
            </a:r>
          </a:p>
          <a:p>
            <a:pPr marL="457189" indent="-457189">
              <a:lnSpc>
                <a:spcPts val="2800"/>
              </a:lnSpc>
              <a:buSzPct val="100000"/>
              <a:buChar char="•"/>
            </a:pPr>
            <a:r>
              <a:rPr lang="en-US" sz="1400" b="1" dirty="0">
                <a:solidFill>
                  <a:srgbClr val="000962"/>
                </a:solidFill>
                <a:latin typeface="Arial" pitchFamily="34" charset="0"/>
              </a:rPr>
              <a:t>Dow Jones:</a:t>
            </a:r>
            <a:r>
              <a:rPr lang="en-US" sz="1400" dirty="0">
                <a:solidFill>
                  <a:srgbClr val="000962"/>
                </a:solidFill>
                <a:latin typeface="Arial" pitchFamily="34" charset="0"/>
              </a:rPr>
              <a:t xml:space="preserve"> Entered correction territory Friday, down ~1.7% on the day to 45,167 (10%+ below its all-time high)</a:t>
            </a:r>
          </a:p>
          <a:p>
            <a:pPr marL="457189" indent="-457189">
              <a:lnSpc>
                <a:spcPts val="2800"/>
              </a:lnSpc>
              <a:buSzPct val="100000"/>
              <a:buChar char="•"/>
            </a:pPr>
            <a:r>
              <a:rPr lang="en-US" sz="1400" b="1" dirty="0">
                <a:solidFill>
                  <a:srgbClr val="000962"/>
                </a:solidFill>
                <a:latin typeface="Arial" pitchFamily="34" charset="0"/>
              </a:rPr>
              <a:t>Nasdaq Composite:</a:t>
            </a:r>
            <a:r>
              <a:rPr lang="en-US" sz="1400" dirty="0">
                <a:solidFill>
                  <a:srgbClr val="000962"/>
                </a:solidFill>
                <a:latin typeface="Arial" pitchFamily="34" charset="0"/>
              </a:rPr>
              <a:t xml:space="preserve"> Down 3.2% for the week to 20,948 — officially in correction territory, down 12.5%+ from its October 2025 record</a:t>
            </a:r>
          </a:p>
          <a:p>
            <a:pPr marL="457189" indent="-457189">
              <a:lnSpc>
                <a:spcPts val="2800"/>
              </a:lnSpc>
              <a:buSzPct val="100000"/>
              <a:buChar char="•"/>
            </a:pPr>
            <a:r>
              <a:rPr lang="en-US" sz="1400" b="1" dirty="0">
                <a:solidFill>
                  <a:srgbClr val="000962"/>
                </a:solidFill>
                <a:latin typeface="Arial" pitchFamily="34" charset="0"/>
              </a:rPr>
              <a:t>Russell 2000:</a:t>
            </a:r>
            <a:r>
              <a:rPr lang="en-US" sz="1400" dirty="0">
                <a:solidFill>
                  <a:srgbClr val="000962"/>
                </a:solidFill>
                <a:latin typeface="Arial" pitchFamily="34" charset="0"/>
              </a:rPr>
              <a:t xml:space="preserve"> Small caps continuing to underperform; risk-off sentiment and rate uncertainty weigh on smaller companies</a:t>
            </a:r>
          </a:p>
          <a:p>
            <a:pPr marL="457189" indent="-457189">
              <a:lnSpc>
                <a:spcPts val="2800"/>
              </a:lnSpc>
              <a:buSzPct val="100000"/>
              <a:buChar char="•"/>
            </a:pPr>
            <a:r>
              <a:rPr lang="en-US" sz="1400" b="1" dirty="0">
                <a:solidFill>
                  <a:srgbClr val="000962"/>
                </a:solidFill>
                <a:latin typeface="Arial" pitchFamily="34" charset="0"/>
              </a:rPr>
              <a:t>VIX:</a:t>
            </a:r>
            <a:r>
              <a:rPr lang="en-US" sz="1400" dirty="0">
                <a:solidFill>
                  <a:srgbClr val="000962"/>
                </a:solidFill>
                <a:latin typeface="Arial" pitchFamily="34" charset="0"/>
              </a:rPr>
              <a:t xml:space="preserve"> Closed the week at 27.44 — elevated; Iran conflict sustaining a persistent fear premium in equity markets</a:t>
            </a:r>
          </a:p>
          <a:p>
            <a:pPr marL="457189" indent="-457189">
              <a:lnSpc>
                <a:spcPts val="2800"/>
              </a:lnSpc>
              <a:buSzPct val="100000"/>
              <a:buChar char="•"/>
            </a:pPr>
            <a:r>
              <a:rPr lang="en-US" sz="1400" b="1" dirty="0">
                <a:solidFill>
                  <a:srgbClr val="000962"/>
                </a:solidFill>
                <a:latin typeface="Arial" pitchFamily="34" charset="0"/>
              </a:rPr>
              <a:t>Oil (WTI / Brent):</a:t>
            </a:r>
            <a:r>
              <a:rPr lang="en-US" sz="1400" dirty="0">
                <a:solidFill>
                  <a:srgbClr val="000962"/>
                </a:solidFill>
                <a:latin typeface="Arial" pitchFamily="34" charset="0"/>
              </a:rPr>
              <a:t xml:space="preserve"> WTI +5.5% to $99.64/bbl; Brent +4.2% to $112.57/bbl — multi-year highs fueled by Iran military conflict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Key Market Drivers Last Week</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Five Forces Behind the Fifth Straight Weekly Decline</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Iran Conflict &amp; Oil Shock:</a:t>
            </a:r>
            <a:r>
              <a:rPr lang="en-US" sz="1400" dirty="0">
                <a:solidFill>
                  <a:srgbClr val="000962"/>
                </a:solidFill>
                <a:latin typeface="Arial" pitchFamily="34" charset="0"/>
              </a:rPr>
              <a:t xml:space="preserve"> Ongoing U.S.-Iran military conflict drove WTI to $99.64/bbl and Brent to $112.57; Trump set April 6 deadline for Iran to negotiate before threatening power plants</a:t>
            </a:r>
          </a:p>
          <a:p>
            <a:pPr marL="457189" indent="-457189">
              <a:lnSpc>
                <a:spcPts val="2800"/>
              </a:lnSpc>
              <a:buSzPct val="100000"/>
              <a:buChar char="•"/>
            </a:pPr>
            <a:r>
              <a:rPr lang="en-US" sz="1400" b="1" dirty="0">
                <a:solidFill>
                  <a:srgbClr val="000962"/>
                </a:solidFill>
                <a:latin typeface="Arial" pitchFamily="34" charset="0"/>
              </a:rPr>
              <a:t>Consumer Confidence Collapse:</a:t>
            </a:r>
            <a:r>
              <a:rPr lang="en-US" sz="1400" dirty="0">
                <a:solidFill>
                  <a:srgbClr val="000962"/>
                </a:solidFill>
                <a:latin typeface="Arial" pitchFamily="34" charset="0"/>
              </a:rPr>
              <a:t xml:space="preserve"> U. of Michigan final March reading fell to 53.3 (from 56.6 in Feb); 1-year inflation expectations surged to 3.8%, the highest in years, as energy costs climb</a:t>
            </a:r>
          </a:p>
          <a:p>
            <a:pPr marL="457189" indent="-457189">
              <a:lnSpc>
                <a:spcPts val="2800"/>
              </a:lnSpc>
              <a:buSzPct val="100000"/>
              <a:buChar char="•"/>
            </a:pPr>
            <a:r>
              <a:rPr lang="en-US" sz="1400" b="1" dirty="0">
                <a:solidFill>
                  <a:srgbClr val="000962"/>
                </a:solidFill>
                <a:latin typeface="Arial" pitchFamily="34" charset="0"/>
              </a:rPr>
              <a:t>Rate Expectations Reversed:</a:t>
            </a:r>
            <a:r>
              <a:rPr lang="en-US" sz="1400" dirty="0">
                <a:solidFill>
                  <a:srgbClr val="000962"/>
                </a:solidFill>
                <a:latin typeface="Arial" pitchFamily="34" charset="0"/>
              </a:rPr>
              <a:t xml:space="preserve"> CME FedWatch shows 52% probability of a rate INCREASE by year-end 2026 — first time crossing 50%; a complete reversal from prior rate-cut expectations</a:t>
            </a:r>
          </a:p>
          <a:p>
            <a:pPr marL="457189" indent="-457189">
              <a:lnSpc>
                <a:spcPts val="2800"/>
              </a:lnSpc>
              <a:buSzPct val="100000"/>
              <a:buChar char="•"/>
            </a:pPr>
            <a:r>
              <a:rPr lang="en-US" sz="1400" b="1" dirty="0">
                <a:solidFill>
                  <a:srgbClr val="000962"/>
                </a:solidFill>
                <a:latin typeface="Arial" pitchFamily="34" charset="0"/>
              </a:rPr>
              <a:t>Tech Revaluation:</a:t>
            </a:r>
            <a:r>
              <a:rPr lang="en-US" sz="1400" dirty="0">
                <a:solidFill>
                  <a:srgbClr val="000962"/>
                </a:solidFill>
                <a:latin typeface="Arial" pitchFamily="34" charset="0"/>
              </a:rPr>
              <a:t xml:space="preserve"> Nasdaq forward P/E compressed to 20.2 (from 31.7 five months ago), the lowest in 3 years; Nasdaq down 12.5%+ from its record high — officially in correction territory</a:t>
            </a:r>
          </a:p>
          <a:p>
            <a:pPr marL="457189" indent="-457189">
              <a:lnSpc>
                <a:spcPts val="2800"/>
              </a:lnSpc>
              <a:buSzPct val="100000"/>
              <a:buChar char="•"/>
            </a:pPr>
            <a:r>
              <a:rPr lang="en-US" sz="1400" b="1" dirty="0">
                <a:solidFill>
                  <a:srgbClr val="000962"/>
                </a:solidFill>
                <a:latin typeface="Arial" pitchFamily="34" charset="0"/>
              </a:rPr>
              <a:t>Longest Losing Streak Since 2022:</a:t>
            </a:r>
            <a:r>
              <a:rPr lang="en-US" sz="1400" dirty="0">
                <a:solidFill>
                  <a:srgbClr val="000962"/>
                </a:solidFill>
                <a:latin typeface="Arial" pitchFamily="34" charset="0"/>
              </a:rPr>
              <a:t xml:space="preserve"> Five consecutive weeks of declines for all major indices; Dow entered correction Friday; S&amp;P 500 just 1.3% away from its own correction threshold at 8.7% below record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Sector Rotation &amp; Fixed Income</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Energy Surges, Tech Corrects &amp; Fixed Income Implications</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Energy Sector:</a:t>
            </a:r>
            <a:r>
              <a:rPr lang="en-US" sz="1400" dirty="0">
                <a:solidFill>
                  <a:srgbClr val="000962"/>
                </a:solidFill>
                <a:latin typeface="Arial" pitchFamily="34" charset="0"/>
              </a:rPr>
              <a:t xml:space="preserve"> Top performer of 2026 amid Iran conflict; WTI crude above $99/bbl and Brent above $112/bbl driving outsized gains in energy equities</a:t>
            </a:r>
          </a:p>
          <a:p>
            <a:pPr marL="457189" indent="-457189">
              <a:lnSpc>
                <a:spcPts val="2800"/>
              </a:lnSpc>
              <a:buSzPct val="100000"/>
              <a:buChar char="•"/>
            </a:pPr>
            <a:r>
              <a:rPr lang="en-US" sz="1400" b="1" dirty="0">
                <a:solidFill>
                  <a:srgbClr val="000962"/>
                </a:solidFill>
                <a:latin typeface="Arial" pitchFamily="34" charset="0"/>
              </a:rPr>
              <a:t>Technology:</a:t>
            </a:r>
            <a:r>
              <a:rPr lang="en-US" sz="1400" dirty="0">
                <a:solidFill>
                  <a:srgbClr val="000962"/>
                </a:solidFill>
                <a:latin typeface="Arial" pitchFamily="34" charset="0"/>
              </a:rPr>
              <a:t xml:space="preserve"> Biggest loser; Nasdaq down 12.5%+ from October 2025 record high; sector forward P/E at 20.2 (down from 31.7 in five months), the lowest in 3 years</a:t>
            </a:r>
          </a:p>
          <a:p>
            <a:pPr marL="457189" indent="-457189">
              <a:lnSpc>
                <a:spcPts val="2800"/>
              </a:lnSpc>
              <a:buSzPct val="100000"/>
              <a:buChar char="•"/>
            </a:pPr>
            <a:r>
              <a:rPr lang="en-US" sz="1400" b="1" dirty="0">
                <a:solidFill>
                  <a:srgbClr val="000962"/>
                </a:solidFill>
                <a:latin typeface="Arial" pitchFamily="34" charset="0"/>
              </a:rPr>
              <a:t>Defensives &amp; Safety Rotation:</a:t>
            </a:r>
            <a:r>
              <a:rPr lang="en-US" sz="1400" dirty="0">
                <a:solidFill>
                  <a:srgbClr val="000962"/>
                </a:solidFill>
                <a:latin typeface="Arial" pitchFamily="34" charset="0"/>
              </a:rPr>
              <a:t xml:space="preserve"> Consumer Staples and Utilities relatively outperforming; gold rising on geopolitical uncertainty; investors rotating out of high-beta growth names</a:t>
            </a:r>
          </a:p>
          <a:p>
            <a:pPr marL="457189" indent="-457189">
              <a:lnSpc>
                <a:spcPts val="2800"/>
              </a:lnSpc>
              <a:buSzPct val="100000"/>
              <a:buChar char="•"/>
            </a:pPr>
            <a:r>
              <a:rPr lang="en-US" sz="1400" b="1" dirty="0">
                <a:solidFill>
                  <a:srgbClr val="000962"/>
                </a:solidFill>
                <a:latin typeface="Arial" pitchFamily="34" charset="0"/>
              </a:rPr>
              <a:t>10-Year Treasury Yield at ~4.2%:</a:t>
            </a:r>
            <a:r>
              <a:rPr lang="en-US" sz="1400" dirty="0">
                <a:solidFill>
                  <a:srgbClr val="000962"/>
                </a:solidFill>
                <a:latin typeface="Arial" pitchFamily="34" charset="0"/>
              </a:rPr>
              <a:t xml:space="preserve"> Moving higher on oil-driven inflation concerns; higher-for-longer rate environment remains favorable for NYL fixed and indexed annuity products</a:t>
            </a:r>
          </a:p>
          <a:p>
            <a:pPr marL="457189" indent="-457189">
              <a:lnSpc>
                <a:spcPts val="2800"/>
              </a:lnSpc>
              <a:buSzPct val="100000"/>
              <a:buChar char="•"/>
            </a:pPr>
            <a:r>
              <a:rPr lang="en-US" sz="1400" b="1" dirty="0">
                <a:solidFill>
                  <a:srgbClr val="000962"/>
                </a:solidFill>
                <a:latin typeface="Arial" pitchFamily="34" charset="0"/>
              </a:rPr>
              <a:t>VIX at 27.44:</a:t>
            </a:r>
            <a:r>
              <a:rPr lang="en-US" sz="1400" dirty="0">
                <a:solidFill>
                  <a:srgbClr val="000962"/>
                </a:solidFill>
                <a:latin typeface="Arial" pitchFamily="34" charset="0"/>
              </a:rPr>
              <a:t xml:space="preserve"> Elevated volatility expected to persist until Iran situation resolves; market tone next week will be heavily influenced by April 6 Iran deadline outcome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Economic Calendar: Week Ahead</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Key Data Releases (March 31 - April 4, 2026)</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Tuesday 3/31:</a:t>
            </a:r>
            <a:r>
              <a:rPr lang="en-US" sz="1400" dirty="0">
                <a:solidFill>
                  <a:srgbClr val="000962"/>
                </a:solidFill>
                <a:latin typeface="Arial" pitchFamily="34" charset="0"/>
              </a:rPr>
              <a:t xml:space="preserve"> JOLTS Job Openings (Feb); Conference Board Consumer Confidence; Chicago PMI; McCormick (MKC) Q1 earnings before open — EPS est. $0.63, Revenue est. $1.79B</a:t>
            </a:r>
          </a:p>
          <a:p>
            <a:pPr marL="457189" indent="-457189">
              <a:lnSpc>
                <a:spcPts val="2800"/>
              </a:lnSpc>
              <a:buSzPct val="100000"/>
              <a:buChar char="•"/>
            </a:pPr>
            <a:r>
              <a:rPr lang="en-US" sz="1400" b="1" dirty="0">
                <a:solidFill>
                  <a:srgbClr val="000962"/>
                </a:solidFill>
                <a:latin typeface="Arial" pitchFamily="34" charset="0"/>
              </a:rPr>
              <a:t>Wednesday 4/1:</a:t>
            </a:r>
            <a:r>
              <a:rPr lang="en-US" sz="1400" dirty="0">
                <a:solidFill>
                  <a:srgbClr val="000962"/>
                </a:solidFill>
                <a:latin typeface="Arial" pitchFamily="34" charset="0"/>
              </a:rPr>
              <a:t xml:space="preserve"> ADP Employment Change for March (private payrolls preview); ISM Manufacturing PMI (consensus 52.6 vs. 52.4 prior — still in expansion); Conagra Brands &amp; Cal-Maine Foods Q3 earnings</a:t>
            </a:r>
          </a:p>
          <a:p>
            <a:pPr marL="457189" indent="-457189">
              <a:lnSpc>
                <a:spcPts val="2800"/>
              </a:lnSpc>
              <a:buSzPct val="100000"/>
              <a:buChar char="•"/>
            </a:pPr>
            <a:r>
              <a:rPr lang="en-US" sz="1400" b="1" dirty="0">
                <a:solidFill>
                  <a:srgbClr val="000962"/>
                </a:solidFill>
                <a:latin typeface="Arial" pitchFamily="34" charset="0"/>
              </a:rPr>
              <a:t>Thursday 4/2:</a:t>
            </a:r>
            <a:r>
              <a:rPr lang="en-US" sz="1400" dirty="0">
                <a:solidFill>
                  <a:srgbClr val="000962"/>
                </a:solidFill>
                <a:latin typeface="Arial" pitchFamily="34" charset="0"/>
              </a:rPr>
              <a:t xml:space="preserve"> Factory Orders; Business Inventories — gauge of late-Q1 industrial activity and supply chain trends</a:t>
            </a:r>
          </a:p>
          <a:p>
            <a:pPr marL="457189" indent="-457189">
              <a:lnSpc>
                <a:spcPts val="2800"/>
              </a:lnSpc>
              <a:buSzPct val="100000"/>
              <a:buChar char="•"/>
            </a:pPr>
            <a:r>
              <a:rPr lang="en-US" sz="1400" b="1" dirty="0">
                <a:solidFill>
                  <a:srgbClr val="000962"/>
                </a:solidFill>
                <a:latin typeface="Arial" pitchFamily="34" charset="0"/>
              </a:rPr>
              <a:t>Friday 4/3 (KEY DATA):</a:t>
            </a:r>
            <a:r>
              <a:rPr lang="en-US" sz="1400" dirty="0">
                <a:solidFill>
                  <a:srgbClr val="000962"/>
                </a:solidFill>
                <a:latin typeface="Arial" pitchFamily="34" charset="0"/>
              </a:rPr>
              <a:t xml:space="preserve"> Nonfarm Payrolls March (consensus: +57K vs. -92K in Feb); Unemployment Rate (est. 4.4%); Average Hourly Earnings (wage inflation); ISM Non-Manufacturing PMI</a:t>
            </a:r>
          </a:p>
          <a:p>
            <a:pPr marL="457189" indent="-457189">
              <a:lnSpc>
                <a:spcPts val="2800"/>
              </a:lnSpc>
              <a:buSzPct val="100000"/>
              <a:buChar char="•"/>
            </a:pPr>
            <a:r>
              <a:rPr lang="en-US" sz="1400" b="1" dirty="0">
                <a:solidFill>
                  <a:srgbClr val="000962"/>
                </a:solidFill>
                <a:latin typeface="Arial" pitchFamily="34" charset="0"/>
              </a:rPr>
              <a:t>Iran Deadline — April 6:</a:t>
            </a:r>
            <a:r>
              <a:rPr lang="en-US" sz="1400" dirty="0">
                <a:solidFill>
                  <a:srgbClr val="000962"/>
                </a:solidFill>
                <a:latin typeface="Arial" pitchFamily="34" charset="0"/>
              </a:rPr>
              <a:t xml:space="preserve"> Trump threatened Iran's power plants without negotiated agreement by April 6; geopolitical resolution or escalation will decisively reset market tone for the following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Earnings Calendar: Week Ahead</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Key S&amp;P 500 Companies Reporting (March 31 - April 3, 2026)</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McCormick &amp; Company (MKC) — Tue 3/31:</a:t>
            </a:r>
            <a:r>
              <a:rPr lang="en-US" sz="1400" dirty="0">
                <a:solidFill>
                  <a:srgbClr val="000962"/>
                </a:solidFill>
                <a:latin typeface="Arial" pitchFamily="34" charset="0"/>
              </a:rPr>
              <a:t xml:space="preserve"> EPS est. $0.63, Revenue est. $1.79B before market open; consumer staples bellwether; key read on pricing power and grocery spending amid elevated inflation</a:t>
            </a:r>
          </a:p>
          <a:p>
            <a:pPr marL="457189" indent="-457189">
              <a:lnSpc>
                <a:spcPts val="2800"/>
              </a:lnSpc>
              <a:buSzPct val="100000"/>
              <a:buChar char="•"/>
            </a:pPr>
            <a:r>
              <a:rPr lang="en-US" sz="1400" b="1" dirty="0">
                <a:solidFill>
                  <a:srgbClr val="000962"/>
                </a:solidFill>
                <a:latin typeface="Arial" pitchFamily="34" charset="0"/>
              </a:rPr>
              <a:t>Paychex (PAYX) — Wed 4/1:</a:t>
            </a:r>
            <a:r>
              <a:rPr lang="en-US" sz="1400" dirty="0">
                <a:solidFill>
                  <a:srgbClr val="000962"/>
                </a:solidFill>
                <a:latin typeface="Arial" pitchFamily="34" charset="0"/>
              </a:rPr>
              <a:t xml:space="preserve"> Payroll processing leader; a real-time barometer of small business hiring trends and wage growth — critical context ahead of Friday's March jobs report</a:t>
            </a:r>
          </a:p>
          <a:p>
            <a:pPr marL="457189" indent="-457189">
              <a:lnSpc>
                <a:spcPts val="2800"/>
              </a:lnSpc>
              <a:buSzPct val="100000"/>
              <a:buChar char="•"/>
            </a:pPr>
            <a:r>
              <a:rPr lang="en-US" sz="1400" b="1" dirty="0">
                <a:solidFill>
                  <a:srgbClr val="000962"/>
                </a:solidFill>
                <a:latin typeface="Arial" pitchFamily="34" charset="0"/>
              </a:rPr>
              <a:t>Conagra Brands (CAG) — Wed 4/1:</a:t>
            </a:r>
            <a:r>
              <a:rPr lang="en-US" sz="1400" dirty="0">
                <a:solidFill>
                  <a:srgbClr val="000962"/>
                </a:solidFill>
                <a:latin typeface="Arial" pitchFamily="34" charset="0"/>
              </a:rPr>
              <a:t xml:space="preserve"> EPS est. $0.40, down 21.6% YoY from $0.51; read on packaged food demand and consumer trade-down behavior as inflation pressures household budgets</a:t>
            </a:r>
          </a:p>
          <a:p>
            <a:pPr marL="457189" indent="-457189">
              <a:lnSpc>
                <a:spcPts val="2800"/>
              </a:lnSpc>
              <a:buSzPct val="100000"/>
              <a:buChar char="•"/>
            </a:pPr>
            <a:r>
              <a:rPr lang="en-US" sz="1400" b="1" dirty="0">
                <a:solidFill>
                  <a:srgbClr val="000962"/>
                </a:solidFill>
                <a:latin typeface="Arial" pitchFamily="34" charset="0"/>
              </a:rPr>
              <a:t>Cal-Maine Foods (CALM) — Wed 4/1:</a:t>
            </a:r>
            <a:r>
              <a:rPr lang="en-US" sz="1400" dirty="0">
                <a:solidFill>
                  <a:srgbClr val="000962"/>
                </a:solidFill>
                <a:latin typeface="Arial" pitchFamily="34" charset="0"/>
              </a:rPr>
              <a:t xml:space="preserve"> Largest U.S. egg producer; fiscal Q3 2026 results; egg prices elevated due to ongoing avian flu supply disruptions — results signal normalization timeline</a:t>
            </a:r>
          </a:p>
          <a:p>
            <a:pPr marL="457189" indent="-457189">
              <a:lnSpc>
                <a:spcPts val="2800"/>
              </a:lnSpc>
              <a:buSzPct val="100000"/>
              <a:buChar char="•"/>
            </a:pPr>
            <a:r>
              <a:rPr lang="en-US" sz="1400" b="1" dirty="0">
                <a:solidFill>
                  <a:srgbClr val="000962"/>
                </a:solidFill>
                <a:latin typeface="Arial" pitchFamily="34" charset="0"/>
              </a:rPr>
              <a:t>Q1 2026 Earnings Season Context:</a:t>
            </a:r>
            <a:r>
              <a:rPr lang="en-US" sz="1400" dirty="0">
                <a:solidFill>
                  <a:srgbClr val="000962"/>
                </a:solidFill>
                <a:latin typeface="Arial" pitchFamily="34" charset="0"/>
              </a:rPr>
              <a:t xml:space="preserve"> Full season begins the week of April 13 when major banks report. This week's results set the early tone on consumer health, pricing power, and labor market conditions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Fed, Rates &amp; Macro Watch</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NYLIM Perspective: New Frameworks for a Shifting World</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Fed Rate Path:</a:t>
            </a:r>
            <a:r>
              <a:rPr lang="en-US" sz="1400" dirty="0">
                <a:solidFill>
                  <a:srgbClr val="000962"/>
                </a:solidFill>
                <a:latin typeface="Arial" pitchFamily="34" charset="0"/>
              </a:rPr>
              <a:t xml:space="preserve"> Current target range 3.50-3.75%; CME FedWatch shows 52% probability of a rate INCREASE by year-end — first time above 50%; oil-driven inflation reversing prior rate-cut expectations</a:t>
            </a:r>
          </a:p>
          <a:p>
            <a:pPr marL="457189" indent="-457189">
              <a:lnSpc>
                <a:spcPts val="2800"/>
              </a:lnSpc>
              <a:buSzPct val="100000"/>
              <a:buChar char="•"/>
            </a:pPr>
            <a:r>
              <a:rPr lang="en-US" sz="1400" b="1" dirty="0">
                <a:solidFill>
                  <a:srgbClr val="000962"/>
                </a:solidFill>
                <a:latin typeface="Arial" pitchFamily="34" charset="0"/>
              </a:rPr>
              <a:t>NYLIM View (Lauren Goodwin, GMS Team):</a:t>
            </a:r>
            <a:r>
              <a:rPr lang="en-US" sz="1400" dirty="0">
                <a:solidFill>
                  <a:srgbClr val="000962"/>
                </a:solidFill>
                <a:latin typeface="Arial" pitchFamily="34" charset="0"/>
              </a:rPr>
              <a:t xml:space="preserve"> Geopolitical risk can no longer be treated as background noise; the Iran escalation raises the risk premium across asset classes; new frameworks, not forecasts, are needed to navigate this environment</a:t>
            </a:r>
          </a:p>
          <a:p>
            <a:pPr marL="457189" indent="-457189">
              <a:lnSpc>
                <a:spcPts val="2800"/>
              </a:lnSpc>
              <a:buSzPct val="100000"/>
              <a:buChar char="•"/>
            </a:pPr>
            <a:r>
              <a:rPr lang="en-US" sz="1400" b="1" dirty="0">
                <a:solidFill>
                  <a:srgbClr val="000962"/>
                </a:solidFill>
                <a:latin typeface="Arial" pitchFamily="34" charset="0"/>
              </a:rPr>
              <a:t>NYLIM Investment Thesis:</a:t>
            </a:r>
            <a:r>
              <a:rPr lang="en-US" sz="1400" dirty="0">
                <a:solidFill>
                  <a:srgbClr val="000962"/>
                </a:solidFill>
                <a:latin typeface="Arial" pitchFamily="34" charset="0"/>
              </a:rPr>
              <a:t xml:space="preserve"> Income generation (carry) is replacing price appreciation as the primary return driver; a higher-for-longer rate environment settling at 3-4% is NYLIM's base case for 2026</a:t>
            </a:r>
          </a:p>
          <a:p>
            <a:pPr marL="457189" indent="-457189">
              <a:lnSpc>
                <a:spcPts val="2800"/>
              </a:lnSpc>
              <a:buSzPct val="100000"/>
              <a:buChar char="•"/>
            </a:pPr>
            <a:r>
              <a:rPr lang="en-US" sz="1400" b="1" dirty="0">
                <a:solidFill>
                  <a:srgbClr val="000962"/>
                </a:solidFill>
                <a:latin typeface="Arial" pitchFamily="34" charset="0"/>
              </a:rPr>
              <a:t>Inflation Watch:</a:t>
            </a:r>
            <a:r>
              <a:rPr lang="en-US" sz="1400" dirty="0">
                <a:solidFill>
                  <a:srgbClr val="000962"/>
                </a:solidFill>
                <a:latin typeface="Arial" pitchFamily="34" charset="0"/>
              </a:rPr>
              <a:t xml:space="preserve"> U. of Michigan 1-year inflation expectations at 3.8%; oil above $99/bbl will filter into consumer prices over 3-6 months; March CPI report (mid-April) is the next key read</a:t>
            </a:r>
          </a:p>
          <a:p>
            <a:pPr marL="457189" indent="-457189">
              <a:lnSpc>
                <a:spcPts val="2800"/>
              </a:lnSpc>
              <a:buSzPct val="100000"/>
              <a:buChar char="•"/>
            </a:pPr>
            <a:r>
              <a:rPr lang="en-US" sz="1400" b="1" dirty="0">
                <a:solidFill>
                  <a:srgbClr val="000962"/>
                </a:solidFill>
                <a:latin typeface="Arial" pitchFamily="34" charset="0"/>
              </a:rPr>
              <a:t>Geopolitical Transmission Channels:</a:t>
            </a:r>
            <a:r>
              <a:rPr lang="en-US" sz="1400" dirty="0">
                <a:solidFill>
                  <a:srgbClr val="000962"/>
                </a:solidFill>
                <a:latin typeface="Arial" pitchFamily="34" charset="0"/>
              </a:rPr>
              <a:t xml:space="preserve"> NYLIM tracks four channels — trade disruption, energy price shock, currency effects, and policy responses; the Iran conflict is actively moving all four simultaneously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Client Talking Points: What This Means for You</a:t>
            </a:r>
          </a:p>
        </p:txBody>
      </p:sp>
      <p:sp>
        <p:nvSpPr>
          <p:cNvPr id="3" name="Subtitle"/>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600" dirty="0">
                <a:solidFill>
                  <a:srgbClr val="000962"/>
                </a:solidFill>
                <a:latin typeface="Arial" pitchFamily="34" charset="0"/>
              </a:rPr>
              <a:t>Plain-English Guidance for Client Conversations This Week</a:t>
            </a:r>
          </a:p>
        </p:txBody>
      </p:sp>
      <p:sp>
        <p:nvSpPr>
          <p:cNvPr id="4" name="Body"/>
          <p:cNvSpPr/>
          <p:nvPr/>
        </p:nvSpPr>
        <p:spPr>
          <a:xfrm>
            <a:off x="1219200" y="2100000"/>
            <a:ext cx="10160000" cy="3900000"/>
          </a:xfrm>
          <a:prstGeom prst="rect">
            <a:avLst/>
          </a:prstGeom>
          <a:noFill/>
          <a:ln/>
        </p:spPr>
        <p:txBody>
          <a:bodyPr wrap="square" lIns="0" tIns="0" rIns="0" bIns="0" rtlCol="0" anchor="t"/>
          <a:lstStyle/>
          <a:p>
            <a:pPr marL="457189" indent="-457189">
              <a:lnSpc>
                <a:spcPts val="2800"/>
              </a:lnSpc>
              <a:buSzPct val="100000"/>
              <a:buChar char="•"/>
            </a:pPr>
            <a:r>
              <a:rPr lang="en-US" sz="1400" b="1" dirty="0">
                <a:solidFill>
                  <a:srgbClr val="000962"/>
                </a:solidFill>
                <a:latin typeface="Arial" pitchFamily="34" charset="0"/>
              </a:rPr>
              <a:t>Five Straight Weeks of Declines:</a:t>
            </a:r>
            <a:r>
              <a:rPr lang="en-US" sz="1400" dirty="0">
                <a:solidFill>
                  <a:srgbClr val="000962"/>
                </a:solidFill>
                <a:latin typeface="Arial" pitchFamily="34" charset="0"/>
              </a:rPr>
              <a:t xml:space="preserve"> The Nasdaq and Dow are officially in correction territory. The S&amp;P 500 is 8.7% below its January high. Acknowledge this directly with clients — it is real volatility, and it reflects identifiable, manageable causes.</a:t>
            </a:r>
          </a:p>
          <a:p>
            <a:pPr marL="457189" indent="-457189">
              <a:lnSpc>
                <a:spcPts val="2800"/>
              </a:lnSpc>
              <a:buSzPct val="100000"/>
              <a:buChar char="•"/>
            </a:pPr>
            <a:r>
              <a:rPr lang="en-US" sz="1400" b="1" dirty="0">
                <a:solidFill>
                  <a:srgbClr val="000962"/>
                </a:solidFill>
                <a:latin typeface="Arial" pitchFamily="34" charset="0"/>
              </a:rPr>
              <a:t>The Iran Conflict is the Primary Driver:</a:t>
            </a:r>
            <a:r>
              <a:rPr lang="en-US" sz="1400" dirty="0">
                <a:solidFill>
                  <a:srgbClr val="000962"/>
                </a:solidFill>
                <a:latin typeface="Arial" pitchFamily="34" charset="0"/>
              </a:rPr>
              <a:t xml:space="preserve"> The U.S.-Iran military conflict has pushed oil above $100/barrel, raising energy costs for households and businesses. President Trump's April 6 deadline means a diplomatic breakthrough could trigger a significant market rebound.</a:t>
            </a:r>
          </a:p>
          <a:p>
            <a:pPr marL="457189" indent="-457189">
              <a:lnSpc>
                <a:spcPts val="2800"/>
              </a:lnSpc>
              <a:buSzPct val="100000"/>
              <a:buChar char="•"/>
            </a:pPr>
            <a:r>
              <a:rPr lang="en-US" sz="1400" b="1" dirty="0">
                <a:solidFill>
                  <a:srgbClr val="000962"/>
                </a:solidFill>
                <a:latin typeface="Arial" pitchFamily="34" charset="0"/>
              </a:rPr>
              <a:t>Friday's Jobs Report is the Week's Key Event:</a:t>
            </a:r>
            <a:r>
              <a:rPr lang="en-US" sz="1400" dirty="0">
                <a:solidFill>
                  <a:srgbClr val="000962"/>
                </a:solidFill>
                <a:latin typeface="Arial" pitchFamily="34" charset="0"/>
              </a:rPr>
              <a:t xml:space="preserve"> February saw a loss of 92,000 jobs — the worst in years. Economists expect March to recover to about +57,000. This number will shape both the market's near-term direction and the Federal Reserve's next move.</a:t>
            </a:r>
          </a:p>
          <a:p>
            <a:pPr marL="457189" indent="-457189">
              <a:lnSpc>
                <a:spcPts val="2800"/>
              </a:lnSpc>
              <a:buSzPct val="100000"/>
              <a:buChar char="•"/>
            </a:pPr>
            <a:r>
              <a:rPr lang="en-US" sz="1400" b="1" dirty="0">
                <a:solidFill>
                  <a:srgbClr val="000962"/>
                </a:solidFill>
                <a:latin typeface="Arial" pitchFamily="34" charset="0"/>
              </a:rPr>
              <a:t>The Fed May Raise Rates:</a:t>
            </a:r>
            <a:r>
              <a:rPr lang="en-US" sz="1400" dirty="0">
                <a:solidFill>
                  <a:srgbClr val="000962"/>
                </a:solidFill>
                <a:latin typeface="Arial" pitchFamily="34" charset="0"/>
              </a:rPr>
              <a:t xml:space="preserve"> For the first time, markets are pricing in a greater-than-50% chance of a rate increase this year. For clients holding fixed annuities or income-generating products, a higher-rate environment is actually favorable.</a:t>
            </a:r>
          </a:p>
          <a:p>
            <a:pPr marL="457189" indent="-457189">
              <a:lnSpc>
                <a:spcPts val="2800"/>
              </a:lnSpc>
              <a:buSzPct val="100000"/>
              <a:buChar char="•"/>
            </a:pPr>
            <a:r>
              <a:rPr lang="en-US" sz="1400" b="1" dirty="0">
                <a:solidFill>
                  <a:srgbClr val="000962"/>
                </a:solidFill>
                <a:latin typeface="Arial" pitchFamily="34" charset="0"/>
              </a:rPr>
              <a:t>Your Portfolio is Built for This:</a:t>
            </a:r>
            <a:r>
              <a:rPr lang="en-US" sz="1400" dirty="0">
                <a:solidFill>
                  <a:srgbClr val="000962"/>
                </a:solidFill>
                <a:latin typeface="Arial" pitchFamily="34" charset="0"/>
              </a:rPr>
              <a:t xml:space="preserve"> Diversification across defensive sectors and income-producing investments is working exactly as designed. New York Life's protection-first approach to portfolio construction is precisely what shields long-term wealth during volatile periods like this.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TotalTime>
  <Words>2917</Words>
  <Application>Microsoft Office PowerPoint</Application>
  <PresentationFormat>Widescreen</PresentationFormat>
  <Paragraphs>301</Paragraphs>
  <Slides>13</Slides>
  <Notes>12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13</vt:i4>
      </vt:variant>
    </vt:vector>
  </HeadingPairs>
  <TitlesOfParts>
    <vt:vector size="26" baseType="lpstr">
      <vt:lpstr>Aptos</vt:lpstr>
      <vt:lpstr>Arial</vt:lpstr>
      <vt:lpstr>Arial (Body)</vt:lpstr>
      <vt:lpstr>Arial Narrow</vt:lpstr>
      <vt:lpstr>Calibri</vt:lpstr>
      <vt:lpstr>Effra</vt:lpstr>
      <vt:lpstr>Effra Medium</vt:lpstr>
      <vt:lpstr>Effra Pro</vt:lpstr>
      <vt:lpstr>Georgia</vt:lpstr>
      <vt:lpstr>Tahoma</vt:lpstr>
      <vt:lpstr>Wingdings</vt:lpstr>
      <vt:lpstr>1_Light Blue</vt:lpstr>
      <vt:lpstr>Light Blue</vt:lpstr>
      <vt:lpstr>New Org:  What’s important week of March 30</vt:lpstr>
      <vt:lpstr>Build bigger cases in 2Q with the April PLAN webinar</vt:lpstr>
      <vt:lpstr>New Org agents: Protection-Powered Growth webinar</vt:lpstr>
      <vt:lpstr>2Q Protection Products Fundamentals Series</vt:lpstr>
      <vt:lpstr>2Q 2026 Registered Rep MasterClass </vt:lpstr>
      <vt:lpstr>Lifetime Mutual Income (LMI)</vt:lpstr>
      <vt:lpstr>Estab:  What’s important week of March 30</vt:lpstr>
      <vt:lpstr>Agent Assist Academy: NYL trains your staff, you get the support</vt:lpstr>
      <vt:lpstr>Estab agents: Designation tuition reimbursement process</vt:lpstr>
      <vt:lpstr>Established agent Las Vegas incentive</vt:lpstr>
      <vt:lpstr>Estab agents: Protection-Powered Growth webinar</vt:lpstr>
      <vt:lpstr>Morningstar Master Series for compliance and sales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Bueti, Grazia (Grace)</dc:creator>
  <cp:lastModifiedBy>Bueti, Grazia (Grace)</cp:lastModifiedBy>
  <cp:revision>2</cp:revision>
  <dcterms:created xsi:type="dcterms:W3CDTF">2026-03-26T15:26:52Z</dcterms:created>
  <dcterms:modified xsi:type="dcterms:W3CDTF">2026-03-26T19:34:36Z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f0b5d98-aa4b-42ad-b5be-1e75bbcbb7d7_Enabled">
    <vt:lpwstr>true</vt:lpwstr>
  </property>
  <property fmtid="{D5CDD505-2E9C-101B-9397-08002B2CF9AE}" pid="3" name="MSIP_Label_8f0b5d98-aa4b-42ad-b5be-1e75bbcbb7d7_SetDate">
    <vt:lpwstr>2026-03-26T15:27:49Z</vt:lpwstr>
  </property>
  <property fmtid="{D5CDD505-2E9C-101B-9397-08002B2CF9AE}" pid="4" name="MSIP_Label_8f0b5d98-aa4b-42ad-b5be-1e75bbcbb7d7_Method">
    <vt:lpwstr>Standard</vt:lpwstr>
  </property>
  <property fmtid="{D5CDD505-2E9C-101B-9397-08002B2CF9AE}" pid="5" name="MSIP_Label_8f0b5d98-aa4b-42ad-b5be-1e75bbcbb7d7_Name">
    <vt:lpwstr>Internal-pilot</vt:lpwstr>
  </property>
  <property fmtid="{D5CDD505-2E9C-101B-9397-08002B2CF9AE}" pid="6" name="MSIP_Label_8f0b5d98-aa4b-42ad-b5be-1e75bbcbb7d7_SiteId">
    <vt:lpwstr>a651e8f0-93d2-41c2-88b6-e8c5a1ad2375</vt:lpwstr>
  </property>
  <property fmtid="{D5CDD505-2E9C-101B-9397-08002B2CF9AE}" pid="7" name="MSIP_Label_8f0b5d98-aa4b-42ad-b5be-1e75bbcbb7d7_ActionId">
    <vt:lpwstr>b28397c1-4be6-4fd9-8e04-80f213724623</vt:lpwstr>
  </property>
  <property fmtid="{D5CDD505-2E9C-101B-9397-08002B2CF9AE}" pid="8" name="MSIP_Label_8f0b5d98-aa4b-42ad-b5be-1e75bbcbb7d7_ContentBits">
    <vt:lpwstr>0</vt:lpwstr>
  </property>
  <property fmtid="{D5CDD505-2E9C-101B-9397-08002B2CF9AE}" pid="9" name="MSIP_Label_8f0b5d98-aa4b-42ad-b5be-1e75bbcbb7d7_Tag">
    <vt:lpwstr>10, 3, 0, 1</vt:lpwstr>
  </property>
</Properties>
</file>