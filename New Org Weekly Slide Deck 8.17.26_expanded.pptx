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3.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2.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3.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4.xml" ContentType="application/vnd.openxmlformats-officedocument.presentationml.tag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5856" r:id="rId4"/>
    <p:sldMasterId id="2147486181" r:id="rId5"/>
    <p:sldMasterId id="2147486191" r:id="rId6"/>
    <p:sldMasterId id="2147486223" r:id="rId7"/>
  </p:sldMasterIdLst>
  <p:notesMasterIdLst>
    <p:notesMasterId r:id="rId31"/>
  </p:notesMasterIdLst>
  <p:handoutMasterIdLst>
    <p:handoutMasterId r:id="rId32"/>
  </p:handoutMasterIdLst>
  <p:sldIdLst>
    <p:sldId id="388" r:id="rId8"/>
    <p:sldId id="2147483645" r:id="rId9"/>
    <p:sldId id="2147483646" r:id="rId10"/>
    <p:sldId id="2147483647" r:id="rId11"/>
    <p:sldId id="256" r:id="rId12"/>
    <p:sldId id="257" r:id="rId13"/>
    <p:sldId id="258" r:id="rId14"/>
    <p:sldId id="259" r:id="rId15"/>
    <p:sldId id="260" r:id="rId16"/>
    <p:sldId id="261" r:id="rId17"/>
    <p:sldId id="276" r:id="rId18"/>
    <p:sldId id="400" r:id="rId19"/>
    <p:sldId id="423" r:id="rId20"/>
    <p:sldId id="441" r:id="rId21"/>
    <p:sldId id="2147483643" r:id="rId22"/>
    <p:sldId id="440" r:id="rId23"/>
    <p:sldId id="425" r:id="rId24"/>
    <p:sldId id="422" r:id="rId25"/>
    <p:sldId id="2147475696" r:id="rId26"/>
    <p:sldId id="442" r:id="rId27"/>
    <p:sldId id="320" r:id="rId28"/>
    <p:sldId id="2147483644" r:id="rId29"/>
    <p:sldId id="319" r:id="rId30"/>
  </p:sldIdLst>
  <p:sldSz cx="12192000" cy="6858000"/>
  <p:notesSz cx="7102475" cy="9388475"/>
  <p:custDataLst>
    <p:tags r:id="rId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5B82AEEB-27C9-4347-8BF2-F4521B8C3795}">
          <p14:sldIdLst>
            <p14:sldId id="388"/>
            <p14:sldId id="2147483645"/>
            <p14:sldId id="2147483646"/>
            <p14:sldId id="2147483647"/>
            <p14:sldId id="256"/>
            <p14:sldId id="257"/>
            <p14:sldId id="258"/>
            <p14:sldId id="259"/>
            <p14:sldId id="260"/>
            <p14:sldId id="261"/>
          </p14:sldIdLst>
        </p14:section>
        <p14:section name="Content" id="{7F40F47A-1A74-41D4-A581-0833D369880F}">
          <p14:sldIdLst>
            <p14:sldId id="276"/>
            <p14:sldId id="400"/>
            <p14:sldId id="423"/>
            <p14:sldId id="441"/>
            <p14:sldId id="2147483643"/>
            <p14:sldId id="440"/>
            <p14:sldId id="425"/>
            <p14:sldId id="422"/>
            <p14:sldId id="2147475696"/>
            <p14:sldId id="442"/>
            <p14:sldId id="320"/>
            <p14:sldId id="2147483644"/>
            <p14:sldId id="319"/>
          </p14:sldIdLst>
        </p14:section>
      </p14:sectionLst>
    </p:ext>
    <p:ext uri="{EFAFB233-063F-42B5-8137-9DF3F51BA10A}">
      <p15:sldGuideLst xmlns:p15="http://schemas.microsoft.com/office/powerpoint/2012/main">
        <p15:guide id="1" pos="1248" userDrawn="1">
          <p15:clr>
            <a:srgbClr val="A4A3A4"/>
          </p15:clr>
        </p15:guide>
        <p15:guide id="2" orient="horz" pos="237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C88B104-0603-DB14-FB19-8B061BAFB446}" name="Cirrincione, Deborah (Debbie)" initials="DC" userId="S::DCIRRINCI@newyorklife.com::208aada5-06cf-41ed-b292-2a173ac4d61d" providerId="AD"/>
  <p188:author id="{56DAEC0E-8B9A-EFBA-CEC8-9C86098D70B1}" name="Jean, Natasha" initials="JN" userId="S::njean@newyorklife.com::c457da75-332c-4d7b-9013-a1cb9b90886b" providerId="AD"/>
  <p188:author id="{E6325B11-2B13-A17C-AE9E-D23D2ADBA2C1}" name="Scanlan, Dawn M." initials="SD" userId="S::dhamon@newyorklife.com::12c7cd20-34bf-4117-b7b9-e4f7d0c77492" providerId="AD"/>
  <p188:author id="{03F8FB18-B39D-0050-A8EB-A1A2407ED5D9}" name="Oliveira, Maile M." initials="OM" userId="S::mmbrown@newyorklife.com::64802ba7-84bf-436a-b409-1db34b4cff98" providerId="AD"/>
  <p188:author id="{AB61541C-3827-2330-99F1-4B1E43CD5285}" name="Matzko, Donna J." initials="" userId="S::DMATZKO@newyorklife.com::a0ae713f-cc26-46c7-b8b9-c2ba1a6c18be" providerId="AD"/>
  <p188:author id="{A2B39C1C-877D-7914-D47E-BFD3482E12A9}" name="Murphy, Karen A." initials="KM" userId="S::kamurphy@newyorklife.com::e908a998-6e67-445b-bceb-e3f9243fa633" providerId="AD"/>
  <p188:author id="{27656B1E-4F6E-DB6E-9EE4-2BF187666295}" name="Chambers, Maryann" initials="CM" userId="S::mchambers02@newyorklife.com::859f9a9e-0f02-4620-8509-0bbdd26e0cb9" providerId="AD"/>
  <p188:author id="{0512EF21-C40B-D3CF-1B69-C0088690A08D}" name="Roughan, Sarah" initials="SR" userId="S::SROUGHAN@newyorklife.com::8091c5e4-3c9e-4ce8-a969-a2efd2174472" providerId="AD"/>
  <p188:author id="{61F13D22-0E0E-EE5D-D595-8ADB3788527F}" name="Cattan, Lauren E." initials="" userId="S::lecattan@newyorklife.com::ddd6e1fa-c82a-41c8-9d29-262da4981243" providerId="AD"/>
  <p188:author id="{D388B223-0728-409D-78CA-D25481D8D6FC}" name="Getaz, Marjorie V." initials="GV" userId="S::mgetaz@newyorklife.com::ea5e04bc-0316-4f07-ac82-b5c547970c0d" providerId="AD"/>
  <p188:author id="{6DDBDE29-0235-14EA-0B7D-479B808A7EF1}" name="Schwartz, Grace" initials="" userId="S::gschwartz02@newyorklife.com::482043fe-9bcb-4f4e-8db6-5fe4cb5439ed" providerId="AD"/>
  <p188:author id="{D8734834-E2EB-99E0-93D8-641F24B0AD46}" name="Falvo, Christopher (Chris)" initials="FC" userId="S::cfalvo@newyorklife.com::ad72e406-7e4b-4df6-bc2b-fdbd41892401" providerId="AD"/>
  <p188:author id="{1D1EE235-820B-D8C7-6AA2-316059E7D001}" name="Rose-Curley, Kelly R." initials="RCKR" userId="S::krosecurley@newyorklife.com::35c7f804-a584-4833-8966-5d1db731baab" providerId="AD"/>
  <p188:author id="{50BFF837-3C3A-0E2C-0ED1-FB27565BFCDC}" name="Mariutto, Jennifer M." initials="MM" userId="S::jiannibel@newyorklife.com::c1f1ff73-0556-4c3e-b648-cf17dbe126d2" providerId="AD"/>
  <p188:author id="{EEDAC642-367D-31E6-1752-92D684194A65}" name="Hourihan, Karla M." initials="KH" userId="S::KSUNDSTRO@newyorklife.com::595e3252-aeba-4609-af9d-4f36f617beb2" providerId="AD"/>
  <p188:author id="{F55A2946-8F83-058E-720D-40DF22326A19}" name="Bueti, Grazia (Grace)" initials="B(" userId="S::gbueti@newyorklife.com::c20da38d-4933-4cf1-8bc7-708859dc483f" providerId="AD"/>
  <p188:author id="{5DDDD84C-5F01-C273-2A72-188E082B6E60}" name="Schwartz, Deborah A." initials="DS" userId="S::daschwartz@newyorklife.com::f76e2373-eaaf-4e13-b974-65290e356216" providerId="AD"/>
  <p188:author id="{0E703F4D-9169-B7B3-CD1E-EB37DC168934}" name="Ura, Edit" initials="UE" userId="S::eura@newyorklife.com::a6f2eeb4-940e-4b7f-893a-1553909b3f48" providerId="AD"/>
  <p188:author id="{BA2DDC52-7CE2-0A0C-F0C4-5916F422448A}" name="Bulk, Andrew H. (Hunter)" initials="AB" userId="S::abulk@newyorklife.com::9ca1aaf4-2bdd-45d0-8ed4-7c68d5a17e49" providerId="AD"/>
  <p188:author id="{9C713C55-CBBA-9A64-B8F3-87D958DADF30}" name="Crimmins, Sheila A." initials="CS" userId="S::scrimmins@newyorklife.com::bf709f57-f968-48e4-ba64-4008d5d65a86" providerId="AD"/>
  <p188:author id="{2F65DD55-5C00-7671-AA59-1964AADD4DB0}" name="Bean, Darla L." initials="" userId="S::DBEAN@newyorklife.com::1cdda7fb-ded0-4ae6-9a0b-8ecf3341de13" providerId="AD"/>
  <p188:author id="{0A64D957-4C8C-1539-6B98-92C68A0D1D4A}" name="Kuzma, Matthew P." initials="" userId="S::mkuzma@newyorklife.com::e3edd6ba-4461-45fe-afc9-84ff9b2b1683" providerId="AD"/>
  <p188:author id="{98F39958-7A0C-819B-092A-654262FBFA68}" name="Nabors, Lisa (Lisa Renee)" initials="" userId="S::lnabors@newyorklife.com::2428def2-c02b-428d-91d0-cc587022f317" providerId="AD"/>
  <p188:author id="{047C695E-CC98-0A8A-B34A-0ECA6D510BB4}" name="Brown, Traci" initials="BT" userId="S::tbrown02@newyorklife.com::dbff7f98-554c-4297-ba8f-c5886a4da67b" providerId="AD"/>
  <p188:author id="{B6F96364-211C-8C43-AE38-CDEBEB04EC9F}" name="Mitra, Debapriya" initials="DM" userId="S::dmitra@newyorklife.com::21b21f98-a826-4455-9c9d-cb7d150c14fb" providerId="AD"/>
  <p188:author id="{C1456E67-7030-936D-33B0-32CE3A81C3D8}" name="Macchia, John" initials="" userId="S::jmacchia01@newyorklife.com::1f860ba1-b7e6-45b3-ba8f-232cf36abb01" providerId="AD"/>
  <p188:author id="{C8928A67-B20B-D87E-5540-087A347196AA}" name="Gilrein, Sean" initials="SG" userId="S::SGILREIN@newyorklife.com::8345e0ee-d86a-4f4d-938c-9dbb6e7c199d" providerId="AD"/>
  <p188:author id="{60874968-7C58-CE39-5BBD-0D797E532F25}" name="Cirrincione, Deborah (Debbie)" initials="dc" userId="Cirrincione, Deborah (Debbie)" providerId="None"/>
  <p188:author id="{7A0C5C6A-4A62-41D9-4F3E-3F1EBCA67392}" name="Klink, Edward E." initials="" userId="S::eeklink@newyorklife.com::d55b7f20-6b1a-488e-bc4e-45dcf68636ce" providerId="AD"/>
  <p188:author id="{9929BA6B-C613-F00B-8D48-206035D02269}" name="Gomes, Ligiane M. (Ligi)" initials="" userId="S::lgomes@newyorklife.com::2f659f96-c90e-4564-93aa-b062b87100ea" providerId="AD"/>
  <p188:author id="{83CD0270-DF0C-A16E-33B4-C536F7B4706C}" name="Essig, Daniel (Danny)" initials="DE" userId="S::DESSIG@newyorklife.com::f32510c9-2efe-4bb9-aa71-daecbbe6a660" providerId="AD"/>
  <p188:author id="{3A22EB70-5E1C-70AC-9010-295C37A89265}" name="Fidz, Anna M." initials="" userId="S::afidz@newyorklife.com::403b62f2-a980-47af-8223-793a05db5331" providerId="AD"/>
  <p188:author id="{4F22687A-C5BE-8C0B-B553-3927C7BEA320}" name="Cook, Erin E." initials="EC" userId="S::eedowney@newyorklife.com::4ccbf6e1-c364-4b3c-a7a8-4026f8918c02" providerId="AD"/>
  <p188:author id="{49D67B7C-B5F7-6980-A774-191BA199960A}" name="Armstrong-Walker, Diana L." initials="DA" userId="S::dlarmstrongw@newyorklife.com::d378a642-fb86-4375-bb7b-45919c3cc48f" providerId="AD"/>
  <p188:author id="{C91B6384-E527-0C03-4389-92D94BB2B7CF}" name="McGuirk, Sheehan M." initials="MS" userId="S::smmcguirk@newyorklife.com::79890cd6-8da1-4f61-9db7-93e67eab352f" providerId="AD"/>
  <p188:author id="{DC977B89-0EAF-5F3D-1266-F0CEED641F58}" name="Gassaway, Debra (Debbie)" initials="" userId="S::dgassaway@newyorklife.com::811452f0-8070-42fd-a663-809a5b3624d3" providerId="AD"/>
  <p188:author id="{5E10B28E-48F4-BFAA-3974-64ECAB236F61}" name="Crimmins, Sheila A." initials="" userId="S::SCRIMMINS@newyorklife.com::bf709f57-f968-48e4-ba64-4008d5d65a86" providerId="AD"/>
  <p188:author id="{BE250D9C-0FC2-4FB7-F358-F4665534E3A1}" name="Shortall, Matthew" initials="SM" userId="S::mshortall@newyorklife.com::d61067b8-2dcf-49a2-837a-c6ef30972e27" providerId="AD"/>
  <p188:author id="{4FE8B29C-AF9E-63CB-0734-2F82018A51EB}" name="Liftman, Stephanie M." initials="" userId="S::smschneider@newyorklife.com::efc14625-f729-4af2-9e74-6b90b22b429d" providerId="AD"/>
  <p188:author id="{0C2A559E-9C6C-0970-3F23-A3AA10F90442}" name="Amendola, Anthony J." initials="AA" userId="S::aamendola@newyorklife.com::8d9d6dd4-fd66-429c-9e35-a7518ede12fb" providerId="AD"/>
  <p188:author id="{670EE99F-FA4B-F0B4-EAEC-1FF4C6FC0808}" name="Niehoff, Elizabeth H. (Liz)" initials="" userId="S::ehniehoff@newyorklife.com::2ad97e79-e416-461d-82b2-97d0b67ac1b1" providerId="AD"/>
  <p188:author id="{8A7325A0-1279-11C4-F94B-A403B22E1209}" name="Belo, Rose Marie" initials="" userId="S::rbelo@newyorklife.com::5312c633-4b08-4e98-985d-c547bb9a124f" providerId="AD"/>
  <p188:author id="{D8E169A0-C7FF-473C-B3AD-1168C85C0385}" name="Laramee, Elaine R." initials="" userId="S::ELARAMEE@newyorklife.com::ed7f34df-5a18-4770-8d58-27343b68b770" providerId="AD"/>
  <p188:author id="{8AA8C5A0-FBF5-2187-E641-BE707A338C8E}" name="Gilrein, Sean" initials="GS" userId="S::sgilrein@newyorklife.com::8345e0ee-d86a-4f4d-938c-9dbb6e7c199d" providerId="AD"/>
  <p188:author id="{E03D09A5-F491-365F-185C-D85A4EE8EFAA}" name="Ruggeri, Renee M." initials="RR" userId="S::rmruggeri@newyorklife.com::8c8a01f5-9c3d-41b4-80e7-fc45fe604ed3" providerId="AD"/>
  <p188:author id="{3DF8EDA6-F86C-B98A-543E-360DCC21BB87}" name="Bean, Darla L." initials="BD" userId="S::dbean@newyorklife.com::1cdda7fb-ded0-4ae6-9a0b-8ecf3341de13" providerId="AD"/>
  <p188:author id="{C9110DAB-FD2B-50BE-50C7-7AD79071ACD7}" name="Petruccelli, Michael R. (Mike)" initials="" userId="S::mpetruccelli@newyorklife.com::6782a3d9-3f74-4bdf-838d-3b731992a725" providerId="AD"/>
  <p188:author id="{44669BAB-D232-6235-700B-B5070BD4784F}" name="Aligaen, Rina M." initials="" userId="S::rmaligaen@newyorklife.com::4d14e425-8ff4-45db-ab59-805e6bbc9a26" providerId="AD"/>
  <p188:author id="{E6EB99AD-729A-A869-0A78-480BA10A9DDD}" name="Weiser, Donna" initials="" userId="S::dweiser@newyorklife.com::8c69d483-485e-4e52-bf1a-586a7cc2347f" providerId="AD"/>
  <p188:author id="{BDA5E4AD-99DB-EE25-F4CE-ADFC14485082}" name="Antoniello, Christopher (Chris)" initials="" userId="S::cantoniello@newyorklife.com::712220fb-5d91-4258-9539-9653d43a755a" providerId="AD"/>
  <p188:author id="{C1B340AF-8CAB-C24A-19FE-71E0B22B6927}" name="Hill-Ries, Lisa N." initials="HL" userId="S::lnhillries@newyorklife.com::ab99e0e4-2b3a-4625-b0e9-1b0cffed9825" providerId="AD"/>
  <p188:author id="{AA45C8AF-5EAE-ED19-6D1B-21528F2279DA}" name="Rubin, Kathleen M. (Kathy)" initials="" userId="S::KRUBIN@newyorklife.com::12ebbc21-f07a-48bc-a611-e3954683d7c0" providerId="AD"/>
  <p188:author id="{80A621B0-98DD-DB02-6DA8-A0C392D002CD}" name="Rubin, Kathleen M. (Kathy)" initials="R(" userId="S::krubin@newyorklife.com::12ebbc21-f07a-48bc-a611-e3954683d7c0" providerId="AD"/>
  <p188:author id="{1D5EECB4-62E1-82F7-98F7-2ABE559C17BD}" name="Hase, Melanie L. (Melli)" initials="MH" userId="S::mlhase@newyorklife.com::97460e0e-4c90-446b-b934-aa22cb2ed870" providerId="AD"/>
  <p188:author id="{252F77B8-3706-DFAE-3C76-A25A02541A7F}" name="Laramee, Elaine R." initials="LE" userId="S::elaramee@newyorklife.com::ed7f34df-5a18-4770-8d58-27343b68b770" providerId="AD"/>
  <p188:author id="{899231BF-295E-7C78-33C6-B9E4F60BE1EF}" name="Parker-Magyar, Alexander V." initials="" userId="S::avparkermagy@newyorklife.com::b2a07cd5-f592-4539-94aa-2a41e6a238e9" providerId="AD"/>
  <p188:author id="{EEF746C8-7549-9BD7-F3D3-EFB000BA5F6C}" name="Holbert, Michelle E. (Shelley)" initials="MH" userId="S::mholbert@newyorklife.com::23f080fe-79e7-4e1e-86a3-fde953166fbf" providerId="AD"/>
  <p188:author id="{24BA49C8-92E0-50E2-A4FA-9651F8610C6E}" name="Roughan, Sarah" initials="RS" userId="S::sroughan@newyorklife.com::8091c5e4-3c9e-4ce8-a969-a2efd2174472" providerId="AD"/>
  <p188:author id="{05C777CA-1AA9-7018-66C4-30CABF602BD9}" name="Brown, Peggy W." initials="BP" userId="S::pwbrown@newyorklife.com::1aecf54a-6bf6-4592-8b93-f373f4acaca2" providerId="AD"/>
  <p188:author id="{23AF9CCA-78FA-50A7-D504-0D454CD01A46}" name="Curtin, Lauren A." initials="" userId="S::lgilmore@newyorklife.com::6f6c4c81-7c45-40a8-b3f5-7e6ddd073395" providerId="AD"/>
  <p188:author id="{4820F8CA-0D7D-75D3-F9C2-5A9B9094B06F}" name="Lombardi, Ronald" initials="" userId="S::rlombardi@newyorklife.com::90020542-9349-4a1c-98f6-ac728adb002c" providerId="AD"/>
  <p188:author id="{EB8FBDCB-B405-9C57-DD28-EC16DFE1FEA5}" name="Falvo, Christopher (Chris)" initials="CF" userId="S::CFALVO@newyorklife.com::ad72e406-7e4b-4df6-bc2b-fdbd41892401" providerId="AD"/>
  <p188:author id="{F01B96D6-87F5-F019-5EB5-4F939888460F}" name="Mariutto, Jennifer M." initials="JM" userId="S::JIANNIBEL@newyorklife.com::c1f1ff73-0556-4c3e-b648-cf17dbe126d2" providerId="AD"/>
  <p188:author id="{68B046DB-94B6-1D44-553A-1D134A7BA8DC}" name="Essig, Daniel (Danny)" initials="ED" userId="S::dessig@newyorklife.com::f32510c9-2efe-4bb9-aa71-daecbbe6a660" providerId="AD"/>
  <p188:author id="{0C2CE8DF-280C-8473-CC3F-0CAA48B56FE8}" name="Gulisano, James F. (Jamie)" initials="" userId="S::JGULISANO@newyorklife.com::9c98f369-4b8b-4fec-acab-a272b9024458" providerId="AD"/>
  <p188:author id="{181863E0-D98D-3C17-17AD-016BAEF37155}" name="Ferguson, Michael S. (Mike)" initials="F(" userId="S::mferguson01@newyorklife.com::3572e4fa-3fa2-48c8-b0ce-39fda1969879" providerId="AD"/>
  <p188:author id="{C0B5DBE0-FF85-AE3E-4531-56962B7CF052}" name="Mcdermott, Patrick B." initials="" userId="S::PMCDERMOT@newyorklife.com::abc56b72-56a0-49c6-bee4-46c6d1d4f69d" providerId="AD"/>
  <p188:author id="{DA07D0E3-359E-887B-A92C-C1E38B730533}" name="Cirrincione, Deborah (Debbie)" initials="CD" userId="S::dcirrinci@newyorklife.com::208aada5-06cf-41ed-b292-2a173ac4d61d" providerId="AD"/>
  <p188:author id="{CF15BEE4-1643-3CCA-D837-251CF4390522}" name="Rowland, Njeri C." initials="NR" userId="S::nrowland@newyorklife.com::7526444e-40cd-4685-9189-6a7ffe474f76" providerId="AD"/>
  <p188:author id="{73371CE5-7D96-BD6C-078D-B3A6D6FAA8B9}" name="Bednarz, Christine A." initials="BCA" userId="S::cabednarz@newyorklife.com::8da3e2fc-0a9f-4d26-abe3-9a25ded5506f" providerId="AD"/>
  <p188:author id="{BA766DE9-407E-EF14-8BB4-753AB4536BF1}" name="Ramirez, Elena" initials="" userId="S::eramirez01@newyorklife.com::23d85afb-dd90-43d4-81ae-ec36a7bcb17c" providerId="AD"/>
  <p188:author id="{A760F5EA-D132-CBB7-7F81-35BF0FE07E30}" name="Scanlan, Dawn M." initials="DS" userId="S::DHAMON@newyorklife.com::12c7cd20-34bf-4117-b7b9-e4f7d0c77492" providerId="AD"/>
  <p188:author id="{9D80C2EB-5545-7878-D0C2-C959B1F1ADB7}" name="Ferguson, Michael S. (Mike)" initials="MF" userId="S::MFERGUSON01@newyorklife.com::3572e4fa-3fa2-48c8-b0ce-39fda1969879" providerId="AD"/>
  <p188:author id="{81825AEE-7DF5-D32C-1742-6673EC338428}" name="Hourihan, Karla M." initials="HK" userId="S::ksundstro@newyorklife.com::595e3252-aeba-4609-af9d-4f36f617beb2" providerId="AD"/>
  <p188:author id="{4B87E1EF-0466-3982-449B-38629DF1EE7F}" name="Forand, Patrick W." initials="FP" userId="S::pforand@newyorklife.com::151abf93-ee6a-4408-8c4a-0fc8c7dedff4" providerId="AD"/>
  <p188:author id="{6D3F07FA-114C-E68A-CE88-D43B6543403C}" name="Leblanc, Alice M." initials="LA" userId="S::amleblanc@newyorklife.com::33e02965-ec6b-40a7-a9cc-4a2ef90d62ff" providerId="AD"/>
  <p188:author id="{233E4CFA-658D-8295-4ADF-C95E00CF94E1}" name="Csillag, Carmen" initials="" userId="S::ccsillag@newyorklife.com::5bab7689-479a-4c08-9af9-59f51916266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A62"/>
    <a:srgbClr val="EE60D3"/>
    <a:srgbClr val="000000"/>
    <a:srgbClr val="0468FF"/>
    <a:srgbClr val="E82CC4"/>
    <a:srgbClr val="0A3C53"/>
    <a:srgbClr val="0042E8"/>
    <a:srgbClr val="66A7FF"/>
    <a:srgbClr val="7FE9A5"/>
    <a:srgbClr val="A5CA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427" autoAdjust="0"/>
  </p:normalViewPr>
  <p:slideViewPr>
    <p:cSldViewPr snapToGrid="0">
      <p:cViewPr varScale="1">
        <p:scale>
          <a:sx n="84" d="100"/>
          <a:sy n="84" d="100"/>
        </p:scale>
        <p:origin x="1596" y="96"/>
      </p:cViewPr>
      <p:guideLst>
        <p:guide pos="1248"/>
        <p:guide orient="horz" pos="237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microsoft.com/office/2018/10/relationships/authors" Target="authors.xml"/><Relationship Id="rId21" Type="http://schemas.openxmlformats.org/officeDocument/2006/relationships/slide" Target="slides/slide14.xml"/><Relationship Id="rId34"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tags" Target="tags/tag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viewProps" Target="viewProps.xml"/><Relationship Id="rId8" Type="http://schemas.openxmlformats.org/officeDocument/2006/relationships/slide" Target="slides/slide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ueti, Grazia (Grace)" userId="c20da38d-4933-4cf1-8bc7-708859dc483f" providerId="ADAL" clId="{7E691470-409E-4843-8F6C-EEFF9EF1D650}"/>
    <pc:docChg chg="delSld modSection">
      <pc:chgData name="Bueti, Grazia (Grace)" userId="c20da38d-4933-4cf1-8bc7-708859dc483f" providerId="ADAL" clId="{7E691470-409E-4843-8F6C-EEFF9EF1D650}" dt="2026-08-13T18:19:08.543" v="0" actId="47"/>
      <pc:docMkLst>
        <pc:docMk/>
      </pc:docMkLst>
      <pc:sldChg chg="del">
        <pc:chgData name="Bueti, Grazia (Grace)" userId="c20da38d-4933-4cf1-8bc7-708859dc483f" providerId="ADAL" clId="{7E691470-409E-4843-8F6C-EEFF9EF1D650}" dt="2026-08-13T18:19:08.543" v="0" actId="47"/>
        <pc:sldMkLst>
          <pc:docMk/>
          <pc:sldMk cId="2466822959" sldId="289"/>
        </pc:sldMkLst>
      </pc:sldChg>
      <pc:sldChg chg="del">
        <pc:chgData name="Bueti, Grazia (Grace)" userId="c20da38d-4933-4cf1-8bc7-708859dc483f" providerId="ADAL" clId="{7E691470-409E-4843-8F6C-EEFF9EF1D650}" dt="2026-08-13T18:19:08.543" v="0" actId="47"/>
        <pc:sldMkLst>
          <pc:docMk/>
          <pc:sldMk cId="2940215926" sldId="293"/>
        </pc:sldMkLst>
      </pc:sldChg>
      <pc:sldChg chg="del">
        <pc:chgData name="Bueti, Grazia (Grace)" userId="c20da38d-4933-4cf1-8bc7-708859dc483f" providerId="ADAL" clId="{7E691470-409E-4843-8F6C-EEFF9EF1D650}" dt="2026-08-13T18:19:08.543" v="0" actId="47"/>
        <pc:sldMkLst>
          <pc:docMk/>
          <pc:sldMk cId="4264416822" sldId="29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39839A-6710-2204-4CDA-C3A65EC879F4}"/>
              </a:ext>
            </a:extLst>
          </p:cNvPr>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a:extLst>
              <a:ext uri="{FF2B5EF4-FFF2-40B4-BE49-F238E27FC236}">
                <a16:creationId xmlns:a16="http://schemas.microsoft.com/office/drawing/2014/main" id="{E99578DC-03E8-1058-6D53-36643595872A}"/>
              </a:ext>
            </a:extLst>
          </p:cNvPr>
          <p:cNvSpPr>
            <a:spLocks noGrp="1"/>
          </p:cNvSpPr>
          <p:nvPr>
            <p:ph type="dt" sz="quarter" idx="1"/>
          </p:nvPr>
        </p:nvSpPr>
        <p:spPr>
          <a:xfrm>
            <a:off x="4023092" y="0"/>
            <a:ext cx="3077739" cy="471054"/>
          </a:xfrm>
          <a:prstGeom prst="rect">
            <a:avLst/>
          </a:prstGeom>
        </p:spPr>
        <p:txBody>
          <a:bodyPr vert="horz" lIns="94229" tIns="47114" rIns="94229" bIns="47114" rtlCol="0"/>
          <a:lstStyle>
            <a:lvl1pPr algn="r">
              <a:defRPr sz="1200"/>
            </a:lvl1pPr>
          </a:lstStyle>
          <a:p>
            <a:fld id="{E7A4511B-ADED-4F45-B3F1-92161E2FB2AD}" type="datetimeFigureOut">
              <a:rPr lang="en-US" smtClean="0"/>
              <a:t>8/16/2026</a:t>
            </a:fld>
            <a:endParaRPr lang="en-US"/>
          </a:p>
        </p:txBody>
      </p:sp>
      <p:sp>
        <p:nvSpPr>
          <p:cNvPr id="4" name="Footer Placeholder 3">
            <a:extLst>
              <a:ext uri="{FF2B5EF4-FFF2-40B4-BE49-F238E27FC236}">
                <a16:creationId xmlns:a16="http://schemas.microsoft.com/office/drawing/2014/main" id="{D79651AB-85DF-CC16-069D-ADF98F769CC6}"/>
              </a:ext>
            </a:extLst>
          </p:cNvPr>
          <p:cNvSpPr>
            <a:spLocks noGrp="1"/>
          </p:cNvSpPr>
          <p:nvPr>
            <p:ph type="ftr" sz="quarter" idx="2"/>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D9EB7D0-D96F-0021-E271-E06D345388B0}"/>
              </a:ext>
            </a:extLst>
          </p:cNvPr>
          <p:cNvSpPr>
            <a:spLocks noGrp="1"/>
          </p:cNvSpPr>
          <p:nvPr>
            <p:ph type="sldNum" sz="quarter" idx="3"/>
          </p:nvPr>
        </p:nvSpPr>
        <p:spPr>
          <a:xfrm>
            <a:off x="4023092" y="8917422"/>
            <a:ext cx="3077739" cy="471053"/>
          </a:xfrm>
          <a:prstGeom prst="rect">
            <a:avLst/>
          </a:prstGeom>
        </p:spPr>
        <p:txBody>
          <a:bodyPr vert="horz" lIns="94229" tIns="47114" rIns="94229" bIns="47114" rtlCol="0" anchor="b"/>
          <a:lstStyle>
            <a:lvl1pPr algn="r">
              <a:defRPr sz="1200"/>
            </a:lvl1pPr>
          </a:lstStyle>
          <a:p>
            <a:fld id="{8F3748A2-8B31-4D5F-8B5A-39B51195A439}" type="slidenum">
              <a:rPr lang="en-US" smtClean="0"/>
              <a:t>‹#›</a:t>
            </a:fld>
            <a:endParaRPr lang="en-US"/>
          </a:p>
        </p:txBody>
      </p:sp>
    </p:spTree>
    <p:extLst>
      <p:ext uri="{BB962C8B-B14F-4D97-AF65-F5344CB8AC3E}">
        <p14:creationId xmlns:p14="http://schemas.microsoft.com/office/powerpoint/2010/main" val="233057701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957" userDrawn="1">
          <p15:clr>
            <a:srgbClr val="F26B43"/>
          </p15:clr>
        </p15:guide>
        <p15:guide id="2" pos="2237"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EA976E3E-BBA1-487D-B81E-A53C96360150}" type="datetimeFigureOut">
              <a:t>8/16/2026</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B8F2EEE2-46E2-47E5-8287-018A51779D44}" type="slidenum">
              <a:t>‹#›</a:t>
            </a:fld>
            <a:endParaRPr lang="en-US"/>
          </a:p>
        </p:txBody>
      </p:sp>
    </p:spTree>
    <p:extLst>
      <p:ext uri="{BB962C8B-B14F-4D97-AF65-F5344CB8AC3E}">
        <p14:creationId xmlns:p14="http://schemas.microsoft.com/office/powerpoint/2010/main" val="2113819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mailto:ipt@newyorklife.com"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8F2EEE2-46E2-47E5-8287-018A51779D44}" type="slidenum">
              <a:rPr lang="en-US" smtClean="0"/>
              <a:t>1</a:t>
            </a:fld>
            <a:endParaRPr lang="en-US"/>
          </a:p>
        </p:txBody>
      </p:sp>
    </p:spTree>
    <p:extLst>
      <p:ext uri="{BB962C8B-B14F-4D97-AF65-F5344CB8AC3E}">
        <p14:creationId xmlns:p14="http://schemas.microsoft.com/office/powerpoint/2010/main" val="9929214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the meeting with recognition. These are August month-to-date numbers for the New Orleans General Office, pulled from the current MTD recognition report.</a:t>
            </a:r>
          </a:p>
          <a:p>
            <a:endParaRPr/>
          </a:p>
          <a:p>
            <a:r>
              <a:t>Three ways to show up on this board: first year commission (FYC), applied cases, and paid cases. Call out that the lists are different people - Lawrence Cabirac leads FYC and also appears on paid cases; Casey Crouch leads applied cases by a wide margin at 13. That is the point: there is more than one path onto this slide.</a:t>
            </a:r>
          </a:p>
          <a:p>
            <a:endParaRPr/>
          </a:p>
          <a:p>
            <a:r>
              <a:t>Read every name out loud. Ask the two or three at the top what changed in their week - the answer is almost always activity, not luck.</a:t>
            </a:r>
          </a:p>
          <a:p>
            <a:endParaRPr/>
          </a:p>
          <a:p>
            <a:r>
              <a:t>Presenter note: if the office wants to honor someone not captured in the production report, duplicate this slide before the meeting and add them.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the frame. Stocks ground out a third straight weekly gain, but underneath the surface the story changed: soft inflation data cooled September rate-hike fears, while a sharp drop in retail sales and a slump in consumer sentiment raised questions about the consumer.</a:t>
            </a:r>
          </a:p>
          <a:p>
            <a:endParaRPr/>
          </a:p>
          <a:p>
            <a:r>
              <a:t>The week ahead is data-light on the macro side but heavy on retail earnings - Home Depot, Lowe's, Target, TJX and Walmart all report. Wednesday's FOMC minutes are the single most-watched item.</a:t>
            </a:r>
          </a:p>
          <a:p>
            <a:endParaRPr/>
          </a:p>
          <a:p>
            <a:r>
              <a:t>Tell the room this section takes about ten minutes and the last slide is the one they can use with clients today.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Lead with breadth. The headline index move was small (+0.4%), but the Russell 2000 gaining 3.15% to a record is the real signal - participation widened beyond mega-cap technology for the first time in weeks.</a:t>
            </a:r>
          </a:p>
          <a:p>
            <a:endParaRPr/>
          </a:p>
          <a:p>
            <a:r>
              <a:t>Explain the Dow's decline honestly: it is a price-weighted index concentrated in healthcare and industrials, both of which lagged. It is not a sign the rally broke.</a:t>
            </a:r>
          </a:p>
          <a:p>
            <a:endParaRPr/>
          </a:p>
          <a:p>
            <a:r>
              <a:t>Point at the VIX near 14.85. Low volatility is not the same as low risk. That is the natural bridge into planning conversations.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data stories collided last week and they point opposite directions.</a:t>
            </a:r>
          </a:p>
          <a:p>
            <a:endParaRPr/>
          </a:p>
          <a:p>
            <a:r>
              <a:t>The inflation story improved. Both CPI and PPI came in softer than expected, and that is what pushed September rate-hike odds down and let stocks finish higher. Note that core CPI at 2.5% annual is meaningfully better than the 3.4% headline - energy is doing most of the damage, and energy is still 14.7% higher than a year ago.</a:t>
            </a:r>
          </a:p>
          <a:p>
            <a:endParaRPr/>
          </a:p>
          <a:p>
            <a:r>
              <a:t>The consumer story weakened. Retail sales fell 0.6%, the worst month in over a year, and sentiment dropped to 51. Some of the retail decline is a timing shift around Amazon Prime Day, so do not overstate it - but pair it with sentiment and it is worth watching.</a:t>
            </a:r>
          </a:p>
          <a:p>
            <a:endParaRPr/>
          </a:p>
          <a:p>
            <a:r>
              <a:t>NYLIM's framing is useful here: constructive, but a narrower path forward. Use that language. It is honest without being alarming.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this quickly - the week is data-light by design, which raises the weight of each item.</a:t>
            </a:r>
          </a:p>
          <a:p>
            <a:endParaRPr/>
          </a:p>
          <a:p>
            <a:r>
              <a:t>Monday and Tuesday are housing. Mortgage rates are still elevated and both Home Depot and Lowe's report this week, so housing starts and permits on Tuesday morning set the tone for those calls.</a:t>
            </a:r>
          </a:p>
          <a:p>
            <a:endParaRPr/>
          </a:p>
          <a:p>
            <a:r>
              <a:t>Wednesday at 2 pm is the item to circle. These are the minutes from the July 28-29 meeting where the Committee held the funds rate at 3.50%-3.75% in a split decision with three dissents in favor of a hike. BofA economists caution the minutes are somewhat stale given the soft data since, but the market wants to know how many other members were leaning toward a hike and what the bar is for September.</a:t>
            </a:r>
          </a:p>
          <a:p>
            <a:endParaRPr/>
          </a:p>
          <a:p>
            <a:r>
              <a:t>Friday's flash PMIs are the freshest August data anyone will have going into Jackson Hole the following week.</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retail week, and it lands three trading days after the worst retail sales print in over a year. That contrast is the story.</a:t>
            </a:r>
          </a:p>
          <a:p>
            <a:endParaRPr/>
          </a:p>
          <a:p>
            <a:r>
              <a:t>Home Depot Tuesday and Lowe's Wednesday are the housing read. Oppenheimer's Brian Nagel is below consensus on Home Depot at $4.66 and warns against expecting green shoots in home improvement while mortgage rates stay high.</a:t>
            </a:r>
          </a:p>
          <a:p>
            <a:endParaRPr/>
          </a:p>
          <a:p>
            <a:r>
              <a:t>Walmart Thursday is the one that matters most. Jefferies expects an in-line quarter and flags improving e-commerce margins and advertising revenue as underappreciated. Walmart tells you whether households are trading down, and trading down usually shows up in Walmart's numbers before it shows up anywhere else.</a:t>
            </a:r>
          </a:p>
          <a:p>
            <a:endParaRPr/>
          </a:p>
          <a:p>
            <a:r>
              <a:t>One structural note worth mentioning: Reddit joins the S&amp;P 500 this week. Index inclusion drives mechanical buying and is not a fundamental signal.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Make sure the room understands the direction of the debate, because it is the opposite of what most clients assume. The dissents at the July meeting were in favor of raising rates, not cutting. Inflation at 3.4% headline with a funds rate of 3.50%-3.75% leaves very little real cushion.</a:t>
            </a:r>
          </a:p>
          <a:p>
            <a:endParaRPr/>
          </a:p>
          <a:p>
            <a:r>
              <a:t>Soft data since July has taken the September hike largely off the table, but "off the table" is not the same as "cuts are coming."</a:t>
            </a:r>
          </a:p>
          <a:p>
            <a:endParaRPr/>
          </a:p>
          <a:p>
            <a:r>
              <a:t>The practical point for agents: an environment where rates stay higher for longer is a good environment to talk about guaranteed accumulation and guaranteed income. Do not sell fear about the Fed. Sell the value of certainty in a plan when the rate path is genuinely uncertain.</a:t>
            </a:r>
          </a:p>
          <a:p>
            <a:endParaRPr/>
          </a:p>
          <a:p>
            <a:r>
              <a:t>NYLIM's Global Market Strategy team published "Steeper Curves, Building Risks" - worth reading before client conversations this week.</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the "why should I care" slide for clients who only see the S&amp;P number.</a:t>
            </a:r>
          </a:p>
          <a:p>
            <a:endParaRPr/>
          </a:p>
          <a:p>
            <a:r>
              <a:t>Point one: for most of 2026 the rally was narrow and technology-led. Last week small caps led by a wide margin and set a record. Broader participation is a healthier market structure.</a:t>
            </a:r>
          </a:p>
          <a:p>
            <a:endParaRPr/>
          </a:p>
          <a:p>
            <a:r>
              <a:t>Point two: relative sector strength shifted - technology stayed first, financials moved to second, health care to third, industrials entered the top five, and energy fell from second to sixth as oil prices eased.</a:t>
            </a:r>
          </a:p>
          <a:p>
            <a:endParaRPr/>
          </a:p>
          <a:p>
            <a:r>
              <a:t>Point three: the consumer is the open question. Retail sales fell 0.6% and sentiment dropped to 51 right before five major retailers report. That is the tension to watch this week.</a:t>
            </a:r>
          </a:p>
          <a:p>
            <a:endParaRPr/>
          </a:p>
          <a:p>
            <a:r>
              <a:t>Close with the diversification line. It is the single most useful thing an agent can say about last week.</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as a script. Read it close to verbatim if that helps - it is written for clients, not for professionals.</a:t>
            </a:r>
          </a:p>
          <a:p>
            <a:endParaRPr/>
          </a:p>
          <a:p>
            <a:r>
              <a:t>Keep the tone calm and specific. Clients do not need index levels. They need three things: what happened, what it means for their money, and what we are watching next.</a:t>
            </a:r>
          </a:p>
          <a:p>
            <a:endParaRPr/>
          </a:p>
          <a:p>
            <a:r>
              <a:t>The most important line is the fifth one. When a client hears "rates are staying high," the instinctive reaction is anxiety. Reframe it: for someone whose plan includes guaranteed accumulation or guaranteed income, a higher rate environment is not a threat.</a:t>
            </a:r>
          </a:p>
          <a:p>
            <a:endParaRPr/>
          </a:p>
          <a:p>
            <a:r>
              <a:t>Do not promise a market direction. Do not editorialize about the Fed. Stay on the data.</a:t>
            </a:r>
          </a:p>
          <a:p>
            <a:endParaRPr/>
          </a:p>
          <a:p>
            <a:r>
              <a:t>Suggested close: "Nothing that happened last week is a reason to change your plan. If anything changed in your life, that is the reason to call me." </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2289">
              <a:defRPr/>
            </a:pPr>
            <a:r>
              <a:rPr lang="en-US" b="1"/>
              <a:t>New Org Section: </a:t>
            </a:r>
            <a:r>
              <a:rPr lang="en-US"/>
              <a:t>For SPs and Partners presenting to </a:t>
            </a:r>
            <a:r>
              <a:rPr lang="en-US" b="1"/>
              <a:t>New Org agents</a:t>
            </a:r>
            <a:r>
              <a:rPr lang="en-US"/>
              <a:t>. These slides are visible to EPs and MPs.</a:t>
            </a:r>
            <a:endParaRPr lang="en-US" b="1"/>
          </a:p>
          <a:p>
            <a:endParaRPr lang="en-US"/>
          </a:p>
        </p:txBody>
      </p:sp>
      <p:sp>
        <p:nvSpPr>
          <p:cNvPr id="4" name="Slide Number Placeholder 3"/>
          <p:cNvSpPr>
            <a:spLocks noGrp="1"/>
          </p:cNvSpPr>
          <p:nvPr>
            <p:ph type="sldNum" sz="quarter" idx="5"/>
          </p:nvPr>
        </p:nvSpPr>
        <p:spPr/>
        <p:txBody>
          <a:bodyPr/>
          <a:lstStyle/>
          <a:p>
            <a:fld id="{B8F2EEE2-46E2-47E5-8287-018A51779D44}" type="slidenum">
              <a:rPr lang="en-US" smtClean="0"/>
              <a:t>11</a:t>
            </a:fld>
            <a:endParaRPr lang="en-US"/>
          </a:p>
        </p:txBody>
      </p:sp>
    </p:spTree>
    <p:extLst>
      <p:ext uri="{BB962C8B-B14F-4D97-AF65-F5344CB8AC3E}">
        <p14:creationId xmlns:p14="http://schemas.microsoft.com/office/powerpoint/2010/main" val="39826634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New riders expand AD126 SVUL Accumulator 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Arial" panose="020B0604020202020204" pitchFamily="34" charset="0"/>
                <a:cs typeface="Arial" panose="020B0604020202020204" pitchFamily="34" charset="0"/>
              </a:rPr>
              <a:t>Beginning </a:t>
            </a:r>
            <a:r>
              <a:rPr lang="en-US" b="0">
                <a:latin typeface="Arial" panose="020B0604020202020204" pitchFamily="34" charset="0"/>
                <a:cs typeface="Arial" panose="020B0604020202020204" pitchFamily="34" charset="0"/>
              </a:rPr>
              <a:t>August 8, 2026, </a:t>
            </a:r>
            <a:r>
              <a:rPr lang="en-US" b="1">
                <a:latin typeface="Arial" panose="020B0604020202020204" pitchFamily="34" charset="0"/>
                <a:cs typeface="Arial" panose="020B0604020202020204" pitchFamily="34" charset="0"/>
              </a:rPr>
              <a:t>AD126 SVUL Accumulator II</a:t>
            </a:r>
            <a:r>
              <a:rPr lang="en-US">
                <a:latin typeface="Arial" panose="020B0604020202020204" pitchFamily="34" charset="0"/>
                <a:cs typeface="Arial" panose="020B0604020202020204" pitchFamily="34" charset="0"/>
              </a:rPr>
              <a:t> will offer two new riders that enhance its value for estate and legacy planning. The Extended No Lapse Guarantee Rider provides long-term death benefit guarantees through age 105 or 121 and includes a limited opportunity for eligible inforce policies to add the rider through September 8. The Estate Protection Rider will also be available on new policies, providing additional death benefit protection during the first four policy years. Additional details and resources are available on Info Central.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Contact: </a:t>
            </a:r>
            <a:r>
              <a:rPr lang="en-US">
                <a:latin typeface="Arial" panose="020B0604020202020204" pitchFamily="34" charset="0"/>
                <a:cs typeface="Arial" panose="020B0604020202020204" pitchFamily="34" charset="0"/>
              </a:rPr>
              <a:t>PLAN@newyorklife.com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Info Central page: </a:t>
            </a:r>
            <a:r>
              <a:rPr lang="en-US">
                <a:latin typeface="Arial" panose="020B0604020202020204" pitchFamily="34" charset="0"/>
                <a:cs typeface="Arial" panose="020B0604020202020204" pitchFamily="34" charset="0"/>
              </a:rPr>
              <a:t>https://www.today.newyorklife.com/agencyportal/s/article/New-Extended-No-Lapse-Guarantee-Rider-Launching-on-AD126-SVUL-Accumulator-II</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62397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Contact:</a:t>
            </a:r>
            <a:r>
              <a:rPr lang="en-US">
                <a:latin typeface="Arial" panose="020B0604020202020204" pitchFamily="34" charset="0"/>
                <a:ea typeface="Calibri"/>
                <a:cs typeface="Arial" panose="020B0604020202020204" pitchFamily="34" charset="0"/>
              </a:rPr>
              <a:t> PLAN@newyorklife.com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12% DCA Rate Info Central page: </a:t>
            </a:r>
            <a:r>
              <a:rPr lang="en-US" b="0">
                <a:latin typeface="Arial" panose="020B0604020202020204" pitchFamily="34" charset="0"/>
                <a:ea typeface="Calibri"/>
                <a:cs typeface="Arial" panose="020B0604020202020204" pitchFamily="34" charset="0"/>
              </a:rPr>
              <a:t>https://www.today.newyorklife.com/agencyportal/s/article/Limited-Time-12-DCA-Rates-for-VA-and-VUL</a:t>
            </a:r>
            <a:endParaRPr lang="en-US" b="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96797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4547D-BD93-27D0-797F-1FA430637B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977DBF-3711-DB01-FC9C-327AC5BBBF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CA372D-1873-8DDC-0261-1EE34E4ACB0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Don’t miss the next Advanced Life Sales Series webinar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a:latin typeface="Arial" panose="020B0604020202020204" pitchFamily="34" charset="0"/>
                <a:ea typeface="Calibri"/>
                <a:cs typeface="Arial" panose="020B0604020202020204" pitchFamily="34" charset="0"/>
              </a:rPr>
              <a:t>Join us for the next installment of the Advanced Life Sales Series, featuring planning strategies and considerations for working with business owners.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latin typeface="Arial" panose="020B0604020202020204" pitchFamily="34" charset="0"/>
                <a:ea typeface="Calibri"/>
                <a:cs typeface="Arial" panose="020B0604020202020204" pitchFamily="34" charset="0"/>
              </a:rPr>
              <a:t>Additional details and speakers will be announced soon.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Contact:</a:t>
            </a:r>
            <a:r>
              <a:rPr lang="en-US">
                <a:latin typeface="Arial" panose="020B0604020202020204" pitchFamily="34" charset="0"/>
                <a:ea typeface="Calibri"/>
                <a:cs typeface="Arial" panose="020B0604020202020204" pitchFamily="34" charset="0"/>
              </a:rPr>
              <a:t> PLAN@newyorklife.com</a:t>
            </a:r>
          </a:p>
          <a:p>
            <a:endParaRPr lang="en-US">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Registration link: </a:t>
            </a:r>
            <a:r>
              <a:rPr lang="en-US">
                <a:latin typeface="Arial" panose="020B0604020202020204" pitchFamily="34" charset="0"/>
                <a:cs typeface="Arial" panose="020B0604020202020204" pitchFamily="34" charset="0"/>
              </a:rPr>
              <a:t>https://nylife.zoom.us/webinar/register/WN_FF6BT7-AS4Sf9qKgXgSYvQ#/registration</a:t>
            </a:r>
          </a:p>
        </p:txBody>
      </p:sp>
      <p:sp>
        <p:nvSpPr>
          <p:cNvPr id="4" name="Slide Number Placeholder 3">
            <a:extLst>
              <a:ext uri="{FF2B5EF4-FFF2-40B4-BE49-F238E27FC236}">
                <a16:creationId xmlns:a16="http://schemas.microsoft.com/office/drawing/2014/main" id="{23F179D3-EA15-A06C-4CFB-817AF8D83A4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32731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September National PLAN Webinar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Date: Wednesday, September 2, 2026</a:t>
            </a:r>
            <a:br>
              <a:rPr kumimoji="0" lang="en-US" sz="1200" b="0" i="0" u="none" strike="noStrike" kern="1200" cap="none" spc="0" normalizeH="0" baseline="0" noProof="0">
                <a:ln>
                  <a:noFill/>
                </a:ln>
                <a:solidFill>
                  <a:srgbClr val="FFFFFF"/>
                </a:solidFill>
                <a:effectLst/>
                <a:uLnTx/>
                <a:uFillTx/>
                <a:latin typeface="Arial"/>
                <a:ea typeface="+mn-ea"/>
                <a:cs typeface="+mn-cs"/>
              </a:rPr>
            </a:br>
            <a:r>
              <a:rPr kumimoji="0" lang="en-US" sz="1200" b="1" i="0" u="none" strike="noStrike" kern="1200" cap="none" spc="0" normalizeH="0" baseline="0" noProof="0">
                <a:ln>
                  <a:noFill/>
                </a:ln>
                <a:solidFill>
                  <a:srgbClr val="FFFFFF"/>
                </a:solidFill>
                <a:effectLst/>
                <a:uLnTx/>
                <a:uFillTx/>
                <a:latin typeface="Arial"/>
                <a:ea typeface="+mn-ea"/>
                <a:cs typeface="+mn-cs"/>
              </a:rPr>
              <a:t>Time: 2:00 p.m. ET</a:t>
            </a:r>
            <a:endParaRPr lang="en-US" b="1">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a:latin typeface="Arial" panose="020B0604020202020204" pitchFamily="34" charset="0"/>
                <a:ea typeface="Calibri"/>
                <a:cs typeface="Arial" panose="020B0604020202020204" pitchFamily="34" charset="0"/>
              </a:rPr>
              <a:t>In recognition of Life Insurance Awareness Month, join </a:t>
            </a:r>
            <a:r>
              <a:rPr lang="en-US" b="1">
                <a:latin typeface="Arial" panose="020B0604020202020204" pitchFamily="34" charset="0"/>
                <a:ea typeface="Calibri"/>
                <a:cs typeface="Arial" panose="020B0604020202020204" pitchFamily="34" charset="0"/>
              </a:rPr>
              <a:t>John Egan </a:t>
            </a:r>
            <a:r>
              <a:rPr lang="en-US" b="0">
                <a:latin typeface="Arial" panose="020B0604020202020204" pitchFamily="34" charset="0"/>
                <a:ea typeface="Calibri"/>
                <a:cs typeface="Arial" panose="020B0604020202020204" pitchFamily="34" charset="0"/>
              </a:rPr>
              <a:t>and President’s Council agent </a:t>
            </a:r>
            <a:r>
              <a:rPr lang="en-US" b="1">
                <a:latin typeface="Arial" panose="020B0604020202020204" pitchFamily="34" charset="0"/>
                <a:ea typeface="Calibri"/>
                <a:cs typeface="Arial" panose="020B0604020202020204" pitchFamily="34" charset="0"/>
              </a:rPr>
              <a:t>Maria Jimenez</a:t>
            </a:r>
            <a:r>
              <a:rPr lang="en-US" b="0">
                <a:latin typeface="Arial" panose="020B0604020202020204" pitchFamily="34" charset="0"/>
                <a:ea typeface="Calibri"/>
                <a:cs typeface="Arial" panose="020B0604020202020204" pitchFamily="34" charset="0"/>
              </a:rPr>
              <a:t>, the company’s top case writer, for a practical conversation focused on improving case rate. Hear how Maria approaches Whole Life conversations, positions the value with clients, and connects the solution to their needs.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Contact:</a:t>
            </a:r>
            <a:r>
              <a:rPr lang="en-US">
                <a:latin typeface="Arial" panose="020B0604020202020204" pitchFamily="34" charset="0"/>
                <a:ea typeface="Calibri"/>
                <a:cs typeface="Arial" panose="020B0604020202020204" pitchFamily="34" charset="0"/>
              </a:rPr>
              <a:t> PLAN@newyorklife.com</a:t>
            </a:r>
          </a:p>
          <a:p>
            <a:endParaRPr lang="en-US">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Registration link: </a:t>
            </a:r>
            <a:r>
              <a:rPr lang="en-US">
                <a:latin typeface="Arial" panose="020B0604020202020204" pitchFamily="34" charset="0"/>
                <a:cs typeface="Arial" panose="020B0604020202020204" pitchFamily="34" charset="0"/>
              </a:rPr>
              <a:t>https://nylife.zoom.us/webinar/register/2417863690902/WN_uW9yHbM3RMqv7UMXimh5AA#/registration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23385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latin typeface="Arial" panose="020B0604020202020204" pitchFamily="34" charset="0"/>
                <a:cs typeface="Arial" panose="020B0604020202020204" pitchFamily="34" charset="0"/>
              </a:rPr>
              <a:t>3Q Life Fundamentals Series</a:t>
            </a:r>
          </a:p>
          <a:p>
            <a:endParaRPr lang="en-US" b="1">
              <a:latin typeface="Arial" panose="020B0604020202020204" pitchFamily="34" charset="0"/>
              <a:cs typeface="Arial" panose="020B0604020202020204" pitchFamily="34" charset="0"/>
            </a:endParaRPr>
          </a:p>
          <a:p>
            <a:r>
              <a:rPr lang="en-US">
                <a:latin typeface="Arial" panose="020B0604020202020204" pitchFamily="34" charset="0"/>
                <a:cs typeface="Arial" panose="020B0604020202020204" pitchFamily="34" charset="0"/>
              </a:rPr>
              <a:t>The 3Q Life Fundamentals Series is a seven-session program designed to build confidence and strengthen foundational life insurance knowledge. Sessions are held every </a:t>
            </a:r>
            <a:r>
              <a:rPr lang="en-US" b="1">
                <a:latin typeface="Arial" panose="020B0604020202020204" pitchFamily="34" charset="0"/>
                <a:cs typeface="Arial" panose="020B0604020202020204" pitchFamily="34" charset="0"/>
              </a:rPr>
              <a:t>Tuesday at 1:00 PM ET </a:t>
            </a:r>
            <a:r>
              <a:rPr lang="en-US">
                <a:latin typeface="Arial" panose="020B0604020202020204" pitchFamily="34" charset="0"/>
                <a:cs typeface="Arial" panose="020B0604020202020204" pitchFamily="34" charset="0"/>
              </a:rPr>
              <a:t>and cover key product concepts, sales strategies, and practical applications across the life insurance portfolio.</a:t>
            </a:r>
          </a:p>
          <a:p>
            <a:endParaRPr lang="en-US">
              <a:latin typeface="Arial" panose="020B0604020202020204" pitchFamily="34" charset="0"/>
              <a:cs typeface="Arial" panose="020B0604020202020204" pitchFamily="34" charset="0"/>
            </a:endParaRPr>
          </a:p>
          <a:p>
            <a:r>
              <a:rPr lang="en-US">
                <a:latin typeface="Arial" panose="020B0604020202020204" pitchFamily="34" charset="0"/>
                <a:cs typeface="Arial" panose="020B0604020202020204" pitchFamily="34" charset="0"/>
              </a:rPr>
              <a:t>Led by product experts, the series is open to agents and managers looking to expand their product expertise and enhance client conversations. Each session is 60 minutes, and registration is available through the QR code.</a:t>
            </a:r>
          </a:p>
          <a:p>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Contact: </a:t>
            </a:r>
            <a:r>
              <a:rPr lang="en-US" b="0">
                <a:latin typeface="Arial" panose="020B0604020202020204" pitchFamily="34" charset="0"/>
                <a:cs typeface="Arial" panose="020B0604020202020204" pitchFamily="34" charset="0"/>
              </a:rPr>
              <a:t>PLAN@newyorklife.com</a:t>
            </a:r>
          </a:p>
          <a:p>
            <a:endParaRPr lang="en-US" b="1">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Registration link: </a:t>
            </a:r>
            <a:r>
              <a:rPr lang="en-US">
                <a:latin typeface="Arial" panose="020B0604020202020204" pitchFamily="34" charset="0"/>
                <a:cs typeface="Arial" panose="020B0604020202020204" pitchFamily="34" charset="0"/>
              </a:rPr>
              <a:t>https://nylife.zoom.us/webinar/register/WN_4__InmH2QIqT5801tAJuKg</a:t>
            </a:r>
          </a:p>
          <a:p>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62397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latin typeface="Arial" panose="020B0604020202020204" pitchFamily="34" charset="0"/>
                <a:cs typeface="Arial" panose="020B0604020202020204" pitchFamily="34" charset="0"/>
              </a:rPr>
              <a:t>3Q 2026 Registered Rep </a:t>
            </a:r>
            <a:r>
              <a:rPr lang="en-US" b="1" err="1">
                <a:latin typeface="Arial" panose="020B0604020202020204" pitchFamily="34" charset="0"/>
                <a:cs typeface="Arial" panose="020B0604020202020204" pitchFamily="34" charset="0"/>
              </a:rPr>
              <a:t>MasterClass</a:t>
            </a:r>
            <a:r>
              <a:rPr lang="en-US" b="1">
                <a:latin typeface="Arial" panose="020B0604020202020204" pitchFamily="34" charset="0"/>
                <a:cs typeface="Arial" panose="020B0604020202020204" pitchFamily="34" charset="0"/>
              </a:rPr>
              <a:t> </a:t>
            </a:r>
          </a:p>
          <a:p>
            <a:endParaRPr lang="en-US" b="1">
              <a:latin typeface="Arial" panose="020B0604020202020204" pitchFamily="34" charset="0"/>
              <a:cs typeface="Arial" panose="020B0604020202020204" pitchFamily="34" charset="0"/>
            </a:endParaRPr>
          </a:p>
          <a:p>
            <a:r>
              <a:rPr lang="en-US" b="0">
                <a:latin typeface="Arial" panose="020B0604020202020204" pitchFamily="34" charset="0"/>
                <a:cs typeface="Arial" panose="020B0604020202020204" pitchFamily="34" charset="0"/>
              </a:rPr>
              <a:t>Starting Tuesday July 14 at 3pm EST running for 10 weeks</a:t>
            </a:r>
          </a:p>
          <a:p>
            <a:endParaRPr lang="en-US" b="1">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Contact: </a:t>
            </a:r>
            <a:r>
              <a:rPr lang="en-US" b="0">
                <a:latin typeface="Arial" panose="020B0604020202020204" pitchFamily="34" charset="0"/>
                <a:cs typeface="Arial" panose="020B0604020202020204" pitchFamily="34" charset="0"/>
              </a:rPr>
              <a:t>PLAN@newyorklife.com</a:t>
            </a:r>
          </a:p>
          <a:p>
            <a:endParaRPr lang="en-US" b="1">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Registration link: </a:t>
            </a:r>
            <a:r>
              <a:rPr lang="en-US">
                <a:latin typeface="Arial" panose="020B0604020202020204" pitchFamily="34" charset="0"/>
                <a:cs typeface="Arial" panose="020B0604020202020204" pitchFamily="34" charset="0"/>
              </a:rPr>
              <a:t>https://nylife.zoom.us/webinar/register/WN_Wm0kOIhQTUG-ZypKnrJrVQ#/registration</a:t>
            </a:r>
          </a:p>
          <a:p>
            <a:endParaRPr lang="en-US">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62397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2DEA0-C447-52D5-9C44-BC2BD42B7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1A885F-7920-0FFB-02C4-8B348022C61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19F0A6D-D052-2B0B-EBB0-B36A6225CB4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a typeface="Calibri"/>
                <a:cs typeface="Calibri"/>
              </a:rPr>
              <a:t>-- -- --</a:t>
            </a:r>
            <a:endParaRPr lang="en-US" sz="1200" b="1" kern="1200">
              <a:solidFill>
                <a:schemeClr val="tx1"/>
              </a:solidFill>
              <a:effectLst/>
              <a:latin typeface="+mn-lt"/>
              <a:ea typeface="+mn-ea"/>
              <a:cs typeface="+mn-cs"/>
            </a:endParaRPr>
          </a:p>
          <a:p>
            <a:r>
              <a:rPr lang="en-US" sz="1200" b="1" kern="1200">
                <a:solidFill>
                  <a:schemeClr val="tx1"/>
                </a:solidFill>
                <a:effectLst/>
                <a:latin typeface="+mn-lt"/>
                <a:ea typeface="+mn-ea"/>
                <a:cs typeface="+mn-cs"/>
              </a:rPr>
              <a:t>AAMU Strong: Mentorship &amp; Collaboration </a:t>
            </a:r>
          </a:p>
          <a:p>
            <a:r>
              <a:rPr lang="en-US" sz="1200" kern="1200">
                <a:solidFill>
                  <a:schemeClr val="tx1"/>
                </a:solidFill>
                <a:effectLst/>
                <a:latin typeface="+mn-lt"/>
                <a:ea typeface="+mn-ea"/>
                <a:cs typeface="+mn-cs"/>
              </a:rPr>
              <a:t>(for New Org, </a:t>
            </a:r>
            <a:r>
              <a:rPr lang="en-US" sz="1200" kern="1200" err="1">
                <a:solidFill>
                  <a:schemeClr val="tx1"/>
                </a:solidFill>
                <a:effectLst/>
                <a:latin typeface="+mn-lt"/>
                <a:ea typeface="+mn-ea"/>
                <a:cs typeface="+mn-cs"/>
              </a:rPr>
              <a:t>Estab</a:t>
            </a:r>
            <a:r>
              <a:rPr lang="en-US" sz="1200" kern="1200">
                <a:solidFill>
                  <a:schemeClr val="tx1"/>
                </a:solidFill>
                <a:effectLst/>
                <a:latin typeface="+mn-lt"/>
                <a:ea typeface="+mn-ea"/>
                <a:cs typeface="+mn-cs"/>
              </a:rPr>
              <a:t> and Second Line Managers)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a:p>
            <a:pPr marL="0" lvl="0" indent="0" defTabSz="914400" fontAlgn="auto">
              <a:spcBef>
                <a:spcPts val="0"/>
              </a:spcBef>
              <a:spcAft>
                <a:spcPts val="0"/>
              </a:spcAft>
              <a:buNone/>
              <a:defRPr/>
            </a:pPr>
            <a:r>
              <a:rPr lang="en-US" sz="1200"/>
              <a:t>Learn about one of the most powerful tools to successful collaboration. New York Life now has many different forms of relationships agents can form from Mentorships to formalized Teams.</a:t>
            </a:r>
          </a:p>
          <a:p>
            <a:pPr marL="0" lvl="0" indent="0" defTabSz="914400" fontAlgn="auto">
              <a:spcBef>
                <a:spcPts val="0"/>
              </a:spcBef>
              <a:spcAft>
                <a:spcPts val="0"/>
              </a:spcAft>
              <a:buNone/>
              <a:defRPr/>
            </a:pPr>
            <a:endParaRPr lang="en-US" sz="1200"/>
          </a:p>
          <a:p>
            <a:r>
              <a:rPr lang="en-US" sz="1200" i="0" kern="1200">
                <a:solidFill>
                  <a:schemeClr val="tx1"/>
                </a:solidFill>
                <a:effectLst/>
                <a:latin typeface="+mn-lt"/>
                <a:ea typeface="+mn-ea"/>
                <a:cs typeface="+mn-cs"/>
              </a:rPr>
              <a:t>Guest:  Jenna Jernigan, Agent Collaboration and Partnership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t>Contact: </a:t>
            </a:r>
            <a:r>
              <a:rPr lang="en-US" sz="1200" b="0"/>
              <a:t>africanamericanmarket@newyorklife.com</a:t>
            </a:r>
            <a:br>
              <a:rPr lang="en-US" sz="1200">
                <a:cs typeface="+mn-lt"/>
              </a:rPr>
            </a:br>
            <a:r>
              <a:rPr lang="en-US" sz="1200" b="1"/>
              <a:t>Registration: </a:t>
            </a:r>
            <a:r>
              <a:rPr lang="en-US" sz="1200" b="0"/>
              <a:t>https://nylife.zoom.us/meeting/register/XQiOaW_ESyiCmTwOsLKtVw</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a typeface="Calibri"/>
                <a:cs typeface="Calibri"/>
              </a:rPr>
              <a:t>Submitted by: John Macchia</a:t>
            </a:r>
          </a:p>
          <a:p>
            <a:pPr marL="0" marR="0" lvl="0" indent="0" algn="l" defTabSz="914400" rtl="0" eaLnBrk="1" fontAlgn="ctr" latinLnBrk="0" hangingPunct="1">
              <a:lnSpc>
                <a:spcPct val="100000"/>
              </a:lnSpc>
              <a:spcBef>
                <a:spcPts val="0"/>
              </a:spcBef>
              <a:spcAft>
                <a:spcPts val="0"/>
              </a:spcAft>
              <a:buClrTx/>
              <a:buSzTx/>
              <a:buFontTx/>
              <a:buNone/>
              <a:tabLst/>
              <a:defRPr/>
            </a:pPr>
            <a:endParaRPr lang="en-US" sz="1200">
              <a:ea typeface="Calibri"/>
              <a:cs typeface="Calibri"/>
            </a:endParaRPr>
          </a:p>
          <a:p>
            <a:pPr marL="0" marR="0" lvl="0" indent="0" algn="l" defTabSz="914400" rtl="0" eaLnBrk="1" fontAlgn="ctr" latinLnBrk="0" hangingPunct="1">
              <a:lnSpc>
                <a:spcPct val="100000"/>
              </a:lnSpc>
              <a:spcBef>
                <a:spcPts val="0"/>
              </a:spcBef>
              <a:spcAft>
                <a:spcPts val="0"/>
              </a:spcAft>
              <a:buClrTx/>
              <a:buSzTx/>
              <a:buFontTx/>
              <a:buNone/>
              <a:tabLst/>
              <a:defRPr/>
            </a:pPr>
            <a:r>
              <a:rPr lang="en-US" sz="1200">
                <a:ea typeface="Calibri"/>
                <a:cs typeface="Calibri"/>
              </a:rPr>
              <a:t>-- -- --</a:t>
            </a:r>
          </a:p>
          <a:p>
            <a:r>
              <a:rPr lang="en-US" sz="1200" b="1" kern="1200">
                <a:solidFill>
                  <a:schemeClr val="tx1"/>
                </a:solidFill>
                <a:effectLst/>
                <a:latin typeface="+mn-lt"/>
                <a:ea typeface="+mn-ea"/>
                <a:cs typeface="+mn-cs"/>
              </a:rPr>
              <a:t>Korean Market Agents Resource Lab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(for New Org, </a:t>
            </a:r>
            <a:r>
              <a:rPr lang="en-US" sz="1200" kern="1200" err="1">
                <a:solidFill>
                  <a:schemeClr val="tx1"/>
                </a:solidFill>
                <a:effectLst/>
                <a:latin typeface="+mn-lt"/>
                <a:ea typeface="+mn-ea"/>
                <a:cs typeface="+mn-cs"/>
              </a:rPr>
              <a:t>Estab</a:t>
            </a:r>
            <a:r>
              <a:rPr lang="en-US" sz="1200" kern="1200">
                <a:solidFill>
                  <a:schemeClr val="tx1"/>
                </a:solidFill>
                <a:effectLst/>
                <a:latin typeface="+mn-lt"/>
                <a:ea typeface="+mn-ea"/>
                <a:cs typeface="+mn-cs"/>
              </a:rPr>
              <a:t> and Second Line Managers)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Monthly in-language training and development hour on tools and resources followed by Q&amp;A</a:t>
            </a:r>
          </a:p>
          <a:p>
            <a:pPr marL="0" marR="0" lvl="0" indent="0" algn="l" defTabSz="914400" rtl="0" eaLnBrk="1" fontAlgn="ctr" latinLnBrk="0" hangingPunct="1">
              <a:lnSpc>
                <a:spcPct val="100000"/>
              </a:lnSpc>
              <a:spcBef>
                <a:spcPts val="0"/>
              </a:spcBef>
              <a:spcAft>
                <a:spcPts val="0"/>
              </a:spcAft>
              <a:buClrTx/>
              <a:buSzTx/>
              <a:buFontTx/>
              <a:buNone/>
              <a:tabLst/>
              <a:defRPr/>
            </a:pPr>
            <a:endParaRPr lang="en-US" sz="1200">
              <a:ea typeface="Calibri"/>
              <a:cs typeface="Calibri"/>
            </a:endParaRPr>
          </a:p>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a:t>Contact: </a:t>
            </a:r>
            <a:r>
              <a:rPr lang="en-US" sz="1200" kern="1200">
                <a:solidFill>
                  <a:schemeClr val="tx1"/>
                </a:solidFill>
                <a:effectLst/>
                <a:latin typeface="+mn-lt"/>
                <a:ea typeface="Geneva" charset="0"/>
                <a:cs typeface="Geneva" charset="0"/>
              </a:rPr>
              <a:t>targetmarkets@newyorklife.com</a:t>
            </a:r>
            <a:br>
              <a:rPr lang="en-US" sz="1200">
                <a:cs typeface="+mn-lt"/>
              </a:rPr>
            </a:br>
            <a:r>
              <a:rPr lang="en-US" sz="1200" b="1"/>
              <a:t>Registration:</a:t>
            </a:r>
            <a:r>
              <a:rPr lang="en-US" sz="1200" b="0">
                <a:ea typeface="Calibri"/>
                <a:cs typeface="Calibri"/>
              </a:rPr>
              <a:t> https://nylife.zoom.us/meeting/register/Xo5x6s4hShq4FiHBPSzXpw</a:t>
            </a:r>
            <a:endParaRPr lang="en-US" sz="1200" b="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a typeface="Calibri"/>
                <a:cs typeface="Calibri"/>
              </a:rPr>
              <a:t>Submitted by: John Macchia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a typeface="Calibri"/>
                <a:cs typeface="Calibri"/>
              </a:rPr>
              <a:t>-- -- --</a:t>
            </a:r>
          </a:p>
          <a:p>
            <a:pPr fontAlgn="ctr" latinLnBrk="0"/>
            <a:r>
              <a:rPr lang="en-US" sz="1200" b="1" i="0" u="none" strike="noStrike" kern="1200">
                <a:solidFill>
                  <a:schemeClr val="tx1"/>
                </a:solidFill>
                <a:effectLst/>
                <a:latin typeface="+mn-lt"/>
                <a:ea typeface="+mn-ea"/>
                <a:cs typeface="+mn-cs"/>
              </a:rPr>
              <a:t>South Asian Market Key to Success</a:t>
            </a:r>
          </a:p>
          <a:p>
            <a:pPr marL="0" marR="0" lvl="0" indent="0" algn="l" defTabSz="914400" rtl="0" eaLnBrk="1" fontAlgn="ctr"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(for New Org, </a:t>
            </a:r>
            <a:r>
              <a:rPr lang="en-US" sz="1200" kern="1200" err="1">
                <a:solidFill>
                  <a:schemeClr val="tx1"/>
                </a:solidFill>
                <a:effectLst/>
                <a:latin typeface="+mn-lt"/>
                <a:ea typeface="+mn-ea"/>
                <a:cs typeface="+mn-cs"/>
              </a:rPr>
              <a:t>Estab</a:t>
            </a:r>
            <a:r>
              <a:rPr lang="en-US" sz="1200" kern="1200">
                <a:solidFill>
                  <a:schemeClr val="tx1"/>
                </a:solidFill>
                <a:effectLst/>
                <a:latin typeface="+mn-lt"/>
                <a:ea typeface="+mn-ea"/>
                <a:cs typeface="+mn-cs"/>
              </a:rPr>
              <a:t> and Second Line Managers)</a:t>
            </a:r>
            <a:endParaRPr lang="en-US" sz="1200" b="1" i="0" u="none" strike="noStrike" kern="1200">
              <a:solidFill>
                <a:schemeClr val="tx1"/>
              </a:solidFill>
              <a:effectLst/>
              <a:latin typeface="+mn-lt"/>
              <a:ea typeface="+mn-ea"/>
              <a:cs typeface="+mn-cs"/>
            </a:endParaRPr>
          </a:p>
          <a:p>
            <a:pPr fontAlgn="ctr" latinLnBrk="0"/>
            <a:endParaRPr lang="en-US" sz="1200" b="1" i="0" u="none" strike="noStrike" kern="1200">
              <a:solidFill>
                <a:schemeClr val="tx1"/>
              </a:solidFill>
              <a:effectLst/>
              <a:latin typeface="+mn-lt"/>
              <a:ea typeface="+mn-ea"/>
              <a:cs typeface="+mn-cs"/>
            </a:endParaRPr>
          </a:p>
          <a:p>
            <a:pPr fontAlgn="ctr" latinLnBrk="0"/>
            <a:r>
              <a:rPr lang="en-US" sz="1200" b="0" i="0" kern="1200">
                <a:solidFill>
                  <a:schemeClr val="tx1"/>
                </a:solidFill>
                <a:effectLst/>
                <a:latin typeface="+mn-lt"/>
                <a:ea typeface="+mn-ea"/>
                <a:cs typeface="+mn-cs"/>
              </a:rPr>
              <a:t>Webinar designed to empower agents with actionable strategies, industry insights and opportunities to elevate their business.</a:t>
            </a:r>
          </a:p>
          <a:p>
            <a:pPr fontAlgn="ctr" latinLnBrk="0"/>
            <a:endParaRPr lang="en-US" sz="1200" b="1" i="0" kern="1200">
              <a:solidFill>
                <a:schemeClr val="tx1"/>
              </a:solidFill>
              <a:effectLst/>
              <a:latin typeface="+mn-lt"/>
              <a:ea typeface="+mn-ea"/>
              <a:cs typeface="+mn-cs"/>
            </a:endParaRPr>
          </a:p>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a:t>Contact: </a:t>
            </a:r>
            <a:r>
              <a:rPr lang="en-US" sz="1200" kern="1200">
                <a:solidFill>
                  <a:schemeClr val="tx1"/>
                </a:solidFill>
                <a:effectLst/>
                <a:latin typeface="+mn-lt"/>
                <a:ea typeface="Geneva" charset="0"/>
                <a:cs typeface="Geneva" charset="0"/>
              </a:rPr>
              <a:t>targetmarkets@newyorklife.com</a:t>
            </a:r>
          </a:p>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kern="1200">
                <a:solidFill>
                  <a:schemeClr val="tx1"/>
                </a:solidFill>
                <a:effectLst/>
                <a:latin typeface="+mn-lt"/>
                <a:ea typeface="Geneva" charset="0"/>
              </a:rPr>
              <a:t>Registration: </a:t>
            </a:r>
            <a:r>
              <a:rPr lang="en-US" sz="1200" b="0" kern="1200">
                <a:solidFill>
                  <a:schemeClr val="tx1"/>
                </a:solidFill>
                <a:effectLst/>
                <a:latin typeface="+mn-lt"/>
                <a:ea typeface="Geneva" charset="0"/>
              </a:rPr>
              <a:t>https://nylife.zoom.us/webinar/register/WN_f3aeTgdpSBuor2kFCC1CoA</a:t>
            </a:r>
          </a:p>
          <a:p>
            <a:pPr marL="0" marR="0" lvl="0" indent="0" algn="l" defTabSz="914400" rtl="0" eaLnBrk="1" fontAlgn="ctr" latinLnBrk="0" hangingPunct="1">
              <a:lnSpc>
                <a:spcPct val="100000"/>
              </a:lnSpc>
              <a:spcBef>
                <a:spcPts val="0"/>
              </a:spcBef>
              <a:spcAft>
                <a:spcPts val="0"/>
              </a:spcAft>
              <a:buClrTx/>
              <a:buSzTx/>
              <a:buFontTx/>
              <a:buNone/>
              <a:tabLst/>
              <a:defRPr/>
            </a:pPr>
            <a:r>
              <a:rPr lang="en-US" sz="1200">
                <a:ea typeface="Calibri"/>
                <a:cs typeface="Calibri"/>
              </a:rPr>
              <a:t>Submitted by: John Macchia</a:t>
            </a:r>
          </a:p>
        </p:txBody>
      </p:sp>
      <p:sp>
        <p:nvSpPr>
          <p:cNvPr id="4" name="Slide Number Placeholder 3">
            <a:extLst>
              <a:ext uri="{FF2B5EF4-FFF2-40B4-BE49-F238E27FC236}">
                <a16:creationId xmlns:a16="http://schemas.microsoft.com/office/drawing/2014/main" id="{3C2BFE04-EE13-3BD5-AE80-0EF5B654A8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F9CFDD-3617-F247-94E7-B6D03232F67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710065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a:t>Hello, IPT will be doing a 4 part series on Morningstar.  The first will feature a basic walkthrough and the rest of the sessions will focus around using Morningstar as a sales tool.  Please email </a:t>
            </a:r>
            <a:r>
              <a:rPr lang="en-US" dirty="0">
                <a:hlinkClick r:id="rId3"/>
              </a:rPr>
              <a:t>ipt@newyorklife.com</a:t>
            </a:r>
            <a:r>
              <a:rPr lang="en-US" dirty="0"/>
              <a:t> for questions.</a:t>
            </a:r>
          </a:p>
          <a:p>
            <a:br>
              <a:rPr lang="en-US" dirty="0"/>
            </a:br>
            <a:r>
              <a:rPr lang="en-US" dirty="0"/>
              <a:t>Here is the zoom link: https://nylife.zoom.us/webinar/register/WN_T41aXq9TSn6kRa619U-Vxg#/registration</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solidFill>
                  <a:schemeClr val="bg1"/>
                </a:solidFill>
              </a:rPr>
              <a:t>One on One Sessions: https://calendly.com/d/cmvp-63d-k47/morningstar-ipt-support</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Geneva" pitchFamily="-109"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Geneva" pitchFamily="-109" charset="-128"/>
              <a:cs typeface="+mn-cs"/>
            </a:endParaRPr>
          </a:p>
        </p:txBody>
      </p:sp>
    </p:spTree>
    <p:extLst>
      <p:ext uri="{BB962C8B-B14F-4D97-AF65-F5344CB8AC3E}">
        <p14:creationId xmlns:p14="http://schemas.microsoft.com/office/powerpoint/2010/main" val="41922283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F954F-8530-20DA-6558-A2D7093166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2A366B-0E10-23E1-2001-515701423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69A846-F4F6-92D2-05BE-A50C8CB2DF7A}"/>
              </a:ext>
            </a:extLst>
          </p:cNvPr>
          <p:cNvSpPr>
            <a:spLocks noGrp="1"/>
          </p:cNvSpPr>
          <p:nvPr>
            <p:ph type="body" idx="1"/>
          </p:nvPr>
        </p:nvSpPr>
        <p:spPr/>
        <p:txBody>
          <a:bodyPr/>
          <a:lstStyle/>
          <a:p>
            <a:r>
              <a:rPr lang="en-US" b="1">
                <a:latin typeface="Arial" panose="020B0604020202020204" pitchFamily="34" charset="0"/>
                <a:cs typeface="Arial" panose="020B0604020202020204" pitchFamily="34" charset="0"/>
              </a:rPr>
              <a:t>See what’s new with Asset Flex AD126</a:t>
            </a:r>
          </a:p>
          <a:p>
            <a:endParaRPr lang="en-US" b="1">
              <a:latin typeface="Arial" panose="020B0604020202020204" pitchFamily="34" charset="0"/>
              <a:cs typeface="Arial" panose="020B0604020202020204" pitchFamily="34" charset="0"/>
            </a:endParaRPr>
          </a:p>
          <a:p>
            <a:r>
              <a:rPr lang="en-US" b="0">
                <a:latin typeface="Arial" panose="020B0604020202020204" pitchFamily="34" charset="0"/>
                <a:cs typeface="Arial" panose="020B0604020202020204" pitchFamily="34" charset="0"/>
              </a:rPr>
              <a:t>Asset Flex AD126 is now available with added flexibility for clients, including a new indemnity cash benefit option alongside the existing reimbursement option. Reimbursement pricing has also improved in approximately 85% of scenarios. Encourage your team to watch the new video and use the resources on Info Central to get familiar with the enhancements and support client conversations.</a:t>
            </a:r>
          </a:p>
          <a:p>
            <a:endParaRPr lang="en-US" b="1">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Contact:</a:t>
            </a:r>
            <a:r>
              <a:rPr lang="en-US">
                <a:latin typeface="Arial" panose="020B0604020202020204" pitchFamily="34" charset="0"/>
                <a:cs typeface="Arial" panose="020B0604020202020204" pitchFamily="34" charset="0"/>
              </a:rPr>
              <a:t> PLAN@newyorklife.com</a:t>
            </a:r>
          </a:p>
          <a:p>
            <a:endParaRPr lang="en-US">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Info Central Page and video:</a:t>
            </a:r>
            <a:r>
              <a:rPr lang="en-US">
                <a:latin typeface="Arial" panose="020B0604020202020204" pitchFamily="34" charset="0"/>
                <a:cs typeface="Arial" panose="020B0604020202020204" pitchFamily="34" charset="0"/>
              </a:rPr>
              <a:t> https://www.today.newyorklife.com/agencyportal/s/article/Asset-Flex-AD126-launches-with-added-benefit-option-and-improved-reimbursement-pricing</a:t>
            </a:r>
          </a:p>
          <a:p>
            <a:endParaRPr lang="en-US">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CA9514E-2030-5A8D-3590-2C564FCE82D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8700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1C798-0E53-C628-0E78-8CDE244C0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E10D6A-48D4-11B2-AD7D-70EC8823B3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1B919-60C6-9C77-36EF-BA342ADB6B9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DCA5066-8F79-27CF-EEDB-8C3F26185132}"/>
              </a:ext>
            </a:extLst>
          </p:cNvPr>
          <p:cNvSpPr>
            <a:spLocks noGrp="1"/>
          </p:cNvSpPr>
          <p:nvPr>
            <p:ph type="sldNum" sz="quarter" idx="5"/>
          </p:nvPr>
        </p:nvSpPr>
        <p:spPr/>
        <p:txBody>
          <a:bodyPr/>
          <a:lstStyle/>
          <a:p>
            <a:fld id="{B8F2EEE2-46E2-47E5-8287-018A51779D44}" type="slidenum">
              <a:rPr lang="en-US" smtClean="0"/>
              <a:t>21</a:t>
            </a:fld>
            <a:endParaRPr lang="en-US"/>
          </a:p>
        </p:txBody>
      </p:sp>
    </p:spTree>
    <p:extLst>
      <p:ext uri="{BB962C8B-B14F-4D97-AF65-F5344CB8AC3E}">
        <p14:creationId xmlns:p14="http://schemas.microsoft.com/office/powerpoint/2010/main" val="5598276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FE67C-D359-6C85-5493-C0C778EC27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4C269D-541C-5930-875A-CBB5989F79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F82AF7-067D-8589-A5DF-A9795F25358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effectLst/>
                <a:latin typeface="Arial" panose="020B0604020202020204" pitchFamily="34" charset="0"/>
                <a:ea typeface="+mn-ea"/>
                <a:cs typeface="Arial" panose="020B0604020202020204" pitchFamily="34" charset="0"/>
              </a:rPr>
              <a:t>President's Council Beachfront Boutique Experience – Open to 2026 President’s Council agent qualifiers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120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Arial" panose="020B0604020202020204" pitchFamily="34" charset="0"/>
                <a:ea typeface="+mn-ea"/>
                <a:cs typeface="Arial" panose="020B0604020202020204" pitchFamily="34" charset="0"/>
              </a:rPr>
              <a:t>Compete with your President’s Council peers during the Third Quarter of 2026 (July 1 – September 30)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1200">
              <a:solidFill>
                <a:schemeClr val="tx1"/>
              </a:solidFill>
              <a:effectLst/>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a:solidFill>
                  <a:schemeClr val="tx1"/>
                </a:solidFill>
                <a:effectLst/>
                <a:latin typeface="Arial" panose="020B0604020202020204" pitchFamily="34" charset="0"/>
                <a:ea typeface="+mn-ea"/>
                <a:cs typeface="Arial" panose="020B0604020202020204" pitchFamily="34" charset="0"/>
              </a:rPr>
              <a:t>Agents who finish in the 100 on the 3Q paid insurance solution </a:t>
            </a:r>
            <a:r>
              <a:rPr lang="en-US" sz="1200" b="0">
                <a:solidFill>
                  <a:schemeClr val="bg1"/>
                </a:solidFill>
                <a:latin typeface="Arial" panose="020B0604020202020204" pitchFamily="34" charset="0"/>
                <a:cs typeface="Arial" panose="020B0604020202020204" pitchFamily="34" charset="0"/>
              </a:rPr>
              <a:t>premium leaderboard will qualify to receive a retail credit to spend at a private New York Life shopping event at the President’s Council meeting on October 6 &amp; 7.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solidFill>
                  <a:schemeClr val="bg1"/>
                </a:solidFill>
                <a:latin typeface="Arial" panose="020B0604020202020204" pitchFamily="34" charset="0"/>
                <a:cs typeface="Arial" panose="020B0604020202020204" pitchFamily="34" charset="0"/>
              </a:rPr>
              <a:t>The top 10 will also qualify for a premium chickee hut rental on October 7!</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Arial" panose="020B0604020202020204" pitchFamily="34" charset="0"/>
                <a:cs typeface="Arial" panose="020B0604020202020204" pitchFamily="34" charset="0"/>
              </a:rPr>
              <a:t>Includes Life, </a:t>
            </a:r>
            <a:r>
              <a:rPr lang="en-US" sz="1200" err="1">
                <a:latin typeface="Arial" panose="020B0604020202020204" pitchFamily="34" charset="0"/>
                <a:cs typeface="Arial" panose="020B0604020202020204" pitchFamily="34" charset="0"/>
              </a:rPr>
              <a:t>LTCi</a:t>
            </a:r>
            <a:r>
              <a:rPr lang="en-US" sz="1200">
                <a:latin typeface="Arial" panose="020B0604020202020204" pitchFamily="34" charset="0"/>
                <a:cs typeface="Arial" panose="020B0604020202020204" pitchFamily="34" charset="0"/>
              </a:rPr>
              <a:t>, and DI. Recurring base premium and riders are calculated at 100%; OPP and single premium policies are calculated at 10%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Arial" panose="020B0604020202020204" pitchFamily="34" charset="0"/>
                <a:cs typeface="Arial" panose="020B0604020202020204" pitchFamily="34" charset="0"/>
              </a:rPr>
              <a:t>Excludes premium from Annuity and COLI/BOLI products, DIOP and Group Insurance cases and LTC in DE state.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a:solidFill>
                  <a:schemeClr val="tx1"/>
                </a:solidFill>
                <a:effectLst/>
                <a:latin typeface="Arial" panose="020B0604020202020204" pitchFamily="34" charset="0"/>
                <a:ea typeface="+mn-ea"/>
                <a:cs typeface="Arial" panose="020B0604020202020204" pitchFamily="34" charset="0"/>
              </a:rPr>
              <a:t>Agents must be </a:t>
            </a:r>
            <a:r>
              <a:rPr lang="en-US" sz="1200" b="0" kern="1200" err="1">
                <a:solidFill>
                  <a:schemeClr val="tx1"/>
                </a:solidFill>
                <a:effectLst/>
                <a:latin typeface="Arial" panose="020B0604020202020204" pitchFamily="34" charset="0"/>
                <a:ea typeface="+mn-ea"/>
                <a:cs typeface="Arial" panose="020B0604020202020204" pitchFamily="34" charset="0"/>
              </a:rPr>
              <a:t>prorata</a:t>
            </a:r>
            <a:r>
              <a:rPr lang="en-US" sz="1200" b="0" kern="1200">
                <a:solidFill>
                  <a:schemeClr val="tx1"/>
                </a:solidFill>
                <a:effectLst/>
                <a:latin typeface="Arial" panose="020B0604020202020204" pitchFamily="34" charset="0"/>
                <a:ea typeface="+mn-ea"/>
                <a:cs typeface="Arial" panose="020B0604020202020204" pitchFamily="34" charset="0"/>
              </a:rPr>
              <a:t> proactive by September 30.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Arial" panose="020B0604020202020204" pitchFamily="34" charset="0"/>
                <a:ea typeface="+mn-ea"/>
                <a:cs typeface="Arial" panose="020B0604020202020204" pitchFamily="34" charset="0"/>
              </a:rPr>
              <a:t>The experience encompasses an elevated retail shopping event with a $300 retail credit,  complete with refreshments and private access to the resort's premier ladies and gentlemen’s boutiques, </a:t>
            </a:r>
            <a:r>
              <a:rPr lang="en-US" sz="1200" b="1" kern="1200">
                <a:solidFill>
                  <a:schemeClr val="tx1"/>
                </a:solidFill>
                <a:effectLst/>
                <a:latin typeface="Arial" panose="020B0604020202020204" pitchFamily="34" charset="0"/>
                <a:ea typeface="+mn-ea"/>
                <a:cs typeface="Arial" panose="020B0604020202020204" pitchFamily="34" charset="0"/>
              </a:rPr>
              <a:t>Sweet Waters</a:t>
            </a:r>
            <a:r>
              <a:rPr lang="en-US" sz="1200" kern="1200">
                <a:solidFill>
                  <a:schemeClr val="tx1"/>
                </a:solidFill>
                <a:effectLst/>
                <a:latin typeface="Arial" panose="020B0604020202020204" pitchFamily="34" charset="0"/>
                <a:ea typeface="+mn-ea"/>
                <a:cs typeface="Arial" panose="020B0604020202020204" pitchFamily="34" charset="0"/>
              </a:rPr>
              <a:t> and </a:t>
            </a:r>
            <a:r>
              <a:rPr lang="en-US" sz="1200" b="1" kern="1200">
                <a:solidFill>
                  <a:schemeClr val="tx1"/>
                </a:solidFill>
                <a:effectLst/>
                <a:latin typeface="Arial" panose="020B0604020202020204" pitchFamily="34" charset="0"/>
                <a:ea typeface="+mn-ea"/>
                <a:cs typeface="Arial" panose="020B0604020202020204" pitchFamily="34" charset="0"/>
              </a:rPr>
              <a:t>Cross Winds</a:t>
            </a:r>
            <a:r>
              <a:rPr lang="en-US" sz="1200" kern="1200">
                <a:solidFill>
                  <a:schemeClr val="tx1"/>
                </a:solidFill>
                <a:effectLst/>
                <a:latin typeface="Arial" panose="020B0604020202020204" pitchFamily="34" charset="0"/>
                <a:ea typeface="+mn-ea"/>
                <a:cs typeface="Arial" panose="020B0604020202020204" pitchFamily="34" charset="0"/>
              </a:rPr>
              <a:t>. Browse stylish women's apparel, swimwear, and accessories from brands such as </a:t>
            </a:r>
            <a:r>
              <a:rPr lang="en-US" sz="1200" b="1" kern="1200">
                <a:solidFill>
                  <a:schemeClr val="tx1"/>
                </a:solidFill>
                <a:effectLst/>
                <a:latin typeface="Arial" panose="020B0604020202020204" pitchFamily="34" charset="0"/>
                <a:ea typeface="+mn-ea"/>
                <a:cs typeface="Arial" panose="020B0604020202020204" pitchFamily="34" charset="0"/>
              </a:rPr>
              <a:t>Lilly Pulitzer</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lululemon</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Versace</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and Gucci</a:t>
            </a:r>
            <a:r>
              <a:rPr lang="en-US" sz="1200" kern="1200">
                <a:solidFill>
                  <a:schemeClr val="tx1"/>
                </a:solidFill>
                <a:effectLst/>
                <a:latin typeface="Arial" panose="020B0604020202020204" pitchFamily="34" charset="0"/>
                <a:ea typeface="+mn-ea"/>
                <a:cs typeface="Arial" panose="020B0604020202020204" pitchFamily="34" charset="0"/>
              </a:rPr>
              <a:t>®, or explore the latest men's fashion and accessories from designers including </a:t>
            </a:r>
            <a:r>
              <a:rPr lang="en-US" sz="1200" b="1" kern="1200">
                <a:solidFill>
                  <a:schemeClr val="tx1"/>
                </a:solidFill>
                <a:effectLst/>
                <a:latin typeface="Arial" panose="020B0604020202020204" pitchFamily="34" charset="0"/>
                <a:ea typeface="+mn-ea"/>
                <a:cs typeface="Arial" panose="020B0604020202020204" pitchFamily="34" charset="0"/>
              </a:rPr>
              <a:t>BUGATCHI</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Tommy Bahama</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Maui Jim</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Ray-Ban</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and lululemon</a:t>
            </a:r>
            <a:r>
              <a:rPr lang="en-US" sz="1200" kern="1200">
                <a:solidFill>
                  <a:schemeClr val="tx1"/>
                </a:solidFill>
                <a:effectLst/>
                <a:latin typeface="Arial" panose="020B0604020202020204" pitchFamily="34" charset="0"/>
                <a:ea typeface="+mn-ea"/>
                <a:cs typeface="Arial" panose="020B0604020202020204" pitchFamily="34" charset="0"/>
              </a:rPr>
              <a:t>®. Personal shoppers will also be available to help agents make the most of their experience.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Arial" panose="020B0604020202020204" pitchFamily="34" charset="0"/>
                <a:ea typeface="+mn-ea"/>
                <a:cs typeface="Arial" panose="020B0604020202020204" pitchFamily="34" charset="0"/>
              </a:rPr>
              <a:t>The top 10 leaderboard agents will also qualify for a premium chickee hut rental on the JW Marriott’s breathtaking beach on Wednesday, October 7. This Balinese-inspired shaded retreat accommodates up to six guests and is ideally located between the beach and pool. Rental includes a queen daybed, chairs, and towel service.</a:t>
            </a:r>
          </a:p>
          <a:p>
            <a:endParaRPr lang="en-US" sz="1200" kern="1200">
              <a:solidFill>
                <a:schemeClr val="tx1"/>
              </a:solidFill>
              <a:effectLst/>
              <a:latin typeface="Arial" panose="020B0604020202020204" pitchFamily="34" charset="0"/>
              <a:ea typeface="+mn-ea"/>
              <a:cs typeface="Arial" panose="020B0604020202020204" pitchFamily="34" charset="0"/>
            </a:endParaRPr>
          </a:p>
          <a:p>
            <a:r>
              <a:rPr lang="en-US" sz="1200" kern="1200">
                <a:solidFill>
                  <a:schemeClr val="tx1"/>
                </a:solidFill>
                <a:effectLst/>
                <a:latin typeface="Arial" panose="020B0604020202020204" pitchFamily="34" charset="0"/>
                <a:ea typeface="+mn-ea"/>
                <a:cs typeface="Arial" panose="020B0604020202020204" pitchFamily="34" charset="0"/>
              </a:rPr>
              <a:t>Qualifying agents must attend the President’s Council Meeting to receive the retail credit and chickee hut rental.</a:t>
            </a:r>
          </a:p>
          <a:p>
            <a:endParaRPr lang="en-US" sz="1200" kern="1200">
              <a:solidFill>
                <a:schemeClr val="tx1"/>
              </a:solidFill>
              <a:effectLst/>
              <a:latin typeface="Arial" panose="020B0604020202020204" pitchFamily="34" charset="0"/>
              <a:ea typeface="+mn-ea"/>
              <a:cs typeface="Arial" panose="020B0604020202020204" pitchFamily="34" charset="0"/>
            </a:endParaRPr>
          </a:p>
          <a:p>
            <a:r>
              <a:rPr lang="en-US" b="1">
                <a:latin typeface="Arial" panose="020B0604020202020204" pitchFamily="34" charset="0"/>
                <a:cs typeface="Arial" panose="020B0604020202020204" pitchFamily="34" charset="0"/>
              </a:rPr>
              <a:t>Contact:</a:t>
            </a:r>
            <a:r>
              <a:rPr lang="en-US">
                <a:latin typeface="Arial" panose="020B0604020202020204" pitchFamily="34" charset="0"/>
                <a:cs typeface="Arial" panose="020B0604020202020204" pitchFamily="34" charset="0"/>
              </a:rPr>
              <a:t> PLAN@newyorklife.com</a:t>
            </a:r>
          </a:p>
          <a:p>
            <a:endParaRPr lang="en-US">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Info Central Page:</a:t>
            </a:r>
            <a:r>
              <a:rPr lang="en-US">
                <a:latin typeface="Arial" panose="020B0604020202020204" pitchFamily="34" charset="0"/>
                <a:cs typeface="Arial" panose="020B0604020202020204" pitchFamily="34" charset="0"/>
              </a:rPr>
              <a:t> https://www.today.newyorklife.com/agencyportal/s/article/Council-Perks-President-s-Council-Beachfront-Boutique-Experience</a:t>
            </a:r>
          </a:p>
          <a:p>
            <a:endParaRPr lang="en-US"/>
          </a:p>
        </p:txBody>
      </p:sp>
      <p:sp>
        <p:nvSpPr>
          <p:cNvPr id="4" name="Slide Number Placeholder 3">
            <a:extLst>
              <a:ext uri="{FF2B5EF4-FFF2-40B4-BE49-F238E27FC236}">
                <a16:creationId xmlns:a16="http://schemas.microsoft.com/office/drawing/2014/main" id="{F7EF9496-6858-06A6-54B2-593BA4C183C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71609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7BBB44ED-3F55-29A4-DD1E-8FC01AD0F44D}"/>
              </a:ext>
            </a:extLst>
          </p:cNvPr>
          <p:cNvSpPr>
            <a:spLocks noGrp="1"/>
          </p:cNvSpPr>
          <p:nvPr>
            <p:ph type="title"/>
          </p:nvPr>
        </p:nvSpPr>
        <p:spPr>
          <a:xfrm>
            <a:off x="626269" y="493776"/>
            <a:ext cx="10939462" cy="804672"/>
          </a:xfrm>
          <a:prstGeom prst="rect">
            <a:avLst/>
          </a:prstGeom>
        </p:spPr>
        <p:txBody>
          <a:bodyPr vert="horz" lIns="0" tIns="0" rIns="0" bIns="0" rtlCol="0" anchor="t" anchorCtr="0">
            <a:noAutofit/>
          </a:bodyPr>
          <a:lstStyle>
            <a:lvl1pPr>
              <a:defRPr>
                <a:latin typeface="+mj-lt"/>
              </a:defRPr>
            </a:lvl1pPr>
          </a:lstStyle>
          <a:p>
            <a:r>
              <a:rPr lang="en-US"/>
              <a:t>Click to edit Master title style</a:t>
            </a:r>
          </a:p>
        </p:txBody>
      </p:sp>
    </p:spTree>
    <p:extLst>
      <p:ext uri="{BB962C8B-B14F-4D97-AF65-F5344CB8AC3E}">
        <p14:creationId xmlns:p14="http://schemas.microsoft.com/office/powerpoint/2010/main" val="20919069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 -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46671-891F-05B5-E76C-0E97C7654478}"/>
              </a:ext>
            </a:extLst>
          </p:cNvPr>
          <p:cNvSpPr>
            <a:spLocks noGrp="1"/>
          </p:cNvSpPr>
          <p:nvPr>
            <p:ph type="title" hasCustomPrompt="1"/>
          </p:nvPr>
        </p:nvSpPr>
        <p:spPr>
          <a:xfrm>
            <a:off x="439946" y="381000"/>
            <a:ext cx="11294854" cy="496033"/>
          </a:xfrm>
        </p:spPr>
        <p:txBody>
          <a:bodyPr wrap="square">
            <a:noAutofit/>
          </a:bodyPr>
          <a:lstStyle>
            <a:lvl1pPr>
              <a:spcBef>
                <a:spcPts val="800"/>
              </a:spcBef>
              <a:defRPr sz="3200">
                <a:solidFill>
                  <a:schemeClr val="tx1"/>
                </a:solidFill>
              </a:defRPr>
            </a:lvl1pPr>
          </a:lstStyle>
          <a:p>
            <a:r>
              <a:rPr lang="en-US"/>
              <a:t>Main heading</a:t>
            </a:r>
          </a:p>
        </p:txBody>
      </p:sp>
      <p:sp>
        <p:nvSpPr>
          <p:cNvPr id="3" name="Content Placeholder 2">
            <a:extLst>
              <a:ext uri="{FF2B5EF4-FFF2-40B4-BE49-F238E27FC236}">
                <a16:creationId xmlns:a16="http://schemas.microsoft.com/office/drawing/2014/main" id="{6C62AF48-D0E9-35B2-E289-CB02A3E2F065}"/>
              </a:ext>
            </a:extLst>
          </p:cNvPr>
          <p:cNvSpPr>
            <a:spLocks noGrp="1"/>
          </p:cNvSpPr>
          <p:nvPr>
            <p:ph idx="1"/>
          </p:nvPr>
        </p:nvSpPr>
        <p:spPr>
          <a:xfrm>
            <a:off x="457200" y="1714500"/>
            <a:ext cx="11277600" cy="4114800"/>
          </a:xfrm>
          <a:prstGeom prst="rect">
            <a:avLst/>
          </a:prstGeom>
        </p:spPr>
        <p:txBody>
          <a:bodyPr/>
          <a:lstStyle>
            <a:lvl1pPr>
              <a:lnSpc>
                <a:spcPct val="120000"/>
              </a:lnSpc>
              <a:spcBef>
                <a:spcPts val="600"/>
              </a:spcBef>
              <a:defRPr sz="2000">
                <a:solidFill>
                  <a:srgbClr val="000000"/>
                </a:solidFill>
              </a:defRPr>
            </a:lvl1pPr>
            <a:lvl2pPr marL="685800" indent="-228600">
              <a:lnSpc>
                <a:spcPct val="120000"/>
              </a:lnSpc>
              <a:spcBef>
                <a:spcPts val="600"/>
              </a:spcBef>
              <a:buFont typeface="System Font Regular"/>
              <a:buChar char="⎼"/>
              <a:defRPr sz="1800">
                <a:solidFill>
                  <a:srgbClr val="000000"/>
                </a:solidFill>
              </a:defRPr>
            </a:lvl2pPr>
            <a:lvl3pPr>
              <a:lnSpc>
                <a:spcPct val="120000"/>
              </a:lnSpc>
              <a:spcBef>
                <a:spcPts val="600"/>
              </a:spcBef>
              <a:defRPr sz="1600">
                <a:solidFill>
                  <a:srgbClr val="000000"/>
                </a:solidFill>
              </a:defRPr>
            </a:lvl3pPr>
            <a:lvl4pPr marL="1600200" indent="-228600">
              <a:lnSpc>
                <a:spcPct val="120000"/>
              </a:lnSpc>
              <a:spcBef>
                <a:spcPts val="600"/>
              </a:spcBef>
              <a:buFont typeface="System Font Regular"/>
              <a:buChar char="⎼"/>
              <a:defRPr sz="1400">
                <a:solidFill>
                  <a:srgbClr val="000000"/>
                </a:solidFill>
              </a:defRPr>
            </a:lvl4pPr>
            <a:lvl5pPr>
              <a:lnSpc>
                <a:spcPct val="120000"/>
              </a:lnSpc>
              <a:spcBef>
                <a:spcPts val="600"/>
              </a:spcBef>
              <a:defRPr sz="1400">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9D31BAC0-BC8B-E413-6089-9DD81A14F6B4}"/>
              </a:ext>
            </a:extLst>
          </p:cNvPr>
          <p:cNvSpPr>
            <a:spLocks noGrp="1"/>
          </p:cNvSpPr>
          <p:nvPr>
            <p:ph type="body" sz="quarter" idx="12" hasCustomPrompt="1"/>
          </p:nvPr>
        </p:nvSpPr>
        <p:spPr>
          <a:xfrm>
            <a:off x="439946" y="953242"/>
            <a:ext cx="11294854" cy="496033"/>
          </a:xfrm>
          <a:prstGeom prst="rect">
            <a:avLst/>
          </a:prstGeom>
        </p:spPr>
        <p:txBody>
          <a:bodyPr wrap="square">
            <a:noAutofit/>
          </a:bodyPr>
          <a:lstStyle>
            <a:lvl1pPr marL="0" indent="0">
              <a:lnSpc>
                <a:spcPct val="110000"/>
              </a:lnSpc>
              <a:spcBef>
                <a:spcPts val="800"/>
              </a:spcBef>
              <a:spcAft>
                <a:spcPts val="0"/>
              </a:spcAft>
              <a:buNone/>
              <a:defRPr sz="2200" spc="0">
                <a:solidFill>
                  <a:schemeClr val="tx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subheading or intro line</a:t>
            </a:r>
          </a:p>
        </p:txBody>
      </p:sp>
    </p:spTree>
    <p:extLst>
      <p:ext uri="{BB962C8B-B14F-4D97-AF65-F5344CB8AC3E}">
        <p14:creationId xmlns:p14="http://schemas.microsoft.com/office/powerpoint/2010/main" val="1693236738"/>
      </p:ext>
    </p:extLst>
  </p:cSld>
  <p:clrMapOvr>
    <a:masterClrMapping/>
  </p:clrMapOvr>
  <p:extLst>
    <p:ext uri="{DCECCB84-F9BA-43D5-87BE-67443E8EF086}">
      <p15:sldGuideLst xmlns:p15="http://schemas.microsoft.com/office/powerpoint/2012/main">
        <p15:guide id="1" orient="horz" pos="1080">
          <p15:clr>
            <a:srgbClr val="A4A3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609806" y="1488141"/>
            <a:ext cx="5038854" cy="4233390"/>
          </a:xfrm>
        </p:spPr>
        <p:txBody>
          <a:bodyPr lIns="0" anchor="t" anchorCtr="0"/>
          <a:lstStyle>
            <a:lvl1pPr algn="l">
              <a:defRPr sz="4400"/>
            </a:lvl1pPr>
          </a:lstStyle>
          <a:p>
            <a:endParaRPr lang="en-US"/>
          </a:p>
        </p:txBody>
      </p:sp>
      <p:pic>
        <p:nvPicPr>
          <p:cNvPr id="3" name="Picture 2" descr="A blue and grey square&#10;&#10;AI-generated content may be incorrect.">
            <a:extLst>
              <a:ext uri="{FF2B5EF4-FFF2-40B4-BE49-F238E27FC236}">
                <a16:creationId xmlns:a16="http://schemas.microsoft.com/office/drawing/2014/main" id="{CDBA8C77-70CA-13DB-6585-126480192E47}"/>
              </a:ext>
            </a:extLst>
          </p:cNvPr>
          <p:cNvPicPr>
            <a:picLocks noChangeAspect="1"/>
          </p:cNvPicPr>
          <p:nvPr userDrawn="1"/>
        </p:nvPicPr>
        <p:blipFill>
          <a:blip r:embed="rId2">
            <a:alphaModFix amt="70000"/>
          </a:blip>
          <a:stretch>
            <a:fillRect/>
          </a:stretch>
        </p:blipFill>
        <p:spPr>
          <a:xfrm>
            <a:off x="0" y="616857"/>
            <a:ext cx="6265333" cy="6241143"/>
          </a:xfrm>
          <a:prstGeom prst="rect">
            <a:avLst/>
          </a:prstGeom>
        </p:spPr>
      </p:pic>
      <p:sp>
        <p:nvSpPr>
          <p:cNvPr id="4" name="TextBox 3">
            <a:extLst>
              <a:ext uri="{FF2B5EF4-FFF2-40B4-BE49-F238E27FC236}">
                <a16:creationId xmlns:a16="http://schemas.microsoft.com/office/drawing/2014/main" id="{324A4B02-5F61-61C6-B6B7-D67C131CE9A7}"/>
              </a:ext>
            </a:extLst>
          </p:cNvPr>
          <p:cNvSpPr txBox="1"/>
          <p:nvPr userDrawn="1"/>
        </p:nvSpPr>
        <p:spPr>
          <a:xfrm>
            <a:off x="11303871" y="6303527"/>
            <a:ext cx="429164" cy="210391"/>
          </a:xfrm>
          <a:prstGeom prst="rect">
            <a:avLst/>
          </a:prstGeom>
          <a:noFill/>
        </p:spPr>
        <p:txBody>
          <a:bodyPr wrap="square" lIns="0" tIns="0" rIns="0" bIns="0" rtlCol="0" anchor="t" anchorCtr="0">
            <a:noAutofit/>
          </a:bodyPr>
          <a:lstStyle/>
          <a:p>
            <a:pPr marL="0" algn="r" defTabSz="914400" rtl="0" eaLnBrk="1" latinLnBrk="0" hangingPunct="1"/>
            <a:fld id="{B14C4DC2-5DCA-497B-95BC-EA9B7B01D74F}" type="slidenum">
              <a:rPr lang="en-ID" sz="1000" b="0" kern="1200" smtClean="0">
                <a:solidFill>
                  <a:schemeClr val="bg2">
                    <a:lumMod val="25000"/>
                  </a:schemeClr>
                </a:solidFill>
                <a:latin typeface="+mn-lt"/>
                <a:ea typeface="+mn-ea"/>
                <a:cs typeface="+mn-cs"/>
              </a:rPr>
              <a:pPr marL="0" algn="r" defTabSz="914400" rtl="0" eaLnBrk="1" latinLnBrk="0" hangingPunct="1"/>
              <a:t>‹#›</a:t>
            </a:fld>
            <a:endParaRPr lang="en-ID" sz="1000" b="0" kern="1200">
              <a:solidFill>
                <a:schemeClr val="bg2">
                  <a:lumMod val="25000"/>
                </a:schemeClr>
              </a:solidFill>
              <a:latin typeface="+mn-lt"/>
              <a:ea typeface="+mn-ea"/>
              <a:cs typeface="+mn-cs"/>
            </a:endParaRPr>
          </a:p>
        </p:txBody>
      </p:sp>
    </p:spTree>
    <p:extLst>
      <p:ext uri="{BB962C8B-B14F-4D97-AF65-F5344CB8AC3E}">
        <p14:creationId xmlns:p14="http://schemas.microsoft.com/office/powerpoint/2010/main" val="3823583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78766" y="2485075"/>
            <a:ext cx="10834468" cy="943925"/>
          </a:xfrm>
        </p:spPr>
        <p:txBody>
          <a:bodyPr lIns="0" anchor="t" anchorCtr="0"/>
          <a:lstStyle>
            <a:lvl1pPr algn="ctr">
              <a:defRPr sz="5000"/>
            </a:lvl1pPr>
          </a:lstStyle>
          <a:p>
            <a:endParaRPr lang="en-US"/>
          </a:p>
        </p:txBody>
      </p:sp>
    </p:spTree>
    <p:extLst>
      <p:ext uri="{BB962C8B-B14F-4D97-AF65-F5344CB8AC3E}">
        <p14:creationId xmlns:p14="http://schemas.microsoft.com/office/powerpoint/2010/main" val="34005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COL TEXT A">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marL="0" indent="0">
              <a:buNone/>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8" name="Title 7">
            <a:extLst>
              <a:ext uri="{FF2B5EF4-FFF2-40B4-BE49-F238E27FC236}">
                <a16:creationId xmlns:a16="http://schemas.microsoft.com/office/drawing/2014/main" id="{55693EF2-8722-D131-EA6A-161C518F1622}"/>
              </a:ext>
            </a:extLst>
          </p:cNvPr>
          <p:cNvSpPr>
            <a:spLocks noGrp="1"/>
          </p:cNvSpPr>
          <p:nvPr>
            <p:ph type="title"/>
          </p:nvPr>
        </p:nvSpPr>
        <p:spPr>
          <a:xfrm>
            <a:off x="6665369" y="493776"/>
            <a:ext cx="4754880" cy="1219201"/>
          </a:xfrm>
        </p:spPr>
        <p:txBody>
          <a:bodyPr/>
          <a:lstStyle/>
          <a:p>
            <a:endParaRPr lang="en-US"/>
          </a:p>
        </p:txBody>
      </p:sp>
    </p:spTree>
    <p:extLst>
      <p:ext uri="{BB962C8B-B14F-4D97-AF65-F5344CB8AC3E}">
        <p14:creationId xmlns:p14="http://schemas.microsoft.com/office/powerpoint/2010/main" val="34049539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COL TEXT B">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5" name="Title 4">
            <a:extLst>
              <a:ext uri="{FF2B5EF4-FFF2-40B4-BE49-F238E27FC236}">
                <a16:creationId xmlns:a16="http://schemas.microsoft.com/office/drawing/2014/main" id="{2D529423-01B6-FD0F-9F4A-0764671527B0}"/>
              </a:ext>
            </a:extLst>
          </p:cNvPr>
          <p:cNvSpPr>
            <a:spLocks noGrp="1"/>
          </p:cNvSpPr>
          <p:nvPr>
            <p:ph type="title"/>
          </p:nvPr>
        </p:nvSpPr>
        <p:spPr>
          <a:xfrm>
            <a:off x="6665369" y="493776"/>
            <a:ext cx="4754880" cy="1219200"/>
          </a:xfrm>
        </p:spPr>
        <p:txBody>
          <a:bodyPr/>
          <a:lstStyle/>
          <a:p>
            <a:endParaRPr lang="en-US"/>
          </a:p>
        </p:txBody>
      </p:sp>
    </p:spTree>
    <p:extLst>
      <p:ext uri="{BB962C8B-B14F-4D97-AF65-F5344CB8AC3E}">
        <p14:creationId xmlns:p14="http://schemas.microsoft.com/office/powerpoint/2010/main" val="391920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457200" y="493776"/>
            <a:ext cx="5029200" cy="2487168"/>
          </a:xfrm>
        </p:spPr>
        <p:txBody>
          <a:bodyPr/>
          <a:lstStyle>
            <a:lvl1pPr>
              <a:defRPr sz="3600">
                <a:solidFill>
                  <a:srgbClr val="000A62"/>
                </a:solidFill>
              </a:defRPr>
            </a:lvl1pPr>
          </a:lstStyle>
          <a:p>
            <a:endParaRPr lang="en-US"/>
          </a:p>
        </p:txBody>
      </p:sp>
    </p:spTree>
    <p:extLst>
      <p:ext uri="{BB962C8B-B14F-4D97-AF65-F5344CB8AC3E}">
        <p14:creationId xmlns:p14="http://schemas.microsoft.com/office/powerpoint/2010/main" val="999082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pic>
        <p:nvPicPr>
          <p:cNvPr id="2" name="Graphic 1">
            <a:extLst>
              <a:ext uri="{FF2B5EF4-FFF2-40B4-BE49-F238E27FC236}">
                <a16:creationId xmlns:a16="http://schemas.microsoft.com/office/drawing/2014/main" id="{8F53EAEA-39FB-5B87-7263-2C114FEFF040}"/>
              </a:ext>
            </a:extLst>
          </p:cNvPr>
          <p:cNvPicPr>
            <a:picLocks noChangeAspect="1"/>
          </p:cNvPicPr>
          <p:nvPr userDrawn="1"/>
        </p:nvPicPr>
        <p:blipFill>
          <a:blip r:embed="rId3"/>
          <a:srcRect/>
          <a:stretch/>
        </p:blipFill>
        <p:spPr>
          <a:xfrm>
            <a:off x="4856245" y="2183735"/>
            <a:ext cx="2479509" cy="2490530"/>
          </a:xfrm>
          <a:prstGeom prst="rect">
            <a:avLst/>
          </a:prstGeom>
          <a:effectLst/>
        </p:spPr>
      </p:pic>
      <p:sp>
        <p:nvSpPr>
          <p:cNvPr id="3" name="TextBox 2">
            <a:extLst>
              <a:ext uri="{FF2B5EF4-FFF2-40B4-BE49-F238E27FC236}">
                <a16:creationId xmlns:a16="http://schemas.microsoft.com/office/drawing/2014/main" id="{B6733DA5-7CEB-156D-B682-AC4F46921F76}"/>
              </a:ext>
            </a:extLst>
          </p:cNvPr>
          <p:cNvSpPr txBox="1"/>
          <p:nvPr userDrawn="1"/>
        </p:nvSpPr>
        <p:spPr>
          <a:xfrm>
            <a:off x="11303871" y="6303527"/>
            <a:ext cx="429164" cy="210391"/>
          </a:xfrm>
          <a:prstGeom prst="rect">
            <a:avLst/>
          </a:prstGeom>
          <a:noFill/>
        </p:spPr>
        <p:txBody>
          <a:bodyPr wrap="square" lIns="0" tIns="0" rIns="0" bIns="0" rtlCol="0" anchor="t" anchorCtr="0">
            <a:noAutofit/>
          </a:bodyPr>
          <a:lstStyle/>
          <a:p>
            <a:pPr marL="0" algn="r" defTabSz="914400" rtl="0" eaLnBrk="1" latinLnBrk="0" hangingPunct="1"/>
            <a:fld id="{B14C4DC2-5DCA-497B-95BC-EA9B7B01D74F}" type="slidenum">
              <a:rPr lang="en-ID" sz="1000" b="0" kern="1200" smtClean="0">
                <a:solidFill>
                  <a:schemeClr val="bg2">
                    <a:lumMod val="25000"/>
                  </a:schemeClr>
                </a:solidFill>
                <a:latin typeface="+mn-lt"/>
                <a:ea typeface="+mn-ea"/>
                <a:cs typeface="+mn-cs"/>
              </a:rPr>
              <a:pPr marL="0" algn="r" defTabSz="914400" rtl="0" eaLnBrk="1" latinLnBrk="0" hangingPunct="1"/>
              <a:t>‹#›</a:t>
            </a:fld>
            <a:endParaRPr lang="en-ID" sz="1000" b="0" kern="1200">
              <a:solidFill>
                <a:schemeClr val="bg2">
                  <a:lumMod val="25000"/>
                </a:schemeClr>
              </a:solidFill>
              <a:latin typeface="+mn-lt"/>
              <a:ea typeface="+mn-ea"/>
              <a:cs typeface="+mn-cs"/>
            </a:endParaRPr>
          </a:p>
        </p:txBody>
      </p:sp>
    </p:spTree>
    <p:extLst>
      <p:ext uri="{BB962C8B-B14F-4D97-AF65-F5344CB8AC3E}">
        <p14:creationId xmlns:p14="http://schemas.microsoft.com/office/powerpoint/2010/main" val="1069983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1_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pic>
        <p:nvPicPr>
          <p:cNvPr id="4" name="Picture 3" descr="A blue and black logo&#10;&#10;AI-generated content may be incorrect.">
            <a:extLst>
              <a:ext uri="{FF2B5EF4-FFF2-40B4-BE49-F238E27FC236}">
                <a16:creationId xmlns:a16="http://schemas.microsoft.com/office/drawing/2014/main" id="{998306C0-7B5B-AB98-EC2E-C89EC1D1A8F9}"/>
              </a:ext>
            </a:extLst>
          </p:cNvPr>
          <p:cNvPicPr>
            <a:picLocks noChangeAspect="1"/>
          </p:cNvPicPr>
          <p:nvPr userDrawn="1"/>
        </p:nvPicPr>
        <p:blipFill>
          <a:blip r:embed="rId3"/>
          <a:stretch>
            <a:fillRect/>
          </a:stretch>
        </p:blipFill>
        <p:spPr>
          <a:xfrm>
            <a:off x="2919977" y="2624326"/>
            <a:ext cx="6352045" cy="1609347"/>
          </a:xfrm>
          <a:prstGeom prst="rect">
            <a:avLst/>
          </a:prstGeom>
        </p:spPr>
      </p:pic>
      <p:sp>
        <p:nvSpPr>
          <p:cNvPr id="2" name="TextBox 1">
            <a:extLst>
              <a:ext uri="{FF2B5EF4-FFF2-40B4-BE49-F238E27FC236}">
                <a16:creationId xmlns:a16="http://schemas.microsoft.com/office/drawing/2014/main" id="{16E22BEF-0925-1E3B-D20F-77CDF40128C3}"/>
              </a:ext>
            </a:extLst>
          </p:cNvPr>
          <p:cNvSpPr txBox="1"/>
          <p:nvPr userDrawn="1"/>
        </p:nvSpPr>
        <p:spPr>
          <a:xfrm>
            <a:off x="11303871" y="6303527"/>
            <a:ext cx="429164" cy="210391"/>
          </a:xfrm>
          <a:prstGeom prst="rect">
            <a:avLst/>
          </a:prstGeom>
          <a:noFill/>
        </p:spPr>
        <p:txBody>
          <a:bodyPr wrap="square" lIns="0" tIns="0" rIns="0" bIns="0" rtlCol="0" anchor="t" anchorCtr="0">
            <a:noAutofit/>
          </a:bodyPr>
          <a:lstStyle/>
          <a:p>
            <a:pPr marL="0" algn="r" defTabSz="914400" rtl="0" eaLnBrk="1" latinLnBrk="0" hangingPunct="1"/>
            <a:fld id="{B14C4DC2-5DCA-497B-95BC-EA9B7B01D74F}" type="slidenum">
              <a:rPr lang="en-ID" sz="1000" b="0" kern="1200" smtClean="0">
                <a:solidFill>
                  <a:schemeClr val="bg2">
                    <a:lumMod val="25000"/>
                  </a:schemeClr>
                </a:solidFill>
                <a:latin typeface="+mn-lt"/>
                <a:ea typeface="+mn-ea"/>
                <a:cs typeface="+mn-cs"/>
              </a:rPr>
              <a:pPr marL="0" algn="r" defTabSz="914400" rtl="0" eaLnBrk="1" latinLnBrk="0" hangingPunct="1"/>
              <a:t>‹#›</a:t>
            </a:fld>
            <a:endParaRPr lang="en-ID" sz="1000" b="0" kern="1200">
              <a:solidFill>
                <a:schemeClr val="bg2">
                  <a:lumMod val="25000"/>
                </a:schemeClr>
              </a:solidFill>
              <a:latin typeface="+mn-lt"/>
              <a:ea typeface="+mn-ea"/>
              <a:cs typeface="+mn-cs"/>
            </a:endParaRPr>
          </a:p>
        </p:txBody>
      </p:sp>
    </p:spTree>
    <p:extLst>
      <p:ext uri="{BB962C8B-B14F-4D97-AF65-F5344CB8AC3E}">
        <p14:creationId xmlns:p14="http://schemas.microsoft.com/office/powerpoint/2010/main" val="811780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09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Only White Bkg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9"/>
          <p:cNvSpPr>
            <a:spLocks noGrp="1"/>
          </p:cNvSpPr>
          <p:nvPr>
            <p:ph type="sldNum" sz="quarter" idx="4"/>
          </p:nvPr>
        </p:nvSpPr>
        <p:spPr>
          <a:xfrm>
            <a:off x="11520115" y="6367265"/>
            <a:ext cx="304800" cy="205184"/>
          </a:xfrm>
          <a:prstGeom prst="rect">
            <a:avLst/>
          </a:prstGeom>
        </p:spPr>
        <p:txBody>
          <a:bodyPr vert="horz" wrap="square" lIns="0" tIns="0" rIns="0" bIns="0" rtlCol="0" anchor="ctr">
            <a:spAutoFit/>
          </a:bodyPr>
          <a:lstStyle>
            <a:lvl1pPr algn="ctr" fontAlgn="auto">
              <a:spcBef>
                <a:spcPts val="0"/>
              </a:spcBef>
              <a:spcAft>
                <a:spcPts val="0"/>
              </a:spcAft>
              <a:defRPr sz="1333" smtClean="0">
                <a:solidFill>
                  <a:schemeClr val="tx1"/>
                </a:solidFill>
                <a:latin typeface="+mn-lt"/>
              </a:defRPr>
            </a:lvl1pPr>
          </a:lstStyle>
          <a:p>
            <a:pPr>
              <a:defRPr/>
            </a:pPr>
            <a:fld id="{2EDAC284-59FC-4EEB-A7F8-63017E0BC0CE}" type="slidenum">
              <a:rPr lang="en-US" smtClean="0"/>
              <a:pPr>
                <a:defRPr/>
              </a:pPr>
              <a:t>‹#›</a:t>
            </a:fld>
            <a:endParaRPr lang="en-US"/>
          </a:p>
        </p:txBody>
      </p:sp>
      <p:sp>
        <p:nvSpPr>
          <p:cNvPr id="9" name="Text Placeholder 4"/>
          <p:cNvSpPr>
            <a:spLocks noGrp="1"/>
          </p:cNvSpPr>
          <p:nvPr>
            <p:ph type="body" sz="quarter" idx="11"/>
          </p:nvPr>
        </p:nvSpPr>
        <p:spPr>
          <a:xfrm>
            <a:off x="390144" y="792481"/>
            <a:ext cx="11379200" cy="893233"/>
          </a:xfrm>
        </p:spPr>
        <p:txBody>
          <a:bodyPr/>
          <a:lstStyle>
            <a:lvl1pPr marL="0" indent="0">
              <a:buNone/>
              <a:defRPr>
                <a:solidFill>
                  <a:schemeClr val="bg2"/>
                </a:solidFill>
                <a:latin typeface="+mj-lt"/>
              </a:defRPr>
            </a:lvl1pPr>
            <a:lvl2pPr marL="609585" indent="0">
              <a:buNone/>
              <a:defRPr/>
            </a:lvl2pPr>
          </a:lstStyle>
          <a:p>
            <a:pPr lvl="0"/>
            <a:r>
              <a:rPr lang="en-US"/>
              <a:t>Click to edit Master text styles</a:t>
            </a:r>
          </a:p>
        </p:txBody>
      </p:sp>
    </p:spTree>
    <p:extLst>
      <p:ext uri="{BB962C8B-B14F-4D97-AF65-F5344CB8AC3E}">
        <p14:creationId xmlns:p14="http://schemas.microsoft.com/office/powerpoint/2010/main" val="9176422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Content Light Blue">
    <p:bg>
      <p:bgPr>
        <a:solidFill>
          <a:srgbClr val="B2D4E4">
            <a:alpha val="6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711748" cy="682752"/>
          </a:xfrm>
        </p:spPr>
        <p:txBody>
          <a:bodyPr/>
          <a:lstStyle>
            <a:lvl1pPr>
              <a:defRPr>
                <a:solidFill>
                  <a:srgbClr val="0A3C53"/>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bg1"/>
                </a:solidFill>
                <a:latin typeface="Effra Pro" panose="020B0603020203020204" pitchFamily="34" charset="0"/>
              </a:defRPr>
            </a:lvl1pPr>
            <a:lvl2pPr>
              <a:defRPr sz="2400">
                <a:solidFill>
                  <a:schemeClr val="bg1"/>
                </a:solidFill>
                <a:latin typeface="Effra Pro" panose="020B0603020203020204" pitchFamily="34" charset="0"/>
              </a:defRPr>
            </a:lvl2pPr>
            <a:lvl3pPr>
              <a:defRPr sz="2133">
                <a:solidFill>
                  <a:schemeClr val="bg1"/>
                </a:solidFill>
                <a:latin typeface="Effra Pro" panose="020B0603020203020204" pitchFamily="34" charset="0"/>
              </a:defRPr>
            </a:lvl3pPr>
            <a:lvl4pPr>
              <a:defRPr sz="2133">
                <a:solidFill>
                  <a:schemeClr val="bg1"/>
                </a:solidFill>
                <a:latin typeface="Effra Pro" panose="020B0603020203020204" pitchFamily="34" charset="0"/>
              </a:defRPr>
            </a:lvl4pPr>
            <a:lvl5pPr>
              <a:defRPr sz="2133">
                <a:solidFill>
                  <a:schemeClr val="bg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3" y="931977"/>
            <a:ext cx="11408507" cy="651540"/>
          </a:xfrm>
        </p:spPr>
        <p:txBody>
          <a:bodyPr/>
          <a:lstStyle>
            <a:lvl1pPr marL="0" indent="0">
              <a:buNone/>
              <a:defRPr sz="2400" b="0">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sp>
        <p:nvSpPr>
          <p:cNvPr id="11" name="Slide Number Placeholder 9">
            <a:extLst>
              <a:ext uri="{FF2B5EF4-FFF2-40B4-BE49-F238E27FC236}">
                <a16:creationId xmlns:a16="http://schemas.microsoft.com/office/drawing/2014/main" id="{A981E5D6-0803-8921-6403-BB6DB0BD12B1}"/>
              </a:ext>
            </a:extLst>
          </p:cNvPr>
          <p:cNvSpPr>
            <a:spLocks noGrp="1"/>
          </p:cNvSpPr>
          <p:nvPr>
            <p:ph type="sldNum" sz="quarter" idx="4294967295"/>
          </p:nvPr>
        </p:nvSpPr>
        <p:spPr>
          <a:xfrm>
            <a:off x="11493849" y="6583399"/>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3" name="TextBox 12">
            <a:extLst>
              <a:ext uri="{FF2B5EF4-FFF2-40B4-BE49-F238E27FC236}">
                <a16:creationId xmlns:a16="http://schemas.microsoft.com/office/drawing/2014/main" id="{EADC3663-FD28-443D-8635-94D971D411BB}"/>
              </a:ext>
            </a:extLst>
          </p:cNvPr>
          <p:cNvSpPr txBox="1"/>
          <p:nvPr userDrawn="1"/>
        </p:nvSpPr>
        <p:spPr>
          <a:xfrm>
            <a:off x="6451386" y="6574485"/>
            <a:ext cx="4889500" cy="138499"/>
          </a:xfrm>
          <a:prstGeom prst="rect">
            <a:avLst/>
          </a:prstGeom>
          <a:noFill/>
        </p:spPr>
        <p:txBody>
          <a:bodyPr wrap="square" lIns="0" tIns="0" rIns="0" bIns="0" rtlCol="0">
            <a:spAutoFit/>
          </a:bodyPr>
          <a:lstStyle/>
          <a:p>
            <a:pPr algn="r"/>
            <a:r>
              <a:rPr lang="en-US" sz="900">
                <a:solidFill>
                  <a:srgbClr val="0A3C53"/>
                </a:solidFill>
                <a:latin typeface="Effra Pro" panose="020B0603020203020204" pitchFamily="34" charset="0"/>
              </a:rPr>
              <a:t>For internal use only. Not to be used with the public.</a:t>
            </a:r>
          </a:p>
        </p:txBody>
      </p:sp>
      <p:pic>
        <p:nvPicPr>
          <p:cNvPr id="7" name="Picture 6">
            <a:extLst>
              <a:ext uri="{FF2B5EF4-FFF2-40B4-BE49-F238E27FC236}">
                <a16:creationId xmlns:a16="http://schemas.microsoft.com/office/drawing/2014/main" id="{E67FCA87-8478-5E28-4661-20EA3D9955E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455563" y="6192317"/>
            <a:ext cx="1343086" cy="226210"/>
          </a:xfrm>
          <a:prstGeom prst="rect">
            <a:avLst/>
          </a:prstGeom>
        </p:spPr>
      </p:pic>
    </p:spTree>
    <p:extLst>
      <p:ext uri="{BB962C8B-B14F-4D97-AF65-F5344CB8AC3E}">
        <p14:creationId xmlns:p14="http://schemas.microsoft.com/office/powerpoint/2010/main" val="20073299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7_Custom Layou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8B75A9B-B3DF-4E82-DCCD-EBC806BB84DF}"/>
              </a:ext>
            </a:extLst>
          </p:cNvPr>
          <p:cNvSpPr>
            <a:spLocks noGrp="1"/>
          </p:cNvSpPr>
          <p:nvPr>
            <p:ph type="title" hasCustomPrompt="1"/>
          </p:nvPr>
        </p:nvSpPr>
        <p:spPr>
          <a:xfrm>
            <a:off x="393349" y="181536"/>
            <a:ext cx="11392252" cy="682752"/>
          </a:xfrm>
          <a:prstGeom prst="rect">
            <a:avLst/>
          </a:prstGeom>
        </p:spPr>
        <p:txBody>
          <a:bodyPr/>
          <a:lstStyle>
            <a:lvl1pPr>
              <a:defRPr sz="3200"/>
            </a:lvl1pPr>
          </a:lstStyle>
          <a:p>
            <a:r>
              <a:rPr lang="en-US"/>
              <a:t>Main headline 6 words or less (Aldo Pro font size 32) </a:t>
            </a:r>
          </a:p>
        </p:txBody>
      </p:sp>
      <p:sp>
        <p:nvSpPr>
          <p:cNvPr id="4" name="Text Placeholder 7">
            <a:extLst>
              <a:ext uri="{FF2B5EF4-FFF2-40B4-BE49-F238E27FC236}">
                <a16:creationId xmlns:a16="http://schemas.microsoft.com/office/drawing/2014/main" id="{59976597-673F-23E0-5762-7820B1E50AB7}"/>
              </a:ext>
            </a:extLst>
          </p:cNvPr>
          <p:cNvSpPr>
            <a:spLocks noGrp="1"/>
          </p:cNvSpPr>
          <p:nvPr>
            <p:ph type="body" sz="quarter" idx="13" hasCustomPrompt="1"/>
          </p:nvPr>
        </p:nvSpPr>
        <p:spPr>
          <a:xfrm>
            <a:off x="393349" y="849214"/>
            <a:ext cx="11520487" cy="558800"/>
          </a:xfrm>
          <a:prstGeom prst="rect">
            <a:avLst/>
          </a:prstGeom>
        </p:spPr>
        <p:txBody>
          <a:bodyPr/>
          <a:lstStyle>
            <a:lvl1pPr marL="0" indent="0">
              <a:buFontTx/>
              <a:buNone/>
              <a:defRPr sz="2800">
                <a:solidFill>
                  <a:srgbClr val="2E86AF"/>
                </a:solidFill>
                <a:latin typeface="Effra Pro" panose="020B0603020203020204" pitchFamily="34" charset="0"/>
              </a:defRPr>
            </a:lvl1pPr>
          </a:lstStyle>
          <a:p>
            <a:pPr lvl="0"/>
            <a:r>
              <a:rPr lang="en-US"/>
              <a:t>Sub headline (Effra Pro font size 28)</a:t>
            </a:r>
          </a:p>
        </p:txBody>
      </p:sp>
    </p:spTree>
    <p:extLst>
      <p:ext uri="{BB962C8B-B14F-4D97-AF65-F5344CB8AC3E}">
        <p14:creationId xmlns:p14="http://schemas.microsoft.com/office/powerpoint/2010/main" val="40468725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F15485F8-9E68-60E9-6BC9-9B7F6C1A3D7F}"/>
              </a:ext>
            </a:extLst>
          </p:cNvPr>
          <p:cNvSpPr>
            <a:spLocks noGrp="1"/>
          </p:cNvSpPr>
          <p:nvPr>
            <p:ph type="body" sz="quarter" idx="13" hasCustomPrompt="1"/>
          </p:nvPr>
        </p:nvSpPr>
        <p:spPr>
          <a:xfrm>
            <a:off x="393350" y="850392"/>
            <a:ext cx="11405302" cy="558800"/>
          </a:xfrm>
          <a:prstGeom prst="rect">
            <a:avLst/>
          </a:prstGeom>
        </p:spPr>
        <p:txBody>
          <a:bodyPr lIns="0" tIns="0" rIns="0" bIns="0"/>
          <a:lstStyle>
            <a:lvl1pPr marL="0" indent="0">
              <a:buFontTx/>
              <a:buNone/>
              <a:defRPr sz="2800">
                <a:solidFill>
                  <a:srgbClr val="2E86AF"/>
                </a:solidFill>
                <a:latin typeface="Effra Pro" panose="020B0603020203020204" pitchFamily="34" charset="0"/>
              </a:defRPr>
            </a:lvl1pPr>
          </a:lstStyle>
          <a:p>
            <a:pPr lvl="0"/>
            <a:r>
              <a:rPr lang="en-US"/>
              <a:t>Sub headline (Effra Pro font size 28)</a:t>
            </a:r>
          </a:p>
        </p:txBody>
      </p:sp>
      <p:sp>
        <p:nvSpPr>
          <p:cNvPr id="9" name="Text Placeholder 4">
            <a:extLst>
              <a:ext uri="{FF2B5EF4-FFF2-40B4-BE49-F238E27FC236}">
                <a16:creationId xmlns:a16="http://schemas.microsoft.com/office/drawing/2014/main" id="{D1702492-ECB9-C99D-17F0-C5C3BE0BBEB3}"/>
              </a:ext>
            </a:extLst>
          </p:cNvPr>
          <p:cNvSpPr>
            <a:spLocks noGrp="1"/>
          </p:cNvSpPr>
          <p:nvPr>
            <p:ph type="body" sz="quarter" idx="14"/>
          </p:nvPr>
        </p:nvSpPr>
        <p:spPr>
          <a:xfrm>
            <a:off x="393349" y="1560513"/>
            <a:ext cx="5938478" cy="2761230"/>
          </a:xfrm>
          <a:prstGeom prst="rect">
            <a:avLst/>
          </a:prstGeom>
        </p:spPr>
        <p:txBody>
          <a:bodyPr/>
          <a:lstStyle>
            <a:lvl1pPr>
              <a:defRPr sz="2000">
                <a:solidFill>
                  <a:schemeClr val="bg2"/>
                </a:solidFill>
              </a:defRPr>
            </a:lvl1pPr>
            <a:lvl2pPr>
              <a:defRPr sz="2000">
                <a:solidFill>
                  <a:schemeClr val="bg2"/>
                </a:solidFill>
              </a:defRPr>
            </a:lvl2pPr>
            <a:lvl3pPr>
              <a:defRPr sz="1800">
                <a:solidFill>
                  <a:schemeClr val="bg2"/>
                </a:solidFill>
              </a:defRPr>
            </a:lvl3pPr>
            <a:lvl4pPr>
              <a:defRPr sz="1600">
                <a:solidFill>
                  <a:schemeClr val="bg2"/>
                </a:solidFill>
              </a:defRPr>
            </a:lvl4pPr>
            <a:lvl5pP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1">
            <a:extLst>
              <a:ext uri="{FF2B5EF4-FFF2-40B4-BE49-F238E27FC236}">
                <a16:creationId xmlns:a16="http://schemas.microsoft.com/office/drawing/2014/main" id="{068AFAD1-74BD-2231-701D-CCA497B9D0AC}"/>
              </a:ext>
            </a:extLst>
          </p:cNvPr>
          <p:cNvSpPr>
            <a:spLocks noGrp="1"/>
          </p:cNvSpPr>
          <p:nvPr>
            <p:ph type="title" hasCustomPrompt="1"/>
          </p:nvPr>
        </p:nvSpPr>
        <p:spPr>
          <a:xfrm>
            <a:off x="393349" y="181536"/>
            <a:ext cx="11392252" cy="682752"/>
          </a:xfrm>
          <a:prstGeom prst="rect">
            <a:avLst/>
          </a:prstGeom>
        </p:spPr>
        <p:txBody>
          <a:bodyPr lIns="0" tIns="0" rIns="0" bIns="0"/>
          <a:lstStyle>
            <a:lvl1pPr>
              <a:defRPr sz="3200"/>
            </a:lvl1pPr>
          </a:lstStyle>
          <a:p>
            <a:r>
              <a:rPr lang="en-US"/>
              <a:t>Main headline 6 words or less (Alda Pro font size 32) </a:t>
            </a:r>
          </a:p>
        </p:txBody>
      </p:sp>
    </p:spTree>
    <p:extLst>
      <p:ext uri="{BB962C8B-B14F-4D97-AF65-F5344CB8AC3E}">
        <p14:creationId xmlns:p14="http://schemas.microsoft.com/office/powerpoint/2010/main" val="30952267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626269" y="1554480"/>
            <a:ext cx="10939462" cy="4247212"/>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Placeholder 1">
            <a:extLst>
              <a:ext uri="{FF2B5EF4-FFF2-40B4-BE49-F238E27FC236}">
                <a16:creationId xmlns:a16="http://schemas.microsoft.com/office/drawing/2014/main" id="{7BBB44ED-3F55-29A4-DD1E-8FC01AD0F44D}"/>
              </a:ext>
            </a:extLst>
          </p:cNvPr>
          <p:cNvSpPr>
            <a:spLocks noGrp="1"/>
          </p:cNvSpPr>
          <p:nvPr>
            <p:ph type="title"/>
          </p:nvPr>
        </p:nvSpPr>
        <p:spPr>
          <a:xfrm>
            <a:off x="626269" y="493776"/>
            <a:ext cx="10939462" cy="804672"/>
          </a:xfrm>
          <a:prstGeom prst="rect">
            <a:avLst/>
          </a:prstGeom>
        </p:spPr>
        <p:txBody>
          <a:bodyPr vert="horz" lIns="0" tIns="0" rIns="0" bIns="0" rtlCol="0" anchor="t" anchorCtr="0">
            <a:noAutofit/>
          </a:bodyPr>
          <a:lstStyle/>
          <a:p>
            <a:r>
              <a:rPr lang="en-US"/>
              <a:t>Click to edit Master title style</a:t>
            </a:r>
          </a:p>
        </p:txBody>
      </p:sp>
    </p:spTree>
    <p:extLst>
      <p:ext uri="{BB962C8B-B14F-4D97-AF65-F5344CB8AC3E}">
        <p14:creationId xmlns:p14="http://schemas.microsoft.com/office/powerpoint/2010/main" val="8919090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BE21-AC1E-A39A-9EC5-25B22524EE8B}"/>
              </a:ext>
            </a:extLst>
          </p:cNvPr>
          <p:cNvSpPr>
            <a:spLocks noGrp="1"/>
          </p:cNvSpPr>
          <p:nvPr>
            <p:ph type="title"/>
          </p:nvPr>
        </p:nvSpPr>
        <p:spPr>
          <a:xfrm>
            <a:off x="421041" y="493777"/>
            <a:ext cx="11310707" cy="544802"/>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421041" y="1862652"/>
            <a:ext cx="11310706" cy="4119486"/>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595E3170-2F17-5F40-7220-F26FEAC353E1}"/>
              </a:ext>
            </a:extLst>
          </p:cNvPr>
          <p:cNvSpPr>
            <a:spLocks noGrp="1"/>
          </p:cNvSpPr>
          <p:nvPr>
            <p:ph sz="quarter" idx="11"/>
          </p:nvPr>
        </p:nvSpPr>
        <p:spPr>
          <a:xfrm>
            <a:off x="421042" y="1178214"/>
            <a:ext cx="11310706" cy="544803"/>
          </a:xfrm>
        </p:spPr>
        <p:txBody>
          <a:bodyPr/>
          <a:lstStyle>
            <a:lvl1pPr marL="0" indent="0">
              <a:buFontTx/>
              <a:buNone/>
              <a:defRPr sz="2400" b="0">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19237144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5C41D-E07D-AC42-3ADA-41F9686525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7564432-A0A1-A1EC-BE8B-DF9098DB24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B30ABD-1267-8F91-58D1-F5027B5D7525}"/>
              </a:ext>
            </a:extLst>
          </p:cNvPr>
          <p:cNvSpPr>
            <a:spLocks noGrp="1"/>
          </p:cNvSpPr>
          <p:nvPr>
            <p:ph type="dt" sz="half" idx="10"/>
          </p:nvPr>
        </p:nvSpPr>
        <p:spPr/>
        <p:txBody>
          <a:bodyPr/>
          <a:lstStyle/>
          <a:p>
            <a:fld id="{26E70DFE-6B25-4129-B1A6-5C9ECF8727B4}" type="datetimeFigureOut">
              <a:rPr lang="en-US" smtClean="0"/>
              <a:t>8/16/2026</a:t>
            </a:fld>
            <a:endParaRPr lang="en-US"/>
          </a:p>
        </p:txBody>
      </p:sp>
      <p:sp>
        <p:nvSpPr>
          <p:cNvPr id="5" name="Footer Placeholder 4">
            <a:extLst>
              <a:ext uri="{FF2B5EF4-FFF2-40B4-BE49-F238E27FC236}">
                <a16:creationId xmlns:a16="http://schemas.microsoft.com/office/drawing/2014/main" id="{AF9BADA3-6B63-F320-CCEA-26966BC50C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1749FF-542E-06B9-9AB6-CFC2CE3FF3C7}"/>
              </a:ext>
            </a:extLst>
          </p:cNvPr>
          <p:cNvSpPr>
            <a:spLocks noGrp="1"/>
          </p:cNvSpPr>
          <p:nvPr>
            <p:ph type="sldNum" sz="quarter" idx="12"/>
          </p:nvPr>
        </p:nvSpPr>
        <p:spPr/>
        <p:txBody>
          <a:bodyPr/>
          <a:lstStyle/>
          <a:p>
            <a:fld id="{8FC3D706-5921-4A76-AD3B-CF5E1494855C}" type="slidenum">
              <a:rPr lang="en-US" smtClean="0"/>
              <a:t>‹#›</a:t>
            </a:fld>
            <a:endParaRPr lang="en-US"/>
          </a:p>
        </p:txBody>
      </p:sp>
    </p:spTree>
    <p:extLst>
      <p:ext uri="{BB962C8B-B14F-4D97-AF65-F5344CB8AC3E}">
        <p14:creationId xmlns:p14="http://schemas.microsoft.com/office/powerpoint/2010/main" val="39868501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093B52"/>
                </a:solidFill>
                <a:latin typeface="Georgia"/>
                <a:cs typeface="Georg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620372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Only White Bkg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a:t>Click to edit Master title style</a:t>
            </a:r>
          </a:p>
        </p:txBody>
      </p:sp>
      <p:sp>
        <p:nvSpPr>
          <p:cNvPr id="5" name="Slide Number Placeholder 9"/>
          <p:cNvSpPr>
            <a:spLocks noGrp="1"/>
          </p:cNvSpPr>
          <p:nvPr>
            <p:ph type="sldNum" sz="quarter" idx="4"/>
          </p:nvPr>
        </p:nvSpPr>
        <p:spPr>
          <a:xfrm>
            <a:off x="11520115" y="6367265"/>
            <a:ext cx="304800" cy="205184"/>
          </a:xfrm>
          <a:prstGeom prst="rect">
            <a:avLst/>
          </a:prstGeom>
        </p:spPr>
        <p:txBody>
          <a:bodyPr vert="horz" wrap="square" lIns="0" tIns="0" rIns="0" bIns="0" rtlCol="0" anchor="ctr">
            <a:spAutoFit/>
          </a:bodyPr>
          <a:lstStyle>
            <a:lvl1pPr algn="ctr" fontAlgn="auto">
              <a:spcBef>
                <a:spcPts val="0"/>
              </a:spcBef>
              <a:spcAft>
                <a:spcPts val="0"/>
              </a:spcAft>
              <a:defRPr sz="1333" smtClean="0">
                <a:solidFill>
                  <a:schemeClr val="tx1"/>
                </a:solidFill>
                <a:latin typeface="+mn-lt"/>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21878229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Webinar/Event Layout 2 headsho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FDB92-AB9D-4418-6216-59EE5F676AE4}"/>
              </a:ext>
            </a:extLst>
          </p:cNvPr>
          <p:cNvSpPr>
            <a:spLocks noGrp="1"/>
          </p:cNvSpPr>
          <p:nvPr>
            <p:ph type="title" hasCustomPrompt="1"/>
          </p:nvPr>
        </p:nvSpPr>
        <p:spPr>
          <a:xfrm>
            <a:off x="393350" y="181536"/>
            <a:ext cx="11392252" cy="682752"/>
          </a:xfrm>
          <a:prstGeom prst="rect">
            <a:avLst/>
          </a:prstGeom>
        </p:spPr>
        <p:txBody>
          <a:bodyPr/>
          <a:lstStyle>
            <a:lvl1pPr>
              <a:defRPr sz="3200"/>
            </a:lvl1pPr>
          </a:lstStyle>
          <a:p>
            <a:r>
              <a:rPr lang="en-US"/>
              <a:t>Add in event or webinar title</a:t>
            </a:r>
          </a:p>
        </p:txBody>
      </p:sp>
      <p:sp>
        <p:nvSpPr>
          <p:cNvPr id="3" name="Text Placeholder 7">
            <a:extLst>
              <a:ext uri="{FF2B5EF4-FFF2-40B4-BE49-F238E27FC236}">
                <a16:creationId xmlns:a16="http://schemas.microsoft.com/office/drawing/2014/main" id="{BE10FE7A-E00A-3D90-5D24-0526DDFBAB55}"/>
              </a:ext>
            </a:extLst>
          </p:cNvPr>
          <p:cNvSpPr>
            <a:spLocks noGrp="1"/>
          </p:cNvSpPr>
          <p:nvPr>
            <p:ph type="body" sz="quarter" idx="13" hasCustomPrompt="1"/>
          </p:nvPr>
        </p:nvSpPr>
        <p:spPr>
          <a:xfrm>
            <a:off x="393350" y="775859"/>
            <a:ext cx="11520487" cy="558800"/>
          </a:xfrm>
          <a:prstGeom prst="rect">
            <a:avLst/>
          </a:prstGeom>
        </p:spPr>
        <p:txBody>
          <a:bodyPr/>
          <a:lstStyle>
            <a:lvl1pPr marL="0" indent="0">
              <a:buFontTx/>
              <a:buNone/>
              <a:defRPr sz="2800">
                <a:solidFill>
                  <a:srgbClr val="2E86AF"/>
                </a:solidFill>
                <a:latin typeface="Effra Pro" panose="020B0603020203020204" pitchFamily="34" charset="0"/>
              </a:defRPr>
            </a:lvl1pPr>
          </a:lstStyle>
          <a:p>
            <a:pPr lvl="0"/>
            <a:r>
              <a:rPr lang="en-US"/>
              <a:t>Month day, year and time ET of the event goes here</a:t>
            </a:r>
          </a:p>
        </p:txBody>
      </p:sp>
      <p:sp>
        <p:nvSpPr>
          <p:cNvPr id="4" name="Text Placeholder 4">
            <a:extLst>
              <a:ext uri="{FF2B5EF4-FFF2-40B4-BE49-F238E27FC236}">
                <a16:creationId xmlns:a16="http://schemas.microsoft.com/office/drawing/2014/main" id="{A5E1522F-5BA1-E933-7822-5CBA84429D67}"/>
              </a:ext>
            </a:extLst>
          </p:cNvPr>
          <p:cNvSpPr>
            <a:spLocks noGrp="1"/>
          </p:cNvSpPr>
          <p:nvPr>
            <p:ph type="body" sz="quarter" idx="14" hasCustomPrompt="1"/>
          </p:nvPr>
        </p:nvSpPr>
        <p:spPr>
          <a:xfrm>
            <a:off x="393349" y="1674814"/>
            <a:ext cx="5471120" cy="2791679"/>
          </a:xfrm>
          <a:prstGeom prst="rect">
            <a:avLst/>
          </a:prstGeom>
        </p:spPr>
        <p:txBody>
          <a:bodyPr/>
          <a:lstStyle>
            <a:lvl1pPr marL="0" indent="0">
              <a:buFont typeface="Arial" panose="020B0604020202020204" pitchFamily="34" charset="0"/>
              <a:buNone/>
              <a:defRPr sz="2000">
                <a:solidFill>
                  <a:schemeClr val="bg2"/>
                </a:solidFill>
              </a:defRPr>
            </a:lvl1pPr>
            <a:lvl2pPr marL="914354" indent="-304784">
              <a:buFont typeface="Arial" panose="020B0604020202020204" pitchFamily="34" charset="0"/>
              <a:buChar char="•"/>
              <a:defRPr sz="1600">
                <a:solidFill>
                  <a:schemeClr val="bg2"/>
                </a:solidFill>
              </a:defRPr>
            </a:lvl2pPr>
            <a:lvl3pPr>
              <a:defRPr sz="2000">
                <a:solidFill>
                  <a:schemeClr val="bg2"/>
                </a:solidFill>
              </a:defRPr>
            </a:lvl3pPr>
            <a:lvl4pPr>
              <a:defRPr sz="1800">
                <a:solidFill>
                  <a:schemeClr val="bg2"/>
                </a:solidFill>
              </a:defRPr>
            </a:lvl4pPr>
            <a:lvl5pPr>
              <a:defRPr sz="1800">
                <a:solidFill>
                  <a:schemeClr val="bg2"/>
                </a:solidFill>
              </a:defRPr>
            </a:lvl5pPr>
          </a:lstStyle>
          <a:p>
            <a:pPr lvl="0"/>
            <a:r>
              <a:rPr lang="en-US"/>
              <a:t>Briefly describe the event or webinar. </a:t>
            </a:r>
            <a:br>
              <a:rPr lang="en-US"/>
            </a:br>
            <a:r>
              <a:rPr lang="en-US"/>
              <a:t>Share some (2-3 benefits or things that will be highlighted below.)</a:t>
            </a:r>
          </a:p>
          <a:p>
            <a:pPr lvl="0"/>
            <a:r>
              <a:rPr lang="en-US" b="1" u="sng">
                <a:solidFill>
                  <a:schemeClr val="bg2"/>
                </a:solidFill>
                <a:latin typeface="Effra Pro" panose="020B0603020203020204" pitchFamily="34" charset="0"/>
              </a:rPr>
              <a:t>Benefits</a:t>
            </a:r>
          </a:p>
          <a:p>
            <a:pPr marL="742932" lvl="1" indent="-285744">
              <a:buFont typeface="Arial" panose="020B0604020202020204" pitchFamily="34" charset="0"/>
              <a:buChar char="•"/>
            </a:pPr>
            <a:r>
              <a:rPr lang="en-US">
                <a:solidFill>
                  <a:schemeClr val="bg2"/>
                </a:solidFill>
                <a:latin typeface="Effra Pro" panose="020B0603020203020204" pitchFamily="34" charset="0"/>
              </a:rPr>
              <a:t>Benefit one</a:t>
            </a:r>
          </a:p>
          <a:p>
            <a:pPr marL="742932" lvl="1" indent="-285744">
              <a:buFont typeface="Arial" panose="020B0604020202020204" pitchFamily="34" charset="0"/>
              <a:buChar char="•"/>
            </a:pPr>
            <a:r>
              <a:rPr lang="en-US">
                <a:solidFill>
                  <a:schemeClr val="bg2"/>
                </a:solidFill>
                <a:latin typeface="Effra Pro" panose="020B0603020203020204" pitchFamily="34" charset="0"/>
              </a:rPr>
              <a:t>Benefit two</a:t>
            </a:r>
          </a:p>
          <a:p>
            <a:pPr marL="742932" lvl="1" indent="-285744">
              <a:buFont typeface="Arial" panose="020B0604020202020204" pitchFamily="34" charset="0"/>
              <a:buChar char="•"/>
            </a:pPr>
            <a:r>
              <a:rPr lang="en-US">
                <a:solidFill>
                  <a:schemeClr val="bg2"/>
                </a:solidFill>
                <a:latin typeface="Effra Pro" panose="020B0603020203020204" pitchFamily="34" charset="0"/>
              </a:rPr>
              <a:t>Benefit three </a:t>
            </a:r>
          </a:p>
          <a:p>
            <a:pPr lvl="0"/>
            <a:br>
              <a:rPr lang="en-US"/>
            </a:br>
            <a:r>
              <a:rPr lang="en-US"/>
              <a:t>	</a:t>
            </a:r>
          </a:p>
        </p:txBody>
      </p:sp>
    </p:spTree>
    <p:extLst>
      <p:ext uri="{BB962C8B-B14F-4D97-AF65-F5344CB8AC3E}">
        <p14:creationId xmlns:p14="http://schemas.microsoft.com/office/powerpoint/2010/main" val="15950821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46671-891F-05B5-E76C-0E97C7654478}"/>
              </a:ext>
            </a:extLst>
          </p:cNvPr>
          <p:cNvSpPr>
            <a:spLocks noGrp="1"/>
          </p:cNvSpPr>
          <p:nvPr>
            <p:ph type="title" hasCustomPrompt="1"/>
          </p:nvPr>
        </p:nvSpPr>
        <p:spPr>
          <a:xfrm>
            <a:off x="439946" y="381000"/>
            <a:ext cx="11294854" cy="496033"/>
          </a:xfrm>
        </p:spPr>
        <p:txBody>
          <a:bodyPr wrap="square">
            <a:noAutofit/>
          </a:bodyPr>
          <a:lstStyle>
            <a:lvl1pPr>
              <a:spcBef>
                <a:spcPts val="800"/>
              </a:spcBef>
              <a:defRPr sz="3200">
                <a:solidFill>
                  <a:schemeClr val="tx1"/>
                </a:solidFill>
              </a:defRPr>
            </a:lvl1pPr>
          </a:lstStyle>
          <a:p>
            <a:r>
              <a:rPr lang="en-US"/>
              <a:t>Main heading</a:t>
            </a:r>
          </a:p>
        </p:txBody>
      </p:sp>
      <p:sp>
        <p:nvSpPr>
          <p:cNvPr id="3" name="Content Placeholder 2">
            <a:extLst>
              <a:ext uri="{FF2B5EF4-FFF2-40B4-BE49-F238E27FC236}">
                <a16:creationId xmlns:a16="http://schemas.microsoft.com/office/drawing/2014/main" id="{6C62AF48-D0E9-35B2-E289-CB02A3E2F065}"/>
              </a:ext>
            </a:extLst>
          </p:cNvPr>
          <p:cNvSpPr>
            <a:spLocks noGrp="1"/>
          </p:cNvSpPr>
          <p:nvPr>
            <p:ph idx="1"/>
          </p:nvPr>
        </p:nvSpPr>
        <p:spPr>
          <a:xfrm>
            <a:off x="457200" y="1714500"/>
            <a:ext cx="11277600" cy="4114800"/>
          </a:xfrm>
          <a:prstGeom prst="rect">
            <a:avLst/>
          </a:prstGeom>
        </p:spPr>
        <p:txBody>
          <a:bodyPr/>
          <a:lstStyle>
            <a:lvl1pPr>
              <a:lnSpc>
                <a:spcPct val="120000"/>
              </a:lnSpc>
              <a:spcBef>
                <a:spcPts val="600"/>
              </a:spcBef>
              <a:defRPr sz="2000">
                <a:solidFill>
                  <a:srgbClr val="000000"/>
                </a:solidFill>
              </a:defRPr>
            </a:lvl1pPr>
            <a:lvl2pPr marL="685800" indent="-228600">
              <a:lnSpc>
                <a:spcPct val="120000"/>
              </a:lnSpc>
              <a:spcBef>
                <a:spcPts val="600"/>
              </a:spcBef>
              <a:buFont typeface="System Font Regular"/>
              <a:buChar char="⎼"/>
              <a:defRPr sz="1800">
                <a:solidFill>
                  <a:srgbClr val="000000"/>
                </a:solidFill>
              </a:defRPr>
            </a:lvl2pPr>
            <a:lvl3pPr>
              <a:lnSpc>
                <a:spcPct val="120000"/>
              </a:lnSpc>
              <a:spcBef>
                <a:spcPts val="600"/>
              </a:spcBef>
              <a:defRPr sz="1600">
                <a:solidFill>
                  <a:srgbClr val="000000"/>
                </a:solidFill>
              </a:defRPr>
            </a:lvl3pPr>
            <a:lvl4pPr marL="1600200" indent="-228600">
              <a:lnSpc>
                <a:spcPct val="120000"/>
              </a:lnSpc>
              <a:spcBef>
                <a:spcPts val="600"/>
              </a:spcBef>
              <a:buFont typeface="System Font Regular"/>
              <a:buChar char="⎼"/>
              <a:defRPr sz="1400">
                <a:solidFill>
                  <a:srgbClr val="000000"/>
                </a:solidFill>
              </a:defRPr>
            </a:lvl4pPr>
            <a:lvl5pPr>
              <a:lnSpc>
                <a:spcPct val="120000"/>
              </a:lnSpc>
              <a:spcBef>
                <a:spcPts val="600"/>
              </a:spcBef>
              <a:defRPr sz="1400">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9D31BAC0-BC8B-E413-6089-9DD81A14F6B4}"/>
              </a:ext>
            </a:extLst>
          </p:cNvPr>
          <p:cNvSpPr>
            <a:spLocks noGrp="1"/>
          </p:cNvSpPr>
          <p:nvPr>
            <p:ph type="body" sz="quarter" idx="12" hasCustomPrompt="1"/>
          </p:nvPr>
        </p:nvSpPr>
        <p:spPr>
          <a:xfrm>
            <a:off x="439946" y="953242"/>
            <a:ext cx="11294854" cy="496033"/>
          </a:xfrm>
          <a:prstGeom prst="rect">
            <a:avLst/>
          </a:prstGeom>
        </p:spPr>
        <p:txBody>
          <a:bodyPr wrap="square">
            <a:noAutofit/>
          </a:bodyPr>
          <a:lstStyle>
            <a:lvl1pPr marL="0" indent="0">
              <a:lnSpc>
                <a:spcPct val="110000"/>
              </a:lnSpc>
              <a:spcBef>
                <a:spcPts val="800"/>
              </a:spcBef>
              <a:spcAft>
                <a:spcPts val="0"/>
              </a:spcAft>
              <a:buNone/>
              <a:defRPr sz="2200" spc="0">
                <a:solidFill>
                  <a:schemeClr val="tx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subheading or intro line</a:t>
            </a:r>
          </a:p>
        </p:txBody>
      </p:sp>
    </p:spTree>
    <p:extLst>
      <p:ext uri="{BB962C8B-B14F-4D97-AF65-F5344CB8AC3E}">
        <p14:creationId xmlns:p14="http://schemas.microsoft.com/office/powerpoint/2010/main" val="1210862028"/>
      </p:ext>
    </p:extLst>
  </p:cSld>
  <p:clrMapOvr>
    <a:masterClrMapping/>
  </p:clrMapOvr>
  <p:extLst>
    <p:ext uri="{DCECCB84-F9BA-43D5-87BE-67443E8EF086}">
      <p15:sldGuideLst xmlns:p15="http://schemas.microsoft.com/office/powerpoint/2012/main">
        <p15:guide id="1" orient="horz" pos="1080">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609806" y="1488141"/>
            <a:ext cx="5038854" cy="4233390"/>
          </a:xfrm>
        </p:spPr>
        <p:txBody>
          <a:bodyPr lIns="0" anchor="t" anchorCtr="0"/>
          <a:lstStyle>
            <a:lvl1pPr algn="l">
              <a:defRPr sz="44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3" name="Picture 2" descr="A blue and grey square&#10;&#10;AI-generated content may be incorrect.">
            <a:extLst>
              <a:ext uri="{FF2B5EF4-FFF2-40B4-BE49-F238E27FC236}">
                <a16:creationId xmlns:a16="http://schemas.microsoft.com/office/drawing/2014/main" id="{CDBA8C77-70CA-13DB-6585-126480192E47}"/>
              </a:ext>
            </a:extLst>
          </p:cNvPr>
          <p:cNvPicPr>
            <a:picLocks noChangeAspect="1"/>
          </p:cNvPicPr>
          <p:nvPr userDrawn="1"/>
        </p:nvPicPr>
        <p:blipFill>
          <a:blip r:embed="rId2">
            <a:alphaModFix amt="70000"/>
          </a:blip>
          <a:stretch>
            <a:fillRect/>
          </a:stretch>
        </p:blipFill>
        <p:spPr>
          <a:xfrm>
            <a:off x="0" y="616857"/>
            <a:ext cx="6265333" cy="6241143"/>
          </a:xfrm>
          <a:prstGeom prst="rect">
            <a:avLst/>
          </a:prstGeom>
        </p:spPr>
      </p:pic>
    </p:spTree>
    <p:extLst>
      <p:ext uri="{BB962C8B-B14F-4D97-AF65-F5344CB8AC3E}">
        <p14:creationId xmlns:p14="http://schemas.microsoft.com/office/powerpoint/2010/main" val="9793136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78766" y="2485075"/>
            <a:ext cx="10834468" cy="943925"/>
          </a:xfrm>
        </p:spPr>
        <p:txBody>
          <a:bodyPr lIns="0" anchor="t" anchorCtr="0"/>
          <a:lstStyle>
            <a:lvl1pPr algn="ctr">
              <a:defRPr sz="50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Tree>
    <p:extLst>
      <p:ext uri="{BB962C8B-B14F-4D97-AF65-F5344CB8AC3E}">
        <p14:creationId xmlns:p14="http://schemas.microsoft.com/office/powerpoint/2010/main" val="12659396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COL TEXT A">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marL="0" indent="0">
              <a:buNone/>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8" name="Title 7">
            <a:extLst>
              <a:ext uri="{FF2B5EF4-FFF2-40B4-BE49-F238E27FC236}">
                <a16:creationId xmlns:a16="http://schemas.microsoft.com/office/drawing/2014/main" id="{55693EF2-8722-D131-EA6A-161C518F1622}"/>
              </a:ext>
            </a:extLst>
          </p:cNvPr>
          <p:cNvSpPr>
            <a:spLocks noGrp="1"/>
          </p:cNvSpPr>
          <p:nvPr>
            <p:ph type="title"/>
          </p:nvPr>
        </p:nvSpPr>
        <p:spPr>
          <a:xfrm>
            <a:off x="6665369" y="493776"/>
            <a:ext cx="4754880" cy="1219201"/>
          </a:xfrm>
        </p:spPr>
        <p:txBody>
          <a:bodyPr/>
          <a:lstStyle/>
          <a:p>
            <a:endParaRPr lang="en-US"/>
          </a:p>
        </p:txBody>
      </p:sp>
    </p:spTree>
    <p:extLst>
      <p:ext uri="{BB962C8B-B14F-4D97-AF65-F5344CB8AC3E}">
        <p14:creationId xmlns:p14="http://schemas.microsoft.com/office/powerpoint/2010/main" val="23554243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COL TEXT B">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5" name="Title 4">
            <a:extLst>
              <a:ext uri="{FF2B5EF4-FFF2-40B4-BE49-F238E27FC236}">
                <a16:creationId xmlns:a16="http://schemas.microsoft.com/office/drawing/2014/main" id="{2D529423-01B6-FD0F-9F4A-0764671527B0}"/>
              </a:ext>
            </a:extLst>
          </p:cNvPr>
          <p:cNvSpPr>
            <a:spLocks noGrp="1"/>
          </p:cNvSpPr>
          <p:nvPr>
            <p:ph type="title"/>
          </p:nvPr>
        </p:nvSpPr>
        <p:spPr>
          <a:xfrm>
            <a:off x="6665369" y="493776"/>
            <a:ext cx="4754880" cy="1219200"/>
          </a:xfrm>
        </p:spPr>
        <p:txBody>
          <a:bodyPr/>
          <a:lstStyle/>
          <a:p>
            <a:endParaRPr lang="en-US"/>
          </a:p>
        </p:txBody>
      </p:sp>
    </p:spTree>
    <p:extLst>
      <p:ext uri="{BB962C8B-B14F-4D97-AF65-F5344CB8AC3E}">
        <p14:creationId xmlns:p14="http://schemas.microsoft.com/office/powerpoint/2010/main" val="1208787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C28B780-3A50-0A40-CDE0-D8FE581DEB63}"/>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457200" y="493776"/>
            <a:ext cx="5029200" cy="2487168"/>
          </a:xfrm>
        </p:spPr>
        <p:txBody>
          <a:bodyPr/>
          <a:lstStyle>
            <a:lvl1pPr>
              <a:defRPr sz="3600">
                <a:solidFill>
                  <a:srgbClr val="000A62"/>
                </a:solidFill>
              </a:defRPr>
            </a:lvl1pPr>
          </a:lstStyle>
          <a:p>
            <a:endParaRPr lang="en-US"/>
          </a:p>
        </p:txBody>
      </p:sp>
    </p:spTree>
    <p:extLst>
      <p:ext uri="{BB962C8B-B14F-4D97-AF65-F5344CB8AC3E}">
        <p14:creationId xmlns:p14="http://schemas.microsoft.com/office/powerpoint/2010/main" val="40828350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2" name="Graphic 1">
            <a:extLst>
              <a:ext uri="{FF2B5EF4-FFF2-40B4-BE49-F238E27FC236}">
                <a16:creationId xmlns:a16="http://schemas.microsoft.com/office/drawing/2014/main" id="{8F53EAEA-39FB-5B87-7263-2C114FEFF040}"/>
              </a:ext>
            </a:extLst>
          </p:cNvPr>
          <p:cNvPicPr>
            <a:picLocks noChangeAspect="1"/>
          </p:cNvPicPr>
          <p:nvPr userDrawn="1"/>
        </p:nvPicPr>
        <p:blipFill>
          <a:blip r:embed="rId3"/>
          <a:srcRect/>
          <a:stretch/>
        </p:blipFill>
        <p:spPr>
          <a:xfrm>
            <a:off x="4856245" y="2183735"/>
            <a:ext cx="2479509" cy="2490530"/>
          </a:xfrm>
          <a:prstGeom prst="rect">
            <a:avLst/>
          </a:prstGeom>
          <a:effectLst/>
        </p:spPr>
      </p:pic>
    </p:spTree>
    <p:extLst>
      <p:ext uri="{BB962C8B-B14F-4D97-AF65-F5344CB8AC3E}">
        <p14:creationId xmlns:p14="http://schemas.microsoft.com/office/powerpoint/2010/main" val="13858424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blank" preserve="1">
  <p:cSld name="1_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4" name="Picture 3" descr="A blue and black logo&#10;&#10;AI-generated content may be incorrect.">
            <a:extLst>
              <a:ext uri="{FF2B5EF4-FFF2-40B4-BE49-F238E27FC236}">
                <a16:creationId xmlns:a16="http://schemas.microsoft.com/office/drawing/2014/main" id="{998306C0-7B5B-AB98-EC2E-C89EC1D1A8F9}"/>
              </a:ext>
            </a:extLst>
          </p:cNvPr>
          <p:cNvPicPr>
            <a:picLocks noChangeAspect="1"/>
          </p:cNvPicPr>
          <p:nvPr userDrawn="1"/>
        </p:nvPicPr>
        <p:blipFill>
          <a:blip r:embed="rId3"/>
          <a:stretch>
            <a:fillRect/>
          </a:stretch>
        </p:blipFill>
        <p:spPr>
          <a:xfrm>
            <a:off x="2919977" y="2624326"/>
            <a:ext cx="6352045" cy="1609347"/>
          </a:xfrm>
          <a:prstGeom prst="rect">
            <a:avLst/>
          </a:prstGeom>
        </p:spPr>
      </p:pic>
    </p:spTree>
    <p:extLst>
      <p:ext uri="{BB962C8B-B14F-4D97-AF65-F5344CB8AC3E}">
        <p14:creationId xmlns:p14="http://schemas.microsoft.com/office/powerpoint/2010/main" val="59776972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FD5C82-2B6A-9AA6-4865-DCCB468D4BC5}"/>
              </a:ext>
            </a:extLst>
          </p:cNvPr>
          <p:cNvSpPr>
            <a:spLocks noGrp="1"/>
          </p:cNvSpPr>
          <p:nvPr>
            <p:ph type="sldNum" sz="quarter" idx="10"/>
          </p:nvPr>
        </p:nvSpPr>
        <p:spPr/>
        <p:txBody>
          <a:bodyPr/>
          <a:lstStyle/>
          <a:p>
            <a:fld id="{A1371F83-EA4D-3B47-99B9-95D90583DC1D}" type="slidenum">
              <a:rPr lang="en-US" smtClean="0"/>
              <a:pPr/>
              <a:t>‹#›</a:t>
            </a:fld>
            <a:endParaRPr lang="en-US"/>
          </a:p>
        </p:txBody>
      </p:sp>
    </p:spTree>
    <p:extLst>
      <p:ext uri="{BB962C8B-B14F-4D97-AF65-F5344CB8AC3E}">
        <p14:creationId xmlns:p14="http://schemas.microsoft.com/office/powerpoint/2010/main" val="69278451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ustom Layout">
    <p:bg>
      <p:bgPr>
        <a:gradFill flip="none" rotWithShape="1">
          <a:gsLst>
            <a:gs pos="50000">
              <a:srgbClr val="80BAFF"/>
            </a:gs>
            <a:gs pos="20000">
              <a:srgbClr val="A9D4FF"/>
            </a:gs>
          </a:gsLst>
          <a:lin ang="540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BE21-AC1E-A39A-9EC5-25B22524EE8B}"/>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a:xfrm>
            <a:off x="11731748" y="6232230"/>
            <a:ext cx="288523" cy="365125"/>
          </a:xfrm>
          <a:prstGeom prst="rect">
            <a:avLst/>
          </a:prstGeom>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421041" y="1554480"/>
            <a:ext cx="11118687" cy="4247212"/>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857391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BE21-AC1E-A39A-9EC5-25B22524EE8B}"/>
              </a:ext>
            </a:extLst>
          </p:cNvPr>
          <p:cNvSpPr>
            <a:spLocks noGrp="1"/>
          </p:cNvSpPr>
          <p:nvPr>
            <p:ph type="title"/>
          </p:nvPr>
        </p:nvSpPr>
        <p:spPr>
          <a:xfrm>
            <a:off x="421041" y="493777"/>
            <a:ext cx="11310707" cy="544802"/>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a:xfrm>
            <a:off x="11731748" y="6232230"/>
            <a:ext cx="288523" cy="365125"/>
          </a:xfrm>
          <a:prstGeom prst="rect">
            <a:avLst/>
          </a:prstGeom>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421041" y="1862652"/>
            <a:ext cx="11310706" cy="4119486"/>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595E3170-2F17-5F40-7220-F26FEAC353E1}"/>
              </a:ext>
            </a:extLst>
          </p:cNvPr>
          <p:cNvSpPr>
            <a:spLocks noGrp="1"/>
          </p:cNvSpPr>
          <p:nvPr>
            <p:ph sz="quarter" idx="11"/>
          </p:nvPr>
        </p:nvSpPr>
        <p:spPr>
          <a:xfrm>
            <a:off x="421042" y="1178214"/>
            <a:ext cx="11310706" cy="544803"/>
          </a:xfrm>
        </p:spPr>
        <p:txBody>
          <a:bodyPr/>
          <a:lstStyle>
            <a:lvl1pPr marL="0" indent="0">
              <a:buFontTx/>
              <a:buNone/>
              <a:defRPr sz="2400" b="0">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25742660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BE21-AC1E-A39A-9EC5-25B22524EE8B}"/>
              </a:ext>
            </a:extLst>
          </p:cNvPr>
          <p:cNvSpPr>
            <a:spLocks noGrp="1"/>
          </p:cNvSpPr>
          <p:nvPr>
            <p:ph type="title"/>
          </p:nvPr>
        </p:nvSpPr>
        <p:spPr>
          <a:xfrm>
            <a:off x="421041" y="493777"/>
            <a:ext cx="11310707" cy="544802"/>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a:xfrm>
            <a:off x="11731748" y="6232230"/>
            <a:ext cx="288523" cy="365125"/>
          </a:xfrm>
          <a:prstGeom prst="rect">
            <a:avLst/>
          </a:prstGeom>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421041" y="1862652"/>
            <a:ext cx="6227185" cy="4119486"/>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595E3170-2F17-5F40-7220-F26FEAC353E1}"/>
              </a:ext>
            </a:extLst>
          </p:cNvPr>
          <p:cNvSpPr>
            <a:spLocks noGrp="1"/>
          </p:cNvSpPr>
          <p:nvPr>
            <p:ph sz="quarter" idx="11"/>
          </p:nvPr>
        </p:nvSpPr>
        <p:spPr>
          <a:xfrm>
            <a:off x="421042" y="1178214"/>
            <a:ext cx="11310706" cy="544803"/>
          </a:xfrm>
        </p:spPr>
        <p:txBody>
          <a:bodyPr/>
          <a:lstStyle>
            <a:lvl1pPr marL="0" indent="0">
              <a:buFontTx/>
              <a:buNone/>
              <a:defRPr sz="2400" b="0">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5" name="Picture Placeholder 6">
            <a:extLst>
              <a:ext uri="{FF2B5EF4-FFF2-40B4-BE49-F238E27FC236}">
                <a16:creationId xmlns:a16="http://schemas.microsoft.com/office/drawing/2014/main" id="{F3E6C896-7B66-FFF3-FB62-5A0427DB2BE3}"/>
              </a:ext>
            </a:extLst>
          </p:cNvPr>
          <p:cNvSpPr>
            <a:spLocks noGrp="1"/>
          </p:cNvSpPr>
          <p:nvPr>
            <p:ph type="pic" sz="quarter" idx="28"/>
          </p:nvPr>
        </p:nvSpPr>
        <p:spPr>
          <a:xfrm>
            <a:off x="7013986" y="1862651"/>
            <a:ext cx="4717762" cy="4119485"/>
          </a:xfrm>
          <a:solidFill>
            <a:srgbClr val="A5EFBF">
              <a:alpha val="49821"/>
            </a:srgbClr>
          </a:solidFill>
        </p:spPr>
        <p:txBody>
          <a:bodyPr anchor="ctr"/>
          <a:lstStyle>
            <a:lvl1pPr algn="ctr">
              <a:buNone/>
              <a:defRPr sz="2000" b="0" i="0">
                <a:solidFill>
                  <a:schemeClr val="bg1"/>
                </a:solidFill>
                <a:latin typeface="Effra" panose="020B0606080202020204" pitchFamily="34" charset="77"/>
              </a:defRPr>
            </a:lvl1pPr>
          </a:lstStyle>
          <a:p>
            <a:endParaRPr lang="en-US"/>
          </a:p>
        </p:txBody>
      </p:sp>
    </p:spTree>
    <p:extLst>
      <p:ext uri="{BB962C8B-B14F-4D97-AF65-F5344CB8AC3E}">
        <p14:creationId xmlns:p14="http://schemas.microsoft.com/office/powerpoint/2010/main" val="37512108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2_Custom Layou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BE21-AC1E-A39A-9EC5-25B22524EE8B}"/>
              </a:ext>
            </a:extLst>
          </p:cNvPr>
          <p:cNvSpPr>
            <a:spLocks noGrp="1"/>
          </p:cNvSpPr>
          <p:nvPr>
            <p:ph type="title"/>
          </p:nvPr>
        </p:nvSpPr>
        <p:spPr>
          <a:xfrm>
            <a:off x="421041" y="493777"/>
            <a:ext cx="11349918" cy="544802"/>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a:xfrm>
            <a:off x="11731748" y="6232230"/>
            <a:ext cx="288523" cy="365125"/>
          </a:xfrm>
          <a:prstGeom prst="rect">
            <a:avLst/>
          </a:prstGeom>
        </p:spPr>
        <p:txBody>
          <a:bodyPr anchor="ctr" anchorCtr="0"/>
          <a:lstStyle/>
          <a:p>
            <a:fld id="{A1371F83-EA4D-3B47-99B9-95D90583DC1D}" type="slidenum">
              <a:rPr lang="en-US" smtClean="0"/>
              <a:pPr/>
              <a:t>‹#›</a:t>
            </a:fld>
            <a:endParaRPr lang="en-US"/>
          </a:p>
        </p:txBody>
      </p:sp>
    </p:spTree>
    <p:extLst>
      <p:ext uri="{BB962C8B-B14F-4D97-AF65-F5344CB8AC3E}">
        <p14:creationId xmlns:p14="http://schemas.microsoft.com/office/powerpoint/2010/main" val="29740380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620C4-4478-382D-05FF-85794C8C0CCC}"/>
              </a:ext>
            </a:extLst>
          </p:cNvPr>
          <p:cNvSpPr>
            <a:spLocks noGrp="1"/>
          </p:cNvSpPr>
          <p:nvPr>
            <p:ph type="title"/>
          </p:nvPr>
        </p:nvSpPr>
        <p:spPr>
          <a:xfrm>
            <a:off x="421041" y="2112264"/>
            <a:ext cx="11310707" cy="1316736"/>
          </a:xfrm>
        </p:spPr>
        <p:txBody>
          <a:bodyPr lIns="0" anchor="t" anchorCtr="0"/>
          <a:lstStyle>
            <a:lvl1pPr>
              <a:defRPr sz="3600"/>
            </a:lvl1pPr>
          </a:lstStyle>
          <a:p>
            <a:endParaRPr lang="en-US"/>
          </a:p>
        </p:txBody>
      </p:sp>
      <p:sp>
        <p:nvSpPr>
          <p:cNvPr id="7" name="Slide Number Placeholder 6">
            <a:extLst>
              <a:ext uri="{FF2B5EF4-FFF2-40B4-BE49-F238E27FC236}">
                <a16:creationId xmlns:a16="http://schemas.microsoft.com/office/drawing/2014/main" id="{C78F216D-F511-3806-58E4-70B64425F9AC}"/>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5" name="Picture Placeholder 4">
            <a:extLst>
              <a:ext uri="{FF2B5EF4-FFF2-40B4-BE49-F238E27FC236}">
                <a16:creationId xmlns:a16="http://schemas.microsoft.com/office/drawing/2014/main" id="{122546D2-6DCC-4B92-4F74-EEFCF41484C3}"/>
              </a:ext>
            </a:extLst>
          </p:cNvPr>
          <p:cNvSpPr>
            <a:spLocks noGrp="1"/>
          </p:cNvSpPr>
          <p:nvPr>
            <p:ph type="pic" sz="quarter" idx="11"/>
          </p:nvPr>
        </p:nvSpPr>
        <p:spPr>
          <a:xfrm>
            <a:off x="0" y="3429001"/>
            <a:ext cx="12192000" cy="3429000"/>
          </a:xfrm>
          <a:solidFill>
            <a:srgbClr val="A5EFBF">
              <a:alpha val="50104"/>
            </a:srgbClr>
          </a:solidFill>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3" name="Rectangle 2">
            <a:extLst>
              <a:ext uri="{FF2B5EF4-FFF2-40B4-BE49-F238E27FC236}">
                <a16:creationId xmlns:a16="http://schemas.microsoft.com/office/drawing/2014/main" id="{5F0A83BD-EA1F-5017-6CEE-A40FC06D4ED6}"/>
              </a:ext>
            </a:extLst>
          </p:cNvPr>
          <p:cNvSpPr/>
          <p:nvPr userDrawn="1"/>
        </p:nvSpPr>
        <p:spPr>
          <a:xfrm>
            <a:off x="0" y="260645"/>
            <a:ext cx="12192000" cy="590019"/>
          </a:xfrm>
          <a:prstGeom prst="rect">
            <a:avLst/>
          </a:prstGeom>
          <a:solidFill>
            <a:schemeClr val="bg1">
              <a:alpha val="5979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874045E6-C8A5-8E48-4B01-744857D6A01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21041" y="372774"/>
            <a:ext cx="365760" cy="365760"/>
          </a:xfrm>
          <a:prstGeom prst="rect">
            <a:avLst/>
          </a:prstGeom>
          <a:effectLst/>
        </p:spPr>
      </p:pic>
      <p:sp>
        <p:nvSpPr>
          <p:cNvPr id="6" name="Slide Number Placeholder 5">
            <a:extLst>
              <a:ext uri="{FF2B5EF4-FFF2-40B4-BE49-F238E27FC236}">
                <a16:creationId xmlns:a16="http://schemas.microsoft.com/office/drawing/2014/main" id="{BE2371F3-74FC-356C-C3B5-554AFEE46143}"/>
              </a:ext>
            </a:extLst>
          </p:cNvPr>
          <p:cNvSpPr txBox="1">
            <a:spLocks/>
          </p:cNvSpPr>
          <p:nvPr userDrawn="1"/>
        </p:nvSpPr>
        <p:spPr>
          <a:xfrm>
            <a:off x="11590192" y="6232230"/>
            <a:ext cx="430079" cy="365125"/>
          </a:xfrm>
          <a:prstGeom prst="rect">
            <a:avLst/>
          </a:prstGeom>
        </p:spPr>
        <p:txBody>
          <a:bodyPr vert="horz" lIns="0" tIns="0" rIns="0" bIns="0" rtlCol="0" anchor="ctr" anchorCtr="0">
            <a:noAutofit/>
          </a:bodyPr>
          <a:lstStyle>
            <a:defPPr>
              <a:defRPr lang="en-US"/>
            </a:defPPr>
            <a:lvl1pPr marL="0" algn="r" defTabSz="914400" rtl="0" eaLnBrk="1" latinLnBrk="0" hangingPunct="1">
              <a:defRPr sz="800" kern="1200">
                <a:solidFill>
                  <a:srgbClr val="000A62"/>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1371F83-EA4D-3B47-99B9-95D90583DC1D}" type="slidenum">
              <a:rPr lang="en-US" smtClean="0"/>
              <a:pPr/>
              <a:t>‹#›</a:t>
            </a:fld>
            <a:endParaRPr lang="en-US"/>
          </a:p>
        </p:txBody>
      </p:sp>
      <p:pic>
        <p:nvPicPr>
          <p:cNvPr id="8" name="Picture 7" descr="A blue and black logo&#10;&#10;AI-generated content may be incorrect.">
            <a:extLst>
              <a:ext uri="{FF2B5EF4-FFF2-40B4-BE49-F238E27FC236}">
                <a16:creationId xmlns:a16="http://schemas.microsoft.com/office/drawing/2014/main" id="{80845217-587B-A060-7CB9-E345665DF5E4}"/>
              </a:ext>
            </a:extLst>
          </p:cNvPr>
          <p:cNvPicPr>
            <a:picLocks noChangeAspect="1"/>
          </p:cNvPicPr>
          <p:nvPr userDrawn="1"/>
        </p:nvPicPr>
        <p:blipFill>
          <a:blip r:embed="rId3"/>
          <a:stretch>
            <a:fillRect/>
          </a:stretch>
        </p:blipFill>
        <p:spPr>
          <a:xfrm>
            <a:off x="10649018" y="418494"/>
            <a:ext cx="1082730" cy="274320"/>
          </a:xfrm>
          <a:prstGeom prst="rect">
            <a:avLst/>
          </a:prstGeom>
        </p:spPr>
      </p:pic>
    </p:spTree>
    <p:extLst>
      <p:ext uri="{BB962C8B-B14F-4D97-AF65-F5344CB8AC3E}">
        <p14:creationId xmlns:p14="http://schemas.microsoft.com/office/powerpoint/2010/main" val="38562785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LE B">
    <p:spTree>
      <p:nvGrpSpPr>
        <p:cNvPr id="1" name=""/>
        <p:cNvGrpSpPr/>
        <p:nvPr/>
      </p:nvGrpSpPr>
      <p:grpSpPr>
        <a:xfrm>
          <a:off x="0" y="0"/>
          <a:ext cx="0" cy="0"/>
          <a:chOff x="0" y="0"/>
          <a:chExt cx="0" cy="0"/>
        </a:xfrm>
      </p:grpSpPr>
      <p:pic>
        <p:nvPicPr>
          <p:cNvPr id="4" name="Picture 3" descr="A blue and grey square&#10;&#10;AI-generated content may be incorrect.">
            <a:extLst>
              <a:ext uri="{FF2B5EF4-FFF2-40B4-BE49-F238E27FC236}">
                <a16:creationId xmlns:a16="http://schemas.microsoft.com/office/drawing/2014/main" id="{A45A496B-8688-1C88-8157-65704DD5C56E}"/>
              </a:ext>
            </a:extLst>
          </p:cNvPr>
          <p:cNvPicPr>
            <a:picLocks noChangeAspect="1"/>
          </p:cNvPicPr>
          <p:nvPr userDrawn="1"/>
        </p:nvPicPr>
        <p:blipFill>
          <a:blip r:embed="rId2">
            <a:alphaModFix amt="20000"/>
          </a:blip>
          <a:stretch>
            <a:fillRect/>
          </a:stretch>
        </p:blipFill>
        <p:spPr>
          <a:xfrm>
            <a:off x="0" y="616856"/>
            <a:ext cx="6265333" cy="6241143"/>
          </a:xfrm>
          <a:prstGeom prst="rect">
            <a:avLst/>
          </a:prstGeom>
        </p:spPr>
      </p:pic>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421041" y="2226833"/>
            <a:ext cx="5231052" cy="3494697"/>
          </a:xfrm>
        </p:spPr>
        <p:txBody>
          <a:bodyPr lIns="0" anchor="t" anchorCtr="0"/>
          <a:lstStyle>
            <a:lvl1pPr algn="l">
              <a:defRPr sz="3600"/>
            </a:lvl1pPr>
          </a:lstStyle>
          <a:p>
            <a:endParaRPr lang="en-US"/>
          </a:p>
        </p:txBody>
      </p:sp>
      <p:sp>
        <p:nvSpPr>
          <p:cNvPr id="3" name="Rectangle 2">
            <a:extLst>
              <a:ext uri="{FF2B5EF4-FFF2-40B4-BE49-F238E27FC236}">
                <a16:creationId xmlns:a16="http://schemas.microsoft.com/office/drawing/2014/main" id="{EA7CC410-7E59-D0D1-24AA-F2A7D7F90721}"/>
              </a:ext>
            </a:extLst>
          </p:cNvPr>
          <p:cNvSpPr/>
          <p:nvPr userDrawn="1"/>
        </p:nvSpPr>
        <p:spPr>
          <a:xfrm>
            <a:off x="0" y="6119783"/>
            <a:ext cx="12192000" cy="590019"/>
          </a:xfrm>
          <a:prstGeom prst="rect">
            <a:avLst/>
          </a:prstGeom>
          <a:solidFill>
            <a:schemeClr val="bg1">
              <a:alpha val="5979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46F51BD7-01B2-6816-2200-76CA08A3A35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21041" y="6231595"/>
            <a:ext cx="365760" cy="365760"/>
          </a:xfrm>
          <a:prstGeom prst="rect">
            <a:avLst/>
          </a:prstGeom>
          <a:effectLst/>
        </p:spPr>
      </p:pic>
      <p:sp>
        <p:nvSpPr>
          <p:cNvPr id="6" name="Slide Number Placeholder 5">
            <a:extLst>
              <a:ext uri="{FF2B5EF4-FFF2-40B4-BE49-F238E27FC236}">
                <a16:creationId xmlns:a16="http://schemas.microsoft.com/office/drawing/2014/main" id="{BB0C9B92-1175-00F8-933D-C77BF2556C5D}"/>
              </a:ext>
            </a:extLst>
          </p:cNvPr>
          <p:cNvSpPr>
            <a:spLocks noGrp="1"/>
          </p:cNvSpPr>
          <p:nvPr>
            <p:ph type="sldNum" sz="quarter" idx="4"/>
          </p:nvPr>
        </p:nvSpPr>
        <p:spPr>
          <a:xfrm>
            <a:off x="11731748" y="6232230"/>
            <a:ext cx="288523" cy="365125"/>
          </a:xfrm>
          <a:prstGeom prst="rect">
            <a:avLst/>
          </a:prstGeom>
        </p:spPr>
        <p:txBody>
          <a:bodyPr vert="horz" lIns="0" tIns="0" rIns="0" bIns="0" rtlCol="0" anchor="ctr" anchorCtr="0">
            <a:noAutofit/>
          </a:bodyPr>
          <a:lstStyle>
            <a:lvl1pPr algn="r">
              <a:defRPr sz="800">
                <a:solidFill>
                  <a:srgbClr val="000A62"/>
                </a:solidFill>
                <a:latin typeface="Arial" panose="020B0604020202020204" pitchFamily="34" charset="0"/>
                <a:cs typeface="Arial" panose="020B0604020202020204" pitchFamily="34" charset="0"/>
              </a:defRPr>
            </a:lvl1pPr>
          </a:lstStyle>
          <a:p>
            <a:fld id="{A1371F83-EA4D-3B47-99B9-95D90583DC1D}" type="slidenum">
              <a:rPr lang="en-US" smtClean="0"/>
              <a:pPr/>
              <a:t>‹#›</a:t>
            </a:fld>
            <a:endParaRPr lang="en-US" sz="800"/>
          </a:p>
        </p:txBody>
      </p:sp>
      <p:pic>
        <p:nvPicPr>
          <p:cNvPr id="8" name="Picture 7" descr="A blue and black logo&#10;&#10;AI-generated content may be incorrect.">
            <a:extLst>
              <a:ext uri="{FF2B5EF4-FFF2-40B4-BE49-F238E27FC236}">
                <a16:creationId xmlns:a16="http://schemas.microsoft.com/office/drawing/2014/main" id="{3EAEFD7F-7EBC-AE96-0954-ED1288FEF9BA}"/>
              </a:ext>
            </a:extLst>
          </p:cNvPr>
          <p:cNvPicPr>
            <a:picLocks noChangeAspect="1"/>
          </p:cNvPicPr>
          <p:nvPr userDrawn="1"/>
        </p:nvPicPr>
        <p:blipFill>
          <a:blip r:embed="rId4"/>
          <a:stretch>
            <a:fillRect/>
          </a:stretch>
        </p:blipFill>
        <p:spPr>
          <a:xfrm>
            <a:off x="10649018" y="6277632"/>
            <a:ext cx="1082730" cy="274320"/>
          </a:xfrm>
          <a:prstGeom prst="rect">
            <a:avLst/>
          </a:prstGeom>
        </p:spPr>
      </p:pic>
    </p:spTree>
    <p:extLst>
      <p:ext uri="{BB962C8B-B14F-4D97-AF65-F5344CB8AC3E}">
        <p14:creationId xmlns:p14="http://schemas.microsoft.com/office/powerpoint/2010/main" val="12214116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402110" y="2485075"/>
            <a:ext cx="11329638" cy="943925"/>
          </a:xfrm>
        </p:spPr>
        <p:txBody>
          <a:bodyPr lIns="0" anchor="t" anchorCtr="0"/>
          <a:lstStyle>
            <a:lvl1pPr algn="ctr">
              <a:defRPr sz="50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Tree>
    <p:extLst>
      <p:ext uri="{BB962C8B-B14F-4D97-AF65-F5344CB8AC3E}">
        <p14:creationId xmlns:p14="http://schemas.microsoft.com/office/powerpoint/2010/main" val="31152832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IS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p:nvPr>
        </p:nvSpPr>
        <p:spPr>
          <a:xfrm>
            <a:off x="805574"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p:nvPr>
        </p:nvSpPr>
        <p:spPr>
          <a:xfrm>
            <a:off x="3592749"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9" name="Text Placeholder 13">
            <a:extLst>
              <a:ext uri="{FF2B5EF4-FFF2-40B4-BE49-F238E27FC236}">
                <a16:creationId xmlns:a16="http://schemas.microsoft.com/office/drawing/2014/main" id="{3A5DBFD9-96F8-94D0-529B-2B5E24342EA7}"/>
              </a:ext>
            </a:extLst>
          </p:cNvPr>
          <p:cNvSpPr>
            <a:spLocks noGrp="1"/>
          </p:cNvSpPr>
          <p:nvPr>
            <p:ph type="body" sz="quarter" idx="20"/>
          </p:nvPr>
        </p:nvSpPr>
        <p:spPr>
          <a:xfrm>
            <a:off x="6379925"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21" name="Text Placeholder 13">
            <a:extLst>
              <a:ext uri="{FF2B5EF4-FFF2-40B4-BE49-F238E27FC236}">
                <a16:creationId xmlns:a16="http://schemas.microsoft.com/office/drawing/2014/main" id="{A71A8F6A-A550-86DB-BEF7-D9A808A01C43}"/>
              </a:ext>
            </a:extLst>
          </p:cNvPr>
          <p:cNvSpPr>
            <a:spLocks noGrp="1"/>
          </p:cNvSpPr>
          <p:nvPr>
            <p:ph type="body" sz="quarter" idx="22"/>
          </p:nvPr>
        </p:nvSpPr>
        <p:spPr>
          <a:xfrm>
            <a:off x="9166867"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8" name="Text Placeholder 13">
            <a:extLst>
              <a:ext uri="{FF2B5EF4-FFF2-40B4-BE49-F238E27FC236}">
                <a16:creationId xmlns:a16="http://schemas.microsoft.com/office/drawing/2014/main" id="{6D94F9F4-274D-B690-9371-0E5B46109201}"/>
              </a:ext>
            </a:extLst>
          </p:cNvPr>
          <p:cNvSpPr>
            <a:spLocks noGrp="1"/>
          </p:cNvSpPr>
          <p:nvPr>
            <p:ph type="body" sz="quarter" idx="23"/>
          </p:nvPr>
        </p:nvSpPr>
        <p:spPr>
          <a:xfrm>
            <a:off x="805574"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9" name="Text Placeholder 13">
            <a:extLst>
              <a:ext uri="{FF2B5EF4-FFF2-40B4-BE49-F238E27FC236}">
                <a16:creationId xmlns:a16="http://schemas.microsoft.com/office/drawing/2014/main" id="{E6E582D6-6481-778E-C4B6-82C6FC97D280}"/>
              </a:ext>
            </a:extLst>
          </p:cNvPr>
          <p:cNvSpPr>
            <a:spLocks noGrp="1"/>
          </p:cNvSpPr>
          <p:nvPr>
            <p:ph type="body" sz="quarter" idx="24"/>
          </p:nvPr>
        </p:nvSpPr>
        <p:spPr>
          <a:xfrm>
            <a:off x="3592749"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0" name="Text Placeholder 13">
            <a:extLst>
              <a:ext uri="{FF2B5EF4-FFF2-40B4-BE49-F238E27FC236}">
                <a16:creationId xmlns:a16="http://schemas.microsoft.com/office/drawing/2014/main" id="{94058031-53F3-4D10-D0AF-0FE4EB33A3E6}"/>
              </a:ext>
            </a:extLst>
          </p:cNvPr>
          <p:cNvSpPr>
            <a:spLocks noGrp="1"/>
          </p:cNvSpPr>
          <p:nvPr>
            <p:ph type="body" sz="quarter" idx="25"/>
          </p:nvPr>
        </p:nvSpPr>
        <p:spPr>
          <a:xfrm>
            <a:off x="6379925" y="2889936"/>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1" name="Text Placeholder 13">
            <a:extLst>
              <a:ext uri="{FF2B5EF4-FFF2-40B4-BE49-F238E27FC236}">
                <a16:creationId xmlns:a16="http://schemas.microsoft.com/office/drawing/2014/main" id="{99BE3125-69F9-1FA8-98C5-37BFCFE5524E}"/>
              </a:ext>
            </a:extLst>
          </p:cNvPr>
          <p:cNvSpPr>
            <a:spLocks noGrp="1"/>
          </p:cNvSpPr>
          <p:nvPr>
            <p:ph type="body" sz="quarter" idx="26"/>
          </p:nvPr>
        </p:nvSpPr>
        <p:spPr>
          <a:xfrm>
            <a:off x="9166867"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4" name="Title 3">
            <a:extLst>
              <a:ext uri="{FF2B5EF4-FFF2-40B4-BE49-F238E27FC236}">
                <a16:creationId xmlns:a16="http://schemas.microsoft.com/office/drawing/2014/main" id="{860EC2BC-0ECF-2B5F-26DD-296C059C2687}"/>
              </a:ext>
            </a:extLst>
          </p:cNvPr>
          <p:cNvSpPr>
            <a:spLocks noGrp="1"/>
          </p:cNvSpPr>
          <p:nvPr>
            <p:ph type="title"/>
          </p:nvPr>
        </p:nvSpPr>
        <p:spPr>
          <a:xfrm>
            <a:off x="402110" y="493776"/>
            <a:ext cx="11329638" cy="804672"/>
          </a:xfrm>
        </p:spPr>
        <p:txBody>
          <a:bodyPr/>
          <a:lstStyle/>
          <a:p>
            <a:endParaRPr lang="en-US"/>
          </a:p>
        </p:txBody>
      </p:sp>
    </p:spTree>
    <p:extLst>
      <p:ext uri="{BB962C8B-B14F-4D97-AF65-F5344CB8AC3E}">
        <p14:creationId xmlns:p14="http://schemas.microsoft.com/office/powerpoint/2010/main" val="28187995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COL TEXT A">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marL="0" indent="0">
              <a:buNone/>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8" name="Title 7">
            <a:extLst>
              <a:ext uri="{FF2B5EF4-FFF2-40B4-BE49-F238E27FC236}">
                <a16:creationId xmlns:a16="http://schemas.microsoft.com/office/drawing/2014/main" id="{55693EF2-8722-D131-EA6A-161C518F1622}"/>
              </a:ext>
            </a:extLst>
          </p:cNvPr>
          <p:cNvSpPr>
            <a:spLocks noGrp="1"/>
          </p:cNvSpPr>
          <p:nvPr>
            <p:ph type="title"/>
          </p:nvPr>
        </p:nvSpPr>
        <p:spPr>
          <a:xfrm>
            <a:off x="6665369" y="493776"/>
            <a:ext cx="4754880" cy="1219201"/>
          </a:xfrm>
        </p:spPr>
        <p:txBody>
          <a:bodyPr/>
          <a:lstStyle/>
          <a:p>
            <a:endParaRPr lang="en-US"/>
          </a:p>
        </p:txBody>
      </p:sp>
    </p:spTree>
    <p:extLst>
      <p:ext uri="{BB962C8B-B14F-4D97-AF65-F5344CB8AC3E}">
        <p14:creationId xmlns:p14="http://schemas.microsoft.com/office/powerpoint/2010/main" val="15116305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COL TEXT B">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5" name="Title 4">
            <a:extLst>
              <a:ext uri="{FF2B5EF4-FFF2-40B4-BE49-F238E27FC236}">
                <a16:creationId xmlns:a16="http://schemas.microsoft.com/office/drawing/2014/main" id="{2D529423-01B6-FD0F-9F4A-0764671527B0}"/>
              </a:ext>
            </a:extLst>
          </p:cNvPr>
          <p:cNvSpPr>
            <a:spLocks noGrp="1"/>
          </p:cNvSpPr>
          <p:nvPr>
            <p:ph type="title"/>
          </p:nvPr>
        </p:nvSpPr>
        <p:spPr>
          <a:xfrm>
            <a:off x="6665369" y="493776"/>
            <a:ext cx="4754880" cy="1219200"/>
          </a:xfrm>
        </p:spPr>
        <p:txBody>
          <a:bodyPr/>
          <a:lstStyle/>
          <a:p>
            <a:endParaRPr lang="en-US"/>
          </a:p>
        </p:txBody>
      </p:sp>
    </p:spTree>
    <p:extLst>
      <p:ext uri="{BB962C8B-B14F-4D97-AF65-F5344CB8AC3E}">
        <p14:creationId xmlns:p14="http://schemas.microsoft.com/office/powerpoint/2010/main" val="207838699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COL TEXT">
    <p:bg>
      <p:bgPr>
        <a:gradFill flip="none" rotWithShape="1">
          <a:gsLst>
            <a:gs pos="83000">
              <a:srgbClr val="8FC3FF"/>
            </a:gs>
            <a:gs pos="100000">
              <a:srgbClr val="80BAFF"/>
            </a:gs>
            <a:gs pos="26000">
              <a:srgbClr val="A9D4FF"/>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402110" y="1341484"/>
            <a:ext cx="1132963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946683" y="1651477"/>
            <a:ext cx="4892040" cy="365760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352672" y="1651477"/>
            <a:ext cx="4892644" cy="365760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cxnSp>
        <p:nvCxnSpPr>
          <p:cNvPr id="3" name="Straight Connector 2">
            <a:extLst>
              <a:ext uri="{FF2B5EF4-FFF2-40B4-BE49-F238E27FC236}">
                <a16:creationId xmlns:a16="http://schemas.microsoft.com/office/drawing/2014/main" id="{27CD526F-4567-7702-B3D6-894A2BD0D911}"/>
              </a:ext>
            </a:extLst>
          </p:cNvPr>
          <p:cNvCxnSpPr>
            <a:cxnSpLocks/>
          </p:cNvCxnSpPr>
          <p:nvPr userDrawn="1"/>
        </p:nvCxnSpPr>
        <p:spPr>
          <a:xfrm>
            <a:off x="6096000" y="1651477"/>
            <a:ext cx="0" cy="3657600"/>
          </a:xfrm>
          <a:prstGeom prst="line">
            <a:avLst/>
          </a:prstGeom>
          <a:ln>
            <a:solidFill>
              <a:schemeClr val="bg1">
                <a:alpha val="75403"/>
              </a:schemeClr>
            </a:solidFill>
          </a:ln>
        </p:spPr>
        <p:style>
          <a:lnRef idx="2">
            <a:schemeClr val="accent1"/>
          </a:lnRef>
          <a:fillRef idx="0">
            <a:schemeClr val="accent1"/>
          </a:fillRef>
          <a:effectRef idx="1">
            <a:schemeClr val="accent1"/>
          </a:effectRef>
          <a:fontRef idx="minor">
            <a:schemeClr val="tx1"/>
          </a:fontRef>
        </p:style>
      </p:cxnSp>
      <p:sp>
        <p:nvSpPr>
          <p:cNvPr id="5" name="Title 4">
            <a:extLst>
              <a:ext uri="{FF2B5EF4-FFF2-40B4-BE49-F238E27FC236}">
                <a16:creationId xmlns:a16="http://schemas.microsoft.com/office/drawing/2014/main" id="{B132B79D-72D9-6412-E927-80F98D2ADD81}"/>
              </a:ext>
            </a:extLst>
          </p:cNvPr>
          <p:cNvSpPr>
            <a:spLocks noGrp="1"/>
          </p:cNvSpPr>
          <p:nvPr>
            <p:ph type="title"/>
          </p:nvPr>
        </p:nvSpPr>
        <p:spPr>
          <a:xfrm>
            <a:off x="402110" y="492029"/>
            <a:ext cx="11329638" cy="804672"/>
          </a:xfrm>
        </p:spPr>
        <p:txBody>
          <a:bodyPr/>
          <a:lstStyle/>
          <a:p>
            <a:endParaRPr lang="en-US"/>
          </a:p>
        </p:txBody>
      </p:sp>
    </p:spTree>
    <p:extLst>
      <p:ext uri="{BB962C8B-B14F-4D97-AF65-F5344CB8AC3E}">
        <p14:creationId xmlns:p14="http://schemas.microsoft.com/office/powerpoint/2010/main" val="405843970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COL TEX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4312920" y="1346081"/>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8165588" y="1346081"/>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402110" y="1342420"/>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584990"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4495800"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8348468"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 name="Title 1">
            <a:extLst>
              <a:ext uri="{FF2B5EF4-FFF2-40B4-BE49-F238E27FC236}">
                <a16:creationId xmlns:a16="http://schemas.microsoft.com/office/drawing/2014/main" id="{3B21EAA1-25DB-EC70-28BC-970F59ABF417}"/>
              </a:ext>
            </a:extLst>
          </p:cNvPr>
          <p:cNvSpPr>
            <a:spLocks noGrp="1"/>
          </p:cNvSpPr>
          <p:nvPr>
            <p:ph type="title"/>
          </p:nvPr>
        </p:nvSpPr>
        <p:spPr>
          <a:xfrm>
            <a:off x="402110" y="492029"/>
            <a:ext cx="11329638" cy="804672"/>
          </a:xfrm>
        </p:spPr>
        <p:txBody>
          <a:bodyPr/>
          <a:lstStyle/>
          <a:p>
            <a:endParaRPr lang="en-US"/>
          </a:p>
        </p:txBody>
      </p:sp>
    </p:spTree>
    <p:extLst>
      <p:ext uri="{BB962C8B-B14F-4D97-AF65-F5344CB8AC3E}">
        <p14:creationId xmlns:p14="http://schemas.microsoft.com/office/powerpoint/2010/main" val="221166820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COL TEX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3264819"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6140400"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30EBCB-CFCE-201F-955D-E252D246E802}"/>
              </a:ext>
            </a:extLst>
          </p:cNvPr>
          <p:cNvSpPr/>
          <p:nvPr userDrawn="1"/>
        </p:nvSpPr>
        <p:spPr>
          <a:xfrm>
            <a:off x="9015980"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389238"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512111"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3391060"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270011"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1" name="Text Placeholder 13">
            <a:extLst>
              <a:ext uri="{FF2B5EF4-FFF2-40B4-BE49-F238E27FC236}">
                <a16:creationId xmlns:a16="http://schemas.microsoft.com/office/drawing/2014/main" id="{C2DFA204-BAD7-7D75-D24E-452D9A532AD5}"/>
              </a:ext>
            </a:extLst>
          </p:cNvPr>
          <p:cNvSpPr>
            <a:spLocks noGrp="1"/>
          </p:cNvSpPr>
          <p:nvPr>
            <p:ph type="body" sz="quarter" idx="18"/>
          </p:nvPr>
        </p:nvSpPr>
        <p:spPr>
          <a:xfrm>
            <a:off x="9138853"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2" name="Text Placeholder 15">
            <a:extLst>
              <a:ext uri="{FF2B5EF4-FFF2-40B4-BE49-F238E27FC236}">
                <a16:creationId xmlns:a16="http://schemas.microsoft.com/office/drawing/2014/main" id="{7ADFF41F-5C73-70FE-F753-E671F31D67A0}"/>
              </a:ext>
            </a:extLst>
          </p:cNvPr>
          <p:cNvSpPr>
            <a:spLocks noGrp="1"/>
          </p:cNvSpPr>
          <p:nvPr>
            <p:ph type="body" sz="quarter" idx="11"/>
          </p:nvPr>
        </p:nvSpPr>
        <p:spPr>
          <a:xfrm>
            <a:off x="3391060"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
        <p:nvSpPr>
          <p:cNvPr id="13" name="Text Placeholder 15">
            <a:extLst>
              <a:ext uri="{FF2B5EF4-FFF2-40B4-BE49-F238E27FC236}">
                <a16:creationId xmlns:a16="http://schemas.microsoft.com/office/drawing/2014/main" id="{3BDE4155-1874-CB5D-1ED7-788DA6ACCC68}"/>
              </a:ext>
            </a:extLst>
          </p:cNvPr>
          <p:cNvSpPr>
            <a:spLocks noGrp="1"/>
          </p:cNvSpPr>
          <p:nvPr>
            <p:ph type="body" sz="quarter" idx="12"/>
          </p:nvPr>
        </p:nvSpPr>
        <p:spPr>
          <a:xfrm>
            <a:off x="6270011"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
        <p:nvSpPr>
          <p:cNvPr id="15" name="Text Placeholder 15">
            <a:extLst>
              <a:ext uri="{FF2B5EF4-FFF2-40B4-BE49-F238E27FC236}">
                <a16:creationId xmlns:a16="http://schemas.microsoft.com/office/drawing/2014/main" id="{9C60B4CB-06A4-CB4C-1C9A-05528D708689}"/>
              </a:ext>
            </a:extLst>
          </p:cNvPr>
          <p:cNvSpPr>
            <a:spLocks noGrp="1"/>
          </p:cNvSpPr>
          <p:nvPr>
            <p:ph type="body" sz="quarter" idx="13"/>
          </p:nvPr>
        </p:nvSpPr>
        <p:spPr>
          <a:xfrm>
            <a:off x="512111" y="493776"/>
            <a:ext cx="2468880" cy="738803"/>
          </a:xfrm>
        </p:spPr>
        <p:txBody>
          <a:bodyPr/>
          <a:lstStyle>
            <a:lvl1pPr marL="0" indent="0">
              <a:lnSpc>
                <a:spcPct val="100000"/>
              </a:lnSpc>
              <a:spcBef>
                <a:spcPts val="0"/>
              </a:spcBef>
              <a:buNone/>
              <a:defRPr sz="2400" b="0">
                <a:latin typeface="+mj-lt"/>
              </a:defRPr>
            </a:lvl1pPr>
          </a:lstStyle>
          <a:p>
            <a:pPr lvl="0"/>
            <a:endParaRPr lang="en-US"/>
          </a:p>
        </p:txBody>
      </p:sp>
      <p:sp>
        <p:nvSpPr>
          <p:cNvPr id="16" name="Text Placeholder 15">
            <a:extLst>
              <a:ext uri="{FF2B5EF4-FFF2-40B4-BE49-F238E27FC236}">
                <a16:creationId xmlns:a16="http://schemas.microsoft.com/office/drawing/2014/main" id="{DC1FFA80-C1C7-7395-7E6C-0CE39D3D9B2E}"/>
              </a:ext>
            </a:extLst>
          </p:cNvPr>
          <p:cNvSpPr>
            <a:spLocks noGrp="1"/>
          </p:cNvSpPr>
          <p:nvPr>
            <p:ph type="body" sz="quarter" idx="19"/>
          </p:nvPr>
        </p:nvSpPr>
        <p:spPr>
          <a:xfrm>
            <a:off x="9138853"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Tree>
    <p:extLst>
      <p:ext uri="{BB962C8B-B14F-4D97-AF65-F5344CB8AC3E}">
        <p14:creationId xmlns:p14="http://schemas.microsoft.com/office/powerpoint/2010/main" val="161601350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COL CHA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402110" y="1342419"/>
            <a:ext cx="411480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584991" y="1580164"/>
            <a:ext cx="374903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5158440" y="1342419"/>
            <a:ext cx="6382113" cy="4297680"/>
          </a:xfrm>
        </p:spPr>
        <p:txBody>
          <a:bodyPr/>
          <a:lstStyle/>
          <a:p>
            <a:endParaRPr lang="en-US"/>
          </a:p>
        </p:txBody>
      </p:sp>
      <p:sp>
        <p:nvSpPr>
          <p:cNvPr id="2" name="Title 1">
            <a:extLst>
              <a:ext uri="{FF2B5EF4-FFF2-40B4-BE49-F238E27FC236}">
                <a16:creationId xmlns:a16="http://schemas.microsoft.com/office/drawing/2014/main" id="{41C34C18-9CF5-12C3-5CCD-69AF7F33FF20}"/>
              </a:ext>
            </a:extLst>
          </p:cNvPr>
          <p:cNvSpPr>
            <a:spLocks noGrp="1"/>
          </p:cNvSpPr>
          <p:nvPr>
            <p:ph type="title"/>
          </p:nvPr>
        </p:nvSpPr>
        <p:spPr>
          <a:xfrm>
            <a:off x="402110" y="492028"/>
            <a:ext cx="11329638" cy="804672"/>
          </a:xfrm>
        </p:spPr>
        <p:txBody>
          <a:bodyPr/>
          <a:lstStyle/>
          <a:p>
            <a:endParaRPr lang="en-US"/>
          </a:p>
        </p:txBody>
      </p:sp>
    </p:spTree>
    <p:extLst>
      <p:ext uri="{BB962C8B-B14F-4D97-AF65-F5344CB8AC3E}">
        <p14:creationId xmlns:p14="http://schemas.microsoft.com/office/powerpoint/2010/main" val="416923428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CHAR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4296664" y="640080"/>
            <a:ext cx="6714837" cy="4573487"/>
          </a:xfrm>
        </p:spPr>
        <p:txBody>
          <a:bodyPr/>
          <a:lstStyle/>
          <a:p>
            <a:endParaRPr lang="en-US"/>
          </a:p>
        </p:txBody>
      </p:sp>
    </p:spTree>
    <p:extLst>
      <p:ext uri="{BB962C8B-B14F-4D97-AF65-F5344CB8AC3E}">
        <p14:creationId xmlns:p14="http://schemas.microsoft.com/office/powerpoint/2010/main" val="217548230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CHART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402110" y="1344167"/>
            <a:ext cx="5415599" cy="429768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22" name="Rectangle 21">
            <a:extLst>
              <a:ext uri="{FF2B5EF4-FFF2-40B4-BE49-F238E27FC236}">
                <a16:creationId xmlns:a16="http://schemas.microsoft.com/office/drawing/2014/main" id="{86B6F805-150A-A1F2-BDDF-F0ECD943C483}"/>
              </a:ext>
            </a:extLst>
          </p:cNvPr>
          <p:cNvSpPr/>
          <p:nvPr userDrawn="1"/>
        </p:nvSpPr>
        <p:spPr>
          <a:xfrm>
            <a:off x="6316149" y="1344167"/>
            <a:ext cx="5415599" cy="429768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6500204" y="1580168"/>
            <a:ext cx="5047488" cy="3794760"/>
          </a:xfrm>
        </p:spPr>
        <p:txBody>
          <a:bodyPr/>
          <a:lstStyle/>
          <a:p>
            <a:endParaRPr lang="en-US"/>
          </a:p>
        </p:txBody>
      </p:sp>
      <p:sp>
        <p:nvSpPr>
          <p:cNvPr id="2" name="Chart Placeholder 25">
            <a:extLst>
              <a:ext uri="{FF2B5EF4-FFF2-40B4-BE49-F238E27FC236}">
                <a16:creationId xmlns:a16="http://schemas.microsoft.com/office/drawing/2014/main" id="{61C651FA-1AC0-20FA-C672-4990AB30FD96}"/>
              </a:ext>
            </a:extLst>
          </p:cNvPr>
          <p:cNvSpPr>
            <a:spLocks noGrp="1"/>
          </p:cNvSpPr>
          <p:nvPr>
            <p:ph type="chart" sz="quarter" idx="19"/>
          </p:nvPr>
        </p:nvSpPr>
        <p:spPr>
          <a:xfrm>
            <a:off x="586165" y="1580168"/>
            <a:ext cx="5047488" cy="3794760"/>
          </a:xfrm>
        </p:spPr>
        <p:txBody>
          <a:bodyPr/>
          <a:lstStyle/>
          <a:p>
            <a:endParaRPr lang="en-US"/>
          </a:p>
        </p:txBody>
      </p:sp>
      <p:sp>
        <p:nvSpPr>
          <p:cNvPr id="3" name="Title 2">
            <a:extLst>
              <a:ext uri="{FF2B5EF4-FFF2-40B4-BE49-F238E27FC236}">
                <a16:creationId xmlns:a16="http://schemas.microsoft.com/office/drawing/2014/main" id="{AC5761DD-9774-F1E8-E80A-2C2D06D1756E}"/>
              </a:ext>
            </a:extLst>
          </p:cNvPr>
          <p:cNvSpPr>
            <a:spLocks noGrp="1"/>
          </p:cNvSpPr>
          <p:nvPr>
            <p:ph type="title"/>
          </p:nvPr>
        </p:nvSpPr>
        <p:spPr>
          <a:xfrm>
            <a:off x="402110" y="492033"/>
            <a:ext cx="11329638" cy="804672"/>
          </a:xfrm>
        </p:spPr>
        <p:txBody>
          <a:bodyPr/>
          <a:lstStyle/>
          <a:p>
            <a:endParaRPr lang="en-US"/>
          </a:p>
        </p:txBody>
      </p:sp>
    </p:spTree>
    <p:extLst>
      <p:ext uri="{BB962C8B-B14F-4D97-AF65-F5344CB8AC3E}">
        <p14:creationId xmlns:p14="http://schemas.microsoft.com/office/powerpoint/2010/main" val="55995015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pic>
        <p:nvPicPr>
          <p:cNvPr id="2" name="Picture 1" descr="A blue and grey square&#10;&#10;AI-generated content may be incorrect.">
            <a:extLst>
              <a:ext uri="{FF2B5EF4-FFF2-40B4-BE49-F238E27FC236}">
                <a16:creationId xmlns:a16="http://schemas.microsoft.com/office/drawing/2014/main" id="{AB7E120C-7643-AF2C-5BAE-6690BF438C6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10" name="Slide Number Placeholder 9">
            <a:extLst>
              <a:ext uri="{FF2B5EF4-FFF2-40B4-BE49-F238E27FC236}">
                <a16:creationId xmlns:a16="http://schemas.microsoft.com/office/drawing/2014/main" id="{6C28B780-3A50-0A40-CDE0-D8FE581DEB63}"/>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402110" y="493776"/>
            <a:ext cx="5084290" cy="2487168"/>
          </a:xfrm>
        </p:spPr>
        <p:txBody>
          <a:bodyPr/>
          <a:lstStyle>
            <a:lvl1pPr>
              <a:defRPr sz="3600">
                <a:solidFill>
                  <a:srgbClr val="000A62"/>
                </a:solidFill>
              </a:defRPr>
            </a:lvl1pPr>
          </a:lstStyle>
          <a:p>
            <a:endParaRPr lang="en-US"/>
          </a:p>
        </p:txBody>
      </p:sp>
    </p:spTree>
    <p:extLst>
      <p:ext uri="{BB962C8B-B14F-4D97-AF65-F5344CB8AC3E}">
        <p14:creationId xmlns:p14="http://schemas.microsoft.com/office/powerpoint/2010/main" val="293197097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_SECTION">
    <p:spTree>
      <p:nvGrpSpPr>
        <p:cNvPr id="1" name=""/>
        <p:cNvGrpSpPr/>
        <p:nvPr/>
      </p:nvGrpSpPr>
      <p:grpSpPr>
        <a:xfrm>
          <a:off x="0" y="0"/>
          <a:ext cx="0" cy="0"/>
          <a:chOff x="0" y="0"/>
          <a:chExt cx="0" cy="0"/>
        </a:xfrm>
      </p:grpSpPr>
      <p:pic>
        <p:nvPicPr>
          <p:cNvPr id="2" name="Picture 1" descr="A blue and grey square&#10;&#10;AI-generated content may be incorrect.">
            <a:extLst>
              <a:ext uri="{FF2B5EF4-FFF2-40B4-BE49-F238E27FC236}">
                <a16:creationId xmlns:a16="http://schemas.microsoft.com/office/drawing/2014/main" id="{AB7E120C-7643-AF2C-5BAE-6690BF438C6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10" name="Slide Number Placeholder 9">
            <a:extLst>
              <a:ext uri="{FF2B5EF4-FFF2-40B4-BE49-F238E27FC236}">
                <a16:creationId xmlns:a16="http://schemas.microsoft.com/office/drawing/2014/main" id="{6C28B780-3A50-0A40-CDE0-D8FE581DEB63}"/>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0" y="3429000"/>
            <a:ext cx="12192000" cy="3429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402110" y="2280621"/>
            <a:ext cx="11188082" cy="1042318"/>
          </a:xfrm>
        </p:spPr>
        <p:txBody>
          <a:bodyPr/>
          <a:lstStyle>
            <a:lvl1pPr>
              <a:defRPr sz="3600"/>
            </a:lvl1pPr>
          </a:lstStyle>
          <a:p>
            <a:endParaRPr lang="en-US"/>
          </a:p>
        </p:txBody>
      </p:sp>
      <p:pic>
        <p:nvPicPr>
          <p:cNvPr id="9" name="Graphic 8">
            <a:extLst>
              <a:ext uri="{FF2B5EF4-FFF2-40B4-BE49-F238E27FC236}">
                <a16:creationId xmlns:a16="http://schemas.microsoft.com/office/drawing/2014/main" id="{7A6D5DA3-EFC1-742C-A22F-4583CA13D7F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2110" y="457200"/>
            <a:ext cx="868683" cy="868683"/>
          </a:xfrm>
          <a:prstGeom prst="rect">
            <a:avLst/>
          </a:prstGeom>
        </p:spPr>
      </p:pic>
      <p:pic>
        <p:nvPicPr>
          <p:cNvPr id="15" name="Picture 14" descr="A blue and black logo&#10;&#10;AI-generated content may be incorrect.">
            <a:extLst>
              <a:ext uri="{FF2B5EF4-FFF2-40B4-BE49-F238E27FC236}">
                <a16:creationId xmlns:a16="http://schemas.microsoft.com/office/drawing/2014/main" id="{EF0F2233-C1DA-DC3C-977B-89CAB353B3AA}"/>
              </a:ext>
            </a:extLst>
          </p:cNvPr>
          <p:cNvPicPr>
            <a:picLocks noChangeAspect="1"/>
          </p:cNvPicPr>
          <p:nvPr userDrawn="1"/>
        </p:nvPicPr>
        <p:blipFill>
          <a:blip r:embed="rId4"/>
          <a:stretch>
            <a:fillRect/>
          </a:stretch>
        </p:blipFill>
        <p:spPr>
          <a:xfrm>
            <a:off x="10415751" y="457200"/>
            <a:ext cx="1315997" cy="333421"/>
          </a:xfrm>
          <a:prstGeom prst="rect">
            <a:avLst/>
          </a:prstGeom>
        </p:spPr>
      </p:pic>
    </p:spTree>
    <p:extLst>
      <p:ext uri="{BB962C8B-B14F-4D97-AF65-F5344CB8AC3E}">
        <p14:creationId xmlns:p14="http://schemas.microsoft.com/office/powerpoint/2010/main" val="68530392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HIGHLIGHTS">
    <p:spTree>
      <p:nvGrpSpPr>
        <p:cNvPr id="1" name=""/>
        <p:cNvGrpSpPr/>
        <p:nvPr/>
      </p:nvGrpSpPr>
      <p:grpSpPr>
        <a:xfrm>
          <a:off x="0" y="0"/>
          <a:ext cx="0" cy="0"/>
          <a:chOff x="0" y="0"/>
          <a:chExt cx="0" cy="0"/>
        </a:xfrm>
      </p:grpSpPr>
      <p:pic>
        <p:nvPicPr>
          <p:cNvPr id="2" name="Picture 1" descr="A blue and grey square&#10;&#10;AI-generated content may be incorrect.">
            <a:extLst>
              <a:ext uri="{FF2B5EF4-FFF2-40B4-BE49-F238E27FC236}">
                <a16:creationId xmlns:a16="http://schemas.microsoft.com/office/drawing/2014/main" id="{524E236F-CC73-E2D0-C020-8D995727944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p:nvPr>
        </p:nvSpPr>
        <p:spPr>
          <a:xfrm>
            <a:off x="864973" y="1960256"/>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p:nvPr>
        </p:nvSpPr>
        <p:spPr>
          <a:xfrm>
            <a:off x="864973" y="3643093"/>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8" name="Text Placeholder 13">
            <a:extLst>
              <a:ext uri="{FF2B5EF4-FFF2-40B4-BE49-F238E27FC236}">
                <a16:creationId xmlns:a16="http://schemas.microsoft.com/office/drawing/2014/main" id="{6D94F9F4-274D-B690-9371-0E5B46109201}"/>
              </a:ext>
            </a:extLst>
          </p:cNvPr>
          <p:cNvSpPr>
            <a:spLocks noGrp="1"/>
          </p:cNvSpPr>
          <p:nvPr>
            <p:ph type="body" sz="quarter" idx="23"/>
          </p:nvPr>
        </p:nvSpPr>
        <p:spPr>
          <a:xfrm>
            <a:off x="864973" y="2799164"/>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9" name="Text Placeholder 13">
            <a:extLst>
              <a:ext uri="{FF2B5EF4-FFF2-40B4-BE49-F238E27FC236}">
                <a16:creationId xmlns:a16="http://schemas.microsoft.com/office/drawing/2014/main" id="{E6E582D6-6481-778E-C4B6-82C6FC97D280}"/>
              </a:ext>
            </a:extLst>
          </p:cNvPr>
          <p:cNvSpPr>
            <a:spLocks noGrp="1"/>
          </p:cNvSpPr>
          <p:nvPr>
            <p:ph type="body" sz="quarter" idx="24"/>
          </p:nvPr>
        </p:nvSpPr>
        <p:spPr>
          <a:xfrm>
            <a:off x="864973" y="4482001"/>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7" name="Picture Placeholder 6">
            <a:extLst>
              <a:ext uri="{FF2B5EF4-FFF2-40B4-BE49-F238E27FC236}">
                <a16:creationId xmlns:a16="http://schemas.microsoft.com/office/drawing/2014/main" id="{3B5274B7-679A-8613-5BC3-023EF3052A36}"/>
              </a:ext>
            </a:extLst>
          </p:cNvPr>
          <p:cNvSpPr>
            <a:spLocks noGrp="1"/>
          </p:cNvSpPr>
          <p:nvPr>
            <p:ph type="pic" sz="quarter" idx="28"/>
          </p:nvPr>
        </p:nvSpPr>
        <p:spPr>
          <a:xfrm>
            <a:off x="6270625" y="1517515"/>
            <a:ext cx="5143500" cy="3657600"/>
          </a:xfrm>
          <a:solidFill>
            <a:srgbClr val="A5EFBF">
              <a:alpha val="49821"/>
            </a:srgbClr>
          </a:solidFill>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4" name="Title 3">
            <a:extLst>
              <a:ext uri="{FF2B5EF4-FFF2-40B4-BE49-F238E27FC236}">
                <a16:creationId xmlns:a16="http://schemas.microsoft.com/office/drawing/2014/main" id="{E059A8AE-FA6A-9E41-D199-5D700F8750AF}"/>
              </a:ext>
            </a:extLst>
          </p:cNvPr>
          <p:cNvSpPr>
            <a:spLocks noGrp="1"/>
          </p:cNvSpPr>
          <p:nvPr>
            <p:ph type="title"/>
          </p:nvPr>
        </p:nvSpPr>
        <p:spPr>
          <a:xfrm>
            <a:off x="402110" y="492028"/>
            <a:ext cx="11329638" cy="804672"/>
          </a:xfrm>
        </p:spPr>
        <p:txBody>
          <a:bodyPr/>
          <a:lstStyle/>
          <a:p>
            <a:endParaRPr lang="en-US"/>
          </a:p>
        </p:txBody>
      </p:sp>
    </p:spTree>
    <p:extLst>
      <p:ext uri="{BB962C8B-B14F-4D97-AF65-F5344CB8AC3E}">
        <p14:creationId xmlns:p14="http://schemas.microsoft.com/office/powerpoint/2010/main" val="206744955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COL MIXE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49224" y="1346073"/>
            <a:ext cx="5843016"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50392" y="1580163"/>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3" name="Picture Placeholder 4">
            <a:extLst>
              <a:ext uri="{FF2B5EF4-FFF2-40B4-BE49-F238E27FC236}">
                <a16:creationId xmlns:a16="http://schemas.microsoft.com/office/drawing/2014/main" id="{73CE8AA2-1ED4-00D8-F3A4-6E085E753FE3}"/>
              </a:ext>
            </a:extLst>
          </p:cNvPr>
          <p:cNvSpPr>
            <a:spLocks noGrp="1"/>
          </p:cNvSpPr>
          <p:nvPr>
            <p:ph type="pic" sz="quarter" idx="16"/>
          </p:nvPr>
        </p:nvSpPr>
        <p:spPr>
          <a:xfrm>
            <a:off x="6492240" y="1342236"/>
            <a:ext cx="5047488" cy="4297680"/>
          </a:xfrm>
          <a:solidFill>
            <a:srgbClr val="A5EFBF">
              <a:alpha val="50016"/>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24" name="Text Placeholder 13">
            <a:extLst>
              <a:ext uri="{FF2B5EF4-FFF2-40B4-BE49-F238E27FC236}">
                <a16:creationId xmlns:a16="http://schemas.microsoft.com/office/drawing/2014/main" id="{77249610-5178-9FDD-8DC2-AAD1391462B3}"/>
              </a:ext>
            </a:extLst>
          </p:cNvPr>
          <p:cNvSpPr>
            <a:spLocks noGrp="1"/>
          </p:cNvSpPr>
          <p:nvPr>
            <p:ph type="body" sz="quarter" idx="17"/>
          </p:nvPr>
        </p:nvSpPr>
        <p:spPr>
          <a:xfrm>
            <a:off x="3776472" y="1580163"/>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3" name="Title 2">
            <a:extLst>
              <a:ext uri="{FF2B5EF4-FFF2-40B4-BE49-F238E27FC236}">
                <a16:creationId xmlns:a16="http://schemas.microsoft.com/office/drawing/2014/main" id="{DD52571E-88FD-10EE-A2C6-754293C0DC78}"/>
              </a:ext>
            </a:extLst>
          </p:cNvPr>
          <p:cNvSpPr>
            <a:spLocks noGrp="1"/>
          </p:cNvSpPr>
          <p:nvPr>
            <p:ph type="title"/>
          </p:nvPr>
        </p:nvSpPr>
        <p:spPr>
          <a:xfrm>
            <a:off x="402110" y="492027"/>
            <a:ext cx="11329638" cy="804672"/>
          </a:xfrm>
        </p:spPr>
        <p:txBody>
          <a:bodyPr/>
          <a:lstStyle/>
          <a:p>
            <a:endParaRPr lang="en-US"/>
          </a:p>
        </p:txBody>
      </p:sp>
      <p:cxnSp>
        <p:nvCxnSpPr>
          <p:cNvPr id="5" name="Straight Connector 4">
            <a:extLst>
              <a:ext uri="{FF2B5EF4-FFF2-40B4-BE49-F238E27FC236}">
                <a16:creationId xmlns:a16="http://schemas.microsoft.com/office/drawing/2014/main" id="{E6BB2486-B7E2-2B4A-1796-A7E1717418CE}"/>
              </a:ext>
            </a:extLst>
          </p:cNvPr>
          <p:cNvCxnSpPr>
            <a:cxnSpLocks/>
          </p:cNvCxnSpPr>
          <p:nvPr userDrawn="1"/>
        </p:nvCxnSpPr>
        <p:spPr>
          <a:xfrm>
            <a:off x="3549289" y="1580163"/>
            <a:ext cx="0" cy="3749039"/>
          </a:xfrm>
          <a:prstGeom prst="line">
            <a:avLst/>
          </a:prstGeom>
          <a:ln>
            <a:solidFill>
              <a:schemeClr val="bg1">
                <a:alpha val="75096"/>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374657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COL MIXE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4315968"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7973568"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649224"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60C0E5AE-E763-B624-A79D-1CCA08C94A64}"/>
              </a:ext>
            </a:extLst>
          </p:cNvPr>
          <p:cNvSpPr>
            <a:spLocks noGrp="1"/>
          </p:cNvSpPr>
          <p:nvPr>
            <p:ph type="pic" sz="quarter" idx="11"/>
          </p:nvPr>
        </p:nvSpPr>
        <p:spPr>
          <a:xfrm>
            <a:off x="832104"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3" name="Picture Placeholder 4">
            <a:extLst>
              <a:ext uri="{FF2B5EF4-FFF2-40B4-BE49-F238E27FC236}">
                <a16:creationId xmlns:a16="http://schemas.microsoft.com/office/drawing/2014/main" id="{2AB57776-502D-C872-42C9-3E3CE4333A21}"/>
              </a:ext>
            </a:extLst>
          </p:cNvPr>
          <p:cNvSpPr>
            <a:spLocks noGrp="1"/>
          </p:cNvSpPr>
          <p:nvPr>
            <p:ph type="pic" sz="quarter" idx="12"/>
          </p:nvPr>
        </p:nvSpPr>
        <p:spPr>
          <a:xfrm>
            <a:off x="4495800"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8C8E3307-DCC6-156B-3901-30E8E5F97F42}"/>
              </a:ext>
            </a:extLst>
          </p:cNvPr>
          <p:cNvSpPr>
            <a:spLocks noGrp="1"/>
          </p:cNvSpPr>
          <p:nvPr>
            <p:ph type="pic" sz="quarter" idx="13"/>
          </p:nvPr>
        </p:nvSpPr>
        <p:spPr>
          <a:xfrm>
            <a:off x="8156448"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32104"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4495800"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8156448"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7" name="Title 6">
            <a:extLst>
              <a:ext uri="{FF2B5EF4-FFF2-40B4-BE49-F238E27FC236}">
                <a16:creationId xmlns:a16="http://schemas.microsoft.com/office/drawing/2014/main" id="{84689C92-8851-0117-5163-F217DA8C9D35}"/>
              </a:ext>
            </a:extLst>
          </p:cNvPr>
          <p:cNvSpPr>
            <a:spLocks noGrp="1"/>
          </p:cNvSpPr>
          <p:nvPr>
            <p:ph type="title"/>
          </p:nvPr>
        </p:nvSpPr>
        <p:spPr>
          <a:xfrm>
            <a:off x="402110" y="492028"/>
            <a:ext cx="11329638" cy="804672"/>
          </a:xfrm>
        </p:spPr>
        <p:txBody>
          <a:bodyPr/>
          <a:lstStyle/>
          <a:p>
            <a:endParaRPr lang="en-US"/>
          </a:p>
        </p:txBody>
      </p:sp>
    </p:spTree>
    <p:extLst>
      <p:ext uri="{BB962C8B-B14F-4D97-AF65-F5344CB8AC3E}">
        <p14:creationId xmlns:p14="http://schemas.microsoft.com/office/powerpoint/2010/main" val="300541962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COL MIXE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3306928"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6211746"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30EBCB-CFCE-201F-955D-E252D246E802}"/>
              </a:ext>
            </a:extLst>
          </p:cNvPr>
          <p:cNvSpPr/>
          <p:nvPr userDrawn="1"/>
        </p:nvSpPr>
        <p:spPr>
          <a:xfrm>
            <a:off x="9116564"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402110"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60C0E5AE-E763-B624-A79D-1CCA08C94A64}"/>
              </a:ext>
            </a:extLst>
          </p:cNvPr>
          <p:cNvSpPr>
            <a:spLocks noGrp="1"/>
          </p:cNvSpPr>
          <p:nvPr>
            <p:ph type="pic" sz="quarter" idx="11"/>
          </p:nvPr>
        </p:nvSpPr>
        <p:spPr>
          <a:xfrm>
            <a:off x="566702"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3" name="Picture Placeholder 4">
            <a:extLst>
              <a:ext uri="{FF2B5EF4-FFF2-40B4-BE49-F238E27FC236}">
                <a16:creationId xmlns:a16="http://schemas.microsoft.com/office/drawing/2014/main" id="{2AB57776-502D-C872-42C9-3E3CE4333A21}"/>
              </a:ext>
            </a:extLst>
          </p:cNvPr>
          <p:cNvSpPr>
            <a:spLocks noGrp="1"/>
          </p:cNvSpPr>
          <p:nvPr>
            <p:ph type="pic" sz="quarter" idx="12"/>
          </p:nvPr>
        </p:nvSpPr>
        <p:spPr>
          <a:xfrm>
            <a:off x="3478485"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8C8E3307-DCC6-156B-3901-30E8E5F97F42}"/>
              </a:ext>
            </a:extLst>
          </p:cNvPr>
          <p:cNvSpPr>
            <a:spLocks noGrp="1"/>
          </p:cNvSpPr>
          <p:nvPr>
            <p:ph type="pic" sz="quarter" idx="13"/>
          </p:nvPr>
        </p:nvSpPr>
        <p:spPr>
          <a:xfrm>
            <a:off x="6358308"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7" name="Picture Placeholder 4">
            <a:extLst>
              <a:ext uri="{FF2B5EF4-FFF2-40B4-BE49-F238E27FC236}">
                <a16:creationId xmlns:a16="http://schemas.microsoft.com/office/drawing/2014/main" id="{2297C1E0-0407-DD10-8E51-CDCC6D0EB569}"/>
              </a:ext>
            </a:extLst>
          </p:cNvPr>
          <p:cNvSpPr>
            <a:spLocks noGrp="1"/>
          </p:cNvSpPr>
          <p:nvPr>
            <p:ph type="pic" sz="quarter" idx="14"/>
          </p:nvPr>
        </p:nvSpPr>
        <p:spPr>
          <a:xfrm>
            <a:off x="9281156"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566702"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3478485"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358308"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1" name="Text Placeholder 13">
            <a:extLst>
              <a:ext uri="{FF2B5EF4-FFF2-40B4-BE49-F238E27FC236}">
                <a16:creationId xmlns:a16="http://schemas.microsoft.com/office/drawing/2014/main" id="{C2DFA204-BAD7-7D75-D24E-452D9A532AD5}"/>
              </a:ext>
            </a:extLst>
          </p:cNvPr>
          <p:cNvSpPr>
            <a:spLocks noGrp="1"/>
          </p:cNvSpPr>
          <p:nvPr>
            <p:ph type="body" sz="quarter" idx="18"/>
          </p:nvPr>
        </p:nvSpPr>
        <p:spPr>
          <a:xfrm>
            <a:off x="9281156"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2" name="Title 11">
            <a:extLst>
              <a:ext uri="{FF2B5EF4-FFF2-40B4-BE49-F238E27FC236}">
                <a16:creationId xmlns:a16="http://schemas.microsoft.com/office/drawing/2014/main" id="{4997C2CC-41A2-BC8E-5F1C-6E00E82B39D8}"/>
              </a:ext>
            </a:extLst>
          </p:cNvPr>
          <p:cNvSpPr>
            <a:spLocks noGrp="1"/>
          </p:cNvSpPr>
          <p:nvPr>
            <p:ph type="title"/>
          </p:nvPr>
        </p:nvSpPr>
        <p:spPr>
          <a:xfrm>
            <a:off x="402110" y="492028"/>
            <a:ext cx="11329638" cy="804672"/>
          </a:xfrm>
        </p:spPr>
        <p:txBody>
          <a:bodyPr/>
          <a:lstStyle/>
          <a:p>
            <a:endParaRPr lang="en-US"/>
          </a:p>
        </p:txBody>
      </p:sp>
    </p:spTree>
    <p:extLst>
      <p:ext uri="{BB962C8B-B14F-4D97-AF65-F5344CB8AC3E}">
        <p14:creationId xmlns:p14="http://schemas.microsoft.com/office/powerpoint/2010/main" val="8728073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ROFILE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C96B32D9-F8CD-542A-2195-7D4080183F9E}"/>
              </a:ext>
            </a:extLst>
          </p:cNvPr>
          <p:cNvSpPr>
            <a:spLocks noGrp="1"/>
          </p:cNvSpPr>
          <p:nvPr>
            <p:ph type="pic" sz="quarter" idx="11"/>
          </p:nvPr>
        </p:nvSpPr>
        <p:spPr>
          <a:xfrm>
            <a:off x="1315442"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4" name="Picture Placeholder 4">
            <a:extLst>
              <a:ext uri="{FF2B5EF4-FFF2-40B4-BE49-F238E27FC236}">
                <a16:creationId xmlns:a16="http://schemas.microsoft.com/office/drawing/2014/main" id="{7004F6B9-BCB9-ED24-F5EE-BBBA9CECD9F8}"/>
              </a:ext>
            </a:extLst>
          </p:cNvPr>
          <p:cNvSpPr>
            <a:spLocks noGrp="1"/>
          </p:cNvSpPr>
          <p:nvPr>
            <p:ph type="pic" sz="quarter" idx="12"/>
          </p:nvPr>
        </p:nvSpPr>
        <p:spPr>
          <a:xfrm>
            <a:off x="3897379"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3B4A5297-598E-E3C8-0A95-51540BC3D260}"/>
              </a:ext>
            </a:extLst>
          </p:cNvPr>
          <p:cNvSpPr>
            <a:spLocks noGrp="1"/>
          </p:cNvSpPr>
          <p:nvPr>
            <p:ph type="pic" sz="quarter" idx="13"/>
          </p:nvPr>
        </p:nvSpPr>
        <p:spPr>
          <a:xfrm>
            <a:off x="6479316"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7" name="Picture Placeholder 4">
            <a:extLst>
              <a:ext uri="{FF2B5EF4-FFF2-40B4-BE49-F238E27FC236}">
                <a16:creationId xmlns:a16="http://schemas.microsoft.com/office/drawing/2014/main" id="{E7B78071-5E94-8078-4AD2-0AE8834DEAB9}"/>
              </a:ext>
            </a:extLst>
          </p:cNvPr>
          <p:cNvSpPr>
            <a:spLocks noGrp="1"/>
          </p:cNvSpPr>
          <p:nvPr>
            <p:ph type="pic" sz="quarter" idx="14"/>
          </p:nvPr>
        </p:nvSpPr>
        <p:spPr>
          <a:xfrm>
            <a:off x="9061254"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A0A893A3-72C6-A8CF-AB7E-ED43F26A18DB}"/>
              </a:ext>
            </a:extLst>
          </p:cNvPr>
          <p:cNvSpPr>
            <a:spLocks noGrp="1"/>
          </p:cNvSpPr>
          <p:nvPr>
            <p:ph type="body" sz="quarter" idx="15" hasCustomPrompt="1"/>
          </p:nvPr>
        </p:nvSpPr>
        <p:spPr>
          <a:xfrm>
            <a:off x="852727"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hasCustomPrompt="1"/>
          </p:nvPr>
        </p:nvSpPr>
        <p:spPr>
          <a:xfrm>
            <a:off x="852727"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16" name="Text Placeholder 13">
            <a:extLst>
              <a:ext uri="{FF2B5EF4-FFF2-40B4-BE49-F238E27FC236}">
                <a16:creationId xmlns:a16="http://schemas.microsoft.com/office/drawing/2014/main" id="{58854FFC-2A65-06A1-12DD-C2777EFB103C}"/>
              </a:ext>
            </a:extLst>
          </p:cNvPr>
          <p:cNvSpPr>
            <a:spLocks noGrp="1"/>
          </p:cNvSpPr>
          <p:nvPr>
            <p:ph type="body" sz="quarter" idx="17" hasCustomPrompt="1"/>
          </p:nvPr>
        </p:nvSpPr>
        <p:spPr>
          <a:xfrm>
            <a:off x="3434664"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hasCustomPrompt="1"/>
          </p:nvPr>
        </p:nvSpPr>
        <p:spPr>
          <a:xfrm>
            <a:off x="3434664"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18" name="Text Placeholder 13">
            <a:extLst>
              <a:ext uri="{FF2B5EF4-FFF2-40B4-BE49-F238E27FC236}">
                <a16:creationId xmlns:a16="http://schemas.microsoft.com/office/drawing/2014/main" id="{42F73FA2-C232-05D4-4B8C-ACE371E4B843}"/>
              </a:ext>
            </a:extLst>
          </p:cNvPr>
          <p:cNvSpPr>
            <a:spLocks noGrp="1"/>
          </p:cNvSpPr>
          <p:nvPr>
            <p:ph type="body" sz="quarter" idx="19" hasCustomPrompt="1"/>
          </p:nvPr>
        </p:nvSpPr>
        <p:spPr>
          <a:xfrm>
            <a:off x="6016601"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9" name="Text Placeholder 13">
            <a:extLst>
              <a:ext uri="{FF2B5EF4-FFF2-40B4-BE49-F238E27FC236}">
                <a16:creationId xmlns:a16="http://schemas.microsoft.com/office/drawing/2014/main" id="{3A5DBFD9-96F8-94D0-529B-2B5E24342EA7}"/>
              </a:ext>
            </a:extLst>
          </p:cNvPr>
          <p:cNvSpPr>
            <a:spLocks noGrp="1"/>
          </p:cNvSpPr>
          <p:nvPr>
            <p:ph type="body" sz="quarter" idx="20" hasCustomPrompt="1"/>
          </p:nvPr>
        </p:nvSpPr>
        <p:spPr>
          <a:xfrm>
            <a:off x="6016601"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20" name="Text Placeholder 13">
            <a:extLst>
              <a:ext uri="{FF2B5EF4-FFF2-40B4-BE49-F238E27FC236}">
                <a16:creationId xmlns:a16="http://schemas.microsoft.com/office/drawing/2014/main" id="{6DBE7ACC-CAA4-1F8B-5784-8A7C4DB08D46}"/>
              </a:ext>
            </a:extLst>
          </p:cNvPr>
          <p:cNvSpPr>
            <a:spLocks noGrp="1"/>
          </p:cNvSpPr>
          <p:nvPr>
            <p:ph type="body" sz="quarter" idx="21" hasCustomPrompt="1"/>
          </p:nvPr>
        </p:nvSpPr>
        <p:spPr>
          <a:xfrm>
            <a:off x="8598539"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21" name="Text Placeholder 13">
            <a:extLst>
              <a:ext uri="{FF2B5EF4-FFF2-40B4-BE49-F238E27FC236}">
                <a16:creationId xmlns:a16="http://schemas.microsoft.com/office/drawing/2014/main" id="{A71A8F6A-A550-86DB-BEF7-D9A808A01C43}"/>
              </a:ext>
            </a:extLst>
          </p:cNvPr>
          <p:cNvSpPr>
            <a:spLocks noGrp="1"/>
          </p:cNvSpPr>
          <p:nvPr>
            <p:ph type="body" sz="quarter" idx="22" hasCustomPrompt="1"/>
          </p:nvPr>
        </p:nvSpPr>
        <p:spPr>
          <a:xfrm>
            <a:off x="8598539"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Tree>
    <p:extLst>
      <p:ext uri="{BB962C8B-B14F-4D97-AF65-F5344CB8AC3E}">
        <p14:creationId xmlns:p14="http://schemas.microsoft.com/office/powerpoint/2010/main" val="357416233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1-FULL PIC">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C54E264-2E68-0859-A429-BDAC7C8826B9}"/>
              </a:ext>
            </a:extLst>
          </p:cNvPr>
          <p:cNvSpPr>
            <a:spLocks noGrp="1"/>
          </p:cNvSpPr>
          <p:nvPr>
            <p:ph type="pic" idx="1"/>
          </p:nvPr>
        </p:nvSpPr>
        <p:spPr>
          <a:xfrm>
            <a:off x="0" y="0"/>
            <a:ext cx="12191999" cy="6858000"/>
          </a:xfrm>
          <a:solidFill>
            <a:srgbClr val="A5EFBF">
              <a:alpha val="49884"/>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7" name="Slide Number Placeholder 6">
            <a:extLst>
              <a:ext uri="{FF2B5EF4-FFF2-40B4-BE49-F238E27FC236}">
                <a16:creationId xmlns:a16="http://schemas.microsoft.com/office/drawing/2014/main" id="{5CEA0256-834D-1158-7BFE-3BB66AB3ACD8}"/>
              </a:ext>
            </a:extLst>
          </p:cNvPr>
          <p:cNvSpPr>
            <a:spLocks noGrp="1"/>
          </p:cNvSpPr>
          <p:nvPr>
            <p:ph type="sldNum" sz="quarter" idx="12"/>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Tree>
    <p:extLst>
      <p:ext uri="{BB962C8B-B14F-4D97-AF65-F5344CB8AC3E}">
        <p14:creationId xmlns:p14="http://schemas.microsoft.com/office/powerpoint/2010/main" val="323655267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blank" preserve="1">
  <p:cSld name="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pic>
        <p:nvPicPr>
          <p:cNvPr id="2" name="Graphic 1">
            <a:extLst>
              <a:ext uri="{FF2B5EF4-FFF2-40B4-BE49-F238E27FC236}">
                <a16:creationId xmlns:a16="http://schemas.microsoft.com/office/drawing/2014/main" id="{8F53EAEA-39FB-5B87-7263-2C114FEFF040}"/>
              </a:ext>
            </a:extLst>
          </p:cNvPr>
          <p:cNvPicPr>
            <a:picLocks noChangeAspect="1"/>
          </p:cNvPicPr>
          <p:nvPr userDrawn="1"/>
        </p:nvPicPr>
        <p:blipFill>
          <a:blip r:embed="rId3"/>
          <a:srcRect/>
          <a:stretch/>
        </p:blipFill>
        <p:spPr>
          <a:xfrm>
            <a:off x="4856245" y="2183735"/>
            <a:ext cx="2479509" cy="2490530"/>
          </a:xfrm>
          <a:prstGeom prst="rect">
            <a:avLst/>
          </a:prstGeom>
          <a:effectLst/>
        </p:spPr>
      </p:pic>
    </p:spTree>
    <p:extLst>
      <p:ext uri="{BB962C8B-B14F-4D97-AF65-F5344CB8AC3E}">
        <p14:creationId xmlns:p14="http://schemas.microsoft.com/office/powerpoint/2010/main" val="215566712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blank" preserve="1">
  <p:cSld name="1_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pic>
        <p:nvPicPr>
          <p:cNvPr id="4" name="Picture 3" descr="A blue and black logo&#10;&#10;AI-generated content may be incorrect.">
            <a:extLst>
              <a:ext uri="{FF2B5EF4-FFF2-40B4-BE49-F238E27FC236}">
                <a16:creationId xmlns:a16="http://schemas.microsoft.com/office/drawing/2014/main" id="{998306C0-7B5B-AB98-EC2E-C89EC1D1A8F9}"/>
              </a:ext>
            </a:extLst>
          </p:cNvPr>
          <p:cNvPicPr>
            <a:picLocks noChangeAspect="1"/>
          </p:cNvPicPr>
          <p:nvPr userDrawn="1"/>
        </p:nvPicPr>
        <p:blipFill>
          <a:blip r:embed="rId3"/>
          <a:stretch>
            <a:fillRect/>
          </a:stretch>
        </p:blipFill>
        <p:spPr>
          <a:xfrm>
            <a:off x="2919977" y="2624326"/>
            <a:ext cx="6352045" cy="1609347"/>
          </a:xfrm>
          <a:prstGeom prst="rect">
            <a:avLst/>
          </a:prstGeom>
        </p:spPr>
      </p:pic>
    </p:spTree>
    <p:extLst>
      <p:ext uri="{BB962C8B-B14F-4D97-AF65-F5344CB8AC3E}">
        <p14:creationId xmlns:p14="http://schemas.microsoft.com/office/powerpoint/2010/main" val="184621061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FD5C82-2B6A-9AA6-4865-DCCB468D4BC5}"/>
              </a:ext>
            </a:extLst>
          </p:cNvPr>
          <p:cNvSpPr>
            <a:spLocks noGrp="1"/>
          </p:cNvSpPr>
          <p:nvPr>
            <p:ph type="sldNum" sz="quarter" idx="10"/>
          </p:nvPr>
        </p:nvSpPr>
        <p:spPr>
          <a:xfrm>
            <a:off x="11731748" y="6232230"/>
            <a:ext cx="288523" cy="365125"/>
          </a:xfrm>
          <a:prstGeom prst="rect">
            <a:avLst/>
          </a:prstGeom>
        </p:spPr>
        <p:txBody>
          <a:bodyPr/>
          <a:lstStyle/>
          <a:p>
            <a:fld id="{A1371F83-EA4D-3B47-99B9-95D90583DC1D}" type="slidenum">
              <a:rPr lang="en-US" smtClean="0"/>
              <a:pPr/>
              <a:t>‹#›</a:t>
            </a:fld>
            <a:endParaRPr lang="en-US"/>
          </a:p>
        </p:txBody>
      </p:sp>
    </p:spTree>
    <p:extLst>
      <p:ext uri="{BB962C8B-B14F-4D97-AF65-F5344CB8AC3E}">
        <p14:creationId xmlns:p14="http://schemas.microsoft.com/office/powerpoint/2010/main" val="108171567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Cover No Imag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F75F61-2287-D7E7-AD82-03153BB900E0}"/>
              </a:ext>
            </a:extLst>
          </p:cNvPr>
          <p:cNvPicPr>
            <a:picLocks noChangeAspect="1"/>
          </p:cNvPicPr>
          <p:nvPr userDrawn="1"/>
        </p:nvPicPr>
        <p:blipFill>
          <a:blip r:embed="rId2"/>
          <a:srcRect/>
          <a:stretch/>
        </p:blipFill>
        <p:spPr>
          <a:xfrm>
            <a:off x="458530" y="462713"/>
            <a:ext cx="11274939" cy="5932574"/>
          </a:xfrm>
          <a:prstGeom prst="rect">
            <a:avLst/>
          </a:prstGeom>
        </p:spPr>
      </p:pic>
      <p:pic>
        <p:nvPicPr>
          <p:cNvPr id="19" name="Graphic 18">
            <a:extLst>
              <a:ext uri="{FF2B5EF4-FFF2-40B4-BE49-F238E27FC236}">
                <a16:creationId xmlns:a16="http://schemas.microsoft.com/office/drawing/2014/main" id="{1DFD2D1D-3ADB-0050-2627-4DDDD1607EB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7200" y="457200"/>
            <a:ext cx="868683" cy="868683"/>
          </a:xfrm>
          <a:prstGeom prst="rect">
            <a:avLst/>
          </a:prstGeom>
        </p:spPr>
      </p:pic>
      <p:sp>
        <p:nvSpPr>
          <p:cNvPr id="3" name="Content Placeholder 2">
            <a:extLst>
              <a:ext uri="{FF2B5EF4-FFF2-40B4-BE49-F238E27FC236}">
                <a16:creationId xmlns:a16="http://schemas.microsoft.com/office/drawing/2014/main" id="{3FA7034E-0EB8-678B-611F-573F36D3C2CD}"/>
              </a:ext>
            </a:extLst>
          </p:cNvPr>
          <p:cNvSpPr>
            <a:spLocks noGrp="1"/>
          </p:cNvSpPr>
          <p:nvPr>
            <p:ph idx="14" hasCustomPrompt="1"/>
          </p:nvPr>
        </p:nvSpPr>
        <p:spPr>
          <a:xfrm>
            <a:off x="5300132" y="4408061"/>
            <a:ext cx="5969000" cy="364204"/>
          </a:xfrm>
          <a:prstGeom prst="rect">
            <a:avLst/>
          </a:prstGeom>
        </p:spPr>
        <p:txBody>
          <a:bodyPr lIns="0" tIns="0" rIns="0" bIns="0" anchor="b" anchorCtr="0"/>
          <a:lstStyle>
            <a:lvl1pPr marL="0" indent="0">
              <a:lnSpc>
                <a:spcPct val="120000"/>
              </a:lnSpc>
              <a:spcBef>
                <a:spcPts val="600"/>
              </a:spcBef>
              <a:buNone/>
              <a:defRPr sz="1600">
                <a:solidFill>
                  <a:schemeClr val="tx1"/>
                </a:solidFill>
                <a:latin typeface="+mj-lt"/>
              </a:defRPr>
            </a:lvl1pPr>
            <a:lvl2pPr marL="457200" indent="0">
              <a:lnSpc>
                <a:spcPct val="120000"/>
              </a:lnSpc>
              <a:spcBef>
                <a:spcPts val="600"/>
              </a:spcBef>
              <a:buFont typeface="Arial" panose="020B0604020202020204" pitchFamily="34" charset="0"/>
              <a:buNone/>
              <a:defRPr sz="1800">
                <a:solidFill>
                  <a:schemeClr val="accent3"/>
                </a:solidFill>
              </a:defRPr>
            </a:lvl2pPr>
            <a:lvl3pPr marL="914400" indent="0">
              <a:lnSpc>
                <a:spcPct val="120000"/>
              </a:lnSpc>
              <a:spcBef>
                <a:spcPts val="600"/>
              </a:spcBef>
              <a:buNone/>
              <a:defRPr sz="1600"/>
            </a:lvl3pPr>
            <a:lvl4pPr marL="1371600" indent="0">
              <a:lnSpc>
                <a:spcPct val="120000"/>
              </a:lnSpc>
              <a:spcBef>
                <a:spcPts val="600"/>
              </a:spcBef>
              <a:buNone/>
              <a:defRPr sz="1400"/>
            </a:lvl4pPr>
            <a:lvl5pPr marL="1828800" indent="0">
              <a:lnSpc>
                <a:spcPct val="120000"/>
              </a:lnSpc>
              <a:spcBef>
                <a:spcPts val="600"/>
              </a:spcBef>
              <a:buNone/>
              <a:defRPr sz="1400"/>
            </a:lvl5pPr>
          </a:lstStyle>
          <a:p>
            <a:pPr lvl="0"/>
            <a:r>
              <a:rPr lang="en-US"/>
              <a:t>Optional Subheading</a:t>
            </a:r>
          </a:p>
        </p:txBody>
      </p:sp>
      <p:sp>
        <p:nvSpPr>
          <p:cNvPr id="4" name="Title 1">
            <a:extLst>
              <a:ext uri="{FF2B5EF4-FFF2-40B4-BE49-F238E27FC236}">
                <a16:creationId xmlns:a16="http://schemas.microsoft.com/office/drawing/2014/main" id="{3B14B21E-98B1-E57D-4A00-0F38F24ADDC0}"/>
              </a:ext>
            </a:extLst>
          </p:cNvPr>
          <p:cNvSpPr>
            <a:spLocks noGrp="1"/>
          </p:cNvSpPr>
          <p:nvPr>
            <p:ph type="title" hasCustomPrompt="1"/>
          </p:nvPr>
        </p:nvSpPr>
        <p:spPr>
          <a:xfrm>
            <a:off x="5300132" y="2870648"/>
            <a:ext cx="5969000" cy="1354217"/>
          </a:xfrm>
          <a:prstGeom prst="rect">
            <a:avLst/>
          </a:prstGeom>
        </p:spPr>
        <p:txBody>
          <a:bodyPr lIns="0" tIns="0" rIns="0" bIns="0" anchor="b" anchorCtr="0"/>
          <a:lstStyle>
            <a:lvl1pPr marL="0" indent="0">
              <a:lnSpc>
                <a:spcPct val="100000"/>
              </a:lnSpc>
              <a:tabLst>
                <a:tab pos="2225675" algn="l"/>
              </a:tabLst>
              <a:defRPr sz="4400">
                <a:solidFill>
                  <a:schemeClr val="tx1"/>
                </a:solidFill>
              </a:defRPr>
            </a:lvl1pPr>
          </a:lstStyle>
          <a:p>
            <a:r>
              <a:rPr lang="en-US"/>
              <a:t>Presentation</a:t>
            </a:r>
            <a:br>
              <a:rPr lang="en-US"/>
            </a:br>
            <a:r>
              <a:rPr lang="en-US"/>
              <a:t>Heading</a:t>
            </a:r>
          </a:p>
        </p:txBody>
      </p:sp>
      <p:sp>
        <p:nvSpPr>
          <p:cNvPr id="5" name="Content Placeholder 2">
            <a:extLst>
              <a:ext uri="{FF2B5EF4-FFF2-40B4-BE49-F238E27FC236}">
                <a16:creationId xmlns:a16="http://schemas.microsoft.com/office/drawing/2014/main" id="{8E86221C-59C6-093A-D248-6D5255DF9984}"/>
              </a:ext>
            </a:extLst>
          </p:cNvPr>
          <p:cNvSpPr>
            <a:spLocks noGrp="1"/>
          </p:cNvSpPr>
          <p:nvPr>
            <p:ph idx="15" hasCustomPrompt="1"/>
          </p:nvPr>
        </p:nvSpPr>
        <p:spPr>
          <a:xfrm>
            <a:off x="5300132" y="4878902"/>
            <a:ext cx="5969000" cy="158763"/>
          </a:xfrm>
          <a:prstGeom prst="rect">
            <a:avLst/>
          </a:prstGeom>
        </p:spPr>
        <p:txBody>
          <a:bodyPr lIns="0" tIns="0" rIns="0" bIns="0" anchor="b" anchorCtr="0"/>
          <a:lstStyle>
            <a:lvl1pPr marL="0" indent="0">
              <a:lnSpc>
                <a:spcPct val="120000"/>
              </a:lnSpc>
              <a:spcBef>
                <a:spcPts val="600"/>
              </a:spcBef>
              <a:buNone/>
              <a:defRPr sz="1050">
                <a:solidFill>
                  <a:schemeClr val="tx1"/>
                </a:solidFill>
              </a:defRPr>
            </a:lvl1pPr>
            <a:lvl2pPr marL="457200" indent="0">
              <a:lnSpc>
                <a:spcPct val="120000"/>
              </a:lnSpc>
              <a:spcBef>
                <a:spcPts val="600"/>
              </a:spcBef>
              <a:buFont typeface="Arial" panose="020B0604020202020204" pitchFamily="34" charset="0"/>
              <a:buNone/>
              <a:defRPr sz="1800">
                <a:solidFill>
                  <a:schemeClr val="accent3"/>
                </a:solidFill>
              </a:defRPr>
            </a:lvl2pPr>
            <a:lvl3pPr marL="914400" indent="0">
              <a:lnSpc>
                <a:spcPct val="120000"/>
              </a:lnSpc>
              <a:spcBef>
                <a:spcPts val="600"/>
              </a:spcBef>
              <a:buNone/>
              <a:defRPr sz="1600"/>
            </a:lvl3pPr>
            <a:lvl4pPr marL="1371600" indent="0">
              <a:lnSpc>
                <a:spcPct val="120000"/>
              </a:lnSpc>
              <a:spcBef>
                <a:spcPts val="600"/>
              </a:spcBef>
              <a:buNone/>
              <a:defRPr sz="1400"/>
            </a:lvl4pPr>
            <a:lvl5pPr marL="1828800" indent="0">
              <a:lnSpc>
                <a:spcPct val="120000"/>
              </a:lnSpc>
              <a:spcBef>
                <a:spcPts val="600"/>
              </a:spcBef>
              <a:buNone/>
              <a:defRPr sz="1400"/>
            </a:lvl5pPr>
          </a:lstStyle>
          <a:p>
            <a:pPr lvl="0"/>
            <a:r>
              <a:rPr lang="en-US"/>
              <a:t>Date</a:t>
            </a:r>
          </a:p>
        </p:txBody>
      </p:sp>
    </p:spTree>
    <p:extLst>
      <p:ext uri="{BB962C8B-B14F-4D97-AF65-F5344CB8AC3E}">
        <p14:creationId xmlns:p14="http://schemas.microsoft.com/office/powerpoint/2010/main" val="1263166571"/>
      </p:ext>
    </p:extLst>
  </p:cSld>
  <p:clrMapOvr>
    <a:masterClrMapping/>
  </p:clrMapOvr>
  <p:extLst>
    <p:ext uri="{DCECCB84-F9BA-43D5-87BE-67443E8EF086}">
      <p15:sldGuideLst xmlns:p15="http://schemas.microsoft.com/office/powerpoint/2012/main">
        <p15:guide id="1" pos="3360">
          <p15:clr>
            <a:srgbClr val="A4A3A4"/>
          </p15:clr>
        </p15:guide>
        <p15:guide id="2" pos="7104">
          <p15:clr>
            <a:srgbClr val="A4A3A4"/>
          </p15:clr>
        </p15:guide>
        <p15:guide id="3" orient="horz" pos="1344">
          <p15:clr>
            <a:srgbClr val="A4A3A4"/>
          </p15:clr>
        </p15:guide>
        <p15:guide id="4" orient="horz" pos="3744">
          <p15:clr>
            <a:srgbClr val="A4A3A4"/>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Blank">
    <p:bg>
      <p:bgPr>
        <a:gradFill>
          <a:gsLst>
            <a:gs pos="83000">
              <a:srgbClr val="8FC3FF"/>
            </a:gs>
            <a:gs pos="100000">
              <a:srgbClr val="80BAFF"/>
            </a:gs>
            <a:gs pos="26000">
              <a:srgbClr val="A9D4FF"/>
            </a:gs>
          </a:gsLst>
          <a:path path="circle">
            <a:fillToRect l="50000" t="50000" r="50000" b="50000"/>
          </a:path>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571386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_Blank">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0068497"/>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967565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46671-891F-05B5-E76C-0E97C7654478}"/>
              </a:ext>
            </a:extLst>
          </p:cNvPr>
          <p:cNvSpPr>
            <a:spLocks noGrp="1"/>
          </p:cNvSpPr>
          <p:nvPr>
            <p:ph type="title" hasCustomPrompt="1"/>
          </p:nvPr>
        </p:nvSpPr>
        <p:spPr>
          <a:xfrm>
            <a:off x="439946" y="381000"/>
            <a:ext cx="11294854" cy="496033"/>
          </a:xfrm>
        </p:spPr>
        <p:txBody>
          <a:bodyPr wrap="square">
            <a:noAutofit/>
          </a:bodyPr>
          <a:lstStyle>
            <a:lvl1pPr>
              <a:spcBef>
                <a:spcPts val="800"/>
              </a:spcBef>
              <a:defRPr sz="3200">
                <a:solidFill>
                  <a:schemeClr val="tx1"/>
                </a:solidFill>
              </a:defRPr>
            </a:lvl1pPr>
          </a:lstStyle>
          <a:p>
            <a:r>
              <a:rPr lang="en-US"/>
              <a:t>Main heading</a:t>
            </a:r>
          </a:p>
        </p:txBody>
      </p:sp>
      <p:sp>
        <p:nvSpPr>
          <p:cNvPr id="3" name="Content Placeholder 2">
            <a:extLst>
              <a:ext uri="{FF2B5EF4-FFF2-40B4-BE49-F238E27FC236}">
                <a16:creationId xmlns:a16="http://schemas.microsoft.com/office/drawing/2014/main" id="{6C62AF48-D0E9-35B2-E289-CB02A3E2F065}"/>
              </a:ext>
            </a:extLst>
          </p:cNvPr>
          <p:cNvSpPr>
            <a:spLocks noGrp="1"/>
          </p:cNvSpPr>
          <p:nvPr>
            <p:ph idx="1"/>
          </p:nvPr>
        </p:nvSpPr>
        <p:spPr>
          <a:xfrm>
            <a:off x="457200" y="1714500"/>
            <a:ext cx="11277600" cy="4114800"/>
          </a:xfrm>
          <a:prstGeom prst="rect">
            <a:avLst/>
          </a:prstGeom>
        </p:spPr>
        <p:txBody>
          <a:bodyPr/>
          <a:lstStyle>
            <a:lvl1pPr>
              <a:lnSpc>
                <a:spcPct val="120000"/>
              </a:lnSpc>
              <a:spcBef>
                <a:spcPts val="600"/>
              </a:spcBef>
              <a:defRPr sz="2000">
                <a:solidFill>
                  <a:srgbClr val="000000"/>
                </a:solidFill>
              </a:defRPr>
            </a:lvl1pPr>
            <a:lvl2pPr marL="685800" indent="-228600">
              <a:lnSpc>
                <a:spcPct val="120000"/>
              </a:lnSpc>
              <a:spcBef>
                <a:spcPts val="600"/>
              </a:spcBef>
              <a:buFont typeface="System Font Regular"/>
              <a:buChar char="⎼"/>
              <a:defRPr sz="1800">
                <a:solidFill>
                  <a:srgbClr val="000000"/>
                </a:solidFill>
              </a:defRPr>
            </a:lvl2pPr>
            <a:lvl3pPr>
              <a:lnSpc>
                <a:spcPct val="120000"/>
              </a:lnSpc>
              <a:spcBef>
                <a:spcPts val="600"/>
              </a:spcBef>
              <a:defRPr sz="1600">
                <a:solidFill>
                  <a:srgbClr val="000000"/>
                </a:solidFill>
              </a:defRPr>
            </a:lvl3pPr>
            <a:lvl4pPr marL="1600200" indent="-228600">
              <a:lnSpc>
                <a:spcPct val="120000"/>
              </a:lnSpc>
              <a:spcBef>
                <a:spcPts val="600"/>
              </a:spcBef>
              <a:buFont typeface="System Font Regular"/>
              <a:buChar char="⎼"/>
              <a:defRPr sz="1400">
                <a:solidFill>
                  <a:srgbClr val="000000"/>
                </a:solidFill>
              </a:defRPr>
            </a:lvl4pPr>
            <a:lvl5pPr>
              <a:lnSpc>
                <a:spcPct val="120000"/>
              </a:lnSpc>
              <a:spcBef>
                <a:spcPts val="600"/>
              </a:spcBef>
              <a:defRPr sz="1400">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9D31BAC0-BC8B-E413-6089-9DD81A14F6B4}"/>
              </a:ext>
            </a:extLst>
          </p:cNvPr>
          <p:cNvSpPr>
            <a:spLocks noGrp="1"/>
          </p:cNvSpPr>
          <p:nvPr>
            <p:ph type="body" sz="quarter" idx="12" hasCustomPrompt="1"/>
          </p:nvPr>
        </p:nvSpPr>
        <p:spPr>
          <a:xfrm>
            <a:off x="439946" y="953242"/>
            <a:ext cx="11294854" cy="496033"/>
          </a:xfrm>
          <a:prstGeom prst="rect">
            <a:avLst/>
          </a:prstGeom>
        </p:spPr>
        <p:txBody>
          <a:bodyPr wrap="square">
            <a:noAutofit/>
          </a:bodyPr>
          <a:lstStyle>
            <a:lvl1pPr marL="0" indent="0">
              <a:lnSpc>
                <a:spcPct val="110000"/>
              </a:lnSpc>
              <a:spcBef>
                <a:spcPts val="800"/>
              </a:spcBef>
              <a:spcAft>
                <a:spcPts val="0"/>
              </a:spcAft>
              <a:buNone/>
              <a:defRPr sz="2200" spc="0">
                <a:solidFill>
                  <a:schemeClr val="tx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subheading or intro line</a:t>
            </a:r>
          </a:p>
        </p:txBody>
      </p:sp>
    </p:spTree>
    <p:extLst>
      <p:ext uri="{BB962C8B-B14F-4D97-AF65-F5344CB8AC3E}">
        <p14:creationId xmlns:p14="http://schemas.microsoft.com/office/powerpoint/2010/main" val="2600870424"/>
      </p:ext>
    </p:extLst>
  </p:cSld>
  <p:clrMapOvr>
    <a:masterClrMapping/>
  </p:clrMapOvr>
  <p:extLst>
    <p:ext uri="{DCECCB84-F9BA-43D5-87BE-67443E8EF086}">
      <p15:sldGuideLst xmlns:p15="http://schemas.microsoft.com/office/powerpoint/2012/main">
        <p15:guide id="1" orient="horz" pos="1080">
          <p15:clr>
            <a:srgbClr val="A4A3A4"/>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609806" y="1488141"/>
            <a:ext cx="5038854" cy="4233390"/>
          </a:xfrm>
        </p:spPr>
        <p:txBody>
          <a:bodyPr lIns="0" anchor="t" anchorCtr="0"/>
          <a:lstStyle>
            <a:lvl1pPr algn="l">
              <a:defRPr sz="44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pic>
        <p:nvPicPr>
          <p:cNvPr id="3" name="Picture 2" descr="A blue and grey square&#10;&#10;AI-generated content may be incorrect.">
            <a:extLst>
              <a:ext uri="{FF2B5EF4-FFF2-40B4-BE49-F238E27FC236}">
                <a16:creationId xmlns:a16="http://schemas.microsoft.com/office/drawing/2014/main" id="{CDBA8C77-70CA-13DB-6585-126480192E47}"/>
              </a:ext>
            </a:extLst>
          </p:cNvPr>
          <p:cNvPicPr>
            <a:picLocks noChangeAspect="1"/>
          </p:cNvPicPr>
          <p:nvPr userDrawn="1"/>
        </p:nvPicPr>
        <p:blipFill>
          <a:blip r:embed="rId2">
            <a:alphaModFix amt="70000"/>
          </a:blip>
          <a:stretch>
            <a:fillRect/>
          </a:stretch>
        </p:blipFill>
        <p:spPr>
          <a:xfrm>
            <a:off x="0" y="616857"/>
            <a:ext cx="6265333" cy="6241143"/>
          </a:xfrm>
          <a:prstGeom prst="rect">
            <a:avLst/>
          </a:prstGeom>
        </p:spPr>
      </p:pic>
    </p:spTree>
    <p:extLst>
      <p:ext uri="{BB962C8B-B14F-4D97-AF65-F5344CB8AC3E}">
        <p14:creationId xmlns:p14="http://schemas.microsoft.com/office/powerpoint/2010/main" val="265319474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78766" y="2485075"/>
            <a:ext cx="10834468" cy="943925"/>
          </a:xfrm>
        </p:spPr>
        <p:txBody>
          <a:bodyPr lIns="0" anchor="t" anchorCtr="0"/>
          <a:lstStyle>
            <a:lvl1pPr algn="ctr">
              <a:defRPr sz="50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spTree>
    <p:extLst>
      <p:ext uri="{BB962C8B-B14F-4D97-AF65-F5344CB8AC3E}">
        <p14:creationId xmlns:p14="http://schemas.microsoft.com/office/powerpoint/2010/main" val="120834962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COL TEXT A">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marL="0" indent="0">
              <a:buNone/>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8" name="Title 7">
            <a:extLst>
              <a:ext uri="{FF2B5EF4-FFF2-40B4-BE49-F238E27FC236}">
                <a16:creationId xmlns:a16="http://schemas.microsoft.com/office/drawing/2014/main" id="{55693EF2-8722-D131-EA6A-161C518F1622}"/>
              </a:ext>
            </a:extLst>
          </p:cNvPr>
          <p:cNvSpPr>
            <a:spLocks noGrp="1"/>
          </p:cNvSpPr>
          <p:nvPr>
            <p:ph type="title"/>
          </p:nvPr>
        </p:nvSpPr>
        <p:spPr>
          <a:xfrm>
            <a:off x="6665369" y="493776"/>
            <a:ext cx="4754880" cy="1219201"/>
          </a:xfrm>
        </p:spPr>
        <p:txBody>
          <a:bodyPr/>
          <a:lstStyle/>
          <a:p>
            <a:endParaRPr lang="en-US"/>
          </a:p>
        </p:txBody>
      </p:sp>
    </p:spTree>
    <p:extLst>
      <p:ext uri="{BB962C8B-B14F-4D97-AF65-F5344CB8AC3E}">
        <p14:creationId xmlns:p14="http://schemas.microsoft.com/office/powerpoint/2010/main" val="8176885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COL TEXT B">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5" name="Title 4">
            <a:extLst>
              <a:ext uri="{FF2B5EF4-FFF2-40B4-BE49-F238E27FC236}">
                <a16:creationId xmlns:a16="http://schemas.microsoft.com/office/drawing/2014/main" id="{2D529423-01B6-FD0F-9F4A-0764671527B0}"/>
              </a:ext>
            </a:extLst>
          </p:cNvPr>
          <p:cNvSpPr>
            <a:spLocks noGrp="1"/>
          </p:cNvSpPr>
          <p:nvPr>
            <p:ph type="title"/>
          </p:nvPr>
        </p:nvSpPr>
        <p:spPr>
          <a:xfrm>
            <a:off x="6665369" y="493776"/>
            <a:ext cx="4754880" cy="1219200"/>
          </a:xfrm>
        </p:spPr>
        <p:txBody>
          <a:bodyPr/>
          <a:lstStyle/>
          <a:p>
            <a:endParaRPr lang="en-US"/>
          </a:p>
        </p:txBody>
      </p:sp>
    </p:spTree>
    <p:extLst>
      <p:ext uri="{BB962C8B-B14F-4D97-AF65-F5344CB8AC3E}">
        <p14:creationId xmlns:p14="http://schemas.microsoft.com/office/powerpoint/2010/main" val="379794812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C28B780-3A50-0A40-CDE0-D8FE581DEB63}"/>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457200" y="493776"/>
            <a:ext cx="5029200" cy="2487168"/>
          </a:xfrm>
        </p:spPr>
        <p:txBody>
          <a:bodyPr/>
          <a:lstStyle>
            <a:lvl1pPr>
              <a:defRPr sz="3600">
                <a:solidFill>
                  <a:srgbClr val="000A62"/>
                </a:solidFill>
              </a:defRPr>
            </a:lvl1pPr>
          </a:lstStyle>
          <a:p>
            <a:endParaRPr lang="en-US"/>
          </a:p>
        </p:txBody>
      </p:sp>
    </p:spTree>
    <p:extLst>
      <p:ext uri="{BB962C8B-B14F-4D97-AF65-F5344CB8AC3E}">
        <p14:creationId xmlns:p14="http://schemas.microsoft.com/office/powerpoint/2010/main" val="71894377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blank" preserve="1">
  <p:cSld name="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pic>
        <p:nvPicPr>
          <p:cNvPr id="2" name="Graphic 1">
            <a:extLst>
              <a:ext uri="{FF2B5EF4-FFF2-40B4-BE49-F238E27FC236}">
                <a16:creationId xmlns:a16="http://schemas.microsoft.com/office/drawing/2014/main" id="{8F53EAEA-39FB-5B87-7263-2C114FEFF040}"/>
              </a:ext>
            </a:extLst>
          </p:cNvPr>
          <p:cNvPicPr>
            <a:picLocks noChangeAspect="1"/>
          </p:cNvPicPr>
          <p:nvPr userDrawn="1"/>
        </p:nvPicPr>
        <p:blipFill>
          <a:blip r:embed="rId3"/>
          <a:srcRect/>
          <a:stretch/>
        </p:blipFill>
        <p:spPr>
          <a:xfrm>
            <a:off x="4856245" y="2183735"/>
            <a:ext cx="2479509" cy="2490530"/>
          </a:xfrm>
          <a:prstGeom prst="rect">
            <a:avLst/>
          </a:prstGeom>
          <a:effectLst/>
        </p:spPr>
      </p:pic>
    </p:spTree>
    <p:extLst>
      <p:ext uri="{BB962C8B-B14F-4D97-AF65-F5344CB8AC3E}">
        <p14:creationId xmlns:p14="http://schemas.microsoft.com/office/powerpoint/2010/main" val="382889601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blank" preserve="1">
  <p:cSld name="1_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pic>
        <p:nvPicPr>
          <p:cNvPr id="4" name="Picture 3" descr="A blue and black logo&#10;&#10;AI-generated content may be incorrect.">
            <a:extLst>
              <a:ext uri="{FF2B5EF4-FFF2-40B4-BE49-F238E27FC236}">
                <a16:creationId xmlns:a16="http://schemas.microsoft.com/office/drawing/2014/main" id="{998306C0-7B5B-AB98-EC2E-C89EC1D1A8F9}"/>
              </a:ext>
            </a:extLst>
          </p:cNvPr>
          <p:cNvPicPr>
            <a:picLocks noChangeAspect="1"/>
          </p:cNvPicPr>
          <p:nvPr userDrawn="1"/>
        </p:nvPicPr>
        <p:blipFill>
          <a:blip r:embed="rId3"/>
          <a:stretch>
            <a:fillRect/>
          </a:stretch>
        </p:blipFill>
        <p:spPr>
          <a:xfrm>
            <a:off x="2919977" y="2624326"/>
            <a:ext cx="6352045" cy="1609347"/>
          </a:xfrm>
          <a:prstGeom prst="rect">
            <a:avLst/>
          </a:prstGeom>
        </p:spPr>
      </p:pic>
    </p:spTree>
    <p:extLst>
      <p:ext uri="{BB962C8B-B14F-4D97-AF65-F5344CB8AC3E}">
        <p14:creationId xmlns:p14="http://schemas.microsoft.com/office/powerpoint/2010/main" val="273562990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FD5C82-2B6A-9AA6-4865-DCCB468D4BC5}"/>
              </a:ext>
            </a:extLst>
          </p:cNvPr>
          <p:cNvSpPr>
            <a:spLocks noGrp="1"/>
          </p:cNvSpPr>
          <p:nvPr>
            <p:ph type="sldNum" sz="quarter" idx="10"/>
          </p:nvPr>
        </p:nvSpPr>
        <p:spPr>
          <a:xfrm>
            <a:off x="11650342" y="6232230"/>
            <a:ext cx="430079" cy="365125"/>
          </a:xfrm>
          <a:prstGeom prst="rect">
            <a:avLst/>
          </a:prstGeom>
        </p:spPr>
        <p:txBody>
          <a:bodyPr/>
          <a:lstStyle/>
          <a:p>
            <a:fld id="{A1371F83-EA4D-3B47-99B9-95D90583DC1D}" type="slidenum">
              <a:rPr lang="en-US" smtClean="0"/>
              <a:pPr/>
              <a:t>‹#›</a:t>
            </a:fld>
            <a:endParaRPr lang="en-US"/>
          </a:p>
        </p:txBody>
      </p:sp>
    </p:spTree>
    <p:extLst>
      <p:ext uri="{BB962C8B-B14F-4D97-AF65-F5344CB8AC3E}">
        <p14:creationId xmlns:p14="http://schemas.microsoft.com/office/powerpoint/2010/main" val="1530914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image" Target="../media/image3.png"/><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image" Target="../media/image2.emf"/><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image" Target="../media/image1.png"/><Relationship Id="rId5" Type="http://schemas.openxmlformats.org/officeDocument/2006/relationships/slideLayout" Target="../slideLayouts/slideLayout25.xml"/><Relationship Id="rId10" Type="http://schemas.openxmlformats.org/officeDocument/2006/relationships/theme" Target="../theme/theme2.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42.xml"/><Relationship Id="rId18" Type="http://schemas.openxmlformats.org/officeDocument/2006/relationships/slideLayout" Target="../slideLayouts/slideLayout47.xml"/><Relationship Id="rId26" Type="http://schemas.openxmlformats.org/officeDocument/2006/relationships/slideLayout" Target="../slideLayouts/slideLayout55.xml"/><Relationship Id="rId3" Type="http://schemas.openxmlformats.org/officeDocument/2006/relationships/slideLayout" Target="../slideLayouts/slideLayout32.xml"/><Relationship Id="rId21" Type="http://schemas.openxmlformats.org/officeDocument/2006/relationships/slideLayout" Target="../slideLayouts/slideLayout50.xml"/><Relationship Id="rId34" Type="http://schemas.openxmlformats.org/officeDocument/2006/relationships/image" Target="../media/image1.png"/><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5" Type="http://schemas.openxmlformats.org/officeDocument/2006/relationships/slideLayout" Target="../slideLayouts/slideLayout54.xml"/><Relationship Id="rId33" Type="http://schemas.openxmlformats.org/officeDocument/2006/relationships/image" Target="../media/image2.emf"/><Relationship Id="rId2" Type="http://schemas.openxmlformats.org/officeDocument/2006/relationships/slideLayout" Target="../slideLayouts/slideLayout31.xml"/><Relationship Id="rId16" Type="http://schemas.openxmlformats.org/officeDocument/2006/relationships/slideLayout" Target="../slideLayouts/slideLayout45.xml"/><Relationship Id="rId20" Type="http://schemas.openxmlformats.org/officeDocument/2006/relationships/slideLayout" Target="../slideLayouts/slideLayout49.xml"/><Relationship Id="rId29" Type="http://schemas.openxmlformats.org/officeDocument/2006/relationships/slideLayout" Target="../slideLayouts/slideLayout58.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24" Type="http://schemas.openxmlformats.org/officeDocument/2006/relationships/slideLayout" Target="../slideLayouts/slideLayout53.xml"/><Relationship Id="rId32" Type="http://schemas.openxmlformats.org/officeDocument/2006/relationships/theme" Target="../theme/theme3.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23" Type="http://schemas.openxmlformats.org/officeDocument/2006/relationships/slideLayout" Target="../slideLayouts/slideLayout52.xml"/><Relationship Id="rId28" Type="http://schemas.openxmlformats.org/officeDocument/2006/relationships/slideLayout" Target="../slideLayouts/slideLayout57.xml"/><Relationship Id="rId10" Type="http://schemas.openxmlformats.org/officeDocument/2006/relationships/slideLayout" Target="../slideLayouts/slideLayout39.xml"/><Relationship Id="rId19" Type="http://schemas.openxmlformats.org/officeDocument/2006/relationships/slideLayout" Target="../slideLayouts/slideLayout48.xml"/><Relationship Id="rId31" Type="http://schemas.openxmlformats.org/officeDocument/2006/relationships/slideLayout" Target="../slideLayouts/slideLayout60.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 Id="rId22" Type="http://schemas.openxmlformats.org/officeDocument/2006/relationships/slideLayout" Target="../slideLayouts/slideLayout51.xml"/><Relationship Id="rId27" Type="http://schemas.openxmlformats.org/officeDocument/2006/relationships/slideLayout" Target="../slideLayouts/slideLayout56.xml"/><Relationship Id="rId30" Type="http://schemas.openxmlformats.org/officeDocument/2006/relationships/slideLayout" Target="../slideLayouts/slideLayout59.xml"/><Relationship Id="rId35" Type="http://schemas.openxmlformats.org/officeDocument/2006/relationships/image" Target="../media/image3.png"/><Relationship Id="rId8"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image" Target="../media/image3.png"/><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image" Target="../media/image6.svg"/><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image" Target="../media/image2.emf"/><Relationship Id="rId5" Type="http://schemas.openxmlformats.org/officeDocument/2006/relationships/slideLayout" Target="../slideLayouts/slideLayout65.xml"/><Relationship Id="rId10" Type="http://schemas.openxmlformats.org/officeDocument/2006/relationships/theme" Target="../theme/theme4.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3000">
              <a:srgbClr val="73ACED"/>
            </a:gs>
            <a:gs pos="100000">
              <a:srgbClr val="699DD8"/>
            </a:gs>
            <a:gs pos="26000">
              <a:srgbClr val="9AC8FF"/>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627F9DBD-C578-1BC4-D502-322F3D2B8C73}"/>
              </a:ext>
            </a:extLst>
          </p:cNvPr>
          <p:cNvPicPr>
            <a:picLocks noChangeAspect="1"/>
          </p:cNvPicPr>
          <p:nvPr/>
        </p:nvPicPr>
        <p:blipFill>
          <a:blip r:embed="rId22"/>
          <a:srcRect/>
          <a:stretch/>
        </p:blipFill>
        <p:spPr>
          <a:xfrm>
            <a:off x="457200" y="6186192"/>
            <a:ext cx="455176" cy="457200"/>
          </a:xfrm>
          <a:prstGeom prst="rect">
            <a:avLst/>
          </a:prstGeom>
          <a:effectLst/>
        </p:spPr>
      </p:pic>
      <p:grpSp>
        <p:nvGrpSpPr>
          <p:cNvPr id="71" name="Cut Out" hidden="1">
            <a:extLst>
              <a:ext uri="{FF2B5EF4-FFF2-40B4-BE49-F238E27FC236}">
                <a16:creationId xmlns:a16="http://schemas.microsoft.com/office/drawing/2014/main" id="{645A4865-68ED-9412-B75A-3F8ACB57FB6E}"/>
              </a:ext>
            </a:extLst>
          </p:cNvPr>
          <p:cNvGrpSpPr/>
          <p:nvPr userDrawn="1"/>
        </p:nvGrpSpPr>
        <p:grpSpPr>
          <a:xfrm>
            <a:off x="-247316" y="391974"/>
            <a:ext cx="5968819" cy="6782282"/>
            <a:chOff x="-247316" y="391974"/>
            <a:chExt cx="5968819" cy="6782282"/>
          </a:xfrm>
        </p:grpSpPr>
        <p:sp>
          <p:nvSpPr>
            <p:cNvPr id="64" name="Freeform 63">
              <a:extLst>
                <a:ext uri="{FF2B5EF4-FFF2-40B4-BE49-F238E27FC236}">
                  <a16:creationId xmlns:a16="http://schemas.microsoft.com/office/drawing/2014/main" id="{6AAF9C22-8F00-F0CC-F430-DDD56142D83E}"/>
                </a:ext>
              </a:extLst>
            </p:cNvPr>
            <p:cNvSpPr/>
            <p:nvPr userDrawn="1"/>
          </p:nvSpPr>
          <p:spPr>
            <a:xfrm rot="20700000">
              <a:off x="4501782" y="391974"/>
              <a:ext cx="1219721" cy="6782282"/>
            </a:xfrm>
            <a:custGeom>
              <a:avLst/>
              <a:gdLst>
                <a:gd name="connsiteX0" fmla="*/ 1219721 w 1219721"/>
                <a:gd name="connsiteY0" fmla="*/ 0 h 6782282"/>
                <a:gd name="connsiteX1" fmla="*/ 1219720 w 1219721"/>
                <a:gd name="connsiteY1" fmla="*/ 6782282 h 6782282"/>
                <a:gd name="connsiteX2" fmla="*/ 0 w 1219721"/>
                <a:gd name="connsiteY2" fmla="*/ 6455459 h 6782282"/>
                <a:gd name="connsiteX3" fmla="*/ 0 w 1219721"/>
                <a:gd name="connsiteY3" fmla="*/ 1216910 h 6782282"/>
                <a:gd name="connsiteX4" fmla="*/ 1216910 w 1219721"/>
                <a:gd name="connsiteY4" fmla="*/ 0 h 67822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721" h="6782282">
                  <a:moveTo>
                    <a:pt x="1219721" y="0"/>
                  </a:moveTo>
                  <a:lnTo>
                    <a:pt x="1219720" y="6782282"/>
                  </a:lnTo>
                  <a:lnTo>
                    <a:pt x="0" y="6455459"/>
                  </a:lnTo>
                  <a:lnTo>
                    <a:pt x="0" y="1216910"/>
                  </a:lnTo>
                  <a:lnTo>
                    <a:pt x="121691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66">
              <a:extLst>
                <a:ext uri="{FF2B5EF4-FFF2-40B4-BE49-F238E27FC236}">
                  <a16:creationId xmlns:a16="http://schemas.microsoft.com/office/drawing/2014/main" id="{07F2DA9D-A2E1-6623-5534-DE193CE69237}"/>
                </a:ext>
              </a:extLst>
            </p:cNvPr>
            <p:cNvSpPr/>
            <p:nvPr userDrawn="1"/>
          </p:nvSpPr>
          <p:spPr>
            <a:xfrm rot="20700000">
              <a:off x="3086241" y="2413806"/>
              <a:ext cx="1219717" cy="4725406"/>
            </a:xfrm>
            <a:custGeom>
              <a:avLst/>
              <a:gdLst>
                <a:gd name="connsiteX0" fmla="*/ 1219717 w 1219717"/>
                <a:gd name="connsiteY0" fmla="*/ 0 h 4725406"/>
                <a:gd name="connsiteX1" fmla="*/ 1219717 w 1219717"/>
                <a:gd name="connsiteY1" fmla="*/ 4725406 h 4725406"/>
                <a:gd name="connsiteX2" fmla="*/ 0 w 1219717"/>
                <a:gd name="connsiteY2" fmla="*/ 4398584 h 4725406"/>
                <a:gd name="connsiteX3" fmla="*/ 0 w 1219717"/>
                <a:gd name="connsiteY3" fmla="*/ 1219718 h 4725406"/>
              </a:gdLst>
              <a:ahLst/>
              <a:cxnLst>
                <a:cxn ang="0">
                  <a:pos x="connsiteX0" y="connsiteY0"/>
                </a:cxn>
                <a:cxn ang="0">
                  <a:pos x="connsiteX1" y="connsiteY1"/>
                </a:cxn>
                <a:cxn ang="0">
                  <a:pos x="connsiteX2" y="connsiteY2"/>
                </a:cxn>
                <a:cxn ang="0">
                  <a:pos x="connsiteX3" y="connsiteY3"/>
                </a:cxn>
              </a:cxnLst>
              <a:rect l="l" t="t" r="r" b="b"/>
              <a:pathLst>
                <a:path w="1219717" h="4725406">
                  <a:moveTo>
                    <a:pt x="1219717" y="0"/>
                  </a:moveTo>
                  <a:lnTo>
                    <a:pt x="1219717" y="4725406"/>
                  </a:lnTo>
                  <a:lnTo>
                    <a:pt x="0" y="4398584"/>
                  </a:lnTo>
                  <a:lnTo>
                    <a:pt x="0" y="1219718"/>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69">
              <a:extLst>
                <a:ext uri="{FF2B5EF4-FFF2-40B4-BE49-F238E27FC236}">
                  <a16:creationId xmlns:a16="http://schemas.microsoft.com/office/drawing/2014/main" id="{507EE6BD-3353-5291-18D0-AE718EEBDDB9}"/>
                </a:ext>
              </a:extLst>
            </p:cNvPr>
            <p:cNvSpPr/>
            <p:nvPr userDrawn="1"/>
          </p:nvSpPr>
          <p:spPr>
            <a:xfrm rot="20700000">
              <a:off x="1675953" y="4431391"/>
              <a:ext cx="1219720" cy="2672853"/>
            </a:xfrm>
            <a:custGeom>
              <a:avLst/>
              <a:gdLst>
                <a:gd name="connsiteX0" fmla="*/ 1219720 w 1219720"/>
                <a:gd name="connsiteY0" fmla="*/ 0 h 2672853"/>
                <a:gd name="connsiteX1" fmla="*/ 1219720 w 1219720"/>
                <a:gd name="connsiteY1" fmla="*/ 2672853 h 2672853"/>
                <a:gd name="connsiteX2" fmla="*/ 0 w 1219720"/>
                <a:gd name="connsiteY2" fmla="*/ 2346030 h 2672853"/>
                <a:gd name="connsiteX3" fmla="*/ 0 w 1219720"/>
                <a:gd name="connsiteY3" fmla="*/ 1219720 h 2672853"/>
              </a:gdLst>
              <a:ahLst/>
              <a:cxnLst>
                <a:cxn ang="0">
                  <a:pos x="connsiteX0" y="connsiteY0"/>
                </a:cxn>
                <a:cxn ang="0">
                  <a:pos x="connsiteX1" y="connsiteY1"/>
                </a:cxn>
                <a:cxn ang="0">
                  <a:pos x="connsiteX2" y="connsiteY2"/>
                </a:cxn>
                <a:cxn ang="0">
                  <a:pos x="connsiteX3" y="connsiteY3"/>
                </a:cxn>
              </a:cxnLst>
              <a:rect l="l" t="t" r="r" b="b"/>
              <a:pathLst>
                <a:path w="1219720" h="2672853">
                  <a:moveTo>
                    <a:pt x="1219720" y="0"/>
                  </a:moveTo>
                  <a:lnTo>
                    <a:pt x="1219720" y="2672853"/>
                  </a:lnTo>
                  <a:lnTo>
                    <a:pt x="0" y="2346030"/>
                  </a:lnTo>
                  <a:lnTo>
                    <a:pt x="0" y="121972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56">
              <a:extLst>
                <a:ext uri="{FF2B5EF4-FFF2-40B4-BE49-F238E27FC236}">
                  <a16:creationId xmlns:a16="http://schemas.microsoft.com/office/drawing/2014/main" id="{7868CEA2-789D-E697-16FE-ACD6F7B6F760}"/>
                </a:ext>
              </a:extLst>
            </p:cNvPr>
            <p:cNvSpPr/>
            <p:nvPr userDrawn="1"/>
          </p:nvSpPr>
          <p:spPr>
            <a:xfrm rot="20700000">
              <a:off x="-247316" y="1017576"/>
              <a:ext cx="5315676" cy="1216909"/>
            </a:xfrm>
            <a:custGeom>
              <a:avLst/>
              <a:gdLst>
                <a:gd name="connsiteX0" fmla="*/ 5315676 w 5315676"/>
                <a:gd name="connsiteY0" fmla="*/ 0 h 1216909"/>
                <a:gd name="connsiteX1" fmla="*/ 4098766 w 5315676"/>
                <a:gd name="connsiteY1" fmla="*/ 1216909 h 1216909"/>
                <a:gd name="connsiteX2" fmla="*/ 4098766 w 5315676"/>
                <a:gd name="connsiteY2" fmla="*/ 1214099 h 1216909"/>
                <a:gd name="connsiteX3" fmla="*/ 0 w 5315676"/>
                <a:gd name="connsiteY3" fmla="*/ 1214099 h 1216909"/>
                <a:gd name="connsiteX4" fmla="*/ 325317 w 5315676"/>
                <a:gd name="connsiteY4" fmla="*/ 0 h 1216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5676" h="1216909">
                  <a:moveTo>
                    <a:pt x="5315676" y="0"/>
                  </a:moveTo>
                  <a:lnTo>
                    <a:pt x="4098766" y="1216909"/>
                  </a:lnTo>
                  <a:lnTo>
                    <a:pt x="4098766" y="1214099"/>
                  </a:lnTo>
                  <a:lnTo>
                    <a:pt x="0" y="1214099"/>
                  </a:lnTo>
                  <a:lnTo>
                    <a:pt x="325317"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A355C7A9-C0A5-8D5F-EB91-F99F6596BF4C}"/>
                </a:ext>
              </a:extLst>
            </p:cNvPr>
            <p:cNvSpPr/>
            <p:nvPr userDrawn="1"/>
          </p:nvSpPr>
          <p:spPr>
            <a:xfrm rot="20700000">
              <a:off x="-226351" y="2847108"/>
              <a:ext cx="4127824" cy="1222528"/>
            </a:xfrm>
            <a:custGeom>
              <a:avLst/>
              <a:gdLst>
                <a:gd name="connsiteX0" fmla="*/ 4127824 w 4127824"/>
                <a:gd name="connsiteY0" fmla="*/ 0 h 1222528"/>
                <a:gd name="connsiteX1" fmla="*/ 4127824 w 4127824"/>
                <a:gd name="connsiteY1" fmla="*/ 2811 h 1222528"/>
                <a:gd name="connsiteX2" fmla="*/ 2908106 w 4127824"/>
                <a:gd name="connsiteY2" fmla="*/ 1222528 h 1222528"/>
                <a:gd name="connsiteX3" fmla="*/ 2908106 w 4127824"/>
                <a:gd name="connsiteY3" fmla="*/ 1214099 h 1222528"/>
                <a:gd name="connsiteX4" fmla="*/ 0 w 4127824"/>
                <a:gd name="connsiteY4" fmla="*/ 1214099 h 1222528"/>
                <a:gd name="connsiteX5" fmla="*/ 325317 w 4127824"/>
                <a:gd name="connsiteY5" fmla="*/ 0 h 122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27824" h="1222528">
                  <a:moveTo>
                    <a:pt x="4127824" y="0"/>
                  </a:moveTo>
                  <a:lnTo>
                    <a:pt x="4127824" y="2811"/>
                  </a:lnTo>
                  <a:lnTo>
                    <a:pt x="2908106" y="1222528"/>
                  </a:lnTo>
                  <a:lnTo>
                    <a:pt x="2908106" y="1214099"/>
                  </a:lnTo>
                  <a:lnTo>
                    <a:pt x="0" y="1214099"/>
                  </a:lnTo>
                  <a:lnTo>
                    <a:pt x="325317"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1568EE0E-6087-7F47-4FC1-A508563439ED}"/>
                </a:ext>
              </a:extLst>
            </p:cNvPr>
            <p:cNvSpPr/>
            <p:nvPr userDrawn="1"/>
          </p:nvSpPr>
          <p:spPr>
            <a:xfrm rot="20700000">
              <a:off x="-206161" y="4676366"/>
              <a:ext cx="2942781" cy="1222530"/>
            </a:xfrm>
            <a:custGeom>
              <a:avLst/>
              <a:gdLst>
                <a:gd name="connsiteX0" fmla="*/ 2942781 w 2942781"/>
                <a:gd name="connsiteY0" fmla="*/ 0 h 1222530"/>
                <a:gd name="connsiteX1" fmla="*/ 2942781 w 2942781"/>
                <a:gd name="connsiteY1" fmla="*/ 2811 h 1222530"/>
                <a:gd name="connsiteX2" fmla="*/ 1723060 w 2942781"/>
                <a:gd name="connsiteY2" fmla="*/ 1222530 h 1222530"/>
                <a:gd name="connsiteX3" fmla="*/ 1723060 w 2942781"/>
                <a:gd name="connsiteY3" fmla="*/ 1214099 h 1222530"/>
                <a:gd name="connsiteX4" fmla="*/ 0 w 2942781"/>
                <a:gd name="connsiteY4" fmla="*/ 1214098 h 1222530"/>
                <a:gd name="connsiteX5" fmla="*/ 325316 w 2942781"/>
                <a:gd name="connsiteY5" fmla="*/ 0 h 1222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42781" h="1222530">
                  <a:moveTo>
                    <a:pt x="2942781" y="0"/>
                  </a:moveTo>
                  <a:lnTo>
                    <a:pt x="2942781" y="2811"/>
                  </a:lnTo>
                  <a:lnTo>
                    <a:pt x="1723060" y="1222530"/>
                  </a:lnTo>
                  <a:lnTo>
                    <a:pt x="1723060" y="1214099"/>
                  </a:lnTo>
                  <a:lnTo>
                    <a:pt x="0" y="1214098"/>
                  </a:lnTo>
                  <a:lnTo>
                    <a:pt x="325316"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Placeholder 1">
            <a:extLst>
              <a:ext uri="{FF2B5EF4-FFF2-40B4-BE49-F238E27FC236}">
                <a16:creationId xmlns:a16="http://schemas.microsoft.com/office/drawing/2014/main" id="{94D09C11-7276-B67A-A1A1-4C875D1ABA68}"/>
              </a:ext>
            </a:extLst>
          </p:cNvPr>
          <p:cNvSpPr>
            <a:spLocks noGrp="1"/>
          </p:cNvSpPr>
          <p:nvPr userDrawn="1">
            <p:ph type="title"/>
          </p:nvPr>
        </p:nvSpPr>
        <p:spPr>
          <a:xfrm>
            <a:off x="457200" y="493776"/>
            <a:ext cx="11275835" cy="804672"/>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64A7CC43-E171-1153-2B75-F702D7B914A8}"/>
              </a:ext>
            </a:extLst>
          </p:cNvPr>
          <p:cNvSpPr>
            <a:spLocks noGrp="1"/>
          </p:cNvSpPr>
          <p:nvPr userDrawn="1">
            <p:ph type="body" idx="1"/>
          </p:nvPr>
        </p:nvSpPr>
        <p:spPr>
          <a:xfrm>
            <a:off x="457201" y="1554480"/>
            <a:ext cx="11275834" cy="4247212"/>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hidden="1">
            <a:extLst>
              <a:ext uri="{FF2B5EF4-FFF2-40B4-BE49-F238E27FC236}">
                <a16:creationId xmlns:a16="http://schemas.microsoft.com/office/drawing/2014/main" id="{0BF76C95-9667-2357-762F-B7B15D7BA3E7}"/>
              </a:ext>
            </a:extLst>
          </p:cNvPr>
          <p:cNvPicPr>
            <a:picLocks noChangeAspect="1"/>
          </p:cNvPicPr>
          <p:nvPr userDrawn="1"/>
        </p:nvPicPr>
        <p:blipFill>
          <a:blip r:embed="rId23"/>
          <a:stretch>
            <a:fillRect/>
          </a:stretch>
        </p:blipFill>
        <p:spPr>
          <a:xfrm>
            <a:off x="199931" y="-813939"/>
            <a:ext cx="2208828" cy="563207"/>
          </a:xfrm>
          <a:prstGeom prst="rect">
            <a:avLst/>
          </a:prstGeom>
        </p:spPr>
      </p:pic>
      <p:grpSp>
        <p:nvGrpSpPr>
          <p:cNvPr id="38" name="Full Size" hidden="1">
            <a:extLst>
              <a:ext uri="{FF2B5EF4-FFF2-40B4-BE49-F238E27FC236}">
                <a16:creationId xmlns:a16="http://schemas.microsoft.com/office/drawing/2014/main" id="{CBF5D916-2559-D87A-6071-0827F3911641}"/>
              </a:ext>
            </a:extLst>
          </p:cNvPr>
          <p:cNvGrpSpPr/>
          <p:nvPr userDrawn="1"/>
        </p:nvGrpSpPr>
        <p:grpSpPr>
          <a:xfrm rot="-19800000">
            <a:off x="-13122649" y="-4850920"/>
            <a:ext cx="20342655" cy="21641432"/>
            <a:chOff x="-289533" y="-2834540"/>
            <a:chExt cx="9192657" cy="9779562"/>
          </a:xfrm>
        </p:grpSpPr>
        <p:sp>
          <p:nvSpPr>
            <p:cNvPr id="39" name="Freeform 38">
              <a:extLst>
                <a:ext uri="{FF2B5EF4-FFF2-40B4-BE49-F238E27FC236}">
                  <a16:creationId xmlns:a16="http://schemas.microsoft.com/office/drawing/2014/main" id="{09460502-8A0D-F9D8-E3FC-D3C35053B797}"/>
                </a:ext>
              </a:extLst>
            </p:cNvPr>
            <p:cNvSpPr/>
            <p:nvPr userDrawn="1"/>
          </p:nvSpPr>
          <p:spPr>
            <a:xfrm rot="18900000">
              <a:off x="8351944" y="-2834540"/>
              <a:ext cx="551180" cy="7708900"/>
            </a:xfrm>
            <a:custGeom>
              <a:avLst/>
              <a:gdLst>
                <a:gd name="connsiteX0" fmla="*/ 551180 w 551180"/>
                <a:gd name="connsiteY0" fmla="*/ 0 h 7708900"/>
                <a:gd name="connsiteX1" fmla="*/ 551180 w 551180"/>
                <a:gd name="connsiteY1" fmla="*/ 7708900 h 7708900"/>
                <a:gd name="connsiteX2" fmla="*/ 0 w 551180"/>
                <a:gd name="connsiteY2" fmla="*/ 7708900 h 7708900"/>
                <a:gd name="connsiteX3" fmla="*/ 0 w 551180"/>
                <a:gd name="connsiteY3" fmla="*/ 549910 h 7708900"/>
                <a:gd name="connsiteX4" fmla="*/ 549910 w 551180"/>
                <a:gd name="connsiteY4" fmla="*/ 0 h 7708900"/>
                <a:gd name="connsiteX5" fmla="*/ 551180 w 551180"/>
                <a:gd name="connsiteY5" fmla="*/ 0 h 770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180" h="7708900">
                  <a:moveTo>
                    <a:pt x="551180" y="0"/>
                  </a:moveTo>
                  <a:lnTo>
                    <a:pt x="551180" y="7708900"/>
                  </a:lnTo>
                  <a:lnTo>
                    <a:pt x="0" y="7708900"/>
                  </a:lnTo>
                  <a:lnTo>
                    <a:pt x="0" y="549910"/>
                  </a:lnTo>
                  <a:lnTo>
                    <a:pt x="549910" y="0"/>
                  </a:lnTo>
                  <a:lnTo>
                    <a:pt x="55118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39">
              <a:extLst>
                <a:ext uri="{FF2B5EF4-FFF2-40B4-BE49-F238E27FC236}">
                  <a16:creationId xmlns:a16="http://schemas.microsoft.com/office/drawing/2014/main" id="{A5626CB4-BBEE-998F-0B0A-69DF05DFB1D9}"/>
                </a:ext>
              </a:extLst>
            </p:cNvPr>
            <p:cNvSpPr/>
            <p:nvPr userDrawn="1"/>
          </p:nvSpPr>
          <p:spPr>
            <a:xfrm rot="18900000">
              <a:off x="8350599" y="-1797133"/>
              <a:ext cx="551179" cy="7707629"/>
            </a:xfrm>
            <a:custGeom>
              <a:avLst/>
              <a:gdLst>
                <a:gd name="connsiteX0" fmla="*/ 551179 w 551179"/>
                <a:gd name="connsiteY0" fmla="*/ 0 h 7707629"/>
                <a:gd name="connsiteX1" fmla="*/ 551179 w 551179"/>
                <a:gd name="connsiteY1" fmla="*/ 7707629 h 7707629"/>
                <a:gd name="connsiteX2" fmla="*/ 0 w 551179"/>
                <a:gd name="connsiteY2" fmla="*/ 7707629 h 7707629"/>
                <a:gd name="connsiteX3" fmla="*/ 0 w 551179"/>
                <a:gd name="connsiteY3" fmla="*/ 551179 h 7707629"/>
                <a:gd name="connsiteX4" fmla="*/ 551179 w 551179"/>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79" h="7707629">
                  <a:moveTo>
                    <a:pt x="551179" y="0"/>
                  </a:moveTo>
                  <a:lnTo>
                    <a:pt x="551179" y="7707629"/>
                  </a:lnTo>
                  <a:lnTo>
                    <a:pt x="0" y="7707629"/>
                  </a:lnTo>
                  <a:lnTo>
                    <a:pt x="0" y="551179"/>
                  </a:lnTo>
                  <a:lnTo>
                    <a:pt x="551179" y="0"/>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40">
              <a:extLst>
                <a:ext uri="{FF2B5EF4-FFF2-40B4-BE49-F238E27FC236}">
                  <a16:creationId xmlns:a16="http://schemas.microsoft.com/office/drawing/2014/main" id="{6C2146AF-D932-DAFB-A40A-398827AB05D0}"/>
                </a:ext>
              </a:extLst>
            </p:cNvPr>
            <p:cNvSpPr/>
            <p:nvPr userDrawn="1"/>
          </p:nvSpPr>
          <p:spPr>
            <a:xfrm rot="18900000">
              <a:off x="8350597" y="-762607"/>
              <a:ext cx="551180" cy="7707629"/>
            </a:xfrm>
            <a:custGeom>
              <a:avLst/>
              <a:gdLst>
                <a:gd name="connsiteX0" fmla="*/ 551180 w 551180"/>
                <a:gd name="connsiteY0" fmla="*/ 0 h 7707629"/>
                <a:gd name="connsiteX1" fmla="*/ 551180 w 551180"/>
                <a:gd name="connsiteY1" fmla="*/ 7707629 h 7707629"/>
                <a:gd name="connsiteX2" fmla="*/ 0 w 551180"/>
                <a:gd name="connsiteY2" fmla="*/ 7707629 h 7707629"/>
                <a:gd name="connsiteX3" fmla="*/ 0 w 551180"/>
                <a:gd name="connsiteY3" fmla="*/ 551180 h 7707629"/>
                <a:gd name="connsiteX4" fmla="*/ 551180 w 551180"/>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80" h="7707629">
                  <a:moveTo>
                    <a:pt x="551180" y="0"/>
                  </a:moveTo>
                  <a:lnTo>
                    <a:pt x="551180" y="7707629"/>
                  </a:lnTo>
                  <a:lnTo>
                    <a:pt x="0" y="7707629"/>
                  </a:lnTo>
                  <a:lnTo>
                    <a:pt x="0" y="551180"/>
                  </a:lnTo>
                  <a:lnTo>
                    <a:pt x="551180" y="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F07F8016-2972-8815-07A3-91499D9D4BAE}"/>
                </a:ext>
              </a:extLst>
            </p:cNvPr>
            <p:cNvSpPr/>
            <p:nvPr userDrawn="1"/>
          </p:nvSpPr>
          <p:spPr>
            <a:xfrm rot="18900000">
              <a:off x="-288451" y="744955"/>
              <a:ext cx="7707630" cy="549910"/>
            </a:xfrm>
            <a:custGeom>
              <a:avLst/>
              <a:gdLst>
                <a:gd name="connsiteX0" fmla="*/ 7707630 w 7707630"/>
                <a:gd name="connsiteY0" fmla="*/ 0 h 549910"/>
                <a:gd name="connsiteX1" fmla="*/ 7157720 w 7707630"/>
                <a:gd name="connsiteY1" fmla="*/ 549910 h 549910"/>
                <a:gd name="connsiteX2" fmla="*/ 7157720 w 7707630"/>
                <a:gd name="connsiteY2" fmla="*/ 548640 h 549910"/>
                <a:gd name="connsiteX3" fmla="*/ 0 w 7707630"/>
                <a:gd name="connsiteY3" fmla="*/ 548640 h 549910"/>
                <a:gd name="connsiteX4" fmla="*/ 0 w 7707630"/>
                <a:gd name="connsiteY4" fmla="*/ 0 h 549910"/>
                <a:gd name="connsiteX5" fmla="*/ 7707630 w 7707630"/>
                <a:gd name="connsiteY5" fmla="*/ 0 h 54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7630" h="549910">
                  <a:moveTo>
                    <a:pt x="7707630" y="0"/>
                  </a:moveTo>
                  <a:lnTo>
                    <a:pt x="7157720" y="549910"/>
                  </a:lnTo>
                  <a:lnTo>
                    <a:pt x="7157720" y="548640"/>
                  </a:lnTo>
                  <a:lnTo>
                    <a:pt x="0" y="548640"/>
                  </a:lnTo>
                  <a:lnTo>
                    <a:pt x="0" y="0"/>
                  </a:lnTo>
                  <a:lnTo>
                    <a:pt x="7707630"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2">
              <a:extLst>
                <a:ext uri="{FF2B5EF4-FFF2-40B4-BE49-F238E27FC236}">
                  <a16:creationId xmlns:a16="http://schemas.microsoft.com/office/drawing/2014/main" id="{82852362-83F5-9AD4-AD9F-53F2E0292D33}"/>
                </a:ext>
              </a:extLst>
            </p:cNvPr>
            <p:cNvSpPr/>
            <p:nvPr userDrawn="1"/>
          </p:nvSpPr>
          <p:spPr>
            <a:xfrm rot="18900000">
              <a:off x="-289533" y="1780457"/>
              <a:ext cx="7708899" cy="552449"/>
            </a:xfrm>
            <a:custGeom>
              <a:avLst/>
              <a:gdLst>
                <a:gd name="connsiteX0" fmla="*/ 7708899 w 7708899"/>
                <a:gd name="connsiteY0" fmla="*/ 0 h 552449"/>
                <a:gd name="connsiteX1" fmla="*/ 7708899 w 7708899"/>
                <a:gd name="connsiteY1" fmla="*/ 1270 h 552449"/>
                <a:gd name="connsiteX2" fmla="*/ 7157720 w 7708899"/>
                <a:gd name="connsiteY2" fmla="*/ 552449 h 552449"/>
                <a:gd name="connsiteX3" fmla="*/ 7157720 w 7708899"/>
                <a:gd name="connsiteY3" fmla="*/ 548640 h 552449"/>
                <a:gd name="connsiteX4" fmla="*/ 0 w 7708899"/>
                <a:gd name="connsiteY4" fmla="*/ 548640 h 552449"/>
                <a:gd name="connsiteX5" fmla="*/ 0 w 7708899"/>
                <a:gd name="connsiteY5" fmla="*/ 0 h 552449"/>
                <a:gd name="connsiteX6" fmla="*/ 7708899 w 7708899"/>
                <a:gd name="connsiteY6" fmla="*/ 0 h 552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49">
                  <a:moveTo>
                    <a:pt x="7708899" y="0"/>
                  </a:moveTo>
                  <a:lnTo>
                    <a:pt x="7708899" y="1270"/>
                  </a:lnTo>
                  <a:lnTo>
                    <a:pt x="7157720" y="552449"/>
                  </a:lnTo>
                  <a:lnTo>
                    <a:pt x="7157720" y="548640"/>
                  </a:lnTo>
                  <a:lnTo>
                    <a:pt x="0" y="548640"/>
                  </a:lnTo>
                  <a:lnTo>
                    <a:pt x="0" y="0"/>
                  </a:lnTo>
                  <a:lnTo>
                    <a:pt x="7708899"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43">
              <a:extLst>
                <a:ext uri="{FF2B5EF4-FFF2-40B4-BE49-F238E27FC236}">
                  <a16:creationId xmlns:a16="http://schemas.microsoft.com/office/drawing/2014/main" id="{E7216B24-9E3B-FE57-A75D-569327BB05D9}"/>
                </a:ext>
              </a:extLst>
            </p:cNvPr>
            <p:cNvSpPr/>
            <p:nvPr userDrawn="1"/>
          </p:nvSpPr>
          <p:spPr>
            <a:xfrm rot="18900000">
              <a:off x="-289533" y="2814982"/>
              <a:ext cx="7708899" cy="552450"/>
            </a:xfrm>
            <a:custGeom>
              <a:avLst/>
              <a:gdLst>
                <a:gd name="connsiteX0" fmla="*/ 7708899 w 7708899"/>
                <a:gd name="connsiteY0" fmla="*/ 0 h 552450"/>
                <a:gd name="connsiteX1" fmla="*/ 7708899 w 7708899"/>
                <a:gd name="connsiteY1" fmla="*/ 1270 h 552450"/>
                <a:gd name="connsiteX2" fmla="*/ 7157719 w 7708899"/>
                <a:gd name="connsiteY2" fmla="*/ 552450 h 552450"/>
                <a:gd name="connsiteX3" fmla="*/ 7157719 w 7708899"/>
                <a:gd name="connsiteY3" fmla="*/ 548640 h 552450"/>
                <a:gd name="connsiteX4" fmla="*/ 0 w 7708899"/>
                <a:gd name="connsiteY4" fmla="*/ 548640 h 552450"/>
                <a:gd name="connsiteX5" fmla="*/ 0 w 7708899"/>
                <a:gd name="connsiteY5" fmla="*/ 0 h 552450"/>
                <a:gd name="connsiteX6" fmla="*/ 7708899 w 7708899"/>
                <a:gd name="connsiteY6" fmla="*/ 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50">
                  <a:moveTo>
                    <a:pt x="7708899" y="0"/>
                  </a:moveTo>
                  <a:lnTo>
                    <a:pt x="7708899" y="1270"/>
                  </a:lnTo>
                  <a:lnTo>
                    <a:pt x="7157719" y="552450"/>
                  </a:lnTo>
                  <a:lnTo>
                    <a:pt x="7157719" y="548640"/>
                  </a:lnTo>
                  <a:lnTo>
                    <a:pt x="0" y="548640"/>
                  </a:lnTo>
                  <a:lnTo>
                    <a:pt x="0" y="0"/>
                  </a:lnTo>
                  <a:lnTo>
                    <a:pt x="7708899"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0" name="Rectangle 9">
            <a:extLst>
              <a:ext uri="{FF2B5EF4-FFF2-40B4-BE49-F238E27FC236}">
                <a16:creationId xmlns:a16="http://schemas.microsoft.com/office/drawing/2014/main" id="{F3B603B8-6657-DBEA-8218-6D5AF03436ED}"/>
              </a:ext>
            </a:extLst>
          </p:cNvPr>
          <p:cNvSpPr/>
          <p:nvPr userDrawn="1"/>
        </p:nvSpPr>
        <p:spPr>
          <a:xfrm>
            <a:off x="0" y="6128899"/>
            <a:ext cx="12192000" cy="559648"/>
          </a:xfrm>
          <a:prstGeom prst="rect">
            <a:avLst/>
          </a:prstGeom>
          <a:gradFill flip="none" rotWithShape="1">
            <a:gsLst>
              <a:gs pos="96000">
                <a:schemeClr val="bg1">
                  <a:alpha val="50000"/>
                </a:schemeClr>
              </a:gs>
              <a:gs pos="25000">
                <a:schemeClr val="bg1">
                  <a:alpha val="0"/>
                </a:scheme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blue and black logo&#10;&#10;AI-generated content may be incorrect.">
            <a:extLst>
              <a:ext uri="{FF2B5EF4-FFF2-40B4-BE49-F238E27FC236}">
                <a16:creationId xmlns:a16="http://schemas.microsoft.com/office/drawing/2014/main" id="{16D4158C-5B8E-5DB6-2358-80EF43FEA6C9}"/>
              </a:ext>
            </a:extLst>
          </p:cNvPr>
          <p:cNvPicPr>
            <a:picLocks noChangeAspect="1"/>
          </p:cNvPicPr>
          <p:nvPr userDrawn="1"/>
        </p:nvPicPr>
        <p:blipFill>
          <a:blip r:embed="rId24"/>
          <a:stretch>
            <a:fillRect/>
          </a:stretch>
        </p:blipFill>
        <p:spPr>
          <a:xfrm>
            <a:off x="10064218" y="6251684"/>
            <a:ext cx="1239653" cy="314078"/>
          </a:xfrm>
          <a:prstGeom prst="rect">
            <a:avLst/>
          </a:prstGeom>
        </p:spPr>
      </p:pic>
      <p:sp>
        <p:nvSpPr>
          <p:cNvPr id="4" name="TextBox 3">
            <a:extLst>
              <a:ext uri="{FF2B5EF4-FFF2-40B4-BE49-F238E27FC236}">
                <a16:creationId xmlns:a16="http://schemas.microsoft.com/office/drawing/2014/main" id="{9C1E0DA9-3015-34A0-4456-518524F4A5A9}"/>
              </a:ext>
            </a:extLst>
          </p:cNvPr>
          <p:cNvSpPr txBox="1"/>
          <p:nvPr userDrawn="1"/>
        </p:nvSpPr>
        <p:spPr>
          <a:xfrm>
            <a:off x="11303871" y="6303527"/>
            <a:ext cx="429164" cy="210391"/>
          </a:xfrm>
          <a:prstGeom prst="rect">
            <a:avLst/>
          </a:prstGeom>
          <a:noFill/>
        </p:spPr>
        <p:txBody>
          <a:bodyPr wrap="square" lIns="0" tIns="0" rIns="0" bIns="0" rtlCol="0" anchor="t" anchorCtr="0">
            <a:noAutofit/>
          </a:bodyPr>
          <a:lstStyle/>
          <a:p>
            <a:pPr marL="0" algn="r" defTabSz="914400" rtl="0" eaLnBrk="1" latinLnBrk="0" hangingPunct="1"/>
            <a:fld id="{B14C4DC2-5DCA-497B-95BC-EA9B7B01D74F}" type="slidenum">
              <a:rPr lang="en-ID" sz="1000" b="0" kern="1200" smtClean="0">
                <a:solidFill>
                  <a:schemeClr val="bg2">
                    <a:lumMod val="25000"/>
                  </a:schemeClr>
                </a:solidFill>
                <a:latin typeface="+mn-lt"/>
                <a:ea typeface="+mn-ea"/>
                <a:cs typeface="+mn-cs"/>
              </a:rPr>
              <a:pPr marL="0" algn="r" defTabSz="914400" rtl="0" eaLnBrk="1" latinLnBrk="0" hangingPunct="1"/>
              <a:t>‹#›</a:t>
            </a:fld>
            <a:endParaRPr lang="en-ID" sz="1000" b="0" kern="1200">
              <a:solidFill>
                <a:schemeClr val="bg2">
                  <a:lumMod val="25000"/>
                </a:schemeClr>
              </a:solidFill>
              <a:latin typeface="+mn-lt"/>
              <a:ea typeface="+mn-ea"/>
              <a:cs typeface="+mn-cs"/>
            </a:endParaRPr>
          </a:p>
        </p:txBody>
      </p:sp>
    </p:spTree>
    <p:extLst>
      <p:ext uri="{BB962C8B-B14F-4D97-AF65-F5344CB8AC3E}">
        <p14:creationId xmlns:p14="http://schemas.microsoft.com/office/powerpoint/2010/main" val="3754868560"/>
      </p:ext>
    </p:extLst>
  </p:cSld>
  <p:clrMap bg1="lt1" tx1="dk1" bg2="lt2" tx2="dk2" accent1="accent1" accent2="accent2" accent3="accent3" accent4="accent4" accent5="accent5" accent6="accent6" hlink="hlink" folHlink="folHlink"/>
  <p:sldLayoutIdLst>
    <p:sldLayoutId id="2147485857" r:id="rId1"/>
    <p:sldLayoutId id="2147486010" r:id="rId2"/>
    <p:sldLayoutId id="2147485862" r:id="rId3"/>
    <p:sldLayoutId id="2147485863" r:id="rId4"/>
    <p:sldLayoutId id="2147485865" r:id="rId5"/>
    <p:sldLayoutId id="2147485866" r:id="rId6"/>
    <p:sldLayoutId id="2147485873" r:id="rId7"/>
    <p:sldLayoutId id="2147485881" r:id="rId8"/>
    <p:sldLayoutId id="2147485882" r:id="rId9"/>
    <p:sldLayoutId id="2147485883" r:id="rId10"/>
    <p:sldLayoutId id="2147483703" r:id="rId11"/>
    <p:sldLayoutId id="2147486060" r:id="rId12"/>
    <p:sldLayoutId id="2147486073" r:id="rId13"/>
    <p:sldLayoutId id="2147486095" r:id="rId14"/>
    <p:sldLayoutId id="2147486175" r:id="rId15"/>
    <p:sldLayoutId id="2147486176" r:id="rId16"/>
    <p:sldLayoutId id="2147486177" r:id="rId17"/>
    <p:sldLayoutId id="2147486178" r:id="rId18"/>
    <p:sldLayoutId id="2147486179" r:id="rId19"/>
    <p:sldLayoutId id="2147486180" r:id="rId20"/>
  </p:sldLayoutIdLst>
  <p:hf hdr="0" ftr="0" dt="0"/>
  <p:txStyles>
    <p:titleStyle>
      <a:lvl1pPr algn="l" defTabSz="914400" rtl="0" eaLnBrk="1" latinLnBrk="0" hangingPunct="1">
        <a:lnSpc>
          <a:spcPct val="90000"/>
        </a:lnSpc>
        <a:spcBef>
          <a:spcPct val="0"/>
        </a:spcBef>
        <a:buNone/>
        <a:defRPr sz="3200" kern="1200">
          <a:solidFill>
            <a:srgbClr val="000A62"/>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00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16">
          <p15:clr>
            <a:srgbClr val="F26B43"/>
          </p15:clr>
        </p15:guide>
        <p15:guide id="2" pos="396">
          <p15:clr>
            <a:srgbClr val="F26B43"/>
          </p15:clr>
        </p15:guide>
        <p15:guide id="3" pos="7287">
          <p15:clr>
            <a:srgbClr val="F26B43"/>
          </p15:clr>
        </p15:guide>
        <p15:guide id="4" orient="horz" pos="375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3000">
              <a:srgbClr val="73ACED"/>
            </a:gs>
            <a:gs pos="100000">
              <a:srgbClr val="699DD8"/>
            </a:gs>
            <a:gs pos="26000">
              <a:srgbClr val="9AC8FF"/>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266E34C-F502-134A-A6E8-BEE726C9500E}"/>
              </a:ext>
            </a:extLst>
          </p:cNvPr>
          <p:cNvSpPr/>
          <p:nvPr userDrawn="1"/>
        </p:nvSpPr>
        <p:spPr>
          <a:xfrm>
            <a:off x="0" y="6128899"/>
            <a:ext cx="12192000" cy="559648"/>
          </a:xfrm>
          <a:prstGeom prst="rect">
            <a:avLst/>
          </a:prstGeom>
          <a:gradFill flip="none" rotWithShape="1">
            <a:gsLst>
              <a:gs pos="75000">
                <a:schemeClr val="bg1">
                  <a:alpha val="61000"/>
                </a:schemeClr>
              </a:gs>
              <a:gs pos="25000">
                <a:schemeClr val="bg1">
                  <a:alpha val="0"/>
                </a:scheme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627F9DBD-C578-1BC4-D502-322F3D2B8C73}"/>
              </a:ext>
            </a:extLst>
          </p:cNvPr>
          <p:cNvPicPr>
            <a:picLocks noChangeAspect="1"/>
          </p:cNvPicPr>
          <p:nvPr/>
        </p:nvPicPr>
        <p:blipFill>
          <a:blip r:embed="rId11"/>
          <a:srcRect/>
          <a:stretch/>
        </p:blipFill>
        <p:spPr>
          <a:xfrm>
            <a:off x="457200" y="6186192"/>
            <a:ext cx="455176" cy="457200"/>
          </a:xfrm>
          <a:prstGeom prst="rect">
            <a:avLst/>
          </a:prstGeom>
          <a:effectLst/>
        </p:spPr>
      </p:pic>
      <p:grpSp>
        <p:nvGrpSpPr>
          <p:cNvPr id="71" name="Cut Out" hidden="1">
            <a:extLst>
              <a:ext uri="{FF2B5EF4-FFF2-40B4-BE49-F238E27FC236}">
                <a16:creationId xmlns:a16="http://schemas.microsoft.com/office/drawing/2014/main" id="{645A4865-68ED-9412-B75A-3F8ACB57FB6E}"/>
              </a:ext>
            </a:extLst>
          </p:cNvPr>
          <p:cNvGrpSpPr/>
          <p:nvPr userDrawn="1"/>
        </p:nvGrpSpPr>
        <p:grpSpPr>
          <a:xfrm>
            <a:off x="-247316" y="391974"/>
            <a:ext cx="5968819" cy="6782282"/>
            <a:chOff x="-247316" y="391974"/>
            <a:chExt cx="5968819" cy="6782282"/>
          </a:xfrm>
        </p:grpSpPr>
        <p:sp>
          <p:nvSpPr>
            <p:cNvPr id="64" name="Freeform 63">
              <a:extLst>
                <a:ext uri="{FF2B5EF4-FFF2-40B4-BE49-F238E27FC236}">
                  <a16:creationId xmlns:a16="http://schemas.microsoft.com/office/drawing/2014/main" id="{6AAF9C22-8F00-F0CC-F430-DDD56142D83E}"/>
                </a:ext>
              </a:extLst>
            </p:cNvPr>
            <p:cNvSpPr/>
            <p:nvPr userDrawn="1"/>
          </p:nvSpPr>
          <p:spPr>
            <a:xfrm rot="20700000">
              <a:off x="4501782" y="391974"/>
              <a:ext cx="1219721" cy="6782282"/>
            </a:xfrm>
            <a:custGeom>
              <a:avLst/>
              <a:gdLst>
                <a:gd name="connsiteX0" fmla="*/ 1219721 w 1219721"/>
                <a:gd name="connsiteY0" fmla="*/ 0 h 6782282"/>
                <a:gd name="connsiteX1" fmla="*/ 1219720 w 1219721"/>
                <a:gd name="connsiteY1" fmla="*/ 6782282 h 6782282"/>
                <a:gd name="connsiteX2" fmla="*/ 0 w 1219721"/>
                <a:gd name="connsiteY2" fmla="*/ 6455459 h 6782282"/>
                <a:gd name="connsiteX3" fmla="*/ 0 w 1219721"/>
                <a:gd name="connsiteY3" fmla="*/ 1216910 h 6782282"/>
                <a:gd name="connsiteX4" fmla="*/ 1216910 w 1219721"/>
                <a:gd name="connsiteY4" fmla="*/ 0 h 67822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721" h="6782282">
                  <a:moveTo>
                    <a:pt x="1219721" y="0"/>
                  </a:moveTo>
                  <a:lnTo>
                    <a:pt x="1219720" y="6782282"/>
                  </a:lnTo>
                  <a:lnTo>
                    <a:pt x="0" y="6455459"/>
                  </a:lnTo>
                  <a:lnTo>
                    <a:pt x="0" y="1216910"/>
                  </a:lnTo>
                  <a:lnTo>
                    <a:pt x="121691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66">
              <a:extLst>
                <a:ext uri="{FF2B5EF4-FFF2-40B4-BE49-F238E27FC236}">
                  <a16:creationId xmlns:a16="http://schemas.microsoft.com/office/drawing/2014/main" id="{07F2DA9D-A2E1-6623-5534-DE193CE69237}"/>
                </a:ext>
              </a:extLst>
            </p:cNvPr>
            <p:cNvSpPr/>
            <p:nvPr userDrawn="1"/>
          </p:nvSpPr>
          <p:spPr>
            <a:xfrm rot="20700000">
              <a:off x="3086241" y="2413806"/>
              <a:ext cx="1219717" cy="4725406"/>
            </a:xfrm>
            <a:custGeom>
              <a:avLst/>
              <a:gdLst>
                <a:gd name="connsiteX0" fmla="*/ 1219717 w 1219717"/>
                <a:gd name="connsiteY0" fmla="*/ 0 h 4725406"/>
                <a:gd name="connsiteX1" fmla="*/ 1219717 w 1219717"/>
                <a:gd name="connsiteY1" fmla="*/ 4725406 h 4725406"/>
                <a:gd name="connsiteX2" fmla="*/ 0 w 1219717"/>
                <a:gd name="connsiteY2" fmla="*/ 4398584 h 4725406"/>
                <a:gd name="connsiteX3" fmla="*/ 0 w 1219717"/>
                <a:gd name="connsiteY3" fmla="*/ 1219718 h 4725406"/>
              </a:gdLst>
              <a:ahLst/>
              <a:cxnLst>
                <a:cxn ang="0">
                  <a:pos x="connsiteX0" y="connsiteY0"/>
                </a:cxn>
                <a:cxn ang="0">
                  <a:pos x="connsiteX1" y="connsiteY1"/>
                </a:cxn>
                <a:cxn ang="0">
                  <a:pos x="connsiteX2" y="connsiteY2"/>
                </a:cxn>
                <a:cxn ang="0">
                  <a:pos x="connsiteX3" y="connsiteY3"/>
                </a:cxn>
              </a:cxnLst>
              <a:rect l="l" t="t" r="r" b="b"/>
              <a:pathLst>
                <a:path w="1219717" h="4725406">
                  <a:moveTo>
                    <a:pt x="1219717" y="0"/>
                  </a:moveTo>
                  <a:lnTo>
                    <a:pt x="1219717" y="4725406"/>
                  </a:lnTo>
                  <a:lnTo>
                    <a:pt x="0" y="4398584"/>
                  </a:lnTo>
                  <a:lnTo>
                    <a:pt x="0" y="1219718"/>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69">
              <a:extLst>
                <a:ext uri="{FF2B5EF4-FFF2-40B4-BE49-F238E27FC236}">
                  <a16:creationId xmlns:a16="http://schemas.microsoft.com/office/drawing/2014/main" id="{507EE6BD-3353-5291-18D0-AE718EEBDDB9}"/>
                </a:ext>
              </a:extLst>
            </p:cNvPr>
            <p:cNvSpPr/>
            <p:nvPr userDrawn="1"/>
          </p:nvSpPr>
          <p:spPr>
            <a:xfrm rot="20700000">
              <a:off x="1675953" y="4431391"/>
              <a:ext cx="1219720" cy="2672853"/>
            </a:xfrm>
            <a:custGeom>
              <a:avLst/>
              <a:gdLst>
                <a:gd name="connsiteX0" fmla="*/ 1219720 w 1219720"/>
                <a:gd name="connsiteY0" fmla="*/ 0 h 2672853"/>
                <a:gd name="connsiteX1" fmla="*/ 1219720 w 1219720"/>
                <a:gd name="connsiteY1" fmla="*/ 2672853 h 2672853"/>
                <a:gd name="connsiteX2" fmla="*/ 0 w 1219720"/>
                <a:gd name="connsiteY2" fmla="*/ 2346030 h 2672853"/>
                <a:gd name="connsiteX3" fmla="*/ 0 w 1219720"/>
                <a:gd name="connsiteY3" fmla="*/ 1219720 h 2672853"/>
              </a:gdLst>
              <a:ahLst/>
              <a:cxnLst>
                <a:cxn ang="0">
                  <a:pos x="connsiteX0" y="connsiteY0"/>
                </a:cxn>
                <a:cxn ang="0">
                  <a:pos x="connsiteX1" y="connsiteY1"/>
                </a:cxn>
                <a:cxn ang="0">
                  <a:pos x="connsiteX2" y="connsiteY2"/>
                </a:cxn>
                <a:cxn ang="0">
                  <a:pos x="connsiteX3" y="connsiteY3"/>
                </a:cxn>
              </a:cxnLst>
              <a:rect l="l" t="t" r="r" b="b"/>
              <a:pathLst>
                <a:path w="1219720" h="2672853">
                  <a:moveTo>
                    <a:pt x="1219720" y="0"/>
                  </a:moveTo>
                  <a:lnTo>
                    <a:pt x="1219720" y="2672853"/>
                  </a:lnTo>
                  <a:lnTo>
                    <a:pt x="0" y="2346030"/>
                  </a:lnTo>
                  <a:lnTo>
                    <a:pt x="0" y="121972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56">
              <a:extLst>
                <a:ext uri="{FF2B5EF4-FFF2-40B4-BE49-F238E27FC236}">
                  <a16:creationId xmlns:a16="http://schemas.microsoft.com/office/drawing/2014/main" id="{7868CEA2-789D-E697-16FE-ACD6F7B6F760}"/>
                </a:ext>
              </a:extLst>
            </p:cNvPr>
            <p:cNvSpPr/>
            <p:nvPr userDrawn="1"/>
          </p:nvSpPr>
          <p:spPr>
            <a:xfrm rot="20700000">
              <a:off x="-247316" y="1017576"/>
              <a:ext cx="5315676" cy="1216909"/>
            </a:xfrm>
            <a:custGeom>
              <a:avLst/>
              <a:gdLst>
                <a:gd name="connsiteX0" fmla="*/ 5315676 w 5315676"/>
                <a:gd name="connsiteY0" fmla="*/ 0 h 1216909"/>
                <a:gd name="connsiteX1" fmla="*/ 4098766 w 5315676"/>
                <a:gd name="connsiteY1" fmla="*/ 1216909 h 1216909"/>
                <a:gd name="connsiteX2" fmla="*/ 4098766 w 5315676"/>
                <a:gd name="connsiteY2" fmla="*/ 1214099 h 1216909"/>
                <a:gd name="connsiteX3" fmla="*/ 0 w 5315676"/>
                <a:gd name="connsiteY3" fmla="*/ 1214099 h 1216909"/>
                <a:gd name="connsiteX4" fmla="*/ 325317 w 5315676"/>
                <a:gd name="connsiteY4" fmla="*/ 0 h 1216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5676" h="1216909">
                  <a:moveTo>
                    <a:pt x="5315676" y="0"/>
                  </a:moveTo>
                  <a:lnTo>
                    <a:pt x="4098766" y="1216909"/>
                  </a:lnTo>
                  <a:lnTo>
                    <a:pt x="4098766" y="1214099"/>
                  </a:lnTo>
                  <a:lnTo>
                    <a:pt x="0" y="1214099"/>
                  </a:lnTo>
                  <a:lnTo>
                    <a:pt x="325317"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A355C7A9-C0A5-8D5F-EB91-F99F6596BF4C}"/>
                </a:ext>
              </a:extLst>
            </p:cNvPr>
            <p:cNvSpPr/>
            <p:nvPr userDrawn="1"/>
          </p:nvSpPr>
          <p:spPr>
            <a:xfrm rot="20700000">
              <a:off x="-226351" y="2847108"/>
              <a:ext cx="4127824" cy="1222528"/>
            </a:xfrm>
            <a:custGeom>
              <a:avLst/>
              <a:gdLst>
                <a:gd name="connsiteX0" fmla="*/ 4127824 w 4127824"/>
                <a:gd name="connsiteY0" fmla="*/ 0 h 1222528"/>
                <a:gd name="connsiteX1" fmla="*/ 4127824 w 4127824"/>
                <a:gd name="connsiteY1" fmla="*/ 2811 h 1222528"/>
                <a:gd name="connsiteX2" fmla="*/ 2908106 w 4127824"/>
                <a:gd name="connsiteY2" fmla="*/ 1222528 h 1222528"/>
                <a:gd name="connsiteX3" fmla="*/ 2908106 w 4127824"/>
                <a:gd name="connsiteY3" fmla="*/ 1214099 h 1222528"/>
                <a:gd name="connsiteX4" fmla="*/ 0 w 4127824"/>
                <a:gd name="connsiteY4" fmla="*/ 1214099 h 1222528"/>
                <a:gd name="connsiteX5" fmla="*/ 325317 w 4127824"/>
                <a:gd name="connsiteY5" fmla="*/ 0 h 122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27824" h="1222528">
                  <a:moveTo>
                    <a:pt x="4127824" y="0"/>
                  </a:moveTo>
                  <a:lnTo>
                    <a:pt x="4127824" y="2811"/>
                  </a:lnTo>
                  <a:lnTo>
                    <a:pt x="2908106" y="1222528"/>
                  </a:lnTo>
                  <a:lnTo>
                    <a:pt x="2908106" y="1214099"/>
                  </a:lnTo>
                  <a:lnTo>
                    <a:pt x="0" y="1214099"/>
                  </a:lnTo>
                  <a:lnTo>
                    <a:pt x="325317"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1568EE0E-6087-7F47-4FC1-A508563439ED}"/>
                </a:ext>
              </a:extLst>
            </p:cNvPr>
            <p:cNvSpPr/>
            <p:nvPr userDrawn="1"/>
          </p:nvSpPr>
          <p:spPr>
            <a:xfrm rot="20700000">
              <a:off x="-206161" y="4676366"/>
              <a:ext cx="2942781" cy="1222530"/>
            </a:xfrm>
            <a:custGeom>
              <a:avLst/>
              <a:gdLst>
                <a:gd name="connsiteX0" fmla="*/ 2942781 w 2942781"/>
                <a:gd name="connsiteY0" fmla="*/ 0 h 1222530"/>
                <a:gd name="connsiteX1" fmla="*/ 2942781 w 2942781"/>
                <a:gd name="connsiteY1" fmla="*/ 2811 h 1222530"/>
                <a:gd name="connsiteX2" fmla="*/ 1723060 w 2942781"/>
                <a:gd name="connsiteY2" fmla="*/ 1222530 h 1222530"/>
                <a:gd name="connsiteX3" fmla="*/ 1723060 w 2942781"/>
                <a:gd name="connsiteY3" fmla="*/ 1214099 h 1222530"/>
                <a:gd name="connsiteX4" fmla="*/ 0 w 2942781"/>
                <a:gd name="connsiteY4" fmla="*/ 1214098 h 1222530"/>
                <a:gd name="connsiteX5" fmla="*/ 325316 w 2942781"/>
                <a:gd name="connsiteY5" fmla="*/ 0 h 1222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42781" h="1222530">
                  <a:moveTo>
                    <a:pt x="2942781" y="0"/>
                  </a:moveTo>
                  <a:lnTo>
                    <a:pt x="2942781" y="2811"/>
                  </a:lnTo>
                  <a:lnTo>
                    <a:pt x="1723060" y="1222530"/>
                  </a:lnTo>
                  <a:lnTo>
                    <a:pt x="1723060" y="1214099"/>
                  </a:lnTo>
                  <a:lnTo>
                    <a:pt x="0" y="1214098"/>
                  </a:lnTo>
                  <a:lnTo>
                    <a:pt x="325316"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Placeholder 1">
            <a:extLst>
              <a:ext uri="{FF2B5EF4-FFF2-40B4-BE49-F238E27FC236}">
                <a16:creationId xmlns:a16="http://schemas.microsoft.com/office/drawing/2014/main" id="{94D09C11-7276-B67A-A1A1-4C875D1ABA68}"/>
              </a:ext>
            </a:extLst>
          </p:cNvPr>
          <p:cNvSpPr>
            <a:spLocks noGrp="1"/>
          </p:cNvSpPr>
          <p:nvPr userDrawn="1">
            <p:ph type="title"/>
          </p:nvPr>
        </p:nvSpPr>
        <p:spPr>
          <a:xfrm>
            <a:off x="457199" y="493776"/>
            <a:ext cx="11336693" cy="804672"/>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64A7CC43-E171-1153-2B75-F702D7B914A8}"/>
              </a:ext>
            </a:extLst>
          </p:cNvPr>
          <p:cNvSpPr>
            <a:spLocks noGrp="1"/>
          </p:cNvSpPr>
          <p:nvPr userDrawn="1">
            <p:ph type="body" idx="1"/>
          </p:nvPr>
        </p:nvSpPr>
        <p:spPr>
          <a:xfrm>
            <a:off x="457201" y="1554480"/>
            <a:ext cx="11336692" cy="4247212"/>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8C25DD03-798E-DA9C-D9CE-8905DBA17BC8}"/>
              </a:ext>
            </a:extLst>
          </p:cNvPr>
          <p:cNvSpPr>
            <a:spLocks noGrp="1"/>
          </p:cNvSpPr>
          <p:nvPr userDrawn="1">
            <p:ph type="sldNum" sz="quarter" idx="4"/>
          </p:nvPr>
        </p:nvSpPr>
        <p:spPr>
          <a:xfrm>
            <a:off x="11650342" y="6232230"/>
            <a:ext cx="430079" cy="365125"/>
          </a:xfrm>
          <a:prstGeom prst="rect">
            <a:avLst/>
          </a:prstGeom>
        </p:spPr>
        <p:txBody>
          <a:bodyPr vert="horz" lIns="0" tIns="0" rIns="0" bIns="0" rtlCol="0" anchor="ctr" anchorCtr="0">
            <a:noAutofit/>
          </a:bodyPr>
          <a:lstStyle>
            <a:lvl1pPr algn="r">
              <a:defRPr sz="1000">
                <a:solidFill>
                  <a:srgbClr val="000A62"/>
                </a:solidFill>
                <a:latin typeface="Arial" panose="020B0604020202020204" pitchFamily="34" charset="0"/>
                <a:cs typeface="Arial" panose="020B0604020202020204" pitchFamily="34" charset="0"/>
              </a:defRPr>
            </a:lvl1pPr>
          </a:lstStyle>
          <a:p>
            <a:fld id="{A1371F83-EA4D-3B47-99B9-95D90583DC1D}" type="slidenum">
              <a:rPr lang="en-US" smtClean="0"/>
              <a:pPr/>
              <a:t>‹#›</a:t>
            </a:fld>
            <a:endParaRPr lang="en-US"/>
          </a:p>
        </p:txBody>
      </p:sp>
      <p:pic>
        <p:nvPicPr>
          <p:cNvPr id="7" name="Picture 6" hidden="1">
            <a:extLst>
              <a:ext uri="{FF2B5EF4-FFF2-40B4-BE49-F238E27FC236}">
                <a16:creationId xmlns:a16="http://schemas.microsoft.com/office/drawing/2014/main" id="{0BF76C95-9667-2357-762F-B7B15D7BA3E7}"/>
              </a:ext>
            </a:extLst>
          </p:cNvPr>
          <p:cNvPicPr>
            <a:picLocks noChangeAspect="1"/>
          </p:cNvPicPr>
          <p:nvPr userDrawn="1"/>
        </p:nvPicPr>
        <p:blipFill>
          <a:blip r:embed="rId12"/>
          <a:stretch>
            <a:fillRect/>
          </a:stretch>
        </p:blipFill>
        <p:spPr>
          <a:xfrm>
            <a:off x="199931" y="-813939"/>
            <a:ext cx="2208828" cy="563207"/>
          </a:xfrm>
          <a:prstGeom prst="rect">
            <a:avLst/>
          </a:prstGeom>
        </p:spPr>
      </p:pic>
      <p:grpSp>
        <p:nvGrpSpPr>
          <p:cNvPr id="38" name="Full Size" hidden="1">
            <a:extLst>
              <a:ext uri="{FF2B5EF4-FFF2-40B4-BE49-F238E27FC236}">
                <a16:creationId xmlns:a16="http://schemas.microsoft.com/office/drawing/2014/main" id="{CBF5D916-2559-D87A-6071-0827F3911641}"/>
              </a:ext>
            </a:extLst>
          </p:cNvPr>
          <p:cNvGrpSpPr/>
          <p:nvPr userDrawn="1"/>
        </p:nvGrpSpPr>
        <p:grpSpPr>
          <a:xfrm rot="-19800000">
            <a:off x="-13122649" y="-4850920"/>
            <a:ext cx="20342655" cy="21641432"/>
            <a:chOff x="-289533" y="-2834540"/>
            <a:chExt cx="9192657" cy="9779562"/>
          </a:xfrm>
        </p:grpSpPr>
        <p:sp>
          <p:nvSpPr>
            <p:cNvPr id="39" name="Freeform 38">
              <a:extLst>
                <a:ext uri="{FF2B5EF4-FFF2-40B4-BE49-F238E27FC236}">
                  <a16:creationId xmlns:a16="http://schemas.microsoft.com/office/drawing/2014/main" id="{09460502-8A0D-F9D8-E3FC-D3C35053B797}"/>
                </a:ext>
              </a:extLst>
            </p:cNvPr>
            <p:cNvSpPr/>
            <p:nvPr userDrawn="1"/>
          </p:nvSpPr>
          <p:spPr>
            <a:xfrm rot="18900000">
              <a:off x="8351944" y="-2834540"/>
              <a:ext cx="551180" cy="7708900"/>
            </a:xfrm>
            <a:custGeom>
              <a:avLst/>
              <a:gdLst>
                <a:gd name="connsiteX0" fmla="*/ 551180 w 551180"/>
                <a:gd name="connsiteY0" fmla="*/ 0 h 7708900"/>
                <a:gd name="connsiteX1" fmla="*/ 551180 w 551180"/>
                <a:gd name="connsiteY1" fmla="*/ 7708900 h 7708900"/>
                <a:gd name="connsiteX2" fmla="*/ 0 w 551180"/>
                <a:gd name="connsiteY2" fmla="*/ 7708900 h 7708900"/>
                <a:gd name="connsiteX3" fmla="*/ 0 w 551180"/>
                <a:gd name="connsiteY3" fmla="*/ 549910 h 7708900"/>
                <a:gd name="connsiteX4" fmla="*/ 549910 w 551180"/>
                <a:gd name="connsiteY4" fmla="*/ 0 h 7708900"/>
                <a:gd name="connsiteX5" fmla="*/ 551180 w 551180"/>
                <a:gd name="connsiteY5" fmla="*/ 0 h 770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180" h="7708900">
                  <a:moveTo>
                    <a:pt x="551180" y="0"/>
                  </a:moveTo>
                  <a:lnTo>
                    <a:pt x="551180" y="7708900"/>
                  </a:lnTo>
                  <a:lnTo>
                    <a:pt x="0" y="7708900"/>
                  </a:lnTo>
                  <a:lnTo>
                    <a:pt x="0" y="549910"/>
                  </a:lnTo>
                  <a:lnTo>
                    <a:pt x="549910" y="0"/>
                  </a:lnTo>
                  <a:lnTo>
                    <a:pt x="55118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39">
              <a:extLst>
                <a:ext uri="{FF2B5EF4-FFF2-40B4-BE49-F238E27FC236}">
                  <a16:creationId xmlns:a16="http://schemas.microsoft.com/office/drawing/2014/main" id="{A5626CB4-BBEE-998F-0B0A-69DF05DFB1D9}"/>
                </a:ext>
              </a:extLst>
            </p:cNvPr>
            <p:cNvSpPr/>
            <p:nvPr userDrawn="1"/>
          </p:nvSpPr>
          <p:spPr>
            <a:xfrm rot="18900000">
              <a:off x="8350599" y="-1797133"/>
              <a:ext cx="551179" cy="7707629"/>
            </a:xfrm>
            <a:custGeom>
              <a:avLst/>
              <a:gdLst>
                <a:gd name="connsiteX0" fmla="*/ 551179 w 551179"/>
                <a:gd name="connsiteY0" fmla="*/ 0 h 7707629"/>
                <a:gd name="connsiteX1" fmla="*/ 551179 w 551179"/>
                <a:gd name="connsiteY1" fmla="*/ 7707629 h 7707629"/>
                <a:gd name="connsiteX2" fmla="*/ 0 w 551179"/>
                <a:gd name="connsiteY2" fmla="*/ 7707629 h 7707629"/>
                <a:gd name="connsiteX3" fmla="*/ 0 w 551179"/>
                <a:gd name="connsiteY3" fmla="*/ 551179 h 7707629"/>
                <a:gd name="connsiteX4" fmla="*/ 551179 w 551179"/>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79" h="7707629">
                  <a:moveTo>
                    <a:pt x="551179" y="0"/>
                  </a:moveTo>
                  <a:lnTo>
                    <a:pt x="551179" y="7707629"/>
                  </a:lnTo>
                  <a:lnTo>
                    <a:pt x="0" y="7707629"/>
                  </a:lnTo>
                  <a:lnTo>
                    <a:pt x="0" y="551179"/>
                  </a:lnTo>
                  <a:lnTo>
                    <a:pt x="551179" y="0"/>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40">
              <a:extLst>
                <a:ext uri="{FF2B5EF4-FFF2-40B4-BE49-F238E27FC236}">
                  <a16:creationId xmlns:a16="http://schemas.microsoft.com/office/drawing/2014/main" id="{6C2146AF-D932-DAFB-A40A-398827AB05D0}"/>
                </a:ext>
              </a:extLst>
            </p:cNvPr>
            <p:cNvSpPr/>
            <p:nvPr userDrawn="1"/>
          </p:nvSpPr>
          <p:spPr>
            <a:xfrm rot="18900000">
              <a:off x="8350597" y="-762607"/>
              <a:ext cx="551180" cy="7707629"/>
            </a:xfrm>
            <a:custGeom>
              <a:avLst/>
              <a:gdLst>
                <a:gd name="connsiteX0" fmla="*/ 551180 w 551180"/>
                <a:gd name="connsiteY0" fmla="*/ 0 h 7707629"/>
                <a:gd name="connsiteX1" fmla="*/ 551180 w 551180"/>
                <a:gd name="connsiteY1" fmla="*/ 7707629 h 7707629"/>
                <a:gd name="connsiteX2" fmla="*/ 0 w 551180"/>
                <a:gd name="connsiteY2" fmla="*/ 7707629 h 7707629"/>
                <a:gd name="connsiteX3" fmla="*/ 0 w 551180"/>
                <a:gd name="connsiteY3" fmla="*/ 551180 h 7707629"/>
                <a:gd name="connsiteX4" fmla="*/ 551180 w 551180"/>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80" h="7707629">
                  <a:moveTo>
                    <a:pt x="551180" y="0"/>
                  </a:moveTo>
                  <a:lnTo>
                    <a:pt x="551180" y="7707629"/>
                  </a:lnTo>
                  <a:lnTo>
                    <a:pt x="0" y="7707629"/>
                  </a:lnTo>
                  <a:lnTo>
                    <a:pt x="0" y="551180"/>
                  </a:lnTo>
                  <a:lnTo>
                    <a:pt x="551180" y="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F07F8016-2972-8815-07A3-91499D9D4BAE}"/>
                </a:ext>
              </a:extLst>
            </p:cNvPr>
            <p:cNvSpPr/>
            <p:nvPr userDrawn="1"/>
          </p:nvSpPr>
          <p:spPr>
            <a:xfrm rot="18900000">
              <a:off x="-288451" y="744955"/>
              <a:ext cx="7707630" cy="549910"/>
            </a:xfrm>
            <a:custGeom>
              <a:avLst/>
              <a:gdLst>
                <a:gd name="connsiteX0" fmla="*/ 7707630 w 7707630"/>
                <a:gd name="connsiteY0" fmla="*/ 0 h 549910"/>
                <a:gd name="connsiteX1" fmla="*/ 7157720 w 7707630"/>
                <a:gd name="connsiteY1" fmla="*/ 549910 h 549910"/>
                <a:gd name="connsiteX2" fmla="*/ 7157720 w 7707630"/>
                <a:gd name="connsiteY2" fmla="*/ 548640 h 549910"/>
                <a:gd name="connsiteX3" fmla="*/ 0 w 7707630"/>
                <a:gd name="connsiteY3" fmla="*/ 548640 h 549910"/>
                <a:gd name="connsiteX4" fmla="*/ 0 w 7707630"/>
                <a:gd name="connsiteY4" fmla="*/ 0 h 549910"/>
                <a:gd name="connsiteX5" fmla="*/ 7707630 w 7707630"/>
                <a:gd name="connsiteY5" fmla="*/ 0 h 54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7630" h="549910">
                  <a:moveTo>
                    <a:pt x="7707630" y="0"/>
                  </a:moveTo>
                  <a:lnTo>
                    <a:pt x="7157720" y="549910"/>
                  </a:lnTo>
                  <a:lnTo>
                    <a:pt x="7157720" y="548640"/>
                  </a:lnTo>
                  <a:lnTo>
                    <a:pt x="0" y="548640"/>
                  </a:lnTo>
                  <a:lnTo>
                    <a:pt x="0" y="0"/>
                  </a:lnTo>
                  <a:lnTo>
                    <a:pt x="7707630"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2">
              <a:extLst>
                <a:ext uri="{FF2B5EF4-FFF2-40B4-BE49-F238E27FC236}">
                  <a16:creationId xmlns:a16="http://schemas.microsoft.com/office/drawing/2014/main" id="{82852362-83F5-9AD4-AD9F-53F2E0292D33}"/>
                </a:ext>
              </a:extLst>
            </p:cNvPr>
            <p:cNvSpPr/>
            <p:nvPr userDrawn="1"/>
          </p:nvSpPr>
          <p:spPr>
            <a:xfrm rot="18900000">
              <a:off x="-289533" y="1780457"/>
              <a:ext cx="7708899" cy="552449"/>
            </a:xfrm>
            <a:custGeom>
              <a:avLst/>
              <a:gdLst>
                <a:gd name="connsiteX0" fmla="*/ 7708899 w 7708899"/>
                <a:gd name="connsiteY0" fmla="*/ 0 h 552449"/>
                <a:gd name="connsiteX1" fmla="*/ 7708899 w 7708899"/>
                <a:gd name="connsiteY1" fmla="*/ 1270 h 552449"/>
                <a:gd name="connsiteX2" fmla="*/ 7157720 w 7708899"/>
                <a:gd name="connsiteY2" fmla="*/ 552449 h 552449"/>
                <a:gd name="connsiteX3" fmla="*/ 7157720 w 7708899"/>
                <a:gd name="connsiteY3" fmla="*/ 548640 h 552449"/>
                <a:gd name="connsiteX4" fmla="*/ 0 w 7708899"/>
                <a:gd name="connsiteY4" fmla="*/ 548640 h 552449"/>
                <a:gd name="connsiteX5" fmla="*/ 0 w 7708899"/>
                <a:gd name="connsiteY5" fmla="*/ 0 h 552449"/>
                <a:gd name="connsiteX6" fmla="*/ 7708899 w 7708899"/>
                <a:gd name="connsiteY6" fmla="*/ 0 h 552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49">
                  <a:moveTo>
                    <a:pt x="7708899" y="0"/>
                  </a:moveTo>
                  <a:lnTo>
                    <a:pt x="7708899" y="1270"/>
                  </a:lnTo>
                  <a:lnTo>
                    <a:pt x="7157720" y="552449"/>
                  </a:lnTo>
                  <a:lnTo>
                    <a:pt x="7157720" y="548640"/>
                  </a:lnTo>
                  <a:lnTo>
                    <a:pt x="0" y="548640"/>
                  </a:lnTo>
                  <a:lnTo>
                    <a:pt x="0" y="0"/>
                  </a:lnTo>
                  <a:lnTo>
                    <a:pt x="7708899"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43">
              <a:extLst>
                <a:ext uri="{FF2B5EF4-FFF2-40B4-BE49-F238E27FC236}">
                  <a16:creationId xmlns:a16="http://schemas.microsoft.com/office/drawing/2014/main" id="{E7216B24-9E3B-FE57-A75D-569327BB05D9}"/>
                </a:ext>
              </a:extLst>
            </p:cNvPr>
            <p:cNvSpPr/>
            <p:nvPr userDrawn="1"/>
          </p:nvSpPr>
          <p:spPr>
            <a:xfrm rot="18900000">
              <a:off x="-289533" y="2814982"/>
              <a:ext cx="7708899" cy="552450"/>
            </a:xfrm>
            <a:custGeom>
              <a:avLst/>
              <a:gdLst>
                <a:gd name="connsiteX0" fmla="*/ 7708899 w 7708899"/>
                <a:gd name="connsiteY0" fmla="*/ 0 h 552450"/>
                <a:gd name="connsiteX1" fmla="*/ 7708899 w 7708899"/>
                <a:gd name="connsiteY1" fmla="*/ 1270 h 552450"/>
                <a:gd name="connsiteX2" fmla="*/ 7157719 w 7708899"/>
                <a:gd name="connsiteY2" fmla="*/ 552450 h 552450"/>
                <a:gd name="connsiteX3" fmla="*/ 7157719 w 7708899"/>
                <a:gd name="connsiteY3" fmla="*/ 548640 h 552450"/>
                <a:gd name="connsiteX4" fmla="*/ 0 w 7708899"/>
                <a:gd name="connsiteY4" fmla="*/ 548640 h 552450"/>
                <a:gd name="connsiteX5" fmla="*/ 0 w 7708899"/>
                <a:gd name="connsiteY5" fmla="*/ 0 h 552450"/>
                <a:gd name="connsiteX6" fmla="*/ 7708899 w 7708899"/>
                <a:gd name="connsiteY6" fmla="*/ 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50">
                  <a:moveTo>
                    <a:pt x="7708899" y="0"/>
                  </a:moveTo>
                  <a:lnTo>
                    <a:pt x="7708899" y="1270"/>
                  </a:lnTo>
                  <a:lnTo>
                    <a:pt x="7157719" y="552450"/>
                  </a:lnTo>
                  <a:lnTo>
                    <a:pt x="7157719" y="548640"/>
                  </a:lnTo>
                  <a:lnTo>
                    <a:pt x="0" y="548640"/>
                  </a:lnTo>
                  <a:lnTo>
                    <a:pt x="0" y="0"/>
                  </a:lnTo>
                  <a:lnTo>
                    <a:pt x="7708899"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5" name="Picture 4" descr="A blue and black logo&#10;&#10;AI-generated content may be incorrect.">
            <a:extLst>
              <a:ext uri="{FF2B5EF4-FFF2-40B4-BE49-F238E27FC236}">
                <a16:creationId xmlns:a16="http://schemas.microsoft.com/office/drawing/2014/main" id="{F237A442-77B1-39AF-2F30-661CC1C646CD}"/>
              </a:ext>
            </a:extLst>
          </p:cNvPr>
          <p:cNvPicPr>
            <a:picLocks noChangeAspect="1"/>
          </p:cNvPicPr>
          <p:nvPr userDrawn="1"/>
        </p:nvPicPr>
        <p:blipFill>
          <a:blip r:embed="rId13"/>
          <a:stretch>
            <a:fillRect/>
          </a:stretch>
        </p:blipFill>
        <p:spPr>
          <a:xfrm>
            <a:off x="10554240" y="6251684"/>
            <a:ext cx="1239653" cy="314078"/>
          </a:xfrm>
          <a:prstGeom prst="rect">
            <a:avLst/>
          </a:prstGeom>
        </p:spPr>
      </p:pic>
    </p:spTree>
    <p:extLst>
      <p:ext uri="{BB962C8B-B14F-4D97-AF65-F5344CB8AC3E}">
        <p14:creationId xmlns:p14="http://schemas.microsoft.com/office/powerpoint/2010/main" val="2469548628"/>
      </p:ext>
    </p:extLst>
  </p:cSld>
  <p:clrMap bg1="lt1" tx1="dk1" bg2="lt2" tx2="dk2" accent1="accent1" accent2="accent2" accent3="accent3" accent4="accent4" accent5="accent5" accent6="accent6" hlink="hlink" folHlink="folHlink"/>
  <p:sldLayoutIdLst>
    <p:sldLayoutId id="2147486182" r:id="rId1"/>
    <p:sldLayoutId id="2147486183" r:id="rId2"/>
    <p:sldLayoutId id="2147486184" r:id="rId3"/>
    <p:sldLayoutId id="2147486185" r:id="rId4"/>
    <p:sldLayoutId id="2147486186" r:id="rId5"/>
    <p:sldLayoutId id="2147486187" r:id="rId6"/>
    <p:sldLayoutId id="2147486188" r:id="rId7"/>
    <p:sldLayoutId id="2147486189" r:id="rId8"/>
    <p:sldLayoutId id="2147486190" r:id="rId9"/>
  </p:sldLayoutIdLst>
  <p:hf hdr="0" ftr="0" dt="0"/>
  <p:txStyles>
    <p:titleStyle>
      <a:lvl1pPr algn="l" defTabSz="914400" rtl="0" eaLnBrk="1" latinLnBrk="0" hangingPunct="1">
        <a:lnSpc>
          <a:spcPct val="90000"/>
        </a:lnSpc>
        <a:spcBef>
          <a:spcPct val="0"/>
        </a:spcBef>
        <a:buNone/>
        <a:defRPr sz="3200" kern="1200">
          <a:solidFill>
            <a:srgbClr val="000A62"/>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16">
          <p15:clr>
            <a:srgbClr val="F26B43"/>
          </p15:clr>
        </p15:guide>
        <p15:guide id="2" pos="288">
          <p15:clr>
            <a:srgbClr val="F26B43"/>
          </p15:clr>
        </p15:guide>
        <p15:guide id="3" pos="7287">
          <p15:clr>
            <a:srgbClr val="F26B43"/>
          </p15:clr>
        </p15:guide>
        <p15:guide id="4" orient="horz" pos="375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8000">
              <a:srgbClr val="80BAFF"/>
            </a:gs>
            <a:gs pos="25000">
              <a:srgbClr val="A9D4FF"/>
            </a:gs>
          </a:gsLst>
          <a:lin ang="5400000" scaled="0"/>
          <a:tileRect/>
        </a:gradFill>
        <a:effectLst/>
      </p:bgPr>
    </p:bg>
    <p:spTree>
      <p:nvGrpSpPr>
        <p:cNvPr id="1" name=""/>
        <p:cNvGrpSpPr/>
        <p:nvPr/>
      </p:nvGrpSpPr>
      <p:grpSpPr>
        <a:xfrm>
          <a:off x="0" y="0"/>
          <a:ext cx="0" cy="0"/>
          <a:chOff x="0" y="0"/>
          <a:chExt cx="0" cy="0"/>
        </a:xfrm>
      </p:grpSpPr>
      <p:grpSp>
        <p:nvGrpSpPr>
          <p:cNvPr id="71" name="Cut Out" hidden="1">
            <a:extLst>
              <a:ext uri="{FF2B5EF4-FFF2-40B4-BE49-F238E27FC236}">
                <a16:creationId xmlns:a16="http://schemas.microsoft.com/office/drawing/2014/main" id="{645A4865-68ED-9412-B75A-3F8ACB57FB6E}"/>
              </a:ext>
            </a:extLst>
          </p:cNvPr>
          <p:cNvGrpSpPr/>
          <p:nvPr userDrawn="1"/>
        </p:nvGrpSpPr>
        <p:grpSpPr>
          <a:xfrm>
            <a:off x="-247316" y="391974"/>
            <a:ext cx="5968819" cy="6782282"/>
            <a:chOff x="-247316" y="391974"/>
            <a:chExt cx="5968819" cy="6782282"/>
          </a:xfrm>
        </p:grpSpPr>
        <p:sp>
          <p:nvSpPr>
            <p:cNvPr id="64" name="Freeform 63">
              <a:extLst>
                <a:ext uri="{FF2B5EF4-FFF2-40B4-BE49-F238E27FC236}">
                  <a16:creationId xmlns:a16="http://schemas.microsoft.com/office/drawing/2014/main" id="{6AAF9C22-8F00-F0CC-F430-DDD56142D83E}"/>
                </a:ext>
              </a:extLst>
            </p:cNvPr>
            <p:cNvSpPr/>
            <p:nvPr userDrawn="1"/>
          </p:nvSpPr>
          <p:spPr>
            <a:xfrm rot="20700000">
              <a:off x="4501782" y="391974"/>
              <a:ext cx="1219721" cy="6782282"/>
            </a:xfrm>
            <a:custGeom>
              <a:avLst/>
              <a:gdLst>
                <a:gd name="connsiteX0" fmla="*/ 1219721 w 1219721"/>
                <a:gd name="connsiteY0" fmla="*/ 0 h 6782282"/>
                <a:gd name="connsiteX1" fmla="*/ 1219720 w 1219721"/>
                <a:gd name="connsiteY1" fmla="*/ 6782282 h 6782282"/>
                <a:gd name="connsiteX2" fmla="*/ 0 w 1219721"/>
                <a:gd name="connsiteY2" fmla="*/ 6455459 h 6782282"/>
                <a:gd name="connsiteX3" fmla="*/ 0 w 1219721"/>
                <a:gd name="connsiteY3" fmla="*/ 1216910 h 6782282"/>
                <a:gd name="connsiteX4" fmla="*/ 1216910 w 1219721"/>
                <a:gd name="connsiteY4" fmla="*/ 0 h 67822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721" h="6782282">
                  <a:moveTo>
                    <a:pt x="1219721" y="0"/>
                  </a:moveTo>
                  <a:lnTo>
                    <a:pt x="1219720" y="6782282"/>
                  </a:lnTo>
                  <a:lnTo>
                    <a:pt x="0" y="6455459"/>
                  </a:lnTo>
                  <a:lnTo>
                    <a:pt x="0" y="1216910"/>
                  </a:lnTo>
                  <a:lnTo>
                    <a:pt x="121691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66">
              <a:extLst>
                <a:ext uri="{FF2B5EF4-FFF2-40B4-BE49-F238E27FC236}">
                  <a16:creationId xmlns:a16="http://schemas.microsoft.com/office/drawing/2014/main" id="{07F2DA9D-A2E1-6623-5534-DE193CE69237}"/>
                </a:ext>
              </a:extLst>
            </p:cNvPr>
            <p:cNvSpPr/>
            <p:nvPr userDrawn="1"/>
          </p:nvSpPr>
          <p:spPr>
            <a:xfrm rot="20700000">
              <a:off x="3086241" y="2413806"/>
              <a:ext cx="1219717" cy="4725406"/>
            </a:xfrm>
            <a:custGeom>
              <a:avLst/>
              <a:gdLst>
                <a:gd name="connsiteX0" fmla="*/ 1219717 w 1219717"/>
                <a:gd name="connsiteY0" fmla="*/ 0 h 4725406"/>
                <a:gd name="connsiteX1" fmla="*/ 1219717 w 1219717"/>
                <a:gd name="connsiteY1" fmla="*/ 4725406 h 4725406"/>
                <a:gd name="connsiteX2" fmla="*/ 0 w 1219717"/>
                <a:gd name="connsiteY2" fmla="*/ 4398584 h 4725406"/>
                <a:gd name="connsiteX3" fmla="*/ 0 w 1219717"/>
                <a:gd name="connsiteY3" fmla="*/ 1219718 h 4725406"/>
              </a:gdLst>
              <a:ahLst/>
              <a:cxnLst>
                <a:cxn ang="0">
                  <a:pos x="connsiteX0" y="connsiteY0"/>
                </a:cxn>
                <a:cxn ang="0">
                  <a:pos x="connsiteX1" y="connsiteY1"/>
                </a:cxn>
                <a:cxn ang="0">
                  <a:pos x="connsiteX2" y="connsiteY2"/>
                </a:cxn>
                <a:cxn ang="0">
                  <a:pos x="connsiteX3" y="connsiteY3"/>
                </a:cxn>
              </a:cxnLst>
              <a:rect l="l" t="t" r="r" b="b"/>
              <a:pathLst>
                <a:path w="1219717" h="4725406">
                  <a:moveTo>
                    <a:pt x="1219717" y="0"/>
                  </a:moveTo>
                  <a:lnTo>
                    <a:pt x="1219717" y="4725406"/>
                  </a:lnTo>
                  <a:lnTo>
                    <a:pt x="0" y="4398584"/>
                  </a:lnTo>
                  <a:lnTo>
                    <a:pt x="0" y="1219718"/>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69">
              <a:extLst>
                <a:ext uri="{FF2B5EF4-FFF2-40B4-BE49-F238E27FC236}">
                  <a16:creationId xmlns:a16="http://schemas.microsoft.com/office/drawing/2014/main" id="{507EE6BD-3353-5291-18D0-AE718EEBDDB9}"/>
                </a:ext>
              </a:extLst>
            </p:cNvPr>
            <p:cNvSpPr/>
            <p:nvPr userDrawn="1"/>
          </p:nvSpPr>
          <p:spPr>
            <a:xfrm rot="20700000">
              <a:off x="1675953" y="4431391"/>
              <a:ext cx="1219720" cy="2672853"/>
            </a:xfrm>
            <a:custGeom>
              <a:avLst/>
              <a:gdLst>
                <a:gd name="connsiteX0" fmla="*/ 1219720 w 1219720"/>
                <a:gd name="connsiteY0" fmla="*/ 0 h 2672853"/>
                <a:gd name="connsiteX1" fmla="*/ 1219720 w 1219720"/>
                <a:gd name="connsiteY1" fmla="*/ 2672853 h 2672853"/>
                <a:gd name="connsiteX2" fmla="*/ 0 w 1219720"/>
                <a:gd name="connsiteY2" fmla="*/ 2346030 h 2672853"/>
                <a:gd name="connsiteX3" fmla="*/ 0 w 1219720"/>
                <a:gd name="connsiteY3" fmla="*/ 1219720 h 2672853"/>
              </a:gdLst>
              <a:ahLst/>
              <a:cxnLst>
                <a:cxn ang="0">
                  <a:pos x="connsiteX0" y="connsiteY0"/>
                </a:cxn>
                <a:cxn ang="0">
                  <a:pos x="connsiteX1" y="connsiteY1"/>
                </a:cxn>
                <a:cxn ang="0">
                  <a:pos x="connsiteX2" y="connsiteY2"/>
                </a:cxn>
                <a:cxn ang="0">
                  <a:pos x="connsiteX3" y="connsiteY3"/>
                </a:cxn>
              </a:cxnLst>
              <a:rect l="l" t="t" r="r" b="b"/>
              <a:pathLst>
                <a:path w="1219720" h="2672853">
                  <a:moveTo>
                    <a:pt x="1219720" y="0"/>
                  </a:moveTo>
                  <a:lnTo>
                    <a:pt x="1219720" y="2672853"/>
                  </a:lnTo>
                  <a:lnTo>
                    <a:pt x="0" y="2346030"/>
                  </a:lnTo>
                  <a:lnTo>
                    <a:pt x="0" y="121972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56">
              <a:extLst>
                <a:ext uri="{FF2B5EF4-FFF2-40B4-BE49-F238E27FC236}">
                  <a16:creationId xmlns:a16="http://schemas.microsoft.com/office/drawing/2014/main" id="{7868CEA2-789D-E697-16FE-ACD6F7B6F760}"/>
                </a:ext>
              </a:extLst>
            </p:cNvPr>
            <p:cNvSpPr/>
            <p:nvPr userDrawn="1"/>
          </p:nvSpPr>
          <p:spPr>
            <a:xfrm rot="20700000">
              <a:off x="-247316" y="1017576"/>
              <a:ext cx="5315676" cy="1216909"/>
            </a:xfrm>
            <a:custGeom>
              <a:avLst/>
              <a:gdLst>
                <a:gd name="connsiteX0" fmla="*/ 5315676 w 5315676"/>
                <a:gd name="connsiteY0" fmla="*/ 0 h 1216909"/>
                <a:gd name="connsiteX1" fmla="*/ 4098766 w 5315676"/>
                <a:gd name="connsiteY1" fmla="*/ 1216909 h 1216909"/>
                <a:gd name="connsiteX2" fmla="*/ 4098766 w 5315676"/>
                <a:gd name="connsiteY2" fmla="*/ 1214099 h 1216909"/>
                <a:gd name="connsiteX3" fmla="*/ 0 w 5315676"/>
                <a:gd name="connsiteY3" fmla="*/ 1214099 h 1216909"/>
                <a:gd name="connsiteX4" fmla="*/ 325317 w 5315676"/>
                <a:gd name="connsiteY4" fmla="*/ 0 h 1216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5676" h="1216909">
                  <a:moveTo>
                    <a:pt x="5315676" y="0"/>
                  </a:moveTo>
                  <a:lnTo>
                    <a:pt x="4098766" y="1216909"/>
                  </a:lnTo>
                  <a:lnTo>
                    <a:pt x="4098766" y="1214099"/>
                  </a:lnTo>
                  <a:lnTo>
                    <a:pt x="0" y="1214099"/>
                  </a:lnTo>
                  <a:lnTo>
                    <a:pt x="325317"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A355C7A9-C0A5-8D5F-EB91-F99F6596BF4C}"/>
                </a:ext>
              </a:extLst>
            </p:cNvPr>
            <p:cNvSpPr/>
            <p:nvPr userDrawn="1"/>
          </p:nvSpPr>
          <p:spPr>
            <a:xfrm rot="20700000">
              <a:off x="-226351" y="2847108"/>
              <a:ext cx="4127824" cy="1222528"/>
            </a:xfrm>
            <a:custGeom>
              <a:avLst/>
              <a:gdLst>
                <a:gd name="connsiteX0" fmla="*/ 4127824 w 4127824"/>
                <a:gd name="connsiteY0" fmla="*/ 0 h 1222528"/>
                <a:gd name="connsiteX1" fmla="*/ 4127824 w 4127824"/>
                <a:gd name="connsiteY1" fmla="*/ 2811 h 1222528"/>
                <a:gd name="connsiteX2" fmla="*/ 2908106 w 4127824"/>
                <a:gd name="connsiteY2" fmla="*/ 1222528 h 1222528"/>
                <a:gd name="connsiteX3" fmla="*/ 2908106 w 4127824"/>
                <a:gd name="connsiteY3" fmla="*/ 1214099 h 1222528"/>
                <a:gd name="connsiteX4" fmla="*/ 0 w 4127824"/>
                <a:gd name="connsiteY4" fmla="*/ 1214099 h 1222528"/>
                <a:gd name="connsiteX5" fmla="*/ 325317 w 4127824"/>
                <a:gd name="connsiteY5" fmla="*/ 0 h 122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27824" h="1222528">
                  <a:moveTo>
                    <a:pt x="4127824" y="0"/>
                  </a:moveTo>
                  <a:lnTo>
                    <a:pt x="4127824" y="2811"/>
                  </a:lnTo>
                  <a:lnTo>
                    <a:pt x="2908106" y="1222528"/>
                  </a:lnTo>
                  <a:lnTo>
                    <a:pt x="2908106" y="1214099"/>
                  </a:lnTo>
                  <a:lnTo>
                    <a:pt x="0" y="1214099"/>
                  </a:lnTo>
                  <a:lnTo>
                    <a:pt x="325317"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1568EE0E-6087-7F47-4FC1-A508563439ED}"/>
                </a:ext>
              </a:extLst>
            </p:cNvPr>
            <p:cNvSpPr/>
            <p:nvPr userDrawn="1"/>
          </p:nvSpPr>
          <p:spPr>
            <a:xfrm rot="20700000">
              <a:off x="-206161" y="4676366"/>
              <a:ext cx="2942781" cy="1222530"/>
            </a:xfrm>
            <a:custGeom>
              <a:avLst/>
              <a:gdLst>
                <a:gd name="connsiteX0" fmla="*/ 2942781 w 2942781"/>
                <a:gd name="connsiteY0" fmla="*/ 0 h 1222530"/>
                <a:gd name="connsiteX1" fmla="*/ 2942781 w 2942781"/>
                <a:gd name="connsiteY1" fmla="*/ 2811 h 1222530"/>
                <a:gd name="connsiteX2" fmla="*/ 1723060 w 2942781"/>
                <a:gd name="connsiteY2" fmla="*/ 1222530 h 1222530"/>
                <a:gd name="connsiteX3" fmla="*/ 1723060 w 2942781"/>
                <a:gd name="connsiteY3" fmla="*/ 1214099 h 1222530"/>
                <a:gd name="connsiteX4" fmla="*/ 0 w 2942781"/>
                <a:gd name="connsiteY4" fmla="*/ 1214098 h 1222530"/>
                <a:gd name="connsiteX5" fmla="*/ 325316 w 2942781"/>
                <a:gd name="connsiteY5" fmla="*/ 0 h 1222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42781" h="1222530">
                  <a:moveTo>
                    <a:pt x="2942781" y="0"/>
                  </a:moveTo>
                  <a:lnTo>
                    <a:pt x="2942781" y="2811"/>
                  </a:lnTo>
                  <a:lnTo>
                    <a:pt x="1723060" y="1222530"/>
                  </a:lnTo>
                  <a:lnTo>
                    <a:pt x="1723060" y="1214099"/>
                  </a:lnTo>
                  <a:lnTo>
                    <a:pt x="0" y="1214098"/>
                  </a:lnTo>
                  <a:lnTo>
                    <a:pt x="325316"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Placeholder 1">
            <a:extLst>
              <a:ext uri="{FF2B5EF4-FFF2-40B4-BE49-F238E27FC236}">
                <a16:creationId xmlns:a16="http://schemas.microsoft.com/office/drawing/2014/main" id="{94D09C11-7276-B67A-A1A1-4C875D1ABA68}"/>
              </a:ext>
            </a:extLst>
          </p:cNvPr>
          <p:cNvSpPr>
            <a:spLocks noGrp="1"/>
          </p:cNvSpPr>
          <p:nvPr userDrawn="1">
            <p:ph type="title"/>
          </p:nvPr>
        </p:nvSpPr>
        <p:spPr>
          <a:xfrm>
            <a:off x="421041" y="493776"/>
            <a:ext cx="11310707" cy="804672"/>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64A7CC43-E171-1153-2B75-F702D7B914A8}"/>
              </a:ext>
            </a:extLst>
          </p:cNvPr>
          <p:cNvSpPr>
            <a:spLocks noGrp="1"/>
          </p:cNvSpPr>
          <p:nvPr userDrawn="1">
            <p:ph type="body" idx="1"/>
          </p:nvPr>
        </p:nvSpPr>
        <p:spPr>
          <a:xfrm>
            <a:off x="421041" y="1554480"/>
            <a:ext cx="11310707" cy="4247212"/>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hidden="1">
            <a:extLst>
              <a:ext uri="{FF2B5EF4-FFF2-40B4-BE49-F238E27FC236}">
                <a16:creationId xmlns:a16="http://schemas.microsoft.com/office/drawing/2014/main" id="{0BF76C95-9667-2357-762F-B7B15D7BA3E7}"/>
              </a:ext>
            </a:extLst>
          </p:cNvPr>
          <p:cNvPicPr>
            <a:picLocks noChangeAspect="1"/>
          </p:cNvPicPr>
          <p:nvPr userDrawn="1"/>
        </p:nvPicPr>
        <p:blipFill>
          <a:blip r:embed="rId33"/>
          <a:stretch>
            <a:fillRect/>
          </a:stretch>
        </p:blipFill>
        <p:spPr>
          <a:xfrm>
            <a:off x="199931" y="-813939"/>
            <a:ext cx="2208828" cy="563207"/>
          </a:xfrm>
          <a:prstGeom prst="rect">
            <a:avLst/>
          </a:prstGeom>
        </p:spPr>
      </p:pic>
      <p:grpSp>
        <p:nvGrpSpPr>
          <p:cNvPr id="38" name="Full Size" hidden="1">
            <a:extLst>
              <a:ext uri="{FF2B5EF4-FFF2-40B4-BE49-F238E27FC236}">
                <a16:creationId xmlns:a16="http://schemas.microsoft.com/office/drawing/2014/main" id="{CBF5D916-2559-D87A-6071-0827F3911641}"/>
              </a:ext>
            </a:extLst>
          </p:cNvPr>
          <p:cNvGrpSpPr/>
          <p:nvPr userDrawn="1"/>
        </p:nvGrpSpPr>
        <p:grpSpPr>
          <a:xfrm rot="-19800000">
            <a:off x="-13122649" y="-4850920"/>
            <a:ext cx="20342655" cy="21641432"/>
            <a:chOff x="-289533" y="-2834540"/>
            <a:chExt cx="9192657" cy="9779562"/>
          </a:xfrm>
        </p:grpSpPr>
        <p:sp>
          <p:nvSpPr>
            <p:cNvPr id="39" name="Freeform 38">
              <a:extLst>
                <a:ext uri="{FF2B5EF4-FFF2-40B4-BE49-F238E27FC236}">
                  <a16:creationId xmlns:a16="http://schemas.microsoft.com/office/drawing/2014/main" id="{09460502-8A0D-F9D8-E3FC-D3C35053B797}"/>
                </a:ext>
              </a:extLst>
            </p:cNvPr>
            <p:cNvSpPr/>
            <p:nvPr userDrawn="1"/>
          </p:nvSpPr>
          <p:spPr>
            <a:xfrm rot="18900000">
              <a:off x="8351944" y="-2834540"/>
              <a:ext cx="551180" cy="7708900"/>
            </a:xfrm>
            <a:custGeom>
              <a:avLst/>
              <a:gdLst>
                <a:gd name="connsiteX0" fmla="*/ 551180 w 551180"/>
                <a:gd name="connsiteY0" fmla="*/ 0 h 7708900"/>
                <a:gd name="connsiteX1" fmla="*/ 551180 w 551180"/>
                <a:gd name="connsiteY1" fmla="*/ 7708900 h 7708900"/>
                <a:gd name="connsiteX2" fmla="*/ 0 w 551180"/>
                <a:gd name="connsiteY2" fmla="*/ 7708900 h 7708900"/>
                <a:gd name="connsiteX3" fmla="*/ 0 w 551180"/>
                <a:gd name="connsiteY3" fmla="*/ 549910 h 7708900"/>
                <a:gd name="connsiteX4" fmla="*/ 549910 w 551180"/>
                <a:gd name="connsiteY4" fmla="*/ 0 h 7708900"/>
                <a:gd name="connsiteX5" fmla="*/ 551180 w 551180"/>
                <a:gd name="connsiteY5" fmla="*/ 0 h 770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180" h="7708900">
                  <a:moveTo>
                    <a:pt x="551180" y="0"/>
                  </a:moveTo>
                  <a:lnTo>
                    <a:pt x="551180" y="7708900"/>
                  </a:lnTo>
                  <a:lnTo>
                    <a:pt x="0" y="7708900"/>
                  </a:lnTo>
                  <a:lnTo>
                    <a:pt x="0" y="549910"/>
                  </a:lnTo>
                  <a:lnTo>
                    <a:pt x="549910" y="0"/>
                  </a:lnTo>
                  <a:lnTo>
                    <a:pt x="55118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39">
              <a:extLst>
                <a:ext uri="{FF2B5EF4-FFF2-40B4-BE49-F238E27FC236}">
                  <a16:creationId xmlns:a16="http://schemas.microsoft.com/office/drawing/2014/main" id="{A5626CB4-BBEE-998F-0B0A-69DF05DFB1D9}"/>
                </a:ext>
              </a:extLst>
            </p:cNvPr>
            <p:cNvSpPr/>
            <p:nvPr userDrawn="1"/>
          </p:nvSpPr>
          <p:spPr>
            <a:xfrm rot="18900000">
              <a:off x="8350599" y="-1797133"/>
              <a:ext cx="551179" cy="7707629"/>
            </a:xfrm>
            <a:custGeom>
              <a:avLst/>
              <a:gdLst>
                <a:gd name="connsiteX0" fmla="*/ 551179 w 551179"/>
                <a:gd name="connsiteY0" fmla="*/ 0 h 7707629"/>
                <a:gd name="connsiteX1" fmla="*/ 551179 w 551179"/>
                <a:gd name="connsiteY1" fmla="*/ 7707629 h 7707629"/>
                <a:gd name="connsiteX2" fmla="*/ 0 w 551179"/>
                <a:gd name="connsiteY2" fmla="*/ 7707629 h 7707629"/>
                <a:gd name="connsiteX3" fmla="*/ 0 w 551179"/>
                <a:gd name="connsiteY3" fmla="*/ 551179 h 7707629"/>
                <a:gd name="connsiteX4" fmla="*/ 551179 w 551179"/>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79" h="7707629">
                  <a:moveTo>
                    <a:pt x="551179" y="0"/>
                  </a:moveTo>
                  <a:lnTo>
                    <a:pt x="551179" y="7707629"/>
                  </a:lnTo>
                  <a:lnTo>
                    <a:pt x="0" y="7707629"/>
                  </a:lnTo>
                  <a:lnTo>
                    <a:pt x="0" y="551179"/>
                  </a:lnTo>
                  <a:lnTo>
                    <a:pt x="551179" y="0"/>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40">
              <a:extLst>
                <a:ext uri="{FF2B5EF4-FFF2-40B4-BE49-F238E27FC236}">
                  <a16:creationId xmlns:a16="http://schemas.microsoft.com/office/drawing/2014/main" id="{6C2146AF-D932-DAFB-A40A-398827AB05D0}"/>
                </a:ext>
              </a:extLst>
            </p:cNvPr>
            <p:cNvSpPr/>
            <p:nvPr userDrawn="1"/>
          </p:nvSpPr>
          <p:spPr>
            <a:xfrm rot="18900000">
              <a:off x="8350597" y="-762607"/>
              <a:ext cx="551180" cy="7707629"/>
            </a:xfrm>
            <a:custGeom>
              <a:avLst/>
              <a:gdLst>
                <a:gd name="connsiteX0" fmla="*/ 551180 w 551180"/>
                <a:gd name="connsiteY0" fmla="*/ 0 h 7707629"/>
                <a:gd name="connsiteX1" fmla="*/ 551180 w 551180"/>
                <a:gd name="connsiteY1" fmla="*/ 7707629 h 7707629"/>
                <a:gd name="connsiteX2" fmla="*/ 0 w 551180"/>
                <a:gd name="connsiteY2" fmla="*/ 7707629 h 7707629"/>
                <a:gd name="connsiteX3" fmla="*/ 0 w 551180"/>
                <a:gd name="connsiteY3" fmla="*/ 551180 h 7707629"/>
                <a:gd name="connsiteX4" fmla="*/ 551180 w 551180"/>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80" h="7707629">
                  <a:moveTo>
                    <a:pt x="551180" y="0"/>
                  </a:moveTo>
                  <a:lnTo>
                    <a:pt x="551180" y="7707629"/>
                  </a:lnTo>
                  <a:lnTo>
                    <a:pt x="0" y="7707629"/>
                  </a:lnTo>
                  <a:lnTo>
                    <a:pt x="0" y="551180"/>
                  </a:lnTo>
                  <a:lnTo>
                    <a:pt x="551180" y="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F07F8016-2972-8815-07A3-91499D9D4BAE}"/>
                </a:ext>
              </a:extLst>
            </p:cNvPr>
            <p:cNvSpPr/>
            <p:nvPr userDrawn="1"/>
          </p:nvSpPr>
          <p:spPr>
            <a:xfrm rot="18900000">
              <a:off x="-288451" y="744955"/>
              <a:ext cx="7707630" cy="549910"/>
            </a:xfrm>
            <a:custGeom>
              <a:avLst/>
              <a:gdLst>
                <a:gd name="connsiteX0" fmla="*/ 7707630 w 7707630"/>
                <a:gd name="connsiteY0" fmla="*/ 0 h 549910"/>
                <a:gd name="connsiteX1" fmla="*/ 7157720 w 7707630"/>
                <a:gd name="connsiteY1" fmla="*/ 549910 h 549910"/>
                <a:gd name="connsiteX2" fmla="*/ 7157720 w 7707630"/>
                <a:gd name="connsiteY2" fmla="*/ 548640 h 549910"/>
                <a:gd name="connsiteX3" fmla="*/ 0 w 7707630"/>
                <a:gd name="connsiteY3" fmla="*/ 548640 h 549910"/>
                <a:gd name="connsiteX4" fmla="*/ 0 w 7707630"/>
                <a:gd name="connsiteY4" fmla="*/ 0 h 549910"/>
                <a:gd name="connsiteX5" fmla="*/ 7707630 w 7707630"/>
                <a:gd name="connsiteY5" fmla="*/ 0 h 54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7630" h="549910">
                  <a:moveTo>
                    <a:pt x="7707630" y="0"/>
                  </a:moveTo>
                  <a:lnTo>
                    <a:pt x="7157720" y="549910"/>
                  </a:lnTo>
                  <a:lnTo>
                    <a:pt x="7157720" y="548640"/>
                  </a:lnTo>
                  <a:lnTo>
                    <a:pt x="0" y="548640"/>
                  </a:lnTo>
                  <a:lnTo>
                    <a:pt x="0" y="0"/>
                  </a:lnTo>
                  <a:lnTo>
                    <a:pt x="7707630"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2">
              <a:extLst>
                <a:ext uri="{FF2B5EF4-FFF2-40B4-BE49-F238E27FC236}">
                  <a16:creationId xmlns:a16="http://schemas.microsoft.com/office/drawing/2014/main" id="{82852362-83F5-9AD4-AD9F-53F2E0292D33}"/>
                </a:ext>
              </a:extLst>
            </p:cNvPr>
            <p:cNvSpPr/>
            <p:nvPr userDrawn="1"/>
          </p:nvSpPr>
          <p:spPr>
            <a:xfrm rot="18900000">
              <a:off x="-289533" y="1780457"/>
              <a:ext cx="7708899" cy="552449"/>
            </a:xfrm>
            <a:custGeom>
              <a:avLst/>
              <a:gdLst>
                <a:gd name="connsiteX0" fmla="*/ 7708899 w 7708899"/>
                <a:gd name="connsiteY0" fmla="*/ 0 h 552449"/>
                <a:gd name="connsiteX1" fmla="*/ 7708899 w 7708899"/>
                <a:gd name="connsiteY1" fmla="*/ 1270 h 552449"/>
                <a:gd name="connsiteX2" fmla="*/ 7157720 w 7708899"/>
                <a:gd name="connsiteY2" fmla="*/ 552449 h 552449"/>
                <a:gd name="connsiteX3" fmla="*/ 7157720 w 7708899"/>
                <a:gd name="connsiteY3" fmla="*/ 548640 h 552449"/>
                <a:gd name="connsiteX4" fmla="*/ 0 w 7708899"/>
                <a:gd name="connsiteY4" fmla="*/ 548640 h 552449"/>
                <a:gd name="connsiteX5" fmla="*/ 0 w 7708899"/>
                <a:gd name="connsiteY5" fmla="*/ 0 h 552449"/>
                <a:gd name="connsiteX6" fmla="*/ 7708899 w 7708899"/>
                <a:gd name="connsiteY6" fmla="*/ 0 h 552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49">
                  <a:moveTo>
                    <a:pt x="7708899" y="0"/>
                  </a:moveTo>
                  <a:lnTo>
                    <a:pt x="7708899" y="1270"/>
                  </a:lnTo>
                  <a:lnTo>
                    <a:pt x="7157720" y="552449"/>
                  </a:lnTo>
                  <a:lnTo>
                    <a:pt x="7157720" y="548640"/>
                  </a:lnTo>
                  <a:lnTo>
                    <a:pt x="0" y="548640"/>
                  </a:lnTo>
                  <a:lnTo>
                    <a:pt x="0" y="0"/>
                  </a:lnTo>
                  <a:lnTo>
                    <a:pt x="7708899"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43">
              <a:extLst>
                <a:ext uri="{FF2B5EF4-FFF2-40B4-BE49-F238E27FC236}">
                  <a16:creationId xmlns:a16="http://schemas.microsoft.com/office/drawing/2014/main" id="{E7216B24-9E3B-FE57-A75D-569327BB05D9}"/>
                </a:ext>
              </a:extLst>
            </p:cNvPr>
            <p:cNvSpPr/>
            <p:nvPr userDrawn="1"/>
          </p:nvSpPr>
          <p:spPr>
            <a:xfrm rot="18900000">
              <a:off x="-289533" y="2814982"/>
              <a:ext cx="7708899" cy="552450"/>
            </a:xfrm>
            <a:custGeom>
              <a:avLst/>
              <a:gdLst>
                <a:gd name="connsiteX0" fmla="*/ 7708899 w 7708899"/>
                <a:gd name="connsiteY0" fmla="*/ 0 h 552450"/>
                <a:gd name="connsiteX1" fmla="*/ 7708899 w 7708899"/>
                <a:gd name="connsiteY1" fmla="*/ 1270 h 552450"/>
                <a:gd name="connsiteX2" fmla="*/ 7157719 w 7708899"/>
                <a:gd name="connsiteY2" fmla="*/ 552450 h 552450"/>
                <a:gd name="connsiteX3" fmla="*/ 7157719 w 7708899"/>
                <a:gd name="connsiteY3" fmla="*/ 548640 h 552450"/>
                <a:gd name="connsiteX4" fmla="*/ 0 w 7708899"/>
                <a:gd name="connsiteY4" fmla="*/ 548640 h 552450"/>
                <a:gd name="connsiteX5" fmla="*/ 0 w 7708899"/>
                <a:gd name="connsiteY5" fmla="*/ 0 h 552450"/>
                <a:gd name="connsiteX6" fmla="*/ 7708899 w 7708899"/>
                <a:gd name="connsiteY6" fmla="*/ 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50">
                  <a:moveTo>
                    <a:pt x="7708899" y="0"/>
                  </a:moveTo>
                  <a:lnTo>
                    <a:pt x="7708899" y="1270"/>
                  </a:lnTo>
                  <a:lnTo>
                    <a:pt x="7157719" y="552450"/>
                  </a:lnTo>
                  <a:lnTo>
                    <a:pt x="7157719" y="548640"/>
                  </a:lnTo>
                  <a:lnTo>
                    <a:pt x="0" y="548640"/>
                  </a:lnTo>
                  <a:lnTo>
                    <a:pt x="0" y="0"/>
                  </a:lnTo>
                  <a:lnTo>
                    <a:pt x="7708899"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4" name="Rectangle 3">
            <a:extLst>
              <a:ext uri="{FF2B5EF4-FFF2-40B4-BE49-F238E27FC236}">
                <a16:creationId xmlns:a16="http://schemas.microsoft.com/office/drawing/2014/main" id="{97CD32D6-D755-6652-D69F-0CF2C70CA1D3}"/>
              </a:ext>
            </a:extLst>
          </p:cNvPr>
          <p:cNvSpPr/>
          <p:nvPr userDrawn="1"/>
        </p:nvSpPr>
        <p:spPr>
          <a:xfrm>
            <a:off x="0" y="6128899"/>
            <a:ext cx="12192000" cy="559648"/>
          </a:xfrm>
          <a:prstGeom prst="rect">
            <a:avLst/>
          </a:prstGeom>
          <a:gradFill flip="none" rotWithShape="1">
            <a:gsLst>
              <a:gs pos="75000">
                <a:schemeClr val="bg1">
                  <a:alpha val="61000"/>
                </a:schemeClr>
              </a:gs>
              <a:gs pos="25000">
                <a:schemeClr val="bg1">
                  <a:alpha val="0"/>
                </a:scheme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1">
            <a:extLst>
              <a:ext uri="{FF2B5EF4-FFF2-40B4-BE49-F238E27FC236}">
                <a16:creationId xmlns:a16="http://schemas.microsoft.com/office/drawing/2014/main" id="{74D42C50-4918-03C5-725C-6A2874C0E0B6}"/>
              </a:ext>
            </a:extLst>
          </p:cNvPr>
          <p:cNvPicPr>
            <a:picLocks noChangeAspect="1"/>
          </p:cNvPicPr>
          <p:nvPr userDrawn="1"/>
        </p:nvPicPr>
        <p:blipFill>
          <a:blip r:embed="rId34"/>
          <a:srcRect/>
          <a:stretch/>
        </p:blipFill>
        <p:spPr>
          <a:xfrm>
            <a:off x="457200" y="6186192"/>
            <a:ext cx="455176" cy="457200"/>
          </a:xfrm>
          <a:prstGeom prst="rect">
            <a:avLst/>
          </a:prstGeom>
          <a:effectLst/>
        </p:spPr>
      </p:pic>
      <p:pic>
        <p:nvPicPr>
          <p:cNvPr id="12" name="Picture 11" descr="A blue and black logo&#10;&#10;AI-generated content may be incorrect.">
            <a:extLst>
              <a:ext uri="{FF2B5EF4-FFF2-40B4-BE49-F238E27FC236}">
                <a16:creationId xmlns:a16="http://schemas.microsoft.com/office/drawing/2014/main" id="{5BDFB2C8-D430-2730-C0D7-BD2A391AAE90}"/>
              </a:ext>
            </a:extLst>
          </p:cNvPr>
          <p:cNvPicPr>
            <a:picLocks noChangeAspect="1"/>
          </p:cNvPicPr>
          <p:nvPr userDrawn="1"/>
        </p:nvPicPr>
        <p:blipFill>
          <a:blip r:embed="rId35"/>
          <a:stretch>
            <a:fillRect/>
          </a:stretch>
        </p:blipFill>
        <p:spPr>
          <a:xfrm>
            <a:off x="10554240" y="6251684"/>
            <a:ext cx="1239653" cy="314078"/>
          </a:xfrm>
          <a:prstGeom prst="rect">
            <a:avLst/>
          </a:prstGeom>
        </p:spPr>
      </p:pic>
    </p:spTree>
    <p:extLst>
      <p:ext uri="{BB962C8B-B14F-4D97-AF65-F5344CB8AC3E}">
        <p14:creationId xmlns:p14="http://schemas.microsoft.com/office/powerpoint/2010/main" val="3338423448"/>
      </p:ext>
    </p:extLst>
  </p:cSld>
  <p:clrMap bg1="lt1" tx1="dk1" bg2="lt2" tx2="dk2" accent1="accent1" accent2="accent2" accent3="accent3" accent4="accent4" accent5="accent5" accent6="accent6" hlink="hlink" folHlink="folHlink"/>
  <p:sldLayoutIdLst>
    <p:sldLayoutId id="2147486192" r:id="rId1"/>
    <p:sldLayoutId id="2147486193" r:id="rId2"/>
    <p:sldLayoutId id="2147486194" r:id="rId3"/>
    <p:sldLayoutId id="2147486195" r:id="rId4"/>
    <p:sldLayoutId id="2147486196" r:id="rId5"/>
    <p:sldLayoutId id="2147486197" r:id="rId6"/>
    <p:sldLayoutId id="2147486198" r:id="rId7"/>
    <p:sldLayoutId id="2147486199" r:id="rId8"/>
    <p:sldLayoutId id="2147486200" r:id="rId9"/>
    <p:sldLayoutId id="2147486201" r:id="rId10"/>
    <p:sldLayoutId id="2147486202" r:id="rId11"/>
    <p:sldLayoutId id="2147486203" r:id="rId12"/>
    <p:sldLayoutId id="2147486204" r:id="rId13"/>
    <p:sldLayoutId id="2147486205" r:id="rId14"/>
    <p:sldLayoutId id="2147486206" r:id="rId15"/>
    <p:sldLayoutId id="2147486207" r:id="rId16"/>
    <p:sldLayoutId id="2147486208" r:id="rId17"/>
    <p:sldLayoutId id="2147486209" r:id="rId18"/>
    <p:sldLayoutId id="2147486210" r:id="rId19"/>
    <p:sldLayoutId id="2147486211" r:id="rId20"/>
    <p:sldLayoutId id="2147486212" r:id="rId21"/>
    <p:sldLayoutId id="2147486213" r:id="rId22"/>
    <p:sldLayoutId id="2147486214" r:id="rId23"/>
    <p:sldLayoutId id="2147486215" r:id="rId24"/>
    <p:sldLayoutId id="2147486216" r:id="rId25"/>
    <p:sldLayoutId id="2147486217" r:id="rId26"/>
    <p:sldLayoutId id="2147486218" r:id="rId27"/>
    <p:sldLayoutId id="2147486219" r:id="rId28"/>
    <p:sldLayoutId id="2147486220" r:id="rId29"/>
    <p:sldLayoutId id="2147486221" r:id="rId30"/>
    <p:sldLayoutId id="2147486222" r:id="rId31"/>
  </p:sldLayoutIdLst>
  <p:txStyles>
    <p:titleStyle>
      <a:lvl1pPr algn="l" defTabSz="914400" rtl="0" eaLnBrk="1" latinLnBrk="0" hangingPunct="1">
        <a:lnSpc>
          <a:spcPct val="90000"/>
        </a:lnSpc>
        <a:spcBef>
          <a:spcPct val="0"/>
        </a:spcBef>
        <a:buNone/>
        <a:defRPr sz="3200" kern="1200">
          <a:solidFill>
            <a:srgbClr val="000A62"/>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3000">
              <a:srgbClr val="73ACED"/>
            </a:gs>
            <a:gs pos="100000">
              <a:srgbClr val="699DD8"/>
            </a:gs>
            <a:gs pos="26000">
              <a:srgbClr val="9AC8FF"/>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1" name="Cut Out" hidden="1">
            <a:extLst>
              <a:ext uri="{FF2B5EF4-FFF2-40B4-BE49-F238E27FC236}">
                <a16:creationId xmlns:a16="http://schemas.microsoft.com/office/drawing/2014/main" id="{645A4865-68ED-9412-B75A-3F8ACB57FB6E}"/>
              </a:ext>
            </a:extLst>
          </p:cNvPr>
          <p:cNvGrpSpPr/>
          <p:nvPr userDrawn="1"/>
        </p:nvGrpSpPr>
        <p:grpSpPr>
          <a:xfrm>
            <a:off x="-247316" y="391974"/>
            <a:ext cx="5968819" cy="6782282"/>
            <a:chOff x="-247316" y="391974"/>
            <a:chExt cx="5968819" cy="6782282"/>
          </a:xfrm>
        </p:grpSpPr>
        <p:sp>
          <p:nvSpPr>
            <p:cNvPr id="64" name="Freeform 63">
              <a:extLst>
                <a:ext uri="{FF2B5EF4-FFF2-40B4-BE49-F238E27FC236}">
                  <a16:creationId xmlns:a16="http://schemas.microsoft.com/office/drawing/2014/main" id="{6AAF9C22-8F00-F0CC-F430-DDD56142D83E}"/>
                </a:ext>
              </a:extLst>
            </p:cNvPr>
            <p:cNvSpPr/>
            <p:nvPr userDrawn="1"/>
          </p:nvSpPr>
          <p:spPr>
            <a:xfrm rot="20700000">
              <a:off x="4501782" y="391974"/>
              <a:ext cx="1219721" cy="6782282"/>
            </a:xfrm>
            <a:custGeom>
              <a:avLst/>
              <a:gdLst>
                <a:gd name="connsiteX0" fmla="*/ 1219721 w 1219721"/>
                <a:gd name="connsiteY0" fmla="*/ 0 h 6782282"/>
                <a:gd name="connsiteX1" fmla="*/ 1219720 w 1219721"/>
                <a:gd name="connsiteY1" fmla="*/ 6782282 h 6782282"/>
                <a:gd name="connsiteX2" fmla="*/ 0 w 1219721"/>
                <a:gd name="connsiteY2" fmla="*/ 6455459 h 6782282"/>
                <a:gd name="connsiteX3" fmla="*/ 0 w 1219721"/>
                <a:gd name="connsiteY3" fmla="*/ 1216910 h 6782282"/>
                <a:gd name="connsiteX4" fmla="*/ 1216910 w 1219721"/>
                <a:gd name="connsiteY4" fmla="*/ 0 h 67822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721" h="6782282">
                  <a:moveTo>
                    <a:pt x="1219721" y="0"/>
                  </a:moveTo>
                  <a:lnTo>
                    <a:pt x="1219720" y="6782282"/>
                  </a:lnTo>
                  <a:lnTo>
                    <a:pt x="0" y="6455459"/>
                  </a:lnTo>
                  <a:lnTo>
                    <a:pt x="0" y="1216910"/>
                  </a:lnTo>
                  <a:lnTo>
                    <a:pt x="121691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66">
              <a:extLst>
                <a:ext uri="{FF2B5EF4-FFF2-40B4-BE49-F238E27FC236}">
                  <a16:creationId xmlns:a16="http://schemas.microsoft.com/office/drawing/2014/main" id="{07F2DA9D-A2E1-6623-5534-DE193CE69237}"/>
                </a:ext>
              </a:extLst>
            </p:cNvPr>
            <p:cNvSpPr/>
            <p:nvPr userDrawn="1"/>
          </p:nvSpPr>
          <p:spPr>
            <a:xfrm rot="20700000">
              <a:off x="3086241" y="2413806"/>
              <a:ext cx="1219717" cy="4725406"/>
            </a:xfrm>
            <a:custGeom>
              <a:avLst/>
              <a:gdLst>
                <a:gd name="connsiteX0" fmla="*/ 1219717 w 1219717"/>
                <a:gd name="connsiteY0" fmla="*/ 0 h 4725406"/>
                <a:gd name="connsiteX1" fmla="*/ 1219717 w 1219717"/>
                <a:gd name="connsiteY1" fmla="*/ 4725406 h 4725406"/>
                <a:gd name="connsiteX2" fmla="*/ 0 w 1219717"/>
                <a:gd name="connsiteY2" fmla="*/ 4398584 h 4725406"/>
                <a:gd name="connsiteX3" fmla="*/ 0 w 1219717"/>
                <a:gd name="connsiteY3" fmla="*/ 1219718 h 4725406"/>
              </a:gdLst>
              <a:ahLst/>
              <a:cxnLst>
                <a:cxn ang="0">
                  <a:pos x="connsiteX0" y="connsiteY0"/>
                </a:cxn>
                <a:cxn ang="0">
                  <a:pos x="connsiteX1" y="connsiteY1"/>
                </a:cxn>
                <a:cxn ang="0">
                  <a:pos x="connsiteX2" y="connsiteY2"/>
                </a:cxn>
                <a:cxn ang="0">
                  <a:pos x="connsiteX3" y="connsiteY3"/>
                </a:cxn>
              </a:cxnLst>
              <a:rect l="l" t="t" r="r" b="b"/>
              <a:pathLst>
                <a:path w="1219717" h="4725406">
                  <a:moveTo>
                    <a:pt x="1219717" y="0"/>
                  </a:moveTo>
                  <a:lnTo>
                    <a:pt x="1219717" y="4725406"/>
                  </a:lnTo>
                  <a:lnTo>
                    <a:pt x="0" y="4398584"/>
                  </a:lnTo>
                  <a:lnTo>
                    <a:pt x="0" y="1219718"/>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69">
              <a:extLst>
                <a:ext uri="{FF2B5EF4-FFF2-40B4-BE49-F238E27FC236}">
                  <a16:creationId xmlns:a16="http://schemas.microsoft.com/office/drawing/2014/main" id="{507EE6BD-3353-5291-18D0-AE718EEBDDB9}"/>
                </a:ext>
              </a:extLst>
            </p:cNvPr>
            <p:cNvSpPr/>
            <p:nvPr userDrawn="1"/>
          </p:nvSpPr>
          <p:spPr>
            <a:xfrm rot="20700000">
              <a:off x="1675953" y="4431391"/>
              <a:ext cx="1219720" cy="2672853"/>
            </a:xfrm>
            <a:custGeom>
              <a:avLst/>
              <a:gdLst>
                <a:gd name="connsiteX0" fmla="*/ 1219720 w 1219720"/>
                <a:gd name="connsiteY0" fmla="*/ 0 h 2672853"/>
                <a:gd name="connsiteX1" fmla="*/ 1219720 w 1219720"/>
                <a:gd name="connsiteY1" fmla="*/ 2672853 h 2672853"/>
                <a:gd name="connsiteX2" fmla="*/ 0 w 1219720"/>
                <a:gd name="connsiteY2" fmla="*/ 2346030 h 2672853"/>
                <a:gd name="connsiteX3" fmla="*/ 0 w 1219720"/>
                <a:gd name="connsiteY3" fmla="*/ 1219720 h 2672853"/>
              </a:gdLst>
              <a:ahLst/>
              <a:cxnLst>
                <a:cxn ang="0">
                  <a:pos x="connsiteX0" y="connsiteY0"/>
                </a:cxn>
                <a:cxn ang="0">
                  <a:pos x="connsiteX1" y="connsiteY1"/>
                </a:cxn>
                <a:cxn ang="0">
                  <a:pos x="connsiteX2" y="connsiteY2"/>
                </a:cxn>
                <a:cxn ang="0">
                  <a:pos x="connsiteX3" y="connsiteY3"/>
                </a:cxn>
              </a:cxnLst>
              <a:rect l="l" t="t" r="r" b="b"/>
              <a:pathLst>
                <a:path w="1219720" h="2672853">
                  <a:moveTo>
                    <a:pt x="1219720" y="0"/>
                  </a:moveTo>
                  <a:lnTo>
                    <a:pt x="1219720" y="2672853"/>
                  </a:lnTo>
                  <a:lnTo>
                    <a:pt x="0" y="2346030"/>
                  </a:lnTo>
                  <a:lnTo>
                    <a:pt x="0" y="121972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56">
              <a:extLst>
                <a:ext uri="{FF2B5EF4-FFF2-40B4-BE49-F238E27FC236}">
                  <a16:creationId xmlns:a16="http://schemas.microsoft.com/office/drawing/2014/main" id="{7868CEA2-789D-E697-16FE-ACD6F7B6F760}"/>
                </a:ext>
              </a:extLst>
            </p:cNvPr>
            <p:cNvSpPr/>
            <p:nvPr userDrawn="1"/>
          </p:nvSpPr>
          <p:spPr>
            <a:xfrm rot="20700000">
              <a:off x="-247316" y="1017576"/>
              <a:ext cx="5315676" cy="1216909"/>
            </a:xfrm>
            <a:custGeom>
              <a:avLst/>
              <a:gdLst>
                <a:gd name="connsiteX0" fmla="*/ 5315676 w 5315676"/>
                <a:gd name="connsiteY0" fmla="*/ 0 h 1216909"/>
                <a:gd name="connsiteX1" fmla="*/ 4098766 w 5315676"/>
                <a:gd name="connsiteY1" fmla="*/ 1216909 h 1216909"/>
                <a:gd name="connsiteX2" fmla="*/ 4098766 w 5315676"/>
                <a:gd name="connsiteY2" fmla="*/ 1214099 h 1216909"/>
                <a:gd name="connsiteX3" fmla="*/ 0 w 5315676"/>
                <a:gd name="connsiteY3" fmla="*/ 1214099 h 1216909"/>
                <a:gd name="connsiteX4" fmla="*/ 325317 w 5315676"/>
                <a:gd name="connsiteY4" fmla="*/ 0 h 1216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5676" h="1216909">
                  <a:moveTo>
                    <a:pt x="5315676" y="0"/>
                  </a:moveTo>
                  <a:lnTo>
                    <a:pt x="4098766" y="1216909"/>
                  </a:lnTo>
                  <a:lnTo>
                    <a:pt x="4098766" y="1214099"/>
                  </a:lnTo>
                  <a:lnTo>
                    <a:pt x="0" y="1214099"/>
                  </a:lnTo>
                  <a:lnTo>
                    <a:pt x="325317"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A355C7A9-C0A5-8D5F-EB91-F99F6596BF4C}"/>
                </a:ext>
              </a:extLst>
            </p:cNvPr>
            <p:cNvSpPr/>
            <p:nvPr userDrawn="1"/>
          </p:nvSpPr>
          <p:spPr>
            <a:xfrm rot="20700000">
              <a:off x="-226351" y="2847108"/>
              <a:ext cx="4127824" cy="1222528"/>
            </a:xfrm>
            <a:custGeom>
              <a:avLst/>
              <a:gdLst>
                <a:gd name="connsiteX0" fmla="*/ 4127824 w 4127824"/>
                <a:gd name="connsiteY0" fmla="*/ 0 h 1222528"/>
                <a:gd name="connsiteX1" fmla="*/ 4127824 w 4127824"/>
                <a:gd name="connsiteY1" fmla="*/ 2811 h 1222528"/>
                <a:gd name="connsiteX2" fmla="*/ 2908106 w 4127824"/>
                <a:gd name="connsiteY2" fmla="*/ 1222528 h 1222528"/>
                <a:gd name="connsiteX3" fmla="*/ 2908106 w 4127824"/>
                <a:gd name="connsiteY3" fmla="*/ 1214099 h 1222528"/>
                <a:gd name="connsiteX4" fmla="*/ 0 w 4127824"/>
                <a:gd name="connsiteY4" fmla="*/ 1214099 h 1222528"/>
                <a:gd name="connsiteX5" fmla="*/ 325317 w 4127824"/>
                <a:gd name="connsiteY5" fmla="*/ 0 h 122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27824" h="1222528">
                  <a:moveTo>
                    <a:pt x="4127824" y="0"/>
                  </a:moveTo>
                  <a:lnTo>
                    <a:pt x="4127824" y="2811"/>
                  </a:lnTo>
                  <a:lnTo>
                    <a:pt x="2908106" y="1222528"/>
                  </a:lnTo>
                  <a:lnTo>
                    <a:pt x="2908106" y="1214099"/>
                  </a:lnTo>
                  <a:lnTo>
                    <a:pt x="0" y="1214099"/>
                  </a:lnTo>
                  <a:lnTo>
                    <a:pt x="325317"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1568EE0E-6087-7F47-4FC1-A508563439ED}"/>
                </a:ext>
              </a:extLst>
            </p:cNvPr>
            <p:cNvSpPr/>
            <p:nvPr userDrawn="1"/>
          </p:nvSpPr>
          <p:spPr>
            <a:xfrm rot="20700000">
              <a:off x="-206161" y="4676366"/>
              <a:ext cx="2942781" cy="1222530"/>
            </a:xfrm>
            <a:custGeom>
              <a:avLst/>
              <a:gdLst>
                <a:gd name="connsiteX0" fmla="*/ 2942781 w 2942781"/>
                <a:gd name="connsiteY0" fmla="*/ 0 h 1222530"/>
                <a:gd name="connsiteX1" fmla="*/ 2942781 w 2942781"/>
                <a:gd name="connsiteY1" fmla="*/ 2811 h 1222530"/>
                <a:gd name="connsiteX2" fmla="*/ 1723060 w 2942781"/>
                <a:gd name="connsiteY2" fmla="*/ 1222530 h 1222530"/>
                <a:gd name="connsiteX3" fmla="*/ 1723060 w 2942781"/>
                <a:gd name="connsiteY3" fmla="*/ 1214099 h 1222530"/>
                <a:gd name="connsiteX4" fmla="*/ 0 w 2942781"/>
                <a:gd name="connsiteY4" fmla="*/ 1214098 h 1222530"/>
                <a:gd name="connsiteX5" fmla="*/ 325316 w 2942781"/>
                <a:gd name="connsiteY5" fmla="*/ 0 h 1222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42781" h="1222530">
                  <a:moveTo>
                    <a:pt x="2942781" y="0"/>
                  </a:moveTo>
                  <a:lnTo>
                    <a:pt x="2942781" y="2811"/>
                  </a:lnTo>
                  <a:lnTo>
                    <a:pt x="1723060" y="1222530"/>
                  </a:lnTo>
                  <a:lnTo>
                    <a:pt x="1723060" y="1214099"/>
                  </a:lnTo>
                  <a:lnTo>
                    <a:pt x="0" y="1214098"/>
                  </a:lnTo>
                  <a:lnTo>
                    <a:pt x="325316"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Placeholder 1">
            <a:extLst>
              <a:ext uri="{FF2B5EF4-FFF2-40B4-BE49-F238E27FC236}">
                <a16:creationId xmlns:a16="http://schemas.microsoft.com/office/drawing/2014/main" id="{94D09C11-7276-B67A-A1A1-4C875D1ABA68}"/>
              </a:ext>
            </a:extLst>
          </p:cNvPr>
          <p:cNvSpPr>
            <a:spLocks noGrp="1"/>
          </p:cNvSpPr>
          <p:nvPr userDrawn="1">
            <p:ph type="title"/>
          </p:nvPr>
        </p:nvSpPr>
        <p:spPr>
          <a:xfrm>
            <a:off x="457199" y="493776"/>
            <a:ext cx="11336693" cy="804672"/>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64A7CC43-E171-1153-2B75-F702D7B914A8}"/>
              </a:ext>
            </a:extLst>
          </p:cNvPr>
          <p:cNvSpPr>
            <a:spLocks noGrp="1"/>
          </p:cNvSpPr>
          <p:nvPr userDrawn="1">
            <p:ph type="body" idx="1"/>
          </p:nvPr>
        </p:nvSpPr>
        <p:spPr>
          <a:xfrm>
            <a:off x="457201" y="1554480"/>
            <a:ext cx="11336692" cy="4247212"/>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hidden="1">
            <a:extLst>
              <a:ext uri="{FF2B5EF4-FFF2-40B4-BE49-F238E27FC236}">
                <a16:creationId xmlns:a16="http://schemas.microsoft.com/office/drawing/2014/main" id="{0BF76C95-9667-2357-762F-B7B15D7BA3E7}"/>
              </a:ext>
            </a:extLst>
          </p:cNvPr>
          <p:cNvPicPr>
            <a:picLocks noChangeAspect="1"/>
          </p:cNvPicPr>
          <p:nvPr userDrawn="1"/>
        </p:nvPicPr>
        <p:blipFill>
          <a:blip r:embed="rId11"/>
          <a:stretch>
            <a:fillRect/>
          </a:stretch>
        </p:blipFill>
        <p:spPr>
          <a:xfrm>
            <a:off x="199931" y="-813939"/>
            <a:ext cx="2208828" cy="563207"/>
          </a:xfrm>
          <a:prstGeom prst="rect">
            <a:avLst/>
          </a:prstGeom>
        </p:spPr>
      </p:pic>
      <p:grpSp>
        <p:nvGrpSpPr>
          <p:cNvPr id="38" name="Full Size" hidden="1">
            <a:extLst>
              <a:ext uri="{FF2B5EF4-FFF2-40B4-BE49-F238E27FC236}">
                <a16:creationId xmlns:a16="http://schemas.microsoft.com/office/drawing/2014/main" id="{CBF5D916-2559-D87A-6071-0827F3911641}"/>
              </a:ext>
            </a:extLst>
          </p:cNvPr>
          <p:cNvGrpSpPr/>
          <p:nvPr userDrawn="1"/>
        </p:nvGrpSpPr>
        <p:grpSpPr>
          <a:xfrm rot="-19800000">
            <a:off x="-13122649" y="-4850920"/>
            <a:ext cx="20342655" cy="21641432"/>
            <a:chOff x="-289533" y="-2834540"/>
            <a:chExt cx="9192657" cy="9779562"/>
          </a:xfrm>
        </p:grpSpPr>
        <p:sp>
          <p:nvSpPr>
            <p:cNvPr id="39" name="Freeform 38">
              <a:extLst>
                <a:ext uri="{FF2B5EF4-FFF2-40B4-BE49-F238E27FC236}">
                  <a16:creationId xmlns:a16="http://schemas.microsoft.com/office/drawing/2014/main" id="{09460502-8A0D-F9D8-E3FC-D3C35053B797}"/>
                </a:ext>
              </a:extLst>
            </p:cNvPr>
            <p:cNvSpPr/>
            <p:nvPr userDrawn="1"/>
          </p:nvSpPr>
          <p:spPr>
            <a:xfrm rot="18900000">
              <a:off x="8351944" y="-2834540"/>
              <a:ext cx="551180" cy="7708900"/>
            </a:xfrm>
            <a:custGeom>
              <a:avLst/>
              <a:gdLst>
                <a:gd name="connsiteX0" fmla="*/ 551180 w 551180"/>
                <a:gd name="connsiteY0" fmla="*/ 0 h 7708900"/>
                <a:gd name="connsiteX1" fmla="*/ 551180 w 551180"/>
                <a:gd name="connsiteY1" fmla="*/ 7708900 h 7708900"/>
                <a:gd name="connsiteX2" fmla="*/ 0 w 551180"/>
                <a:gd name="connsiteY2" fmla="*/ 7708900 h 7708900"/>
                <a:gd name="connsiteX3" fmla="*/ 0 w 551180"/>
                <a:gd name="connsiteY3" fmla="*/ 549910 h 7708900"/>
                <a:gd name="connsiteX4" fmla="*/ 549910 w 551180"/>
                <a:gd name="connsiteY4" fmla="*/ 0 h 7708900"/>
                <a:gd name="connsiteX5" fmla="*/ 551180 w 551180"/>
                <a:gd name="connsiteY5" fmla="*/ 0 h 770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180" h="7708900">
                  <a:moveTo>
                    <a:pt x="551180" y="0"/>
                  </a:moveTo>
                  <a:lnTo>
                    <a:pt x="551180" y="7708900"/>
                  </a:lnTo>
                  <a:lnTo>
                    <a:pt x="0" y="7708900"/>
                  </a:lnTo>
                  <a:lnTo>
                    <a:pt x="0" y="549910"/>
                  </a:lnTo>
                  <a:lnTo>
                    <a:pt x="549910" y="0"/>
                  </a:lnTo>
                  <a:lnTo>
                    <a:pt x="55118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39">
              <a:extLst>
                <a:ext uri="{FF2B5EF4-FFF2-40B4-BE49-F238E27FC236}">
                  <a16:creationId xmlns:a16="http://schemas.microsoft.com/office/drawing/2014/main" id="{A5626CB4-BBEE-998F-0B0A-69DF05DFB1D9}"/>
                </a:ext>
              </a:extLst>
            </p:cNvPr>
            <p:cNvSpPr/>
            <p:nvPr userDrawn="1"/>
          </p:nvSpPr>
          <p:spPr>
            <a:xfrm rot="18900000">
              <a:off x="8350599" y="-1797133"/>
              <a:ext cx="551179" cy="7707629"/>
            </a:xfrm>
            <a:custGeom>
              <a:avLst/>
              <a:gdLst>
                <a:gd name="connsiteX0" fmla="*/ 551179 w 551179"/>
                <a:gd name="connsiteY0" fmla="*/ 0 h 7707629"/>
                <a:gd name="connsiteX1" fmla="*/ 551179 w 551179"/>
                <a:gd name="connsiteY1" fmla="*/ 7707629 h 7707629"/>
                <a:gd name="connsiteX2" fmla="*/ 0 w 551179"/>
                <a:gd name="connsiteY2" fmla="*/ 7707629 h 7707629"/>
                <a:gd name="connsiteX3" fmla="*/ 0 w 551179"/>
                <a:gd name="connsiteY3" fmla="*/ 551179 h 7707629"/>
                <a:gd name="connsiteX4" fmla="*/ 551179 w 551179"/>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79" h="7707629">
                  <a:moveTo>
                    <a:pt x="551179" y="0"/>
                  </a:moveTo>
                  <a:lnTo>
                    <a:pt x="551179" y="7707629"/>
                  </a:lnTo>
                  <a:lnTo>
                    <a:pt x="0" y="7707629"/>
                  </a:lnTo>
                  <a:lnTo>
                    <a:pt x="0" y="551179"/>
                  </a:lnTo>
                  <a:lnTo>
                    <a:pt x="551179" y="0"/>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40">
              <a:extLst>
                <a:ext uri="{FF2B5EF4-FFF2-40B4-BE49-F238E27FC236}">
                  <a16:creationId xmlns:a16="http://schemas.microsoft.com/office/drawing/2014/main" id="{6C2146AF-D932-DAFB-A40A-398827AB05D0}"/>
                </a:ext>
              </a:extLst>
            </p:cNvPr>
            <p:cNvSpPr/>
            <p:nvPr userDrawn="1"/>
          </p:nvSpPr>
          <p:spPr>
            <a:xfrm rot="18900000">
              <a:off x="8350597" y="-762607"/>
              <a:ext cx="551180" cy="7707629"/>
            </a:xfrm>
            <a:custGeom>
              <a:avLst/>
              <a:gdLst>
                <a:gd name="connsiteX0" fmla="*/ 551180 w 551180"/>
                <a:gd name="connsiteY0" fmla="*/ 0 h 7707629"/>
                <a:gd name="connsiteX1" fmla="*/ 551180 w 551180"/>
                <a:gd name="connsiteY1" fmla="*/ 7707629 h 7707629"/>
                <a:gd name="connsiteX2" fmla="*/ 0 w 551180"/>
                <a:gd name="connsiteY2" fmla="*/ 7707629 h 7707629"/>
                <a:gd name="connsiteX3" fmla="*/ 0 w 551180"/>
                <a:gd name="connsiteY3" fmla="*/ 551180 h 7707629"/>
                <a:gd name="connsiteX4" fmla="*/ 551180 w 551180"/>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80" h="7707629">
                  <a:moveTo>
                    <a:pt x="551180" y="0"/>
                  </a:moveTo>
                  <a:lnTo>
                    <a:pt x="551180" y="7707629"/>
                  </a:lnTo>
                  <a:lnTo>
                    <a:pt x="0" y="7707629"/>
                  </a:lnTo>
                  <a:lnTo>
                    <a:pt x="0" y="551180"/>
                  </a:lnTo>
                  <a:lnTo>
                    <a:pt x="551180" y="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F07F8016-2972-8815-07A3-91499D9D4BAE}"/>
                </a:ext>
              </a:extLst>
            </p:cNvPr>
            <p:cNvSpPr/>
            <p:nvPr userDrawn="1"/>
          </p:nvSpPr>
          <p:spPr>
            <a:xfrm rot="18900000">
              <a:off x="-288451" y="744955"/>
              <a:ext cx="7707630" cy="549910"/>
            </a:xfrm>
            <a:custGeom>
              <a:avLst/>
              <a:gdLst>
                <a:gd name="connsiteX0" fmla="*/ 7707630 w 7707630"/>
                <a:gd name="connsiteY0" fmla="*/ 0 h 549910"/>
                <a:gd name="connsiteX1" fmla="*/ 7157720 w 7707630"/>
                <a:gd name="connsiteY1" fmla="*/ 549910 h 549910"/>
                <a:gd name="connsiteX2" fmla="*/ 7157720 w 7707630"/>
                <a:gd name="connsiteY2" fmla="*/ 548640 h 549910"/>
                <a:gd name="connsiteX3" fmla="*/ 0 w 7707630"/>
                <a:gd name="connsiteY3" fmla="*/ 548640 h 549910"/>
                <a:gd name="connsiteX4" fmla="*/ 0 w 7707630"/>
                <a:gd name="connsiteY4" fmla="*/ 0 h 549910"/>
                <a:gd name="connsiteX5" fmla="*/ 7707630 w 7707630"/>
                <a:gd name="connsiteY5" fmla="*/ 0 h 54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7630" h="549910">
                  <a:moveTo>
                    <a:pt x="7707630" y="0"/>
                  </a:moveTo>
                  <a:lnTo>
                    <a:pt x="7157720" y="549910"/>
                  </a:lnTo>
                  <a:lnTo>
                    <a:pt x="7157720" y="548640"/>
                  </a:lnTo>
                  <a:lnTo>
                    <a:pt x="0" y="548640"/>
                  </a:lnTo>
                  <a:lnTo>
                    <a:pt x="0" y="0"/>
                  </a:lnTo>
                  <a:lnTo>
                    <a:pt x="7707630"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2">
              <a:extLst>
                <a:ext uri="{FF2B5EF4-FFF2-40B4-BE49-F238E27FC236}">
                  <a16:creationId xmlns:a16="http://schemas.microsoft.com/office/drawing/2014/main" id="{82852362-83F5-9AD4-AD9F-53F2E0292D33}"/>
                </a:ext>
              </a:extLst>
            </p:cNvPr>
            <p:cNvSpPr/>
            <p:nvPr userDrawn="1"/>
          </p:nvSpPr>
          <p:spPr>
            <a:xfrm rot="18900000">
              <a:off x="-289533" y="1780457"/>
              <a:ext cx="7708899" cy="552449"/>
            </a:xfrm>
            <a:custGeom>
              <a:avLst/>
              <a:gdLst>
                <a:gd name="connsiteX0" fmla="*/ 7708899 w 7708899"/>
                <a:gd name="connsiteY0" fmla="*/ 0 h 552449"/>
                <a:gd name="connsiteX1" fmla="*/ 7708899 w 7708899"/>
                <a:gd name="connsiteY1" fmla="*/ 1270 h 552449"/>
                <a:gd name="connsiteX2" fmla="*/ 7157720 w 7708899"/>
                <a:gd name="connsiteY2" fmla="*/ 552449 h 552449"/>
                <a:gd name="connsiteX3" fmla="*/ 7157720 w 7708899"/>
                <a:gd name="connsiteY3" fmla="*/ 548640 h 552449"/>
                <a:gd name="connsiteX4" fmla="*/ 0 w 7708899"/>
                <a:gd name="connsiteY4" fmla="*/ 548640 h 552449"/>
                <a:gd name="connsiteX5" fmla="*/ 0 w 7708899"/>
                <a:gd name="connsiteY5" fmla="*/ 0 h 552449"/>
                <a:gd name="connsiteX6" fmla="*/ 7708899 w 7708899"/>
                <a:gd name="connsiteY6" fmla="*/ 0 h 552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49">
                  <a:moveTo>
                    <a:pt x="7708899" y="0"/>
                  </a:moveTo>
                  <a:lnTo>
                    <a:pt x="7708899" y="1270"/>
                  </a:lnTo>
                  <a:lnTo>
                    <a:pt x="7157720" y="552449"/>
                  </a:lnTo>
                  <a:lnTo>
                    <a:pt x="7157720" y="548640"/>
                  </a:lnTo>
                  <a:lnTo>
                    <a:pt x="0" y="548640"/>
                  </a:lnTo>
                  <a:lnTo>
                    <a:pt x="0" y="0"/>
                  </a:lnTo>
                  <a:lnTo>
                    <a:pt x="7708899"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43">
              <a:extLst>
                <a:ext uri="{FF2B5EF4-FFF2-40B4-BE49-F238E27FC236}">
                  <a16:creationId xmlns:a16="http://schemas.microsoft.com/office/drawing/2014/main" id="{E7216B24-9E3B-FE57-A75D-569327BB05D9}"/>
                </a:ext>
              </a:extLst>
            </p:cNvPr>
            <p:cNvSpPr/>
            <p:nvPr userDrawn="1"/>
          </p:nvSpPr>
          <p:spPr>
            <a:xfrm rot="18900000">
              <a:off x="-289533" y="2814982"/>
              <a:ext cx="7708899" cy="552450"/>
            </a:xfrm>
            <a:custGeom>
              <a:avLst/>
              <a:gdLst>
                <a:gd name="connsiteX0" fmla="*/ 7708899 w 7708899"/>
                <a:gd name="connsiteY0" fmla="*/ 0 h 552450"/>
                <a:gd name="connsiteX1" fmla="*/ 7708899 w 7708899"/>
                <a:gd name="connsiteY1" fmla="*/ 1270 h 552450"/>
                <a:gd name="connsiteX2" fmla="*/ 7157719 w 7708899"/>
                <a:gd name="connsiteY2" fmla="*/ 552450 h 552450"/>
                <a:gd name="connsiteX3" fmla="*/ 7157719 w 7708899"/>
                <a:gd name="connsiteY3" fmla="*/ 548640 h 552450"/>
                <a:gd name="connsiteX4" fmla="*/ 0 w 7708899"/>
                <a:gd name="connsiteY4" fmla="*/ 548640 h 552450"/>
                <a:gd name="connsiteX5" fmla="*/ 0 w 7708899"/>
                <a:gd name="connsiteY5" fmla="*/ 0 h 552450"/>
                <a:gd name="connsiteX6" fmla="*/ 7708899 w 7708899"/>
                <a:gd name="connsiteY6" fmla="*/ 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50">
                  <a:moveTo>
                    <a:pt x="7708899" y="0"/>
                  </a:moveTo>
                  <a:lnTo>
                    <a:pt x="7708899" y="1270"/>
                  </a:lnTo>
                  <a:lnTo>
                    <a:pt x="7157719" y="552450"/>
                  </a:lnTo>
                  <a:lnTo>
                    <a:pt x="7157719" y="548640"/>
                  </a:lnTo>
                  <a:lnTo>
                    <a:pt x="0" y="548640"/>
                  </a:lnTo>
                  <a:lnTo>
                    <a:pt x="0" y="0"/>
                  </a:lnTo>
                  <a:lnTo>
                    <a:pt x="7708899"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8" name="Rectangle 7">
            <a:extLst>
              <a:ext uri="{FF2B5EF4-FFF2-40B4-BE49-F238E27FC236}">
                <a16:creationId xmlns:a16="http://schemas.microsoft.com/office/drawing/2014/main" id="{C138A1B3-3BF3-59B5-BC62-D71A42E3DCAE}"/>
              </a:ext>
            </a:extLst>
          </p:cNvPr>
          <p:cNvSpPr/>
          <p:nvPr userDrawn="1"/>
        </p:nvSpPr>
        <p:spPr>
          <a:xfrm>
            <a:off x="0" y="6119783"/>
            <a:ext cx="12192000" cy="590019"/>
          </a:xfrm>
          <a:prstGeom prst="rect">
            <a:avLst/>
          </a:prstGeom>
          <a:solidFill>
            <a:schemeClr val="bg1">
              <a:alpha val="5979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A4EF89E6-B423-961F-9EA6-282EA3254A55}"/>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402110" y="6231912"/>
            <a:ext cx="365760" cy="365760"/>
          </a:xfrm>
          <a:prstGeom prst="rect">
            <a:avLst/>
          </a:prstGeom>
          <a:effectLst/>
        </p:spPr>
      </p:pic>
      <p:sp>
        <p:nvSpPr>
          <p:cNvPr id="10" name="Slide Number Placeholder 5">
            <a:extLst>
              <a:ext uri="{FF2B5EF4-FFF2-40B4-BE49-F238E27FC236}">
                <a16:creationId xmlns:a16="http://schemas.microsoft.com/office/drawing/2014/main" id="{1D245A44-8C53-1922-627A-B81AD5688085}"/>
              </a:ext>
            </a:extLst>
          </p:cNvPr>
          <p:cNvSpPr>
            <a:spLocks noGrp="1"/>
          </p:cNvSpPr>
          <p:nvPr>
            <p:ph type="sldNum" sz="quarter" idx="4"/>
          </p:nvPr>
        </p:nvSpPr>
        <p:spPr>
          <a:xfrm>
            <a:off x="11731748" y="6232230"/>
            <a:ext cx="288523" cy="365125"/>
          </a:xfrm>
          <a:prstGeom prst="rect">
            <a:avLst/>
          </a:prstGeom>
        </p:spPr>
        <p:txBody>
          <a:bodyPr vert="horz" lIns="0" tIns="0" rIns="0" bIns="0" rtlCol="0" anchor="ctr" anchorCtr="0">
            <a:noAutofit/>
          </a:bodyPr>
          <a:lstStyle>
            <a:lvl1pPr algn="r">
              <a:defRPr sz="800">
                <a:solidFill>
                  <a:srgbClr val="000A62"/>
                </a:solidFill>
                <a:latin typeface="Arial" panose="020B0604020202020204" pitchFamily="34" charset="0"/>
                <a:cs typeface="Arial" panose="020B0604020202020204" pitchFamily="34" charset="0"/>
              </a:defRPr>
            </a:lvl1pPr>
          </a:lstStyle>
          <a:p>
            <a:fld id="{A1371F83-EA4D-3B47-99B9-95D90583DC1D}" type="slidenum">
              <a:rPr lang="en-US" smtClean="0"/>
              <a:pPr/>
              <a:t>‹#›</a:t>
            </a:fld>
            <a:endParaRPr lang="en-US" sz="800"/>
          </a:p>
        </p:txBody>
      </p:sp>
      <p:pic>
        <p:nvPicPr>
          <p:cNvPr id="11" name="Picture 10" descr="A blue and black logo&#10;&#10;AI-generated content may be incorrect.">
            <a:extLst>
              <a:ext uri="{FF2B5EF4-FFF2-40B4-BE49-F238E27FC236}">
                <a16:creationId xmlns:a16="http://schemas.microsoft.com/office/drawing/2014/main" id="{4F45A68D-EFC0-33D2-D772-6ECD1B4C7C71}"/>
              </a:ext>
            </a:extLst>
          </p:cNvPr>
          <p:cNvPicPr>
            <a:picLocks noChangeAspect="1"/>
          </p:cNvPicPr>
          <p:nvPr userDrawn="1"/>
        </p:nvPicPr>
        <p:blipFill>
          <a:blip r:embed="rId13"/>
          <a:stretch>
            <a:fillRect/>
          </a:stretch>
        </p:blipFill>
        <p:spPr>
          <a:xfrm>
            <a:off x="10649018" y="6277632"/>
            <a:ext cx="1082730" cy="274320"/>
          </a:xfrm>
          <a:prstGeom prst="rect">
            <a:avLst/>
          </a:prstGeom>
        </p:spPr>
      </p:pic>
    </p:spTree>
    <p:extLst>
      <p:ext uri="{BB962C8B-B14F-4D97-AF65-F5344CB8AC3E}">
        <p14:creationId xmlns:p14="http://schemas.microsoft.com/office/powerpoint/2010/main" val="3779254268"/>
      </p:ext>
    </p:extLst>
  </p:cSld>
  <p:clrMap bg1="lt1" tx1="dk1" bg2="lt2" tx2="dk2" accent1="accent1" accent2="accent2" accent3="accent3" accent4="accent4" accent5="accent5" accent6="accent6" hlink="hlink" folHlink="folHlink"/>
  <p:sldLayoutIdLst>
    <p:sldLayoutId id="2147486224" r:id="rId1"/>
    <p:sldLayoutId id="2147486225" r:id="rId2"/>
    <p:sldLayoutId id="2147486226" r:id="rId3"/>
    <p:sldLayoutId id="2147486227" r:id="rId4"/>
    <p:sldLayoutId id="2147486228" r:id="rId5"/>
    <p:sldLayoutId id="2147486229" r:id="rId6"/>
    <p:sldLayoutId id="2147486230" r:id="rId7"/>
    <p:sldLayoutId id="2147486231" r:id="rId8"/>
    <p:sldLayoutId id="2147486232" r:id="rId9"/>
  </p:sldLayoutIdLst>
  <p:hf hdr="0" ftr="0" dt="0"/>
  <p:txStyles>
    <p:titleStyle>
      <a:lvl1pPr algn="l" defTabSz="914400" rtl="0" eaLnBrk="1" latinLnBrk="0" hangingPunct="1">
        <a:lnSpc>
          <a:spcPct val="90000"/>
        </a:lnSpc>
        <a:spcBef>
          <a:spcPct val="0"/>
        </a:spcBef>
        <a:buNone/>
        <a:defRPr sz="3200" kern="1200">
          <a:solidFill>
            <a:srgbClr val="000A62"/>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16">
          <p15:clr>
            <a:srgbClr val="F26B43"/>
          </p15:clr>
        </p15:guide>
        <p15:guide id="2" pos="288">
          <p15:clr>
            <a:srgbClr val="F26B43"/>
          </p15:clr>
        </p15:guide>
        <p15:guide id="3" pos="7287">
          <p15:clr>
            <a:srgbClr val="F26B43"/>
          </p15:clr>
        </p15:guide>
        <p15:guide id="4" orient="horz" pos="375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6.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1.xml"/><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0.xml"/><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1.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1.xml"/><Relationship Id="rId5" Type="http://schemas.openxmlformats.org/officeDocument/2006/relationships/image" Target="../media/image17.jpe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61.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61.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0.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1.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1.xml"/><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2DE8A6-7F5D-DA8D-6277-B03F5352FC5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9916" y="457171"/>
            <a:ext cx="11272168" cy="5610254"/>
          </a:xfrm>
          <a:prstGeom prst="rect">
            <a:avLst/>
          </a:prstGeom>
        </p:spPr>
      </p:pic>
      <p:sp>
        <p:nvSpPr>
          <p:cNvPr id="4" name="Title 2">
            <a:extLst>
              <a:ext uri="{FF2B5EF4-FFF2-40B4-BE49-F238E27FC236}">
                <a16:creationId xmlns:a16="http://schemas.microsoft.com/office/drawing/2014/main" id="{6FBE3A7A-2278-7A8C-92B9-784ED78AA5D5}"/>
              </a:ext>
            </a:extLst>
          </p:cNvPr>
          <p:cNvSpPr txBox="1">
            <a:spLocks/>
          </p:cNvSpPr>
          <p:nvPr/>
        </p:nvSpPr>
        <p:spPr>
          <a:xfrm>
            <a:off x="411483" y="4324124"/>
            <a:ext cx="3868058" cy="1107996"/>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sz="3200" kern="1200">
                <a:solidFill>
                  <a:schemeClr val="bg1"/>
                </a:solidFill>
                <a:latin typeface="+mj-lt"/>
                <a:ea typeface="+mj-ea"/>
                <a:cs typeface="+mj-cs"/>
              </a:defRPr>
            </a:lvl1pPr>
          </a:lstStyle>
          <a:p>
            <a:r>
              <a:rPr lang="en-US" sz="3600">
                <a:solidFill>
                  <a:schemeClr val="tx1"/>
                </a:solidFill>
              </a:rPr>
              <a:t>What’s important this week</a:t>
            </a:r>
          </a:p>
        </p:txBody>
      </p:sp>
      <p:pic>
        <p:nvPicPr>
          <p:cNvPr id="10" name="Graphic 9">
            <a:extLst>
              <a:ext uri="{FF2B5EF4-FFF2-40B4-BE49-F238E27FC236}">
                <a16:creationId xmlns:a16="http://schemas.microsoft.com/office/drawing/2014/main" id="{1E2BA9F7-3E19-DF27-0E67-641BC67A60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200" y="457200"/>
            <a:ext cx="868683" cy="868683"/>
          </a:xfrm>
          <a:prstGeom prst="rect">
            <a:avLst/>
          </a:prstGeom>
        </p:spPr>
      </p:pic>
    </p:spTree>
    <p:extLst>
      <p:ext uri="{BB962C8B-B14F-4D97-AF65-F5344CB8AC3E}">
        <p14:creationId xmlns:p14="http://schemas.microsoft.com/office/powerpoint/2010/main" val="1095865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2E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9060"/>
          </a:xfrm>
          <a:prstGeom prst="rect">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00000" y="419100"/>
            <a:ext cx="9000000" cy="564322"/>
          </a:xfrm>
          <a:prstGeom prst="rect">
            <a:avLst/>
          </a:prstGeom>
          <a:noFill/>
        </p:spPr>
        <p:txBody>
          <a:bodyPr wrap="square" lIns="45720" tIns="18288" rIns="45720" bIns="18288" anchor="t">
            <a:spAutoFit/>
          </a:bodyPr>
          <a:lstStyle/>
          <a:p>
            <a:pPr algn="ctr"/>
            <a:r>
              <a:rPr sz="3667" b="1">
                <a:solidFill>
                  <a:srgbClr val="FFFFFF"/>
                </a:solidFill>
                <a:latin typeface="Arial"/>
              </a:rPr>
              <a:t>Top Performers</a:t>
            </a:r>
          </a:p>
        </p:txBody>
      </p:sp>
      <p:sp>
        <p:nvSpPr>
          <p:cNvPr id="5" name="TextBox 4"/>
          <p:cNvSpPr txBox="1"/>
          <p:nvPr/>
        </p:nvSpPr>
        <p:spPr>
          <a:xfrm>
            <a:off x="1600000" y="1021081"/>
            <a:ext cx="9000000" cy="205121"/>
          </a:xfrm>
          <a:prstGeom prst="rect">
            <a:avLst/>
          </a:prstGeom>
          <a:noFill/>
        </p:spPr>
        <p:txBody>
          <a:bodyPr wrap="square" lIns="45720" tIns="18288" rIns="45720" bIns="18288" anchor="t">
            <a:spAutoFit/>
          </a:bodyPr>
          <a:lstStyle/>
          <a:p>
            <a:pPr algn="ctr"/>
            <a:r>
              <a:rPr sz="1333" b="0">
                <a:solidFill>
                  <a:srgbClr val="E5F1FF"/>
                </a:solidFill>
                <a:latin typeface="Arial"/>
              </a:rPr>
              <a:t>August month-to-date production - New Orleans General Office</a:t>
            </a:r>
          </a:p>
        </p:txBody>
      </p:sp>
      <p:sp>
        <p:nvSpPr>
          <p:cNvPr id="6" name="TextBox 5"/>
          <p:cNvSpPr txBox="1"/>
          <p:nvPr/>
        </p:nvSpPr>
        <p:spPr>
          <a:xfrm>
            <a:off x="658368" y="1490472"/>
            <a:ext cx="3048000" cy="237744"/>
          </a:xfrm>
          <a:prstGeom prst="rect">
            <a:avLst/>
          </a:prstGeom>
          <a:noFill/>
        </p:spPr>
        <p:txBody>
          <a:bodyPr wrap="square" lIns="45720" tIns="18288" rIns="45720" bIns="18288" anchor="t">
            <a:spAutoFit/>
          </a:bodyPr>
          <a:lstStyle/>
          <a:p>
            <a:pPr algn="l"/>
            <a:r>
              <a:rPr sz="1300" b="1">
                <a:solidFill>
                  <a:srgbClr val="FFC72C"/>
                </a:solidFill>
                <a:latin typeface="Arial"/>
              </a:rPr>
              <a:t>First Year Commission</a:t>
            </a:r>
          </a:p>
        </p:txBody>
      </p:sp>
      <p:sp>
        <p:nvSpPr>
          <p:cNvPr id="7" name="Rounded Rectangle 6"/>
          <p:cNvSpPr/>
          <p:nvPr/>
        </p:nvSpPr>
        <p:spPr>
          <a:xfrm>
            <a:off x="658368" y="186690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6008" y="195453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6008" y="195453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1</a:t>
            </a:r>
          </a:p>
        </p:txBody>
      </p:sp>
      <p:sp>
        <p:nvSpPr>
          <p:cNvPr id="10" name="TextBox 9"/>
          <p:cNvSpPr txBox="1"/>
          <p:nvPr/>
        </p:nvSpPr>
        <p:spPr>
          <a:xfrm>
            <a:off x="1228368" y="1920240"/>
            <a:ext cx="2428000" cy="213905"/>
          </a:xfrm>
          <a:prstGeom prst="rect">
            <a:avLst/>
          </a:prstGeom>
          <a:noFill/>
        </p:spPr>
        <p:txBody>
          <a:bodyPr wrap="square" lIns="45720" tIns="18288" rIns="45720" bIns="18288" anchor="t">
            <a:spAutoFit/>
          </a:bodyPr>
          <a:lstStyle/>
          <a:p>
            <a:pPr algn="l"/>
            <a:r>
              <a:rPr sz="1150" b="1" dirty="0" err="1">
                <a:solidFill>
                  <a:srgbClr val="FFFFFF"/>
                </a:solidFill>
                <a:latin typeface="Arial"/>
              </a:rPr>
              <a:t>Cabirac</a:t>
            </a:r>
            <a:r>
              <a:rPr sz="1150" b="1" dirty="0">
                <a:solidFill>
                  <a:srgbClr val="FFFFFF"/>
                </a:solidFill>
                <a:latin typeface="Arial"/>
              </a:rPr>
              <a:t>, J</a:t>
            </a:r>
            <a:r>
              <a:rPr lang="en-US" sz="1150" b="1" dirty="0">
                <a:solidFill>
                  <a:srgbClr val="FFFFFF"/>
                </a:solidFill>
                <a:latin typeface="Arial"/>
              </a:rPr>
              <a:t>ames</a:t>
            </a:r>
            <a:endParaRPr sz="1150" b="1" dirty="0">
              <a:solidFill>
                <a:srgbClr val="FFFFFF"/>
              </a:solidFill>
              <a:latin typeface="Arial"/>
            </a:endParaRPr>
          </a:p>
        </p:txBody>
      </p:sp>
      <p:sp>
        <p:nvSpPr>
          <p:cNvPr id="11" name="TextBox 10"/>
          <p:cNvSpPr txBox="1"/>
          <p:nvPr/>
        </p:nvSpPr>
        <p:spPr>
          <a:xfrm>
            <a:off x="1228368" y="213360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1P   -   $34,126 FYC</a:t>
            </a:r>
          </a:p>
        </p:txBody>
      </p:sp>
      <p:sp>
        <p:nvSpPr>
          <p:cNvPr id="12" name="Rounded Rectangle 11"/>
          <p:cNvSpPr/>
          <p:nvPr/>
        </p:nvSpPr>
        <p:spPr>
          <a:xfrm>
            <a:off x="658368" y="242697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26008" y="251460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6008" y="251460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2</a:t>
            </a:r>
          </a:p>
        </p:txBody>
      </p:sp>
      <p:sp>
        <p:nvSpPr>
          <p:cNvPr id="15" name="TextBox 14"/>
          <p:cNvSpPr txBox="1"/>
          <p:nvPr/>
        </p:nvSpPr>
        <p:spPr>
          <a:xfrm>
            <a:off x="1228368" y="2480310"/>
            <a:ext cx="2428000" cy="192360"/>
          </a:xfrm>
          <a:prstGeom prst="rect">
            <a:avLst/>
          </a:prstGeom>
          <a:noFill/>
        </p:spPr>
        <p:txBody>
          <a:bodyPr wrap="square" lIns="45720" tIns="18288" rIns="45720" bIns="18288" anchor="t">
            <a:spAutoFit/>
          </a:bodyPr>
          <a:lstStyle/>
          <a:p>
            <a:pPr algn="l"/>
            <a:r>
              <a:rPr sz="1150" b="1">
                <a:solidFill>
                  <a:srgbClr val="FFFFFF"/>
                </a:solidFill>
                <a:latin typeface="Arial"/>
              </a:rPr>
              <a:t>Batiste-Webber, Buena</a:t>
            </a:r>
          </a:p>
        </p:txBody>
      </p:sp>
      <p:sp>
        <p:nvSpPr>
          <p:cNvPr id="16" name="TextBox 15"/>
          <p:cNvSpPr txBox="1"/>
          <p:nvPr/>
        </p:nvSpPr>
        <p:spPr>
          <a:xfrm>
            <a:off x="1228368" y="269367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CC   -   $17,228 FYC</a:t>
            </a:r>
          </a:p>
        </p:txBody>
      </p:sp>
      <p:sp>
        <p:nvSpPr>
          <p:cNvPr id="17" name="Rounded Rectangle 16"/>
          <p:cNvSpPr/>
          <p:nvPr/>
        </p:nvSpPr>
        <p:spPr>
          <a:xfrm>
            <a:off x="658368" y="298704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26008" y="307467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6008" y="307467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3</a:t>
            </a:r>
          </a:p>
        </p:txBody>
      </p:sp>
      <p:sp>
        <p:nvSpPr>
          <p:cNvPr id="20" name="TextBox 19"/>
          <p:cNvSpPr txBox="1"/>
          <p:nvPr/>
        </p:nvSpPr>
        <p:spPr>
          <a:xfrm>
            <a:off x="1228368" y="3040380"/>
            <a:ext cx="2428000" cy="192360"/>
          </a:xfrm>
          <a:prstGeom prst="rect">
            <a:avLst/>
          </a:prstGeom>
          <a:noFill/>
        </p:spPr>
        <p:txBody>
          <a:bodyPr wrap="square" lIns="45720" tIns="18288" rIns="45720" bIns="18288" anchor="t">
            <a:spAutoFit/>
          </a:bodyPr>
          <a:lstStyle/>
          <a:p>
            <a:pPr algn="l"/>
            <a:r>
              <a:rPr sz="1150" b="1">
                <a:solidFill>
                  <a:srgbClr val="FFFFFF"/>
                </a:solidFill>
                <a:latin typeface="Arial"/>
              </a:rPr>
              <a:t>Shelton, Clifford</a:t>
            </a:r>
          </a:p>
        </p:txBody>
      </p:sp>
      <p:sp>
        <p:nvSpPr>
          <p:cNvPr id="21" name="TextBox 20"/>
          <p:cNvSpPr txBox="1"/>
          <p:nvPr/>
        </p:nvSpPr>
        <p:spPr>
          <a:xfrm>
            <a:off x="1228368" y="325374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1P   -   $12,740 FYC</a:t>
            </a:r>
          </a:p>
        </p:txBody>
      </p:sp>
      <p:sp>
        <p:nvSpPr>
          <p:cNvPr id="22" name="Rounded Rectangle 21"/>
          <p:cNvSpPr/>
          <p:nvPr/>
        </p:nvSpPr>
        <p:spPr>
          <a:xfrm>
            <a:off x="658368" y="354711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26008" y="363474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6008" y="363474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4</a:t>
            </a:r>
          </a:p>
        </p:txBody>
      </p:sp>
      <p:sp>
        <p:nvSpPr>
          <p:cNvPr id="25" name="TextBox 24"/>
          <p:cNvSpPr txBox="1"/>
          <p:nvPr/>
        </p:nvSpPr>
        <p:spPr>
          <a:xfrm>
            <a:off x="1228368" y="3600450"/>
            <a:ext cx="2428000" cy="192360"/>
          </a:xfrm>
          <a:prstGeom prst="rect">
            <a:avLst/>
          </a:prstGeom>
          <a:noFill/>
        </p:spPr>
        <p:txBody>
          <a:bodyPr wrap="square" lIns="45720" tIns="18288" rIns="45720" bIns="18288" anchor="t">
            <a:spAutoFit/>
          </a:bodyPr>
          <a:lstStyle/>
          <a:p>
            <a:pPr algn="l"/>
            <a:r>
              <a:rPr sz="1150" b="1">
                <a:solidFill>
                  <a:srgbClr val="FFFFFF"/>
                </a:solidFill>
                <a:latin typeface="Arial"/>
              </a:rPr>
              <a:t>Savage, Zachary</a:t>
            </a:r>
          </a:p>
        </p:txBody>
      </p:sp>
      <p:sp>
        <p:nvSpPr>
          <p:cNvPr id="26" name="TextBox 25"/>
          <p:cNvSpPr txBox="1"/>
          <p:nvPr/>
        </p:nvSpPr>
        <p:spPr>
          <a:xfrm>
            <a:off x="1228368" y="381381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CC   -   $8,067 FYC</a:t>
            </a:r>
          </a:p>
        </p:txBody>
      </p:sp>
      <p:sp>
        <p:nvSpPr>
          <p:cNvPr id="27" name="Rounded Rectangle 26"/>
          <p:cNvSpPr/>
          <p:nvPr/>
        </p:nvSpPr>
        <p:spPr>
          <a:xfrm>
            <a:off x="658368" y="410718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26008" y="419481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6008" y="419481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5</a:t>
            </a:r>
          </a:p>
        </p:txBody>
      </p:sp>
      <p:sp>
        <p:nvSpPr>
          <p:cNvPr id="30" name="TextBox 29"/>
          <p:cNvSpPr txBox="1"/>
          <p:nvPr/>
        </p:nvSpPr>
        <p:spPr>
          <a:xfrm>
            <a:off x="1228368" y="4160520"/>
            <a:ext cx="2428000" cy="213905"/>
          </a:xfrm>
          <a:prstGeom prst="rect">
            <a:avLst/>
          </a:prstGeom>
          <a:noFill/>
        </p:spPr>
        <p:txBody>
          <a:bodyPr wrap="square" lIns="45720" tIns="18288" rIns="45720" bIns="18288" anchor="t">
            <a:spAutoFit/>
          </a:bodyPr>
          <a:lstStyle/>
          <a:p>
            <a:pPr algn="l"/>
            <a:r>
              <a:rPr sz="1150" b="1" dirty="0">
                <a:solidFill>
                  <a:srgbClr val="FFFFFF"/>
                </a:solidFill>
                <a:latin typeface="Arial"/>
              </a:rPr>
              <a:t>Crouch, Casey</a:t>
            </a:r>
          </a:p>
        </p:txBody>
      </p:sp>
      <p:sp>
        <p:nvSpPr>
          <p:cNvPr id="31" name="TextBox 30"/>
          <p:cNvSpPr txBox="1"/>
          <p:nvPr/>
        </p:nvSpPr>
        <p:spPr>
          <a:xfrm>
            <a:off x="1228368" y="437388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1P   -   $3,868 FYC</a:t>
            </a:r>
          </a:p>
        </p:txBody>
      </p:sp>
      <p:sp>
        <p:nvSpPr>
          <p:cNvPr id="32" name="TextBox 31"/>
          <p:cNvSpPr txBox="1"/>
          <p:nvPr/>
        </p:nvSpPr>
        <p:spPr>
          <a:xfrm>
            <a:off x="4572000" y="1490472"/>
            <a:ext cx="3048000" cy="237744"/>
          </a:xfrm>
          <a:prstGeom prst="rect">
            <a:avLst/>
          </a:prstGeom>
          <a:noFill/>
        </p:spPr>
        <p:txBody>
          <a:bodyPr wrap="square" lIns="45720" tIns="18288" rIns="45720" bIns="18288" anchor="t">
            <a:spAutoFit/>
          </a:bodyPr>
          <a:lstStyle/>
          <a:p>
            <a:pPr algn="l"/>
            <a:r>
              <a:rPr sz="1300" b="1">
                <a:solidFill>
                  <a:srgbClr val="FFC72C"/>
                </a:solidFill>
                <a:latin typeface="Arial"/>
              </a:rPr>
              <a:t>Applied Cases</a:t>
            </a:r>
          </a:p>
        </p:txBody>
      </p:sp>
      <p:sp>
        <p:nvSpPr>
          <p:cNvPr id="33" name="Rounded Rectangle 32"/>
          <p:cNvSpPr/>
          <p:nvPr/>
        </p:nvSpPr>
        <p:spPr>
          <a:xfrm>
            <a:off x="4572000" y="186690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4739640" y="195453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739640" y="195453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1</a:t>
            </a:r>
          </a:p>
        </p:txBody>
      </p:sp>
      <p:sp>
        <p:nvSpPr>
          <p:cNvPr id="36" name="TextBox 35"/>
          <p:cNvSpPr txBox="1"/>
          <p:nvPr/>
        </p:nvSpPr>
        <p:spPr>
          <a:xfrm>
            <a:off x="5142000" y="1920240"/>
            <a:ext cx="2428000" cy="213905"/>
          </a:xfrm>
          <a:prstGeom prst="rect">
            <a:avLst/>
          </a:prstGeom>
          <a:noFill/>
        </p:spPr>
        <p:txBody>
          <a:bodyPr wrap="square" lIns="45720" tIns="18288" rIns="45720" bIns="18288" anchor="t">
            <a:spAutoFit/>
          </a:bodyPr>
          <a:lstStyle/>
          <a:p>
            <a:pPr algn="l"/>
            <a:r>
              <a:rPr sz="1150" b="1" dirty="0">
                <a:solidFill>
                  <a:srgbClr val="FFFFFF"/>
                </a:solidFill>
                <a:latin typeface="Arial"/>
              </a:rPr>
              <a:t>Crouch, Casey</a:t>
            </a:r>
          </a:p>
        </p:txBody>
      </p:sp>
      <p:sp>
        <p:nvSpPr>
          <p:cNvPr id="37" name="TextBox 36"/>
          <p:cNvSpPr txBox="1"/>
          <p:nvPr/>
        </p:nvSpPr>
        <p:spPr>
          <a:xfrm>
            <a:off x="5142000" y="213360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1P   -   13.00 applied</a:t>
            </a:r>
          </a:p>
        </p:txBody>
      </p:sp>
      <p:sp>
        <p:nvSpPr>
          <p:cNvPr id="38" name="Rounded Rectangle 37"/>
          <p:cNvSpPr/>
          <p:nvPr/>
        </p:nvSpPr>
        <p:spPr>
          <a:xfrm>
            <a:off x="4572000" y="242697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4739640" y="251460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739640" y="251460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2</a:t>
            </a:r>
          </a:p>
        </p:txBody>
      </p:sp>
      <p:sp>
        <p:nvSpPr>
          <p:cNvPr id="41" name="TextBox 40"/>
          <p:cNvSpPr txBox="1"/>
          <p:nvPr/>
        </p:nvSpPr>
        <p:spPr>
          <a:xfrm>
            <a:off x="5142000" y="2480310"/>
            <a:ext cx="2428000" cy="213905"/>
          </a:xfrm>
          <a:prstGeom prst="rect">
            <a:avLst/>
          </a:prstGeom>
          <a:noFill/>
        </p:spPr>
        <p:txBody>
          <a:bodyPr wrap="square" lIns="45720" tIns="18288" rIns="45720" bIns="18288" anchor="t">
            <a:spAutoFit/>
          </a:bodyPr>
          <a:lstStyle/>
          <a:p>
            <a:pPr algn="l"/>
            <a:r>
              <a:rPr sz="1150" b="1" dirty="0">
                <a:solidFill>
                  <a:srgbClr val="FFFFFF"/>
                </a:solidFill>
                <a:latin typeface="Arial"/>
              </a:rPr>
              <a:t>Trepagnier, Harrison</a:t>
            </a:r>
          </a:p>
        </p:txBody>
      </p:sp>
      <p:sp>
        <p:nvSpPr>
          <p:cNvPr id="42" name="TextBox 41"/>
          <p:cNvSpPr txBox="1"/>
          <p:nvPr/>
        </p:nvSpPr>
        <p:spPr>
          <a:xfrm>
            <a:off x="5142000" y="269367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2P   -   4.59 applied</a:t>
            </a:r>
          </a:p>
        </p:txBody>
      </p:sp>
      <p:sp>
        <p:nvSpPr>
          <p:cNvPr id="43" name="Rounded Rectangle 42"/>
          <p:cNvSpPr/>
          <p:nvPr/>
        </p:nvSpPr>
        <p:spPr>
          <a:xfrm>
            <a:off x="4572000" y="298704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4739640" y="307467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739640" y="307467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3</a:t>
            </a:r>
          </a:p>
        </p:txBody>
      </p:sp>
      <p:sp>
        <p:nvSpPr>
          <p:cNvPr id="46" name="TextBox 45"/>
          <p:cNvSpPr txBox="1"/>
          <p:nvPr/>
        </p:nvSpPr>
        <p:spPr>
          <a:xfrm>
            <a:off x="5142000" y="3040380"/>
            <a:ext cx="2428000" cy="192360"/>
          </a:xfrm>
          <a:prstGeom prst="rect">
            <a:avLst/>
          </a:prstGeom>
          <a:noFill/>
        </p:spPr>
        <p:txBody>
          <a:bodyPr wrap="square" lIns="45720" tIns="18288" rIns="45720" bIns="18288" anchor="t">
            <a:spAutoFit/>
          </a:bodyPr>
          <a:lstStyle/>
          <a:p>
            <a:pPr algn="l"/>
            <a:r>
              <a:rPr sz="1150" b="1">
                <a:solidFill>
                  <a:srgbClr val="FFFFFF"/>
                </a:solidFill>
                <a:latin typeface="Arial"/>
              </a:rPr>
              <a:t>Malone, Brooks</a:t>
            </a:r>
          </a:p>
        </p:txBody>
      </p:sp>
      <p:sp>
        <p:nvSpPr>
          <p:cNvPr id="47" name="TextBox 46"/>
          <p:cNvSpPr txBox="1"/>
          <p:nvPr/>
        </p:nvSpPr>
        <p:spPr>
          <a:xfrm>
            <a:off x="5142000" y="325374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1P   -   4.50 applied</a:t>
            </a:r>
          </a:p>
        </p:txBody>
      </p:sp>
      <p:sp>
        <p:nvSpPr>
          <p:cNvPr id="48" name="Rounded Rectangle 47"/>
          <p:cNvSpPr/>
          <p:nvPr/>
        </p:nvSpPr>
        <p:spPr>
          <a:xfrm>
            <a:off x="4572000" y="354711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4739640" y="363474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739640" y="363474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4</a:t>
            </a:r>
          </a:p>
        </p:txBody>
      </p:sp>
      <p:sp>
        <p:nvSpPr>
          <p:cNvPr id="51" name="TextBox 50"/>
          <p:cNvSpPr txBox="1"/>
          <p:nvPr/>
        </p:nvSpPr>
        <p:spPr>
          <a:xfrm>
            <a:off x="5142000" y="3600450"/>
            <a:ext cx="2428000" cy="192360"/>
          </a:xfrm>
          <a:prstGeom prst="rect">
            <a:avLst/>
          </a:prstGeom>
          <a:noFill/>
        </p:spPr>
        <p:txBody>
          <a:bodyPr wrap="square" lIns="45720" tIns="18288" rIns="45720" bIns="18288" anchor="t">
            <a:spAutoFit/>
          </a:bodyPr>
          <a:lstStyle/>
          <a:p>
            <a:pPr algn="l"/>
            <a:r>
              <a:rPr sz="1150" b="1">
                <a:solidFill>
                  <a:srgbClr val="FFFFFF"/>
                </a:solidFill>
                <a:latin typeface="Arial"/>
              </a:rPr>
              <a:t>Johnson, Chamon</a:t>
            </a:r>
          </a:p>
        </p:txBody>
      </p:sp>
      <p:sp>
        <p:nvSpPr>
          <p:cNvPr id="52" name="TextBox 51"/>
          <p:cNvSpPr txBox="1"/>
          <p:nvPr/>
        </p:nvSpPr>
        <p:spPr>
          <a:xfrm>
            <a:off x="5142000" y="381381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1P   -   4.00 applied</a:t>
            </a:r>
          </a:p>
        </p:txBody>
      </p:sp>
      <p:sp>
        <p:nvSpPr>
          <p:cNvPr id="53" name="Rounded Rectangle 52"/>
          <p:cNvSpPr/>
          <p:nvPr/>
        </p:nvSpPr>
        <p:spPr>
          <a:xfrm>
            <a:off x="4572000" y="410718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4739640" y="419481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739640" y="419481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5</a:t>
            </a:r>
          </a:p>
        </p:txBody>
      </p:sp>
      <p:sp>
        <p:nvSpPr>
          <p:cNvPr id="56" name="TextBox 55"/>
          <p:cNvSpPr txBox="1"/>
          <p:nvPr/>
        </p:nvSpPr>
        <p:spPr>
          <a:xfrm>
            <a:off x="5142000" y="4160520"/>
            <a:ext cx="2428000" cy="213905"/>
          </a:xfrm>
          <a:prstGeom prst="rect">
            <a:avLst/>
          </a:prstGeom>
          <a:noFill/>
        </p:spPr>
        <p:txBody>
          <a:bodyPr wrap="square" lIns="45720" tIns="18288" rIns="45720" bIns="18288" anchor="t">
            <a:spAutoFit/>
          </a:bodyPr>
          <a:lstStyle/>
          <a:p>
            <a:pPr algn="l"/>
            <a:r>
              <a:rPr sz="1150" b="1" dirty="0">
                <a:solidFill>
                  <a:srgbClr val="FFFFFF"/>
                </a:solidFill>
                <a:latin typeface="Arial"/>
              </a:rPr>
              <a:t>Ballard, William</a:t>
            </a:r>
          </a:p>
        </p:txBody>
      </p:sp>
      <p:sp>
        <p:nvSpPr>
          <p:cNvPr id="57" name="TextBox 56"/>
          <p:cNvSpPr txBox="1"/>
          <p:nvPr/>
        </p:nvSpPr>
        <p:spPr>
          <a:xfrm>
            <a:off x="5142000" y="437388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2P   -   4.00 applied</a:t>
            </a:r>
          </a:p>
        </p:txBody>
      </p:sp>
      <p:sp>
        <p:nvSpPr>
          <p:cNvPr id="58" name="Rounded Rectangle 57"/>
          <p:cNvSpPr/>
          <p:nvPr/>
        </p:nvSpPr>
        <p:spPr>
          <a:xfrm>
            <a:off x="4572000" y="466725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4739640" y="475488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739640" y="475488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6</a:t>
            </a:r>
          </a:p>
        </p:txBody>
      </p:sp>
      <p:sp>
        <p:nvSpPr>
          <p:cNvPr id="61" name="TextBox 60"/>
          <p:cNvSpPr txBox="1"/>
          <p:nvPr/>
        </p:nvSpPr>
        <p:spPr>
          <a:xfrm>
            <a:off x="5142000" y="4720590"/>
            <a:ext cx="2428000" cy="213905"/>
          </a:xfrm>
          <a:prstGeom prst="rect">
            <a:avLst/>
          </a:prstGeom>
          <a:noFill/>
        </p:spPr>
        <p:txBody>
          <a:bodyPr wrap="square" lIns="45720" tIns="18288" rIns="45720" bIns="18288" anchor="t">
            <a:spAutoFit/>
          </a:bodyPr>
          <a:lstStyle/>
          <a:p>
            <a:pPr algn="l"/>
            <a:r>
              <a:rPr sz="1150" b="1" dirty="0">
                <a:solidFill>
                  <a:srgbClr val="FFFFFF"/>
                </a:solidFill>
                <a:latin typeface="Arial"/>
              </a:rPr>
              <a:t>Woodrick, Jeanne</a:t>
            </a:r>
          </a:p>
        </p:txBody>
      </p:sp>
      <p:sp>
        <p:nvSpPr>
          <p:cNvPr id="62" name="TextBox 61"/>
          <p:cNvSpPr txBox="1"/>
          <p:nvPr/>
        </p:nvSpPr>
        <p:spPr>
          <a:xfrm>
            <a:off x="5142000" y="493395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2P   -   4.00 applied</a:t>
            </a:r>
          </a:p>
        </p:txBody>
      </p:sp>
      <p:sp>
        <p:nvSpPr>
          <p:cNvPr id="63" name="TextBox 62"/>
          <p:cNvSpPr txBox="1"/>
          <p:nvPr/>
        </p:nvSpPr>
        <p:spPr>
          <a:xfrm>
            <a:off x="8485632" y="1490472"/>
            <a:ext cx="3048000" cy="237744"/>
          </a:xfrm>
          <a:prstGeom prst="rect">
            <a:avLst/>
          </a:prstGeom>
          <a:noFill/>
        </p:spPr>
        <p:txBody>
          <a:bodyPr wrap="square" lIns="45720" tIns="18288" rIns="45720" bIns="18288" anchor="t">
            <a:spAutoFit/>
          </a:bodyPr>
          <a:lstStyle/>
          <a:p>
            <a:pPr algn="l"/>
            <a:r>
              <a:rPr sz="1300" b="1">
                <a:solidFill>
                  <a:srgbClr val="FFC72C"/>
                </a:solidFill>
                <a:latin typeface="Arial"/>
              </a:rPr>
              <a:t>Paid Cases</a:t>
            </a:r>
          </a:p>
        </p:txBody>
      </p:sp>
      <p:sp>
        <p:nvSpPr>
          <p:cNvPr id="64" name="Rounded Rectangle 63"/>
          <p:cNvSpPr/>
          <p:nvPr/>
        </p:nvSpPr>
        <p:spPr>
          <a:xfrm>
            <a:off x="8485632" y="186690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8653272" y="195453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8653272" y="195453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1</a:t>
            </a:r>
          </a:p>
        </p:txBody>
      </p:sp>
      <p:sp>
        <p:nvSpPr>
          <p:cNvPr id="67" name="TextBox 66"/>
          <p:cNvSpPr txBox="1"/>
          <p:nvPr/>
        </p:nvSpPr>
        <p:spPr>
          <a:xfrm>
            <a:off x="9055632" y="1920240"/>
            <a:ext cx="2428000" cy="213905"/>
          </a:xfrm>
          <a:prstGeom prst="rect">
            <a:avLst/>
          </a:prstGeom>
          <a:noFill/>
        </p:spPr>
        <p:txBody>
          <a:bodyPr wrap="square" lIns="45720" tIns="18288" rIns="45720" bIns="18288" anchor="t">
            <a:spAutoFit/>
          </a:bodyPr>
          <a:lstStyle/>
          <a:p>
            <a:pPr algn="l"/>
            <a:r>
              <a:rPr sz="1150" b="1" dirty="0">
                <a:solidFill>
                  <a:srgbClr val="FFFFFF"/>
                </a:solidFill>
                <a:latin typeface="Arial"/>
              </a:rPr>
              <a:t>Henly, Christopher</a:t>
            </a:r>
          </a:p>
        </p:txBody>
      </p:sp>
      <p:sp>
        <p:nvSpPr>
          <p:cNvPr id="68" name="TextBox 67"/>
          <p:cNvSpPr txBox="1"/>
          <p:nvPr/>
        </p:nvSpPr>
        <p:spPr>
          <a:xfrm>
            <a:off x="9055632" y="213360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CC   -   4.50 paid</a:t>
            </a:r>
          </a:p>
        </p:txBody>
      </p:sp>
      <p:sp>
        <p:nvSpPr>
          <p:cNvPr id="69" name="Rounded Rectangle 68"/>
          <p:cNvSpPr/>
          <p:nvPr/>
        </p:nvSpPr>
        <p:spPr>
          <a:xfrm>
            <a:off x="8485632" y="242697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8653272" y="251460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653272" y="251460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2</a:t>
            </a:r>
          </a:p>
        </p:txBody>
      </p:sp>
      <p:sp>
        <p:nvSpPr>
          <p:cNvPr id="72" name="TextBox 71"/>
          <p:cNvSpPr txBox="1"/>
          <p:nvPr/>
        </p:nvSpPr>
        <p:spPr>
          <a:xfrm>
            <a:off x="9055632" y="2480310"/>
            <a:ext cx="2428000" cy="213905"/>
          </a:xfrm>
          <a:prstGeom prst="rect">
            <a:avLst/>
          </a:prstGeom>
          <a:noFill/>
        </p:spPr>
        <p:txBody>
          <a:bodyPr wrap="square" lIns="45720" tIns="18288" rIns="45720" bIns="18288" anchor="t">
            <a:spAutoFit/>
          </a:bodyPr>
          <a:lstStyle/>
          <a:p>
            <a:pPr algn="l"/>
            <a:r>
              <a:rPr sz="1150" b="1" dirty="0" err="1">
                <a:solidFill>
                  <a:srgbClr val="FFFFFF"/>
                </a:solidFill>
                <a:latin typeface="Arial"/>
              </a:rPr>
              <a:t>Cabirac</a:t>
            </a:r>
            <a:r>
              <a:rPr sz="1150" b="1" dirty="0">
                <a:solidFill>
                  <a:srgbClr val="FFFFFF"/>
                </a:solidFill>
                <a:latin typeface="Arial"/>
              </a:rPr>
              <a:t>, J</a:t>
            </a:r>
            <a:r>
              <a:rPr lang="en-US" sz="1150" b="1" dirty="0">
                <a:solidFill>
                  <a:srgbClr val="FFFFFF"/>
                </a:solidFill>
                <a:latin typeface="Arial"/>
              </a:rPr>
              <a:t>ames</a:t>
            </a:r>
            <a:endParaRPr sz="1150" b="1" dirty="0">
              <a:solidFill>
                <a:srgbClr val="FFFFFF"/>
              </a:solidFill>
              <a:latin typeface="Arial"/>
            </a:endParaRPr>
          </a:p>
        </p:txBody>
      </p:sp>
      <p:sp>
        <p:nvSpPr>
          <p:cNvPr id="73" name="TextBox 72"/>
          <p:cNvSpPr txBox="1"/>
          <p:nvPr/>
        </p:nvSpPr>
        <p:spPr>
          <a:xfrm>
            <a:off x="9055632" y="269367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1P   -   3.00 paid</a:t>
            </a:r>
          </a:p>
        </p:txBody>
      </p:sp>
      <p:sp>
        <p:nvSpPr>
          <p:cNvPr id="74" name="Rounded Rectangle 73"/>
          <p:cNvSpPr/>
          <p:nvPr/>
        </p:nvSpPr>
        <p:spPr>
          <a:xfrm>
            <a:off x="8485632" y="298704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8653272" y="307467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8653272" y="307467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3</a:t>
            </a:r>
          </a:p>
        </p:txBody>
      </p:sp>
      <p:sp>
        <p:nvSpPr>
          <p:cNvPr id="77" name="TextBox 76"/>
          <p:cNvSpPr txBox="1"/>
          <p:nvPr/>
        </p:nvSpPr>
        <p:spPr>
          <a:xfrm>
            <a:off x="9055632" y="3040380"/>
            <a:ext cx="2428000" cy="213905"/>
          </a:xfrm>
          <a:prstGeom prst="rect">
            <a:avLst/>
          </a:prstGeom>
          <a:noFill/>
        </p:spPr>
        <p:txBody>
          <a:bodyPr wrap="square" lIns="45720" tIns="18288" rIns="45720" bIns="18288" anchor="t">
            <a:spAutoFit/>
          </a:bodyPr>
          <a:lstStyle/>
          <a:p>
            <a:pPr algn="l"/>
            <a:r>
              <a:rPr sz="1150" b="1" dirty="0">
                <a:solidFill>
                  <a:srgbClr val="FFFFFF"/>
                </a:solidFill>
                <a:latin typeface="Arial"/>
              </a:rPr>
              <a:t>Capasso, Michael</a:t>
            </a:r>
          </a:p>
        </p:txBody>
      </p:sp>
      <p:sp>
        <p:nvSpPr>
          <p:cNvPr id="78" name="TextBox 77"/>
          <p:cNvSpPr txBox="1"/>
          <p:nvPr/>
        </p:nvSpPr>
        <p:spPr>
          <a:xfrm>
            <a:off x="9055632" y="325374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3P   -   3.00 paid</a:t>
            </a:r>
          </a:p>
        </p:txBody>
      </p:sp>
      <p:sp>
        <p:nvSpPr>
          <p:cNvPr id="79" name="Rounded Rectangle 78"/>
          <p:cNvSpPr/>
          <p:nvPr/>
        </p:nvSpPr>
        <p:spPr>
          <a:xfrm>
            <a:off x="8485632" y="354711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8653272" y="363474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8653272" y="363474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4</a:t>
            </a:r>
          </a:p>
        </p:txBody>
      </p:sp>
      <p:sp>
        <p:nvSpPr>
          <p:cNvPr id="82" name="TextBox 81"/>
          <p:cNvSpPr txBox="1"/>
          <p:nvPr/>
        </p:nvSpPr>
        <p:spPr>
          <a:xfrm>
            <a:off x="9055632" y="3600450"/>
            <a:ext cx="2428000" cy="192360"/>
          </a:xfrm>
          <a:prstGeom prst="rect">
            <a:avLst/>
          </a:prstGeom>
          <a:noFill/>
        </p:spPr>
        <p:txBody>
          <a:bodyPr wrap="square" lIns="45720" tIns="18288" rIns="45720" bIns="18288" anchor="t">
            <a:spAutoFit/>
          </a:bodyPr>
          <a:lstStyle/>
          <a:p>
            <a:pPr algn="l"/>
            <a:r>
              <a:rPr sz="1150" b="1">
                <a:solidFill>
                  <a:srgbClr val="FFFFFF"/>
                </a:solidFill>
                <a:latin typeface="Arial"/>
              </a:rPr>
              <a:t>Schulman, Jordan</a:t>
            </a:r>
          </a:p>
        </p:txBody>
      </p:sp>
      <p:sp>
        <p:nvSpPr>
          <p:cNvPr id="83" name="TextBox 82"/>
          <p:cNvSpPr txBox="1"/>
          <p:nvPr/>
        </p:nvSpPr>
        <p:spPr>
          <a:xfrm>
            <a:off x="9055632" y="381381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1P   -   2.00 paid</a:t>
            </a:r>
          </a:p>
        </p:txBody>
      </p:sp>
      <p:sp>
        <p:nvSpPr>
          <p:cNvPr id="84" name="Rounded Rectangle 83"/>
          <p:cNvSpPr/>
          <p:nvPr/>
        </p:nvSpPr>
        <p:spPr>
          <a:xfrm>
            <a:off x="8485632" y="410718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8653272" y="419481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8653272" y="419481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5</a:t>
            </a:r>
          </a:p>
        </p:txBody>
      </p:sp>
      <p:sp>
        <p:nvSpPr>
          <p:cNvPr id="87" name="TextBox 86"/>
          <p:cNvSpPr txBox="1"/>
          <p:nvPr/>
        </p:nvSpPr>
        <p:spPr>
          <a:xfrm>
            <a:off x="9055632" y="4160520"/>
            <a:ext cx="2428000" cy="213905"/>
          </a:xfrm>
          <a:prstGeom prst="rect">
            <a:avLst/>
          </a:prstGeom>
          <a:noFill/>
        </p:spPr>
        <p:txBody>
          <a:bodyPr wrap="square" lIns="45720" tIns="18288" rIns="45720" bIns="18288" anchor="t">
            <a:spAutoFit/>
          </a:bodyPr>
          <a:lstStyle/>
          <a:p>
            <a:pPr algn="l"/>
            <a:r>
              <a:rPr sz="1150" b="1" dirty="0">
                <a:solidFill>
                  <a:srgbClr val="FFFFFF"/>
                </a:solidFill>
                <a:latin typeface="Arial"/>
              </a:rPr>
              <a:t>Woodrick, Jeanne</a:t>
            </a:r>
          </a:p>
        </p:txBody>
      </p:sp>
      <p:sp>
        <p:nvSpPr>
          <p:cNvPr id="88" name="TextBox 87"/>
          <p:cNvSpPr txBox="1"/>
          <p:nvPr/>
        </p:nvSpPr>
        <p:spPr>
          <a:xfrm>
            <a:off x="9055632" y="437388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2P   -   2.00 paid</a:t>
            </a:r>
          </a:p>
        </p:txBody>
      </p:sp>
      <p:sp>
        <p:nvSpPr>
          <p:cNvPr id="89" name="Rounded Rectangle 88"/>
          <p:cNvSpPr/>
          <p:nvPr/>
        </p:nvSpPr>
        <p:spPr>
          <a:xfrm>
            <a:off x="8485632" y="466725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8653272" y="475488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8653272" y="475488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6</a:t>
            </a:r>
          </a:p>
        </p:txBody>
      </p:sp>
      <p:sp>
        <p:nvSpPr>
          <p:cNvPr id="92" name="TextBox 91"/>
          <p:cNvSpPr txBox="1"/>
          <p:nvPr/>
        </p:nvSpPr>
        <p:spPr>
          <a:xfrm>
            <a:off x="9055632" y="4720590"/>
            <a:ext cx="2428000" cy="192360"/>
          </a:xfrm>
          <a:prstGeom prst="rect">
            <a:avLst/>
          </a:prstGeom>
          <a:noFill/>
        </p:spPr>
        <p:txBody>
          <a:bodyPr wrap="square" lIns="45720" tIns="18288" rIns="45720" bIns="18288" anchor="t">
            <a:spAutoFit/>
          </a:bodyPr>
          <a:lstStyle/>
          <a:p>
            <a:pPr algn="l"/>
            <a:r>
              <a:rPr sz="1150" b="1">
                <a:solidFill>
                  <a:srgbClr val="FFFFFF"/>
                </a:solidFill>
                <a:latin typeface="Arial"/>
              </a:rPr>
              <a:t>Savage, Zachary</a:t>
            </a:r>
          </a:p>
        </p:txBody>
      </p:sp>
      <p:sp>
        <p:nvSpPr>
          <p:cNvPr id="93" name="TextBox 92"/>
          <p:cNvSpPr txBox="1"/>
          <p:nvPr/>
        </p:nvSpPr>
        <p:spPr>
          <a:xfrm>
            <a:off x="9055632" y="493395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CC   -   2.00 paid</a:t>
            </a:r>
          </a:p>
        </p:txBody>
      </p:sp>
      <p:sp>
        <p:nvSpPr>
          <p:cNvPr id="94" name="TextBox 93"/>
          <p:cNvSpPr txBox="1"/>
          <p:nvPr/>
        </p:nvSpPr>
        <p:spPr>
          <a:xfrm>
            <a:off x="3600000" y="6339840"/>
            <a:ext cx="5000000" cy="205121"/>
          </a:xfrm>
          <a:prstGeom prst="rect">
            <a:avLst/>
          </a:prstGeom>
          <a:noFill/>
        </p:spPr>
        <p:txBody>
          <a:bodyPr wrap="square" lIns="45720" tIns="18288" rIns="45720" bIns="18288" anchor="t">
            <a:spAutoFit/>
          </a:bodyPr>
          <a:lstStyle/>
          <a:p>
            <a:pPr algn="ctr"/>
            <a:r>
              <a:rPr sz="1100" b="0">
                <a:solidFill>
                  <a:srgbClr val="E5F1FF"/>
                </a:solidFill>
                <a:latin typeface="Arial"/>
              </a:rPr>
              <a:t>Concrete wins. Keep the momentum going.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2E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0"/>
          </a:xfrm>
          <a:prstGeom prst="rect">
            <a:avLst/>
          </a:prstGeom>
          <a:solidFill>
            <a:srgbClr val="0056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0" y="2240280"/>
            <a:ext cx="8503920" cy="685800"/>
          </a:xfrm>
          <a:prstGeom prst="rect">
            <a:avLst/>
          </a:prstGeom>
          <a:noFill/>
        </p:spPr>
        <p:txBody>
          <a:bodyPr wrap="square" lIns="45720" tIns="18288" rIns="45720" bIns="18288" anchor="t">
            <a:spAutoFit/>
          </a:bodyPr>
          <a:lstStyle/>
          <a:p>
            <a:pPr algn="ctr"/>
            <a:r>
              <a:rPr sz="4800" b="1">
                <a:solidFill>
                  <a:srgbClr val="FFFFFF"/>
                </a:solidFill>
                <a:latin typeface="Arial"/>
              </a:rPr>
              <a:t>Market Week Overview</a:t>
            </a:r>
          </a:p>
        </p:txBody>
      </p:sp>
      <p:sp>
        <p:nvSpPr>
          <p:cNvPr id="5" name="TextBox 4"/>
          <p:cNvSpPr txBox="1"/>
          <p:nvPr/>
        </p:nvSpPr>
        <p:spPr>
          <a:xfrm>
            <a:off x="3063240" y="3310128"/>
            <a:ext cx="6035040" cy="292608"/>
          </a:xfrm>
          <a:prstGeom prst="rect">
            <a:avLst/>
          </a:prstGeom>
          <a:noFill/>
        </p:spPr>
        <p:txBody>
          <a:bodyPr wrap="square" lIns="45720" tIns="18288" rIns="45720" bIns="18288" anchor="t">
            <a:spAutoFit/>
          </a:bodyPr>
          <a:lstStyle/>
          <a:p>
            <a:pPr algn="ctr"/>
            <a:r>
              <a:rPr sz="1800" b="0">
                <a:solidFill>
                  <a:srgbClr val="FFFFFF"/>
                </a:solidFill>
                <a:latin typeface="Arial"/>
              </a:rPr>
              <a:t>Week ended Friday, August 14, 2026</a:t>
            </a:r>
          </a:p>
        </p:txBody>
      </p:sp>
      <p:sp>
        <p:nvSpPr>
          <p:cNvPr id="6" name="TextBox 5"/>
          <p:cNvSpPr txBox="1"/>
          <p:nvPr/>
        </p:nvSpPr>
        <p:spPr>
          <a:xfrm>
            <a:off x="3063240" y="3749039"/>
            <a:ext cx="6035040" cy="292608"/>
          </a:xfrm>
          <a:prstGeom prst="rect">
            <a:avLst/>
          </a:prstGeom>
          <a:noFill/>
        </p:spPr>
        <p:txBody>
          <a:bodyPr wrap="square" lIns="45720" tIns="18288" rIns="45720" bIns="18288" anchor="t">
            <a:spAutoFit/>
          </a:bodyPr>
          <a:lstStyle/>
          <a:p>
            <a:pPr algn="ctr"/>
            <a:r>
              <a:rPr sz="1800" b="0">
                <a:solidFill>
                  <a:srgbClr val="FFFFFF"/>
                </a:solidFill>
                <a:latin typeface="Arial"/>
              </a:rPr>
              <a:t>Week Ahead: August 17 - August 21, 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695"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695"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621792"/>
            <a:ext cx="10881360" cy="530352"/>
          </a:xfrm>
          <a:prstGeom prst="rect">
            <a:avLst/>
          </a:prstGeom>
          <a:noFill/>
        </p:spPr>
        <p:txBody>
          <a:bodyPr wrap="square" lIns="45720" tIns="18288" rIns="45720" bIns="18288" anchor="t">
            <a:spAutoFit/>
          </a:bodyPr>
          <a:lstStyle/>
          <a:p>
            <a:pPr algn="l"/>
            <a:r>
              <a:rPr sz="3200" b="1">
                <a:solidFill>
                  <a:srgbClr val="0468FF"/>
                </a:solidFill>
                <a:latin typeface="Arial"/>
              </a:rPr>
              <a:t>Week in Review: U.S. Markets Overview</a:t>
            </a:r>
          </a:p>
        </p:txBody>
      </p:sp>
      <p:sp>
        <p:nvSpPr>
          <p:cNvPr id="6" name="TextBox 5"/>
          <p:cNvSpPr txBox="1"/>
          <p:nvPr/>
        </p:nvSpPr>
        <p:spPr>
          <a:xfrm>
            <a:off x="713232" y="1353312"/>
            <a:ext cx="10881360" cy="310896"/>
          </a:xfrm>
          <a:prstGeom prst="rect">
            <a:avLst/>
          </a:prstGeom>
          <a:noFill/>
        </p:spPr>
        <p:txBody>
          <a:bodyPr wrap="square" lIns="45720" tIns="18288" rIns="45720" bIns="18288" anchor="t">
            <a:spAutoFit/>
          </a:bodyPr>
          <a:lstStyle/>
          <a:p>
            <a:pPr algn="l"/>
            <a:r>
              <a:rPr sz="1600" b="0">
                <a:solidFill>
                  <a:srgbClr val="000962"/>
                </a:solidFill>
                <a:latin typeface="Arial"/>
              </a:rPr>
              <a:t>Third straight weekly gain for the S&amp;P 500, led by small caps.</a:t>
            </a:r>
          </a:p>
        </p:txBody>
      </p:sp>
      <p:sp>
        <p:nvSpPr>
          <p:cNvPr id="7" name="TextBox 6"/>
          <p:cNvSpPr txBox="1"/>
          <p:nvPr/>
        </p:nvSpPr>
        <p:spPr>
          <a:xfrm>
            <a:off x="521207" y="6327648"/>
            <a:ext cx="5394960" cy="146304"/>
          </a:xfrm>
          <a:prstGeom prst="rect">
            <a:avLst/>
          </a:prstGeom>
          <a:noFill/>
        </p:spPr>
        <p:txBody>
          <a:bodyPr wrap="square" lIns="45720" tIns="18288" rIns="45720" bIns="18288" anchor="t">
            <a:spAutoFit/>
          </a:bodyPr>
          <a:lstStyle/>
          <a:p>
            <a:pPr algn="l"/>
            <a:r>
              <a:rPr sz="550" b="0">
                <a:solidFill>
                  <a:srgbClr val="46648C"/>
                </a:solidFill>
                <a:latin typeface="Arial"/>
              </a:rPr>
              <a:t>Internal use only. For agent use only. Not for use with the public.</a:t>
            </a:r>
          </a:p>
        </p:txBody>
      </p:sp>
      <p:sp>
        <p:nvSpPr>
          <p:cNvPr id="8" name="TextBox 7"/>
          <p:cNvSpPr txBox="1"/>
          <p:nvPr/>
        </p:nvSpPr>
        <p:spPr>
          <a:xfrm>
            <a:off x="10497312" y="6263640"/>
            <a:ext cx="768096" cy="182880"/>
          </a:xfrm>
          <a:prstGeom prst="rect">
            <a:avLst/>
          </a:prstGeom>
          <a:noFill/>
        </p:spPr>
        <p:txBody>
          <a:bodyPr wrap="square" lIns="45720" tIns="18288" rIns="45720" bIns="18288" anchor="t">
            <a:spAutoFit/>
          </a:bodyPr>
          <a:lstStyle/>
          <a:p>
            <a:pPr algn="r"/>
            <a:r>
              <a:rPr sz="850" b="1">
                <a:solidFill>
                  <a:srgbClr val="000962"/>
                </a:solidFill>
                <a:latin typeface="Arial"/>
              </a:rPr>
              <a:t>ELEVATE</a:t>
            </a:r>
          </a:p>
        </p:txBody>
      </p:sp>
      <p:sp>
        <p:nvSpPr>
          <p:cNvPr id="9" name="TextBox 8"/>
          <p:cNvSpPr txBox="1"/>
          <p:nvPr/>
        </p:nvSpPr>
        <p:spPr>
          <a:xfrm>
            <a:off x="11228832" y="6272784"/>
            <a:ext cx="384048" cy="164592"/>
          </a:xfrm>
          <a:prstGeom prst="rect">
            <a:avLst/>
          </a:prstGeom>
          <a:noFill/>
        </p:spPr>
        <p:txBody>
          <a:bodyPr wrap="square" lIns="45720" tIns="18288" rIns="45720" bIns="18288" anchor="t">
            <a:spAutoFit/>
          </a:bodyPr>
          <a:lstStyle/>
          <a:p>
            <a:pPr algn="l"/>
            <a:r>
              <a:rPr sz="580" b="0">
                <a:solidFill>
                  <a:srgbClr val="000962"/>
                </a:solidFill>
                <a:latin typeface="Arial"/>
              </a:rPr>
              <a:t>NEW ORG</a:t>
            </a:r>
          </a:p>
        </p:txBody>
      </p:sp>
      <p:sp>
        <p:nvSpPr>
          <p:cNvPr id="10" name="TextBox 9"/>
          <p:cNvSpPr txBox="1"/>
          <p:nvPr/>
        </p:nvSpPr>
        <p:spPr>
          <a:xfrm>
            <a:off x="868680" y="2057400"/>
            <a:ext cx="6812280" cy="3520440"/>
          </a:xfrm>
          <a:prstGeom prst="rect">
            <a:avLst/>
          </a:prstGeom>
          <a:noFill/>
        </p:spPr>
        <p:txBody>
          <a:bodyPr wrap="square" lIns="45720" tIns="18288" rIns="45720" bIns="18288" anchor="t">
            <a:spAutoFit/>
          </a:bodyPr>
          <a:lstStyle/>
          <a:p>
            <a:pPr algn="l">
              <a:spcAft>
                <a:spcPts val="700"/>
              </a:spcAft>
            </a:pPr>
            <a:r>
              <a:rPr sz="1550" b="0">
                <a:solidFill>
                  <a:srgbClr val="000962"/>
                </a:solidFill>
                <a:latin typeface="Arial"/>
              </a:rPr>
              <a:t>S&amp;P 500 closed at 7,785.76 on Friday, up 0.4% for the week - a third consecutive weekly gain after setting a record above 7,800 midweek.</a:t>
            </a:r>
          </a:p>
          <a:p>
            <a:pPr algn="l">
              <a:spcAft>
                <a:spcPts val="700"/>
              </a:spcAft>
            </a:pPr>
            <a:r>
              <a:rPr sz="1550" b="0">
                <a:solidFill>
                  <a:srgbClr val="000962"/>
                </a:solidFill>
                <a:latin typeface="Arial"/>
              </a:rPr>
              <a:t>Nasdaq Composite added 0.1% to 26,729.16, also a third straight weekly gain, supported by continued AI infrastructure spending.</a:t>
            </a:r>
          </a:p>
          <a:p>
            <a:pPr algn="l">
              <a:spcAft>
                <a:spcPts val="700"/>
              </a:spcAft>
            </a:pPr>
            <a:r>
              <a:rPr sz="1550" b="0">
                <a:solidFill>
                  <a:srgbClr val="000962"/>
                </a:solidFill>
                <a:latin typeface="Arial"/>
              </a:rPr>
              <a:t>Dow Jones Industrial Average fell 0.6% to 53,732.41, snapping a two-week winning streak on weakness in healthcare and traditional industrials.</a:t>
            </a:r>
          </a:p>
          <a:p>
            <a:pPr algn="l">
              <a:spcAft>
                <a:spcPts val="700"/>
              </a:spcAft>
            </a:pPr>
            <a:r>
              <a:rPr sz="1550" b="0">
                <a:solidFill>
                  <a:srgbClr val="000962"/>
                </a:solidFill>
                <a:latin typeface="Arial"/>
              </a:rPr>
              <a:t>Russell 2000 surged 3.15% to a record 3,068.42, sharply outperforming large caps as domestically focused small caps led.</a:t>
            </a:r>
          </a:p>
          <a:p>
            <a:pPr algn="l">
              <a:spcAft>
                <a:spcPts val="700"/>
              </a:spcAft>
            </a:pPr>
            <a:r>
              <a:rPr sz="1550" b="0">
                <a:solidFill>
                  <a:srgbClr val="000962"/>
                </a:solidFill>
                <a:latin typeface="Arial"/>
              </a:rPr>
              <a:t>10-year Treasury yield ended at 4.68%; the 2-year finished at 4.17%. The VIX closed near multi-month lows around 14.85.</a:t>
            </a:r>
          </a:p>
        </p:txBody>
      </p:sp>
      <p:sp>
        <p:nvSpPr>
          <p:cNvPr id="11" name="Rectangle 10"/>
          <p:cNvSpPr/>
          <p:nvPr/>
        </p:nvSpPr>
        <p:spPr>
          <a:xfrm>
            <a:off x="8001000" y="2029968"/>
            <a:ext cx="2926080" cy="2606040"/>
          </a:xfrm>
          <a:prstGeom prst="rect">
            <a:avLst/>
          </a:prstGeom>
          <a:solidFill>
            <a:srgbClr val="EB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0" y="2267712"/>
            <a:ext cx="2468880" cy="256032"/>
          </a:xfrm>
          <a:prstGeom prst="rect">
            <a:avLst/>
          </a:prstGeom>
          <a:noFill/>
        </p:spPr>
        <p:txBody>
          <a:bodyPr wrap="square" lIns="45720" tIns="18288" rIns="45720" bIns="18288" anchor="t">
            <a:spAutoFit/>
          </a:bodyPr>
          <a:lstStyle/>
          <a:p>
            <a:pPr algn="l"/>
            <a:r>
              <a:rPr sz="1600" b="1">
                <a:solidFill>
                  <a:srgbClr val="0468FF"/>
                </a:solidFill>
                <a:latin typeface="Arial"/>
              </a:rPr>
              <a:t>Plain English</a:t>
            </a:r>
          </a:p>
        </p:txBody>
      </p:sp>
      <p:sp>
        <p:nvSpPr>
          <p:cNvPr id="13" name="TextBox 12"/>
          <p:cNvSpPr txBox="1"/>
          <p:nvPr/>
        </p:nvSpPr>
        <p:spPr>
          <a:xfrm>
            <a:off x="8229600" y="2697480"/>
            <a:ext cx="2468880" cy="1806040"/>
          </a:xfrm>
          <a:prstGeom prst="rect">
            <a:avLst/>
          </a:prstGeom>
          <a:noFill/>
        </p:spPr>
        <p:txBody>
          <a:bodyPr wrap="square" lIns="45720" tIns="18288" rIns="45720" bIns="18288" anchor="t">
            <a:spAutoFit/>
          </a:bodyPr>
          <a:lstStyle/>
          <a:p>
            <a:pPr algn="l"/>
            <a:r>
              <a:rPr sz="1550" b="0">
                <a:solidFill>
                  <a:srgbClr val="000962"/>
                </a:solidFill>
                <a:latin typeface="Arial"/>
              </a:rPr>
              <a:t>Markets kept climbing, and for once the gains were broad instead of just the biggest tech names. Low volatility is comfortable - it is also when discipline slips.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695"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695"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621792"/>
            <a:ext cx="10881360" cy="530352"/>
          </a:xfrm>
          <a:prstGeom prst="rect">
            <a:avLst/>
          </a:prstGeom>
          <a:noFill/>
        </p:spPr>
        <p:txBody>
          <a:bodyPr wrap="square" lIns="45720" tIns="18288" rIns="45720" bIns="18288" anchor="t">
            <a:spAutoFit/>
          </a:bodyPr>
          <a:lstStyle/>
          <a:p>
            <a:pPr algn="l"/>
            <a:r>
              <a:rPr sz="3200" b="1">
                <a:solidFill>
                  <a:srgbClr val="0468FF"/>
                </a:solidFill>
                <a:latin typeface="Arial"/>
              </a:rPr>
              <a:t>Key Economic Data Released Last Week</a:t>
            </a:r>
          </a:p>
        </p:txBody>
      </p:sp>
      <p:sp>
        <p:nvSpPr>
          <p:cNvPr id="6" name="TextBox 5"/>
          <p:cNvSpPr txBox="1"/>
          <p:nvPr/>
        </p:nvSpPr>
        <p:spPr>
          <a:xfrm>
            <a:off x="713232" y="1353312"/>
            <a:ext cx="10881360" cy="310896"/>
          </a:xfrm>
          <a:prstGeom prst="rect">
            <a:avLst/>
          </a:prstGeom>
          <a:noFill/>
        </p:spPr>
        <p:txBody>
          <a:bodyPr wrap="square" lIns="45720" tIns="18288" rIns="45720" bIns="18288" anchor="t">
            <a:spAutoFit/>
          </a:bodyPr>
          <a:lstStyle/>
          <a:p>
            <a:pPr algn="l"/>
            <a:r>
              <a:rPr sz="1600" b="0">
                <a:solidFill>
                  <a:srgbClr val="000962"/>
                </a:solidFill>
                <a:latin typeface="Arial"/>
              </a:rPr>
              <a:t>Inflation cooled. The consumer did not cooperate.</a:t>
            </a:r>
          </a:p>
        </p:txBody>
      </p:sp>
      <p:sp>
        <p:nvSpPr>
          <p:cNvPr id="7" name="TextBox 6"/>
          <p:cNvSpPr txBox="1"/>
          <p:nvPr/>
        </p:nvSpPr>
        <p:spPr>
          <a:xfrm>
            <a:off x="521207" y="6327648"/>
            <a:ext cx="5394960" cy="146304"/>
          </a:xfrm>
          <a:prstGeom prst="rect">
            <a:avLst/>
          </a:prstGeom>
          <a:noFill/>
        </p:spPr>
        <p:txBody>
          <a:bodyPr wrap="square" lIns="45720" tIns="18288" rIns="45720" bIns="18288" anchor="t">
            <a:spAutoFit/>
          </a:bodyPr>
          <a:lstStyle/>
          <a:p>
            <a:pPr algn="l"/>
            <a:r>
              <a:rPr sz="550" b="0">
                <a:solidFill>
                  <a:srgbClr val="46648C"/>
                </a:solidFill>
                <a:latin typeface="Arial"/>
              </a:rPr>
              <a:t>Internal use only. For agent use only. Not for use with the public.</a:t>
            </a:r>
          </a:p>
        </p:txBody>
      </p:sp>
      <p:sp>
        <p:nvSpPr>
          <p:cNvPr id="8" name="TextBox 7"/>
          <p:cNvSpPr txBox="1"/>
          <p:nvPr/>
        </p:nvSpPr>
        <p:spPr>
          <a:xfrm>
            <a:off x="10497312" y="6263640"/>
            <a:ext cx="768096" cy="182880"/>
          </a:xfrm>
          <a:prstGeom prst="rect">
            <a:avLst/>
          </a:prstGeom>
          <a:noFill/>
        </p:spPr>
        <p:txBody>
          <a:bodyPr wrap="square" lIns="45720" tIns="18288" rIns="45720" bIns="18288" anchor="t">
            <a:spAutoFit/>
          </a:bodyPr>
          <a:lstStyle/>
          <a:p>
            <a:pPr algn="r"/>
            <a:r>
              <a:rPr sz="850" b="1">
                <a:solidFill>
                  <a:srgbClr val="000962"/>
                </a:solidFill>
                <a:latin typeface="Arial"/>
              </a:rPr>
              <a:t>ELEVATE</a:t>
            </a:r>
          </a:p>
        </p:txBody>
      </p:sp>
      <p:sp>
        <p:nvSpPr>
          <p:cNvPr id="9" name="TextBox 8"/>
          <p:cNvSpPr txBox="1"/>
          <p:nvPr/>
        </p:nvSpPr>
        <p:spPr>
          <a:xfrm>
            <a:off x="11228832" y="6272784"/>
            <a:ext cx="384048" cy="164592"/>
          </a:xfrm>
          <a:prstGeom prst="rect">
            <a:avLst/>
          </a:prstGeom>
          <a:noFill/>
        </p:spPr>
        <p:txBody>
          <a:bodyPr wrap="square" lIns="45720" tIns="18288" rIns="45720" bIns="18288" anchor="t">
            <a:spAutoFit/>
          </a:bodyPr>
          <a:lstStyle/>
          <a:p>
            <a:pPr algn="l"/>
            <a:r>
              <a:rPr sz="580" b="0">
                <a:solidFill>
                  <a:srgbClr val="000962"/>
                </a:solidFill>
                <a:latin typeface="Arial"/>
              </a:rPr>
              <a:t>NEW ORG</a:t>
            </a:r>
          </a:p>
        </p:txBody>
      </p:sp>
      <p:sp>
        <p:nvSpPr>
          <p:cNvPr id="10" name="TextBox 9"/>
          <p:cNvSpPr txBox="1"/>
          <p:nvPr/>
        </p:nvSpPr>
        <p:spPr>
          <a:xfrm>
            <a:off x="868680" y="2057400"/>
            <a:ext cx="6812280" cy="3520440"/>
          </a:xfrm>
          <a:prstGeom prst="rect">
            <a:avLst/>
          </a:prstGeom>
          <a:noFill/>
        </p:spPr>
        <p:txBody>
          <a:bodyPr wrap="square" lIns="45720" tIns="18288" rIns="45720" bIns="18288" anchor="t">
            <a:spAutoFit/>
          </a:bodyPr>
          <a:lstStyle/>
          <a:p>
            <a:pPr algn="l">
              <a:spcAft>
                <a:spcPts val="700"/>
              </a:spcAft>
            </a:pPr>
            <a:r>
              <a:rPr sz="1450" b="0">
                <a:solidFill>
                  <a:srgbClr val="000962"/>
                </a:solidFill>
                <a:latin typeface="Arial"/>
              </a:rPr>
              <a:t>July CPI (Aug 12): +0.1% for the month, 3.4% year over year, down 0.1 point from June. Core CPI +0.2%, 2.5% annual - also down 0.1 point.</a:t>
            </a:r>
          </a:p>
          <a:p>
            <a:pPr algn="l">
              <a:spcAft>
                <a:spcPts val="700"/>
              </a:spcAft>
            </a:pPr>
            <a:r>
              <a:rPr sz="1450" b="0">
                <a:solidFill>
                  <a:srgbClr val="000962"/>
                </a:solidFill>
                <a:latin typeface="Arial"/>
              </a:rPr>
              <a:t>Energy fell 1.5% on the month but remains 14.7% above a year ago. Shelter and food each rose 0.1%; medical care +0.4% and airfares +2.2%.</a:t>
            </a:r>
          </a:p>
          <a:p>
            <a:pPr algn="l">
              <a:spcAft>
                <a:spcPts val="700"/>
              </a:spcAft>
            </a:pPr>
            <a:r>
              <a:rPr sz="1450" b="0">
                <a:solidFill>
                  <a:srgbClr val="000962"/>
                </a:solidFill>
                <a:latin typeface="Arial"/>
              </a:rPr>
              <a:t>July PPI (Aug 13): final demand unchanged on the month and 4.7% year over year, down from 5.5% in June and below the 4.9% forecast.</a:t>
            </a:r>
          </a:p>
          <a:p>
            <a:pPr algn="l">
              <a:spcAft>
                <a:spcPts val="700"/>
              </a:spcAft>
            </a:pPr>
            <a:r>
              <a:rPr sz="1450" b="0">
                <a:solidFill>
                  <a:srgbClr val="000962"/>
                </a:solidFill>
                <a:latin typeface="Arial"/>
              </a:rPr>
              <a:t>July retail sales (Aug 14): -0.6% to $763.6 billion, the steepest monthly drop in more than a year, though still +5.0% versus July 2025.</a:t>
            </a:r>
          </a:p>
          <a:p>
            <a:pPr algn="l">
              <a:spcAft>
                <a:spcPts val="700"/>
              </a:spcAft>
            </a:pPr>
            <a:r>
              <a:rPr sz="1450" b="0">
                <a:solidFill>
                  <a:srgbClr val="000962"/>
                </a:solidFill>
                <a:latin typeface="Arial"/>
              </a:rPr>
              <a:t>University of Michigan consumer sentiment fell roughly 8% to a preliminary 51 in early August, ending a two-month rising streak.</a:t>
            </a:r>
          </a:p>
        </p:txBody>
      </p:sp>
      <p:sp>
        <p:nvSpPr>
          <p:cNvPr id="11" name="Rectangle 10"/>
          <p:cNvSpPr/>
          <p:nvPr/>
        </p:nvSpPr>
        <p:spPr>
          <a:xfrm>
            <a:off x="8001000" y="2029968"/>
            <a:ext cx="2926080" cy="2606040"/>
          </a:xfrm>
          <a:prstGeom prst="rect">
            <a:avLst/>
          </a:prstGeom>
          <a:solidFill>
            <a:srgbClr val="EB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0" y="2267712"/>
            <a:ext cx="2468880" cy="256032"/>
          </a:xfrm>
          <a:prstGeom prst="rect">
            <a:avLst/>
          </a:prstGeom>
          <a:noFill/>
        </p:spPr>
        <p:txBody>
          <a:bodyPr wrap="square" lIns="45720" tIns="18288" rIns="45720" bIns="18288" anchor="t">
            <a:spAutoFit/>
          </a:bodyPr>
          <a:lstStyle/>
          <a:p>
            <a:pPr algn="l"/>
            <a:r>
              <a:rPr sz="1600" b="1">
                <a:solidFill>
                  <a:srgbClr val="0468FF"/>
                </a:solidFill>
                <a:latin typeface="Arial"/>
              </a:rPr>
              <a:t>NYLIM view</a:t>
            </a:r>
          </a:p>
        </p:txBody>
      </p:sp>
      <p:sp>
        <p:nvSpPr>
          <p:cNvPr id="13" name="TextBox 12"/>
          <p:cNvSpPr txBox="1"/>
          <p:nvPr/>
        </p:nvSpPr>
        <p:spPr>
          <a:xfrm>
            <a:off x="8229600" y="2697480"/>
            <a:ext cx="2468880" cy="1806040"/>
          </a:xfrm>
          <a:prstGeom prst="rect">
            <a:avLst/>
          </a:prstGeom>
          <a:noFill/>
        </p:spPr>
        <p:txBody>
          <a:bodyPr wrap="square" lIns="45720" tIns="18288" rIns="45720" bIns="18288" anchor="t">
            <a:spAutoFit/>
          </a:bodyPr>
          <a:lstStyle/>
          <a:p>
            <a:pPr algn="l"/>
            <a:r>
              <a:rPr sz="1350" b="0">
                <a:solidFill>
                  <a:srgbClr val="000962"/>
                </a:solidFill>
                <a:latin typeface="Arial"/>
              </a:rPr>
              <a:t>New York Life Investment Management's Macro Pulse describes a market where resilience remains the story, but the path is narrowing - persistent inflation and elevated rates leave less margin for error.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695"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695"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621792"/>
            <a:ext cx="10881360" cy="530352"/>
          </a:xfrm>
          <a:prstGeom prst="rect">
            <a:avLst/>
          </a:prstGeom>
          <a:noFill/>
        </p:spPr>
        <p:txBody>
          <a:bodyPr wrap="square" lIns="45720" tIns="18288" rIns="45720" bIns="18288" anchor="t">
            <a:spAutoFit/>
          </a:bodyPr>
          <a:lstStyle/>
          <a:p>
            <a:pPr algn="l"/>
            <a:r>
              <a:rPr sz="3200" b="1">
                <a:solidFill>
                  <a:srgbClr val="0468FF"/>
                </a:solidFill>
                <a:latin typeface="Arial"/>
              </a:rPr>
              <a:t>Economic Reports Calendar: Week Ahead</a:t>
            </a:r>
          </a:p>
        </p:txBody>
      </p:sp>
      <p:sp>
        <p:nvSpPr>
          <p:cNvPr id="6" name="TextBox 5"/>
          <p:cNvSpPr txBox="1"/>
          <p:nvPr/>
        </p:nvSpPr>
        <p:spPr>
          <a:xfrm>
            <a:off x="713232" y="1353312"/>
            <a:ext cx="10881360" cy="310896"/>
          </a:xfrm>
          <a:prstGeom prst="rect">
            <a:avLst/>
          </a:prstGeom>
          <a:noFill/>
        </p:spPr>
        <p:txBody>
          <a:bodyPr wrap="square" lIns="45720" tIns="18288" rIns="45720" bIns="18288" anchor="t">
            <a:spAutoFit/>
          </a:bodyPr>
          <a:lstStyle/>
          <a:p>
            <a:pPr algn="l"/>
            <a:r>
              <a:rPr sz="1600" b="0">
                <a:solidFill>
                  <a:srgbClr val="000962"/>
                </a:solidFill>
                <a:latin typeface="Arial"/>
              </a:rPr>
              <a:t>August 17-21, 2026: housing data all week, Fed minutes Wednesday.</a:t>
            </a:r>
          </a:p>
        </p:txBody>
      </p:sp>
      <p:sp>
        <p:nvSpPr>
          <p:cNvPr id="7" name="TextBox 6"/>
          <p:cNvSpPr txBox="1"/>
          <p:nvPr/>
        </p:nvSpPr>
        <p:spPr>
          <a:xfrm>
            <a:off x="521207" y="6327648"/>
            <a:ext cx="5394960" cy="146304"/>
          </a:xfrm>
          <a:prstGeom prst="rect">
            <a:avLst/>
          </a:prstGeom>
          <a:noFill/>
        </p:spPr>
        <p:txBody>
          <a:bodyPr wrap="square" lIns="45720" tIns="18288" rIns="45720" bIns="18288" anchor="t">
            <a:spAutoFit/>
          </a:bodyPr>
          <a:lstStyle/>
          <a:p>
            <a:pPr algn="l"/>
            <a:r>
              <a:rPr sz="550" b="0">
                <a:solidFill>
                  <a:srgbClr val="46648C"/>
                </a:solidFill>
                <a:latin typeface="Arial"/>
              </a:rPr>
              <a:t>Internal use only. For agent use only. Not for use with the public.</a:t>
            </a:r>
          </a:p>
        </p:txBody>
      </p:sp>
      <p:sp>
        <p:nvSpPr>
          <p:cNvPr id="8" name="TextBox 7"/>
          <p:cNvSpPr txBox="1"/>
          <p:nvPr/>
        </p:nvSpPr>
        <p:spPr>
          <a:xfrm>
            <a:off x="10497312" y="6263640"/>
            <a:ext cx="768096" cy="182880"/>
          </a:xfrm>
          <a:prstGeom prst="rect">
            <a:avLst/>
          </a:prstGeom>
          <a:noFill/>
        </p:spPr>
        <p:txBody>
          <a:bodyPr wrap="square" lIns="45720" tIns="18288" rIns="45720" bIns="18288" anchor="t">
            <a:spAutoFit/>
          </a:bodyPr>
          <a:lstStyle/>
          <a:p>
            <a:pPr algn="r"/>
            <a:r>
              <a:rPr sz="850" b="1">
                <a:solidFill>
                  <a:srgbClr val="000962"/>
                </a:solidFill>
                <a:latin typeface="Arial"/>
              </a:rPr>
              <a:t>ELEVATE</a:t>
            </a:r>
          </a:p>
        </p:txBody>
      </p:sp>
      <p:sp>
        <p:nvSpPr>
          <p:cNvPr id="9" name="TextBox 8"/>
          <p:cNvSpPr txBox="1"/>
          <p:nvPr/>
        </p:nvSpPr>
        <p:spPr>
          <a:xfrm>
            <a:off x="11228832" y="6272784"/>
            <a:ext cx="384048" cy="164592"/>
          </a:xfrm>
          <a:prstGeom prst="rect">
            <a:avLst/>
          </a:prstGeom>
          <a:noFill/>
        </p:spPr>
        <p:txBody>
          <a:bodyPr wrap="square" lIns="45720" tIns="18288" rIns="45720" bIns="18288" anchor="t">
            <a:spAutoFit/>
          </a:bodyPr>
          <a:lstStyle/>
          <a:p>
            <a:pPr algn="l"/>
            <a:r>
              <a:rPr sz="580" b="0">
                <a:solidFill>
                  <a:srgbClr val="000962"/>
                </a:solidFill>
                <a:latin typeface="Arial"/>
              </a:rPr>
              <a:t>NEW ORG</a:t>
            </a:r>
          </a:p>
        </p:txBody>
      </p:sp>
      <p:sp>
        <p:nvSpPr>
          <p:cNvPr id="10" name="TextBox 9"/>
          <p:cNvSpPr txBox="1"/>
          <p:nvPr/>
        </p:nvSpPr>
        <p:spPr>
          <a:xfrm>
            <a:off x="658368" y="1965960"/>
            <a:ext cx="1051560" cy="237744"/>
          </a:xfrm>
          <a:prstGeom prst="rect">
            <a:avLst/>
          </a:prstGeom>
          <a:noFill/>
        </p:spPr>
        <p:txBody>
          <a:bodyPr wrap="square" lIns="45720" tIns="18288" rIns="45720" bIns="18288" anchor="t">
            <a:spAutoFit/>
          </a:bodyPr>
          <a:lstStyle/>
          <a:p>
            <a:pPr algn="l"/>
            <a:r>
              <a:rPr sz="950" b="1">
                <a:solidFill>
                  <a:srgbClr val="0468FF"/>
                </a:solidFill>
                <a:latin typeface="Arial"/>
              </a:rPr>
              <a:t>Date</a:t>
            </a:r>
          </a:p>
        </p:txBody>
      </p:sp>
      <p:sp>
        <p:nvSpPr>
          <p:cNvPr id="11" name="TextBox 10"/>
          <p:cNvSpPr txBox="1"/>
          <p:nvPr/>
        </p:nvSpPr>
        <p:spPr>
          <a:xfrm>
            <a:off x="1709928" y="1965960"/>
            <a:ext cx="2788920" cy="237744"/>
          </a:xfrm>
          <a:prstGeom prst="rect">
            <a:avLst/>
          </a:prstGeom>
          <a:noFill/>
        </p:spPr>
        <p:txBody>
          <a:bodyPr wrap="square" lIns="45720" tIns="18288" rIns="45720" bIns="18288" anchor="t">
            <a:spAutoFit/>
          </a:bodyPr>
          <a:lstStyle/>
          <a:p>
            <a:pPr algn="l"/>
            <a:r>
              <a:rPr sz="950" b="1">
                <a:solidFill>
                  <a:srgbClr val="0468FF"/>
                </a:solidFill>
                <a:latin typeface="Arial"/>
              </a:rPr>
              <a:t>Report</a:t>
            </a:r>
          </a:p>
        </p:txBody>
      </p:sp>
      <p:sp>
        <p:nvSpPr>
          <p:cNvPr id="12" name="TextBox 11"/>
          <p:cNvSpPr txBox="1"/>
          <p:nvPr/>
        </p:nvSpPr>
        <p:spPr>
          <a:xfrm>
            <a:off x="4498848" y="1965960"/>
            <a:ext cx="2971800" cy="237744"/>
          </a:xfrm>
          <a:prstGeom prst="rect">
            <a:avLst/>
          </a:prstGeom>
          <a:noFill/>
        </p:spPr>
        <p:txBody>
          <a:bodyPr wrap="square" lIns="45720" tIns="18288" rIns="45720" bIns="18288" anchor="t">
            <a:spAutoFit/>
          </a:bodyPr>
          <a:lstStyle/>
          <a:p>
            <a:pPr algn="l"/>
            <a:r>
              <a:rPr sz="950" b="1">
                <a:solidFill>
                  <a:srgbClr val="0468FF"/>
                </a:solidFill>
                <a:latin typeface="Arial"/>
              </a:rPr>
              <a:t>Detail</a:t>
            </a:r>
          </a:p>
        </p:txBody>
      </p:sp>
      <p:sp>
        <p:nvSpPr>
          <p:cNvPr id="13" name="TextBox 12"/>
          <p:cNvSpPr txBox="1"/>
          <p:nvPr/>
        </p:nvSpPr>
        <p:spPr>
          <a:xfrm>
            <a:off x="7470648" y="1965960"/>
            <a:ext cx="3977639" cy="237744"/>
          </a:xfrm>
          <a:prstGeom prst="rect">
            <a:avLst/>
          </a:prstGeom>
          <a:noFill/>
        </p:spPr>
        <p:txBody>
          <a:bodyPr wrap="square" lIns="45720" tIns="18288" rIns="45720" bIns="18288" anchor="t">
            <a:spAutoFit/>
          </a:bodyPr>
          <a:lstStyle/>
          <a:p>
            <a:pPr algn="l"/>
            <a:r>
              <a:rPr sz="950" b="1">
                <a:solidFill>
                  <a:srgbClr val="0468FF"/>
                </a:solidFill>
                <a:latin typeface="Arial"/>
              </a:rPr>
              <a:t>Why it matters</a:t>
            </a:r>
          </a:p>
        </p:txBody>
      </p:sp>
      <p:sp>
        <p:nvSpPr>
          <p:cNvPr id="14" name="Rectangle 13"/>
          <p:cNvSpPr/>
          <p:nvPr/>
        </p:nvSpPr>
        <p:spPr>
          <a:xfrm>
            <a:off x="658368" y="2313432"/>
            <a:ext cx="10789919" cy="455000"/>
          </a:xfrm>
          <a:prstGeom prst="rect">
            <a:avLst/>
          </a:prstGeom>
          <a:solidFill>
            <a:srgbClr val="EB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94944" y="2350008"/>
            <a:ext cx="1014984" cy="418424"/>
          </a:xfrm>
          <a:prstGeom prst="rect">
            <a:avLst/>
          </a:prstGeom>
          <a:noFill/>
        </p:spPr>
        <p:txBody>
          <a:bodyPr wrap="square" lIns="45720" tIns="18288" rIns="45720" bIns="18288" anchor="t">
            <a:spAutoFit/>
          </a:bodyPr>
          <a:lstStyle/>
          <a:p>
            <a:pPr algn="l"/>
            <a:r>
              <a:rPr sz="900" b="0">
                <a:solidFill>
                  <a:srgbClr val="000962"/>
                </a:solidFill>
                <a:latin typeface="Arial"/>
              </a:rPr>
              <a:t>Mon 8/17</a:t>
            </a:r>
          </a:p>
        </p:txBody>
      </p:sp>
      <p:sp>
        <p:nvSpPr>
          <p:cNvPr id="16" name="TextBox 15"/>
          <p:cNvSpPr txBox="1"/>
          <p:nvPr/>
        </p:nvSpPr>
        <p:spPr>
          <a:xfrm>
            <a:off x="1746504" y="2350008"/>
            <a:ext cx="2752344" cy="418424"/>
          </a:xfrm>
          <a:prstGeom prst="rect">
            <a:avLst/>
          </a:prstGeom>
          <a:noFill/>
        </p:spPr>
        <p:txBody>
          <a:bodyPr wrap="square" lIns="45720" tIns="18288" rIns="45720" bIns="18288" anchor="t">
            <a:spAutoFit/>
          </a:bodyPr>
          <a:lstStyle/>
          <a:p>
            <a:pPr algn="l"/>
            <a:r>
              <a:rPr sz="900" b="0">
                <a:solidFill>
                  <a:srgbClr val="000962"/>
                </a:solidFill>
                <a:latin typeface="Arial"/>
              </a:rPr>
              <a:t>Empire State Manufacturing (Aug), NAHB Housing Index (Aug)</a:t>
            </a:r>
          </a:p>
        </p:txBody>
      </p:sp>
      <p:sp>
        <p:nvSpPr>
          <p:cNvPr id="17" name="TextBox 16"/>
          <p:cNvSpPr txBox="1"/>
          <p:nvPr/>
        </p:nvSpPr>
        <p:spPr>
          <a:xfrm>
            <a:off x="4535424" y="2350008"/>
            <a:ext cx="2935224" cy="418424"/>
          </a:xfrm>
          <a:prstGeom prst="rect">
            <a:avLst/>
          </a:prstGeom>
          <a:noFill/>
        </p:spPr>
        <p:txBody>
          <a:bodyPr wrap="square" lIns="45720" tIns="18288" rIns="45720" bIns="18288" anchor="t">
            <a:spAutoFit/>
          </a:bodyPr>
          <a:lstStyle/>
          <a:p>
            <a:pPr algn="l"/>
            <a:r>
              <a:rPr sz="900" b="0">
                <a:solidFill>
                  <a:srgbClr val="000962"/>
                </a:solidFill>
                <a:latin typeface="Arial"/>
              </a:rPr>
              <a:t>8:30 am and 10:00 am ET</a:t>
            </a:r>
          </a:p>
        </p:txBody>
      </p:sp>
      <p:sp>
        <p:nvSpPr>
          <p:cNvPr id="18" name="TextBox 17"/>
          <p:cNvSpPr txBox="1"/>
          <p:nvPr/>
        </p:nvSpPr>
        <p:spPr>
          <a:xfrm>
            <a:off x="7507224" y="2350008"/>
            <a:ext cx="3941063" cy="418424"/>
          </a:xfrm>
          <a:prstGeom prst="rect">
            <a:avLst/>
          </a:prstGeom>
          <a:noFill/>
        </p:spPr>
        <p:txBody>
          <a:bodyPr wrap="square" lIns="45720" tIns="18288" rIns="45720" bIns="18288" anchor="t">
            <a:spAutoFit/>
          </a:bodyPr>
          <a:lstStyle/>
          <a:p>
            <a:pPr algn="l"/>
            <a:r>
              <a:rPr sz="900" b="0">
                <a:solidFill>
                  <a:srgbClr val="000962"/>
                </a:solidFill>
                <a:latin typeface="Arial"/>
              </a:rPr>
              <a:t>First read on August factory and builder sentiment.</a:t>
            </a:r>
          </a:p>
        </p:txBody>
      </p:sp>
      <p:sp>
        <p:nvSpPr>
          <p:cNvPr id="19" name="Rectangle 18"/>
          <p:cNvSpPr/>
          <p:nvPr/>
        </p:nvSpPr>
        <p:spPr>
          <a:xfrm>
            <a:off x="658368" y="2803432"/>
            <a:ext cx="10789919" cy="45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94944" y="2840008"/>
            <a:ext cx="1014984" cy="418424"/>
          </a:xfrm>
          <a:prstGeom prst="rect">
            <a:avLst/>
          </a:prstGeom>
          <a:noFill/>
        </p:spPr>
        <p:txBody>
          <a:bodyPr wrap="square" lIns="45720" tIns="18288" rIns="45720" bIns="18288" anchor="t">
            <a:spAutoFit/>
          </a:bodyPr>
          <a:lstStyle/>
          <a:p>
            <a:pPr algn="l"/>
            <a:r>
              <a:rPr sz="900" b="0">
                <a:solidFill>
                  <a:srgbClr val="000962"/>
                </a:solidFill>
                <a:latin typeface="Arial"/>
              </a:rPr>
              <a:t>Tue 8/18</a:t>
            </a:r>
          </a:p>
        </p:txBody>
      </p:sp>
      <p:sp>
        <p:nvSpPr>
          <p:cNvPr id="21" name="TextBox 20"/>
          <p:cNvSpPr txBox="1"/>
          <p:nvPr/>
        </p:nvSpPr>
        <p:spPr>
          <a:xfrm>
            <a:off x="1746504" y="2840008"/>
            <a:ext cx="2752344" cy="418424"/>
          </a:xfrm>
          <a:prstGeom prst="rect">
            <a:avLst/>
          </a:prstGeom>
          <a:noFill/>
        </p:spPr>
        <p:txBody>
          <a:bodyPr wrap="square" lIns="45720" tIns="18288" rIns="45720" bIns="18288" anchor="t">
            <a:spAutoFit/>
          </a:bodyPr>
          <a:lstStyle/>
          <a:p>
            <a:pPr algn="l"/>
            <a:r>
              <a:rPr sz="900" b="0">
                <a:solidFill>
                  <a:srgbClr val="000962"/>
                </a:solidFill>
                <a:latin typeface="Arial"/>
              </a:rPr>
              <a:t>Housing starts, Building permits, Import prices (Jul)</a:t>
            </a:r>
          </a:p>
        </p:txBody>
      </p:sp>
      <p:sp>
        <p:nvSpPr>
          <p:cNvPr id="22" name="TextBox 21"/>
          <p:cNvSpPr txBox="1"/>
          <p:nvPr/>
        </p:nvSpPr>
        <p:spPr>
          <a:xfrm>
            <a:off x="4535424" y="2840008"/>
            <a:ext cx="2935224" cy="418424"/>
          </a:xfrm>
          <a:prstGeom prst="rect">
            <a:avLst/>
          </a:prstGeom>
          <a:noFill/>
        </p:spPr>
        <p:txBody>
          <a:bodyPr wrap="square" lIns="45720" tIns="18288" rIns="45720" bIns="18288" anchor="t">
            <a:spAutoFit/>
          </a:bodyPr>
          <a:lstStyle/>
          <a:p>
            <a:pPr algn="l"/>
            <a:r>
              <a:rPr sz="900" b="0">
                <a:solidFill>
                  <a:srgbClr val="000962"/>
                </a:solidFill>
                <a:latin typeface="Arial"/>
              </a:rPr>
              <a:t>8:30 am ET</a:t>
            </a:r>
          </a:p>
        </p:txBody>
      </p:sp>
      <p:sp>
        <p:nvSpPr>
          <p:cNvPr id="23" name="TextBox 22"/>
          <p:cNvSpPr txBox="1"/>
          <p:nvPr/>
        </p:nvSpPr>
        <p:spPr>
          <a:xfrm>
            <a:off x="7507224" y="2840008"/>
            <a:ext cx="3941063" cy="418424"/>
          </a:xfrm>
          <a:prstGeom prst="rect">
            <a:avLst/>
          </a:prstGeom>
          <a:noFill/>
        </p:spPr>
        <p:txBody>
          <a:bodyPr wrap="square" lIns="45720" tIns="18288" rIns="45720" bIns="18288" anchor="t">
            <a:spAutoFit/>
          </a:bodyPr>
          <a:lstStyle/>
          <a:p>
            <a:pPr algn="l"/>
            <a:r>
              <a:rPr sz="900" b="0">
                <a:solidFill>
                  <a:srgbClr val="000962"/>
                </a:solidFill>
                <a:latin typeface="Arial"/>
              </a:rPr>
              <a:t>Housing supply pipeline and imported inflation.</a:t>
            </a:r>
          </a:p>
        </p:txBody>
      </p:sp>
      <p:sp>
        <p:nvSpPr>
          <p:cNvPr id="24" name="Rectangle 23"/>
          <p:cNvSpPr/>
          <p:nvPr/>
        </p:nvSpPr>
        <p:spPr>
          <a:xfrm>
            <a:off x="658368" y="3293432"/>
            <a:ext cx="10789919" cy="455000"/>
          </a:xfrm>
          <a:prstGeom prst="rect">
            <a:avLst/>
          </a:prstGeom>
          <a:solidFill>
            <a:srgbClr val="EB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94944" y="3330008"/>
            <a:ext cx="1014984" cy="418424"/>
          </a:xfrm>
          <a:prstGeom prst="rect">
            <a:avLst/>
          </a:prstGeom>
          <a:noFill/>
        </p:spPr>
        <p:txBody>
          <a:bodyPr wrap="square" lIns="45720" tIns="18288" rIns="45720" bIns="18288" anchor="t">
            <a:spAutoFit/>
          </a:bodyPr>
          <a:lstStyle/>
          <a:p>
            <a:pPr algn="l"/>
            <a:r>
              <a:rPr sz="900" b="0">
                <a:solidFill>
                  <a:srgbClr val="000962"/>
                </a:solidFill>
                <a:latin typeface="Arial"/>
              </a:rPr>
              <a:t>Tue 8/18</a:t>
            </a:r>
          </a:p>
        </p:txBody>
      </p:sp>
      <p:sp>
        <p:nvSpPr>
          <p:cNvPr id="26" name="TextBox 25"/>
          <p:cNvSpPr txBox="1"/>
          <p:nvPr/>
        </p:nvSpPr>
        <p:spPr>
          <a:xfrm>
            <a:off x="1746504" y="3330008"/>
            <a:ext cx="2752344" cy="418424"/>
          </a:xfrm>
          <a:prstGeom prst="rect">
            <a:avLst/>
          </a:prstGeom>
          <a:noFill/>
        </p:spPr>
        <p:txBody>
          <a:bodyPr wrap="square" lIns="45720" tIns="18288" rIns="45720" bIns="18288" anchor="t">
            <a:spAutoFit/>
          </a:bodyPr>
          <a:lstStyle/>
          <a:p>
            <a:pPr algn="l"/>
            <a:r>
              <a:rPr sz="900" b="0">
                <a:solidFill>
                  <a:srgbClr val="000962"/>
                </a:solidFill>
                <a:latin typeface="Arial"/>
              </a:rPr>
              <a:t>Industrial production, Capacity utilization, Pending home sales (Jul)</a:t>
            </a:r>
          </a:p>
        </p:txBody>
      </p:sp>
      <p:sp>
        <p:nvSpPr>
          <p:cNvPr id="27" name="TextBox 26"/>
          <p:cNvSpPr txBox="1"/>
          <p:nvPr/>
        </p:nvSpPr>
        <p:spPr>
          <a:xfrm>
            <a:off x="4535424" y="3330008"/>
            <a:ext cx="2935224" cy="418424"/>
          </a:xfrm>
          <a:prstGeom prst="rect">
            <a:avLst/>
          </a:prstGeom>
          <a:noFill/>
        </p:spPr>
        <p:txBody>
          <a:bodyPr wrap="square" lIns="45720" tIns="18288" rIns="45720" bIns="18288" anchor="t">
            <a:spAutoFit/>
          </a:bodyPr>
          <a:lstStyle/>
          <a:p>
            <a:pPr algn="l"/>
            <a:r>
              <a:rPr sz="900" b="0">
                <a:solidFill>
                  <a:srgbClr val="000962"/>
                </a:solidFill>
                <a:latin typeface="Arial"/>
              </a:rPr>
              <a:t>9:15 am and 10:00 am ET</a:t>
            </a:r>
          </a:p>
        </p:txBody>
      </p:sp>
      <p:sp>
        <p:nvSpPr>
          <p:cNvPr id="28" name="TextBox 27"/>
          <p:cNvSpPr txBox="1"/>
          <p:nvPr/>
        </p:nvSpPr>
        <p:spPr>
          <a:xfrm>
            <a:off x="7507224" y="3330008"/>
            <a:ext cx="3941063" cy="418424"/>
          </a:xfrm>
          <a:prstGeom prst="rect">
            <a:avLst/>
          </a:prstGeom>
          <a:noFill/>
        </p:spPr>
        <p:txBody>
          <a:bodyPr wrap="square" lIns="45720" tIns="18288" rIns="45720" bIns="18288" anchor="t">
            <a:spAutoFit/>
          </a:bodyPr>
          <a:lstStyle/>
          <a:p>
            <a:pPr algn="l"/>
            <a:r>
              <a:rPr sz="900" b="0">
                <a:solidFill>
                  <a:srgbClr val="000962"/>
                </a:solidFill>
                <a:latin typeface="Arial"/>
              </a:rPr>
              <a:t>Factory output and forward housing demand.</a:t>
            </a:r>
          </a:p>
        </p:txBody>
      </p:sp>
      <p:sp>
        <p:nvSpPr>
          <p:cNvPr id="29" name="Rectangle 28"/>
          <p:cNvSpPr/>
          <p:nvPr/>
        </p:nvSpPr>
        <p:spPr>
          <a:xfrm>
            <a:off x="658368" y="3783432"/>
            <a:ext cx="10789919" cy="45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94944" y="3820008"/>
            <a:ext cx="1014984" cy="418424"/>
          </a:xfrm>
          <a:prstGeom prst="rect">
            <a:avLst/>
          </a:prstGeom>
          <a:noFill/>
        </p:spPr>
        <p:txBody>
          <a:bodyPr wrap="square" lIns="45720" tIns="18288" rIns="45720" bIns="18288" anchor="t">
            <a:spAutoFit/>
          </a:bodyPr>
          <a:lstStyle/>
          <a:p>
            <a:pPr algn="l"/>
            <a:r>
              <a:rPr sz="900" b="0">
                <a:solidFill>
                  <a:srgbClr val="000962"/>
                </a:solidFill>
                <a:latin typeface="Arial"/>
              </a:rPr>
              <a:t>Wed 8/19</a:t>
            </a:r>
          </a:p>
        </p:txBody>
      </p:sp>
      <p:sp>
        <p:nvSpPr>
          <p:cNvPr id="31" name="TextBox 30"/>
          <p:cNvSpPr txBox="1"/>
          <p:nvPr/>
        </p:nvSpPr>
        <p:spPr>
          <a:xfrm>
            <a:off x="1746504" y="3820008"/>
            <a:ext cx="2752344" cy="418424"/>
          </a:xfrm>
          <a:prstGeom prst="rect">
            <a:avLst/>
          </a:prstGeom>
          <a:noFill/>
        </p:spPr>
        <p:txBody>
          <a:bodyPr wrap="square" lIns="45720" tIns="18288" rIns="45720" bIns="18288" anchor="t">
            <a:spAutoFit/>
          </a:bodyPr>
          <a:lstStyle/>
          <a:p>
            <a:pPr algn="l"/>
            <a:r>
              <a:rPr sz="900" b="0">
                <a:solidFill>
                  <a:srgbClr val="000962"/>
                </a:solidFill>
                <a:latin typeface="Arial"/>
              </a:rPr>
              <a:t>FOMC minutes, July 28-29 meeting</a:t>
            </a:r>
          </a:p>
        </p:txBody>
      </p:sp>
      <p:sp>
        <p:nvSpPr>
          <p:cNvPr id="32" name="TextBox 31"/>
          <p:cNvSpPr txBox="1"/>
          <p:nvPr/>
        </p:nvSpPr>
        <p:spPr>
          <a:xfrm>
            <a:off x="4535424" y="3820008"/>
            <a:ext cx="2935224" cy="418424"/>
          </a:xfrm>
          <a:prstGeom prst="rect">
            <a:avLst/>
          </a:prstGeom>
          <a:noFill/>
        </p:spPr>
        <p:txBody>
          <a:bodyPr wrap="square" lIns="45720" tIns="18288" rIns="45720" bIns="18288" anchor="t">
            <a:spAutoFit/>
          </a:bodyPr>
          <a:lstStyle/>
          <a:p>
            <a:pPr algn="l"/>
            <a:r>
              <a:rPr sz="900" b="0">
                <a:solidFill>
                  <a:srgbClr val="000962"/>
                </a:solidFill>
                <a:latin typeface="Arial"/>
              </a:rPr>
              <a:t>2:00 pm ET - the week's main event</a:t>
            </a:r>
          </a:p>
        </p:txBody>
      </p:sp>
      <p:sp>
        <p:nvSpPr>
          <p:cNvPr id="33" name="TextBox 32"/>
          <p:cNvSpPr txBox="1"/>
          <p:nvPr/>
        </p:nvSpPr>
        <p:spPr>
          <a:xfrm>
            <a:off x="7507224" y="3820008"/>
            <a:ext cx="3941063" cy="418424"/>
          </a:xfrm>
          <a:prstGeom prst="rect">
            <a:avLst/>
          </a:prstGeom>
          <a:noFill/>
        </p:spPr>
        <p:txBody>
          <a:bodyPr wrap="square" lIns="45720" tIns="18288" rIns="45720" bIns="18288" anchor="t">
            <a:spAutoFit/>
          </a:bodyPr>
          <a:lstStyle/>
          <a:p>
            <a:pPr algn="l"/>
            <a:r>
              <a:rPr sz="900" b="0">
                <a:solidFill>
                  <a:srgbClr val="000962"/>
                </a:solidFill>
                <a:latin typeface="Arial"/>
              </a:rPr>
              <a:t>How many members wanted a hike, and what triggers September.</a:t>
            </a:r>
          </a:p>
        </p:txBody>
      </p:sp>
      <p:sp>
        <p:nvSpPr>
          <p:cNvPr id="34" name="Rectangle 33"/>
          <p:cNvSpPr/>
          <p:nvPr/>
        </p:nvSpPr>
        <p:spPr>
          <a:xfrm>
            <a:off x="658368" y="4273432"/>
            <a:ext cx="10789919" cy="455000"/>
          </a:xfrm>
          <a:prstGeom prst="rect">
            <a:avLst/>
          </a:prstGeom>
          <a:solidFill>
            <a:srgbClr val="EB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94944" y="4310008"/>
            <a:ext cx="1014984" cy="418424"/>
          </a:xfrm>
          <a:prstGeom prst="rect">
            <a:avLst/>
          </a:prstGeom>
          <a:noFill/>
        </p:spPr>
        <p:txBody>
          <a:bodyPr wrap="square" lIns="45720" tIns="18288" rIns="45720" bIns="18288" anchor="t">
            <a:spAutoFit/>
          </a:bodyPr>
          <a:lstStyle/>
          <a:p>
            <a:pPr algn="l"/>
            <a:r>
              <a:rPr sz="900" b="0">
                <a:solidFill>
                  <a:srgbClr val="000962"/>
                </a:solidFill>
                <a:latin typeface="Arial"/>
              </a:rPr>
              <a:t>Thu 8/20</a:t>
            </a:r>
          </a:p>
        </p:txBody>
      </p:sp>
      <p:sp>
        <p:nvSpPr>
          <p:cNvPr id="36" name="TextBox 35"/>
          <p:cNvSpPr txBox="1"/>
          <p:nvPr/>
        </p:nvSpPr>
        <p:spPr>
          <a:xfrm>
            <a:off x="1746504" y="4310008"/>
            <a:ext cx="2752344" cy="418424"/>
          </a:xfrm>
          <a:prstGeom prst="rect">
            <a:avLst/>
          </a:prstGeom>
          <a:noFill/>
        </p:spPr>
        <p:txBody>
          <a:bodyPr wrap="square" lIns="45720" tIns="18288" rIns="45720" bIns="18288" anchor="t">
            <a:spAutoFit/>
          </a:bodyPr>
          <a:lstStyle/>
          <a:p>
            <a:pPr algn="l"/>
            <a:r>
              <a:rPr sz="900" b="0">
                <a:solidFill>
                  <a:srgbClr val="000962"/>
                </a:solidFill>
                <a:latin typeface="Arial"/>
              </a:rPr>
              <a:t>Weekly jobless claims (wk ending 8/15), Philadelphia Fed Index (Aug)</a:t>
            </a:r>
          </a:p>
        </p:txBody>
      </p:sp>
      <p:sp>
        <p:nvSpPr>
          <p:cNvPr id="37" name="TextBox 36"/>
          <p:cNvSpPr txBox="1"/>
          <p:nvPr/>
        </p:nvSpPr>
        <p:spPr>
          <a:xfrm>
            <a:off x="4535424" y="4310008"/>
            <a:ext cx="2935224" cy="418424"/>
          </a:xfrm>
          <a:prstGeom prst="rect">
            <a:avLst/>
          </a:prstGeom>
          <a:noFill/>
        </p:spPr>
        <p:txBody>
          <a:bodyPr wrap="square" lIns="45720" tIns="18288" rIns="45720" bIns="18288" anchor="t">
            <a:spAutoFit/>
          </a:bodyPr>
          <a:lstStyle/>
          <a:p>
            <a:pPr algn="l"/>
            <a:r>
              <a:rPr sz="900" b="0">
                <a:solidFill>
                  <a:srgbClr val="000962"/>
                </a:solidFill>
                <a:latin typeface="Arial"/>
              </a:rPr>
              <a:t>8:30 am ET</a:t>
            </a:r>
          </a:p>
        </p:txBody>
      </p:sp>
      <p:sp>
        <p:nvSpPr>
          <p:cNvPr id="38" name="TextBox 37"/>
          <p:cNvSpPr txBox="1"/>
          <p:nvPr/>
        </p:nvSpPr>
        <p:spPr>
          <a:xfrm>
            <a:off x="7507224" y="4310008"/>
            <a:ext cx="3941063" cy="418424"/>
          </a:xfrm>
          <a:prstGeom prst="rect">
            <a:avLst/>
          </a:prstGeom>
          <a:noFill/>
        </p:spPr>
        <p:txBody>
          <a:bodyPr wrap="square" lIns="45720" tIns="18288" rIns="45720" bIns="18288" anchor="t">
            <a:spAutoFit/>
          </a:bodyPr>
          <a:lstStyle/>
          <a:p>
            <a:pPr algn="l"/>
            <a:r>
              <a:rPr sz="900" b="0">
                <a:solidFill>
                  <a:srgbClr val="000962"/>
                </a:solidFill>
                <a:latin typeface="Arial"/>
              </a:rPr>
              <a:t>Layoff pulse and regional manufacturing.</a:t>
            </a:r>
          </a:p>
        </p:txBody>
      </p:sp>
      <p:sp>
        <p:nvSpPr>
          <p:cNvPr id="39" name="Rectangle 38"/>
          <p:cNvSpPr/>
          <p:nvPr/>
        </p:nvSpPr>
        <p:spPr>
          <a:xfrm>
            <a:off x="658368" y="4763432"/>
            <a:ext cx="10789919" cy="45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94944" y="4800008"/>
            <a:ext cx="1014984" cy="418424"/>
          </a:xfrm>
          <a:prstGeom prst="rect">
            <a:avLst/>
          </a:prstGeom>
          <a:noFill/>
        </p:spPr>
        <p:txBody>
          <a:bodyPr wrap="square" lIns="45720" tIns="18288" rIns="45720" bIns="18288" anchor="t">
            <a:spAutoFit/>
          </a:bodyPr>
          <a:lstStyle/>
          <a:p>
            <a:pPr algn="l"/>
            <a:r>
              <a:rPr sz="900" b="0">
                <a:solidFill>
                  <a:srgbClr val="000962"/>
                </a:solidFill>
                <a:latin typeface="Arial"/>
              </a:rPr>
              <a:t>Fri 8/21</a:t>
            </a:r>
          </a:p>
        </p:txBody>
      </p:sp>
      <p:sp>
        <p:nvSpPr>
          <p:cNvPr id="41" name="TextBox 40"/>
          <p:cNvSpPr txBox="1"/>
          <p:nvPr/>
        </p:nvSpPr>
        <p:spPr>
          <a:xfrm>
            <a:off x="1746504" y="4800008"/>
            <a:ext cx="2752344" cy="418424"/>
          </a:xfrm>
          <a:prstGeom prst="rect">
            <a:avLst/>
          </a:prstGeom>
          <a:noFill/>
        </p:spPr>
        <p:txBody>
          <a:bodyPr wrap="square" lIns="45720" tIns="18288" rIns="45720" bIns="18288" anchor="t">
            <a:spAutoFit/>
          </a:bodyPr>
          <a:lstStyle/>
          <a:p>
            <a:pPr algn="l"/>
            <a:r>
              <a:rPr sz="900" b="0">
                <a:solidFill>
                  <a:srgbClr val="000962"/>
                </a:solidFill>
                <a:latin typeface="Arial"/>
              </a:rPr>
              <a:t>S&amp;P Global Flash Manufacturing and Services PMI (Aug)</a:t>
            </a:r>
          </a:p>
        </p:txBody>
      </p:sp>
      <p:sp>
        <p:nvSpPr>
          <p:cNvPr id="42" name="TextBox 41"/>
          <p:cNvSpPr txBox="1"/>
          <p:nvPr/>
        </p:nvSpPr>
        <p:spPr>
          <a:xfrm>
            <a:off x="4535424" y="4800008"/>
            <a:ext cx="2935224" cy="418424"/>
          </a:xfrm>
          <a:prstGeom prst="rect">
            <a:avLst/>
          </a:prstGeom>
          <a:noFill/>
        </p:spPr>
        <p:txBody>
          <a:bodyPr wrap="square" lIns="45720" tIns="18288" rIns="45720" bIns="18288" anchor="t">
            <a:spAutoFit/>
          </a:bodyPr>
          <a:lstStyle/>
          <a:p>
            <a:pPr algn="l"/>
            <a:r>
              <a:rPr sz="900" b="0">
                <a:solidFill>
                  <a:srgbClr val="000962"/>
                </a:solidFill>
                <a:latin typeface="Arial"/>
              </a:rPr>
              <a:t>9:45 am ET</a:t>
            </a:r>
          </a:p>
        </p:txBody>
      </p:sp>
      <p:sp>
        <p:nvSpPr>
          <p:cNvPr id="43" name="TextBox 42"/>
          <p:cNvSpPr txBox="1"/>
          <p:nvPr/>
        </p:nvSpPr>
        <p:spPr>
          <a:xfrm>
            <a:off x="7507224" y="4800008"/>
            <a:ext cx="3941063" cy="418424"/>
          </a:xfrm>
          <a:prstGeom prst="rect">
            <a:avLst/>
          </a:prstGeom>
          <a:noFill/>
        </p:spPr>
        <p:txBody>
          <a:bodyPr wrap="square" lIns="45720" tIns="18288" rIns="45720" bIns="18288" anchor="t">
            <a:spAutoFit/>
          </a:bodyPr>
          <a:lstStyle/>
          <a:p>
            <a:pPr algn="l"/>
            <a:r>
              <a:rPr sz="900" b="0">
                <a:solidFill>
                  <a:srgbClr val="000962"/>
                </a:solidFill>
                <a:latin typeface="Arial"/>
              </a:rPr>
              <a:t>Freshest read on August growth momentum.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695"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695"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621792"/>
            <a:ext cx="10881360" cy="530352"/>
          </a:xfrm>
          <a:prstGeom prst="rect">
            <a:avLst/>
          </a:prstGeom>
          <a:noFill/>
        </p:spPr>
        <p:txBody>
          <a:bodyPr wrap="square" lIns="45720" tIns="18288" rIns="45720" bIns="18288" anchor="t">
            <a:spAutoFit/>
          </a:bodyPr>
          <a:lstStyle/>
          <a:p>
            <a:pPr algn="l"/>
            <a:r>
              <a:rPr sz="3200" b="1">
                <a:solidFill>
                  <a:srgbClr val="0468FF"/>
                </a:solidFill>
                <a:latin typeface="Arial"/>
              </a:rPr>
              <a:t>Earnings Calendar: Week Ahead</a:t>
            </a:r>
          </a:p>
        </p:txBody>
      </p:sp>
      <p:sp>
        <p:nvSpPr>
          <p:cNvPr id="6" name="TextBox 5"/>
          <p:cNvSpPr txBox="1"/>
          <p:nvPr/>
        </p:nvSpPr>
        <p:spPr>
          <a:xfrm>
            <a:off x="713232" y="1353312"/>
            <a:ext cx="10881360" cy="310896"/>
          </a:xfrm>
          <a:prstGeom prst="rect">
            <a:avLst/>
          </a:prstGeom>
          <a:noFill/>
        </p:spPr>
        <p:txBody>
          <a:bodyPr wrap="square" lIns="45720" tIns="18288" rIns="45720" bIns="18288" anchor="t">
            <a:spAutoFit/>
          </a:bodyPr>
          <a:lstStyle/>
          <a:p>
            <a:pPr algn="l"/>
            <a:r>
              <a:rPr sz="1600" b="0">
                <a:solidFill>
                  <a:srgbClr val="000962"/>
                </a:solidFill>
                <a:latin typeface="Arial"/>
              </a:rPr>
              <a:t>Retail week: the consumer gets graded from five different angles.</a:t>
            </a:r>
          </a:p>
        </p:txBody>
      </p:sp>
      <p:sp>
        <p:nvSpPr>
          <p:cNvPr id="7" name="TextBox 6"/>
          <p:cNvSpPr txBox="1"/>
          <p:nvPr/>
        </p:nvSpPr>
        <p:spPr>
          <a:xfrm>
            <a:off x="521207" y="6327648"/>
            <a:ext cx="5394960" cy="146304"/>
          </a:xfrm>
          <a:prstGeom prst="rect">
            <a:avLst/>
          </a:prstGeom>
          <a:noFill/>
        </p:spPr>
        <p:txBody>
          <a:bodyPr wrap="square" lIns="45720" tIns="18288" rIns="45720" bIns="18288" anchor="t">
            <a:spAutoFit/>
          </a:bodyPr>
          <a:lstStyle/>
          <a:p>
            <a:pPr algn="l"/>
            <a:r>
              <a:rPr sz="550" b="0">
                <a:solidFill>
                  <a:srgbClr val="46648C"/>
                </a:solidFill>
                <a:latin typeface="Arial"/>
              </a:rPr>
              <a:t>Internal use only. For agent use only. Not for use with the public.</a:t>
            </a:r>
          </a:p>
        </p:txBody>
      </p:sp>
      <p:sp>
        <p:nvSpPr>
          <p:cNvPr id="8" name="TextBox 7"/>
          <p:cNvSpPr txBox="1"/>
          <p:nvPr/>
        </p:nvSpPr>
        <p:spPr>
          <a:xfrm>
            <a:off x="10497312" y="6263640"/>
            <a:ext cx="768096" cy="182880"/>
          </a:xfrm>
          <a:prstGeom prst="rect">
            <a:avLst/>
          </a:prstGeom>
          <a:noFill/>
        </p:spPr>
        <p:txBody>
          <a:bodyPr wrap="square" lIns="45720" tIns="18288" rIns="45720" bIns="18288" anchor="t">
            <a:spAutoFit/>
          </a:bodyPr>
          <a:lstStyle/>
          <a:p>
            <a:pPr algn="r"/>
            <a:r>
              <a:rPr sz="850" b="1">
                <a:solidFill>
                  <a:srgbClr val="000962"/>
                </a:solidFill>
                <a:latin typeface="Arial"/>
              </a:rPr>
              <a:t>ELEVATE</a:t>
            </a:r>
          </a:p>
        </p:txBody>
      </p:sp>
      <p:sp>
        <p:nvSpPr>
          <p:cNvPr id="9" name="TextBox 8"/>
          <p:cNvSpPr txBox="1"/>
          <p:nvPr/>
        </p:nvSpPr>
        <p:spPr>
          <a:xfrm>
            <a:off x="11228832" y="6272784"/>
            <a:ext cx="384048" cy="164592"/>
          </a:xfrm>
          <a:prstGeom prst="rect">
            <a:avLst/>
          </a:prstGeom>
          <a:noFill/>
        </p:spPr>
        <p:txBody>
          <a:bodyPr wrap="square" lIns="45720" tIns="18288" rIns="45720" bIns="18288" anchor="t">
            <a:spAutoFit/>
          </a:bodyPr>
          <a:lstStyle/>
          <a:p>
            <a:pPr algn="l"/>
            <a:r>
              <a:rPr sz="580" b="0">
                <a:solidFill>
                  <a:srgbClr val="000962"/>
                </a:solidFill>
                <a:latin typeface="Arial"/>
              </a:rPr>
              <a:t>NEW ORG</a:t>
            </a:r>
          </a:p>
        </p:txBody>
      </p:sp>
      <p:sp>
        <p:nvSpPr>
          <p:cNvPr id="10" name="TextBox 9"/>
          <p:cNvSpPr txBox="1"/>
          <p:nvPr/>
        </p:nvSpPr>
        <p:spPr>
          <a:xfrm>
            <a:off x="658368" y="1965960"/>
            <a:ext cx="1000000" cy="237744"/>
          </a:xfrm>
          <a:prstGeom prst="rect">
            <a:avLst/>
          </a:prstGeom>
          <a:noFill/>
        </p:spPr>
        <p:txBody>
          <a:bodyPr wrap="square" lIns="45720" tIns="18288" rIns="45720" bIns="18288" anchor="t">
            <a:spAutoFit/>
          </a:bodyPr>
          <a:lstStyle/>
          <a:p>
            <a:pPr algn="l"/>
            <a:r>
              <a:rPr sz="950" b="1">
                <a:solidFill>
                  <a:srgbClr val="0468FF"/>
                </a:solidFill>
                <a:latin typeface="Arial"/>
              </a:rPr>
              <a:t>Date</a:t>
            </a:r>
          </a:p>
        </p:txBody>
      </p:sp>
      <p:sp>
        <p:nvSpPr>
          <p:cNvPr id="11" name="TextBox 10"/>
          <p:cNvSpPr txBox="1"/>
          <p:nvPr/>
        </p:nvSpPr>
        <p:spPr>
          <a:xfrm>
            <a:off x="1658368" y="1965960"/>
            <a:ext cx="2200000" cy="237744"/>
          </a:xfrm>
          <a:prstGeom prst="rect">
            <a:avLst/>
          </a:prstGeom>
          <a:noFill/>
        </p:spPr>
        <p:txBody>
          <a:bodyPr wrap="square" lIns="45720" tIns="18288" rIns="45720" bIns="18288" anchor="t">
            <a:spAutoFit/>
          </a:bodyPr>
          <a:lstStyle/>
          <a:p>
            <a:pPr algn="l"/>
            <a:r>
              <a:rPr sz="950" b="1">
                <a:solidFill>
                  <a:srgbClr val="0468FF"/>
                </a:solidFill>
                <a:latin typeface="Arial"/>
              </a:rPr>
              <a:t>Company</a:t>
            </a:r>
          </a:p>
        </p:txBody>
      </p:sp>
      <p:sp>
        <p:nvSpPr>
          <p:cNvPr id="12" name="TextBox 11"/>
          <p:cNvSpPr txBox="1"/>
          <p:nvPr/>
        </p:nvSpPr>
        <p:spPr>
          <a:xfrm>
            <a:off x="3858368" y="1965960"/>
            <a:ext cx="1750000" cy="237744"/>
          </a:xfrm>
          <a:prstGeom prst="rect">
            <a:avLst/>
          </a:prstGeom>
          <a:noFill/>
        </p:spPr>
        <p:txBody>
          <a:bodyPr wrap="square" lIns="45720" tIns="18288" rIns="45720" bIns="18288" anchor="t">
            <a:spAutoFit/>
          </a:bodyPr>
          <a:lstStyle/>
          <a:p>
            <a:pPr algn="l"/>
            <a:r>
              <a:rPr sz="950" b="1">
                <a:solidFill>
                  <a:srgbClr val="0468FF"/>
                </a:solidFill>
                <a:latin typeface="Arial"/>
              </a:rPr>
              <a:t>Consensus EPS</a:t>
            </a:r>
          </a:p>
        </p:txBody>
      </p:sp>
      <p:sp>
        <p:nvSpPr>
          <p:cNvPr id="13" name="TextBox 12"/>
          <p:cNvSpPr txBox="1"/>
          <p:nvPr/>
        </p:nvSpPr>
        <p:spPr>
          <a:xfrm>
            <a:off x="5608368" y="1965960"/>
            <a:ext cx="2300000" cy="237744"/>
          </a:xfrm>
          <a:prstGeom prst="rect">
            <a:avLst/>
          </a:prstGeom>
          <a:noFill/>
        </p:spPr>
        <p:txBody>
          <a:bodyPr wrap="square" lIns="45720" tIns="18288" rIns="45720" bIns="18288" anchor="t">
            <a:spAutoFit/>
          </a:bodyPr>
          <a:lstStyle/>
          <a:p>
            <a:pPr algn="l"/>
            <a:r>
              <a:rPr sz="950" b="1">
                <a:solidFill>
                  <a:srgbClr val="0468FF"/>
                </a:solidFill>
                <a:latin typeface="Arial"/>
              </a:rPr>
              <a:t>Revenue / prior</a:t>
            </a:r>
          </a:p>
        </p:txBody>
      </p:sp>
      <p:sp>
        <p:nvSpPr>
          <p:cNvPr id="14" name="TextBox 13"/>
          <p:cNvSpPr txBox="1"/>
          <p:nvPr/>
        </p:nvSpPr>
        <p:spPr>
          <a:xfrm>
            <a:off x="7908368" y="1965960"/>
            <a:ext cx="3539919" cy="237744"/>
          </a:xfrm>
          <a:prstGeom prst="rect">
            <a:avLst/>
          </a:prstGeom>
          <a:noFill/>
        </p:spPr>
        <p:txBody>
          <a:bodyPr wrap="square" lIns="45720" tIns="18288" rIns="45720" bIns="18288" anchor="t">
            <a:spAutoFit/>
          </a:bodyPr>
          <a:lstStyle/>
          <a:p>
            <a:pPr algn="l"/>
            <a:r>
              <a:rPr sz="950" b="1">
                <a:solidFill>
                  <a:srgbClr val="0468FF"/>
                </a:solidFill>
                <a:latin typeface="Arial"/>
              </a:rPr>
              <a:t>What to watch</a:t>
            </a:r>
          </a:p>
        </p:txBody>
      </p:sp>
      <p:sp>
        <p:nvSpPr>
          <p:cNvPr id="15" name="Rectangle 14"/>
          <p:cNvSpPr/>
          <p:nvPr/>
        </p:nvSpPr>
        <p:spPr>
          <a:xfrm>
            <a:off x="658368" y="2313432"/>
            <a:ext cx="10789919" cy="455000"/>
          </a:xfrm>
          <a:prstGeom prst="rect">
            <a:avLst/>
          </a:prstGeom>
          <a:solidFill>
            <a:srgbClr val="EB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4944" y="2350008"/>
            <a:ext cx="963424" cy="418424"/>
          </a:xfrm>
          <a:prstGeom prst="rect">
            <a:avLst/>
          </a:prstGeom>
          <a:noFill/>
        </p:spPr>
        <p:txBody>
          <a:bodyPr wrap="square" lIns="45720" tIns="18288" rIns="45720" bIns="18288" anchor="t">
            <a:spAutoFit/>
          </a:bodyPr>
          <a:lstStyle/>
          <a:p>
            <a:pPr algn="l"/>
            <a:r>
              <a:rPr sz="900" b="0">
                <a:solidFill>
                  <a:srgbClr val="000962"/>
                </a:solidFill>
                <a:latin typeface="Arial"/>
              </a:rPr>
              <a:t>Tue 8/18</a:t>
            </a:r>
          </a:p>
        </p:txBody>
      </p:sp>
      <p:sp>
        <p:nvSpPr>
          <p:cNvPr id="17" name="TextBox 16"/>
          <p:cNvSpPr txBox="1"/>
          <p:nvPr/>
        </p:nvSpPr>
        <p:spPr>
          <a:xfrm>
            <a:off x="1694944" y="2350008"/>
            <a:ext cx="2163424" cy="418424"/>
          </a:xfrm>
          <a:prstGeom prst="rect">
            <a:avLst/>
          </a:prstGeom>
          <a:noFill/>
        </p:spPr>
        <p:txBody>
          <a:bodyPr wrap="square" lIns="45720" tIns="18288" rIns="45720" bIns="18288" anchor="t">
            <a:spAutoFit/>
          </a:bodyPr>
          <a:lstStyle/>
          <a:p>
            <a:pPr algn="l"/>
            <a:r>
              <a:rPr sz="900" b="0">
                <a:solidFill>
                  <a:srgbClr val="000962"/>
                </a:solidFill>
                <a:latin typeface="Arial"/>
              </a:rPr>
              <a:t>Home Depot (HD) - before open</a:t>
            </a:r>
          </a:p>
        </p:txBody>
      </p:sp>
      <p:sp>
        <p:nvSpPr>
          <p:cNvPr id="18" name="TextBox 17"/>
          <p:cNvSpPr txBox="1"/>
          <p:nvPr/>
        </p:nvSpPr>
        <p:spPr>
          <a:xfrm>
            <a:off x="3894944" y="2350008"/>
            <a:ext cx="1713424" cy="418424"/>
          </a:xfrm>
          <a:prstGeom prst="rect">
            <a:avLst/>
          </a:prstGeom>
          <a:noFill/>
        </p:spPr>
        <p:txBody>
          <a:bodyPr wrap="square" lIns="45720" tIns="18288" rIns="45720" bIns="18288" anchor="t">
            <a:spAutoFit/>
          </a:bodyPr>
          <a:lstStyle/>
          <a:p>
            <a:pPr algn="l"/>
            <a:r>
              <a:rPr sz="900" b="0">
                <a:solidFill>
                  <a:srgbClr val="000962"/>
                </a:solidFill>
                <a:latin typeface="Arial"/>
              </a:rPr>
              <a:t>$4.73</a:t>
            </a:r>
          </a:p>
        </p:txBody>
      </p:sp>
      <p:sp>
        <p:nvSpPr>
          <p:cNvPr id="19" name="TextBox 18"/>
          <p:cNvSpPr txBox="1"/>
          <p:nvPr/>
        </p:nvSpPr>
        <p:spPr>
          <a:xfrm>
            <a:off x="5644944" y="2350008"/>
            <a:ext cx="2263424" cy="418424"/>
          </a:xfrm>
          <a:prstGeom prst="rect">
            <a:avLst/>
          </a:prstGeom>
          <a:noFill/>
        </p:spPr>
        <p:txBody>
          <a:bodyPr wrap="square" lIns="45720" tIns="18288" rIns="45720" bIns="18288" anchor="t">
            <a:spAutoFit/>
          </a:bodyPr>
          <a:lstStyle/>
          <a:p>
            <a:pPr algn="l"/>
            <a:r>
              <a:rPr sz="900" b="0">
                <a:solidFill>
                  <a:srgbClr val="000962"/>
                </a:solidFill>
                <a:latin typeface="Arial"/>
              </a:rPr>
              <a:t>$47.2B est., +4.2% y/y</a:t>
            </a:r>
          </a:p>
        </p:txBody>
      </p:sp>
      <p:sp>
        <p:nvSpPr>
          <p:cNvPr id="20" name="TextBox 19"/>
          <p:cNvSpPr txBox="1"/>
          <p:nvPr/>
        </p:nvSpPr>
        <p:spPr>
          <a:xfrm>
            <a:off x="7944944" y="2350008"/>
            <a:ext cx="3503343" cy="418424"/>
          </a:xfrm>
          <a:prstGeom prst="rect">
            <a:avLst/>
          </a:prstGeom>
          <a:noFill/>
        </p:spPr>
        <p:txBody>
          <a:bodyPr wrap="square" lIns="45720" tIns="18288" rIns="45720" bIns="18288" anchor="t">
            <a:spAutoFit/>
          </a:bodyPr>
          <a:lstStyle/>
          <a:p>
            <a:pPr algn="l"/>
            <a:r>
              <a:rPr sz="900" b="0">
                <a:solidFill>
                  <a:srgbClr val="000962"/>
                </a:solidFill>
                <a:latin typeface="Arial"/>
              </a:rPr>
              <a:t>Big-ticket demand with mortgage rates high.</a:t>
            </a:r>
          </a:p>
        </p:txBody>
      </p:sp>
      <p:sp>
        <p:nvSpPr>
          <p:cNvPr id="21" name="Rectangle 20"/>
          <p:cNvSpPr/>
          <p:nvPr/>
        </p:nvSpPr>
        <p:spPr>
          <a:xfrm>
            <a:off x="658368" y="2803432"/>
            <a:ext cx="10789919" cy="45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94944" y="2840008"/>
            <a:ext cx="963424" cy="418424"/>
          </a:xfrm>
          <a:prstGeom prst="rect">
            <a:avLst/>
          </a:prstGeom>
          <a:noFill/>
        </p:spPr>
        <p:txBody>
          <a:bodyPr wrap="square" lIns="45720" tIns="18288" rIns="45720" bIns="18288" anchor="t">
            <a:spAutoFit/>
          </a:bodyPr>
          <a:lstStyle/>
          <a:p>
            <a:pPr algn="l"/>
            <a:r>
              <a:rPr sz="900" b="0">
                <a:solidFill>
                  <a:srgbClr val="000962"/>
                </a:solidFill>
                <a:latin typeface="Arial"/>
              </a:rPr>
              <a:t>Wed 8/19</a:t>
            </a:r>
          </a:p>
        </p:txBody>
      </p:sp>
      <p:sp>
        <p:nvSpPr>
          <p:cNvPr id="23" name="TextBox 22"/>
          <p:cNvSpPr txBox="1"/>
          <p:nvPr/>
        </p:nvSpPr>
        <p:spPr>
          <a:xfrm>
            <a:off x="1694944" y="2840008"/>
            <a:ext cx="2163424" cy="418424"/>
          </a:xfrm>
          <a:prstGeom prst="rect">
            <a:avLst/>
          </a:prstGeom>
          <a:noFill/>
        </p:spPr>
        <p:txBody>
          <a:bodyPr wrap="square" lIns="45720" tIns="18288" rIns="45720" bIns="18288" anchor="t">
            <a:spAutoFit/>
          </a:bodyPr>
          <a:lstStyle/>
          <a:p>
            <a:pPr algn="l"/>
            <a:r>
              <a:rPr sz="900" b="0">
                <a:solidFill>
                  <a:srgbClr val="000962"/>
                </a:solidFill>
                <a:latin typeface="Arial"/>
              </a:rPr>
              <a:t>Lowe's (LOW), Target (TGT), TJX</a:t>
            </a:r>
          </a:p>
        </p:txBody>
      </p:sp>
      <p:sp>
        <p:nvSpPr>
          <p:cNvPr id="24" name="TextBox 23"/>
          <p:cNvSpPr txBox="1"/>
          <p:nvPr/>
        </p:nvSpPr>
        <p:spPr>
          <a:xfrm>
            <a:off x="3894944" y="2840008"/>
            <a:ext cx="1713424" cy="418424"/>
          </a:xfrm>
          <a:prstGeom prst="rect">
            <a:avLst/>
          </a:prstGeom>
          <a:noFill/>
        </p:spPr>
        <p:txBody>
          <a:bodyPr wrap="square" lIns="45720" tIns="18288" rIns="45720" bIns="18288" anchor="t">
            <a:spAutoFit/>
          </a:bodyPr>
          <a:lstStyle/>
          <a:p>
            <a:pPr algn="l"/>
            <a:r>
              <a:rPr sz="900" b="0">
                <a:solidFill>
                  <a:srgbClr val="000962"/>
                </a:solidFill>
                <a:latin typeface="Arial"/>
              </a:rPr>
              <a:t>$4.23 / $2.32 / $1.19</a:t>
            </a:r>
          </a:p>
        </p:txBody>
      </p:sp>
      <p:sp>
        <p:nvSpPr>
          <p:cNvPr id="25" name="TextBox 24"/>
          <p:cNvSpPr txBox="1"/>
          <p:nvPr/>
        </p:nvSpPr>
        <p:spPr>
          <a:xfrm>
            <a:off x="5644944" y="2840008"/>
            <a:ext cx="2263424" cy="418424"/>
          </a:xfrm>
          <a:prstGeom prst="rect">
            <a:avLst/>
          </a:prstGeom>
          <a:noFill/>
        </p:spPr>
        <p:txBody>
          <a:bodyPr wrap="square" lIns="45720" tIns="18288" rIns="45720" bIns="18288" anchor="t">
            <a:spAutoFit/>
          </a:bodyPr>
          <a:lstStyle/>
          <a:p>
            <a:pPr algn="l"/>
            <a:r>
              <a:rPr sz="900" b="0">
                <a:solidFill>
                  <a:srgbClr val="000962"/>
                </a:solidFill>
                <a:latin typeface="Arial"/>
              </a:rPr>
              <a:t>TGT sales est. $26.1B, +3.6%</a:t>
            </a:r>
          </a:p>
        </p:txBody>
      </p:sp>
      <p:sp>
        <p:nvSpPr>
          <p:cNvPr id="26" name="TextBox 25"/>
          <p:cNvSpPr txBox="1"/>
          <p:nvPr/>
        </p:nvSpPr>
        <p:spPr>
          <a:xfrm>
            <a:off x="7944944" y="2840008"/>
            <a:ext cx="3503343" cy="418424"/>
          </a:xfrm>
          <a:prstGeom prst="rect">
            <a:avLst/>
          </a:prstGeom>
          <a:noFill/>
        </p:spPr>
        <p:txBody>
          <a:bodyPr wrap="square" lIns="45720" tIns="18288" rIns="45720" bIns="18288" anchor="t">
            <a:spAutoFit/>
          </a:bodyPr>
          <a:lstStyle/>
          <a:p>
            <a:pPr algn="l"/>
            <a:r>
              <a:rPr sz="900" b="0">
                <a:solidFill>
                  <a:srgbClr val="000962"/>
                </a:solidFill>
                <a:latin typeface="Arial"/>
              </a:rPr>
              <a:t>Discretionary vs. off-price share shift.</a:t>
            </a:r>
          </a:p>
        </p:txBody>
      </p:sp>
      <p:sp>
        <p:nvSpPr>
          <p:cNvPr id="27" name="Rectangle 26"/>
          <p:cNvSpPr/>
          <p:nvPr/>
        </p:nvSpPr>
        <p:spPr>
          <a:xfrm>
            <a:off x="658368" y="3293432"/>
            <a:ext cx="10789919" cy="455000"/>
          </a:xfrm>
          <a:prstGeom prst="rect">
            <a:avLst/>
          </a:prstGeom>
          <a:solidFill>
            <a:srgbClr val="EB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94944" y="3330008"/>
            <a:ext cx="963424" cy="418424"/>
          </a:xfrm>
          <a:prstGeom prst="rect">
            <a:avLst/>
          </a:prstGeom>
          <a:noFill/>
        </p:spPr>
        <p:txBody>
          <a:bodyPr wrap="square" lIns="45720" tIns="18288" rIns="45720" bIns="18288" anchor="t">
            <a:spAutoFit/>
          </a:bodyPr>
          <a:lstStyle/>
          <a:p>
            <a:pPr algn="l"/>
            <a:r>
              <a:rPr sz="900" b="0">
                <a:solidFill>
                  <a:srgbClr val="000962"/>
                </a:solidFill>
                <a:latin typeface="Arial"/>
              </a:rPr>
              <a:t>Wed 8/19</a:t>
            </a:r>
          </a:p>
        </p:txBody>
      </p:sp>
      <p:sp>
        <p:nvSpPr>
          <p:cNvPr id="29" name="TextBox 28"/>
          <p:cNvSpPr txBox="1"/>
          <p:nvPr/>
        </p:nvSpPr>
        <p:spPr>
          <a:xfrm>
            <a:off x="1694944" y="3330008"/>
            <a:ext cx="2163424" cy="418424"/>
          </a:xfrm>
          <a:prstGeom prst="rect">
            <a:avLst/>
          </a:prstGeom>
          <a:noFill/>
        </p:spPr>
        <p:txBody>
          <a:bodyPr wrap="square" lIns="45720" tIns="18288" rIns="45720" bIns="18288" anchor="t">
            <a:spAutoFit/>
          </a:bodyPr>
          <a:lstStyle/>
          <a:p>
            <a:pPr algn="l"/>
            <a:r>
              <a:rPr sz="900" b="0">
                <a:solidFill>
                  <a:srgbClr val="000962"/>
                </a:solidFill>
                <a:latin typeface="Arial"/>
              </a:rPr>
              <a:t>Analog Devices (ADI), Estee Lauder (EL)</a:t>
            </a:r>
          </a:p>
        </p:txBody>
      </p:sp>
      <p:sp>
        <p:nvSpPr>
          <p:cNvPr id="30" name="TextBox 29"/>
          <p:cNvSpPr txBox="1"/>
          <p:nvPr/>
        </p:nvSpPr>
        <p:spPr>
          <a:xfrm>
            <a:off x="3894944" y="3330008"/>
            <a:ext cx="1713424" cy="418424"/>
          </a:xfrm>
          <a:prstGeom prst="rect">
            <a:avLst/>
          </a:prstGeom>
          <a:noFill/>
        </p:spPr>
        <p:txBody>
          <a:bodyPr wrap="square" lIns="45720" tIns="18288" rIns="45720" bIns="18288" anchor="t">
            <a:spAutoFit/>
          </a:bodyPr>
          <a:lstStyle/>
          <a:p>
            <a:pPr algn="l"/>
            <a:r>
              <a:rPr sz="900" b="0">
                <a:solidFill>
                  <a:srgbClr val="000962"/>
                </a:solidFill>
                <a:latin typeface="Arial"/>
              </a:rPr>
              <a:t>$3.34 / $0.32</a:t>
            </a:r>
          </a:p>
        </p:txBody>
      </p:sp>
      <p:sp>
        <p:nvSpPr>
          <p:cNvPr id="31" name="TextBox 30"/>
          <p:cNvSpPr txBox="1"/>
          <p:nvPr/>
        </p:nvSpPr>
        <p:spPr>
          <a:xfrm>
            <a:off x="5644944" y="3330008"/>
            <a:ext cx="2263424" cy="418424"/>
          </a:xfrm>
          <a:prstGeom prst="rect">
            <a:avLst/>
          </a:prstGeom>
          <a:noFill/>
        </p:spPr>
        <p:txBody>
          <a:bodyPr wrap="square" lIns="45720" tIns="18288" rIns="45720" bIns="18288" anchor="t">
            <a:spAutoFit/>
          </a:bodyPr>
          <a:lstStyle/>
          <a:p>
            <a:pPr algn="l"/>
            <a:r>
              <a:rPr sz="900" b="0">
                <a:solidFill>
                  <a:srgbClr val="000962"/>
                </a:solidFill>
                <a:latin typeface="Arial"/>
              </a:rPr>
              <a:t>Semis and global beauty</a:t>
            </a:r>
          </a:p>
        </p:txBody>
      </p:sp>
      <p:sp>
        <p:nvSpPr>
          <p:cNvPr id="32" name="TextBox 31"/>
          <p:cNvSpPr txBox="1"/>
          <p:nvPr/>
        </p:nvSpPr>
        <p:spPr>
          <a:xfrm>
            <a:off x="7944944" y="3330008"/>
            <a:ext cx="3503343" cy="418424"/>
          </a:xfrm>
          <a:prstGeom prst="rect">
            <a:avLst/>
          </a:prstGeom>
          <a:noFill/>
        </p:spPr>
        <p:txBody>
          <a:bodyPr wrap="square" lIns="45720" tIns="18288" rIns="45720" bIns="18288" anchor="t">
            <a:spAutoFit/>
          </a:bodyPr>
          <a:lstStyle/>
          <a:p>
            <a:pPr algn="l"/>
            <a:r>
              <a:rPr sz="900" b="0">
                <a:solidFill>
                  <a:srgbClr val="000962"/>
                </a:solidFill>
                <a:latin typeface="Arial"/>
              </a:rPr>
              <a:t>Chip demand breadth; China consumer.</a:t>
            </a:r>
          </a:p>
        </p:txBody>
      </p:sp>
      <p:sp>
        <p:nvSpPr>
          <p:cNvPr id="33" name="Rectangle 32"/>
          <p:cNvSpPr/>
          <p:nvPr/>
        </p:nvSpPr>
        <p:spPr>
          <a:xfrm>
            <a:off x="658368" y="3783432"/>
            <a:ext cx="10789919" cy="45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94944" y="3820008"/>
            <a:ext cx="963424" cy="418424"/>
          </a:xfrm>
          <a:prstGeom prst="rect">
            <a:avLst/>
          </a:prstGeom>
          <a:noFill/>
        </p:spPr>
        <p:txBody>
          <a:bodyPr wrap="square" lIns="45720" tIns="18288" rIns="45720" bIns="18288" anchor="t">
            <a:spAutoFit/>
          </a:bodyPr>
          <a:lstStyle/>
          <a:p>
            <a:pPr algn="l"/>
            <a:r>
              <a:rPr sz="900" b="0">
                <a:solidFill>
                  <a:srgbClr val="000962"/>
                </a:solidFill>
                <a:latin typeface="Arial"/>
              </a:rPr>
              <a:t>Thu 8/20</a:t>
            </a:r>
          </a:p>
        </p:txBody>
      </p:sp>
      <p:sp>
        <p:nvSpPr>
          <p:cNvPr id="35" name="TextBox 34"/>
          <p:cNvSpPr txBox="1"/>
          <p:nvPr/>
        </p:nvSpPr>
        <p:spPr>
          <a:xfrm>
            <a:off x="1694944" y="3820008"/>
            <a:ext cx="2163424" cy="418424"/>
          </a:xfrm>
          <a:prstGeom prst="rect">
            <a:avLst/>
          </a:prstGeom>
          <a:noFill/>
        </p:spPr>
        <p:txBody>
          <a:bodyPr wrap="square" lIns="45720" tIns="18288" rIns="45720" bIns="18288" anchor="t">
            <a:spAutoFit/>
          </a:bodyPr>
          <a:lstStyle/>
          <a:p>
            <a:pPr algn="l"/>
            <a:r>
              <a:rPr sz="900" b="0">
                <a:solidFill>
                  <a:srgbClr val="000962"/>
                </a:solidFill>
                <a:latin typeface="Arial"/>
              </a:rPr>
              <a:t>Walmart (WMT) - before open</a:t>
            </a:r>
          </a:p>
        </p:txBody>
      </p:sp>
      <p:sp>
        <p:nvSpPr>
          <p:cNvPr id="36" name="TextBox 35"/>
          <p:cNvSpPr txBox="1"/>
          <p:nvPr/>
        </p:nvSpPr>
        <p:spPr>
          <a:xfrm>
            <a:off x="3894944" y="3820008"/>
            <a:ext cx="1713424" cy="418424"/>
          </a:xfrm>
          <a:prstGeom prst="rect">
            <a:avLst/>
          </a:prstGeom>
          <a:noFill/>
        </p:spPr>
        <p:txBody>
          <a:bodyPr wrap="square" lIns="45720" tIns="18288" rIns="45720" bIns="18288" anchor="t">
            <a:spAutoFit/>
          </a:bodyPr>
          <a:lstStyle/>
          <a:p>
            <a:pPr algn="l"/>
            <a:r>
              <a:rPr sz="900" b="0">
                <a:solidFill>
                  <a:srgbClr val="000962"/>
                </a:solidFill>
                <a:latin typeface="Arial"/>
              </a:rPr>
              <a:t>$0.74 (+8.8% y/y)</a:t>
            </a:r>
          </a:p>
        </p:txBody>
      </p:sp>
      <p:sp>
        <p:nvSpPr>
          <p:cNvPr id="37" name="TextBox 36"/>
          <p:cNvSpPr txBox="1"/>
          <p:nvPr/>
        </p:nvSpPr>
        <p:spPr>
          <a:xfrm>
            <a:off x="5644944" y="3820008"/>
            <a:ext cx="2263424" cy="418424"/>
          </a:xfrm>
          <a:prstGeom prst="rect">
            <a:avLst/>
          </a:prstGeom>
          <a:noFill/>
        </p:spPr>
        <p:txBody>
          <a:bodyPr wrap="square" lIns="45720" tIns="18288" rIns="45720" bIns="18288" anchor="t">
            <a:spAutoFit/>
          </a:bodyPr>
          <a:lstStyle/>
          <a:p>
            <a:pPr algn="l"/>
            <a:r>
              <a:rPr sz="900" b="0">
                <a:solidFill>
                  <a:srgbClr val="000962"/>
                </a:solidFill>
                <a:latin typeface="Arial"/>
              </a:rPr>
              <a:t>$186.9B est., +6.3% y/y</a:t>
            </a:r>
          </a:p>
        </p:txBody>
      </p:sp>
      <p:sp>
        <p:nvSpPr>
          <p:cNvPr id="38" name="TextBox 37"/>
          <p:cNvSpPr txBox="1"/>
          <p:nvPr/>
        </p:nvSpPr>
        <p:spPr>
          <a:xfrm>
            <a:off x="7944944" y="3820008"/>
            <a:ext cx="3503343" cy="418424"/>
          </a:xfrm>
          <a:prstGeom prst="rect">
            <a:avLst/>
          </a:prstGeom>
          <a:noFill/>
        </p:spPr>
        <p:txBody>
          <a:bodyPr wrap="square" lIns="45720" tIns="18288" rIns="45720" bIns="18288" anchor="t">
            <a:spAutoFit/>
          </a:bodyPr>
          <a:lstStyle/>
          <a:p>
            <a:pPr algn="l"/>
            <a:r>
              <a:rPr sz="900" b="0">
                <a:solidFill>
                  <a:srgbClr val="000962"/>
                </a:solidFill>
                <a:latin typeface="Arial"/>
              </a:rPr>
              <a:t>The single best read on the U.S. consumer.</a:t>
            </a:r>
          </a:p>
        </p:txBody>
      </p:sp>
      <p:sp>
        <p:nvSpPr>
          <p:cNvPr id="39" name="Rectangle 38"/>
          <p:cNvSpPr/>
          <p:nvPr/>
        </p:nvSpPr>
        <p:spPr>
          <a:xfrm>
            <a:off x="658368" y="4273432"/>
            <a:ext cx="10789919" cy="455000"/>
          </a:xfrm>
          <a:prstGeom prst="rect">
            <a:avLst/>
          </a:prstGeom>
          <a:solidFill>
            <a:srgbClr val="EB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94944" y="4310008"/>
            <a:ext cx="963424" cy="418424"/>
          </a:xfrm>
          <a:prstGeom prst="rect">
            <a:avLst/>
          </a:prstGeom>
          <a:noFill/>
        </p:spPr>
        <p:txBody>
          <a:bodyPr wrap="square" lIns="45720" tIns="18288" rIns="45720" bIns="18288" anchor="t">
            <a:spAutoFit/>
          </a:bodyPr>
          <a:lstStyle/>
          <a:p>
            <a:pPr algn="l"/>
            <a:r>
              <a:rPr sz="900" b="0">
                <a:solidFill>
                  <a:srgbClr val="000962"/>
                </a:solidFill>
                <a:latin typeface="Arial"/>
              </a:rPr>
              <a:t>Thu 8/20</a:t>
            </a:r>
          </a:p>
        </p:txBody>
      </p:sp>
      <p:sp>
        <p:nvSpPr>
          <p:cNvPr id="41" name="TextBox 40"/>
          <p:cNvSpPr txBox="1"/>
          <p:nvPr/>
        </p:nvSpPr>
        <p:spPr>
          <a:xfrm>
            <a:off x="1694944" y="4310008"/>
            <a:ext cx="2163424" cy="418424"/>
          </a:xfrm>
          <a:prstGeom prst="rect">
            <a:avLst/>
          </a:prstGeom>
          <a:noFill/>
        </p:spPr>
        <p:txBody>
          <a:bodyPr wrap="square" lIns="45720" tIns="18288" rIns="45720" bIns="18288" anchor="t">
            <a:spAutoFit/>
          </a:bodyPr>
          <a:lstStyle/>
          <a:p>
            <a:pPr algn="l"/>
            <a:r>
              <a:rPr sz="900" b="0">
                <a:solidFill>
                  <a:srgbClr val="000962"/>
                </a:solidFill>
                <a:latin typeface="Arial"/>
              </a:rPr>
              <a:t>Deere (DE), Ross Stores (ROST)</a:t>
            </a:r>
          </a:p>
        </p:txBody>
      </p:sp>
      <p:sp>
        <p:nvSpPr>
          <p:cNvPr id="42" name="TextBox 41"/>
          <p:cNvSpPr txBox="1"/>
          <p:nvPr/>
        </p:nvSpPr>
        <p:spPr>
          <a:xfrm>
            <a:off x="3894944" y="4310008"/>
            <a:ext cx="1713424" cy="418424"/>
          </a:xfrm>
          <a:prstGeom prst="rect">
            <a:avLst/>
          </a:prstGeom>
          <a:noFill/>
        </p:spPr>
        <p:txBody>
          <a:bodyPr wrap="square" lIns="45720" tIns="18288" rIns="45720" bIns="18288" anchor="t">
            <a:spAutoFit/>
          </a:bodyPr>
          <a:lstStyle/>
          <a:p>
            <a:pPr algn="l"/>
            <a:r>
              <a:rPr sz="900" b="0">
                <a:solidFill>
                  <a:srgbClr val="000962"/>
                </a:solidFill>
                <a:latin typeface="Arial"/>
              </a:rPr>
              <a:t>$4.69 / $1.94</a:t>
            </a:r>
          </a:p>
        </p:txBody>
      </p:sp>
      <p:sp>
        <p:nvSpPr>
          <p:cNvPr id="43" name="TextBox 42"/>
          <p:cNvSpPr txBox="1"/>
          <p:nvPr/>
        </p:nvSpPr>
        <p:spPr>
          <a:xfrm>
            <a:off x="5644944" y="4310008"/>
            <a:ext cx="2263424" cy="418424"/>
          </a:xfrm>
          <a:prstGeom prst="rect">
            <a:avLst/>
          </a:prstGeom>
          <a:noFill/>
        </p:spPr>
        <p:txBody>
          <a:bodyPr wrap="square" lIns="45720" tIns="18288" rIns="45720" bIns="18288" anchor="t">
            <a:spAutoFit/>
          </a:bodyPr>
          <a:lstStyle/>
          <a:p>
            <a:pPr algn="l"/>
            <a:r>
              <a:rPr sz="900" b="0">
                <a:solidFill>
                  <a:srgbClr val="000962"/>
                </a:solidFill>
                <a:latin typeface="Arial"/>
              </a:rPr>
              <a:t>Ag equipment and off-price</a:t>
            </a:r>
          </a:p>
        </p:txBody>
      </p:sp>
      <p:sp>
        <p:nvSpPr>
          <p:cNvPr id="44" name="TextBox 43"/>
          <p:cNvSpPr txBox="1"/>
          <p:nvPr/>
        </p:nvSpPr>
        <p:spPr>
          <a:xfrm>
            <a:off x="7944944" y="4310008"/>
            <a:ext cx="3503343" cy="418424"/>
          </a:xfrm>
          <a:prstGeom prst="rect">
            <a:avLst/>
          </a:prstGeom>
          <a:noFill/>
        </p:spPr>
        <p:txBody>
          <a:bodyPr wrap="square" lIns="45720" tIns="18288" rIns="45720" bIns="18288" anchor="t">
            <a:spAutoFit/>
          </a:bodyPr>
          <a:lstStyle/>
          <a:p>
            <a:pPr algn="l"/>
            <a:r>
              <a:rPr sz="900" b="0">
                <a:solidFill>
                  <a:srgbClr val="000962"/>
                </a:solidFill>
                <a:latin typeface="Arial"/>
              </a:rPr>
              <a:t>Farm economy; trade-down behavior.</a:t>
            </a:r>
          </a:p>
        </p:txBody>
      </p:sp>
      <p:sp>
        <p:nvSpPr>
          <p:cNvPr id="45" name="Rectangle 44"/>
          <p:cNvSpPr/>
          <p:nvPr/>
        </p:nvSpPr>
        <p:spPr>
          <a:xfrm>
            <a:off x="658368" y="4763432"/>
            <a:ext cx="10789919" cy="45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94944" y="4800008"/>
            <a:ext cx="963424" cy="418424"/>
          </a:xfrm>
          <a:prstGeom prst="rect">
            <a:avLst/>
          </a:prstGeom>
          <a:noFill/>
        </p:spPr>
        <p:txBody>
          <a:bodyPr wrap="square" lIns="45720" tIns="18288" rIns="45720" bIns="18288" anchor="t">
            <a:spAutoFit/>
          </a:bodyPr>
          <a:lstStyle/>
          <a:p>
            <a:pPr algn="l"/>
            <a:r>
              <a:rPr sz="900" b="0">
                <a:solidFill>
                  <a:srgbClr val="000962"/>
                </a:solidFill>
                <a:latin typeface="Arial"/>
              </a:rPr>
              <a:t>Fri 8/21</a:t>
            </a:r>
          </a:p>
        </p:txBody>
      </p:sp>
      <p:sp>
        <p:nvSpPr>
          <p:cNvPr id="47" name="TextBox 46"/>
          <p:cNvSpPr txBox="1"/>
          <p:nvPr/>
        </p:nvSpPr>
        <p:spPr>
          <a:xfrm>
            <a:off x="1694944" y="4800008"/>
            <a:ext cx="2163424" cy="418424"/>
          </a:xfrm>
          <a:prstGeom prst="rect">
            <a:avLst/>
          </a:prstGeom>
          <a:noFill/>
        </p:spPr>
        <p:txBody>
          <a:bodyPr wrap="square" lIns="45720" tIns="18288" rIns="45720" bIns="18288" anchor="t">
            <a:spAutoFit/>
          </a:bodyPr>
          <a:lstStyle/>
          <a:p>
            <a:pPr algn="l"/>
            <a:r>
              <a:rPr sz="900" b="0">
                <a:solidFill>
                  <a:srgbClr val="000962"/>
                </a:solidFill>
                <a:latin typeface="Arial"/>
              </a:rPr>
              <a:t>BJ's Wholesale (BJ)</a:t>
            </a:r>
          </a:p>
        </p:txBody>
      </p:sp>
      <p:sp>
        <p:nvSpPr>
          <p:cNvPr id="48" name="TextBox 47"/>
          <p:cNvSpPr txBox="1"/>
          <p:nvPr/>
        </p:nvSpPr>
        <p:spPr>
          <a:xfrm>
            <a:off x="3894944" y="4800008"/>
            <a:ext cx="1713424" cy="418424"/>
          </a:xfrm>
          <a:prstGeom prst="rect">
            <a:avLst/>
          </a:prstGeom>
          <a:noFill/>
        </p:spPr>
        <p:txBody>
          <a:bodyPr wrap="square" lIns="45720" tIns="18288" rIns="45720" bIns="18288" anchor="t">
            <a:spAutoFit/>
          </a:bodyPr>
          <a:lstStyle/>
          <a:p>
            <a:pPr algn="l"/>
            <a:r>
              <a:rPr sz="900" b="0">
                <a:solidFill>
                  <a:srgbClr val="000962"/>
                </a:solidFill>
                <a:latin typeface="Arial"/>
              </a:rPr>
              <a:t>$1.17</a:t>
            </a:r>
          </a:p>
        </p:txBody>
      </p:sp>
      <p:sp>
        <p:nvSpPr>
          <p:cNvPr id="49" name="TextBox 48"/>
          <p:cNvSpPr txBox="1"/>
          <p:nvPr/>
        </p:nvSpPr>
        <p:spPr>
          <a:xfrm>
            <a:off x="5644944" y="4800008"/>
            <a:ext cx="2263424" cy="418424"/>
          </a:xfrm>
          <a:prstGeom prst="rect">
            <a:avLst/>
          </a:prstGeom>
          <a:noFill/>
        </p:spPr>
        <p:txBody>
          <a:bodyPr wrap="square" lIns="45720" tIns="18288" rIns="45720" bIns="18288" anchor="t">
            <a:spAutoFit/>
          </a:bodyPr>
          <a:lstStyle/>
          <a:p>
            <a:pPr algn="l"/>
            <a:r>
              <a:rPr sz="900" b="0">
                <a:solidFill>
                  <a:srgbClr val="000962"/>
                </a:solidFill>
                <a:latin typeface="Arial"/>
              </a:rPr>
              <a:t>Warehouse club</a:t>
            </a:r>
          </a:p>
        </p:txBody>
      </p:sp>
      <p:sp>
        <p:nvSpPr>
          <p:cNvPr id="50" name="TextBox 49"/>
          <p:cNvSpPr txBox="1"/>
          <p:nvPr/>
        </p:nvSpPr>
        <p:spPr>
          <a:xfrm>
            <a:off x="7944944" y="4800008"/>
            <a:ext cx="3503343" cy="418424"/>
          </a:xfrm>
          <a:prstGeom prst="rect">
            <a:avLst/>
          </a:prstGeom>
          <a:noFill/>
        </p:spPr>
        <p:txBody>
          <a:bodyPr wrap="square" lIns="45720" tIns="18288" rIns="45720" bIns="18288" anchor="t">
            <a:spAutoFit/>
          </a:bodyPr>
          <a:lstStyle/>
          <a:p>
            <a:pPr algn="l"/>
            <a:r>
              <a:rPr sz="900" b="0">
                <a:solidFill>
                  <a:srgbClr val="000962"/>
                </a:solidFill>
                <a:latin typeface="Arial"/>
              </a:rPr>
              <a:t>Membership renewal and food inflation.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695"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695"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621792"/>
            <a:ext cx="10881360" cy="530352"/>
          </a:xfrm>
          <a:prstGeom prst="rect">
            <a:avLst/>
          </a:prstGeom>
          <a:noFill/>
        </p:spPr>
        <p:txBody>
          <a:bodyPr wrap="square" lIns="45720" tIns="18288" rIns="45720" bIns="18288" anchor="t">
            <a:spAutoFit/>
          </a:bodyPr>
          <a:lstStyle/>
          <a:p>
            <a:pPr algn="l"/>
            <a:r>
              <a:rPr sz="3200" b="1">
                <a:solidFill>
                  <a:srgbClr val="0468FF"/>
                </a:solidFill>
                <a:latin typeface="Arial"/>
              </a:rPr>
              <a:t>Fed, Rates &amp; Macro Watch</a:t>
            </a:r>
          </a:p>
        </p:txBody>
      </p:sp>
      <p:sp>
        <p:nvSpPr>
          <p:cNvPr id="6" name="TextBox 5"/>
          <p:cNvSpPr txBox="1"/>
          <p:nvPr/>
        </p:nvSpPr>
        <p:spPr>
          <a:xfrm>
            <a:off x="713232" y="1353312"/>
            <a:ext cx="10881360" cy="310896"/>
          </a:xfrm>
          <a:prstGeom prst="rect">
            <a:avLst/>
          </a:prstGeom>
          <a:noFill/>
        </p:spPr>
        <p:txBody>
          <a:bodyPr wrap="square" lIns="45720" tIns="18288" rIns="45720" bIns="18288" anchor="t">
            <a:spAutoFit/>
          </a:bodyPr>
          <a:lstStyle/>
          <a:p>
            <a:pPr algn="l"/>
            <a:r>
              <a:rPr sz="1600" b="0">
                <a:solidFill>
                  <a:srgbClr val="000962"/>
                </a:solidFill>
                <a:latin typeface="Arial"/>
              </a:rPr>
              <a:t>A Fed that was leaning toward hiking just got softer data.</a:t>
            </a:r>
          </a:p>
        </p:txBody>
      </p:sp>
      <p:sp>
        <p:nvSpPr>
          <p:cNvPr id="7" name="TextBox 6"/>
          <p:cNvSpPr txBox="1"/>
          <p:nvPr/>
        </p:nvSpPr>
        <p:spPr>
          <a:xfrm>
            <a:off x="521207" y="6327648"/>
            <a:ext cx="5394960" cy="146304"/>
          </a:xfrm>
          <a:prstGeom prst="rect">
            <a:avLst/>
          </a:prstGeom>
          <a:noFill/>
        </p:spPr>
        <p:txBody>
          <a:bodyPr wrap="square" lIns="45720" tIns="18288" rIns="45720" bIns="18288" anchor="t">
            <a:spAutoFit/>
          </a:bodyPr>
          <a:lstStyle/>
          <a:p>
            <a:pPr algn="l"/>
            <a:r>
              <a:rPr sz="550" b="0">
                <a:solidFill>
                  <a:srgbClr val="46648C"/>
                </a:solidFill>
                <a:latin typeface="Arial"/>
              </a:rPr>
              <a:t>Internal use only. For agent use only. Not for use with the public.</a:t>
            </a:r>
          </a:p>
        </p:txBody>
      </p:sp>
      <p:sp>
        <p:nvSpPr>
          <p:cNvPr id="8" name="TextBox 7"/>
          <p:cNvSpPr txBox="1"/>
          <p:nvPr/>
        </p:nvSpPr>
        <p:spPr>
          <a:xfrm>
            <a:off x="10497312" y="6263640"/>
            <a:ext cx="768096" cy="182880"/>
          </a:xfrm>
          <a:prstGeom prst="rect">
            <a:avLst/>
          </a:prstGeom>
          <a:noFill/>
        </p:spPr>
        <p:txBody>
          <a:bodyPr wrap="square" lIns="45720" tIns="18288" rIns="45720" bIns="18288" anchor="t">
            <a:spAutoFit/>
          </a:bodyPr>
          <a:lstStyle/>
          <a:p>
            <a:pPr algn="r"/>
            <a:r>
              <a:rPr sz="850" b="1">
                <a:solidFill>
                  <a:srgbClr val="000962"/>
                </a:solidFill>
                <a:latin typeface="Arial"/>
              </a:rPr>
              <a:t>ELEVATE</a:t>
            </a:r>
          </a:p>
        </p:txBody>
      </p:sp>
      <p:sp>
        <p:nvSpPr>
          <p:cNvPr id="9" name="TextBox 8"/>
          <p:cNvSpPr txBox="1"/>
          <p:nvPr/>
        </p:nvSpPr>
        <p:spPr>
          <a:xfrm>
            <a:off x="11228832" y="6272784"/>
            <a:ext cx="384048" cy="164592"/>
          </a:xfrm>
          <a:prstGeom prst="rect">
            <a:avLst/>
          </a:prstGeom>
          <a:noFill/>
        </p:spPr>
        <p:txBody>
          <a:bodyPr wrap="square" lIns="45720" tIns="18288" rIns="45720" bIns="18288" anchor="t">
            <a:spAutoFit/>
          </a:bodyPr>
          <a:lstStyle/>
          <a:p>
            <a:pPr algn="l"/>
            <a:r>
              <a:rPr sz="580" b="0">
                <a:solidFill>
                  <a:srgbClr val="000962"/>
                </a:solidFill>
                <a:latin typeface="Arial"/>
              </a:rPr>
              <a:t>NEW ORG</a:t>
            </a:r>
          </a:p>
        </p:txBody>
      </p:sp>
      <p:sp>
        <p:nvSpPr>
          <p:cNvPr id="10" name="TextBox 9"/>
          <p:cNvSpPr txBox="1"/>
          <p:nvPr/>
        </p:nvSpPr>
        <p:spPr>
          <a:xfrm>
            <a:off x="868680" y="2057400"/>
            <a:ext cx="6812280" cy="3520440"/>
          </a:xfrm>
          <a:prstGeom prst="rect">
            <a:avLst/>
          </a:prstGeom>
          <a:noFill/>
        </p:spPr>
        <p:txBody>
          <a:bodyPr wrap="square" lIns="45720" tIns="18288" rIns="45720" bIns="18288" anchor="t">
            <a:spAutoFit/>
          </a:bodyPr>
          <a:lstStyle/>
          <a:p>
            <a:pPr algn="l">
              <a:spcAft>
                <a:spcPts val="700"/>
              </a:spcAft>
            </a:pPr>
            <a:r>
              <a:rPr sz="1450" b="0">
                <a:solidFill>
                  <a:srgbClr val="000962"/>
                </a:solidFill>
                <a:latin typeface="Arial"/>
              </a:rPr>
              <a:t>The FOMC held the federal funds rate at 3.50%-3.75% on July 29 in a split decision. Three officials dissented in favor of a rate hike.</a:t>
            </a:r>
          </a:p>
          <a:p>
            <a:pPr algn="l">
              <a:spcAft>
                <a:spcPts val="700"/>
              </a:spcAft>
            </a:pPr>
            <a:r>
              <a:rPr sz="1450" b="0">
                <a:solidFill>
                  <a:srgbClr val="000962"/>
                </a:solidFill>
                <a:latin typeface="Arial"/>
              </a:rPr>
              <a:t>The statement described activity expanding at a solid pace with strong productivity and capital investment, but called inflation elevated.</a:t>
            </a:r>
          </a:p>
          <a:p>
            <a:pPr algn="l">
              <a:spcAft>
                <a:spcPts val="700"/>
              </a:spcAft>
            </a:pPr>
            <a:r>
              <a:rPr sz="1450" b="0">
                <a:solidFill>
                  <a:srgbClr val="000962"/>
                </a:solidFill>
                <a:latin typeface="Arial"/>
              </a:rPr>
              <a:t>Softer July CPI, PPI and a weak jobs report have since pulled September rate-hike expectations back down.</a:t>
            </a:r>
          </a:p>
          <a:p>
            <a:pPr algn="l">
              <a:spcAft>
                <a:spcPts val="700"/>
              </a:spcAft>
            </a:pPr>
            <a:r>
              <a:rPr sz="1450" b="0">
                <a:solidFill>
                  <a:srgbClr val="000962"/>
                </a:solidFill>
                <a:latin typeface="Arial"/>
              </a:rPr>
              <a:t>Wednesday's minutes are the last scheduled Fed communication before Chair Warsh's Jackson Hole keynote on August 27-29.</a:t>
            </a:r>
          </a:p>
          <a:p>
            <a:pPr algn="l">
              <a:spcAft>
                <a:spcPts val="700"/>
              </a:spcAft>
            </a:pPr>
            <a:r>
              <a:rPr sz="1450" b="0">
                <a:solidFill>
                  <a:srgbClr val="000962"/>
                </a:solidFill>
                <a:latin typeface="Arial"/>
              </a:rPr>
              <a:t>No FOMC meeting until September 15-16. The 10-year at 4.68% and 2-year at 4.17% leave the curve modestly positive.</a:t>
            </a:r>
          </a:p>
        </p:txBody>
      </p:sp>
      <p:sp>
        <p:nvSpPr>
          <p:cNvPr id="11" name="Rectangle 10"/>
          <p:cNvSpPr/>
          <p:nvPr/>
        </p:nvSpPr>
        <p:spPr>
          <a:xfrm>
            <a:off x="8001000" y="2029968"/>
            <a:ext cx="2926080" cy="2606040"/>
          </a:xfrm>
          <a:prstGeom prst="rect">
            <a:avLst/>
          </a:prstGeom>
          <a:solidFill>
            <a:srgbClr val="EB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0" y="2267712"/>
            <a:ext cx="2468880" cy="256032"/>
          </a:xfrm>
          <a:prstGeom prst="rect">
            <a:avLst/>
          </a:prstGeom>
          <a:noFill/>
        </p:spPr>
        <p:txBody>
          <a:bodyPr wrap="square" lIns="45720" tIns="18288" rIns="45720" bIns="18288" anchor="t">
            <a:spAutoFit/>
          </a:bodyPr>
          <a:lstStyle/>
          <a:p>
            <a:pPr algn="l"/>
            <a:r>
              <a:rPr sz="1600" b="1">
                <a:solidFill>
                  <a:srgbClr val="0468FF"/>
                </a:solidFill>
                <a:latin typeface="Arial"/>
              </a:rPr>
              <a:t>Advisor angle</a:t>
            </a:r>
          </a:p>
        </p:txBody>
      </p:sp>
      <p:sp>
        <p:nvSpPr>
          <p:cNvPr id="13" name="TextBox 12"/>
          <p:cNvSpPr txBox="1"/>
          <p:nvPr/>
        </p:nvSpPr>
        <p:spPr>
          <a:xfrm>
            <a:off x="8229600" y="2697480"/>
            <a:ext cx="2468880" cy="1806040"/>
          </a:xfrm>
          <a:prstGeom prst="rect">
            <a:avLst/>
          </a:prstGeom>
          <a:noFill/>
        </p:spPr>
        <p:txBody>
          <a:bodyPr wrap="square" lIns="45720" tIns="18288" rIns="45720" bIns="18288" anchor="t">
            <a:spAutoFit/>
          </a:bodyPr>
          <a:lstStyle/>
          <a:p>
            <a:pPr algn="l"/>
            <a:r>
              <a:rPr sz="1350" b="0">
                <a:solidFill>
                  <a:srgbClr val="000962"/>
                </a:solidFill>
                <a:latin typeface="Arial"/>
              </a:rPr>
              <a:t>The debate is whether the Fed hikes, not cuts. Clients hearing 'rates stay high' should hear opportunity in guaranteed products, not a reason to sit in cash indefinitely.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695"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695"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621792"/>
            <a:ext cx="10881360" cy="530352"/>
          </a:xfrm>
          <a:prstGeom prst="rect">
            <a:avLst/>
          </a:prstGeom>
          <a:noFill/>
        </p:spPr>
        <p:txBody>
          <a:bodyPr wrap="square" lIns="45720" tIns="18288" rIns="45720" bIns="18288" anchor="t">
            <a:spAutoFit/>
          </a:bodyPr>
          <a:lstStyle/>
          <a:p>
            <a:pPr algn="l"/>
            <a:r>
              <a:rPr sz="3200" b="1">
                <a:solidFill>
                  <a:srgbClr val="0468FF"/>
                </a:solidFill>
                <a:latin typeface="Arial"/>
              </a:rPr>
              <a:t>Sector &amp; Theme Spotlight</a:t>
            </a:r>
          </a:p>
        </p:txBody>
      </p:sp>
      <p:sp>
        <p:nvSpPr>
          <p:cNvPr id="6" name="TextBox 5"/>
          <p:cNvSpPr txBox="1"/>
          <p:nvPr/>
        </p:nvSpPr>
        <p:spPr>
          <a:xfrm>
            <a:off x="713232" y="1353312"/>
            <a:ext cx="10881360" cy="310896"/>
          </a:xfrm>
          <a:prstGeom prst="rect">
            <a:avLst/>
          </a:prstGeom>
          <a:noFill/>
        </p:spPr>
        <p:txBody>
          <a:bodyPr wrap="square" lIns="45720" tIns="18288" rIns="45720" bIns="18288" anchor="t">
            <a:spAutoFit/>
          </a:bodyPr>
          <a:lstStyle/>
          <a:p>
            <a:pPr algn="l"/>
            <a:r>
              <a:rPr sz="1600" b="0">
                <a:solidFill>
                  <a:srgbClr val="000962"/>
                </a:solidFill>
                <a:latin typeface="Arial"/>
              </a:rPr>
              <a:t>Leadership rotated. Small caps and financials joined the rally.</a:t>
            </a:r>
          </a:p>
        </p:txBody>
      </p:sp>
      <p:sp>
        <p:nvSpPr>
          <p:cNvPr id="7" name="TextBox 6"/>
          <p:cNvSpPr txBox="1"/>
          <p:nvPr/>
        </p:nvSpPr>
        <p:spPr>
          <a:xfrm>
            <a:off x="521207" y="6327648"/>
            <a:ext cx="5394960" cy="146304"/>
          </a:xfrm>
          <a:prstGeom prst="rect">
            <a:avLst/>
          </a:prstGeom>
          <a:noFill/>
        </p:spPr>
        <p:txBody>
          <a:bodyPr wrap="square" lIns="45720" tIns="18288" rIns="45720" bIns="18288" anchor="t">
            <a:spAutoFit/>
          </a:bodyPr>
          <a:lstStyle/>
          <a:p>
            <a:pPr algn="l"/>
            <a:r>
              <a:rPr sz="550" b="0">
                <a:solidFill>
                  <a:srgbClr val="46648C"/>
                </a:solidFill>
                <a:latin typeface="Arial"/>
              </a:rPr>
              <a:t>Internal use only. For agent use only. Not for use with the public.</a:t>
            </a:r>
          </a:p>
        </p:txBody>
      </p:sp>
      <p:sp>
        <p:nvSpPr>
          <p:cNvPr id="8" name="TextBox 7"/>
          <p:cNvSpPr txBox="1"/>
          <p:nvPr/>
        </p:nvSpPr>
        <p:spPr>
          <a:xfrm>
            <a:off x="10497312" y="6263640"/>
            <a:ext cx="768096" cy="182880"/>
          </a:xfrm>
          <a:prstGeom prst="rect">
            <a:avLst/>
          </a:prstGeom>
          <a:noFill/>
        </p:spPr>
        <p:txBody>
          <a:bodyPr wrap="square" lIns="45720" tIns="18288" rIns="45720" bIns="18288" anchor="t">
            <a:spAutoFit/>
          </a:bodyPr>
          <a:lstStyle/>
          <a:p>
            <a:pPr algn="r"/>
            <a:r>
              <a:rPr sz="850" b="1">
                <a:solidFill>
                  <a:srgbClr val="000962"/>
                </a:solidFill>
                <a:latin typeface="Arial"/>
              </a:rPr>
              <a:t>ELEVATE</a:t>
            </a:r>
          </a:p>
        </p:txBody>
      </p:sp>
      <p:sp>
        <p:nvSpPr>
          <p:cNvPr id="9" name="TextBox 8"/>
          <p:cNvSpPr txBox="1"/>
          <p:nvPr/>
        </p:nvSpPr>
        <p:spPr>
          <a:xfrm>
            <a:off x="11228832" y="6272784"/>
            <a:ext cx="384048" cy="164592"/>
          </a:xfrm>
          <a:prstGeom prst="rect">
            <a:avLst/>
          </a:prstGeom>
          <a:noFill/>
        </p:spPr>
        <p:txBody>
          <a:bodyPr wrap="square" lIns="45720" tIns="18288" rIns="45720" bIns="18288" anchor="t">
            <a:spAutoFit/>
          </a:bodyPr>
          <a:lstStyle/>
          <a:p>
            <a:pPr algn="l"/>
            <a:r>
              <a:rPr sz="580" b="0">
                <a:solidFill>
                  <a:srgbClr val="000962"/>
                </a:solidFill>
                <a:latin typeface="Arial"/>
              </a:rPr>
              <a:t>NEW ORG</a:t>
            </a:r>
          </a:p>
        </p:txBody>
      </p:sp>
      <p:sp>
        <p:nvSpPr>
          <p:cNvPr id="10" name="TextBox 9"/>
          <p:cNvSpPr txBox="1"/>
          <p:nvPr/>
        </p:nvSpPr>
        <p:spPr>
          <a:xfrm>
            <a:off x="1000000" y="1874520"/>
            <a:ext cx="10058400" cy="384048"/>
          </a:xfrm>
          <a:prstGeom prst="rect">
            <a:avLst/>
          </a:prstGeom>
          <a:noFill/>
        </p:spPr>
        <p:txBody>
          <a:bodyPr wrap="square" lIns="45720" tIns="18288" rIns="45720" bIns="18288" anchor="t">
            <a:spAutoFit/>
          </a:bodyPr>
          <a:lstStyle/>
          <a:p>
            <a:pPr algn="l"/>
            <a:r>
              <a:rPr sz="1600" b="1">
                <a:solidFill>
                  <a:srgbClr val="000962"/>
                </a:solidFill>
                <a:latin typeface="Arial"/>
              </a:rPr>
              <a:t>Three shifts worth explaining to clients this week.</a:t>
            </a:r>
          </a:p>
        </p:txBody>
      </p:sp>
      <p:sp>
        <p:nvSpPr>
          <p:cNvPr id="11" name="Rectangle 10"/>
          <p:cNvSpPr/>
          <p:nvPr/>
        </p:nvSpPr>
        <p:spPr>
          <a:xfrm>
            <a:off x="1051560" y="2743200"/>
            <a:ext cx="2880360" cy="1005840"/>
          </a:xfrm>
          <a:prstGeom prst="rect">
            <a:avLst/>
          </a:prstGeom>
          <a:solidFill>
            <a:srgbClr val="EB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61288" y="2816352"/>
            <a:ext cx="2633472" cy="137160"/>
          </a:xfrm>
          <a:prstGeom prst="rect">
            <a:avLst/>
          </a:prstGeom>
          <a:noFill/>
        </p:spPr>
        <p:txBody>
          <a:bodyPr wrap="square" lIns="45720" tIns="18288" rIns="45720" bIns="18288" anchor="t">
            <a:spAutoFit/>
          </a:bodyPr>
          <a:lstStyle/>
          <a:p>
            <a:pPr algn="l"/>
            <a:r>
              <a:rPr sz="1050" b="0">
                <a:solidFill>
                  <a:srgbClr val="000962"/>
                </a:solidFill>
                <a:latin typeface="Arial"/>
              </a:rPr>
              <a:t>Broadening rally</a:t>
            </a:r>
          </a:p>
        </p:txBody>
      </p:sp>
      <p:sp>
        <p:nvSpPr>
          <p:cNvPr id="13" name="TextBox 12"/>
          <p:cNvSpPr txBox="1"/>
          <p:nvPr/>
        </p:nvSpPr>
        <p:spPr>
          <a:xfrm>
            <a:off x="1161288" y="2990088"/>
            <a:ext cx="2633472" cy="201168"/>
          </a:xfrm>
          <a:prstGeom prst="rect">
            <a:avLst/>
          </a:prstGeom>
          <a:noFill/>
        </p:spPr>
        <p:txBody>
          <a:bodyPr wrap="square" lIns="45720" tIns="18288" rIns="45720" bIns="18288" anchor="t">
            <a:spAutoFit/>
          </a:bodyPr>
          <a:lstStyle/>
          <a:p>
            <a:pPr algn="l"/>
            <a:r>
              <a:rPr sz="1500" b="1">
                <a:solidFill>
                  <a:srgbClr val="0468FF"/>
                </a:solidFill>
                <a:latin typeface="Arial"/>
              </a:rPr>
              <a:t>Russell 2000 +3.15%</a:t>
            </a:r>
          </a:p>
        </p:txBody>
      </p:sp>
      <p:sp>
        <p:nvSpPr>
          <p:cNvPr id="14" name="TextBox 13"/>
          <p:cNvSpPr txBox="1"/>
          <p:nvPr/>
        </p:nvSpPr>
        <p:spPr>
          <a:xfrm>
            <a:off x="1161288" y="3236976"/>
            <a:ext cx="2633472" cy="320040"/>
          </a:xfrm>
          <a:prstGeom prst="rect">
            <a:avLst/>
          </a:prstGeom>
          <a:noFill/>
        </p:spPr>
        <p:txBody>
          <a:bodyPr wrap="square" lIns="45720" tIns="18288" rIns="45720" bIns="18288" anchor="t">
            <a:spAutoFit/>
          </a:bodyPr>
          <a:lstStyle/>
          <a:p>
            <a:pPr algn="l"/>
            <a:r>
              <a:rPr sz="950" b="0">
                <a:solidFill>
                  <a:srgbClr val="000962"/>
                </a:solidFill>
                <a:latin typeface="Arial"/>
              </a:rPr>
              <a:t>Small caps hit a record and led every major index</a:t>
            </a:r>
          </a:p>
        </p:txBody>
      </p:sp>
      <p:sp>
        <p:nvSpPr>
          <p:cNvPr id="15" name="Rectangle 14"/>
          <p:cNvSpPr/>
          <p:nvPr/>
        </p:nvSpPr>
        <p:spPr>
          <a:xfrm>
            <a:off x="4617720" y="2743200"/>
            <a:ext cx="2880360" cy="1005840"/>
          </a:xfrm>
          <a:prstGeom prst="rect">
            <a:avLst/>
          </a:prstGeom>
          <a:solidFill>
            <a:srgbClr val="EB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727448" y="2816352"/>
            <a:ext cx="2633472" cy="137160"/>
          </a:xfrm>
          <a:prstGeom prst="rect">
            <a:avLst/>
          </a:prstGeom>
          <a:noFill/>
        </p:spPr>
        <p:txBody>
          <a:bodyPr wrap="square" lIns="45720" tIns="18288" rIns="45720" bIns="18288" anchor="t">
            <a:spAutoFit/>
          </a:bodyPr>
          <a:lstStyle/>
          <a:p>
            <a:pPr algn="l"/>
            <a:r>
              <a:rPr sz="1050" b="0">
                <a:solidFill>
                  <a:srgbClr val="000962"/>
                </a:solidFill>
                <a:latin typeface="Arial"/>
              </a:rPr>
              <a:t>Sector rotation</a:t>
            </a:r>
          </a:p>
        </p:txBody>
      </p:sp>
      <p:sp>
        <p:nvSpPr>
          <p:cNvPr id="17" name="TextBox 16"/>
          <p:cNvSpPr txBox="1"/>
          <p:nvPr/>
        </p:nvSpPr>
        <p:spPr>
          <a:xfrm>
            <a:off x="4727448" y="2990088"/>
            <a:ext cx="2633472" cy="201168"/>
          </a:xfrm>
          <a:prstGeom prst="rect">
            <a:avLst/>
          </a:prstGeom>
          <a:noFill/>
        </p:spPr>
        <p:txBody>
          <a:bodyPr wrap="square" lIns="45720" tIns="18288" rIns="45720" bIns="18288" anchor="t">
            <a:spAutoFit/>
          </a:bodyPr>
          <a:lstStyle/>
          <a:p>
            <a:pPr algn="l"/>
            <a:r>
              <a:rPr sz="1500" b="1">
                <a:solidFill>
                  <a:srgbClr val="0468FF"/>
                </a:solidFill>
                <a:latin typeface="Arial"/>
              </a:rPr>
              <a:t>Financials, Health Care up</a:t>
            </a:r>
          </a:p>
        </p:txBody>
      </p:sp>
      <p:sp>
        <p:nvSpPr>
          <p:cNvPr id="18" name="TextBox 17"/>
          <p:cNvSpPr txBox="1"/>
          <p:nvPr/>
        </p:nvSpPr>
        <p:spPr>
          <a:xfrm>
            <a:off x="4727448" y="3236976"/>
            <a:ext cx="2633472" cy="320040"/>
          </a:xfrm>
          <a:prstGeom prst="rect">
            <a:avLst/>
          </a:prstGeom>
          <a:noFill/>
        </p:spPr>
        <p:txBody>
          <a:bodyPr wrap="square" lIns="45720" tIns="18288" rIns="45720" bIns="18288" anchor="t">
            <a:spAutoFit/>
          </a:bodyPr>
          <a:lstStyle/>
          <a:p>
            <a:pPr algn="l"/>
            <a:r>
              <a:rPr sz="950" b="0">
                <a:solidFill>
                  <a:srgbClr val="000962"/>
                </a:solidFill>
                <a:latin typeface="Arial"/>
              </a:rPr>
              <a:t>Energy dropped from second to sixth in relative strength</a:t>
            </a:r>
          </a:p>
        </p:txBody>
      </p:sp>
      <p:sp>
        <p:nvSpPr>
          <p:cNvPr id="19" name="Rectangle 18"/>
          <p:cNvSpPr/>
          <p:nvPr/>
        </p:nvSpPr>
        <p:spPr>
          <a:xfrm>
            <a:off x="8183880" y="2743200"/>
            <a:ext cx="2880360" cy="1005840"/>
          </a:xfrm>
          <a:prstGeom prst="rect">
            <a:avLst/>
          </a:prstGeom>
          <a:solidFill>
            <a:srgbClr val="EB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93608" y="2816352"/>
            <a:ext cx="2633472" cy="137160"/>
          </a:xfrm>
          <a:prstGeom prst="rect">
            <a:avLst/>
          </a:prstGeom>
          <a:noFill/>
        </p:spPr>
        <p:txBody>
          <a:bodyPr wrap="square" lIns="45720" tIns="18288" rIns="45720" bIns="18288" anchor="t">
            <a:spAutoFit/>
          </a:bodyPr>
          <a:lstStyle/>
          <a:p>
            <a:pPr algn="l"/>
            <a:r>
              <a:rPr sz="1050" b="0">
                <a:solidFill>
                  <a:srgbClr val="000962"/>
                </a:solidFill>
                <a:latin typeface="Arial"/>
              </a:rPr>
              <a:t>Consumer question</a:t>
            </a:r>
          </a:p>
        </p:txBody>
      </p:sp>
      <p:sp>
        <p:nvSpPr>
          <p:cNvPr id="21" name="TextBox 20"/>
          <p:cNvSpPr txBox="1"/>
          <p:nvPr/>
        </p:nvSpPr>
        <p:spPr>
          <a:xfrm>
            <a:off x="8293608" y="2990088"/>
            <a:ext cx="2633472" cy="201168"/>
          </a:xfrm>
          <a:prstGeom prst="rect">
            <a:avLst/>
          </a:prstGeom>
          <a:noFill/>
        </p:spPr>
        <p:txBody>
          <a:bodyPr wrap="square" lIns="45720" tIns="18288" rIns="45720" bIns="18288" anchor="t">
            <a:spAutoFit/>
          </a:bodyPr>
          <a:lstStyle/>
          <a:p>
            <a:pPr algn="l"/>
            <a:r>
              <a:rPr sz="1500" b="1">
                <a:solidFill>
                  <a:srgbClr val="0468FF"/>
                </a:solidFill>
                <a:latin typeface="Arial"/>
              </a:rPr>
              <a:t>Retail sales -0.6%</a:t>
            </a:r>
          </a:p>
        </p:txBody>
      </p:sp>
      <p:sp>
        <p:nvSpPr>
          <p:cNvPr id="22" name="TextBox 21"/>
          <p:cNvSpPr txBox="1"/>
          <p:nvPr/>
        </p:nvSpPr>
        <p:spPr>
          <a:xfrm>
            <a:off x="8293608" y="3236976"/>
            <a:ext cx="2633472" cy="320040"/>
          </a:xfrm>
          <a:prstGeom prst="rect">
            <a:avLst/>
          </a:prstGeom>
          <a:noFill/>
        </p:spPr>
        <p:txBody>
          <a:bodyPr wrap="square" lIns="45720" tIns="18288" rIns="45720" bIns="18288" anchor="t">
            <a:spAutoFit/>
          </a:bodyPr>
          <a:lstStyle/>
          <a:p>
            <a:pPr algn="l"/>
            <a:r>
              <a:rPr sz="950" b="0">
                <a:solidFill>
                  <a:srgbClr val="000962"/>
                </a:solidFill>
                <a:latin typeface="Arial"/>
              </a:rPr>
              <a:t>Sentiment at 51 sets up a high-stakes retail earnings week</a:t>
            </a:r>
          </a:p>
        </p:txBody>
      </p:sp>
      <p:sp>
        <p:nvSpPr>
          <p:cNvPr id="23" name="TextBox 22"/>
          <p:cNvSpPr txBox="1"/>
          <p:nvPr/>
        </p:nvSpPr>
        <p:spPr>
          <a:xfrm>
            <a:off x="1051560" y="4251960"/>
            <a:ext cx="10058400" cy="594360"/>
          </a:xfrm>
          <a:prstGeom prst="rect">
            <a:avLst/>
          </a:prstGeom>
          <a:noFill/>
        </p:spPr>
        <p:txBody>
          <a:bodyPr wrap="square" lIns="45720" tIns="18288" rIns="45720" bIns="18288" anchor="t">
            <a:spAutoFit/>
          </a:bodyPr>
          <a:lstStyle/>
          <a:p>
            <a:pPr algn="l"/>
            <a:r>
              <a:rPr sz="1400" b="0">
                <a:solidFill>
                  <a:srgbClr val="000962"/>
                </a:solidFill>
                <a:latin typeface="Arial"/>
              </a:rPr>
              <a:t>Talking point: a rally that widens out is generally healthier than one carried by a handful of names. It also means diversification is finally being rewarded again - which is exactly what a plan is built to capture.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695"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695"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621792"/>
            <a:ext cx="10881360" cy="530352"/>
          </a:xfrm>
          <a:prstGeom prst="rect">
            <a:avLst/>
          </a:prstGeom>
          <a:noFill/>
        </p:spPr>
        <p:txBody>
          <a:bodyPr wrap="square" lIns="45720" tIns="18288" rIns="45720" bIns="18288" anchor="t">
            <a:spAutoFit/>
          </a:bodyPr>
          <a:lstStyle/>
          <a:p>
            <a:pPr algn="l"/>
            <a:r>
              <a:rPr sz="3200" b="1">
                <a:solidFill>
                  <a:srgbClr val="0468FF"/>
                </a:solidFill>
                <a:latin typeface="Arial"/>
              </a:rPr>
              <a:t>Client Talking Points: What This Means for You</a:t>
            </a:r>
          </a:p>
        </p:txBody>
      </p:sp>
      <p:sp>
        <p:nvSpPr>
          <p:cNvPr id="6" name="TextBox 5"/>
          <p:cNvSpPr txBox="1"/>
          <p:nvPr/>
        </p:nvSpPr>
        <p:spPr>
          <a:xfrm>
            <a:off x="713232" y="1353312"/>
            <a:ext cx="10881360" cy="310896"/>
          </a:xfrm>
          <a:prstGeom prst="rect">
            <a:avLst/>
          </a:prstGeom>
          <a:noFill/>
        </p:spPr>
        <p:txBody>
          <a:bodyPr wrap="square" lIns="45720" tIns="18288" rIns="45720" bIns="18288" anchor="t">
            <a:spAutoFit/>
          </a:bodyPr>
          <a:lstStyle/>
          <a:p>
            <a:pPr algn="l"/>
            <a:r>
              <a:rPr sz="1600" b="0">
                <a:solidFill>
                  <a:srgbClr val="000962"/>
                </a:solidFill>
                <a:latin typeface="Arial"/>
              </a:rPr>
              <a:t>Plain-English language for client conversations this week.</a:t>
            </a:r>
          </a:p>
        </p:txBody>
      </p:sp>
      <p:sp>
        <p:nvSpPr>
          <p:cNvPr id="7" name="TextBox 6"/>
          <p:cNvSpPr txBox="1"/>
          <p:nvPr/>
        </p:nvSpPr>
        <p:spPr>
          <a:xfrm>
            <a:off x="521207" y="6327648"/>
            <a:ext cx="5394960" cy="146304"/>
          </a:xfrm>
          <a:prstGeom prst="rect">
            <a:avLst/>
          </a:prstGeom>
          <a:noFill/>
        </p:spPr>
        <p:txBody>
          <a:bodyPr wrap="square" lIns="45720" tIns="18288" rIns="45720" bIns="18288" anchor="t">
            <a:spAutoFit/>
          </a:bodyPr>
          <a:lstStyle/>
          <a:p>
            <a:pPr algn="l"/>
            <a:r>
              <a:rPr sz="550" b="0">
                <a:solidFill>
                  <a:srgbClr val="46648C"/>
                </a:solidFill>
                <a:latin typeface="Arial"/>
              </a:rPr>
              <a:t>Internal use only. For agent use only. Not for use with the public.</a:t>
            </a:r>
          </a:p>
        </p:txBody>
      </p:sp>
      <p:sp>
        <p:nvSpPr>
          <p:cNvPr id="8" name="TextBox 7"/>
          <p:cNvSpPr txBox="1"/>
          <p:nvPr/>
        </p:nvSpPr>
        <p:spPr>
          <a:xfrm>
            <a:off x="10497312" y="6263640"/>
            <a:ext cx="768096" cy="182880"/>
          </a:xfrm>
          <a:prstGeom prst="rect">
            <a:avLst/>
          </a:prstGeom>
          <a:noFill/>
        </p:spPr>
        <p:txBody>
          <a:bodyPr wrap="square" lIns="45720" tIns="18288" rIns="45720" bIns="18288" anchor="t">
            <a:spAutoFit/>
          </a:bodyPr>
          <a:lstStyle/>
          <a:p>
            <a:pPr algn="r"/>
            <a:r>
              <a:rPr sz="850" b="1">
                <a:solidFill>
                  <a:srgbClr val="000962"/>
                </a:solidFill>
                <a:latin typeface="Arial"/>
              </a:rPr>
              <a:t>ELEVATE</a:t>
            </a:r>
          </a:p>
        </p:txBody>
      </p:sp>
      <p:sp>
        <p:nvSpPr>
          <p:cNvPr id="9" name="TextBox 8"/>
          <p:cNvSpPr txBox="1"/>
          <p:nvPr/>
        </p:nvSpPr>
        <p:spPr>
          <a:xfrm>
            <a:off x="11228832" y="6272784"/>
            <a:ext cx="384048" cy="164592"/>
          </a:xfrm>
          <a:prstGeom prst="rect">
            <a:avLst/>
          </a:prstGeom>
          <a:noFill/>
        </p:spPr>
        <p:txBody>
          <a:bodyPr wrap="square" lIns="45720" tIns="18288" rIns="45720" bIns="18288" anchor="t">
            <a:spAutoFit/>
          </a:bodyPr>
          <a:lstStyle/>
          <a:p>
            <a:pPr algn="l"/>
            <a:r>
              <a:rPr sz="580" b="0">
                <a:solidFill>
                  <a:srgbClr val="000962"/>
                </a:solidFill>
                <a:latin typeface="Arial"/>
              </a:rPr>
              <a:t>NEW ORG</a:t>
            </a:r>
          </a:p>
        </p:txBody>
      </p:sp>
      <p:sp>
        <p:nvSpPr>
          <p:cNvPr id="10" name="TextBox 9"/>
          <p:cNvSpPr txBox="1"/>
          <p:nvPr/>
        </p:nvSpPr>
        <p:spPr>
          <a:xfrm>
            <a:off x="868680" y="2011680"/>
            <a:ext cx="10424160" cy="3383280"/>
          </a:xfrm>
          <a:prstGeom prst="rect">
            <a:avLst/>
          </a:prstGeom>
          <a:noFill/>
        </p:spPr>
        <p:txBody>
          <a:bodyPr wrap="square" lIns="45720" tIns="18288" rIns="45720" bIns="18288" anchor="t">
            <a:spAutoFit/>
          </a:bodyPr>
          <a:lstStyle/>
          <a:p>
            <a:pPr algn="l">
              <a:spcAft>
                <a:spcPts val="700"/>
              </a:spcAft>
            </a:pPr>
            <a:r>
              <a:rPr sz="1400" b="0">
                <a:solidFill>
                  <a:srgbClr val="000962"/>
                </a:solidFill>
                <a:latin typeface="Arial"/>
              </a:rPr>
              <a:t>Markets had another good week. Stocks rose for the third week in a row, and smaller U.S. companies did especially well after lagging for most of the year.</a:t>
            </a:r>
          </a:p>
          <a:p>
            <a:pPr algn="l">
              <a:spcAft>
                <a:spcPts val="700"/>
              </a:spcAft>
            </a:pPr>
            <a:r>
              <a:rPr sz="1400" b="0">
                <a:solidFill>
                  <a:srgbClr val="000962"/>
                </a:solidFill>
                <a:latin typeface="Arial"/>
              </a:rPr>
              <a:t>Price increases slowed a little. Inflation came in at 3.4% over the past year, down slightly from June. That is progress, but prices are still rising faster than the Federal Reserve would like.</a:t>
            </a:r>
          </a:p>
          <a:p>
            <a:pPr algn="l">
              <a:spcAft>
                <a:spcPts val="700"/>
              </a:spcAft>
            </a:pPr>
            <a:r>
              <a:rPr sz="1400" b="0">
                <a:solidFill>
                  <a:srgbClr val="000962"/>
                </a:solidFill>
                <a:latin typeface="Arial"/>
              </a:rPr>
              <a:t>People shopped less last month. Retail spending fell 0.6% in July and confidence surveys dropped. One month is not a trend, but it is worth watching.</a:t>
            </a:r>
          </a:p>
          <a:p>
            <a:pPr algn="l">
              <a:spcAft>
                <a:spcPts val="700"/>
              </a:spcAft>
            </a:pPr>
            <a:r>
              <a:rPr sz="1400" b="0">
                <a:solidFill>
                  <a:srgbClr val="000962"/>
                </a:solidFill>
                <a:latin typeface="Arial"/>
              </a:rPr>
              <a:t>Interest rates are likely to stay where they are for now. The Fed is not signaling cuts. If anything, some officials wanted to raise rates in July.</a:t>
            </a:r>
          </a:p>
          <a:p>
            <a:pPr algn="l">
              <a:spcAft>
                <a:spcPts val="700"/>
              </a:spcAft>
            </a:pPr>
            <a:r>
              <a:rPr sz="1400" b="0">
                <a:solidFill>
                  <a:srgbClr val="000962"/>
                </a:solidFill>
                <a:latin typeface="Arial"/>
              </a:rPr>
              <a:t>What this means for you: nothing about last week changes a well-built plan. Higher-for-longer rates can actually work in your favor if part of your money is in products with guarantees.</a:t>
            </a:r>
          </a:p>
          <a:p>
            <a:pPr algn="l">
              <a:spcAft>
                <a:spcPts val="700"/>
              </a:spcAft>
            </a:pPr>
            <a:r>
              <a:rPr sz="1400" b="0">
                <a:solidFill>
                  <a:srgbClr val="000962"/>
                </a:solidFill>
                <a:latin typeface="Arial"/>
              </a:rPr>
              <a:t>What we are watching this week: the Fed's meeting notes on Wednesday, and results from Walmart, Target and Home Depot that tell us how households are really doing.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0188B79-DFBA-30A1-4A8A-02C3307CF19D}"/>
              </a:ext>
            </a:extLst>
          </p:cNvPr>
          <p:cNvSpPr>
            <a:spLocks/>
          </p:cNvSpPr>
          <p:nvPr/>
        </p:nvSpPr>
        <p:spPr>
          <a:xfrm>
            <a:off x="0" y="1937020"/>
            <a:ext cx="12192000" cy="2403392"/>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lvl="0">
              <a:defRPr/>
            </a:pPr>
            <a:endParaRPr lang="en-US" sz="1600" b="1">
              <a:solidFill>
                <a:srgbClr val="000962">
                  <a:lumMod val="90000"/>
                  <a:lumOff val="10000"/>
                </a:srgbClr>
              </a:solidFill>
            </a:endParaRPr>
          </a:p>
        </p:txBody>
      </p:sp>
      <p:sp>
        <p:nvSpPr>
          <p:cNvPr id="2" name="Title 1">
            <a:extLst>
              <a:ext uri="{FF2B5EF4-FFF2-40B4-BE49-F238E27FC236}">
                <a16:creationId xmlns:a16="http://schemas.microsoft.com/office/drawing/2014/main" id="{E45B6932-9BA9-2103-14A2-C3C2D1AFD3D1}"/>
              </a:ext>
            </a:extLst>
          </p:cNvPr>
          <p:cNvSpPr>
            <a:spLocks noGrp="1"/>
          </p:cNvSpPr>
          <p:nvPr>
            <p:ph type="title"/>
          </p:nvPr>
        </p:nvSpPr>
        <p:spPr>
          <a:xfrm>
            <a:off x="457200" y="2390819"/>
            <a:ext cx="7988157" cy="1828193"/>
          </a:xfrm>
        </p:spPr>
        <p:txBody>
          <a:bodyPr wrap="square" lIns="0" tIns="0" rIns="0" bIns="0" anchor="t">
            <a:spAutoFit/>
          </a:bodyPr>
          <a:lstStyle/>
          <a:p>
            <a:r>
              <a:rPr lang="en-US" sz="4400" dirty="0">
                <a:latin typeface="Georgia"/>
              </a:rPr>
              <a:t>New Org: </a:t>
            </a:r>
            <a:br>
              <a:rPr lang="en-US" sz="4400" dirty="0"/>
            </a:br>
            <a:r>
              <a:rPr lang="en-US" sz="4400" dirty="0">
                <a:latin typeface="Georgia"/>
              </a:rPr>
              <a:t>What’s important week of </a:t>
            </a:r>
            <a:br>
              <a:rPr lang="en-US" sz="4400" dirty="0">
                <a:latin typeface="Georgia"/>
              </a:rPr>
            </a:br>
            <a:r>
              <a:rPr lang="en-US" sz="4400" dirty="0">
                <a:latin typeface="Georgia"/>
              </a:rPr>
              <a:t>August 17</a:t>
            </a:r>
            <a:endParaRPr lang="en-US" sz="4400" dirty="0"/>
          </a:p>
        </p:txBody>
      </p:sp>
    </p:spTree>
    <p:custDataLst>
      <p:tags r:id="rId1"/>
    </p:custDataLst>
    <p:extLst>
      <p:ext uri="{BB962C8B-B14F-4D97-AF65-F5344CB8AC3E}">
        <p14:creationId xmlns:p14="http://schemas.microsoft.com/office/powerpoint/2010/main" val="350097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5D1EC-E6DF-75F1-BC66-F15187896DF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C48A1E0-38AB-A5E9-0A43-FEB5EC81FDD3}"/>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5" name="Rectangle 14">
            <a:extLst>
              <a:ext uri="{FF2B5EF4-FFF2-40B4-BE49-F238E27FC236}">
                <a16:creationId xmlns:a16="http://schemas.microsoft.com/office/drawing/2014/main" id="{EF632E7E-9E8F-F5C7-ED86-93497593BAFA}"/>
              </a:ext>
            </a:extLst>
          </p:cNvPr>
          <p:cNvSpPr/>
          <p:nvPr/>
        </p:nvSpPr>
        <p:spPr>
          <a:xfrm>
            <a:off x="439946" y="1570892"/>
            <a:ext cx="6265654" cy="902677"/>
          </a:xfrm>
          <a:prstGeom prst="rect">
            <a:avLst/>
          </a:prstGeom>
          <a:solidFill>
            <a:srgbClr val="046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itle 1">
            <a:extLst>
              <a:ext uri="{FF2B5EF4-FFF2-40B4-BE49-F238E27FC236}">
                <a16:creationId xmlns:a16="http://schemas.microsoft.com/office/drawing/2014/main" id="{A891E7A3-22D9-62AE-9699-06F7E690844A}"/>
              </a:ext>
            </a:extLst>
          </p:cNvPr>
          <p:cNvSpPr>
            <a:spLocks noGrp="1"/>
          </p:cNvSpPr>
          <p:nvPr>
            <p:ph type="title"/>
          </p:nvPr>
        </p:nvSpPr>
        <p:spPr/>
        <p:txBody>
          <a:bodyPr/>
          <a:lstStyle/>
          <a:p>
            <a:r>
              <a:rPr lang="en-US"/>
              <a:t>New riders expand AD126 SVUL Accumulator II</a:t>
            </a:r>
          </a:p>
        </p:txBody>
      </p:sp>
      <p:sp>
        <p:nvSpPr>
          <p:cNvPr id="3" name="Content Placeholder 2">
            <a:extLst>
              <a:ext uri="{FF2B5EF4-FFF2-40B4-BE49-F238E27FC236}">
                <a16:creationId xmlns:a16="http://schemas.microsoft.com/office/drawing/2014/main" id="{E25B9398-7CAF-3473-56BC-DB01DD6366B2}"/>
              </a:ext>
            </a:extLst>
          </p:cNvPr>
          <p:cNvSpPr>
            <a:spLocks noGrp="1"/>
          </p:cNvSpPr>
          <p:nvPr>
            <p:ph idx="1"/>
          </p:nvPr>
        </p:nvSpPr>
        <p:spPr>
          <a:xfrm>
            <a:off x="547991" y="1694346"/>
            <a:ext cx="5911423" cy="4225427"/>
          </a:xfrm>
        </p:spPr>
        <p:txBody>
          <a:bodyPr anchor="t" anchorCtr="0"/>
          <a:lstStyle/>
          <a:p>
            <a:pPr marL="117475" indent="0">
              <a:lnSpc>
                <a:spcPct val="100000"/>
              </a:lnSpc>
              <a:spcBef>
                <a:spcPts val="0"/>
              </a:spcBef>
              <a:spcAft>
                <a:spcPts val="2400"/>
              </a:spcAft>
              <a:buNone/>
            </a:pPr>
            <a:r>
              <a:rPr lang="en-US" b="1">
                <a:solidFill>
                  <a:schemeClr val="bg1"/>
                </a:solidFill>
              </a:rPr>
              <a:t>Two new riders strengthen SVUL Accumulator II for estate and legacy planning.</a:t>
            </a:r>
          </a:p>
          <a:p>
            <a:pPr marL="574675">
              <a:lnSpc>
                <a:spcPct val="100000"/>
              </a:lnSpc>
              <a:spcBef>
                <a:spcPts val="0"/>
              </a:spcBef>
              <a:spcAft>
                <a:spcPts val="600"/>
              </a:spcAft>
            </a:pPr>
            <a:r>
              <a:rPr lang="en-US" b="1"/>
              <a:t>Extended No Lapse Guarantee Rider:</a:t>
            </a:r>
            <a:r>
              <a:rPr lang="en-US"/>
              <a:t> </a:t>
            </a:r>
            <a:br>
              <a:rPr lang="en-US"/>
            </a:br>
            <a:r>
              <a:rPr lang="en-US"/>
              <a:t>Long-term death benefit guarantees through age 105 or 121</a:t>
            </a:r>
          </a:p>
          <a:p>
            <a:pPr marL="1031875" lvl="1">
              <a:lnSpc>
                <a:spcPct val="100000"/>
              </a:lnSpc>
              <a:spcBef>
                <a:spcPts val="0"/>
              </a:spcBef>
              <a:spcAft>
                <a:spcPts val="1200"/>
              </a:spcAft>
            </a:pPr>
            <a:r>
              <a:rPr lang="en-US" b="1" err="1"/>
              <a:t>Inforce</a:t>
            </a:r>
            <a:r>
              <a:rPr lang="en-US" b="1"/>
              <a:t> window: </a:t>
            </a:r>
            <a:r>
              <a:rPr lang="en-US"/>
              <a:t>Eligible policies may add ENLG through September 8, 2026</a:t>
            </a:r>
          </a:p>
          <a:p>
            <a:pPr marL="574675">
              <a:lnSpc>
                <a:spcPct val="100000"/>
              </a:lnSpc>
              <a:spcBef>
                <a:spcPts val="0"/>
              </a:spcBef>
              <a:spcAft>
                <a:spcPts val="1200"/>
              </a:spcAft>
            </a:pPr>
            <a:r>
              <a:rPr lang="en-US" b="1"/>
              <a:t>Estate Protection Rider:</a:t>
            </a:r>
            <a:r>
              <a:rPr lang="en-US"/>
              <a:t> Adds early-year death benefit protection for new policies</a:t>
            </a:r>
          </a:p>
          <a:p>
            <a:pPr marL="574675">
              <a:lnSpc>
                <a:spcPct val="100000"/>
              </a:lnSpc>
              <a:spcBef>
                <a:spcPts val="0"/>
              </a:spcBef>
              <a:spcAft>
                <a:spcPts val="1200"/>
              </a:spcAft>
            </a:pPr>
            <a:r>
              <a:rPr lang="en-US" b="1"/>
              <a:t>Availability:</a:t>
            </a:r>
            <a:r>
              <a:rPr lang="en-US"/>
              <a:t> New business in all jurisdictions except NY and CA</a:t>
            </a:r>
          </a:p>
          <a:p>
            <a:pPr marL="346075" indent="0">
              <a:lnSpc>
                <a:spcPct val="100000"/>
              </a:lnSpc>
              <a:spcBef>
                <a:spcPts val="0"/>
              </a:spcBef>
              <a:spcAft>
                <a:spcPts val="1200"/>
              </a:spcAft>
              <a:buNone/>
            </a:pPr>
            <a:endParaRPr lang="en-US"/>
          </a:p>
        </p:txBody>
      </p:sp>
      <p:sp>
        <p:nvSpPr>
          <p:cNvPr id="4" name="Text Placeholder 3">
            <a:extLst>
              <a:ext uri="{FF2B5EF4-FFF2-40B4-BE49-F238E27FC236}">
                <a16:creationId xmlns:a16="http://schemas.microsoft.com/office/drawing/2014/main" id="{A142F558-0E18-23AD-47E0-7C51F9F19FCB}"/>
              </a:ext>
            </a:extLst>
          </p:cNvPr>
          <p:cNvSpPr>
            <a:spLocks noGrp="1"/>
          </p:cNvSpPr>
          <p:nvPr>
            <p:ph type="body" sz="quarter" idx="12"/>
          </p:nvPr>
        </p:nvSpPr>
        <p:spPr>
          <a:xfrm>
            <a:off x="439946" y="953242"/>
            <a:ext cx="11294854" cy="496033"/>
          </a:xfrm>
        </p:spPr>
        <p:txBody>
          <a:bodyPr/>
          <a:lstStyle/>
          <a:p>
            <a:r>
              <a:rPr lang="en-US" sz="2200">
                <a:cs typeface="Arial"/>
              </a:rPr>
              <a:t>Added guarantees and estate protection </a:t>
            </a:r>
            <a:r>
              <a:rPr lang="en-US">
                <a:cs typeface="Arial"/>
              </a:rPr>
              <a:t>began August</a:t>
            </a:r>
            <a:r>
              <a:rPr lang="en-US" sz="2200">
                <a:cs typeface="Arial"/>
              </a:rPr>
              <a:t> 8, 2026</a:t>
            </a:r>
          </a:p>
        </p:txBody>
      </p:sp>
      <p:sp>
        <p:nvSpPr>
          <p:cNvPr id="6" name="Rectangle 5">
            <a:extLst>
              <a:ext uri="{FF2B5EF4-FFF2-40B4-BE49-F238E27FC236}">
                <a16:creationId xmlns:a16="http://schemas.microsoft.com/office/drawing/2014/main" id="{2ACF6A73-1F0C-85F7-4172-765FE2E8E0F1}"/>
              </a:ext>
            </a:extLst>
          </p:cNvPr>
          <p:cNvSpPr/>
          <p:nvPr/>
        </p:nvSpPr>
        <p:spPr bwMode="ltGray">
          <a:xfrm>
            <a:off x="6794339" y="4820094"/>
            <a:ext cx="4940456"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7" name="Isosceles Triangle 6">
            <a:extLst>
              <a:ext uri="{FF2B5EF4-FFF2-40B4-BE49-F238E27FC236}">
                <a16:creationId xmlns:a16="http://schemas.microsoft.com/office/drawing/2014/main" id="{9A0F3B12-BCB3-05D9-454C-F2B2A33C5129}"/>
              </a:ext>
            </a:extLst>
          </p:cNvPr>
          <p:cNvSpPr/>
          <p:nvPr/>
        </p:nvSpPr>
        <p:spPr bwMode="ltGray">
          <a:xfrm rot="5400000">
            <a:off x="10181335" y="5247804"/>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8" name="TextBox 7">
            <a:extLst>
              <a:ext uri="{FF2B5EF4-FFF2-40B4-BE49-F238E27FC236}">
                <a16:creationId xmlns:a16="http://schemas.microsoft.com/office/drawing/2014/main" id="{182C7AF3-11CB-838A-C8FE-D12840D9B880}"/>
              </a:ext>
            </a:extLst>
          </p:cNvPr>
          <p:cNvSpPr txBox="1"/>
          <p:nvPr/>
        </p:nvSpPr>
        <p:spPr>
          <a:xfrm>
            <a:off x="7173596" y="5119598"/>
            <a:ext cx="2921747"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for details and resources on Info Central.</a:t>
            </a:r>
            <a:endParaRPr kumimoji="0" lang="en-US" sz="1600" b="0" i="0" u="none" strike="noStrike" kern="1200" cap="none" spc="0" normalizeH="0" baseline="0" noProof="0">
              <a:ln>
                <a:noFill/>
              </a:ln>
              <a:solidFill>
                <a:srgbClr val="7FB9FF"/>
              </a:solidFill>
              <a:effectLst/>
              <a:uLnTx/>
              <a:uFillTx/>
              <a:latin typeface="Arial"/>
              <a:ea typeface="+mn-ea"/>
              <a:cs typeface="+mn-cs"/>
            </a:endParaRPr>
          </a:p>
        </p:txBody>
      </p:sp>
      <p:pic>
        <p:nvPicPr>
          <p:cNvPr id="11" name="Picture 10">
            <a:extLst>
              <a:ext uri="{FF2B5EF4-FFF2-40B4-BE49-F238E27FC236}">
                <a16:creationId xmlns:a16="http://schemas.microsoft.com/office/drawing/2014/main" id="{D706297D-6EB6-89C9-4086-88328093B0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43340" y="4820093"/>
            <a:ext cx="1091455" cy="1091455"/>
          </a:xfrm>
          <a:prstGeom prst="rect">
            <a:avLst/>
          </a:prstGeom>
        </p:spPr>
      </p:pic>
      <p:pic>
        <p:nvPicPr>
          <p:cNvPr id="13" name="Picture 12">
            <a:extLst>
              <a:ext uri="{FF2B5EF4-FFF2-40B4-BE49-F238E27FC236}">
                <a16:creationId xmlns:a16="http://schemas.microsoft.com/office/drawing/2014/main" id="{621B4BF7-7445-9D41-C8BF-23125A9051DD}"/>
              </a:ext>
            </a:extLst>
          </p:cNvPr>
          <p:cNvPicPr>
            <a:picLocks noChangeAspect="1"/>
          </p:cNvPicPr>
          <p:nvPr/>
        </p:nvPicPr>
        <p:blipFill>
          <a:blip r:embed="rId4" cstate="print">
            <a:extLst>
              <a:ext uri="{28A0092B-C50C-407E-A947-70E740481C1C}">
                <a14:useLocalDpi xmlns:a14="http://schemas.microsoft.com/office/drawing/2010/main" val="0"/>
              </a:ext>
            </a:extLst>
          </a:blip>
          <a:srcRect t="3690" r="3935" b="4951"/>
          <a:stretch>
            <a:fillRect/>
          </a:stretch>
        </p:blipFill>
        <p:spPr>
          <a:xfrm>
            <a:off x="6794339" y="1570892"/>
            <a:ext cx="4940456" cy="3137363"/>
          </a:xfrm>
          <a:prstGeom prst="rect">
            <a:avLst/>
          </a:prstGeom>
        </p:spPr>
      </p:pic>
    </p:spTree>
    <p:extLst>
      <p:ext uri="{BB962C8B-B14F-4D97-AF65-F5344CB8AC3E}">
        <p14:creationId xmlns:p14="http://schemas.microsoft.com/office/powerpoint/2010/main" val="668794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B7E60C1-13AF-B5F4-5ED5-998A57E7E87D}"/>
              </a:ext>
            </a:extLst>
          </p:cNvPr>
          <p:cNvSpPr/>
          <p:nvPr/>
        </p:nvSpPr>
        <p:spPr>
          <a:xfrm>
            <a:off x="421041" y="4113791"/>
            <a:ext cx="7725265" cy="1844773"/>
          </a:xfrm>
          <a:prstGeom prst="rect">
            <a:avLst/>
          </a:prstGeom>
          <a:solidFill>
            <a:srgbClr val="0042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8" name="Rectangle: Rounded Corners 7">
            <a:extLst>
              <a:ext uri="{FF2B5EF4-FFF2-40B4-BE49-F238E27FC236}">
                <a16:creationId xmlns:a16="http://schemas.microsoft.com/office/drawing/2014/main" id="{00546E32-6201-D13F-7DBC-FDA6C8E4906C}"/>
              </a:ext>
            </a:extLst>
          </p:cNvPr>
          <p:cNvSpPr/>
          <p:nvPr/>
        </p:nvSpPr>
        <p:spPr>
          <a:xfrm>
            <a:off x="739098" y="1110297"/>
            <a:ext cx="10637467" cy="2802250"/>
          </a:xfrm>
          <a:prstGeom prst="roundRect">
            <a:avLst>
              <a:gd name="adj" fmla="val 50000"/>
            </a:avLst>
          </a:prstGeom>
          <a:solidFill>
            <a:schemeClr val="bg1">
              <a:alpha val="3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10" name="Circle Badge"/>
          <p:cNvSpPr/>
          <p:nvPr/>
        </p:nvSpPr>
        <p:spPr>
          <a:xfrm>
            <a:off x="828498" y="1216291"/>
            <a:ext cx="2619918" cy="2619918"/>
          </a:xfrm>
          <a:prstGeom prst="ellipse">
            <a:avLst/>
          </a:prstGeom>
          <a:solidFill>
            <a:srgbClr val="000A62"/>
          </a:solidFill>
          <a:ln w="0">
            <a:noFill/>
          </a:ln>
        </p:spPr>
        <p:txBody>
          <a:bodyPr wrap="square" lIns="0" tIns="0" rIns="0" bIns="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a:ln>
                  <a:noFill/>
                </a:ln>
                <a:solidFill>
                  <a:srgbClr val="FFFFFF"/>
                </a:solidFill>
                <a:effectLst/>
                <a:uLnTx/>
                <a:uFillTx/>
                <a:latin typeface="Arial Black"/>
                <a:ea typeface="+mn-ea"/>
                <a:cs typeface="Arial Black"/>
              </a:rPr>
              <a:t>12</a:t>
            </a:r>
            <a:r>
              <a:rPr kumimoji="0" lang="en-US" sz="7200" b="1" i="0" u="none" strike="noStrike" kern="1200" cap="none" spc="0" normalizeH="0" baseline="30000" noProof="0">
                <a:ln>
                  <a:noFill/>
                </a:ln>
                <a:solidFill>
                  <a:srgbClr val="FFFFFF"/>
                </a:solidFill>
                <a:effectLst/>
                <a:uLnTx/>
                <a:uFillTx/>
                <a:latin typeface="Arial Black"/>
                <a:ea typeface="+mn-ea"/>
                <a:cs typeface="Arial Black"/>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A9D4FF"/>
                </a:solidFill>
                <a:effectLst/>
                <a:uLnTx/>
                <a:uFillTx/>
                <a:latin typeface="Arial"/>
                <a:ea typeface="+mn-ea"/>
                <a:cs typeface="Arial"/>
              </a:rPr>
              <a:t>DCA SPECIAL RATE</a:t>
            </a:r>
          </a:p>
        </p:txBody>
      </p:sp>
      <p:sp>
        <p:nvSpPr>
          <p:cNvPr id="11" name="Circle Ring"/>
          <p:cNvSpPr/>
          <p:nvPr/>
        </p:nvSpPr>
        <p:spPr>
          <a:xfrm>
            <a:off x="739098" y="1139954"/>
            <a:ext cx="2772593" cy="2772593"/>
          </a:xfrm>
          <a:prstGeom prst="ellipse">
            <a:avLst/>
          </a:prstGeom>
          <a:noFill/>
          <a:ln w="63500">
            <a:solidFill>
              <a:srgbClr val="0468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Georgia" panose="02040502050405020303"/>
              <a:ea typeface="+mn-ea"/>
              <a:cs typeface="+mn-cs"/>
            </a:endParaRPr>
          </a:p>
        </p:txBody>
      </p:sp>
      <p:sp>
        <p:nvSpPr>
          <p:cNvPr id="12" name="Details"/>
          <p:cNvSpPr/>
          <p:nvPr/>
        </p:nvSpPr>
        <p:spPr>
          <a:xfrm>
            <a:off x="4205255" y="1268614"/>
            <a:ext cx="5968184" cy="1357356"/>
          </a:xfrm>
          <a:prstGeom prst="rect">
            <a:avLst/>
          </a:prstGeom>
          <a:noFill/>
          <a:ln>
            <a:noFill/>
          </a:ln>
        </p:spPr>
        <p:txBody>
          <a:bodyPr wrap="square" lIns="0" tIns="0" rIns="0" bIns="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2400" b="1" i="0" u="none" strike="noStrike" kern="1200" cap="none" spc="0" normalizeH="0" baseline="0" noProof="0">
                <a:ln>
                  <a:noFill/>
                </a:ln>
                <a:solidFill>
                  <a:srgbClr val="000A62"/>
                </a:solidFill>
                <a:effectLst/>
                <a:uLnTx/>
                <a:uFillTx/>
                <a:latin typeface="Arial"/>
                <a:ea typeface="+mn-ea"/>
                <a:cs typeface="Arial"/>
              </a:rPr>
              <a:t>Dollar Cost Averaging special rate</a:t>
            </a:r>
          </a:p>
          <a:p>
            <a:pPr marL="342900" marR="0" lvl="0" indent="-34290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E2DFDD">
                    <a:lumMod val="10000"/>
                  </a:srgbClr>
                </a:solidFill>
                <a:effectLst/>
                <a:uLnTx/>
                <a:uFillTx/>
                <a:latin typeface="Arial"/>
                <a:ea typeface="+mn-ea"/>
                <a:cs typeface="Arial"/>
              </a:rPr>
              <a:t>Variable Universal Life &amp; Market Wealth Plus</a:t>
            </a:r>
          </a:p>
          <a:p>
            <a:pPr marL="342900" marR="0" lvl="0" indent="-342900" algn="l" defTabSz="914400" rtl="0" eaLnBrk="1" fontAlgn="auto" latinLnBrk="0" hangingPunct="1">
              <a:lnSpc>
                <a:spcPct val="100000"/>
              </a:lnSpc>
              <a:spcBef>
                <a:spcPts val="0"/>
              </a:spcBef>
              <a:spcAft>
                <a:spcPts val="600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E2DFDD">
                    <a:lumMod val="10000"/>
                  </a:srgbClr>
                </a:solidFill>
                <a:effectLst/>
                <a:uLnTx/>
                <a:uFillTx/>
                <a:latin typeface="Arial"/>
                <a:ea typeface="+mn-ea"/>
                <a:cs typeface="Arial"/>
              </a:rPr>
              <a:t>Premier and Premier Plus Variable Annuity</a:t>
            </a:r>
          </a:p>
        </p:txBody>
      </p:sp>
      <p:sp>
        <p:nvSpPr>
          <p:cNvPr id="13" name="Tag"/>
          <p:cNvSpPr/>
          <p:nvPr/>
        </p:nvSpPr>
        <p:spPr>
          <a:xfrm>
            <a:off x="3818024" y="2499699"/>
            <a:ext cx="6709299" cy="457200"/>
          </a:xfrm>
          <a:prstGeom prst="roundRect">
            <a:avLst>
              <a:gd name="adj" fmla="val 50000"/>
            </a:avLst>
          </a:prstGeom>
          <a:solidFill>
            <a:srgbClr val="0468FF"/>
          </a:solidFill>
          <a:ln w="0">
            <a:noFill/>
          </a:ln>
        </p:spPr>
        <p:txBody>
          <a:bodyPr wrap="square" lIns="91440" tIns="0" rIns="91440" bIns="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Arial"/>
              </a:rPr>
              <a:t>12% DCA SPECIAL RATE ENDS AUGUST 21</a:t>
            </a:r>
          </a:p>
        </p:txBody>
      </p:sp>
      <p:sp>
        <p:nvSpPr>
          <p:cNvPr id="2" name="Rectangle 1">
            <a:extLst>
              <a:ext uri="{FF2B5EF4-FFF2-40B4-BE49-F238E27FC236}">
                <a16:creationId xmlns:a16="http://schemas.microsoft.com/office/drawing/2014/main" id="{654754B8-BC83-D693-C522-32D9FFEAD440}"/>
              </a:ext>
            </a:extLst>
          </p:cNvPr>
          <p:cNvSpPr/>
          <p:nvPr/>
        </p:nvSpPr>
        <p:spPr bwMode="ltGray">
          <a:xfrm>
            <a:off x="8264323" y="4113791"/>
            <a:ext cx="3543761" cy="1844773"/>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5" name="Isosceles Triangle 4">
            <a:extLst>
              <a:ext uri="{FF2B5EF4-FFF2-40B4-BE49-F238E27FC236}">
                <a16:creationId xmlns:a16="http://schemas.microsoft.com/office/drawing/2014/main" id="{3DEA177D-30AC-494E-08D8-BA23C0D166ED}"/>
              </a:ext>
            </a:extLst>
          </p:cNvPr>
          <p:cNvSpPr/>
          <p:nvPr/>
        </p:nvSpPr>
        <p:spPr bwMode="ltGray">
          <a:xfrm rot="5400000">
            <a:off x="9590354" y="4918161"/>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6" name="TextBox 5">
            <a:extLst>
              <a:ext uri="{FF2B5EF4-FFF2-40B4-BE49-F238E27FC236}">
                <a16:creationId xmlns:a16="http://schemas.microsoft.com/office/drawing/2014/main" id="{08352170-9DEE-A0D1-B60C-48189720B316}"/>
              </a:ext>
            </a:extLst>
          </p:cNvPr>
          <p:cNvSpPr txBox="1"/>
          <p:nvPr/>
        </p:nvSpPr>
        <p:spPr>
          <a:xfrm>
            <a:off x="8533572" y="4420624"/>
            <a:ext cx="1069091" cy="1231106"/>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for details on Info Central.</a:t>
            </a:r>
            <a:endParaRPr kumimoji="0" lang="en-US" sz="1600" b="0" i="0" u="none" strike="noStrike" kern="1200" cap="none" spc="0" normalizeH="0" baseline="0" noProof="0">
              <a:ln>
                <a:noFill/>
              </a:ln>
              <a:solidFill>
                <a:srgbClr val="7FB9FF"/>
              </a:solidFill>
              <a:effectLst/>
              <a:uLnTx/>
              <a:uFillTx/>
              <a:latin typeface="Arial"/>
              <a:ea typeface="+mn-ea"/>
              <a:cs typeface="+mn-cs"/>
            </a:endParaRPr>
          </a:p>
        </p:txBody>
      </p:sp>
      <p:pic>
        <p:nvPicPr>
          <p:cNvPr id="7" name="Picture 6">
            <a:extLst>
              <a:ext uri="{FF2B5EF4-FFF2-40B4-BE49-F238E27FC236}">
                <a16:creationId xmlns:a16="http://schemas.microsoft.com/office/drawing/2014/main" id="{51ABFF0F-9D15-9097-95A5-EEA1C650E7C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963310" y="4113791"/>
            <a:ext cx="1844773" cy="1844773"/>
          </a:xfrm>
          <a:prstGeom prst="rect">
            <a:avLst/>
          </a:prstGeom>
        </p:spPr>
      </p:pic>
      <p:sp>
        <p:nvSpPr>
          <p:cNvPr id="14" name="TextBox 13">
            <a:extLst>
              <a:ext uri="{FF2B5EF4-FFF2-40B4-BE49-F238E27FC236}">
                <a16:creationId xmlns:a16="http://schemas.microsoft.com/office/drawing/2014/main" id="{DB75CEE2-1121-7FC8-8EF0-71DEFC9E4EC1}"/>
              </a:ext>
            </a:extLst>
          </p:cNvPr>
          <p:cNvSpPr txBox="1"/>
          <p:nvPr/>
        </p:nvSpPr>
        <p:spPr>
          <a:xfrm>
            <a:off x="3297263" y="4502698"/>
            <a:ext cx="4678509" cy="1066959"/>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DCA Plus client mailing reminder</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Select clients received an email promoting the 12% DCA Plus rate. Review your Sales Central client list and follow up with clients who may benefit.</a:t>
            </a:r>
          </a:p>
        </p:txBody>
      </p:sp>
      <p:sp>
        <p:nvSpPr>
          <p:cNvPr id="17" name="Title 16">
            <a:extLst>
              <a:ext uri="{FF2B5EF4-FFF2-40B4-BE49-F238E27FC236}">
                <a16:creationId xmlns:a16="http://schemas.microsoft.com/office/drawing/2014/main" id="{1BC51D4F-1CFD-EF5F-44B0-0EF2C7783897}"/>
              </a:ext>
            </a:extLst>
          </p:cNvPr>
          <p:cNvSpPr>
            <a:spLocks noGrp="1"/>
          </p:cNvSpPr>
          <p:nvPr>
            <p:ph type="title"/>
          </p:nvPr>
        </p:nvSpPr>
        <p:spPr/>
        <p:txBody>
          <a:bodyPr/>
          <a:lstStyle/>
          <a:p>
            <a:r>
              <a:rPr lang="en-US"/>
              <a:t>12% DCA – Offer ends this week</a:t>
            </a:r>
          </a:p>
        </p:txBody>
      </p:sp>
      <p:pic>
        <p:nvPicPr>
          <p:cNvPr id="18" name="Picture 17">
            <a:extLst>
              <a:ext uri="{FF2B5EF4-FFF2-40B4-BE49-F238E27FC236}">
                <a16:creationId xmlns:a16="http://schemas.microsoft.com/office/drawing/2014/main" id="{8EE8FAAC-470C-44C5-AEBC-6F037E97762C}"/>
              </a:ext>
            </a:extLst>
          </p:cNvPr>
          <p:cNvPicPr>
            <a:picLocks noChangeAspect="1"/>
          </p:cNvPicPr>
          <p:nvPr/>
        </p:nvPicPr>
        <p:blipFill>
          <a:blip r:embed="rId4" cstate="print">
            <a:extLst>
              <a:ext uri="{28A0092B-C50C-407E-A947-70E740481C1C}">
                <a14:useLocalDpi xmlns:a14="http://schemas.microsoft.com/office/drawing/2010/main" val="0"/>
              </a:ext>
            </a:extLst>
          </a:blip>
          <a:srcRect b="1667"/>
          <a:stretch>
            <a:fillRect/>
          </a:stretch>
        </p:blipFill>
        <p:spPr>
          <a:xfrm>
            <a:off x="421041" y="4113791"/>
            <a:ext cx="2644194" cy="1844773"/>
          </a:xfrm>
          <a:prstGeom prst="rect">
            <a:avLst/>
          </a:prstGeom>
        </p:spPr>
      </p:pic>
      <p:sp>
        <p:nvSpPr>
          <p:cNvPr id="21" name="TextBox 20">
            <a:extLst>
              <a:ext uri="{FF2B5EF4-FFF2-40B4-BE49-F238E27FC236}">
                <a16:creationId xmlns:a16="http://schemas.microsoft.com/office/drawing/2014/main" id="{0DC375DA-342E-AF6C-6CCA-76AE5DF9CA82}"/>
              </a:ext>
            </a:extLst>
          </p:cNvPr>
          <p:cNvSpPr txBox="1"/>
          <p:nvPr/>
        </p:nvSpPr>
        <p:spPr>
          <a:xfrm>
            <a:off x="4892534" y="3078553"/>
            <a:ext cx="4560277" cy="646331"/>
          </a:xfrm>
          <a:prstGeom prst="rect">
            <a:avLst/>
          </a:prstGeom>
          <a:noFill/>
        </p:spPr>
        <p:txBody>
          <a:bodyPr wrap="square">
            <a:spAutoFit/>
          </a:bodyPr>
          <a:lstStyle/>
          <a:p>
            <a:pPr marL="404813" marR="0" lvl="0" indent="0" algn="ctr" defTabSz="914400" rtl="0" eaLnBrk="1" fontAlgn="auto" latinLnBrk="0" hangingPunct="1">
              <a:lnSpc>
                <a:spcPct val="100000"/>
              </a:lnSpc>
              <a:spcBef>
                <a:spcPts val="0"/>
              </a:spcBef>
              <a:spcAft>
                <a:spcPts val="400"/>
              </a:spcAft>
              <a:buClrTx/>
              <a:buSzTx/>
              <a:buFontTx/>
              <a:buNone/>
              <a:tabLst/>
              <a:defRPr/>
            </a:pPr>
            <a:r>
              <a:rPr kumimoji="0" lang="en-US" sz="1800" b="1" i="0" u="none" strike="noStrike" kern="1200" cap="none" spc="0" normalizeH="0" baseline="0" noProof="0">
                <a:ln>
                  <a:noFill/>
                </a:ln>
                <a:solidFill>
                  <a:srgbClr val="000A62"/>
                </a:solidFill>
                <a:effectLst/>
                <a:uLnTx/>
                <a:uFillTx/>
                <a:latin typeface="Arial"/>
                <a:ea typeface="+mn-ea"/>
                <a:cs typeface="Arial"/>
              </a:rPr>
              <a:t>Take advantage of this limited-time opportunity before it expires.</a:t>
            </a:r>
            <a:endParaRPr kumimoji="0" lang="en-US" sz="2400" b="1" i="0" u="none" strike="noStrike" kern="1200" cap="none" spc="0" normalizeH="0" baseline="0" noProof="0">
              <a:ln>
                <a:noFill/>
              </a:ln>
              <a:solidFill>
                <a:srgbClr val="000A62"/>
              </a:solidFill>
              <a:effectLst/>
              <a:uLnTx/>
              <a:uFillTx/>
              <a:latin typeface="Arial"/>
              <a:ea typeface="+mn-ea"/>
              <a:cs typeface="Arial"/>
            </a:endParaRPr>
          </a:p>
        </p:txBody>
      </p:sp>
    </p:spTree>
    <p:extLst>
      <p:ext uri="{BB962C8B-B14F-4D97-AF65-F5344CB8AC3E}">
        <p14:creationId xmlns:p14="http://schemas.microsoft.com/office/powerpoint/2010/main" val="2642034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50E69-FD0A-BCD5-269B-D007C6CC4F1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B27DF09-63CC-B129-F1B7-8A63651FD6E4}"/>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81030964-0D78-06DE-1E07-0752CF3EBBAB}"/>
              </a:ext>
            </a:extLst>
          </p:cNvPr>
          <p:cNvSpPr>
            <a:spLocks noGrp="1"/>
          </p:cNvSpPr>
          <p:nvPr>
            <p:ph type="title"/>
          </p:nvPr>
        </p:nvSpPr>
        <p:spPr/>
        <p:txBody>
          <a:bodyPr/>
          <a:lstStyle/>
          <a:p>
            <a:r>
              <a:rPr lang="en-US"/>
              <a:t>Don’t miss the next Advanced Life Sales Series webinar</a:t>
            </a:r>
          </a:p>
        </p:txBody>
      </p:sp>
      <p:sp>
        <p:nvSpPr>
          <p:cNvPr id="3" name="Content Placeholder 2">
            <a:extLst>
              <a:ext uri="{FF2B5EF4-FFF2-40B4-BE49-F238E27FC236}">
                <a16:creationId xmlns:a16="http://schemas.microsoft.com/office/drawing/2014/main" id="{5AC208E5-8149-36EE-5B88-FDBD98698493}"/>
              </a:ext>
            </a:extLst>
          </p:cNvPr>
          <p:cNvSpPr>
            <a:spLocks noGrp="1"/>
          </p:cNvSpPr>
          <p:nvPr>
            <p:ph idx="1"/>
          </p:nvPr>
        </p:nvSpPr>
        <p:spPr>
          <a:xfrm>
            <a:off x="457199" y="2499397"/>
            <a:ext cx="7076095" cy="2683856"/>
          </a:xfrm>
        </p:spPr>
        <p:txBody>
          <a:bodyPr/>
          <a:lstStyle/>
          <a:p>
            <a:pPr marL="0" indent="0">
              <a:lnSpc>
                <a:spcPct val="100000"/>
              </a:lnSpc>
              <a:spcBef>
                <a:spcPts val="0"/>
              </a:spcBef>
              <a:spcAft>
                <a:spcPts val="600"/>
              </a:spcAft>
              <a:buNone/>
            </a:pPr>
            <a:r>
              <a:rPr lang="en-US" sz="1800" b="1"/>
              <a:t>Join Brad Trevino for a practical discussion on planning opportunities for business owners:</a:t>
            </a:r>
          </a:p>
          <a:p>
            <a:pPr>
              <a:lnSpc>
                <a:spcPct val="100000"/>
              </a:lnSpc>
              <a:spcBef>
                <a:spcPts val="0"/>
              </a:spcBef>
              <a:spcAft>
                <a:spcPts val="400"/>
              </a:spcAft>
            </a:pPr>
            <a:r>
              <a:rPr lang="en-US" sz="1800"/>
              <a:t>Business succession and exit planning</a:t>
            </a:r>
          </a:p>
          <a:p>
            <a:pPr>
              <a:lnSpc>
                <a:spcPct val="100000"/>
              </a:lnSpc>
              <a:spcBef>
                <a:spcPts val="0"/>
              </a:spcBef>
              <a:spcAft>
                <a:spcPts val="400"/>
              </a:spcAft>
            </a:pPr>
            <a:r>
              <a:rPr lang="en-US" sz="1800"/>
              <a:t>Ownership transfer and inheritance equalization</a:t>
            </a:r>
          </a:p>
          <a:p>
            <a:pPr>
              <a:lnSpc>
                <a:spcPct val="100000"/>
              </a:lnSpc>
              <a:spcBef>
                <a:spcPts val="0"/>
              </a:spcBef>
              <a:spcAft>
                <a:spcPts val="400"/>
              </a:spcAft>
            </a:pPr>
            <a:r>
              <a:rPr lang="en-US" sz="1800"/>
              <a:t>Supplemental retirement income using life insurance</a:t>
            </a:r>
          </a:p>
          <a:p>
            <a:pPr>
              <a:lnSpc>
                <a:spcPct val="100000"/>
              </a:lnSpc>
              <a:spcBef>
                <a:spcPts val="0"/>
              </a:spcBef>
              <a:spcAft>
                <a:spcPts val="600"/>
              </a:spcAft>
            </a:pPr>
            <a:r>
              <a:rPr lang="en-US" sz="1800"/>
              <a:t>Gain actionable ideas to start meaningful conversations and uncover new planning opportunities with business-owner clients.</a:t>
            </a:r>
          </a:p>
        </p:txBody>
      </p:sp>
      <p:sp>
        <p:nvSpPr>
          <p:cNvPr id="4" name="Text Placeholder 3">
            <a:extLst>
              <a:ext uri="{FF2B5EF4-FFF2-40B4-BE49-F238E27FC236}">
                <a16:creationId xmlns:a16="http://schemas.microsoft.com/office/drawing/2014/main" id="{7364DE79-C889-4840-1EB4-A3789043FBCA}"/>
              </a:ext>
            </a:extLst>
          </p:cNvPr>
          <p:cNvSpPr>
            <a:spLocks noGrp="1"/>
          </p:cNvSpPr>
          <p:nvPr>
            <p:ph type="body" sz="quarter" idx="12"/>
          </p:nvPr>
        </p:nvSpPr>
        <p:spPr>
          <a:xfrm>
            <a:off x="439946" y="953242"/>
            <a:ext cx="11294854" cy="496033"/>
          </a:xfrm>
        </p:spPr>
        <p:txBody>
          <a:bodyPr/>
          <a:lstStyle/>
          <a:p>
            <a:r>
              <a:rPr lang="en-US" sz="2600"/>
              <a:t>Planning for the Business Owner</a:t>
            </a:r>
          </a:p>
        </p:txBody>
      </p:sp>
      <p:sp>
        <p:nvSpPr>
          <p:cNvPr id="7" name="Rectangle 6">
            <a:extLst>
              <a:ext uri="{FF2B5EF4-FFF2-40B4-BE49-F238E27FC236}">
                <a16:creationId xmlns:a16="http://schemas.microsoft.com/office/drawing/2014/main" id="{ED74C00D-9F7B-3F65-652E-7B7DEB94F195}"/>
              </a:ext>
            </a:extLst>
          </p:cNvPr>
          <p:cNvSpPr/>
          <p:nvPr/>
        </p:nvSpPr>
        <p:spPr bwMode="ltGray">
          <a:xfrm>
            <a:off x="439945" y="4820093"/>
            <a:ext cx="4915825"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12" name="Isosceles Triangle 11">
            <a:extLst>
              <a:ext uri="{FF2B5EF4-FFF2-40B4-BE49-F238E27FC236}">
                <a16:creationId xmlns:a16="http://schemas.microsoft.com/office/drawing/2014/main" id="{46C26FF9-3D02-8BD3-5347-CA3E6A1E40A4}"/>
              </a:ext>
            </a:extLst>
          </p:cNvPr>
          <p:cNvSpPr/>
          <p:nvPr/>
        </p:nvSpPr>
        <p:spPr bwMode="ltGray">
          <a:xfrm rot="5400000">
            <a:off x="4421120" y="5251916"/>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3" name="TextBox 12">
            <a:extLst>
              <a:ext uri="{FF2B5EF4-FFF2-40B4-BE49-F238E27FC236}">
                <a16:creationId xmlns:a16="http://schemas.microsoft.com/office/drawing/2014/main" id="{2EF3BFB8-753F-58ED-38B0-7E90816AE24F}"/>
              </a:ext>
            </a:extLst>
          </p:cNvPr>
          <p:cNvSpPr txBox="1"/>
          <p:nvPr/>
        </p:nvSpPr>
        <p:spPr>
          <a:xfrm>
            <a:off x="858523" y="5123711"/>
            <a:ext cx="3491402"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to register for the Advanced Life Sales Series webinar.</a:t>
            </a:r>
            <a:endParaRPr kumimoji="0" lang="en-US" sz="1600" b="0" i="0" u="none" strike="noStrike" kern="1200" cap="none" spc="0" normalizeH="0" baseline="0" noProof="0">
              <a:ln>
                <a:noFill/>
              </a:ln>
              <a:solidFill>
                <a:srgbClr val="7FB9FF"/>
              </a:solidFill>
              <a:effectLst/>
              <a:uLnTx/>
              <a:uFillTx/>
              <a:latin typeface="Arial"/>
              <a:ea typeface="+mn-ea"/>
              <a:cs typeface="+mn-cs"/>
            </a:endParaRPr>
          </a:p>
        </p:txBody>
      </p:sp>
      <p:sp>
        <p:nvSpPr>
          <p:cNvPr id="6" name="Rectangle 5">
            <a:extLst>
              <a:ext uri="{FF2B5EF4-FFF2-40B4-BE49-F238E27FC236}">
                <a16:creationId xmlns:a16="http://schemas.microsoft.com/office/drawing/2014/main" id="{6EC97203-69D5-70CD-8A7D-BDAB5085EA44}"/>
              </a:ext>
            </a:extLst>
          </p:cNvPr>
          <p:cNvSpPr/>
          <p:nvPr/>
        </p:nvSpPr>
        <p:spPr bwMode="ltGray">
          <a:xfrm>
            <a:off x="457199" y="1535039"/>
            <a:ext cx="6825344" cy="840171"/>
          </a:xfrm>
          <a:prstGeom prst="rect">
            <a:avLst/>
          </a:prstGeom>
          <a:solidFill>
            <a:srgbClr val="0468FF"/>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9" name="Picture 8">
            <a:extLst>
              <a:ext uri="{FF2B5EF4-FFF2-40B4-BE49-F238E27FC236}">
                <a16:creationId xmlns:a16="http://schemas.microsoft.com/office/drawing/2014/main" id="{5B33E6F2-F8BE-E41F-7F8F-9A7F7610987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6311" y="1700896"/>
            <a:ext cx="508694" cy="508456"/>
          </a:xfrm>
          <a:prstGeom prst="rect">
            <a:avLst/>
          </a:prstGeom>
        </p:spPr>
      </p:pic>
      <p:sp>
        <p:nvSpPr>
          <p:cNvPr id="10" name="TextBox 9">
            <a:extLst>
              <a:ext uri="{FF2B5EF4-FFF2-40B4-BE49-F238E27FC236}">
                <a16:creationId xmlns:a16="http://schemas.microsoft.com/office/drawing/2014/main" id="{B39507FA-44D0-AACB-A71F-F78BADB00D72}"/>
              </a:ext>
            </a:extLst>
          </p:cNvPr>
          <p:cNvSpPr txBox="1"/>
          <p:nvPr/>
        </p:nvSpPr>
        <p:spPr>
          <a:xfrm>
            <a:off x="1512437" y="1678125"/>
            <a:ext cx="4343399" cy="55399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Date: Wednesday, August 19, 2026</a:t>
            </a:r>
            <a:br>
              <a:rPr kumimoji="0" lang="en-US" sz="1800" b="0" i="0" u="none" strike="noStrike" kern="1200" cap="none" spc="0" normalizeH="0" baseline="0" noProof="0">
                <a:ln>
                  <a:noFill/>
                </a:ln>
                <a:solidFill>
                  <a:srgbClr val="FFFFFF"/>
                </a:solidFill>
                <a:effectLst/>
                <a:uLnTx/>
                <a:uFillTx/>
                <a:latin typeface="Arial"/>
                <a:ea typeface="+mn-ea"/>
                <a:cs typeface="+mn-cs"/>
              </a:rPr>
            </a:br>
            <a:r>
              <a:rPr kumimoji="0" lang="en-US" sz="1800" b="0" i="0" u="none" strike="noStrike" kern="1200" cap="none" spc="0" normalizeH="0" baseline="0" noProof="0">
                <a:ln>
                  <a:noFill/>
                </a:ln>
                <a:solidFill>
                  <a:srgbClr val="FFFFFF"/>
                </a:solidFill>
                <a:effectLst/>
                <a:uLnTx/>
                <a:uFillTx/>
                <a:latin typeface="Arial"/>
                <a:ea typeface="+mn-ea"/>
                <a:cs typeface="+mn-cs"/>
              </a:rPr>
              <a:t>Time: </a:t>
            </a:r>
            <a:r>
              <a:rPr kumimoji="0" lang="en-US" sz="1800" b="1" i="0" u="none" strike="noStrike" kern="1200" cap="none" spc="0" normalizeH="0" baseline="0" noProof="0">
                <a:ln>
                  <a:noFill/>
                </a:ln>
                <a:solidFill>
                  <a:srgbClr val="FFFFFF"/>
                </a:solidFill>
                <a:effectLst/>
                <a:uLnTx/>
                <a:uFillTx/>
                <a:latin typeface="Arial"/>
                <a:ea typeface="+mn-ea"/>
                <a:cs typeface="+mn-cs"/>
              </a:rPr>
              <a:t>3:00 p.m. – 4:00 p.m. ET</a:t>
            </a:r>
            <a:r>
              <a:rPr kumimoji="0" lang="en-US" sz="1800" b="0" i="0" u="none" strike="noStrike" kern="1200" cap="none" spc="0" normalizeH="0" baseline="30000" noProof="0">
                <a:ln>
                  <a:noFill/>
                </a:ln>
                <a:solidFill>
                  <a:srgbClr val="FFFFFF"/>
                </a:solidFill>
                <a:effectLst/>
                <a:uLnTx/>
                <a:uFillTx/>
                <a:latin typeface="Arial"/>
                <a:ea typeface="+mn-ea"/>
                <a:cs typeface="+mn-cs"/>
              </a:rPr>
              <a:t>*</a:t>
            </a:r>
          </a:p>
        </p:txBody>
      </p:sp>
      <p:pic>
        <p:nvPicPr>
          <p:cNvPr id="14" name="Picture 13">
            <a:extLst>
              <a:ext uri="{FF2B5EF4-FFF2-40B4-BE49-F238E27FC236}">
                <a16:creationId xmlns:a16="http://schemas.microsoft.com/office/drawing/2014/main" id="{CA97291C-9E54-B1CF-89A0-8F20968C74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4919733" y="4820092"/>
            <a:ext cx="1099680" cy="1099680"/>
          </a:xfrm>
          <a:prstGeom prst="rect">
            <a:avLst/>
          </a:prstGeom>
        </p:spPr>
      </p:pic>
      <p:sp>
        <p:nvSpPr>
          <p:cNvPr id="20" name="TextBox 19">
            <a:extLst>
              <a:ext uri="{FF2B5EF4-FFF2-40B4-BE49-F238E27FC236}">
                <a16:creationId xmlns:a16="http://schemas.microsoft.com/office/drawing/2014/main" id="{C1B888B7-9C1B-6E26-4342-A95460DAAF2F}"/>
              </a:ext>
            </a:extLst>
          </p:cNvPr>
          <p:cNvSpPr txBox="1"/>
          <p:nvPr/>
        </p:nvSpPr>
        <p:spPr>
          <a:xfrm>
            <a:off x="2807836" y="6311986"/>
            <a:ext cx="6096000" cy="184666"/>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962"/>
                </a:solidFill>
                <a:effectLst/>
                <a:uLnTx/>
                <a:uFillTx/>
                <a:latin typeface="Arial"/>
                <a:ea typeface="+mn-ea"/>
                <a:cs typeface="+mn-cs"/>
              </a:rPr>
              <a:t>*3:00 p.m. ET | 2:00 p.m. CT | 1:00 p.m. MT | 12:00 p.m. PT</a:t>
            </a:r>
          </a:p>
        </p:txBody>
      </p:sp>
      <p:sp>
        <p:nvSpPr>
          <p:cNvPr id="8" name="Rectangle 7">
            <a:extLst>
              <a:ext uri="{FF2B5EF4-FFF2-40B4-BE49-F238E27FC236}">
                <a16:creationId xmlns:a16="http://schemas.microsoft.com/office/drawing/2014/main" id="{504D0AB2-2E0D-8B33-2DF8-15CC73BD41D4}"/>
              </a:ext>
            </a:extLst>
          </p:cNvPr>
          <p:cNvSpPr/>
          <p:nvPr/>
        </p:nvSpPr>
        <p:spPr>
          <a:xfrm>
            <a:off x="7968667" y="1535038"/>
            <a:ext cx="3787960" cy="4369719"/>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1" name="TextBox 10">
            <a:extLst>
              <a:ext uri="{FF2B5EF4-FFF2-40B4-BE49-F238E27FC236}">
                <a16:creationId xmlns:a16="http://schemas.microsoft.com/office/drawing/2014/main" id="{B39F14F0-1AEB-09AD-8162-BDD8163CBCC0}"/>
              </a:ext>
            </a:extLst>
          </p:cNvPr>
          <p:cNvSpPr txBox="1"/>
          <p:nvPr/>
        </p:nvSpPr>
        <p:spPr>
          <a:xfrm>
            <a:off x="7986302" y="1541055"/>
            <a:ext cx="3761561" cy="430887"/>
          </a:xfrm>
          <a:prstGeom prst="rect">
            <a:avLst/>
          </a:prstGeom>
          <a:solidFill>
            <a:schemeClr val="tx1"/>
          </a:solidFill>
        </p:spPr>
        <p:txBody>
          <a:bodyPr wrap="square" lIns="182880" tIns="91440" rIns="91440" bIns="9144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srgbClr val="FFFFFF"/>
                </a:solidFill>
                <a:effectLst/>
                <a:uLnTx/>
                <a:uFillTx/>
                <a:latin typeface="Arial"/>
                <a:ea typeface="+mn-ea"/>
                <a:cs typeface="+mn-cs"/>
              </a:rPr>
              <a:t>Featured speaker</a:t>
            </a:r>
          </a:p>
        </p:txBody>
      </p:sp>
      <p:sp>
        <p:nvSpPr>
          <p:cNvPr id="16" name="TextBox 15">
            <a:extLst>
              <a:ext uri="{FF2B5EF4-FFF2-40B4-BE49-F238E27FC236}">
                <a16:creationId xmlns:a16="http://schemas.microsoft.com/office/drawing/2014/main" id="{4217B32F-CD1A-8142-9F4D-CDFA413BEDA2}"/>
              </a:ext>
            </a:extLst>
          </p:cNvPr>
          <p:cNvSpPr txBox="1"/>
          <p:nvPr/>
        </p:nvSpPr>
        <p:spPr>
          <a:xfrm>
            <a:off x="7934618" y="5165164"/>
            <a:ext cx="3787960" cy="677108"/>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srgbClr val="FFFFFF"/>
                </a:solidFill>
                <a:effectLst/>
                <a:uLnTx/>
                <a:uFillTx/>
                <a:latin typeface="Arial"/>
                <a:ea typeface="+mn-ea"/>
                <a:cs typeface="+mn-cs"/>
              </a:rPr>
              <a:t>Brad Trevino </a:t>
            </a:r>
            <a:r>
              <a:rPr kumimoji="0" lang="en-IN" sz="1600" b="0" i="0" u="none" strike="noStrike" kern="1200" cap="none" spc="0" normalizeH="0" baseline="0" noProof="0">
                <a:ln>
                  <a:noFill/>
                </a:ln>
                <a:solidFill>
                  <a:srgbClr val="FFFFFF"/>
                </a:solidFill>
                <a:effectLst/>
                <a:uLnTx/>
                <a:uFillTx/>
                <a:latin typeface="Arial"/>
                <a:ea typeface="+mn-ea"/>
                <a:cs typeface="+mn-cs"/>
              </a:rPr>
              <a:t>JD, LL.M, MBA, MS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FFFFFF"/>
                </a:solidFill>
                <a:effectLst/>
                <a:uLnTx/>
                <a:uFillTx/>
                <a:latin typeface="Arial"/>
                <a:ea typeface="+mn-ea"/>
                <a:cs typeface="+mn-cs"/>
              </a:rPr>
              <a:t>Corporate Vice President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FFFFFF"/>
                </a:solidFill>
                <a:effectLst/>
                <a:uLnTx/>
                <a:uFillTx/>
                <a:latin typeface="Arial"/>
                <a:ea typeface="+mn-ea"/>
                <a:cs typeface="+mn-cs"/>
              </a:rPr>
              <a:t>Senior Advanced Planning Consultant</a:t>
            </a:r>
          </a:p>
        </p:txBody>
      </p:sp>
      <p:pic>
        <p:nvPicPr>
          <p:cNvPr id="17" name="Picture 16">
            <a:extLst>
              <a:ext uri="{FF2B5EF4-FFF2-40B4-BE49-F238E27FC236}">
                <a16:creationId xmlns:a16="http://schemas.microsoft.com/office/drawing/2014/main" id="{D6C824F2-649D-E5FE-F0F7-B8D99DCE0A58}"/>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354590" y="2086566"/>
            <a:ext cx="3016114" cy="3016114"/>
          </a:xfrm>
          <a:prstGeom prst="rect">
            <a:avLst/>
          </a:prstGeom>
        </p:spPr>
      </p:pic>
    </p:spTree>
    <p:extLst>
      <p:ext uri="{BB962C8B-B14F-4D97-AF65-F5344CB8AC3E}">
        <p14:creationId xmlns:p14="http://schemas.microsoft.com/office/powerpoint/2010/main" val="2644513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FA29D-2359-3BF7-DFCF-3A5517FA794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8E2D3E4-4BE8-51E9-95D4-F92884983387}"/>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1D8CD15C-392F-B228-0725-63B8A0400B1A}"/>
              </a:ext>
            </a:extLst>
          </p:cNvPr>
          <p:cNvSpPr/>
          <p:nvPr/>
        </p:nvSpPr>
        <p:spPr bwMode="ltGray">
          <a:xfrm>
            <a:off x="457199" y="1535039"/>
            <a:ext cx="6825344" cy="840171"/>
          </a:xfrm>
          <a:prstGeom prst="rect">
            <a:avLst/>
          </a:prstGeom>
          <a:solidFill>
            <a:srgbClr val="0468FF"/>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2" name="Title 1">
            <a:extLst>
              <a:ext uri="{FF2B5EF4-FFF2-40B4-BE49-F238E27FC236}">
                <a16:creationId xmlns:a16="http://schemas.microsoft.com/office/drawing/2014/main" id="{AE28D651-C31B-68FE-AAE8-341ADB9C5EE7}"/>
              </a:ext>
            </a:extLst>
          </p:cNvPr>
          <p:cNvSpPr>
            <a:spLocks noGrp="1"/>
          </p:cNvSpPr>
          <p:nvPr>
            <p:ph type="title"/>
          </p:nvPr>
        </p:nvSpPr>
        <p:spPr/>
        <p:txBody>
          <a:bodyPr/>
          <a:lstStyle/>
          <a:p>
            <a:r>
              <a:rPr lang="en-US"/>
              <a:t>September National PLAN Webinar</a:t>
            </a:r>
          </a:p>
        </p:txBody>
      </p:sp>
      <p:sp>
        <p:nvSpPr>
          <p:cNvPr id="3" name="Content Placeholder 2">
            <a:extLst>
              <a:ext uri="{FF2B5EF4-FFF2-40B4-BE49-F238E27FC236}">
                <a16:creationId xmlns:a16="http://schemas.microsoft.com/office/drawing/2014/main" id="{3C14D308-26C3-9585-0D2E-BEBA273DDCF6}"/>
              </a:ext>
            </a:extLst>
          </p:cNvPr>
          <p:cNvSpPr>
            <a:spLocks noGrp="1"/>
          </p:cNvSpPr>
          <p:nvPr>
            <p:ph idx="1"/>
          </p:nvPr>
        </p:nvSpPr>
        <p:spPr>
          <a:xfrm>
            <a:off x="469788" y="2649239"/>
            <a:ext cx="6421814" cy="2203510"/>
          </a:xfrm>
        </p:spPr>
        <p:txBody>
          <a:bodyPr/>
          <a:lstStyle/>
          <a:p>
            <a:pPr marL="0" indent="0">
              <a:lnSpc>
                <a:spcPct val="114000"/>
              </a:lnSpc>
              <a:buNone/>
            </a:pPr>
            <a:r>
              <a:rPr lang="en-US" sz="1800"/>
              <a:t>In recognition of Life Insurance Awareness Month, join </a:t>
            </a:r>
            <a:br>
              <a:rPr lang="en-US" sz="1800"/>
            </a:br>
            <a:r>
              <a:rPr lang="en-US" sz="1800" b="1"/>
              <a:t>John Egan </a:t>
            </a:r>
            <a:r>
              <a:rPr lang="en-US" sz="1800"/>
              <a:t>and President’s Council agent </a:t>
            </a:r>
            <a:r>
              <a:rPr lang="en-US" sz="1800" b="1"/>
              <a:t>Maria Jimenez</a:t>
            </a:r>
            <a:r>
              <a:rPr lang="en-US" sz="1800"/>
              <a:t>, the company’s top case writer, for a practical conversation focused on improving case rate. Hear how Maria approaches Whole Life conversations, positions the value with clients, and connects the solution to their needs</a:t>
            </a:r>
            <a:r>
              <a:rPr lang="en-US"/>
              <a:t>.</a:t>
            </a:r>
          </a:p>
        </p:txBody>
      </p:sp>
      <p:sp>
        <p:nvSpPr>
          <p:cNvPr id="4" name="Text Placeholder 3">
            <a:extLst>
              <a:ext uri="{FF2B5EF4-FFF2-40B4-BE49-F238E27FC236}">
                <a16:creationId xmlns:a16="http://schemas.microsoft.com/office/drawing/2014/main" id="{57DCD786-5FC4-8337-868A-56420AAF834F}"/>
              </a:ext>
            </a:extLst>
          </p:cNvPr>
          <p:cNvSpPr>
            <a:spLocks noGrp="1"/>
          </p:cNvSpPr>
          <p:nvPr>
            <p:ph type="body" sz="quarter" idx="12"/>
          </p:nvPr>
        </p:nvSpPr>
        <p:spPr>
          <a:xfrm>
            <a:off x="439946" y="953242"/>
            <a:ext cx="11294854" cy="496033"/>
          </a:xfrm>
        </p:spPr>
        <p:txBody>
          <a:bodyPr/>
          <a:lstStyle/>
          <a:p>
            <a:r>
              <a:rPr lang="en-US" sz="2200"/>
              <a:t>Improve Your Case Rate. Write More WL Cases.</a:t>
            </a:r>
          </a:p>
        </p:txBody>
      </p:sp>
      <p:sp>
        <p:nvSpPr>
          <p:cNvPr id="7" name="Rectangle 6">
            <a:extLst>
              <a:ext uri="{FF2B5EF4-FFF2-40B4-BE49-F238E27FC236}">
                <a16:creationId xmlns:a16="http://schemas.microsoft.com/office/drawing/2014/main" id="{8E74B189-4B55-DB57-DC58-F5F26AA47966}"/>
              </a:ext>
            </a:extLst>
          </p:cNvPr>
          <p:cNvSpPr/>
          <p:nvPr/>
        </p:nvSpPr>
        <p:spPr bwMode="ltGray">
          <a:xfrm>
            <a:off x="439945" y="4820094"/>
            <a:ext cx="4915825"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8" name="Rectangle 7">
            <a:extLst>
              <a:ext uri="{FF2B5EF4-FFF2-40B4-BE49-F238E27FC236}">
                <a16:creationId xmlns:a16="http://schemas.microsoft.com/office/drawing/2014/main" id="{0E32CE6A-FD32-857C-6F15-6BDB10F076D7}"/>
              </a:ext>
            </a:extLst>
          </p:cNvPr>
          <p:cNvSpPr/>
          <p:nvPr/>
        </p:nvSpPr>
        <p:spPr>
          <a:xfrm>
            <a:off x="7968667" y="1535038"/>
            <a:ext cx="3787960" cy="4369719"/>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 name="Isosceles Triangle 11">
            <a:extLst>
              <a:ext uri="{FF2B5EF4-FFF2-40B4-BE49-F238E27FC236}">
                <a16:creationId xmlns:a16="http://schemas.microsoft.com/office/drawing/2014/main" id="{FA7D9749-D1E3-EB81-4DA6-3322E9907DBE}"/>
              </a:ext>
            </a:extLst>
          </p:cNvPr>
          <p:cNvSpPr/>
          <p:nvPr/>
        </p:nvSpPr>
        <p:spPr bwMode="ltGray">
          <a:xfrm rot="5400000">
            <a:off x="4421120" y="5251917"/>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3" name="TextBox 12">
            <a:extLst>
              <a:ext uri="{FF2B5EF4-FFF2-40B4-BE49-F238E27FC236}">
                <a16:creationId xmlns:a16="http://schemas.microsoft.com/office/drawing/2014/main" id="{4D8A75D9-214B-CCB7-6C1B-4903D07369F0}"/>
              </a:ext>
            </a:extLst>
          </p:cNvPr>
          <p:cNvSpPr txBox="1"/>
          <p:nvPr/>
        </p:nvSpPr>
        <p:spPr>
          <a:xfrm>
            <a:off x="858523" y="5123711"/>
            <a:ext cx="3491402"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to register for the September National PLAN webinar.</a:t>
            </a:r>
            <a:endParaRPr kumimoji="0" lang="en-US" sz="1600" b="0" i="0" u="none" strike="noStrike" kern="1200" cap="none" spc="0" normalizeH="0" baseline="0" noProof="0">
              <a:ln>
                <a:noFill/>
              </a:ln>
              <a:solidFill>
                <a:srgbClr val="7FB9FF"/>
              </a:solidFill>
              <a:effectLst/>
              <a:uLnTx/>
              <a:uFillTx/>
              <a:latin typeface="Arial"/>
              <a:ea typeface="+mn-ea"/>
              <a:cs typeface="+mn-cs"/>
            </a:endParaRPr>
          </a:p>
        </p:txBody>
      </p:sp>
      <p:sp>
        <p:nvSpPr>
          <p:cNvPr id="16" name="TextBox 15">
            <a:extLst>
              <a:ext uri="{FF2B5EF4-FFF2-40B4-BE49-F238E27FC236}">
                <a16:creationId xmlns:a16="http://schemas.microsoft.com/office/drawing/2014/main" id="{A60FAFF4-7904-365E-1F8F-0B8357E0E2C7}"/>
              </a:ext>
            </a:extLst>
          </p:cNvPr>
          <p:cNvSpPr txBox="1"/>
          <p:nvPr/>
        </p:nvSpPr>
        <p:spPr>
          <a:xfrm>
            <a:off x="7986302" y="1541055"/>
            <a:ext cx="3761561" cy="430887"/>
          </a:xfrm>
          <a:prstGeom prst="rect">
            <a:avLst/>
          </a:prstGeom>
          <a:solidFill>
            <a:schemeClr val="tx1"/>
          </a:solidFill>
        </p:spPr>
        <p:txBody>
          <a:bodyPr wrap="square" lIns="182880" tIns="91440" rIns="91440" bIns="9144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srgbClr val="FFFFFF"/>
                </a:solidFill>
                <a:effectLst/>
                <a:uLnTx/>
                <a:uFillTx/>
                <a:latin typeface="Arial"/>
                <a:ea typeface="+mn-ea"/>
                <a:cs typeface="+mn-cs"/>
              </a:rPr>
              <a:t>Featured speaker</a:t>
            </a:r>
          </a:p>
        </p:txBody>
      </p:sp>
      <p:sp>
        <p:nvSpPr>
          <p:cNvPr id="27" name="TextBox 26">
            <a:extLst>
              <a:ext uri="{FF2B5EF4-FFF2-40B4-BE49-F238E27FC236}">
                <a16:creationId xmlns:a16="http://schemas.microsoft.com/office/drawing/2014/main" id="{F5254A35-7E00-FAF7-C55B-CB00FFDC5CF6}"/>
              </a:ext>
            </a:extLst>
          </p:cNvPr>
          <p:cNvSpPr txBox="1"/>
          <p:nvPr/>
        </p:nvSpPr>
        <p:spPr>
          <a:xfrm>
            <a:off x="8354590" y="5165164"/>
            <a:ext cx="3016114" cy="677108"/>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srgbClr val="FFFFFF"/>
                </a:solidFill>
                <a:effectLst/>
                <a:uLnTx/>
                <a:uFillTx/>
                <a:latin typeface="Arial"/>
                <a:ea typeface="+mn-ea"/>
                <a:cs typeface="+mn-cs"/>
              </a:rPr>
              <a:t>Maria Jimenez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FFFFFF"/>
                </a:solidFill>
                <a:effectLst/>
                <a:uLnTx/>
                <a:uFillTx/>
                <a:latin typeface="Arial"/>
                <a:ea typeface="+mn-ea"/>
                <a:cs typeface="+mn-cs"/>
              </a:rPr>
              <a:t>President’s Council Agent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FFFFFF"/>
                </a:solidFill>
                <a:effectLst/>
                <a:uLnTx/>
                <a:uFillTx/>
                <a:latin typeface="Arial"/>
                <a:ea typeface="+mn-ea"/>
                <a:cs typeface="+mn-cs"/>
              </a:rPr>
              <a:t>Queens GO</a:t>
            </a:r>
          </a:p>
        </p:txBody>
      </p:sp>
      <p:pic>
        <p:nvPicPr>
          <p:cNvPr id="9" name="Picture 8">
            <a:extLst>
              <a:ext uri="{FF2B5EF4-FFF2-40B4-BE49-F238E27FC236}">
                <a16:creationId xmlns:a16="http://schemas.microsoft.com/office/drawing/2014/main" id="{A55AA3A4-7622-385A-EFF4-8F90337BFF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6311" y="1700896"/>
            <a:ext cx="508694" cy="508456"/>
          </a:xfrm>
          <a:prstGeom prst="rect">
            <a:avLst/>
          </a:prstGeom>
        </p:spPr>
      </p:pic>
      <p:sp>
        <p:nvSpPr>
          <p:cNvPr id="10" name="TextBox 9">
            <a:extLst>
              <a:ext uri="{FF2B5EF4-FFF2-40B4-BE49-F238E27FC236}">
                <a16:creationId xmlns:a16="http://schemas.microsoft.com/office/drawing/2014/main" id="{F511897D-EF22-0DCF-DFD6-FBD3163D7DEB}"/>
              </a:ext>
            </a:extLst>
          </p:cNvPr>
          <p:cNvSpPr txBox="1"/>
          <p:nvPr/>
        </p:nvSpPr>
        <p:spPr>
          <a:xfrm>
            <a:off x="1512437" y="1678125"/>
            <a:ext cx="4343399" cy="55399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Date: Wednesday, September 2, 2026</a:t>
            </a:r>
            <a:br>
              <a:rPr kumimoji="0" lang="en-US" sz="1800" b="0" i="0" u="none" strike="noStrike" kern="1200" cap="none" spc="0" normalizeH="0" baseline="0" noProof="0">
                <a:ln>
                  <a:noFill/>
                </a:ln>
                <a:solidFill>
                  <a:srgbClr val="FFFFFF"/>
                </a:solidFill>
                <a:effectLst/>
                <a:uLnTx/>
                <a:uFillTx/>
                <a:latin typeface="Arial"/>
                <a:ea typeface="+mn-ea"/>
                <a:cs typeface="+mn-cs"/>
              </a:rPr>
            </a:br>
            <a:r>
              <a:rPr kumimoji="0" lang="en-US" sz="1800" b="1" i="0" u="none" strike="noStrike" kern="1200" cap="none" spc="0" normalizeH="0" baseline="0" noProof="0">
                <a:ln>
                  <a:noFill/>
                </a:ln>
                <a:solidFill>
                  <a:srgbClr val="FFFFFF"/>
                </a:solidFill>
                <a:effectLst/>
                <a:uLnTx/>
                <a:uFillTx/>
                <a:latin typeface="Arial"/>
                <a:ea typeface="+mn-ea"/>
                <a:cs typeface="+mn-cs"/>
              </a:rPr>
              <a:t>Time: 2:00 p.m. ET</a:t>
            </a:r>
            <a:r>
              <a:rPr kumimoji="0" lang="en-US" sz="1800" b="0" i="0" u="none" strike="noStrike" kern="1200" cap="none" spc="0" normalizeH="0" baseline="30000" noProof="0">
                <a:ln>
                  <a:noFill/>
                </a:ln>
                <a:solidFill>
                  <a:srgbClr val="FFFFFF"/>
                </a:solidFill>
                <a:effectLst/>
                <a:uLnTx/>
                <a:uFillTx/>
                <a:latin typeface="Arial"/>
                <a:ea typeface="+mn-ea"/>
                <a:cs typeface="+mn-cs"/>
              </a:rPr>
              <a:t>*</a:t>
            </a:r>
          </a:p>
        </p:txBody>
      </p:sp>
      <p:pic>
        <p:nvPicPr>
          <p:cNvPr id="14" name="Picture 13">
            <a:extLst>
              <a:ext uri="{FF2B5EF4-FFF2-40B4-BE49-F238E27FC236}">
                <a16:creationId xmlns:a16="http://schemas.microsoft.com/office/drawing/2014/main" id="{8C3B9B2D-6B13-17EE-1845-2EE8305CD13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19733" y="4820092"/>
            <a:ext cx="1099680" cy="1099680"/>
          </a:xfrm>
          <a:prstGeom prst="rect">
            <a:avLst/>
          </a:prstGeom>
        </p:spPr>
      </p:pic>
      <p:pic>
        <p:nvPicPr>
          <p:cNvPr id="18" name="Picture 17">
            <a:extLst>
              <a:ext uri="{FF2B5EF4-FFF2-40B4-BE49-F238E27FC236}">
                <a16:creationId xmlns:a16="http://schemas.microsoft.com/office/drawing/2014/main" id="{D30634FF-5E55-EB0C-333F-21BE956917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54590" y="2086566"/>
            <a:ext cx="3016114" cy="3016114"/>
          </a:xfrm>
          <a:prstGeom prst="rect">
            <a:avLst/>
          </a:prstGeom>
        </p:spPr>
      </p:pic>
      <p:sp>
        <p:nvSpPr>
          <p:cNvPr id="20" name="TextBox 19">
            <a:extLst>
              <a:ext uri="{FF2B5EF4-FFF2-40B4-BE49-F238E27FC236}">
                <a16:creationId xmlns:a16="http://schemas.microsoft.com/office/drawing/2014/main" id="{3F539C49-EBA6-049C-5B65-719B4C8A3281}"/>
              </a:ext>
            </a:extLst>
          </p:cNvPr>
          <p:cNvSpPr txBox="1"/>
          <p:nvPr/>
        </p:nvSpPr>
        <p:spPr>
          <a:xfrm>
            <a:off x="2807836" y="6311986"/>
            <a:ext cx="6096000" cy="184666"/>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962"/>
                </a:solidFill>
                <a:effectLst/>
                <a:uLnTx/>
                <a:uFillTx/>
                <a:latin typeface="Arial"/>
                <a:ea typeface="+mn-ea"/>
                <a:cs typeface="+mn-cs"/>
              </a:rPr>
              <a:t>*2:00 p.m. ET | 1:00 p.m. CT | 12:00 p.m. MT | 11:00 a.m. PT</a:t>
            </a:r>
          </a:p>
        </p:txBody>
      </p:sp>
    </p:spTree>
    <p:extLst>
      <p:ext uri="{BB962C8B-B14F-4D97-AF65-F5344CB8AC3E}">
        <p14:creationId xmlns:p14="http://schemas.microsoft.com/office/powerpoint/2010/main" val="2257050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5D1EC-E6DF-75F1-BC66-F15187896DF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C48A1E0-38AB-A5E9-0A43-FEB5EC81FDD3}"/>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A891E7A3-22D9-62AE-9699-06F7E690844A}"/>
              </a:ext>
            </a:extLst>
          </p:cNvPr>
          <p:cNvSpPr>
            <a:spLocks noGrp="1"/>
          </p:cNvSpPr>
          <p:nvPr>
            <p:ph type="title"/>
          </p:nvPr>
        </p:nvSpPr>
        <p:spPr>
          <a:xfrm>
            <a:off x="439946" y="381000"/>
            <a:ext cx="11097657" cy="496033"/>
          </a:xfrm>
        </p:spPr>
        <p:txBody>
          <a:bodyPr/>
          <a:lstStyle/>
          <a:p>
            <a:r>
              <a:rPr lang="en-US"/>
              <a:t>3Q Life Fundamentals Series </a:t>
            </a:r>
            <a:r>
              <a:rPr lang="en-US" sz="2400"/>
              <a:t>(Final 2 sessions)</a:t>
            </a:r>
          </a:p>
        </p:txBody>
      </p:sp>
      <p:sp>
        <p:nvSpPr>
          <p:cNvPr id="4" name="Text Placeholder 3">
            <a:extLst>
              <a:ext uri="{FF2B5EF4-FFF2-40B4-BE49-F238E27FC236}">
                <a16:creationId xmlns:a16="http://schemas.microsoft.com/office/drawing/2014/main" id="{A142F558-0E18-23AD-47E0-7C51F9F19FCB}"/>
              </a:ext>
            </a:extLst>
          </p:cNvPr>
          <p:cNvSpPr>
            <a:spLocks noGrp="1"/>
          </p:cNvSpPr>
          <p:nvPr>
            <p:ph type="body" sz="quarter" idx="12"/>
          </p:nvPr>
        </p:nvSpPr>
        <p:spPr>
          <a:xfrm>
            <a:off x="439946" y="953242"/>
            <a:ext cx="11294854" cy="496033"/>
          </a:xfrm>
        </p:spPr>
        <p:txBody>
          <a:bodyPr/>
          <a:lstStyle/>
          <a:p>
            <a:r>
              <a:rPr lang="en-US" sz="2200"/>
              <a:t>Strengthening the foundation for confident life </a:t>
            </a:r>
            <a:r>
              <a:rPr lang="en-US"/>
              <a:t>i</a:t>
            </a:r>
            <a:r>
              <a:rPr lang="en-US" sz="2200"/>
              <a:t>nsurance </a:t>
            </a:r>
            <a:r>
              <a:rPr lang="en-US"/>
              <a:t>c</a:t>
            </a:r>
            <a:r>
              <a:rPr lang="en-US" sz="2200"/>
              <a:t>onversations</a:t>
            </a:r>
          </a:p>
        </p:txBody>
      </p:sp>
      <p:sp>
        <p:nvSpPr>
          <p:cNvPr id="5" name="Rectangle 4">
            <a:extLst>
              <a:ext uri="{FF2B5EF4-FFF2-40B4-BE49-F238E27FC236}">
                <a16:creationId xmlns:a16="http://schemas.microsoft.com/office/drawing/2014/main" id="{AC012B3C-DF93-962F-D695-B41961C41222}"/>
              </a:ext>
            </a:extLst>
          </p:cNvPr>
          <p:cNvSpPr/>
          <p:nvPr/>
        </p:nvSpPr>
        <p:spPr>
          <a:xfrm>
            <a:off x="7472662" y="1525483"/>
            <a:ext cx="4279392" cy="273514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0C68089D-4E7B-E2AE-1BE9-9DDDEFA0195F}"/>
              </a:ext>
            </a:extLst>
          </p:cNvPr>
          <p:cNvSpPr/>
          <p:nvPr/>
        </p:nvSpPr>
        <p:spPr bwMode="ltGray">
          <a:xfrm>
            <a:off x="7467684" y="4330108"/>
            <a:ext cx="4279392" cy="1584377"/>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12" name="TextBox 11">
            <a:extLst>
              <a:ext uri="{FF2B5EF4-FFF2-40B4-BE49-F238E27FC236}">
                <a16:creationId xmlns:a16="http://schemas.microsoft.com/office/drawing/2014/main" id="{487B3734-2EE0-8E3C-1107-A4E6ADCF5D27}"/>
              </a:ext>
            </a:extLst>
          </p:cNvPr>
          <p:cNvSpPr txBox="1"/>
          <p:nvPr/>
        </p:nvSpPr>
        <p:spPr>
          <a:xfrm>
            <a:off x="7705656" y="4545215"/>
            <a:ext cx="2033814" cy="115416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A62"/>
                </a:solidFill>
                <a:effectLst/>
                <a:uLnTx/>
                <a:uFillTx/>
                <a:latin typeface="Arial"/>
                <a:ea typeface="+mn-ea"/>
                <a:cs typeface="+mn-cs"/>
              </a:rPr>
              <a:t>Register today to ensure prompt access to these highly anticipated events.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000A62"/>
                </a:solidFill>
                <a:effectLst/>
                <a:uLnTx/>
                <a:uFillTx/>
                <a:latin typeface="Arial"/>
                <a:ea typeface="+mn-ea"/>
                <a:cs typeface="+mn-cs"/>
              </a:rPr>
              <a:t>Events start at 1 pm ET* and run for 60 minutes</a:t>
            </a:r>
            <a:r>
              <a:rPr kumimoji="0" lang="en-US" sz="1400" b="0" i="0" u="none" strike="noStrike" kern="1200" cap="none" spc="0" normalizeH="0" baseline="0" noProof="0">
                <a:ln>
                  <a:noFill/>
                </a:ln>
                <a:solidFill>
                  <a:srgbClr val="000A62"/>
                </a:solidFill>
                <a:effectLst/>
                <a:uLnTx/>
                <a:uFillTx/>
                <a:latin typeface="Arial"/>
                <a:ea typeface="+mn-ea"/>
                <a:cs typeface="+mn-cs"/>
              </a:rPr>
              <a:t>.</a:t>
            </a:r>
            <a:endParaRPr kumimoji="0" lang="en-US" sz="1400" b="0" i="0" u="none" strike="noStrike" kern="1200" cap="none" spc="0" normalizeH="0" baseline="0" noProof="0">
              <a:ln>
                <a:noFill/>
              </a:ln>
              <a:solidFill>
                <a:srgbClr val="000A62"/>
              </a:solidFill>
              <a:effectLst/>
              <a:uLnTx/>
              <a:uFillTx/>
              <a:latin typeface="Arial"/>
              <a:ea typeface="+mn-ea"/>
              <a:cs typeface="Arial"/>
            </a:endParaRPr>
          </a:p>
        </p:txBody>
      </p:sp>
      <p:sp>
        <p:nvSpPr>
          <p:cNvPr id="13" name="Isosceles Triangle 12">
            <a:extLst>
              <a:ext uri="{FF2B5EF4-FFF2-40B4-BE49-F238E27FC236}">
                <a16:creationId xmlns:a16="http://schemas.microsoft.com/office/drawing/2014/main" id="{C49E910D-8AFE-EFDD-D605-0F37D98CD327}"/>
              </a:ext>
            </a:extLst>
          </p:cNvPr>
          <p:cNvSpPr/>
          <p:nvPr/>
        </p:nvSpPr>
        <p:spPr bwMode="ltGray">
          <a:xfrm rot="5400000">
            <a:off x="9842380" y="5004280"/>
            <a:ext cx="285220" cy="236032"/>
          </a:xfrm>
          <a:prstGeom prst="triangle">
            <a:avLst/>
          </a:prstGeom>
          <a:solidFill>
            <a:srgbClr val="000A62"/>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sp>
        <p:nvSpPr>
          <p:cNvPr id="20" name="TextBox 19">
            <a:extLst>
              <a:ext uri="{FF2B5EF4-FFF2-40B4-BE49-F238E27FC236}">
                <a16:creationId xmlns:a16="http://schemas.microsoft.com/office/drawing/2014/main" id="{FAE8E11C-1283-DDBA-25BF-891F6AB7D4CC}"/>
              </a:ext>
            </a:extLst>
          </p:cNvPr>
          <p:cNvSpPr txBox="1"/>
          <p:nvPr/>
        </p:nvSpPr>
        <p:spPr>
          <a:xfrm>
            <a:off x="7705656" y="1845816"/>
            <a:ext cx="3936520" cy="2174954"/>
          </a:xfrm>
          <a:prstGeom prst="rect">
            <a:avLst/>
          </a:prstGeom>
          <a:noFill/>
        </p:spPr>
        <p:txBody>
          <a:bodyPr wrap="square" lIns="0" tIns="0" rIns="0" bIns="0">
            <a:spAutoFit/>
          </a:bodyPr>
          <a:lstStyle/>
          <a:p>
            <a:pPr marL="285750" marR="0" lvl="0" indent="-285750" algn="l" defTabSz="914400" rtl="0" eaLnBrk="1" fontAlgn="auto" latinLnBrk="0" hangingPunct="1">
              <a:lnSpc>
                <a:spcPct val="100000"/>
              </a:lnSpc>
              <a:spcBef>
                <a:spcPts val="0"/>
              </a:spcBef>
              <a:spcAft>
                <a:spcPts val="1000"/>
              </a:spcAft>
              <a:buClrTx/>
              <a:buSzTx/>
              <a:buFont typeface="Wingdings" panose="05000000000000000000" pitchFamily="2" charset="2"/>
              <a:buChar char="ü"/>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7-part quarterly series (Tuesdays)</a:t>
            </a:r>
          </a:p>
          <a:p>
            <a:pPr marL="285750" marR="0" lvl="0" indent="-285750" algn="l" defTabSz="914400" rtl="0" eaLnBrk="1" fontAlgn="auto" latinLnBrk="0" hangingPunct="1">
              <a:lnSpc>
                <a:spcPct val="100000"/>
              </a:lnSpc>
              <a:spcBef>
                <a:spcPts val="0"/>
              </a:spcBef>
              <a:spcAft>
                <a:spcPts val="1000"/>
              </a:spcAft>
              <a:buClrTx/>
              <a:buSzTx/>
              <a:buFont typeface="Wingdings" panose="05000000000000000000" pitchFamily="2" charset="2"/>
              <a:buChar char="ü"/>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Educates on NYL life products</a:t>
            </a:r>
          </a:p>
          <a:p>
            <a:pPr marL="285750" marR="0" lvl="0" indent="-285750" algn="l" defTabSz="914400" rtl="0" eaLnBrk="1" fontAlgn="auto" latinLnBrk="0" hangingPunct="1">
              <a:lnSpc>
                <a:spcPct val="100000"/>
              </a:lnSpc>
              <a:spcBef>
                <a:spcPts val="0"/>
              </a:spcBef>
              <a:spcAft>
                <a:spcPts val="1000"/>
              </a:spcAft>
              <a:buClrTx/>
              <a:buSzTx/>
              <a:buFont typeface="Wingdings" panose="05000000000000000000" pitchFamily="2" charset="2"/>
              <a:buChar char="ü"/>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Interactive sessions with </a:t>
            </a:r>
            <a:br>
              <a:rPr kumimoji="0" lang="en-US" sz="1800" b="0" i="0" u="none" strike="noStrike" kern="1200" cap="none" spc="0" normalizeH="0" baseline="0" noProof="0">
                <a:ln>
                  <a:noFill/>
                </a:ln>
                <a:solidFill>
                  <a:srgbClr val="FFFFFF"/>
                </a:solidFill>
                <a:effectLst/>
                <a:uLnTx/>
                <a:uFillTx/>
                <a:latin typeface="Arial"/>
                <a:ea typeface="+mn-ea"/>
                <a:cs typeface="+mn-cs"/>
              </a:rPr>
            </a:br>
            <a:r>
              <a:rPr kumimoji="0" lang="en-US" sz="1800" b="0" i="0" u="none" strike="noStrike" kern="1200" cap="none" spc="0" normalizeH="0" baseline="0" noProof="0">
                <a:ln>
                  <a:noFill/>
                </a:ln>
                <a:solidFill>
                  <a:srgbClr val="FFFFFF"/>
                </a:solidFill>
                <a:effectLst/>
                <a:uLnTx/>
                <a:uFillTx/>
                <a:latin typeface="Arial"/>
                <a:ea typeface="+mn-ea"/>
                <a:cs typeface="+mn-cs"/>
              </a:rPr>
              <a:t>product experts</a:t>
            </a:r>
          </a:p>
          <a:p>
            <a:pPr marL="285750" marR="0" lvl="0" indent="-285750" algn="l" defTabSz="914400" rtl="0" eaLnBrk="1" fontAlgn="auto" latinLnBrk="0" hangingPunct="1">
              <a:lnSpc>
                <a:spcPct val="100000"/>
              </a:lnSpc>
              <a:spcBef>
                <a:spcPts val="0"/>
              </a:spcBef>
              <a:spcAft>
                <a:spcPts val="1000"/>
              </a:spcAft>
              <a:buClrTx/>
              <a:buSzTx/>
              <a:buFont typeface="Wingdings" panose="05000000000000000000" pitchFamily="2" charset="2"/>
              <a:buChar char="ü"/>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Provides ongoing education</a:t>
            </a:r>
          </a:p>
          <a:p>
            <a:pPr marL="285750" marR="0" lvl="0" indent="-285750" algn="l" defTabSz="914400" rtl="0" eaLnBrk="1" fontAlgn="auto" latinLnBrk="0" hangingPunct="1">
              <a:lnSpc>
                <a:spcPct val="100000"/>
              </a:lnSpc>
              <a:spcBef>
                <a:spcPts val="0"/>
              </a:spcBef>
              <a:spcAft>
                <a:spcPts val="1000"/>
              </a:spcAft>
              <a:buClrTx/>
              <a:buSzTx/>
              <a:buFont typeface="Wingdings" panose="05000000000000000000" pitchFamily="2" charset="2"/>
              <a:buChar char="ü"/>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Open to agents and managers</a:t>
            </a:r>
          </a:p>
        </p:txBody>
      </p:sp>
      <p:graphicFrame>
        <p:nvGraphicFramePr>
          <p:cNvPr id="21" name="Table 20">
            <a:extLst>
              <a:ext uri="{FF2B5EF4-FFF2-40B4-BE49-F238E27FC236}">
                <a16:creationId xmlns:a16="http://schemas.microsoft.com/office/drawing/2014/main" id="{8D183E16-590B-51F4-1C8E-3E21D2EF3934}"/>
              </a:ext>
            </a:extLst>
          </p:cNvPr>
          <p:cNvGraphicFramePr>
            <a:graphicFrameLocks noGrp="1"/>
          </p:cNvGraphicFramePr>
          <p:nvPr/>
        </p:nvGraphicFramePr>
        <p:xfrm>
          <a:off x="438121" y="1525484"/>
          <a:ext cx="6925954" cy="4389004"/>
        </p:xfrm>
        <a:graphic>
          <a:graphicData uri="http://schemas.openxmlformats.org/drawingml/2006/table">
            <a:tbl>
              <a:tblPr/>
              <a:tblGrid>
                <a:gridCol w="615387">
                  <a:extLst>
                    <a:ext uri="{9D8B030D-6E8A-4147-A177-3AD203B41FA5}">
                      <a16:colId xmlns:a16="http://schemas.microsoft.com/office/drawing/2014/main" val="2782655341"/>
                    </a:ext>
                  </a:extLst>
                </a:gridCol>
                <a:gridCol w="1063796">
                  <a:extLst>
                    <a:ext uri="{9D8B030D-6E8A-4147-A177-3AD203B41FA5}">
                      <a16:colId xmlns:a16="http://schemas.microsoft.com/office/drawing/2014/main" val="1710925411"/>
                    </a:ext>
                  </a:extLst>
                </a:gridCol>
                <a:gridCol w="5246771">
                  <a:extLst>
                    <a:ext uri="{9D8B030D-6E8A-4147-A177-3AD203B41FA5}">
                      <a16:colId xmlns:a16="http://schemas.microsoft.com/office/drawing/2014/main" val="398805613"/>
                    </a:ext>
                  </a:extLst>
                </a:gridCol>
              </a:tblGrid>
              <a:tr h="538780">
                <a:tc gridSpan="3">
                  <a:txBody>
                    <a:bodyPr/>
                    <a:lstStyle/>
                    <a:p>
                      <a:pPr algn="l" fontAlgn="b">
                        <a:buNone/>
                      </a:pPr>
                      <a:r>
                        <a:rPr lang="en-US" sz="1800" b="1" i="0" u="none" strike="noStrike">
                          <a:solidFill>
                            <a:srgbClr val="80BAFF"/>
                          </a:solidFill>
                          <a:effectLst/>
                          <a:latin typeface="Georgia"/>
                          <a:cs typeface="Arial"/>
                        </a:rPr>
                        <a:t> </a:t>
                      </a:r>
                      <a:r>
                        <a:rPr lang="en-US" sz="1800" b="0" i="0" u="none" strike="noStrike">
                          <a:solidFill>
                            <a:schemeClr val="bg1"/>
                          </a:solidFill>
                          <a:effectLst/>
                          <a:latin typeface="Georgia"/>
                          <a:cs typeface="Arial"/>
                        </a:rPr>
                        <a:t>Life Insurance </a:t>
                      </a:r>
                    </a:p>
                  </a:txBody>
                  <a:tcPr marL="27432" marR="182880"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468FF"/>
                    </a:solidFill>
                  </a:tcPr>
                </a:tc>
                <a:tc hMerge="1">
                  <a:txBody>
                    <a:bodyPr/>
                    <a:lstStyle/>
                    <a:p>
                      <a:pPr algn="l" fontAlgn="b">
                        <a:buNone/>
                      </a:pP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27432" marR="27432" marT="27432" marB="27432" anchor="b">
                    <a:lnL>
                      <a:noFill/>
                    </a:lnL>
                    <a:lnR>
                      <a:noFill/>
                    </a:lnR>
                    <a:lnT w="12700" cap="flat" cmpd="sng" algn="ctr">
                      <a:solidFill>
                        <a:srgbClr val="FFFFFF"/>
                      </a:solidFill>
                      <a:prstDash val="solid"/>
                      <a:round/>
                      <a:headEnd type="none" w="med" len="med"/>
                      <a:tailEnd type="none" w="med" len="med"/>
                    </a:lnT>
                    <a:lnB>
                      <a:noFill/>
                    </a:lnB>
                    <a:noFill/>
                  </a:tcPr>
                </a:tc>
                <a:tc hMerge="1">
                  <a:txBody>
                    <a:bodyPr/>
                    <a:lstStyle/>
                    <a:p>
                      <a:endParaRPr/>
                    </a:p>
                  </a:txBody>
                  <a:tcPr marL="27432" marR="27432" marT="27432" marB="27432" anchor="b">
                    <a:lnL>
                      <a:noFill/>
                    </a:lnL>
                    <a:lnR>
                      <a:noFill/>
                    </a:lnR>
                    <a:lnT w="1270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1339364757"/>
                  </a:ext>
                </a:extLst>
              </a:tr>
              <a:tr h="550032">
                <a:tc>
                  <a:txBody>
                    <a:bodyPr/>
                    <a:lstStyle/>
                    <a:p>
                      <a:pPr algn="l" fontAlgn="b">
                        <a:buNone/>
                      </a:pPr>
                      <a:r>
                        <a:rPr lang="en-US" sz="1400" b="1" i="0" u="none" strike="noStrike">
                          <a:solidFill>
                            <a:schemeClr val="bg1">
                              <a:lumMod val="75000"/>
                            </a:schemeClr>
                          </a:solidFill>
                          <a:effectLst/>
                          <a:latin typeface="Arial"/>
                          <a:cs typeface="Arial"/>
                        </a:rPr>
                        <a:t>7/14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65000"/>
                      </a:schemeClr>
                    </a:solidFill>
                  </a:tcPr>
                </a:tc>
                <a:tc>
                  <a:txBody>
                    <a:bodyPr/>
                    <a:lstStyle/>
                    <a:p>
                      <a:pPr algn="l" fontAlgn="b">
                        <a:buNone/>
                      </a:pPr>
                      <a:r>
                        <a:rPr lang="en-US" sz="1400" b="1" i="0" u="none" strike="noStrike">
                          <a:solidFill>
                            <a:schemeClr val="bg1">
                              <a:lumMod val="75000"/>
                            </a:schemeClr>
                          </a:solidFill>
                          <a:effectLst/>
                          <a:latin typeface="Arial"/>
                          <a:cs typeface="Arial"/>
                        </a:rPr>
                        <a:t>Session 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65000"/>
                      </a:schemeClr>
                    </a:solidFill>
                  </a:tcPr>
                </a:tc>
                <a:tc>
                  <a:txBody>
                    <a:bodyPr/>
                    <a:lstStyle/>
                    <a:p>
                      <a:pPr algn="l" fontAlgn="b">
                        <a:buNone/>
                      </a:pPr>
                      <a:r>
                        <a:rPr lang="en-US" sz="1400" b="0" i="0" u="none" strike="noStrike">
                          <a:solidFill>
                            <a:schemeClr val="bg1">
                              <a:lumMod val="75000"/>
                            </a:schemeClr>
                          </a:solidFill>
                          <a:effectLst/>
                          <a:latin typeface="Arial"/>
                          <a:cs typeface="Arial"/>
                        </a:rPr>
                        <a:t>Term Life Overview and Key Concepts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909707572"/>
                  </a:ext>
                </a:extLst>
              </a:tr>
              <a:tr h="550032">
                <a:tc>
                  <a:txBody>
                    <a:bodyPr/>
                    <a:lstStyle/>
                    <a:p>
                      <a:pPr algn="l" fontAlgn="b">
                        <a:buNone/>
                      </a:pPr>
                      <a:r>
                        <a:rPr lang="en-US" sz="1400" b="1" i="0" u="none" strike="noStrike">
                          <a:solidFill>
                            <a:schemeClr val="bg1">
                              <a:lumMod val="75000"/>
                            </a:schemeClr>
                          </a:solidFill>
                          <a:effectLst/>
                          <a:latin typeface="Arial"/>
                          <a:cs typeface="Arial"/>
                        </a:rPr>
                        <a:t>7/21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65000"/>
                      </a:schemeClr>
                    </a:solidFill>
                  </a:tcPr>
                </a:tc>
                <a:tc>
                  <a:txBody>
                    <a:bodyPr/>
                    <a:lstStyle/>
                    <a:p>
                      <a:pPr algn="l" fontAlgn="b">
                        <a:buNone/>
                      </a:pPr>
                      <a:r>
                        <a:rPr lang="en-US" sz="1400" b="1" i="0" u="none" strike="noStrike">
                          <a:solidFill>
                            <a:schemeClr val="bg1">
                              <a:lumMod val="75000"/>
                            </a:schemeClr>
                          </a:solidFill>
                          <a:effectLst/>
                          <a:latin typeface="Arial"/>
                          <a:cs typeface="Arial"/>
                        </a:rPr>
                        <a:t>Session 2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65000"/>
                      </a:schemeClr>
                    </a:solidFill>
                  </a:tcPr>
                </a:tc>
                <a:tc>
                  <a:txBody>
                    <a:bodyPr/>
                    <a:lstStyle/>
                    <a:p>
                      <a:pPr lvl="0" algn="l">
                        <a:buNone/>
                      </a:pPr>
                      <a:r>
                        <a:rPr lang="en-US" sz="1400" b="0" i="0" u="none" strike="noStrike" baseline="0" noProof="0">
                          <a:solidFill>
                            <a:schemeClr val="bg1">
                              <a:lumMod val="75000"/>
                            </a:schemeClr>
                          </a:solidFill>
                          <a:effectLst/>
                          <a:latin typeface="Arial"/>
                          <a:cs typeface="Arial"/>
                        </a:rPr>
                        <a:t>Integrating WL into Planning </a:t>
                      </a:r>
                      <a:r>
                        <a:rPr lang="en-US" sz="1400" b="0" i="0" u="none" strike="noStrike">
                          <a:solidFill>
                            <a:schemeClr val="bg1">
                              <a:lumMod val="75000"/>
                            </a:schemeClr>
                          </a:solidFill>
                          <a:effectLst/>
                          <a:latin typeface="Arial"/>
                          <a:cs typeface="Arial"/>
                        </a:rPr>
                        <a:t>Guest Speaker: Allen Hensley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381813382"/>
                  </a:ext>
                </a:extLst>
              </a:tr>
              <a:tr h="550032">
                <a:tc>
                  <a:txBody>
                    <a:bodyPr/>
                    <a:lstStyle/>
                    <a:p>
                      <a:pPr algn="l" fontAlgn="b">
                        <a:buNone/>
                      </a:pPr>
                      <a:r>
                        <a:rPr lang="en-US" sz="1400" b="1" i="0" u="none" strike="noStrike">
                          <a:solidFill>
                            <a:schemeClr val="bg1">
                              <a:lumMod val="85000"/>
                            </a:schemeClr>
                          </a:solidFill>
                          <a:effectLst/>
                          <a:latin typeface="Arial"/>
                          <a:cs typeface="Arial"/>
                        </a:rPr>
                        <a:t>7/28</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65000"/>
                      </a:schemeClr>
                    </a:solidFill>
                  </a:tcPr>
                </a:tc>
                <a:tc>
                  <a:txBody>
                    <a:bodyPr/>
                    <a:lstStyle/>
                    <a:p>
                      <a:pPr algn="l" fontAlgn="b">
                        <a:buNone/>
                      </a:pPr>
                      <a:r>
                        <a:rPr lang="en-US" sz="1400" b="1" i="0" u="none" strike="noStrike">
                          <a:solidFill>
                            <a:schemeClr val="bg1">
                              <a:lumMod val="85000"/>
                            </a:schemeClr>
                          </a:solidFill>
                          <a:effectLst/>
                          <a:latin typeface="Arial"/>
                          <a:cs typeface="Arial"/>
                        </a:rPr>
                        <a:t>Session 3</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65000"/>
                      </a:schemeClr>
                    </a:solidFill>
                  </a:tcPr>
                </a:tc>
                <a:tc>
                  <a:txBody>
                    <a:bodyPr/>
                    <a:lstStyle/>
                    <a:p>
                      <a:pPr algn="l" fontAlgn="b">
                        <a:buNone/>
                      </a:pPr>
                      <a:r>
                        <a:rPr lang="en-US" sz="1400" b="0" i="0" u="none" strike="noStrike">
                          <a:solidFill>
                            <a:schemeClr val="bg1">
                              <a:lumMod val="85000"/>
                            </a:schemeClr>
                          </a:solidFill>
                          <a:effectLst/>
                          <a:latin typeface="Arial"/>
                          <a:cs typeface="Arial"/>
                        </a:rPr>
                        <a:t>Whole Life Product Overview &amp; Riders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868455849"/>
                  </a:ext>
                </a:extLst>
              </a:tr>
              <a:tr h="550032">
                <a:tc>
                  <a:txBody>
                    <a:bodyPr/>
                    <a:lstStyle/>
                    <a:p>
                      <a:pPr algn="l" fontAlgn="b">
                        <a:buNone/>
                      </a:pPr>
                      <a:r>
                        <a:rPr lang="en-US" sz="1400" b="1" i="0" u="none" strike="noStrike">
                          <a:solidFill>
                            <a:schemeClr val="bg1">
                              <a:lumMod val="85000"/>
                            </a:schemeClr>
                          </a:solidFill>
                          <a:effectLst/>
                          <a:latin typeface="Arial"/>
                          <a:cs typeface="Arial"/>
                        </a:rPr>
                        <a:t>8/4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65000"/>
                      </a:schemeClr>
                    </a:solidFill>
                  </a:tcPr>
                </a:tc>
                <a:tc>
                  <a:txBody>
                    <a:bodyPr/>
                    <a:lstStyle/>
                    <a:p>
                      <a:pPr algn="l" fontAlgn="b">
                        <a:buNone/>
                      </a:pPr>
                      <a:r>
                        <a:rPr lang="en-US" sz="1400" b="1" i="0" u="none" strike="noStrike">
                          <a:solidFill>
                            <a:schemeClr val="bg1">
                              <a:lumMod val="85000"/>
                            </a:schemeClr>
                          </a:solidFill>
                          <a:effectLst/>
                          <a:latin typeface="Arial"/>
                          <a:cs typeface="Arial"/>
                        </a:rPr>
                        <a:t>Session 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65000"/>
                      </a:schemeClr>
                    </a:solidFill>
                  </a:tcPr>
                </a:tc>
                <a:tc>
                  <a:txBody>
                    <a:bodyPr/>
                    <a:lstStyle/>
                    <a:p>
                      <a:pPr algn="l" fontAlgn="b">
                        <a:buNone/>
                      </a:pPr>
                      <a:r>
                        <a:rPr lang="en-US" sz="1400" b="0" i="0" u="none" strike="noStrike">
                          <a:solidFill>
                            <a:schemeClr val="bg1">
                              <a:lumMod val="85000"/>
                            </a:schemeClr>
                          </a:solidFill>
                          <a:effectLst/>
                          <a:latin typeface="Arial"/>
                          <a:cs typeface="Arial"/>
                        </a:rPr>
                        <a:t>Whole Life Key Sales Concepts: SLIRP, BOWL, &amp; FIR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3317296599"/>
                  </a:ext>
                </a:extLst>
              </a:tr>
              <a:tr h="550032">
                <a:tc>
                  <a:txBody>
                    <a:bodyPr/>
                    <a:lstStyle/>
                    <a:p>
                      <a:pPr algn="l" fontAlgn="b">
                        <a:buNone/>
                      </a:pPr>
                      <a:r>
                        <a:rPr lang="en-US" sz="1400" b="1" i="0" u="none" strike="noStrike">
                          <a:solidFill>
                            <a:srgbClr val="D9D9D9"/>
                          </a:solidFill>
                          <a:effectLst/>
                          <a:latin typeface="Arial"/>
                          <a:cs typeface="Arial"/>
                        </a:rPr>
                        <a:t>8/11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A6A6A6"/>
                    </a:solidFill>
                  </a:tcPr>
                </a:tc>
                <a:tc>
                  <a:txBody>
                    <a:bodyPr/>
                    <a:lstStyle/>
                    <a:p>
                      <a:pPr algn="l" fontAlgn="b">
                        <a:buNone/>
                      </a:pPr>
                      <a:r>
                        <a:rPr lang="en-US" sz="1400" b="1" i="0" u="none" strike="noStrike">
                          <a:solidFill>
                            <a:srgbClr val="D9D9D9"/>
                          </a:solidFill>
                          <a:effectLst/>
                          <a:latin typeface="Arial"/>
                          <a:cs typeface="Arial"/>
                        </a:rPr>
                        <a:t>Session 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A6A6A6"/>
                    </a:solidFill>
                  </a:tcPr>
                </a:tc>
                <a:tc>
                  <a:txBody>
                    <a:bodyPr/>
                    <a:lstStyle/>
                    <a:p>
                      <a:pPr algn="l" fontAlgn="b">
                        <a:buNone/>
                      </a:pPr>
                      <a:r>
                        <a:rPr lang="en-US" sz="1400" b="0" i="0" u="none" strike="noStrike">
                          <a:solidFill>
                            <a:srgbClr val="D9D9D9"/>
                          </a:solidFill>
                          <a:effectLst/>
                          <a:latin typeface="Arial"/>
                          <a:cs typeface="Arial"/>
                        </a:rPr>
                        <a:t>Variable Universal Life Product Overview &amp; Key Concepts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325359472"/>
                  </a:ext>
                </a:extLst>
              </a:tr>
              <a:tr h="550032">
                <a:tc>
                  <a:txBody>
                    <a:bodyPr/>
                    <a:lstStyle/>
                    <a:p>
                      <a:pPr algn="l" fontAlgn="b">
                        <a:buNone/>
                      </a:pPr>
                      <a:r>
                        <a:rPr lang="en-US" sz="1400" b="1" i="0" u="none" strike="noStrike">
                          <a:solidFill>
                            <a:schemeClr val="tx1"/>
                          </a:solidFill>
                          <a:effectLst/>
                          <a:latin typeface="Arial"/>
                          <a:cs typeface="Arial"/>
                        </a:rPr>
                        <a:t>8/18</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tc>
                  <a:txBody>
                    <a:bodyPr/>
                    <a:lstStyle/>
                    <a:p>
                      <a:pPr algn="l" fontAlgn="b">
                        <a:buNone/>
                      </a:pPr>
                      <a:r>
                        <a:rPr lang="en-US" sz="1400" b="1" i="0" u="none" strike="noStrike">
                          <a:solidFill>
                            <a:schemeClr val="bg1"/>
                          </a:solidFill>
                          <a:effectLst/>
                          <a:latin typeface="Arial"/>
                          <a:cs typeface="Arial"/>
                        </a:rPr>
                        <a:t>Session 6</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A62"/>
                    </a:solidFill>
                  </a:tcPr>
                </a:tc>
                <a:tc>
                  <a:txBody>
                    <a:bodyPr/>
                    <a:lstStyle/>
                    <a:p>
                      <a:pPr lvl="0" algn="l">
                        <a:buNone/>
                      </a:pPr>
                      <a:r>
                        <a:rPr lang="en-US" sz="1400" b="0" i="0" u="none" strike="noStrike" baseline="0" noProof="0">
                          <a:solidFill>
                            <a:srgbClr val="000962"/>
                          </a:solidFill>
                          <a:effectLst/>
                          <a:latin typeface="Arial"/>
                          <a:cs typeface="Arial"/>
                        </a:rPr>
                        <a:t>Universal Life Product Overview &amp; Key Concepts </a:t>
                      </a:r>
                      <a:endParaRPr 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extLst>
                  <a:ext uri="{0D108BD9-81ED-4DB2-BD59-A6C34878D82A}">
                    <a16:rowId xmlns:a16="http://schemas.microsoft.com/office/drawing/2014/main" val="4257307086"/>
                  </a:ext>
                </a:extLst>
              </a:tr>
              <a:tr h="550032">
                <a:tc>
                  <a:txBody>
                    <a:bodyPr/>
                    <a:lstStyle/>
                    <a:p>
                      <a:pPr algn="l" fontAlgn="b">
                        <a:buNone/>
                      </a:pPr>
                      <a:r>
                        <a:rPr lang="en-US" sz="1400" b="1" i="0" u="none" strike="noStrike">
                          <a:solidFill>
                            <a:schemeClr val="tx1"/>
                          </a:solidFill>
                          <a:effectLst/>
                          <a:latin typeface="Arial"/>
                          <a:cs typeface="Arial"/>
                        </a:rPr>
                        <a:t>8/25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tc>
                  <a:txBody>
                    <a:bodyPr/>
                    <a:lstStyle/>
                    <a:p>
                      <a:pPr algn="l" fontAlgn="b">
                        <a:buNone/>
                      </a:pPr>
                      <a:r>
                        <a:rPr lang="en-US" sz="1400" b="1" i="0" u="none" strike="noStrike">
                          <a:solidFill>
                            <a:schemeClr val="bg1"/>
                          </a:solidFill>
                          <a:effectLst/>
                          <a:latin typeface="Arial"/>
                          <a:cs typeface="Arial"/>
                        </a:rPr>
                        <a:t>Session 7</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A62"/>
                    </a:solidFill>
                  </a:tcPr>
                </a:tc>
                <a:tc>
                  <a:txBody>
                    <a:bodyPr/>
                    <a:lstStyle/>
                    <a:p>
                      <a:pPr algn="l" fontAlgn="b">
                        <a:buNone/>
                      </a:pPr>
                      <a:r>
                        <a:rPr lang="en-US" sz="1400" b="0" i="0" u="none" strike="noStrike" noProof="0">
                          <a:solidFill>
                            <a:schemeClr val="tx1"/>
                          </a:solidFill>
                          <a:effectLst/>
                          <a:latin typeface="Arial"/>
                          <a:cs typeface="Arial"/>
                        </a:rPr>
                        <a:t>Universal Life Product Case Study Live Demonstration</a:t>
                      </a:r>
                      <a:endParaRPr lang="en-US" sz="1400" b="0" i="0" u="none" strike="noStrike">
                        <a:solidFill>
                          <a:schemeClr val="tx1"/>
                        </a:solidFill>
                        <a:effectLst/>
                        <a:latin typeface="Arial"/>
                        <a:cs typeface="Aria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extLst>
                  <a:ext uri="{0D108BD9-81ED-4DB2-BD59-A6C34878D82A}">
                    <a16:rowId xmlns:a16="http://schemas.microsoft.com/office/drawing/2014/main" val="4045166931"/>
                  </a:ext>
                </a:extLst>
              </a:tr>
            </a:tbl>
          </a:graphicData>
        </a:graphic>
      </p:graphicFrame>
      <p:sp>
        <p:nvSpPr>
          <p:cNvPr id="22" name="Oval 21">
            <a:extLst>
              <a:ext uri="{FF2B5EF4-FFF2-40B4-BE49-F238E27FC236}">
                <a16:creationId xmlns:a16="http://schemas.microsoft.com/office/drawing/2014/main" id="{368C2503-4095-733D-F6B7-7AFEC5322E0D}"/>
              </a:ext>
            </a:extLst>
          </p:cNvPr>
          <p:cNvSpPr/>
          <p:nvPr/>
        </p:nvSpPr>
        <p:spPr>
          <a:xfrm>
            <a:off x="10102924" y="177378"/>
            <a:ext cx="1633728" cy="163372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pic>
        <p:nvPicPr>
          <p:cNvPr id="15" name="Picture 14">
            <a:extLst>
              <a:ext uri="{FF2B5EF4-FFF2-40B4-BE49-F238E27FC236}">
                <a16:creationId xmlns:a16="http://schemas.microsoft.com/office/drawing/2014/main" id="{0836EDC6-54CF-DB6A-C196-5918BC7605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137634" y="212088"/>
            <a:ext cx="1564308" cy="1564308"/>
          </a:xfrm>
          <a:prstGeom prst="rect">
            <a:avLst/>
          </a:prstGeom>
        </p:spPr>
      </p:pic>
      <p:sp>
        <p:nvSpPr>
          <p:cNvPr id="24" name="TextBox 23">
            <a:extLst>
              <a:ext uri="{FF2B5EF4-FFF2-40B4-BE49-F238E27FC236}">
                <a16:creationId xmlns:a16="http://schemas.microsoft.com/office/drawing/2014/main" id="{AD07A7B6-C5E1-11C2-D863-133019FB6B09}"/>
              </a:ext>
            </a:extLst>
          </p:cNvPr>
          <p:cNvSpPr txBox="1"/>
          <p:nvPr/>
        </p:nvSpPr>
        <p:spPr>
          <a:xfrm>
            <a:off x="2939918" y="6294493"/>
            <a:ext cx="6097712"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srgbClr val="000962"/>
                </a:solidFill>
                <a:effectLst/>
                <a:uLnTx/>
                <a:uFillTx/>
                <a:latin typeface="Arial"/>
                <a:ea typeface="+mn-ea"/>
                <a:cs typeface="+mn-cs"/>
              </a:rPr>
              <a:t>*12 pm CT, 11 am MT, 10 am PT, 9 am Alaska, 7 am Hawaii</a:t>
            </a:r>
            <a:endParaRPr kumimoji="0" lang="en-US" sz="1200" b="0" i="0" u="none" strike="noStrike" kern="1200" cap="none" spc="0" normalizeH="0" baseline="0" noProof="0">
              <a:ln>
                <a:noFill/>
              </a:ln>
              <a:solidFill>
                <a:srgbClr val="000962"/>
              </a:solidFill>
              <a:effectLst/>
              <a:uLnTx/>
              <a:uFillTx/>
              <a:latin typeface="Arial"/>
              <a:ea typeface="+mn-ea"/>
              <a:cs typeface="+mn-cs"/>
            </a:endParaRPr>
          </a:p>
        </p:txBody>
      </p:sp>
      <p:pic>
        <p:nvPicPr>
          <p:cNvPr id="28" name="Picture 27">
            <a:extLst>
              <a:ext uri="{FF2B5EF4-FFF2-40B4-BE49-F238E27FC236}">
                <a16:creationId xmlns:a16="http://schemas.microsoft.com/office/drawing/2014/main" id="{CB72208E-D156-0E31-463F-6BEC63D197A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30510" y="4409402"/>
            <a:ext cx="1425787" cy="1425787"/>
          </a:xfrm>
          <a:prstGeom prst="rect">
            <a:avLst/>
          </a:prstGeom>
        </p:spPr>
      </p:pic>
    </p:spTree>
    <p:extLst>
      <p:ext uri="{BB962C8B-B14F-4D97-AF65-F5344CB8AC3E}">
        <p14:creationId xmlns:p14="http://schemas.microsoft.com/office/powerpoint/2010/main" val="29298524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5D1EC-E6DF-75F1-BC66-F15187896DF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C48A1E0-38AB-A5E9-0A43-FEB5EC81FDD3}"/>
              </a:ext>
            </a:extLst>
          </p:cNvPr>
          <p:cNvSpPr/>
          <p:nvPr/>
        </p:nvSpPr>
        <p:spPr bwMode="ltGray">
          <a:xfrm>
            <a:off x="0" y="1049483"/>
            <a:ext cx="12192000" cy="4965608"/>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A891E7A3-22D9-62AE-9699-06F7E690844A}"/>
              </a:ext>
            </a:extLst>
          </p:cNvPr>
          <p:cNvSpPr>
            <a:spLocks noGrp="1"/>
          </p:cNvSpPr>
          <p:nvPr>
            <p:ph type="title"/>
          </p:nvPr>
        </p:nvSpPr>
        <p:spPr/>
        <p:txBody>
          <a:bodyPr/>
          <a:lstStyle/>
          <a:p>
            <a:r>
              <a:rPr lang="en-US"/>
              <a:t>3Q 2026 Registered Rep </a:t>
            </a:r>
            <a:r>
              <a:rPr lang="en-US" err="1"/>
              <a:t>MasterClass</a:t>
            </a:r>
            <a:r>
              <a:rPr lang="en-US"/>
              <a:t> </a:t>
            </a:r>
          </a:p>
        </p:txBody>
      </p:sp>
      <p:sp>
        <p:nvSpPr>
          <p:cNvPr id="17" name="Content Placeholder 3">
            <a:extLst>
              <a:ext uri="{FF2B5EF4-FFF2-40B4-BE49-F238E27FC236}">
                <a16:creationId xmlns:a16="http://schemas.microsoft.com/office/drawing/2014/main" id="{FF79574C-DD52-1545-8D02-144F14EBBA23}"/>
              </a:ext>
            </a:extLst>
          </p:cNvPr>
          <p:cNvSpPr>
            <a:spLocks noGrp="1"/>
          </p:cNvSpPr>
          <p:nvPr>
            <p:ph idx="1"/>
          </p:nvPr>
        </p:nvSpPr>
        <p:spPr>
          <a:xfrm>
            <a:off x="439946" y="1288815"/>
            <a:ext cx="7304275" cy="4726276"/>
          </a:xfrm>
        </p:spPr>
        <p:txBody>
          <a:bodyPr/>
          <a:lstStyle/>
          <a:p>
            <a:pPr marL="0" indent="0">
              <a:lnSpc>
                <a:spcPct val="100000"/>
              </a:lnSpc>
              <a:spcBef>
                <a:spcPts val="0"/>
              </a:spcBef>
              <a:spcAft>
                <a:spcPts val="1900"/>
              </a:spcAft>
              <a:buNone/>
              <a:tabLst>
                <a:tab pos="1319213" algn="l"/>
                <a:tab pos="5715000" algn="l"/>
              </a:tabLst>
            </a:pPr>
            <a:r>
              <a:rPr lang="en-US" sz="1600" b="1">
                <a:solidFill>
                  <a:schemeClr val="bg1">
                    <a:lumMod val="75000"/>
                  </a:schemeClr>
                </a:solidFill>
                <a:latin typeface="+mn-lt"/>
              </a:rPr>
              <a:t>Session 1	</a:t>
            </a:r>
            <a:r>
              <a:rPr lang="en-US" sz="1600">
                <a:solidFill>
                  <a:schemeClr val="bg1">
                    <a:lumMod val="75000"/>
                  </a:schemeClr>
                </a:solidFill>
                <a:latin typeface="+mn-lt"/>
              </a:rPr>
              <a:t>NYLIFE Securities and Mutual Funds 	</a:t>
            </a:r>
            <a:r>
              <a:rPr lang="en-US" sz="1600" b="1">
                <a:solidFill>
                  <a:schemeClr val="bg1">
                    <a:lumMod val="75000"/>
                  </a:schemeClr>
                </a:solidFill>
                <a:latin typeface="+mn-lt"/>
              </a:rPr>
              <a:t>July 14</a:t>
            </a:r>
            <a:endParaRPr lang="en-US" sz="1600">
              <a:solidFill>
                <a:schemeClr val="bg1">
                  <a:lumMod val="75000"/>
                </a:schemeClr>
              </a:solidFill>
              <a:latin typeface="+mn-lt"/>
            </a:endParaRPr>
          </a:p>
          <a:p>
            <a:pPr marL="0" indent="0">
              <a:lnSpc>
                <a:spcPct val="100000"/>
              </a:lnSpc>
              <a:spcBef>
                <a:spcPts val="0"/>
              </a:spcBef>
              <a:spcAft>
                <a:spcPts val="1900"/>
              </a:spcAft>
              <a:buNone/>
              <a:tabLst>
                <a:tab pos="1319213" algn="l"/>
                <a:tab pos="5715000" algn="l"/>
              </a:tabLst>
            </a:pPr>
            <a:r>
              <a:rPr lang="en-US" sz="1600" b="1">
                <a:solidFill>
                  <a:schemeClr val="bg1">
                    <a:lumMod val="75000"/>
                  </a:schemeClr>
                </a:solidFill>
                <a:latin typeface="+mn-lt"/>
              </a:rPr>
              <a:t>Session 2 	</a:t>
            </a:r>
            <a:r>
              <a:rPr lang="en-US" sz="1600">
                <a:solidFill>
                  <a:schemeClr val="bg1">
                    <a:lumMod val="75000"/>
                  </a:schemeClr>
                </a:solidFill>
                <a:latin typeface="+mn-lt"/>
              </a:rPr>
              <a:t>Variable Annuities, What You Need to Know	</a:t>
            </a:r>
            <a:r>
              <a:rPr lang="en-US" sz="1600" b="1">
                <a:solidFill>
                  <a:schemeClr val="bg1">
                    <a:lumMod val="75000"/>
                  </a:schemeClr>
                </a:solidFill>
                <a:latin typeface="+mn-lt"/>
              </a:rPr>
              <a:t>July 21</a:t>
            </a:r>
            <a:r>
              <a:rPr lang="en-US" sz="1600">
                <a:solidFill>
                  <a:schemeClr val="bg1">
                    <a:lumMod val="75000"/>
                  </a:schemeClr>
                </a:solidFill>
                <a:latin typeface="+mn-lt"/>
              </a:rPr>
              <a:t> </a:t>
            </a:r>
          </a:p>
          <a:p>
            <a:pPr marL="0" indent="0">
              <a:lnSpc>
                <a:spcPct val="100000"/>
              </a:lnSpc>
              <a:spcBef>
                <a:spcPts val="0"/>
              </a:spcBef>
              <a:spcAft>
                <a:spcPts val="1900"/>
              </a:spcAft>
              <a:buNone/>
              <a:tabLst>
                <a:tab pos="1319213" algn="l"/>
                <a:tab pos="5715000" algn="l"/>
              </a:tabLst>
            </a:pPr>
            <a:r>
              <a:rPr lang="en-US" sz="1600" b="1">
                <a:solidFill>
                  <a:schemeClr val="bg1">
                    <a:lumMod val="75000"/>
                  </a:schemeClr>
                </a:solidFill>
                <a:latin typeface="+mn-lt"/>
              </a:rPr>
              <a:t>Session 3 	</a:t>
            </a:r>
            <a:r>
              <a:rPr lang="en-US" sz="1600">
                <a:solidFill>
                  <a:schemeClr val="bg1">
                    <a:lumMod val="75000"/>
                  </a:schemeClr>
                </a:solidFill>
                <a:latin typeface="+mn-lt"/>
              </a:rPr>
              <a:t>Positioning </a:t>
            </a:r>
            <a:r>
              <a:rPr lang="en-US" sz="1600" err="1">
                <a:solidFill>
                  <a:schemeClr val="bg1">
                    <a:lumMod val="75000"/>
                  </a:schemeClr>
                </a:solidFill>
                <a:latin typeface="+mn-lt"/>
              </a:rPr>
              <a:t>IndexFlex</a:t>
            </a:r>
            <a:r>
              <a:rPr lang="en-US" sz="1600">
                <a:solidFill>
                  <a:schemeClr val="bg1">
                    <a:lumMod val="75000"/>
                  </a:schemeClr>
                </a:solidFill>
                <a:latin typeface="+mn-lt"/>
              </a:rPr>
              <a:t> 	</a:t>
            </a:r>
            <a:r>
              <a:rPr lang="en-US" sz="1600" b="1">
                <a:solidFill>
                  <a:schemeClr val="bg1">
                    <a:lumMod val="75000"/>
                  </a:schemeClr>
                </a:solidFill>
                <a:latin typeface="+mn-lt"/>
              </a:rPr>
              <a:t>July 28</a:t>
            </a:r>
            <a:r>
              <a:rPr lang="en-US" sz="1600">
                <a:solidFill>
                  <a:schemeClr val="bg1">
                    <a:lumMod val="75000"/>
                  </a:schemeClr>
                </a:solidFill>
                <a:latin typeface="+mn-lt"/>
              </a:rPr>
              <a:t> </a:t>
            </a:r>
          </a:p>
          <a:p>
            <a:pPr marL="0" indent="0">
              <a:lnSpc>
                <a:spcPct val="100000"/>
              </a:lnSpc>
              <a:spcBef>
                <a:spcPts val="0"/>
              </a:spcBef>
              <a:spcAft>
                <a:spcPts val="1900"/>
              </a:spcAft>
              <a:buNone/>
              <a:tabLst>
                <a:tab pos="1319213" algn="l"/>
                <a:tab pos="5715000" algn="l"/>
              </a:tabLst>
            </a:pPr>
            <a:r>
              <a:rPr lang="en-US" sz="1600" b="1">
                <a:solidFill>
                  <a:schemeClr val="bg1">
                    <a:lumMod val="75000"/>
                  </a:schemeClr>
                </a:solidFill>
                <a:latin typeface="+mn-lt"/>
              </a:rPr>
              <a:t>Session 4 	</a:t>
            </a:r>
            <a:r>
              <a:rPr lang="en-US" sz="1600">
                <a:solidFill>
                  <a:schemeClr val="bg1">
                    <a:lumMod val="75000"/>
                  </a:schemeClr>
                </a:solidFill>
                <a:latin typeface="+mn-lt"/>
              </a:rPr>
              <a:t>Variable Annuity Riders	</a:t>
            </a:r>
            <a:r>
              <a:rPr lang="en-US" sz="1600" b="1">
                <a:solidFill>
                  <a:schemeClr val="bg1">
                    <a:lumMod val="75000"/>
                  </a:schemeClr>
                </a:solidFill>
                <a:latin typeface="+mn-lt"/>
              </a:rPr>
              <a:t>August 4</a:t>
            </a:r>
            <a:r>
              <a:rPr lang="en-US" sz="1600">
                <a:solidFill>
                  <a:schemeClr val="bg1">
                    <a:lumMod val="75000"/>
                  </a:schemeClr>
                </a:solidFill>
                <a:latin typeface="+mn-lt"/>
              </a:rPr>
              <a:t> </a:t>
            </a:r>
          </a:p>
          <a:p>
            <a:pPr marL="0" indent="0">
              <a:lnSpc>
                <a:spcPct val="100000"/>
              </a:lnSpc>
              <a:spcBef>
                <a:spcPts val="0"/>
              </a:spcBef>
              <a:spcAft>
                <a:spcPts val="1900"/>
              </a:spcAft>
              <a:buNone/>
              <a:tabLst>
                <a:tab pos="1319213" algn="l"/>
                <a:tab pos="5715000" algn="l"/>
              </a:tabLst>
            </a:pPr>
            <a:r>
              <a:rPr lang="en-US" sz="1600" b="1">
                <a:solidFill>
                  <a:srgbClr val="BFBFBF"/>
                </a:solidFill>
                <a:latin typeface="+mn-lt"/>
              </a:rPr>
              <a:t>Session 5 	</a:t>
            </a:r>
            <a:r>
              <a:rPr lang="en-US" sz="1600">
                <a:solidFill>
                  <a:srgbClr val="BFBFBF"/>
                </a:solidFill>
                <a:latin typeface="+mn-lt"/>
              </a:rPr>
              <a:t>Working in the Rollover Market 	</a:t>
            </a:r>
            <a:r>
              <a:rPr lang="en-US" sz="1600" b="1">
                <a:solidFill>
                  <a:srgbClr val="BFBFBF"/>
                </a:solidFill>
                <a:latin typeface="+mn-lt"/>
              </a:rPr>
              <a:t>August 11</a:t>
            </a:r>
            <a:r>
              <a:rPr lang="en-US" sz="1600">
                <a:solidFill>
                  <a:srgbClr val="BFBFBF"/>
                </a:solidFill>
                <a:latin typeface="+mn-lt"/>
              </a:rPr>
              <a:t> </a:t>
            </a:r>
          </a:p>
          <a:p>
            <a:pPr marL="0" indent="0">
              <a:lnSpc>
                <a:spcPct val="100000"/>
              </a:lnSpc>
              <a:spcBef>
                <a:spcPts val="0"/>
              </a:spcBef>
              <a:spcAft>
                <a:spcPts val="1900"/>
              </a:spcAft>
              <a:buNone/>
              <a:tabLst>
                <a:tab pos="1319213" algn="l"/>
                <a:tab pos="5715000" algn="l"/>
              </a:tabLst>
            </a:pPr>
            <a:r>
              <a:rPr lang="en-US" sz="1600" b="1">
                <a:latin typeface="+mn-lt"/>
              </a:rPr>
              <a:t>Session 6 	</a:t>
            </a:r>
            <a:r>
              <a:rPr lang="en-US" sz="1600">
                <a:latin typeface="+mn-lt"/>
              </a:rPr>
              <a:t>Positioning VUL 	</a:t>
            </a:r>
            <a:r>
              <a:rPr lang="en-US" sz="1600" b="1">
                <a:latin typeface="+mn-lt"/>
              </a:rPr>
              <a:t>August 18</a:t>
            </a:r>
            <a:r>
              <a:rPr lang="en-US" sz="1600">
                <a:latin typeface="+mn-lt"/>
              </a:rPr>
              <a:t> </a:t>
            </a:r>
          </a:p>
          <a:p>
            <a:pPr marL="0" indent="0">
              <a:lnSpc>
                <a:spcPct val="100000"/>
              </a:lnSpc>
              <a:spcBef>
                <a:spcPts val="0"/>
              </a:spcBef>
              <a:spcAft>
                <a:spcPts val="1900"/>
              </a:spcAft>
              <a:buNone/>
              <a:tabLst>
                <a:tab pos="1319213" algn="l"/>
                <a:tab pos="5715000" algn="l"/>
              </a:tabLst>
            </a:pPr>
            <a:r>
              <a:rPr lang="en-US" sz="1600" b="1">
                <a:latin typeface="+mn-lt"/>
              </a:rPr>
              <a:t>Session 7 	</a:t>
            </a:r>
            <a:r>
              <a:rPr lang="en-US" sz="1600">
                <a:latin typeface="+mn-lt"/>
              </a:rPr>
              <a:t>Understanding IRA Opportunities 	</a:t>
            </a:r>
            <a:r>
              <a:rPr lang="en-US" sz="1600" b="1">
                <a:latin typeface="+mn-lt"/>
              </a:rPr>
              <a:t>August 25</a:t>
            </a:r>
            <a:r>
              <a:rPr lang="en-US" sz="1600">
                <a:latin typeface="+mn-lt"/>
              </a:rPr>
              <a:t> </a:t>
            </a:r>
          </a:p>
          <a:p>
            <a:pPr marL="0" indent="0">
              <a:lnSpc>
                <a:spcPct val="100000"/>
              </a:lnSpc>
              <a:spcBef>
                <a:spcPts val="0"/>
              </a:spcBef>
              <a:spcAft>
                <a:spcPts val="1900"/>
              </a:spcAft>
              <a:buNone/>
              <a:tabLst>
                <a:tab pos="1319213" algn="l"/>
                <a:tab pos="5715000" algn="l"/>
              </a:tabLst>
            </a:pPr>
            <a:r>
              <a:rPr lang="en-US" sz="1600" b="1">
                <a:latin typeface="+mn-lt"/>
              </a:rPr>
              <a:t>Session 8 	</a:t>
            </a:r>
            <a:r>
              <a:rPr lang="en-US" sz="1600">
                <a:latin typeface="+mn-lt"/>
              </a:rPr>
              <a:t>Annuity New Business and Suitability 	</a:t>
            </a:r>
            <a:r>
              <a:rPr lang="en-US" sz="1600" b="1">
                <a:latin typeface="+mn-lt"/>
              </a:rPr>
              <a:t>September 1</a:t>
            </a:r>
            <a:r>
              <a:rPr lang="en-US" sz="1600">
                <a:latin typeface="+mn-lt"/>
              </a:rPr>
              <a:t> </a:t>
            </a:r>
          </a:p>
          <a:p>
            <a:pPr marL="0" indent="0">
              <a:lnSpc>
                <a:spcPct val="100000"/>
              </a:lnSpc>
              <a:spcBef>
                <a:spcPts val="0"/>
              </a:spcBef>
              <a:spcAft>
                <a:spcPts val="1900"/>
              </a:spcAft>
              <a:buNone/>
              <a:tabLst>
                <a:tab pos="1319213" algn="l"/>
                <a:tab pos="5715000" algn="l"/>
              </a:tabLst>
            </a:pPr>
            <a:r>
              <a:rPr lang="en-US" sz="1600" b="1">
                <a:latin typeface="+mn-lt"/>
              </a:rPr>
              <a:t>Session 9 	</a:t>
            </a:r>
            <a:r>
              <a:rPr lang="en-US" sz="1600">
                <a:latin typeface="+mn-lt"/>
              </a:rPr>
              <a:t>Small Business Solutions 	</a:t>
            </a:r>
            <a:r>
              <a:rPr lang="en-US" sz="1600" b="1">
                <a:latin typeface="+mn-lt"/>
              </a:rPr>
              <a:t>September 8</a:t>
            </a:r>
            <a:r>
              <a:rPr lang="en-US" sz="1600">
                <a:latin typeface="+mn-lt"/>
              </a:rPr>
              <a:t> </a:t>
            </a:r>
          </a:p>
          <a:p>
            <a:pPr marL="0" indent="0">
              <a:lnSpc>
                <a:spcPct val="100000"/>
              </a:lnSpc>
              <a:spcBef>
                <a:spcPts val="0"/>
              </a:spcBef>
              <a:spcAft>
                <a:spcPts val="1900"/>
              </a:spcAft>
              <a:buNone/>
              <a:tabLst>
                <a:tab pos="1319213" algn="l"/>
                <a:tab pos="5715000" algn="l"/>
              </a:tabLst>
            </a:pPr>
            <a:r>
              <a:rPr lang="en-US" sz="1600" b="1">
                <a:latin typeface="+mn-lt"/>
              </a:rPr>
              <a:t>Session 10 	</a:t>
            </a:r>
            <a:r>
              <a:rPr lang="en-US" sz="1600">
                <a:latin typeface="+mn-lt"/>
              </a:rPr>
              <a:t>Morningstar: Researching Funds	</a:t>
            </a:r>
            <a:r>
              <a:rPr lang="en-US" sz="1600" b="1">
                <a:latin typeface="+mn-lt"/>
              </a:rPr>
              <a:t>September 15</a:t>
            </a:r>
            <a:endParaRPr lang="en-US" sz="1600">
              <a:latin typeface="+mn-lt"/>
            </a:endParaRPr>
          </a:p>
        </p:txBody>
      </p:sp>
      <p:sp>
        <p:nvSpPr>
          <p:cNvPr id="18" name="Rectangle: Rounded Corners 17">
            <a:extLst>
              <a:ext uri="{FF2B5EF4-FFF2-40B4-BE49-F238E27FC236}">
                <a16:creationId xmlns:a16="http://schemas.microsoft.com/office/drawing/2014/main" id="{324F6DF4-0086-A451-ED23-21830850EEB3}"/>
              </a:ext>
            </a:extLst>
          </p:cNvPr>
          <p:cNvSpPr>
            <a:spLocks/>
          </p:cNvSpPr>
          <p:nvPr/>
        </p:nvSpPr>
        <p:spPr bwMode="ltGray">
          <a:xfrm>
            <a:off x="7778187" y="1258625"/>
            <a:ext cx="4230999" cy="4586590"/>
          </a:xfrm>
          <a:prstGeom prst="roundRect">
            <a:avLst>
              <a:gd name="adj" fmla="val 0"/>
            </a:avLst>
          </a:prstGeom>
          <a:solidFill>
            <a:srgbClr val="A5EFBF">
              <a:alpha val="70000"/>
            </a:srgb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962"/>
              </a:solidFill>
              <a:effectLst/>
              <a:uLnTx/>
              <a:uFillTx/>
              <a:latin typeface="Georgia" panose="02040502050405020303"/>
              <a:ea typeface="+mn-ea"/>
              <a:cs typeface="+mn-cs"/>
            </a:endParaRPr>
          </a:p>
        </p:txBody>
      </p:sp>
      <p:sp>
        <p:nvSpPr>
          <p:cNvPr id="19" name="TextBox 18">
            <a:extLst>
              <a:ext uri="{FF2B5EF4-FFF2-40B4-BE49-F238E27FC236}">
                <a16:creationId xmlns:a16="http://schemas.microsoft.com/office/drawing/2014/main" id="{AB88AD48-1343-C6FD-A829-0F4286BEB371}"/>
              </a:ext>
            </a:extLst>
          </p:cNvPr>
          <p:cNvSpPr txBox="1"/>
          <p:nvPr/>
        </p:nvSpPr>
        <p:spPr>
          <a:xfrm>
            <a:off x="7916261" y="4058202"/>
            <a:ext cx="2282533" cy="1631216"/>
          </a:xfrm>
          <a:prstGeom prst="rect">
            <a:avLst/>
          </a:prstGeom>
          <a:noFill/>
        </p:spPr>
        <p:txBody>
          <a:bodyPr wrap="square" lIns="0" tIns="0" rIns="0" bIns="0" rtlCol="0">
            <a:spAutoFit/>
          </a:bodyPr>
          <a:lstStyle>
            <a:defPPr>
              <a:defRPr lang="en-US"/>
            </a:defPPr>
            <a:lvl1pPr algn="l" rtl="0" fontAlgn="base">
              <a:spcBef>
                <a:spcPct val="0"/>
              </a:spcBef>
              <a:spcAft>
                <a:spcPct val="0"/>
              </a:spcAft>
              <a:defRPr kern="1200">
                <a:solidFill>
                  <a:schemeClr val="tx1"/>
                </a:solidFill>
                <a:latin typeface="Arial" charset="0"/>
                <a:ea typeface="Geneva" pitchFamily="-109" charset="-128"/>
                <a:cs typeface="+mn-cs"/>
              </a:defRPr>
            </a:lvl1pPr>
            <a:lvl2pPr marL="609513" algn="l" rtl="0" fontAlgn="base">
              <a:spcBef>
                <a:spcPct val="0"/>
              </a:spcBef>
              <a:spcAft>
                <a:spcPct val="0"/>
              </a:spcAft>
              <a:defRPr kern="1200">
                <a:solidFill>
                  <a:schemeClr val="tx1"/>
                </a:solidFill>
                <a:latin typeface="Arial" charset="0"/>
                <a:ea typeface="Geneva" pitchFamily="-109" charset="-128"/>
                <a:cs typeface="+mn-cs"/>
              </a:defRPr>
            </a:lvl2pPr>
            <a:lvl3pPr marL="1219027" algn="l" rtl="0" fontAlgn="base">
              <a:spcBef>
                <a:spcPct val="0"/>
              </a:spcBef>
              <a:spcAft>
                <a:spcPct val="0"/>
              </a:spcAft>
              <a:defRPr kern="1200">
                <a:solidFill>
                  <a:schemeClr val="tx1"/>
                </a:solidFill>
                <a:latin typeface="Arial" charset="0"/>
                <a:ea typeface="Geneva" pitchFamily="-109" charset="-128"/>
                <a:cs typeface="+mn-cs"/>
              </a:defRPr>
            </a:lvl3pPr>
            <a:lvl4pPr marL="1828541" algn="l" rtl="0" fontAlgn="base">
              <a:spcBef>
                <a:spcPct val="0"/>
              </a:spcBef>
              <a:spcAft>
                <a:spcPct val="0"/>
              </a:spcAft>
              <a:defRPr kern="1200">
                <a:solidFill>
                  <a:schemeClr val="tx1"/>
                </a:solidFill>
                <a:latin typeface="Arial" charset="0"/>
                <a:ea typeface="Geneva" pitchFamily="-109" charset="-128"/>
                <a:cs typeface="+mn-cs"/>
              </a:defRPr>
            </a:lvl4pPr>
            <a:lvl5pPr marL="2438054" algn="l" rtl="0" fontAlgn="base">
              <a:spcBef>
                <a:spcPct val="0"/>
              </a:spcBef>
              <a:spcAft>
                <a:spcPct val="0"/>
              </a:spcAft>
              <a:defRPr kern="1200">
                <a:solidFill>
                  <a:schemeClr val="tx1"/>
                </a:solidFill>
                <a:latin typeface="Arial" charset="0"/>
                <a:ea typeface="Geneva" pitchFamily="-109" charset="-128"/>
                <a:cs typeface="+mn-cs"/>
              </a:defRPr>
            </a:lvl5pPr>
            <a:lvl6pPr marL="3047568" algn="l" defTabSz="1219027" rtl="0" eaLnBrk="1" latinLnBrk="0" hangingPunct="1">
              <a:defRPr kern="1200">
                <a:solidFill>
                  <a:schemeClr val="tx1"/>
                </a:solidFill>
                <a:latin typeface="Arial" charset="0"/>
                <a:ea typeface="Geneva" pitchFamily="-109" charset="-128"/>
                <a:cs typeface="+mn-cs"/>
              </a:defRPr>
            </a:lvl6pPr>
            <a:lvl7pPr marL="3657081" algn="l" defTabSz="1219027" rtl="0" eaLnBrk="1" latinLnBrk="0" hangingPunct="1">
              <a:defRPr kern="1200">
                <a:solidFill>
                  <a:schemeClr val="tx1"/>
                </a:solidFill>
                <a:latin typeface="Arial" charset="0"/>
                <a:ea typeface="Geneva" pitchFamily="-109" charset="-128"/>
                <a:cs typeface="+mn-cs"/>
              </a:defRPr>
            </a:lvl7pPr>
            <a:lvl8pPr marL="4266595" algn="l" defTabSz="1219027" rtl="0" eaLnBrk="1" latinLnBrk="0" hangingPunct="1">
              <a:defRPr kern="1200">
                <a:solidFill>
                  <a:schemeClr val="tx1"/>
                </a:solidFill>
                <a:latin typeface="Arial" charset="0"/>
                <a:ea typeface="Geneva" pitchFamily="-109" charset="-128"/>
                <a:cs typeface="+mn-cs"/>
              </a:defRPr>
            </a:lvl8pPr>
            <a:lvl9pPr marL="4876107" algn="l" defTabSz="1219027" rtl="0" eaLnBrk="1" latinLnBrk="0" hangingPunct="1">
              <a:defRPr kern="1200">
                <a:solidFill>
                  <a:schemeClr val="tx1"/>
                </a:solidFill>
                <a:latin typeface="Arial" charset="0"/>
                <a:ea typeface="Geneva" pitchFamily="-109" charset="-128"/>
                <a:cs typeface="+mn-cs"/>
              </a:defRPr>
            </a:lvl9pPr>
          </a:lstStyle>
          <a:p>
            <a:pPr marL="0" marR="0" lvl="0" indent="0" algn="l" defTabSz="1219080" rtl="0" eaLnBrk="1" fontAlgn="base" latinLnBrk="0" hangingPunct="1">
              <a:lnSpc>
                <a:spcPct val="100000"/>
              </a:lnSpc>
              <a:spcBef>
                <a:spcPct val="0"/>
              </a:spcBef>
              <a:spcAft>
                <a:spcPts val="1200"/>
              </a:spcAft>
              <a:buClrTx/>
              <a:buSzTx/>
              <a:buFontTx/>
              <a:buNone/>
              <a:tabLst/>
              <a:defRPr/>
            </a:pPr>
            <a:r>
              <a:rPr kumimoji="0" lang="en-US" sz="1600" b="0" i="0" u="none" strike="noStrike" kern="1200" cap="none" spc="0" normalizeH="0" baseline="0" noProof="0">
                <a:ln>
                  <a:noFill/>
                </a:ln>
                <a:solidFill>
                  <a:srgbClr val="000962"/>
                </a:solidFill>
                <a:effectLst/>
                <a:uLnTx/>
                <a:uFillTx/>
                <a:latin typeface="Arial" panose="020B0604020202020204" pitchFamily="34" charset="0"/>
                <a:ea typeface="Geneva" pitchFamily="-109" charset="-128"/>
                <a:cs typeface="Arial" panose="020B0604020202020204" pitchFamily="34" charset="0"/>
              </a:rPr>
              <a:t>Register today to ensure prompt access to these highly anticipated events.</a:t>
            </a:r>
          </a:p>
          <a:p>
            <a:pPr marL="0" marR="0" lvl="1" indent="0" algn="l" defTabSz="1219080" rtl="0" eaLnBrk="1" fontAlgn="base" latinLnBrk="0" hangingPunct="1">
              <a:lnSpc>
                <a:spcPct val="100000"/>
              </a:lnSpc>
              <a:spcBef>
                <a:spcPct val="0"/>
              </a:spcBef>
              <a:spcAft>
                <a:spcPts val="800"/>
              </a:spcAft>
              <a:buClrTx/>
              <a:buSzTx/>
              <a:buFontTx/>
              <a:buNone/>
              <a:tabLst/>
              <a:defRPr/>
            </a:pPr>
            <a:r>
              <a:rPr kumimoji="0" lang="en-US" sz="1600" b="1" i="0" u="none" strike="noStrike" kern="1200" cap="none" spc="0" normalizeH="0" baseline="0" noProof="0">
                <a:ln>
                  <a:noFill/>
                </a:ln>
                <a:solidFill>
                  <a:srgbClr val="000962"/>
                </a:solidFill>
                <a:effectLst/>
                <a:uLnTx/>
                <a:uFillTx/>
                <a:latin typeface="Arial" panose="020B0604020202020204" pitchFamily="34" charset="0"/>
                <a:ea typeface="Geneva" pitchFamily="-109" charset="-128"/>
                <a:cs typeface="Arial" panose="020B0604020202020204" pitchFamily="34" charset="0"/>
              </a:rPr>
              <a:t>Events start at </a:t>
            </a:r>
            <a:br>
              <a:rPr kumimoji="0" lang="en-US" sz="1600" b="1" i="0" u="none" strike="noStrike" kern="1200" cap="none" spc="0" normalizeH="0" baseline="0" noProof="0">
                <a:ln>
                  <a:noFill/>
                </a:ln>
                <a:solidFill>
                  <a:srgbClr val="000962"/>
                </a:solidFill>
                <a:effectLst/>
                <a:uLnTx/>
                <a:uFillTx/>
                <a:latin typeface="Arial" panose="020B0604020202020204" pitchFamily="34" charset="0"/>
                <a:ea typeface="Geneva" pitchFamily="-109" charset="-128"/>
                <a:cs typeface="Arial" panose="020B0604020202020204" pitchFamily="34" charset="0"/>
              </a:rPr>
            </a:br>
            <a:r>
              <a:rPr kumimoji="0" lang="en-US" sz="1600" b="1" i="0" u="none" strike="noStrike" kern="1200" cap="none" spc="0" normalizeH="0" baseline="0" noProof="0">
                <a:ln>
                  <a:noFill/>
                </a:ln>
                <a:solidFill>
                  <a:srgbClr val="000962"/>
                </a:solidFill>
                <a:effectLst/>
                <a:uLnTx/>
                <a:uFillTx/>
                <a:latin typeface="Arial" panose="020B0604020202020204" pitchFamily="34" charset="0"/>
                <a:ea typeface="Geneva" pitchFamily="-109" charset="-128"/>
                <a:cs typeface="Arial" panose="020B0604020202020204" pitchFamily="34" charset="0"/>
              </a:rPr>
              <a:t>3pm EST and run </a:t>
            </a:r>
            <a:br>
              <a:rPr kumimoji="0" lang="en-US" sz="1600" b="1" i="0" u="none" strike="noStrike" kern="1200" cap="none" spc="0" normalizeH="0" baseline="0" noProof="0">
                <a:ln>
                  <a:noFill/>
                </a:ln>
                <a:solidFill>
                  <a:srgbClr val="000962"/>
                </a:solidFill>
                <a:effectLst/>
                <a:uLnTx/>
                <a:uFillTx/>
                <a:latin typeface="Arial" panose="020B0604020202020204" pitchFamily="34" charset="0"/>
                <a:ea typeface="Geneva" pitchFamily="-109" charset="-128"/>
                <a:cs typeface="Arial" panose="020B0604020202020204" pitchFamily="34" charset="0"/>
              </a:rPr>
            </a:br>
            <a:r>
              <a:rPr kumimoji="0" lang="en-US" sz="1600" b="1" i="0" u="none" strike="noStrike" kern="1200" cap="none" spc="0" normalizeH="0" baseline="0" noProof="0">
                <a:ln>
                  <a:noFill/>
                </a:ln>
                <a:solidFill>
                  <a:srgbClr val="000962"/>
                </a:solidFill>
                <a:effectLst/>
                <a:uLnTx/>
                <a:uFillTx/>
                <a:latin typeface="Arial" panose="020B0604020202020204" pitchFamily="34" charset="0"/>
                <a:ea typeface="Geneva" pitchFamily="-109" charset="-128"/>
                <a:cs typeface="Arial" panose="020B0604020202020204" pitchFamily="34" charset="0"/>
              </a:rPr>
              <a:t>60 minutes.</a:t>
            </a:r>
          </a:p>
        </p:txBody>
      </p:sp>
      <p:sp>
        <p:nvSpPr>
          <p:cNvPr id="20" name="TextBox 19">
            <a:extLst>
              <a:ext uri="{FF2B5EF4-FFF2-40B4-BE49-F238E27FC236}">
                <a16:creationId xmlns:a16="http://schemas.microsoft.com/office/drawing/2014/main" id="{754B7A9E-FAA5-21F6-F137-C961834A84FA}"/>
              </a:ext>
            </a:extLst>
          </p:cNvPr>
          <p:cNvSpPr txBox="1"/>
          <p:nvPr/>
        </p:nvSpPr>
        <p:spPr>
          <a:xfrm>
            <a:off x="7916261" y="2355648"/>
            <a:ext cx="4025191" cy="1215717"/>
          </a:xfrm>
          <a:prstGeom prst="rect">
            <a:avLst/>
          </a:prstGeom>
          <a:noFill/>
        </p:spPr>
        <p:txBody>
          <a:bodyPr wrap="square" lIns="0" tIns="0" rIns="0" bIns="0">
            <a:spAutoFit/>
          </a:bodyPr>
          <a:lstStyle>
            <a:defPPr>
              <a:defRPr lang="en-US"/>
            </a:defPPr>
            <a:lvl1pPr algn="l" rtl="0" fontAlgn="base">
              <a:spcBef>
                <a:spcPct val="0"/>
              </a:spcBef>
              <a:spcAft>
                <a:spcPct val="0"/>
              </a:spcAft>
              <a:defRPr kern="1200">
                <a:solidFill>
                  <a:schemeClr val="tx1"/>
                </a:solidFill>
                <a:latin typeface="Arial" charset="0"/>
                <a:ea typeface="Geneva" pitchFamily="-109" charset="-128"/>
                <a:cs typeface="+mn-cs"/>
              </a:defRPr>
            </a:lvl1pPr>
            <a:lvl2pPr marL="609513" algn="l" rtl="0" fontAlgn="base">
              <a:spcBef>
                <a:spcPct val="0"/>
              </a:spcBef>
              <a:spcAft>
                <a:spcPct val="0"/>
              </a:spcAft>
              <a:defRPr kern="1200">
                <a:solidFill>
                  <a:schemeClr val="tx1"/>
                </a:solidFill>
                <a:latin typeface="Arial" charset="0"/>
                <a:ea typeface="Geneva" pitchFamily="-109" charset="-128"/>
                <a:cs typeface="+mn-cs"/>
              </a:defRPr>
            </a:lvl2pPr>
            <a:lvl3pPr marL="1219027" algn="l" rtl="0" fontAlgn="base">
              <a:spcBef>
                <a:spcPct val="0"/>
              </a:spcBef>
              <a:spcAft>
                <a:spcPct val="0"/>
              </a:spcAft>
              <a:defRPr kern="1200">
                <a:solidFill>
                  <a:schemeClr val="tx1"/>
                </a:solidFill>
                <a:latin typeface="Arial" charset="0"/>
                <a:ea typeface="Geneva" pitchFamily="-109" charset="-128"/>
                <a:cs typeface="+mn-cs"/>
              </a:defRPr>
            </a:lvl3pPr>
            <a:lvl4pPr marL="1828541" algn="l" rtl="0" fontAlgn="base">
              <a:spcBef>
                <a:spcPct val="0"/>
              </a:spcBef>
              <a:spcAft>
                <a:spcPct val="0"/>
              </a:spcAft>
              <a:defRPr kern="1200">
                <a:solidFill>
                  <a:schemeClr val="tx1"/>
                </a:solidFill>
                <a:latin typeface="Arial" charset="0"/>
                <a:ea typeface="Geneva" pitchFamily="-109" charset="-128"/>
                <a:cs typeface="+mn-cs"/>
              </a:defRPr>
            </a:lvl4pPr>
            <a:lvl5pPr marL="2438054" algn="l" rtl="0" fontAlgn="base">
              <a:spcBef>
                <a:spcPct val="0"/>
              </a:spcBef>
              <a:spcAft>
                <a:spcPct val="0"/>
              </a:spcAft>
              <a:defRPr kern="1200">
                <a:solidFill>
                  <a:schemeClr val="tx1"/>
                </a:solidFill>
                <a:latin typeface="Arial" charset="0"/>
                <a:ea typeface="Geneva" pitchFamily="-109" charset="-128"/>
                <a:cs typeface="+mn-cs"/>
              </a:defRPr>
            </a:lvl5pPr>
            <a:lvl6pPr marL="3047568" algn="l" defTabSz="1219027" rtl="0" eaLnBrk="1" latinLnBrk="0" hangingPunct="1">
              <a:defRPr kern="1200">
                <a:solidFill>
                  <a:schemeClr val="tx1"/>
                </a:solidFill>
                <a:latin typeface="Arial" charset="0"/>
                <a:ea typeface="Geneva" pitchFamily="-109" charset="-128"/>
                <a:cs typeface="+mn-cs"/>
              </a:defRPr>
            </a:lvl6pPr>
            <a:lvl7pPr marL="3657081" algn="l" defTabSz="1219027" rtl="0" eaLnBrk="1" latinLnBrk="0" hangingPunct="1">
              <a:defRPr kern="1200">
                <a:solidFill>
                  <a:schemeClr val="tx1"/>
                </a:solidFill>
                <a:latin typeface="Arial" charset="0"/>
                <a:ea typeface="Geneva" pitchFamily="-109" charset="-128"/>
                <a:cs typeface="+mn-cs"/>
              </a:defRPr>
            </a:lvl7pPr>
            <a:lvl8pPr marL="4266595" algn="l" defTabSz="1219027" rtl="0" eaLnBrk="1" latinLnBrk="0" hangingPunct="1">
              <a:defRPr kern="1200">
                <a:solidFill>
                  <a:schemeClr val="tx1"/>
                </a:solidFill>
                <a:latin typeface="Arial" charset="0"/>
                <a:ea typeface="Geneva" pitchFamily="-109" charset="-128"/>
                <a:cs typeface="+mn-cs"/>
              </a:defRPr>
            </a:lvl8pPr>
            <a:lvl9pPr marL="4876107" algn="l" defTabSz="1219027" rtl="0" eaLnBrk="1" latinLnBrk="0" hangingPunct="1">
              <a:defRPr kern="1200">
                <a:solidFill>
                  <a:schemeClr val="tx1"/>
                </a:solidFill>
                <a:latin typeface="Arial" charset="0"/>
                <a:ea typeface="Geneva" pitchFamily="-109" charset="-128"/>
                <a:cs typeface="+mn-cs"/>
              </a:defRPr>
            </a:lvl9pPr>
          </a:lstStyle>
          <a:p>
            <a:pPr marL="257175" marR="0" lvl="0" indent="-257175" algn="l" defTabSz="1219110" rtl="0" eaLnBrk="1" fontAlgn="base" latinLnBrk="0" hangingPunct="1">
              <a:lnSpc>
                <a:spcPct val="100000"/>
              </a:lnSpc>
              <a:spcBef>
                <a:spcPct val="0"/>
              </a:spcBef>
              <a:spcAft>
                <a:spcPts val="60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srgbClr val="000962"/>
                </a:solidFill>
                <a:effectLst/>
                <a:uLnTx/>
                <a:uFillTx/>
                <a:latin typeface="Arial Narrow" panose="020B0606020202030204" pitchFamily="34" charset="0"/>
                <a:ea typeface="Geneva" pitchFamily="-109" charset="-128"/>
                <a:cs typeface="Arial" panose="020B0604020202020204" pitchFamily="34" charset="0"/>
              </a:rPr>
              <a:t>10-part quarterly series - Tuesdays at 3pm EST</a:t>
            </a:r>
          </a:p>
          <a:p>
            <a:pPr marL="257175" marR="0" lvl="0" indent="-257175" algn="l" defTabSz="1219110" rtl="0" eaLnBrk="1" fontAlgn="base" latinLnBrk="0" hangingPunct="1">
              <a:lnSpc>
                <a:spcPct val="100000"/>
              </a:lnSpc>
              <a:spcBef>
                <a:spcPct val="0"/>
              </a:spcBef>
              <a:spcAft>
                <a:spcPts val="60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srgbClr val="000962"/>
                </a:solidFill>
                <a:effectLst/>
                <a:uLnTx/>
                <a:uFillTx/>
                <a:latin typeface="Arial Narrow" panose="020B0606020202030204" pitchFamily="34" charset="0"/>
                <a:ea typeface="Geneva" pitchFamily="-109" charset="-128"/>
                <a:cs typeface="Arial" panose="020B0604020202020204" pitchFamily="34" charset="0"/>
              </a:rPr>
              <a:t>Educates on NYL products</a:t>
            </a:r>
          </a:p>
          <a:p>
            <a:pPr marL="257175" marR="0" lvl="0" indent="-257175" algn="l" defTabSz="1219110" rtl="0" eaLnBrk="1" fontAlgn="base" latinLnBrk="0" hangingPunct="1">
              <a:lnSpc>
                <a:spcPct val="100000"/>
              </a:lnSpc>
              <a:spcBef>
                <a:spcPct val="0"/>
              </a:spcBef>
              <a:spcAft>
                <a:spcPts val="60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srgbClr val="000962"/>
                </a:solidFill>
                <a:effectLst/>
                <a:uLnTx/>
                <a:uFillTx/>
                <a:latin typeface="Arial Narrow" panose="020B0606020202030204" pitchFamily="34" charset="0"/>
                <a:ea typeface="Geneva" pitchFamily="-109" charset="-128"/>
                <a:cs typeface="Arial" panose="020B0604020202020204" pitchFamily="34" charset="0"/>
              </a:rPr>
              <a:t>Interactive sessions with product experts</a:t>
            </a:r>
          </a:p>
          <a:p>
            <a:pPr marL="257175" marR="0" lvl="0" indent="-257175" algn="l" defTabSz="1219110" rtl="0" eaLnBrk="1" fontAlgn="base" latinLnBrk="0" hangingPunct="1">
              <a:lnSpc>
                <a:spcPct val="100000"/>
              </a:lnSpc>
              <a:spcBef>
                <a:spcPct val="0"/>
              </a:spcBef>
              <a:spcAft>
                <a:spcPts val="60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srgbClr val="000962"/>
                </a:solidFill>
                <a:effectLst/>
                <a:uLnTx/>
                <a:uFillTx/>
                <a:latin typeface="Arial Narrow" panose="020B0606020202030204" pitchFamily="34" charset="0"/>
                <a:ea typeface="Geneva" pitchFamily="-109" charset="-128"/>
                <a:cs typeface="Arial" panose="020B0604020202020204" pitchFamily="34" charset="0"/>
              </a:rPr>
              <a:t>Provides ongoing education</a:t>
            </a:r>
          </a:p>
        </p:txBody>
      </p:sp>
      <p:sp>
        <p:nvSpPr>
          <p:cNvPr id="21" name="TextBox 20">
            <a:extLst>
              <a:ext uri="{FF2B5EF4-FFF2-40B4-BE49-F238E27FC236}">
                <a16:creationId xmlns:a16="http://schemas.microsoft.com/office/drawing/2014/main" id="{E3DFB1B1-15B3-8A27-60CE-8E847B48FC86}"/>
              </a:ext>
            </a:extLst>
          </p:cNvPr>
          <p:cNvSpPr txBox="1"/>
          <p:nvPr/>
        </p:nvSpPr>
        <p:spPr>
          <a:xfrm>
            <a:off x="7916261" y="1471251"/>
            <a:ext cx="1963321" cy="615553"/>
          </a:xfrm>
          <a:prstGeom prst="rect">
            <a:avLst/>
          </a:prstGeom>
          <a:noFill/>
        </p:spPr>
        <p:txBody>
          <a:bodyPr wrap="square" lIns="0" tIns="0" rIns="0" bIns="0" rtlCol="0">
            <a:spAutoFit/>
          </a:bodyPr>
          <a:lstStyle>
            <a:defPPr>
              <a:defRPr lang="en-US"/>
            </a:defPPr>
            <a:lvl1pPr algn="l" rtl="0" fontAlgn="base">
              <a:spcBef>
                <a:spcPct val="0"/>
              </a:spcBef>
              <a:spcAft>
                <a:spcPct val="0"/>
              </a:spcAft>
              <a:defRPr kern="1200">
                <a:solidFill>
                  <a:schemeClr val="tx1"/>
                </a:solidFill>
                <a:latin typeface="Arial" charset="0"/>
                <a:ea typeface="Geneva" pitchFamily="-109" charset="-128"/>
                <a:cs typeface="+mn-cs"/>
              </a:defRPr>
            </a:lvl1pPr>
            <a:lvl2pPr marL="609513" algn="l" rtl="0" fontAlgn="base">
              <a:spcBef>
                <a:spcPct val="0"/>
              </a:spcBef>
              <a:spcAft>
                <a:spcPct val="0"/>
              </a:spcAft>
              <a:defRPr kern="1200">
                <a:solidFill>
                  <a:schemeClr val="tx1"/>
                </a:solidFill>
                <a:latin typeface="Arial" charset="0"/>
                <a:ea typeface="Geneva" pitchFamily="-109" charset="-128"/>
                <a:cs typeface="+mn-cs"/>
              </a:defRPr>
            </a:lvl2pPr>
            <a:lvl3pPr marL="1219027" algn="l" rtl="0" fontAlgn="base">
              <a:spcBef>
                <a:spcPct val="0"/>
              </a:spcBef>
              <a:spcAft>
                <a:spcPct val="0"/>
              </a:spcAft>
              <a:defRPr kern="1200">
                <a:solidFill>
                  <a:schemeClr val="tx1"/>
                </a:solidFill>
                <a:latin typeface="Arial" charset="0"/>
                <a:ea typeface="Geneva" pitchFamily="-109" charset="-128"/>
                <a:cs typeface="+mn-cs"/>
              </a:defRPr>
            </a:lvl3pPr>
            <a:lvl4pPr marL="1828541" algn="l" rtl="0" fontAlgn="base">
              <a:spcBef>
                <a:spcPct val="0"/>
              </a:spcBef>
              <a:spcAft>
                <a:spcPct val="0"/>
              </a:spcAft>
              <a:defRPr kern="1200">
                <a:solidFill>
                  <a:schemeClr val="tx1"/>
                </a:solidFill>
                <a:latin typeface="Arial" charset="0"/>
                <a:ea typeface="Geneva" pitchFamily="-109" charset="-128"/>
                <a:cs typeface="+mn-cs"/>
              </a:defRPr>
            </a:lvl4pPr>
            <a:lvl5pPr marL="2438054" algn="l" rtl="0" fontAlgn="base">
              <a:spcBef>
                <a:spcPct val="0"/>
              </a:spcBef>
              <a:spcAft>
                <a:spcPct val="0"/>
              </a:spcAft>
              <a:defRPr kern="1200">
                <a:solidFill>
                  <a:schemeClr val="tx1"/>
                </a:solidFill>
                <a:latin typeface="Arial" charset="0"/>
                <a:ea typeface="Geneva" pitchFamily="-109" charset="-128"/>
                <a:cs typeface="+mn-cs"/>
              </a:defRPr>
            </a:lvl5pPr>
            <a:lvl6pPr marL="3047568" algn="l" defTabSz="1219027" rtl="0" eaLnBrk="1" latinLnBrk="0" hangingPunct="1">
              <a:defRPr kern="1200">
                <a:solidFill>
                  <a:schemeClr val="tx1"/>
                </a:solidFill>
                <a:latin typeface="Arial" charset="0"/>
                <a:ea typeface="Geneva" pitchFamily="-109" charset="-128"/>
                <a:cs typeface="+mn-cs"/>
              </a:defRPr>
            </a:lvl6pPr>
            <a:lvl7pPr marL="3657081" algn="l" defTabSz="1219027" rtl="0" eaLnBrk="1" latinLnBrk="0" hangingPunct="1">
              <a:defRPr kern="1200">
                <a:solidFill>
                  <a:schemeClr val="tx1"/>
                </a:solidFill>
                <a:latin typeface="Arial" charset="0"/>
                <a:ea typeface="Geneva" pitchFamily="-109" charset="-128"/>
                <a:cs typeface="+mn-cs"/>
              </a:defRPr>
            </a:lvl7pPr>
            <a:lvl8pPr marL="4266595" algn="l" defTabSz="1219027" rtl="0" eaLnBrk="1" latinLnBrk="0" hangingPunct="1">
              <a:defRPr kern="1200">
                <a:solidFill>
                  <a:schemeClr val="tx1"/>
                </a:solidFill>
                <a:latin typeface="Arial" charset="0"/>
                <a:ea typeface="Geneva" pitchFamily="-109" charset="-128"/>
                <a:cs typeface="+mn-cs"/>
              </a:defRPr>
            </a:lvl8pPr>
            <a:lvl9pPr marL="4876107" algn="l" defTabSz="1219027" rtl="0" eaLnBrk="1" latinLnBrk="0" hangingPunct="1">
              <a:defRPr kern="1200">
                <a:solidFill>
                  <a:schemeClr val="tx1"/>
                </a:solidFill>
                <a:latin typeface="Arial" charset="0"/>
                <a:ea typeface="Geneva" pitchFamily="-109" charset="-128"/>
                <a:cs typeface="+mn-cs"/>
              </a:defRPr>
            </a:lvl9pPr>
          </a:lstStyle>
          <a:p>
            <a:pPr marL="0" marR="0" lvl="0" indent="0" algn="l" defTabSz="121911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000A62"/>
                </a:solidFill>
                <a:effectLst/>
                <a:uLnTx/>
                <a:uFillTx/>
                <a:latin typeface="Arial" panose="020B0604020202020204" pitchFamily="34" charset="0"/>
                <a:ea typeface="Geneva" pitchFamily="-109" charset="-128"/>
                <a:cs typeface="Arial" panose="020B0604020202020204" pitchFamily="34" charset="0"/>
              </a:rPr>
              <a:t>Strengthening </a:t>
            </a:r>
            <a:br>
              <a:rPr kumimoji="0" lang="en-US" sz="2000" b="1" i="0" u="none" strike="noStrike" kern="1200" cap="none" spc="0" normalizeH="0" baseline="0" noProof="0">
                <a:ln>
                  <a:noFill/>
                </a:ln>
                <a:solidFill>
                  <a:srgbClr val="000A62"/>
                </a:solidFill>
                <a:effectLst/>
                <a:uLnTx/>
                <a:uFillTx/>
                <a:latin typeface="Arial" panose="020B0604020202020204" pitchFamily="34" charset="0"/>
                <a:ea typeface="Geneva" pitchFamily="-109" charset="-128"/>
                <a:cs typeface="Arial" panose="020B0604020202020204" pitchFamily="34" charset="0"/>
              </a:rPr>
            </a:br>
            <a:r>
              <a:rPr kumimoji="0" lang="en-US" sz="2000" b="1" i="0" u="none" strike="noStrike" kern="1200" cap="none" spc="0" normalizeH="0" baseline="0" noProof="0">
                <a:ln>
                  <a:noFill/>
                </a:ln>
                <a:solidFill>
                  <a:srgbClr val="000A62"/>
                </a:solidFill>
                <a:effectLst/>
                <a:uLnTx/>
                <a:uFillTx/>
                <a:latin typeface="Arial" panose="020B0604020202020204" pitchFamily="34" charset="0"/>
                <a:ea typeface="Geneva" pitchFamily="-109" charset="-128"/>
                <a:cs typeface="Arial" panose="020B0604020202020204" pitchFamily="34" charset="0"/>
              </a:rPr>
              <a:t>the foundation</a:t>
            </a:r>
          </a:p>
        </p:txBody>
      </p:sp>
      <p:pic>
        <p:nvPicPr>
          <p:cNvPr id="23" name="Picture 22">
            <a:extLst>
              <a:ext uri="{FF2B5EF4-FFF2-40B4-BE49-F238E27FC236}">
                <a16:creationId xmlns:a16="http://schemas.microsoft.com/office/drawing/2014/main" id="{71ACF039-36BF-73CA-217C-F0225B2106E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336139" y="4111185"/>
            <a:ext cx="1535702" cy="1535702"/>
          </a:xfrm>
          <a:prstGeom prst="rect">
            <a:avLst/>
          </a:prstGeom>
        </p:spPr>
      </p:pic>
      <p:sp>
        <p:nvSpPr>
          <p:cNvPr id="24" name="Oval 23">
            <a:extLst>
              <a:ext uri="{FF2B5EF4-FFF2-40B4-BE49-F238E27FC236}">
                <a16:creationId xmlns:a16="http://schemas.microsoft.com/office/drawing/2014/main" id="{DCA4BDAC-5B8E-B537-63A2-6FC2E8D29CC2}"/>
              </a:ext>
            </a:extLst>
          </p:cNvPr>
          <p:cNvSpPr/>
          <p:nvPr/>
        </p:nvSpPr>
        <p:spPr>
          <a:xfrm>
            <a:off x="10051608" y="148766"/>
            <a:ext cx="2014099" cy="201409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pic>
        <p:nvPicPr>
          <p:cNvPr id="22" name="Picture 21" descr="A blue and white circle with a briefcase and pen&#10;&#10;AI-generated content may be incorrect.">
            <a:extLst>
              <a:ext uri="{FF2B5EF4-FFF2-40B4-BE49-F238E27FC236}">
                <a16:creationId xmlns:a16="http://schemas.microsoft.com/office/drawing/2014/main" id="{C5B1EE9C-2B23-DF11-22FF-DB25340CFD3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46626" y="243784"/>
            <a:ext cx="1824062" cy="1824062"/>
          </a:xfrm>
          <a:prstGeom prst="rect">
            <a:avLst/>
          </a:prstGeom>
        </p:spPr>
      </p:pic>
      <p:cxnSp>
        <p:nvCxnSpPr>
          <p:cNvPr id="26" name="Straight Connector 25">
            <a:extLst>
              <a:ext uri="{FF2B5EF4-FFF2-40B4-BE49-F238E27FC236}">
                <a16:creationId xmlns:a16="http://schemas.microsoft.com/office/drawing/2014/main" id="{28ECE000-F42B-463A-60EE-414C9AB93711}"/>
              </a:ext>
            </a:extLst>
          </p:cNvPr>
          <p:cNvCxnSpPr/>
          <p:nvPr/>
        </p:nvCxnSpPr>
        <p:spPr>
          <a:xfrm>
            <a:off x="7916261" y="3792681"/>
            <a:ext cx="3957462"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56409CE8-508C-0FA5-FC66-6A89527F87C7}"/>
              </a:ext>
            </a:extLst>
          </p:cNvPr>
          <p:cNvCxnSpPr>
            <a:cxnSpLocks/>
          </p:cNvCxnSpPr>
          <p:nvPr/>
        </p:nvCxnSpPr>
        <p:spPr>
          <a:xfrm>
            <a:off x="439946" y="1641763"/>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0D1B138C-FF22-B2BB-5AEC-E5808BAC91F7}"/>
              </a:ext>
            </a:extLst>
          </p:cNvPr>
          <p:cNvCxnSpPr>
            <a:cxnSpLocks/>
          </p:cNvCxnSpPr>
          <p:nvPr/>
        </p:nvCxnSpPr>
        <p:spPr>
          <a:xfrm>
            <a:off x="439946" y="2131692"/>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1518D576-C74B-3D19-6CFD-8321970E82D2}"/>
              </a:ext>
            </a:extLst>
          </p:cNvPr>
          <p:cNvCxnSpPr>
            <a:cxnSpLocks/>
          </p:cNvCxnSpPr>
          <p:nvPr/>
        </p:nvCxnSpPr>
        <p:spPr>
          <a:xfrm>
            <a:off x="439946" y="2620065"/>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15BBB6C1-C395-883E-2769-4C24E020C37F}"/>
              </a:ext>
            </a:extLst>
          </p:cNvPr>
          <p:cNvCxnSpPr>
            <a:cxnSpLocks/>
          </p:cNvCxnSpPr>
          <p:nvPr/>
        </p:nvCxnSpPr>
        <p:spPr>
          <a:xfrm>
            <a:off x="439946" y="3108438"/>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43F1467E-70F0-C2D9-333D-287C7D290097}"/>
              </a:ext>
            </a:extLst>
          </p:cNvPr>
          <p:cNvCxnSpPr>
            <a:cxnSpLocks/>
          </p:cNvCxnSpPr>
          <p:nvPr/>
        </p:nvCxnSpPr>
        <p:spPr>
          <a:xfrm>
            <a:off x="439946" y="3589353"/>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3BFB5270-800E-D12C-74BE-724FCE781B62}"/>
              </a:ext>
            </a:extLst>
          </p:cNvPr>
          <p:cNvCxnSpPr>
            <a:cxnSpLocks/>
          </p:cNvCxnSpPr>
          <p:nvPr/>
        </p:nvCxnSpPr>
        <p:spPr>
          <a:xfrm>
            <a:off x="439946" y="4058202"/>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84C31F94-D1A1-E7A3-7D6B-6A96933CCD1B}"/>
              </a:ext>
            </a:extLst>
          </p:cNvPr>
          <p:cNvCxnSpPr>
            <a:cxnSpLocks/>
          </p:cNvCxnSpPr>
          <p:nvPr/>
        </p:nvCxnSpPr>
        <p:spPr>
          <a:xfrm>
            <a:off x="439946" y="4546575"/>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8D762039-FAF6-691C-76A5-7A552CA2AD65}"/>
              </a:ext>
            </a:extLst>
          </p:cNvPr>
          <p:cNvCxnSpPr>
            <a:cxnSpLocks/>
          </p:cNvCxnSpPr>
          <p:nvPr/>
        </p:nvCxnSpPr>
        <p:spPr>
          <a:xfrm>
            <a:off x="439946" y="5034948"/>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9E1525A8-5451-835F-D171-D6DAA1D0FF21}"/>
              </a:ext>
            </a:extLst>
          </p:cNvPr>
          <p:cNvCxnSpPr>
            <a:cxnSpLocks/>
          </p:cNvCxnSpPr>
          <p:nvPr/>
        </p:nvCxnSpPr>
        <p:spPr>
          <a:xfrm>
            <a:off x="439946" y="5523321"/>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315974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8684-2E2C-AE0D-865E-8F0A5FDC439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F9061A01-8878-B1B9-79CF-1C7AB3489866}"/>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61" name="Rectangle 60">
            <a:extLst>
              <a:ext uri="{FF2B5EF4-FFF2-40B4-BE49-F238E27FC236}">
                <a16:creationId xmlns:a16="http://schemas.microsoft.com/office/drawing/2014/main" id="{254A1512-A0EF-5042-9748-ED80A387980E}"/>
              </a:ext>
            </a:extLst>
          </p:cNvPr>
          <p:cNvSpPr/>
          <p:nvPr/>
        </p:nvSpPr>
        <p:spPr>
          <a:xfrm>
            <a:off x="8078226" y="1568253"/>
            <a:ext cx="3623517" cy="3080393"/>
          </a:xfrm>
          <a:prstGeom prst="rect">
            <a:avLst/>
          </a:prstGeom>
          <a:solidFill>
            <a:schemeClr val="accent2">
              <a:alpha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9" name="Rectangle 58">
            <a:extLst>
              <a:ext uri="{FF2B5EF4-FFF2-40B4-BE49-F238E27FC236}">
                <a16:creationId xmlns:a16="http://schemas.microsoft.com/office/drawing/2014/main" id="{93B0E50B-1729-FB09-4C0F-4EB2570D92F6}"/>
              </a:ext>
            </a:extLst>
          </p:cNvPr>
          <p:cNvSpPr/>
          <p:nvPr/>
        </p:nvSpPr>
        <p:spPr>
          <a:xfrm>
            <a:off x="4316091" y="1568253"/>
            <a:ext cx="3623517" cy="3080393"/>
          </a:xfrm>
          <a:prstGeom prst="rect">
            <a:avLst/>
          </a:prstGeom>
          <a:solidFill>
            <a:schemeClr val="accent2">
              <a:alpha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itle 1">
            <a:extLst>
              <a:ext uri="{FF2B5EF4-FFF2-40B4-BE49-F238E27FC236}">
                <a16:creationId xmlns:a16="http://schemas.microsoft.com/office/drawing/2014/main" id="{9EC6A7F7-929E-AF39-DAD2-507A9C944A64}"/>
              </a:ext>
            </a:extLst>
          </p:cNvPr>
          <p:cNvSpPr>
            <a:spLocks noGrp="1"/>
          </p:cNvSpPr>
          <p:nvPr>
            <p:ph type="title"/>
          </p:nvPr>
        </p:nvSpPr>
        <p:spPr/>
        <p:txBody>
          <a:bodyPr/>
          <a:lstStyle/>
          <a:p>
            <a:r>
              <a:rPr lang="en-US"/>
              <a:t>Target Markets Upcoming Webinars</a:t>
            </a:r>
          </a:p>
        </p:txBody>
      </p:sp>
      <p:sp>
        <p:nvSpPr>
          <p:cNvPr id="12" name="Rectangle 11">
            <a:extLst>
              <a:ext uri="{FF2B5EF4-FFF2-40B4-BE49-F238E27FC236}">
                <a16:creationId xmlns:a16="http://schemas.microsoft.com/office/drawing/2014/main" id="{CE0935C1-5D78-F909-477B-1B6C7D02D0F4}"/>
              </a:ext>
            </a:extLst>
          </p:cNvPr>
          <p:cNvSpPr/>
          <p:nvPr/>
        </p:nvSpPr>
        <p:spPr>
          <a:xfrm>
            <a:off x="554448" y="1568253"/>
            <a:ext cx="3647633" cy="3080393"/>
          </a:xfrm>
          <a:prstGeom prst="rect">
            <a:avLst/>
          </a:prstGeom>
          <a:solidFill>
            <a:schemeClr val="accent2">
              <a:alpha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7" name="Text Placeholder 3">
            <a:extLst>
              <a:ext uri="{FF2B5EF4-FFF2-40B4-BE49-F238E27FC236}">
                <a16:creationId xmlns:a16="http://schemas.microsoft.com/office/drawing/2014/main" id="{AC3697A0-4629-A860-7A12-4B92CD52E5D3}"/>
              </a:ext>
            </a:extLst>
          </p:cNvPr>
          <p:cNvSpPr txBox="1">
            <a:spLocks/>
          </p:cNvSpPr>
          <p:nvPr/>
        </p:nvSpPr>
        <p:spPr>
          <a:xfrm>
            <a:off x="689088" y="1706814"/>
            <a:ext cx="3466101" cy="1256986"/>
          </a:xfrm>
          <a:prstGeom prst="rect">
            <a:avLst/>
          </a:prstGeom>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indent="0">
              <a:buNone/>
            </a:pPr>
            <a:r>
              <a:rPr lang="en-US" sz="1600" b="1"/>
              <a:t>AAMU Strong: </a:t>
            </a:r>
            <a:br>
              <a:rPr lang="en-US" sz="1600" b="1"/>
            </a:br>
            <a:r>
              <a:rPr lang="en-US" sz="1600" b="1"/>
              <a:t>Mentorship &amp; Collaboration </a:t>
            </a:r>
            <a:br>
              <a:rPr lang="en-US" sz="1600" b="1">
                <a:ea typeface="Geneva" charset="0"/>
                <a:cs typeface="Geneva" charset="0"/>
              </a:rPr>
            </a:br>
            <a:endParaRPr lang="en-US" sz="900" b="1">
              <a:ea typeface="Geneva" charset="0"/>
              <a:cs typeface="Geneva" charset="0"/>
            </a:endParaRPr>
          </a:p>
          <a:p>
            <a:pPr marL="0" indent="0">
              <a:buNone/>
            </a:pPr>
            <a:r>
              <a:rPr lang="en-US" sz="1600">
                <a:solidFill>
                  <a:srgbClr val="000962"/>
                </a:solidFill>
                <a:ea typeface="Geneva"/>
                <a:cs typeface="Geneva" charset="0"/>
              </a:rPr>
              <a:t>Monday, </a:t>
            </a:r>
            <a:r>
              <a:rPr lang="en-US" sz="1600"/>
              <a:t>August</a:t>
            </a:r>
            <a:r>
              <a:rPr lang="en-US" sz="1600">
                <a:solidFill>
                  <a:srgbClr val="000962"/>
                </a:solidFill>
                <a:ea typeface="Geneva"/>
                <a:cs typeface="Geneva" charset="0"/>
              </a:rPr>
              <a:t>,17, 4 pm ET</a:t>
            </a:r>
          </a:p>
        </p:txBody>
      </p:sp>
      <p:sp>
        <p:nvSpPr>
          <p:cNvPr id="21" name="Text Placeholder 3">
            <a:extLst>
              <a:ext uri="{FF2B5EF4-FFF2-40B4-BE49-F238E27FC236}">
                <a16:creationId xmlns:a16="http://schemas.microsoft.com/office/drawing/2014/main" id="{BD2A1D4A-2CCA-6244-469A-4C3D666C411B}"/>
              </a:ext>
            </a:extLst>
          </p:cNvPr>
          <p:cNvSpPr txBox="1">
            <a:spLocks/>
          </p:cNvSpPr>
          <p:nvPr/>
        </p:nvSpPr>
        <p:spPr>
          <a:xfrm>
            <a:off x="685660" y="2799211"/>
            <a:ext cx="3362093" cy="2678856"/>
          </a:xfrm>
          <a:prstGeom prst="rect">
            <a:avLst/>
          </a:prstGeom>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lvl="0" indent="0" defTabSz="914400" fontAlgn="auto">
              <a:spcBef>
                <a:spcPts val="0"/>
              </a:spcBef>
              <a:spcAft>
                <a:spcPts val="0"/>
              </a:spcAft>
              <a:buNone/>
              <a:defRPr/>
            </a:pPr>
            <a:r>
              <a:rPr lang="en-US" sz="1300"/>
              <a:t>Learn about one of the most powerful tools to successful collaboration. New York Life now has many different forms of relationships agents can form from Mentorships to formalized Teams.</a:t>
            </a:r>
          </a:p>
          <a:p>
            <a:pPr marL="0" lvl="0" indent="0" defTabSz="914400" fontAlgn="auto">
              <a:spcBef>
                <a:spcPts val="0"/>
              </a:spcBef>
              <a:spcAft>
                <a:spcPts val="0"/>
              </a:spcAft>
              <a:buNone/>
              <a:defRPr/>
            </a:pPr>
            <a:endParaRPr lang="en-US" sz="800"/>
          </a:p>
          <a:p>
            <a:pPr marL="0" lvl="0" indent="0" defTabSz="914400" fontAlgn="auto">
              <a:spcBef>
                <a:spcPts val="0"/>
              </a:spcBef>
              <a:spcAft>
                <a:spcPts val="0"/>
              </a:spcAft>
              <a:buNone/>
              <a:defRPr/>
            </a:pPr>
            <a:r>
              <a:rPr lang="en-US" sz="1300"/>
              <a:t>Guest: </a:t>
            </a:r>
          </a:p>
          <a:p>
            <a:pPr marL="0" lvl="0" indent="0" defTabSz="914400" fontAlgn="auto">
              <a:spcBef>
                <a:spcPts val="0"/>
              </a:spcBef>
              <a:spcAft>
                <a:spcPts val="0"/>
              </a:spcAft>
              <a:buNone/>
              <a:defRPr/>
            </a:pPr>
            <a:r>
              <a:rPr lang="en-US" sz="1400"/>
              <a:t>Jenna Jernigan</a:t>
            </a:r>
          </a:p>
          <a:p>
            <a:pPr marL="0" lvl="0" indent="0" defTabSz="914400" fontAlgn="auto">
              <a:spcBef>
                <a:spcPts val="0"/>
              </a:spcBef>
              <a:spcAft>
                <a:spcPts val="0"/>
              </a:spcAft>
              <a:buNone/>
              <a:defRPr/>
            </a:pPr>
            <a:r>
              <a:rPr lang="en-US" sz="1400"/>
              <a:t>Agent Collaboration and Partnership</a:t>
            </a:r>
          </a:p>
          <a:p>
            <a:pPr marL="0" lvl="0" indent="0" defTabSz="914400" fontAlgn="auto">
              <a:spcBef>
                <a:spcPts val="0"/>
              </a:spcBef>
              <a:spcAft>
                <a:spcPts val="0"/>
              </a:spcAft>
              <a:buNone/>
              <a:defRPr/>
            </a:pPr>
            <a:endParaRPr lang="en-US" sz="1400"/>
          </a:p>
        </p:txBody>
      </p:sp>
      <p:grpSp>
        <p:nvGrpSpPr>
          <p:cNvPr id="30" name="Group 29">
            <a:extLst>
              <a:ext uri="{FF2B5EF4-FFF2-40B4-BE49-F238E27FC236}">
                <a16:creationId xmlns:a16="http://schemas.microsoft.com/office/drawing/2014/main" id="{D72C0BDA-51FA-0746-2DC8-F4028B926C15}"/>
              </a:ext>
            </a:extLst>
          </p:cNvPr>
          <p:cNvGrpSpPr/>
          <p:nvPr/>
        </p:nvGrpSpPr>
        <p:grpSpPr>
          <a:xfrm>
            <a:off x="568722" y="4753187"/>
            <a:ext cx="3623517" cy="1099680"/>
            <a:chOff x="568722" y="4753187"/>
            <a:chExt cx="3623517" cy="1099680"/>
          </a:xfrm>
        </p:grpSpPr>
        <p:sp>
          <p:nvSpPr>
            <p:cNvPr id="3" name="Rectangle 2">
              <a:extLst>
                <a:ext uri="{FF2B5EF4-FFF2-40B4-BE49-F238E27FC236}">
                  <a16:creationId xmlns:a16="http://schemas.microsoft.com/office/drawing/2014/main" id="{BF01DC16-368F-C8A9-7444-BA7B6465799B}"/>
                </a:ext>
              </a:extLst>
            </p:cNvPr>
            <p:cNvSpPr/>
            <p:nvPr/>
          </p:nvSpPr>
          <p:spPr bwMode="ltGray">
            <a:xfrm>
              <a:off x="568722" y="4753188"/>
              <a:ext cx="3623517"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4" name="Isosceles Triangle 3">
              <a:extLst>
                <a:ext uri="{FF2B5EF4-FFF2-40B4-BE49-F238E27FC236}">
                  <a16:creationId xmlns:a16="http://schemas.microsoft.com/office/drawing/2014/main" id="{EE811A69-EA01-BC58-2A0B-A5AE7698C99B}"/>
                </a:ext>
              </a:extLst>
            </p:cNvPr>
            <p:cNvSpPr/>
            <p:nvPr/>
          </p:nvSpPr>
          <p:spPr bwMode="ltGray">
            <a:xfrm rot="5400000">
              <a:off x="2649814" y="5185011"/>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5" name="Rectangle 4">
              <a:extLst>
                <a:ext uri="{FF2B5EF4-FFF2-40B4-BE49-F238E27FC236}">
                  <a16:creationId xmlns:a16="http://schemas.microsoft.com/office/drawing/2014/main" id="{1A5736C6-B12B-AC30-576F-577C0BC0D3BD}"/>
                </a:ext>
              </a:extLst>
            </p:cNvPr>
            <p:cNvSpPr>
              <a:spLocks/>
            </p:cNvSpPr>
            <p:nvPr/>
          </p:nvSpPr>
          <p:spPr>
            <a:xfrm rot="10800000" flipV="1">
              <a:off x="3089132" y="4753187"/>
              <a:ext cx="1099679" cy="10996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Box 5">
              <a:extLst>
                <a:ext uri="{FF2B5EF4-FFF2-40B4-BE49-F238E27FC236}">
                  <a16:creationId xmlns:a16="http://schemas.microsoft.com/office/drawing/2014/main" id="{72398F74-7B02-BC3C-2B6A-714F2523EC8F}"/>
                </a:ext>
              </a:extLst>
            </p:cNvPr>
            <p:cNvSpPr txBox="1"/>
            <p:nvPr/>
          </p:nvSpPr>
          <p:spPr>
            <a:xfrm>
              <a:off x="784414" y="5033732"/>
              <a:ext cx="1696701"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A62"/>
                  </a:solidFill>
                  <a:effectLst/>
                  <a:uLnTx/>
                  <a:uFillTx/>
                  <a:latin typeface="Arial"/>
                  <a:ea typeface="+mn-ea"/>
                  <a:cs typeface="+mn-cs"/>
                </a:rPr>
                <a:t>Scan the QR code to register today!</a:t>
              </a:r>
            </a:p>
          </p:txBody>
        </p:sp>
      </p:grpSp>
      <p:grpSp>
        <p:nvGrpSpPr>
          <p:cNvPr id="31" name="Group 30">
            <a:extLst>
              <a:ext uri="{FF2B5EF4-FFF2-40B4-BE49-F238E27FC236}">
                <a16:creationId xmlns:a16="http://schemas.microsoft.com/office/drawing/2014/main" id="{30B1D28A-E9F2-241D-B00C-B38A6C01E8FE}"/>
              </a:ext>
            </a:extLst>
          </p:cNvPr>
          <p:cNvGrpSpPr/>
          <p:nvPr/>
        </p:nvGrpSpPr>
        <p:grpSpPr>
          <a:xfrm>
            <a:off x="4301034" y="4753187"/>
            <a:ext cx="3623517" cy="1099680"/>
            <a:chOff x="568722" y="4753187"/>
            <a:chExt cx="3623517" cy="1099680"/>
          </a:xfrm>
        </p:grpSpPr>
        <p:sp>
          <p:nvSpPr>
            <p:cNvPr id="32" name="Rectangle 31">
              <a:extLst>
                <a:ext uri="{FF2B5EF4-FFF2-40B4-BE49-F238E27FC236}">
                  <a16:creationId xmlns:a16="http://schemas.microsoft.com/office/drawing/2014/main" id="{3B2D8B12-9081-7629-C761-35CB6A04C0BF}"/>
                </a:ext>
              </a:extLst>
            </p:cNvPr>
            <p:cNvSpPr/>
            <p:nvPr/>
          </p:nvSpPr>
          <p:spPr bwMode="ltGray">
            <a:xfrm>
              <a:off x="568722" y="4753188"/>
              <a:ext cx="3623517"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33" name="Isosceles Triangle 32">
              <a:extLst>
                <a:ext uri="{FF2B5EF4-FFF2-40B4-BE49-F238E27FC236}">
                  <a16:creationId xmlns:a16="http://schemas.microsoft.com/office/drawing/2014/main" id="{05610DDC-F7C2-60F9-E571-0484E8772EB7}"/>
                </a:ext>
              </a:extLst>
            </p:cNvPr>
            <p:cNvSpPr/>
            <p:nvPr/>
          </p:nvSpPr>
          <p:spPr bwMode="ltGray">
            <a:xfrm rot="5400000">
              <a:off x="2649814" y="5185011"/>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34" name="Rectangle 33">
              <a:extLst>
                <a:ext uri="{FF2B5EF4-FFF2-40B4-BE49-F238E27FC236}">
                  <a16:creationId xmlns:a16="http://schemas.microsoft.com/office/drawing/2014/main" id="{D2ED20B7-308E-EA3D-7DD9-6B675816E493}"/>
                </a:ext>
              </a:extLst>
            </p:cNvPr>
            <p:cNvSpPr>
              <a:spLocks/>
            </p:cNvSpPr>
            <p:nvPr/>
          </p:nvSpPr>
          <p:spPr>
            <a:xfrm rot="10800000" flipV="1">
              <a:off x="3089132" y="4753187"/>
              <a:ext cx="1099679" cy="10996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35" name="TextBox 34">
              <a:extLst>
                <a:ext uri="{FF2B5EF4-FFF2-40B4-BE49-F238E27FC236}">
                  <a16:creationId xmlns:a16="http://schemas.microsoft.com/office/drawing/2014/main" id="{7948867C-AEC8-8D52-575F-7EE7D717A69B}"/>
                </a:ext>
              </a:extLst>
            </p:cNvPr>
            <p:cNvSpPr txBox="1"/>
            <p:nvPr/>
          </p:nvSpPr>
          <p:spPr>
            <a:xfrm>
              <a:off x="784414" y="5033732"/>
              <a:ext cx="1696701"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A62"/>
                  </a:solidFill>
                  <a:effectLst/>
                  <a:uLnTx/>
                  <a:uFillTx/>
                  <a:latin typeface="Arial"/>
                  <a:ea typeface="+mn-ea"/>
                  <a:cs typeface="+mn-cs"/>
                </a:rPr>
                <a:t>Scan the QR code to register today!</a:t>
              </a:r>
            </a:p>
          </p:txBody>
        </p:sp>
      </p:grpSp>
      <p:grpSp>
        <p:nvGrpSpPr>
          <p:cNvPr id="36" name="Group 35">
            <a:extLst>
              <a:ext uri="{FF2B5EF4-FFF2-40B4-BE49-F238E27FC236}">
                <a16:creationId xmlns:a16="http://schemas.microsoft.com/office/drawing/2014/main" id="{A7D36467-EF81-708C-F943-624C65245F4F}"/>
              </a:ext>
            </a:extLst>
          </p:cNvPr>
          <p:cNvGrpSpPr/>
          <p:nvPr/>
        </p:nvGrpSpPr>
        <p:grpSpPr>
          <a:xfrm>
            <a:off x="8078225" y="4753187"/>
            <a:ext cx="3623517" cy="1099680"/>
            <a:chOff x="568722" y="4753187"/>
            <a:chExt cx="3623517" cy="1099680"/>
          </a:xfrm>
        </p:grpSpPr>
        <p:sp>
          <p:nvSpPr>
            <p:cNvPr id="37" name="Rectangle 36">
              <a:extLst>
                <a:ext uri="{FF2B5EF4-FFF2-40B4-BE49-F238E27FC236}">
                  <a16:creationId xmlns:a16="http://schemas.microsoft.com/office/drawing/2014/main" id="{4D309AE3-6A73-2743-011B-00314190E8E2}"/>
                </a:ext>
              </a:extLst>
            </p:cNvPr>
            <p:cNvSpPr/>
            <p:nvPr/>
          </p:nvSpPr>
          <p:spPr bwMode="ltGray">
            <a:xfrm>
              <a:off x="568722" y="4753188"/>
              <a:ext cx="3623517"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38" name="Isosceles Triangle 37">
              <a:extLst>
                <a:ext uri="{FF2B5EF4-FFF2-40B4-BE49-F238E27FC236}">
                  <a16:creationId xmlns:a16="http://schemas.microsoft.com/office/drawing/2014/main" id="{A970A2D8-FD6A-429A-01F6-FAF2C98D21E7}"/>
                </a:ext>
              </a:extLst>
            </p:cNvPr>
            <p:cNvSpPr/>
            <p:nvPr/>
          </p:nvSpPr>
          <p:spPr bwMode="ltGray">
            <a:xfrm rot="5400000">
              <a:off x="2649814" y="5185011"/>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39" name="Rectangle 38">
              <a:extLst>
                <a:ext uri="{FF2B5EF4-FFF2-40B4-BE49-F238E27FC236}">
                  <a16:creationId xmlns:a16="http://schemas.microsoft.com/office/drawing/2014/main" id="{17848F72-DE05-782A-0A56-B79BC497A9AF}"/>
                </a:ext>
              </a:extLst>
            </p:cNvPr>
            <p:cNvSpPr>
              <a:spLocks/>
            </p:cNvSpPr>
            <p:nvPr/>
          </p:nvSpPr>
          <p:spPr>
            <a:xfrm rot="10800000" flipV="1">
              <a:off x="3089132" y="4753187"/>
              <a:ext cx="1099679" cy="10996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45" name="TextBox 44">
              <a:extLst>
                <a:ext uri="{FF2B5EF4-FFF2-40B4-BE49-F238E27FC236}">
                  <a16:creationId xmlns:a16="http://schemas.microsoft.com/office/drawing/2014/main" id="{633E6BAE-7D09-B2C2-023E-F8CCDF9926F7}"/>
                </a:ext>
              </a:extLst>
            </p:cNvPr>
            <p:cNvSpPr txBox="1"/>
            <p:nvPr/>
          </p:nvSpPr>
          <p:spPr>
            <a:xfrm>
              <a:off x="784414" y="5033732"/>
              <a:ext cx="1696701"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A62"/>
                  </a:solidFill>
                  <a:effectLst/>
                  <a:uLnTx/>
                  <a:uFillTx/>
                  <a:latin typeface="Arial"/>
                  <a:ea typeface="+mn-ea"/>
                  <a:cs typeface="+mn-cs"/>
                </a:rPr>
                <a:t>Scan the QR code to register today!</a:t>
              </a:r>
            </a:p>
          </p:txBody>
        </p:sp>
      </p:grpSp>
      <p:sp>
        <p:nvSpPr>
          <p:cNvPr id="46" name="Text Placeholder 3">
            <a:extLst>
              <a:ext uri="{FF2B5EF4-FFF2-40B4-BE49-F238E27FC236}">
                <a16:creationId xmlns:a16="http://schemas.microsoft.com/office/drawing/2014/main" id="{452FA007-750C-1454-4C27-2B0ABAFFB0EC}"/>
              </a:ext>
            </a:extLst>
          </p:cNvPr>
          <p:cNvSpPr txBox="1">
            <a:spLocks/>
          </p:cNvSpPr>
          <p:nvPr/>
        </p:nvSpPr>
        <p:spPr>
          <a:xfrm>
            <a:off x="4448707" y="1712780"/>
            <a:ext cx="3310829" cy="827099"/>
          </a:xfrm>
          <a:prstGeom prst="rect">
            <a:avLst/>
          </a:prstGeom>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indent="0">
              <a:buNone/>
            </a:pPr>
            <a:r>
              <a:rPr lang="es-ES" sz="1600" b="1"/>
              <a:t>Korean Market </a:t>
            </a:r>
            <a:br>
              <a:rPr lang="es-ES" sz="1600" b="1"/>
            </a:br>
            <a:r>
              <a:rPr lang="es-ES" sz="1600" b="1"/>
              <a:t>Agents Resource Lab </a:t>
            </a:r>
            <a:br>
              <a:rPr lang="en-US" sz="1600" b="1">
                <a:ea typeface="Geneva" charset="0"/>
                <a:cs typeface="Geneva" charset="0"/>
              </a:rPr>
            </a:br>
            <a:endParaRPr lang="en-US" sz="900" b="1">
              <a:ea typeface="Geneva" charset="0"/>
              <a:cs typeface="Geneva" charset="0"/>
            </a:endParaRPr>
          </a:p>
          <a:p>
            <a:pPr marL="0" indent="0">
              <a:buNone/>
            </a:pPr>
            <a:r>
              <a:rPr lang="en-US" sz="1600">
                <a:solidFill>
                  <a:srgbClr val="000962"/>
                </a:solidFill>
                <a:ea typeface="Geneva"/>
                <a:cs typeface="Geneva" charset="0"/>
              </a:rPr>
              <a:t>Monday, </a:t>
            </a:r>
            <a:r>
              <a:rPr lang="en-US" sz="1600"/>
              <a:t>August</a:t>
            </a:r>
            <a:r>
              <a:rPr lang="en-US" sz="1600">
                <a:solidFill>
                  <a:srgbClr val="000962"/>
                </a:solidFill>
                <a:ea typeface="Geneva"/>
                <a:cs typeface="Geneva" charset="0"/>
              </a:rPr>
              <a:t>,17, 4 pm ET</a:t>
            </a:r>
          </a:p>
          <a:p>
            <a:pPr marL="0" indent="0">
              <a:buNone/>
            </a:pPr>
            <a:r>
              <a:rPr lang="en-US" sz="1600" b="1">
                <a:solidFill>
                  <a:srgbClr val="000962"/>
                </a:solidFill>
                <a:ea typeface="Geneva"/>
                <a:cs typeface="Geneva" charset="0"/>
              </a:rPr>
              <a:t>  </a:t>
            </a:r>
            <a:endParaRPr lang="en-US" sz="1600">
              <a:solidFill>
                <a:srgbClr val="000962"/>
              </a:solidFill>
              <a:ea typeface="Geneva"/>
              <a:cs typeface="Arial"/>
            </a:endParaRPr>
          </a:p>
        </p:txBody>
      </p:sp>
      <p:sp>
        <p:nvSpPr>
          <p:cNvPr id="47" name="Text Placeholder 3">
            <a:extLst>
              <a:ext uri="{FF2B5EF4-FFF2-40B4-BE49-F238E27FC236}">
                <a16:creationId xmlns:a16="http://schemas.microsoft.com/office/drawing/2014/main" id="{1E88E4C7-A82B-D539-5B29-3F61EF925AA6}"/>
              </a:ext>
            </a:extLst>
          </p:cNvPr>
          <p:cNvSpPr txBox="1">
            <a:spLocks/>
          </p:cNvSpPr>
          <p:nvPr/>
        </p:nvSpPr>
        <p:spPr>
          <a:xfrm>
            <a:off x="4440585" y="2916907"/>
            <a:ext cx="3310829" cy="1006661"/>
          </a:xfrm>
          <a:prstGeom prst="rect">
            <a:avLst/>
          </a:prstGeom>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indent="0">
              <a:buNone/>
            </a:pPr>
            <a:endParaRPr lang="en-US" sz="1400">
              <a:ea typeface="Geneva" charset="0"/>
              <a:cs typeface="Geneva" charset="0"/>
            </a:endParaRPr>
          </a:p>
        </p:txBody>
      </p:sp>
      <p:sp>
        <p:nvSpPr>
          <p:cNvPr id="49" name="Text Placeholder 3">
            <a:extLst>
              <a:ext uri="{FF2B5EF4-FFF2-40B4-BE49-F238E27FC236}">
                <a16:creationId xmlns:a16="http://schemas.microsoft.com/office/drawing/2014/main" id="{78389495-D809-C3CE-56F5-B9320F4E04D8}"/>
              </a:ext>
            </a:extLst>
          </p:cNvPr>
          <p:cNvSpPr txBox="1">
            <a:spLocks/>
          </p:cNvSpPr>
          <p:nvPr/>
        </p:nvSpPr>
        <p:spPr>
          <a:xfrm>
            <a:off x="8211857" y="1709928"/>
            <a:ext cx="3411426" cy="1399080"/>
          </a:xfrm>
          <a:prstGeom prst="rect">
            <a:avLst/>
          </a:prstGeom>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indent="0">
              <a:buNone/>
            </a:pPr>
            <a:r>
              <a:rPr lang="en-US" sz="1600" b="1"/>
              <a:t>South Asian Market </a:t>
            </a:r>
            <a:br>
              <a:rPr lang="en-US" sz="1600" b="1"/>
            </a:br>
            <a:r>
              <a:rPr lang="en-US" sz="1600" b="1"/>
              <a:t>Key to Success</a:t>
            </a:r>
            <a:br>
              <a:rPr lang="en-US" sz="1600" b="1">
                <a:ea typeface="Geneva" charset="0"/>
                <a:cs typeface="Geneva" charset="0"/>
              </a:rPr>
            </a:br>
            <a:endParaRPr lang="en-US" sz="900" b="1">
              <a:ea typeface="Geneva" charset="0"/>
              <a:cs typeface="Geneva" charset="0"/>
            </a:endParaRPr>
          </a:p>
          <a:p>
            <a:pPr marL="0" indent="0">
              <a:buNone/>
            </a:pPr>
            <a:r>
              <a:rPr lang="en-US" sz="1600">
                <a:solidFill>
                  <a:srgbClr val="000962"/>
                </a:solidFill>
                <a:ea typeface="Geneva"/>
                <a:cs typeface="Geneva" charset="0"/>
              </a:rPr>
              <a:t>Monday, </a:t>
            </a:r>
            <a:r>
              <a:rPr lang="en-US" sz="1600"/>
              <a:t>August</a:t>
            </a:r>
            <a:r>
              <a:rPr lang="en-US" sz="1600">
                <a:solidFill>
                  <a:srgbClr val="000962"/>
                </a:solidFill>
                <a:ea typeface="Geneva"/>
                <a:cs typeface="Geneva" charset="0"/>
              </a:rPr>
              <a:t>,17, 4 pm ET</a:t>
            </a:r>
          </a:p>
        </p:txBody>
      </p:sp>
      <p:sp>
        <p:nvSpPr>
          <p:cNvPr id="50" name="Text Placeholder 3">
            <a:extLst>
              <a:ext uri="{FF2B5EF4-FFF2-40B4-BE49-F238E27FC236}">
                <a16:creationId xmlns:a16="http://schemas.microsoft.com/office/drawing/2014/main" id="{65C2FD53-E40A-10C0-3A65-E75A59369F4F}"/>
              </a:ext>
            </a:extLst>
          </p:cNvPr>
          <p:cNvSpPr txBox="1">
            <a:spLocks/>
          </p:cNvSpPr>
          <p:nvPr/>
        </p:nvSpPr>
        <p:spPr>
          <a:xfrm>
            <a:off x="8211857" y="2770636"/>
            <a:ext cx="3195729" cy="2545997"/>
          </a:xfrm>
          <a:prstGeom prst="rect">
            <a:avLst/>
          </a:prstGeom>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indent="0">
              <a:buNone/>
            </a:pPr>
            <a:r>
              <a:rPr lang="en-US" sz="1400"/>
              <a:t>Webinar designed to empower agents with actionable strategies, industry insights and opportunities to elevate their business.</a:t>
            </a:r>
          </a:p>
        </p:txBody>
      </p:sp>
      <p:pic>
        <p:nvPicPr>
          <p:cNvPr id="7" name="Picture 4">
            <a:extLst>
              <a:ext uri="{FF2B5EF4-FFF2-40B4-BE49-F238E27FC236}">
                <a16:creationId xmlns:a16="http://schemas.microsoft.com/office/drawing/2014/main" id="{E0B24A5D-F0FE-AB1C-9398-26D22B9B7B0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3166376" y="4850011"/>
            <a:ext cx="942975" cy="94297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E462489F-7E51-4ABD-C85C-106E1923CE5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p:blipFill>
        <p:spPr bwMode="auto">
          <a:xfrm>
            <a:off x="10680307" y="4846320"/>
            <a:ext cx="942975" cy="942975"/>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3">
            <a:extLst>
              <a:ext uri="{FF2B5EF4-FFF2-40B4-BE49-F238E27FC236}">
                <a16:creationId xmlns:a16="http://schemas.microsoft.com/office/drawing/2014/main" id="{2D405242-F519-B973-0415-F9065CCCE256}"/>
              </a:ext>
            </a:extLst>
          </p:cNvPr>
          <p:cNvSpPr txBox="1">
            <a:spLocks/>
          </p:cNvSpPr>
          <p:nvPr/>
        </p:nvSpPr>
        <p:spPr>
          <a:xfrm>
            <a:off x="4440585" y="2813498"/>
            <a:ext cx="3369303" cy="2106614"/>
          </a:xfrm>
          <a:prstGeom prst="rect">
            <a:avLst/>
          </a:prstGeom>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indent="0">
              <a:buNone/>
            </a:pPr>
            <a:r>
              <a:rPr lang="en-US" sz="1400"/>
              <a:t>Monthly in-language training and development hour on tools and resources followed by Q&amp;A            </a:t>
            </a:r>
          </a:p>
        </p:txBody>
      </p:sp>
      <p:pic>
        <p:nvPicPr>
          <p:cNvPr id="11" name="Picture 4">
            <a:extLst>
              <a:ext uri="{FF2B5EF4-FFF2-40B4-BE49-F238E27FC236}">
                <a16:creationId xmlns:a16="http://schemas.microsoft.com/office/drawing/2014/main" id="{2839F585-CBEA-8AB8-1374-94995210F54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t="1047" b="1047"/>
          <a:stretch/>
        </p:blipFill>
        <p:spPr bwMode="auto">
          <a:xfrm>
            <a:off x="6900841" y="4846320"/>
            <a:ext cx="940883" cy="9211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8596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FFBACE8-8F1C-D177-9D8D-F3E362920E1A}"/>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BA2AC86A-BC68-E932-327B-2DB5FDC9CD3C}"/>
              </a:ext>
            </a:extLst>
          </p:cNvPr>
          <p:cNvSpPr>
            <a:spLocks noGrp="1"/>
          </p:cNvSpPr>
          <p:nvPr>
            <p:ph type="title"/>
          </p:nvPr>
        </p:nvSpPr>
        <p:spPr/>
        <p:txBody>
          <a:bodyPr vert="horz" lIns="91440" tIns="45720" rIns="91440" bIns="45720" rtlCol="0" anchor="t" anchorCtr="0">
            <a:noAutofit/>
          </a:bodyPr>
          <a:lstStyle/>
          <a:p>
            <a:r>
              <a:rPr lang="en-US" dirty="0"/>
              <a:t>Total Morningstar</a:t>
            </a:r>
          </a:p>
        </p:txBody>
      </p:sp>
      <p:sp>
        <p:nvSpPr>
          <p:cNvPr id="3" name="Text Placeholder 2">
            <a:extLst>
              <a:ext uri="{FF2B5EF4-FFF2-40B4-BE49-F238E27FC236}">
                <a16:creationId xmlns:a16="http://schemas.microsoft.com/office/drawing/2014/main" id="{024B73B6-F762-17C5-1F23-ADEC1D6A4ABF}"/>
              </a:ext>
            </a:extLst>
          </p:cNvPr>
          <p:cNvSpPr>
            <a:spLocks noGrp="1"/>
          </p:cNvSpPr>
          <p:nvPr>
            <p:ph type="body" sz="quarter" idx="13"/>
          </p:nvPr>
        </p:nvSpPr>
        <p:spPr>
          <a:xfrm>
            <a:off x="335756" y="666168"/>
            <a:ext cx="11520487" cy="558800"/>
          </a:xfrm>
        </p:spPr>
        <p:txBody>
          <a:bodyPr vert="horz" lIns="91440" tIns="45720" rIns="91440" bIns="45720" rtlCol="0" anchor="t">
            <a:noAutofit/>
          </a:bodyPr>
          <a:lstStyle/>
          <a:p>
            <a:r>
              <a:rPr lang="en-US" sz="2400" dirty="0">
                <a:solidFill>
                  <a:schemeClr val="tx1"/>
                </a:solidFill>
                <a:latin typeface="+mn-lt"/>
              </a:rPr>
              <a:t>Complete Guide to Morningstar Proposals &amp; Sales Concepts</a:t>
            </a:r>
          </a:p>
        </p:txBody>
      </p:sp>
      <p:sp>
        <p:nvSpPr>
          <p:cNvPr id="4" name="Text Placeholder 3">
            <a:extLst>
              <a:ext uri="{FF2B5EF4-FFF2-40B4-BE49-F238E27FC236}">
                <a16:creationId xmlns:a16="http://schemas.microsoft.com/office/drawing/2014/main" id="{F59BF68E-6704-A8F5-AB1B-D8995FE23CAB}"/>
              </a:ext>
            </a:extLst>
          </p:cNvPr>
          <p:cNvSpPr>
            <a:spLocks noGrp="1"/>
          </p:cNvSpPr>
          <p:nvPr>
            <p:ph type="body" sz="quarter" idx="14"/>
          </p:nvPr>
        </p:nvSpPr>
        <p:spPr>
          <a:xfrm>
            <a:off x="292700" y="1602210"/>
            <a:ext cx="5725839" cy="2973915"/>
          </a:xfrm>
          <a:ln>
            <a:noFill/>
          </a:ln>
        </p:spPr>
        <p:txBody>
          <a:bodyPr/>
          <a:lstStyle/>
          <a:p>
            <a:pPr>
              <a:spcBef>
                <a:spcPts val="0"/>
              </a:spcBef>
              <a:buNone/>
            </a:pPr>
            <a:r>
              <a:rPr lang="en-US" sz="1400" b="1" dirty="0">
                <a:solidFill>
                  <a:schemeClr val="tx1"/>
                </a:solidFill>
                <a:latin typeface="Arial"/>
                <a:cs typeface="Arial"/>
              </a:rPr>
              <a:t>Topics:</a:t>
            </a:r>
          </a:p>
          <a:p>
            <a:pPr>
              <a:spcBef>
                <a:spcPts val="0"/>
              </a:spcBef>
            </a:pPr>
            <a:r>
              <a:rPr lang="en-US" sz="1400" dirty="0">
                <a:solidFill>
                  <a:schemeClr val="tx1"/>
                </a:solidFill>
                <a:latin typeface="Arial"/>
                <a:cs typeface="Arial"/>
              </a:rPr>
              <a:t>September 8: Morningstar Proposal Building Walkthroughs</a:t>
            </a:r>
          </a:p>
          <a:p>
            <a:pPr>
              <a:spcBef>
                <a:spcPts val="0"/>
              </a:spcBef>
            </a:pPr>
            <a:r>
              <a:rPr lang="en-US" sz="1400" dirty="0">
                <a:solidFill>
                  <a:schemeClr val="tx1"/>
                </a:solidFill>
                <a:latin typeface="Arial"/>
                <a:cs typeface="Arial"/>
              </a:rPr>
              <a:t>September 15: Reading and Understanding Morningstar IPT Reports </a:t>
            </a:r>
          </a:p>
          <a:p>
            <a:pPr>
              <a:spcBef>
                <a:spcPts val="0"/>
              </a:spcBef>
            </a:pPr>
            <a:r>
              <a:rPr lang="en-US" sz="1400" dirty="0">
                <a:solidFill>
                  <a:schemeClr val="tx1"/>
                </a:solidFill>
                <a:latin typeface="Arial"/>
                <a:cs typeface="Arial"/>
              </a:rPr>
              <a:t>September 22: Morningstar Research &amp; Portfolio Concepts  </a:t>
            </a:r>
          </a:p>
          <a:p>
            <a:pPr>
              <a:spcBef>
                <a:spcPts val="0"/>
              </a:spcBef>
            </a:pPr>
            <a:r>
              <a:rPr lang="en-US" sz="1400" dirty="0">
                <a:solidFill>
                  <a:schemeClr val="tx1"/>
                </a:solidFill>
                <a:latin typeface="Arial"/>
                <a:cs typeface="Arial"/>
              </a:rPr>
              <a:t>September 29: Morningstar Proposal Full Use with Case Study</a:t>
            </a:r>
            <a:endParaRPr lang="en-US" sz="1400" dirty="0">
              <a:solidFill>
                <a:schemeClr val="tx1"/>
              </a:solidFill>
            </a:endParaRPr>
          </a:p>
          <a:p>
            <a:r>
              <a:rPr lang="en-US" sz="1400" b="1" dirty="0">
                <a:solidFill>
                  <a:schemeClr val="tx1"/>
                </a:solidFill>
                <a:latin typeface="Arial"/>
                <a:cs typeface="Arial"/>
              </a:rPr>
              <a:t>Host: Morningstar IPT Training Team</a:t>
            </a:r>
            <a:br>
              <a:rPr lang="en-US" sz="1400" dirty="0"/>
            </a:br>
            <a:r>
              <a:rPr lang="en-US" sz="1400" dirty="0">
                <a:solidFill>
                  <a:schemeClr val="tx1"/>
                </a:solidFill>
                <a:latin typeface="Arial"/>
                <a:cs typeface="Arial"/>
              </a:rPr>
              <a:t>Time: Each Session Starts at 2PM EST</a:t>
            </a:r>
          </a:p>
          <a:p>
            <a:r>
              <a:rPr lang="en-US" sz="1400" b="1" dirty="0">
                <a:solidFill>
                  <a:schemeClr val="tx1"/>
                </a:solidFill>
                <a:latin typeface="Arial"/>
                <a:cs typeface="Arial"/>
              </a:rPr>
              <a:t>Duration: </a:t>
            </a:r>
            <a:r>
              <a:rPr lang="en-US" sz="1400" dirty="0">
                <a:solidFill>
                  <a:schemeClr val="tx1"/>
                </a:solidFill>
                <a:latin typeface="Arial"/>
                <a:cs typeface="Arial"/>
              </a:rPr>
              <a:t>1 Hour Sessions: Choose Many or Just One</a:t>
            </a:r>
          </a:p>
          <a:p>
            <a:pPr defTabSz="914377" eaLnBrk="0" fontAlgn="base" hangingPunct="0">
              <a:spcBef>
                <a:spcPct val="0"/>
              </a:spcBef>
              <a:spcAft>
                <a:spcPct val="0"/>
              </a:spcAft>
            </a:pPr>
            <a:endParaRPr lang="en-US" altLang="en-US" sz="1400" b="1" dirty="0">
              <a:solidFill>
                <a:schemeClr val="tx1"/>
              </a:solidFill>
            </a:endParaRPr>
          </a:p>
          <a:p>
            <a:pPr defTabSz="914377" eaLnBrk="0" fontAlgn="base" hangingPunct="0">
              <a:spcBef>
                <a:spcPct val="0"/>
              </a:spcBef>
              <a:spcAft>
                <a:spcPct val="0"/>
              </a:spcAft>
            </a:pPr>
            <a:r>
              <a:rPr lang="en-US" altLang="en-US" sz="1400" b="1" dirty="0">
                <a:solidFill>
                  <a:schemeClr val="tx1"/>
                </a:solidFill>
              </a:rPr>
              <a:t>Live demo</a:t>
            </a:r>
            <a:r>
              <a:rPr lang="en-US" altLang="en-US" sz="1400" dirty="0">
                <a:solidFill>
                  <a:schemeClr val="tx1"/>
                </a:solidFill>
              </a:rPr>
              <a:t>: Leverage Advanced Morningstar Features!</a:t>
            </a:r>
          </a:p>
          <a:p>
            <a:pPr defTabSz="914377" eaLnBrk="0" fontAlgn="base" hangingPunct="0">
              <a:spcBef>
                <a:spcPct val="0"/>
              </a:spcBef>
              <a:spcAft>
                <a:spcPct val="0"/>
              </a:spcAft>
            </a:pPr>
            <a:r>
              <a:rPr lang="en-US" altLang="en-US" sz="1400" b="1" dirty="0">
                <a:solidFill>
                  <a:schemeClr val="tx1"/>
                </a:solidFill>
              </a:rPr>
              <a:t>Live chat: </a:t>
            </a:r>
            <a:r>
              <a:rPr lang="en-US" altLang="en-US" sz="1400" dirty="0">
                <a:solidFill>
                  <a:schemeClr val="tx1"/>
                </a:solidFill>
              </a:rPr>
              <a:t>Support Throughout!</a:t>
            </a:r>
            <a:endParaRPr lang="en-US" sz="1400" dirty="0"/>
          </a:p>
          <a:p>
            <a:endParaRPr lang="en-US" sz="1400" b="1" dirty="0">
              <a:solidFill>
                <a:schemeClr val="tx1"/>
              </a:solidFill>
              <a:latin typeface="Arial"/>
              <a:cs typeface="Arial"/>
            </a:endParaRPr>
          </a:p>
          <a:p>
            <a:endParaRPr lang="en-US" sz="1100" b="1" dirty="0"/>
          </a:p>
          <a:p>
            <a:br>
              <a:rPr lang="en-US" sz="1600" dirty="0"/>
            </a:br>
            <a:endParaRPr lang="en-US" dirty="0"/>
          </a:p>
        </p:txBody>
      </p:sp>
      <p:sp>
        <p:nvSpPr>
          <p:cNvPr id="5" name="Rectangle 4">
            <a:extLst>
              <a:ext uri="{FF2B5EF4-FFF2-40B4-BE49-F238E27FC236}">
                <a16:creationId xmlns:a16="http://schemas.microsoft.com/office/drawing/2014/main" id="{CE24BB7A-BFDB-1EBC-5564-FF9BB8AAFFEF}"/>
              </a:ext>
            </a:extLst>
          </p:cNvPr>
          <p:cNvSpPr/>
          <p:nvPr/>
        </p:nvSpPr>
        <p:spPr bwMode="ltGray">
          <a:xfrm>
            <a:off x="6057490" y="1623141"/>
            <a:ext cx="5609492" cy="4270980"/>
          </a:xfrm>
          <a:prstGeom prst="rect">
            <a:avLst/>
          </a:prstGeom>
          <a:solidFill>
            <a:schemeClr val="tx1"/>
          </a:solidFill>
          <a:ln w="12700" cap="flat" cmpd="sng" algn="ctr">
            <a:solidFill>
              <a:schemeClr val="tx1">
                <a:lumMod val="90000"/>
                <a:lumOff val="10000"/>
              </a:schemeClr>
            </a:solidFill>
            <a:prstDash val="solid"/>
            <a:round/>
            <a:headEnd type="none" w="sm" len="sm"/>
            <a:tailEnd type="none" w="sm" len="sm"/>
          </a:ln>
        </p:spPr>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lda Pro"/>
              <a:ea typeface="Geneva" pitchFamily="-109" charset="-128"/>
              <a:cs typeface="+mn-cs"/>
            </a:endParaRPr>
          </a:p>
        </p:txBody>
      </p:sp>
      <p:sp>
        <p:nvSpPr>
          <p:cNvPr id="6" name="Rectangle 5">
            <a:extLst>
              <a:ext uri="{FF2B5EF4-FFF2-40B4-BE49-F238E27FC236}">
                <a16:creationId xmlns:a16="http://schemas.microsoft.com/office/drawing/2014/main" id="{0E5CD4CF-D4B6-AFE4-F2C4-995306CF00A7}"/>
              </a:ext>
            </a:extLst>
          </p:cNvPr>
          <p:cNvSpPr/>
          <p:nvPr/>
        </p:nvSpPr>
        <p:spPr bwMode="ltGray">
          <a:xfrm>
            <a:off x="6031523" y="1582616"/>
            <a:ext cx="5635459" cy="346365"/>
          </a:xfrm>
          <a:prstGeom prst="rect">
            <a:avLst/>
          </a:prstGeom>
          <a:solidFill>
            <a:schemeClr val="bg1"/>
          </a:solidFill>
          <a:ln w="12700" cap="flat" cmpd="sng" algn="ctr">
            <a:noFill/>
            <a:prstDash val="solid"/>
            <a:round/>
            <a:headEnd type="none" w="sm" len="sm"/>
            <a:tailEnd type="none" w="sm" len="sm"/>
          </a:ln>
        </p:spPr>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ffra Pro" panose="020B0603020203020204" pitchFamily="34" charset="0"/>
              <a:ea typeface="Geneva" pitchFamily="-109" charset="-128"/>
              <a:cs typeface="+mn-cs"/>
            </a:endParaRPr>
          </a:p>
        </p:txBody>
      </p:sp>
      <p:sp>
        <p:nvSpPr>
          <p:cNvPr id="14" name="Rectangle 13">
            <a:extLst>
              <a:ext uri="{FF2B5EF4-FFF2-40B4-BE49-F238E27FC236}">
                <a16:creationId xmlns:a16="http://schemas.microsoft.com/office/drawing/2014/main" id="{1D1176BD-A21C-EEC5-4113-B3BB0A7F341F}"/>
              </a:ext>
            </a:extLst>
          </p:cNvPr>
          <p:cNvSpPr/>
          <p:nvPr/>
        </p:nvSpPr>
        <p:spPr bwMode="ltGray">
          <a:xfrm>
            <a:off x="244436" y="4464942"/>
            <a:ext cx="5467824" cy="728971"/>
          </a:xfrm>
          <a:prstGeom prst="rect">
            <a:avLst/>
          </a:prstGeom>
          <a:solidFill>
            <a:srgbClr val="000A62"/>
          </a:solidFill>
          <a:ln w="12700" cap="flat" cmpd="sng" algn="ctr">
            <a:solidFill>
              <a:schemeClr val="tx1"/>
            </a:solidFill>
            <a:prstDash val="solid"/>
            <a:round/>
            <a:headEnd type="none" w="sm" len="sm"/>
            <a:tailEnd type="none" w="sm" len="sm"/>
          </a:ln>
        </p:spPr>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lda Pro"/>
              <a:ea typeface="Geneva" pitchFamily="-109" charset="-128"/>
              <a:cs typeface="+mn-cs"/>
            </a:endParaRPr>
          </a:p>
        </p:txBody>
      </p:sp>
      <p:sp>
        <p:nvSpPr>
          <p:cNvPr id="16" name="TextBox 15">
            <a:extLst>
              <a:ext uri="{FF2B5EF4-FFF2-40B4-BE49-F238E27FC236}">
                <a16:creationId xmlns:a16="http://schemas.microsoft.com/office/drawing/2014/main" id="{85AF248A-CC00-7972-AF65-F147BE1932E2}"/>
              </a:ext>
            </a:extLst>
          </p:cNvPr>
          <p:cNvSpPr txBox="1"/>
          <p:nvPr/>
        </p:nvSpPr>
        <p:spPr>
          <a:xfrm>
            <a:off x="537812" y="4619724"/>
            <a:ext cx="2166060" cy="338554"/>
          </a:xfrm>
          <a:prstGeom prst="rect">
            <a:avLst/>
          </a:prstGeom>
          <a:noFill/>
        </p:spPr>
        <p:txBody>
          <a:bodyPr wrap="square">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Effra Pro" panose="020B0603020203020204" pitchFamily="34" charset="0"/>
                <a:ea typeface="Geneva" pitchFamily="-109" charset="-128"/>
                <a:cs typeface="+mn-cs"/>
              </a:rPr>
              <a:t> Scan to register</a:t>
            </a:r>
          </a:p>
        </p:txBody>
      </p:sp>
      <p:sp>
        <p:nvSpPr>
          <p:cNvPr id="18" name="TextBox 17">
            <a:extLst>
              <a:ext uri="{FF2B5EF4-FFF2-40B4-BE49-F238E27FC236}">
                <a16:creationId xmlns:a16="http://schemas.microsoft.com/office/drawing/2014/main" id="{0395DD76-3C2D-BFFB-7A3A-3FB63010F497}"/>
              </a:ext>
            </a:extLst>
          </p:cNvPr>
          <p:cNvSpPr txBox="1"/>
          <p:nvPr/>
        </p:nvSpPr>
        <p:spPr>
          <a:xfrm>
            <a:off x="525018" y="5723155"/>
            <a:ext cx="3480759" cy="307777"/>
          </a:xfrm>
          <a:prstGeom prst="rect">
            <a:avLst/>
          </a:prstGeom>
          <a:noFill/>
        </p:spPr>
        <p:txBody>
          <a:bodyPr wrap="square">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Effra Pro" panose="020B0603020203020204" pitchFamily="34" charset="0"/>
                <a:ea typeface="Geneva" pitchFamily="-109" charset="-128"/>
                <a:cs typeface="+mn-cs"/>
              </a:rPr>
              <a:t> </a:t>
            </a:r>
          </a:p>
        </p:txBody>
      </p:sp>
      <p:sp>
        <p:nvSpPr>
          <p:cNvPr id="19" name="Isosceles Triangle 18">
            <a:extLst>
              <a:ext uri="{FF2B5EF4-FFF2-40B4-BE49-F238E27FC236}">
                <a16:creationId xmlns:a16="http://schemas.microsoft.com/office/drawing/2014/main" id="{45D481DB-8DE7-76B7-EFA8-F6C5406A1E00}"/>
              </a:ext>
            </a:extLst>
          </p:cNvPr>
          <p:cNvSpPr/>
          <p:nvPr/>
        </p:nvSpPr>
        <p:spPr bwMode="ltGray">
          <a:xfrm rot="5400000">
            <a:off x="4509225" y="4736950"/>
            <a:ext cx="343665" cy="252879"/>
          </a:xfrm>
          <a:prstGeom prst="triangle">
            <a:avLst/>
          </a:prstGeom>
          <a:solidFill>
            <a:srgbClr val="A4C9DA"/>
          </a:solidFill>
          <a:ln w="12700" cap="flat" cmpd="sng" algn="ctr">
            <a:noFill/>
            <a:prstDash val="solid"/>
            <a:round/>
            <a:headEnd type="none" w="sm" len="sm"/>
            <a:tailEnd type="none" w="sm" len="sm"/>
          </a:ln>
        </p:spPr>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lda Pro"/>
              <a:ea typeface="Geneva" pitchFamily="-109" charset="-128"/>
              <a:cs typeface="+mn-cs"/>
            </a:endParaRPr>
          </a:p>
        </p:txBody>
      </p:sp>
      <p:pic>
        <p:nvPicPr>
          <p:cNvPr id="21" name="Picture 20">
            <a:extLst>
              <a:ext uri="{FF2B5EF4-FFF2-40B4-BE49-F238E27FC236}">
                <a16:creationId xmlns:a16="http://schemas.microsoft.com/office/drawing/2014/main" id="{EC332520-366A-83F1-0A61-4B02D6ADF8AE}"/>
              </a:ext>
            </a:extLst>
          </p:cNvPr>
          <p:cNvPicPr>
            <a:picLocks noChangeAspect="1"/>
          </p:cNvPicPr>
          <p:nvPr/>
        </p:nvPicPr>
        <p:blipFill>
          <a:blip r:embed="rId3"/>
          <a:stretch>
            <a:fillRect/>
          </a:stretch>
        </p:blipFill>
        <p:spPr>
          <a:xfrm>
            <a:off x="7211005" y="1609893"/>
            <a:ext cx="3657788" cy="304816"/>
          </a:xfrm>
          <a:prstGeom prst="rect">
            <a:avLst/>
          </a:prstGeom>
        </p:spPr>
      </p:pic>
      <p:pic>
        <p:nvPicPr>
          <p:cNvPr id="23" name="Picture 22">
            <a:extLst>
              <a:ext uri="{FF2B5EF4-FFF2-40B4-BE49-F238E27FC236}">
                <a16:creationId xmlns:a16="http://schemas.microsoft.com/office/drawing/2014/main" id="{C769397E-5526-41F0-4002-E8C1F6DDF91D}"/>
              </a:ext>
            </a:extLst>
          </p:cNvPr>
          <p:cNvPicPr>
            <a:picLocks noChangeAspect="1"/>
          </p:cNvPicPr>
          <p:nvPr/>
        </p:nvPicPr>
        <p:blipFill>
          <a:blip r:embed="rId4"/>
          <a:stretch>
            <a:fillRect/>
          </a:stretch>
        </p:blipFill>
        <p:spPr>
          <a:xfrm>
            <a:off x="6995494" y="2317616"/>
            <a:ext cx="2561593" cy="3166687"/>
          </a:xfrm>
          <a:prstGeom prst="rect">
            <a:avLst/>
          </a:prstGeom>
        </p:spPr>
      </p:pic>
      <p:sp>
        <p:nvSpPr>
          <p:cNvPr id="11" name="TextBox 10">
            <a:extLst>
              <a:ext uri="{FF2B5EF4-FFF2-40B4-BE49-F238E27FC236}">
                <a16:creationId xmlns:a16="http://schemas.microsoft.com/office/drawing/2014/main" id="{0BE40B62-8B0B-3669-5767-B9E1B506469A}"/>
              </a:ext>
            </a:extLst>
          </p:cNvPr>
          <p:cNvSpPr txBox="1"/>
          <p:nvPr/>
        </p:nvSpPr>
        <p:spPr>
          <a:xfrm>
            <a:off x="9888044" y="2526556"/>
            <a:ext cx="1447980" cy="646331"/>
          </a:xfrm>
          <a:prstGeom prst="rect">
            <a:avLst/>
          </a:prstGeom>
          <a:noFill/>
        </p:spPr>
        <p:txBody>
          <a:bodyPr wrap="square" rtlCol="0">
            <a:spAutoFit/>
          </a:bodyPr>
          <a:lstStyle/>
          <a:p>
            <a:pPr algn="ctr"/>
            <a:r>
              <a:rPr lang="en-US">
                <a:solidFill>
                  <a:schemeClr val="bg1"/>
                </a:solidFill>
              </a:rPr>
              <a:t>One-on-one sessions</a:t>
            </a:r>
            <a:endParaRPr lang="en-US" dirty="0">
              <a:solidFill>
                <a:schemeClr val="bg1"/>
              </a:solidFill>
            </a:endParaRPr>
          </a:p>
        </p:txBody>
      </p:sp>
      <p:pic>
        <p:nvPicPr>
          <p:cNvPr id="13" name="Picture 12">
            <a:extLst>
              <a:ext uri="{FF2B5EF4-FFF2-40B4-BE49-F238E27FC236}">
                <a16:creationId xmlns:a16="http://schemas.microsoft.com/office/drawing/2014/main" id="{697AD4BE-7AC1-D096-605C-B29AE8A9227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680607" y="3622329"/>
            <a:ext cx="1789885" cy="1789885"/>
          </a:xfrm>
          <a:prstGeom prst="rect">
            <a:avLst/>
          </a:prstGeom>
        </p:spPr>
      </p:pic>
      <p:pic>
        <p:nvPicPr>
          <p:cNvPr id="8" name="Picture 7">
            <a:extLst>
              <a:ext uri="{FF2B5EF4-FFF2-40B4-BE49-F238E27FC236}">
                <a16:creationId xmlns:a16="http://schemas.microsoft.com/office/drawing/2014/main" id="{F57FB350-5536-20DF-2410-660CCE8D3C9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896781" y="4464942"/>
            <a:ext cx="888925" cy="746049"/>
          </a:xfrm>
          <a:prstGeom prst="rect">
            <a:avLst/>
          </a:prstGeom>
        </p:spPr>
      </p:pic>
      <p:sp>
        <p:nvSpPr>
          <p:cNvPr id="9" name="TextBox 8">
            <a:extLst>
              <a:ext uri="{FF2B5EF4-FFF2-40B4-BE49-F238E27FC236}">
                <a16:creationId xmlns:a16="http://schemas.microsoft.com/office/drawing/2014/main" id="{360C523A-21AE-C686-08DB-129089CAD45A}"/>
              </a:ext>
            </a:extLst>
          </p:cNvPr>
          <p:cNvSpPr txBox="1"/>
          <p:nvPr/>
        </p:nvSpPr>
        <p:spPr>
          <a:xfrm>
            <a:off x="244436" y="5763316"/>
            <a:ext cx="5773463" cy="261610"/>
          </a:xfrm>
          <a:prstGeom prst="rect">
            <a:avLst/>
          </a:prstGeom>
          <a:noFill/>
        </p:spPr>
        <p:txBody>
          <a:bodyPr wrap="square" rtlCol="0">
            <a:spAutoFit/>
          </a:bodyPr>
          <a:lstStyle/>
          <a:p>
            <a:r>
              <a:rPr lang="en-US" sz="1050" dirty="0"/>
              <a:t>SMRU 9058997.1 Exp 9/30/2026 For Internal Use Only</a:t>
            </a:r>
          </a:p>
        </p:txBody>
      </p:sp>
    </p:spTree>
    <p:extLst>
      <p:ext uri="{BB962C8B-B14F-4D97-AF65-F5344CB8AC3E}">
        <p14:creationId xmlns:p14="http://schemas.microsoft.com/office/powerpoint/2010/main" val="34682019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28D0F-CAC8-107D-A130-488FA7BADC39}"/>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CF93501-DF86-7D55-2EA8-31EF41E0A0E5}"/>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E3684F69-AE3C-C436-B848-AE31FBF10BB7}"/>
              </a:ext>
            </a:extLst>
          </p:cNvPr>
          <p:cNvSpPr>
            <a:spLocks noGrp="1"/>
          </p:cNvSpPr>
          <p:nvPr>
            <p:ph type="title"/>
          </p:nvPr>
        </p:nvSpPr>
        <p:spPr/>
        <p:txBody>
          <a:bodyPr/>
          <a:lstStyle/>
          <a:p>
            <a:r>
              <a:rPr lang="en-US"/>
              <a:t>See what’s new with Asset Flex AD126</a:t>
            </a:r>
          </a:p>
        </p:txBody>
      </p:sp>
      <p:sp>
        <p:nvSpPr>
          <p:cNvPr id="3" name="Content Placeholder 2">
            <a:extLst>
              <a:ext uri="{FF2B5EF4-FFF2-40B4-BE49-F238E27FC236}">
                <a16:creationId xmlns:a16="http://schemas.microsoft.com/office/drawing/2014/main" id="{1D511D59-C4C4-198B-DEB6-8990EBA16A1A}"/>
              </a:ext>
            </a:extLst>
          </p:cNvPr>
          <p:cNvSpPr>
            <a:spLocks noGrp="1"/>
          </p:cNvSpPr>
          <p:nvPr>
            <p:ph idx="1"/>
          </p:nvPr>
        </p:nvSpPr>
        <p:spPr>
          <a:xfrm>
            <a:off x="466357" y="1779115"/>
            <a:ext cx="6726945" cy="2812592"/>
          </a:xfrm>
        </p:spPr>
        <p:txBody>
          <a:bodyPr/>
          <a:lstStyle/>
          <a:p>
            <a:pPr marL="0" indent="0">
              <a:lnSpc>
                <a:spcPct val="100000"/>
              </a:lnSpc>
              <a:spcBef>
                <a:spcPts val="0"/>
              </a:spcBef>
              <a:spcAft>
                <a:spcPts val="1200"/>
              </a:spcAft>
              <a:buNone/>
            </a:pPr>
            <a:r>
              <a:rPr lang="en-US" b="1"/>
              <a:t>Key enhancements:</a:t>
            </a:r>
          </a:p>
          <a:p>
            <a:pPr>
              <a:lnSpc>
                <a:spcPct val="100000"/>
              </a:lnSpc>
              <a:spcBef>
                <a:spcPts val="0"/>
              </a:spcBef>
              <a:spcAft>
                <a:spcPts val="1200"/>
              </a:spcAft>
            </a:pPr>
            <a:r>
              <a:rPr lang="en-US"/>
              <a:t>New indemnity cash benefit option</a:t>
            </a:r>
          </a:p>
          <a:p>
            <a:pPr>
              <a:lnSpc>
                <a:spcPct val="100000"/>
              </a:lnSpc>
              <a:spcBef>
                <a:spcPts val="0"/>
              </a:spcBef>
              <a:spcAft>
                <a:spcPts val="1200"/>
              </a:spcAft>
            </a:pPr>
            <a:r>
              <a:rPr lang="en-US"/>
              <a:t>Reimbursement option remains available</a:t>
            </a:r>
          </a:p>
          <a:p>
            <a:pPr>
              <a:lnSpc>
                <a:spcPct val="100000"/>
              </a:lnSpc>
              <a:spcBef>
                <a:spcPts val="0"/>
              </a:spcBef>
              <a:spcAft>
                <a:spcPts val="1200"/>
              </a:spcAft>
            </a:pPr>
            <a:r>
              <a:rPr lang="en-US"/>
              <a:t>Improved reimbursement pricing in ~85% of scenarios</a:t>
            </a:r>
            <a:r>
              <a:rPr lang="en-US" baseline="30000"/>
              <a:t>*</a:t>
            </a:r>
          </a:p>
          <a:p>
            <a:pPr>
              <a:lnSpc>
                <a:spcPct val="100000"/>
              </a:lnSpc>
              <a:spcBef>
                <a:spcPts val="0"/>
              </a:spcBef>
              <a:spcAft>
                <a:spcPts val="1200"/>
              </a:spcAft>
            </a:pPr>
            <a:r>
              <a:rPr lang="en-US"/>
              <a:t>More flexibility for LTC planning conversations</a:t>
            </a:r>
          </a:p>
          <a:p>
            <a:pPr>
              <a:lnSpc>
                <a:spcPct val="100000"/>
              </a:lnSpc>
              <a:spcBef>
                <a:spcPts val="0"/>
              </a:spcBef>
              <a:spcAft>
                <a:spcPts val="1200"/>
              </a:spcAft>
            </a:pPr>
            <a:r>
              <a:rPr lang="en-US"/>
              <a:t>New AD126 video and resources on Info Central</a:t>
            </a:r>
          </a:p>
        </p:txBody>
      </p:sp>
      <p:sp>
        <p:nvSpPr>
          <p:cNvPr id="4" name="Text Placeholder 3">
            <a:extLst>
              <a:ext uri="{FF2B5EF4-FFF2-40B4-BE49-F238E27FC236}">
                <a16:creationId xmlns:a16="http://schemas.microsoft.com/office/drawing/2014/main" id="{8BB501DF-A33B-4F3A-76F2-6E2F74EBCE5C}"/>
              </a:ext>
            </a:extLst>
          </p:cNvPr>
          <p:cNvSpPr>
            <a:spLocks noGrp="1"/>
          </p:cNvSpPr>
          <p:nvPr>
            <p:ph type="body" sz="quarter" idx="12"/>
          </p:nvPr>
        </p:nvSpPr>
        <p:spPr>
          <a:xfrm>
            <a:off x="439946" y="953242"/>
            <a:ext cx="11294854" cy="496033"/>
          </a:xfrm>
        </p:spPr>
        <p:txBody>
          <a:bodyPr/>
          <a:lstStyle/>
          <a:p>
            <a:r>
              <a:rPr lang="en-US" sz="2400"/>
              <a:t>Use this new video to help your team understand the enhancements.</a:t>
            </a:r>
          </a:p>
        </p:txBody>
      </p:sp>
      <p:sp>
        <p:nvSpPr>
          <p:cNvPr id="13" name="Rectangle 12">
            <a:extLst>
              <a:ext uri="{FF2B5EF4-FFF2-40B4-BE49-F238E27FC236}">
                <a16:creationId xmlns:a16="http://schemas.microsoft.com/office/drawing/2014/main" id="{8664FC04-671C-10B5-620E-5522F74BE557}"/>
              </a:ext>
            </a:extLst>
          </p:cNvPr>
          <p:cNvSpPr/>
          <p:nvPr/>
        </p:nvSpPr>
        <p:spPr bwMode="ltGray">
          <a:xfrm>
            <a:off x="466357" y="4753559"/>
            <a:ext cx="6205376"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15" name="TextBox 14">
            <a:extLst>
              <a:ext uri="{FF2B5EF4-FFF2-40B4-BE49-F238E27FC236}">
                <a16:creationId xmlns:a16="http://schemas.microsoft.com/office/drawing/2014/main" id="{6147FA3E-AC85-DC42-0ED5-F1D4E56AE386}"/>
              </a:ext>
            </a:extLst>
          </p:cNvPr>
          <p:cNvSpPr txBox="1"/>
          <p:nvPr/>
        </p:nvSpPr>
        <p:spPr>
          <a:xfrm>
            <a:off x="697827" y="5057177"/>
            <a:ext cx="4619240"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for the Asset Flex AD126 video, program details and resources on Info Central.</a:t>
            </a:r>
            <a:endParaRPr kumimoji="0" lang="en-US" sz="1600" b="0" i="0" u="none" strike="noStrike" kern="1200" cap="none" spc="0" normalizeH="0" baseline="0" noProof="0">
              <a:ln>
                <a:noFill/>
              </a:ln>
              <a:solidFill>
                <a:srgbClr val="7FB9FF"/>
              </a:solidFill>
              <a:effectLst/>
              <a:uLnTx/>
              <a:uFillTx/>
              <a:latin typeface="Arial"/>
              <a:ea typeface="+mn-ea"/>
              <a:cs typeface="+mn-cs"/>
            </a:endParaRPr>
          </a:p>
        </p:txBody>
      </p:sp>
      <p:pic>
        <p:nvPicPr>
          <p:cNvPr id="16" name="Picture 15">
            <a:extLst>
              <a:ext uri="{FF2B5EF4-FFF2-40B4-BE49-F238E27FC236}">
                <a16:creationId xmlns:a16="http://schemas.microsoft.com/office/drawing/2014/main" id="{0C94BC0C-6335-A265-9C4A-E0C8990461B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819471" y="4753559"/>
            <a:ext cx="1099678" cy="1099678"/>
          </a:xfrm>
          <a:prstGeom prst="rect">
            <a:avLst/>
          </a:prstGeom>
        </p:spPr>
      </p:pic>
      <p:sp>
        <p:nvSpPr>
          <p:cNvPr id="22" name="Isosceles Triangle 21">
            <a:extLst>
              <a:ext uri="{FF2B5EF4-FFF2-40B4-BE49-F238E27FC236}">
                <a16:creationId xmlns:a16="http://schemas.microsoft.com/office/drawing/2014/main" id="{E4FED744-0D3A-4412-AF78-EDC222878C6F}"/>
              </a:ext>
            </a:extLst>
          </p:cNvPr>
          <p:cNvSpPr/>
          <p:nvPr/>
        </p:nvSpPr>
        <p:spPr bwMode="ltGray">
          <a:xfrm rot="5400000">
            <a:off x="5391104" y="5185382"/>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6" name="TextBox 5">
            <a:extLst>
              <a:ext uri="{FF2B5EF4-FFF2-40B4-BE49-F238E27FC236}">
                <a16:creationId xmlns:a16="http://schemas.microsoft.com/office/drawing/2014/main" id="{E7459E41-282D-67E4-6F5F-ACEBF5B6FCF1}"/>
              </a:ext>
            </a:extLst>
          </p:cNvPr>
          <p:cNvSpPr txBox="1"/>
          <p:nvPr/>
        </p:nvSpPr>
        <p:spPr>
          <a:xfrm>
            <a:off x="2939918" y="6294493"/>
            <a:ext cx="6097712"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srgbClr val="000962"/>
                </a:solidFill>
                <a:effectLst/>
                <a:uLnTx/>
                <a:uFillTx/>
                <a:latin typeface="Arial"/>
                <a:ea typeface="+mn-ea"/>
                <a:cs typeface="+mn-cs"/>
              </a:rPr>
              <a:t>*</a:t>
            </a:r>
            <a:r>
              <a:rPr kumimoji="0" lang="en-US" sz="1200" b="0" i="0" u="none" strike="noStrike" kern="1200" cap="none" spc="0" normalizeH="0" baseline="0" noProof="0">
                <a:ln>
                  <a:noFill/>
                </a:ln>
                <a:solidFill>
                  <a:srgbClr val="000962"/>
                </a:solidFill>
                <a:effectLst/>
                <a:uLnTx/>
                <a:uFillTx/>
                <a:latin typeface="Arial"/>
                <a:ea typeface="+mn-ea"/>
                <a:cs typeface="+mn-cs"/>
              </a:rPr>
              <a:t>Results vary by client and policy factors.</a:t>
            </a:r>
          </a:p>
        </p:txBody>
      </p:sp>
      <p:pic>
        <p:nvPicPr>
          <p:cNvPr id="8" name="Picture 7">
            <a:extLst>
              <a:ext uri="{FF2B5EF4-FFF2-40B4-BE49-F238E27FC236}">
                <a16:creationId xmlns:a16="http://schemas.microsoft.com/office/drawing/2014/main" id="{29629121-012B-ECA0-9A6F-FD97DD1816D3}"/>
              </a:ext>
            </a:extLst>
          </p:cNvPr>
          <p:cNvPicPr>
            <a:picLocks noChangeAspect="1"/>
          </p:cNvPicPr>
          <p:nvPr/>
        </p:nvPicPr>
        <p:blipFill>
          <a:blip r:embed="rId4">
            <a:extLst>
              <a:ext uri="{28A0092B-C50C-407E-A947-70E740481C1C}">
                <a14:useLocalDpi xmlns:a14="http://schemas.microsoft.com/office/drawing/2010/main" val="0"/>
              </a:ext>
            </a:extLst>
          </a:blip>
          <a:srcRect l="9409" t="2345" r="15612"/>
          <a:stretch>
            <a:fillRect/>
          </a:stretch>
        </p:blipFill>
        <p:spPr>
          <a:xfrm>
            <a:off x="7086889" y="1825388"/>
            <a:ext cx="4638753" cy="4027850"/>
          </a:xfrm>
          <a:prstGeom prst="rect">
            <a:avLst/>
          </a:prstGeom>
        </p:spPr>
      </p:pic>
    </p:spTree>
    <p:extLst>
      <p:ext uri="{BB962C8B-B14F-4D97-AF65-F5344CB8AC3E}">
        <p14:creationId xmlns:p14="http://schemas.microsoft.com/office/powerpoint/2010/main" val="35620571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AD80C-C231-99B1-1705-DE9FAE0DB893}"/>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50D428A6-36E3-E29E-3971-0B1BE4FD3142}"/>
              </a:ext>
            </a:extLst>
          </p:cNvPr>
          <p:cNvSpPr>
            <a:spLocks/>
          </p:cNvSpPr>
          <p:nvPr/>
        </p:nvSpPr>
        <p:spPr>
          <a:xfrm>
            <a:off x="0" y="1937020"/>
            <a:ext cx="12192000" cy="2403392"/>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lvl="0">
              <a:defRPr/>
            </a:pPr>
            <a:endParaRPr lang="en-US" sz="1600" b="1">
              <a:solidFill>
                <a:srgbClr val="000962">
                  <a:lumMod val="90000"/>
                  <a:lumOff val="10000"/>
                </a:srgbClr>
              </a:solidFill>
            </a:endParaRPr>
          </a:p>
        </p:txBody>
      </p:sp>
      <p:sp>
        <p:nvSpPr>
          <p:cNvPr id="2" name="Title 1">
            <a:extLst>
              <a:ext uri="{FF2B5EF4-FFF2-40B4-BE49-F238E27FC236}">
                <a16:creationId xmlns:a16="http://schemas.microsoft.com/office/drawing/2014/main" id="{351C1D24-BECF-A424-4644-E9D9D433F50E}"/>
              </a:ext>
            </a:extLst>
          </p:cNvPr>
          <p:cNvSpPr>
            <a:spLocks noGrp="1"/>
          </p:cNvSpPr>
          <p:nvPr>
            <p:ph type="title"/>
          </p:nvPr>
        </p:nvSpPr>
        <p:spPr>
          <a:xfrm>
            <a:off x="457200" y="2390819"/>
            <a:ext cx="7810107" cy="1828193"/>
          </a:xfrm>
        </p:spPr>
        <p:txBody>
          <a:bodyPr wrap="square" lIns="0" tIns="0" rIns="0" bIns="0" anchor="t">
            <a:spAutoFit/>
          </a:bodyPr>
          <a:lstStyle/>
          <a:p>
            <a:r>
              <a:rPr lang="en-US" sz="4400" dirty="0" err="1">
                <a:latin typeface="Georgia"/>
              </a:rPr>
              <a:t>Estab</a:t>
            </a:r>
            <a:r>
              <a:rPr lang="en-US" sz="4400" dirty="0">
                <a:latin typeface="Georgia"/>
              </a:rPr>
              <a:t>: </a:t>
            </a:r>
            <a:br>
              <a:rPr lang="en-US" sz="4400" dirty="0"/>
            </a:br>
            <a:r>
              <a:rPr lang="en-US" sz="4400" dirty="0">
                <a:latin typeface="Georgia"/>
              </a:rPr>
              <a:t>What’s important week of </a:t>
            </a:r>
            <a:br>
              <a:rPr lang="en-US" sz="4400" dirty="0">
                <a:latin typeface="Georgia"/>
              </a:rPr>
            </a:br>
            <a:r>
              <a:rPr lang="en-US" sz="4400" dirty="0">
                <a:latin typeface="Georgia"/>
              </a:rPr>
              <a:t>August 17</a:t>
            </a:r>
            <a:endParaRPr lang="en-US" sz="4400" dirty="0"/>
          </a:p>
        </p:txBody>
      </p:sp>
    </p:spTree>
    <p:custDataLst>
      <p:tags r:id="rId1"/>
    </p:custDataLst>
    <p:extLst>
      <p:ext uri="{BB962C8B-B14F-4D97-AF65-F5344CB8AC3E}">
        <p14:creationId xmlns:p14="http://schemas.microsoft.com/office/powerpoint/2010/main" val="41170382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3E10F-D3D1-3CB2-BB50-13A6D86CC148}"/>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1F197A6-0236-9ADA-CA12-18F26A1BE13E}"/>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1BD64EE3-119D-01B4-A58F-EBAFA36019A5}"/>
              </a:ext>
            </a:extLst>
          </p:cNvPr>
          <p:cNvSpPr>
            <a:spLocks noGrp="1"/>
          </p:cNvSpPr>
          <p:nvPr>
            <p:ph type="title"/>
          </p:nvPr>
        </p:nvSpPr>
        <p:spPr/>
        <p:txBody>
          <a:bodyPr/>
          <a:lstStyle/>
          <a:p>
            <a:r>
              <a:rPr lang="en-US"/>
              <a:t>President’s Council Beachfront Boutique Experience</a:t>
            </a:r>
          </a:p>
        </p:txBody>
      </p:sp>
      <p:sp>
        <p:nvSpPr>
          <p:cNvPr id="3" name="Content Placeholder 2">
            <a:extLst>
              <a:ext uri="{FF2B5EF4-FFF2-40B4-BE49-F238E27FC236}">
                <a16:creationId xmlns:a16="http://schemas.microsoft.com/office/drawing/2014/main" id="{A891E303-D67B-C00E-95AD-933AC9F890D4}"/>
              </a:ext>
            </a:extLst>
          </p:cNvPr>
          <p:cNvSpPr>
            <a:spLocks noGrp="1"/>
          </p:cNvSpPr>
          <p:nvPr>
            <p:ph idx="1"/>
          </p:nvPr>
        </p:nvSpPr>
        <p:spPr>
          <a:xfrm>
            <a:off x="1330231" y="2784075"/>
            <a:ext cx="5656217" cy="2003453"/>
          </a:xfrm>
        </p:spPr>
        <p:txBody>
          <a:bodyPr/>
          <a:lstStyle/>
          <a:p>
            <a:pPr marL="0" indent="0">
              <a:lnSpc>
                <a:spcPct val="100000"/>
              </a:lnSpc>
              <a:spcBef>
                <a:spcPts val="0"/>
              </a:spcBef>
              <a:spcAft>
                <a:spcPts val="600"/>
              </a:spcAft>
              <a:buNone/>
            </a:pPr>
            <a:r>
              <a:rPr lang="en-US" b="1"/>
              <a:t>To qualify:</a:t>
            </a:r>
          </a:p>
          <a:p>
            <a:pPr>
              <a:lnSpc>
                <a:spcPct val="100000"/>
              </a:lnSpc>
              <a:spcBef>
                <a:spcPts val="0"/>
              </a:spcBef>
              <a:spcAft>
                <a:spcPts val="600"/>
              </a:spcAft>
            </a:pPr>
            <a:r>
              <a:rPr lang="en-US"/>
              <a:t>Qualification period: July 1 – September 30</a:t>
            </a:r>
          </a:p>
          <a:p>
            <a:pPr>
              <a:lnSpc>
                <a:spcPct val="100000"/>
              </a:lnSpc>
              <a:spcBef>
                <a:spcPts val="0"/>
              </a:spcBef>
              <a:spcAft>
                <a:spcPts val="600"/>
              </a:spcAft>
            </a:pPr>
            <a:r>
              <a:rPr lang="en-US"/>
              <a:t>2026 President’s Council qualifiers</a:t>
            </a:r>
          </a:p>
          <a:p>
            <a:pPr>
              <a:lnSpc>
                <a:spcPct val="100000"/>
              </a:lnSpc>
              <a:spcBef>
                <a:spcPts val="0"/>
              </a:spcBef>
              <a:spcAft>
                <a:spcPts val="600"/>
              </a:spcAft>
            </a:pPr>
            <a:r>
              <a:rPr lang="en-US" err="1"/>
              <a:t>Prorata</a:t>
            </a:r>
            <a:r>
              <a:rPr lang="en-US"/>
              <a:t> proactive by September 30</a:t>
            </a:r>
          </a:p>
          <a:p>
            <a:pPr>
              <a:lnSpc>
                <a:spcPct val="100000"/>
              </a:lnSpc>
              <a:spcBef>
                <a:spcPts val="0"/>
              </a:spcBef>
              <a:spcAft>
                <a:spcPts val="600"/>
              </a:spcAft>
            </a:pPr>
            <a:r>
              <a:rPr lang="en-US"/>
              <a:t>Must attend President’s Council</a:t>
            </a:r>
          </a:p>
        </p:txBody>
      </p:sp>
      <p:sp>
        <p:nvSpPr>
          <p:cNvPr id="4" name="Text Placeholder 3">
            <a:extLst>
              <a:ext uri="{FF2B5EF4-FFF2-40B4-BE49-F238E27FC236}">
                <a16:creationId xmlns:a16="http://schemas.microsoft.com/office/drawing/2014/main" id="{076DD2D6-579D-5E6D-1208-C8EA1C641A43}"/>
              </a:ext>
            </a:extLst>
          </p:cNvPr>
          <p:cNvSpPr>
            <a:spLocks noGrp="1"/>
          </p:cNvSpPr>
          <p:nvPr>
            <p:ph type="body" sz="quarter" idx="12"/>
          </p:nvPr>
        </p:nvSpPr>
        <p:spPr>
          <a:xfrm>
            <a:off x="439946" y="953242"/>
            <a:ext cx="11294854" cy="496033"/>
          </a:xfrm>
        </p:spPr>
        <p:txBody>
          <a:bodyPr/>
          <a:lstStyle/>
          <a:p>
            <a:r>
              <a:rPr lang="en-US" sz="2200"/>
              <a:t>An exclusive shopping experience for top performers</a:t>
            </a:r>
          </a:p>
        </p:txBody>
      </p:sp>
      <p:sp>
        <p:nvSpPr>
          <p:cNvPr id="5" name="Rectangle: Rounded Corners 4">
            <a:extLst>
              <a:ext uri="{FF2B5EF4-FFF2-40B4-BE49-F238E27FC236}">
                <a16:creationId xmlns:a16="http://schemas.microsoft.com/office/drawing/2014/main" id="{E028F65A-5562-8725-7BFB-95E2421A3116}"/>
              </a:ext>
            </a:extLst>
          </p:cNvPr>
          <p:cNvSpPr/>
          <p:nvPr/>
        </p:nvSpPr>
        <p:spPr>
          <a:xfrm>
            <a:off x="421040" y="1581641"/>
            <a:ext cx="11349918" cy="1033453"/>
          </a:xfrm>
          <a:prstGeom prst="roundRect">
            <a:avLst/>
          </a:prstGeom>
          <a:solidFill>
            <a:srgbClr val="046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11" name="TextBox 10">
            <a:extLst>
              <a:ext uri="{FF2B5EF4-FFF2-40B4-BE49-F238E27FC236}">
                <a16:creationId xmlns:a16="http://schemas.microsoft.com/office/drawing/2014/main" id="{2C93F745-C8ED-99A8-772E-E58F7191F666}"/>
              </a:ext>
            </a:extLst>
          </p:cNvPr>
          <p:cNvSpPr txBox="1"/>
          <p:nvPr/>
        </p:nvSpPr>
        <p:spPr>
          <a:xfrm>
            <a:off x="1330231" y="1596691"/>
            <a:ext cx="10186855" cy="1003352"/>
          </a:xfrm>
          <a:prstGeom prst="rect">
            <a:avLst/>
          </a:prstGeom>
          <a:noFill/>
        </p:spPr>
        <p:txBody>
          <a:bodyPr wrap="square" lIns="0" tIns="91440" rIns="274320" bIns="91440" anchor="ctr" anchorCtr="0">
            <a:spAutoFit/>
          </a:bodyPr>
          <a:lstStyle/>
          <a:p>
            <a:pPr marL="0" marR="0" lvl="0" indent="0" algn="l" defTabSz="914400" rtl="0" eaLnBrk="1" fontAlgn="auto" latinLnBrk="0" hangingPunct="1">
              <a:lnSpc>
                <a:spcPct val="114000"/>
              </a:lnSpc>
              <a:spcBef>
                <a:spcPts val="0"/>
              </a:spcBef>
              <a:spcAft>
                <a:spcPts val="0"/>
              </a:spcAft>
              <a:buClrTx/>
              <a:buSzTx/>
              <a:buFontTx/>
              <a:buNone/>
              <a:tabLst>
                <a:tab pos="3090863" algn="l"/>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Finish top 100 </a:t>
            </a:r>
            <a:r>
              <a:rPr kumimoji="0" 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on the 3Q Paid Insurance Solution premium</a:t>
            </a:r>
            <a:r>
              <a:rPr kumimoji="0" lang="en-US" sz="1600" b="0" i="0" u="none" strike="noStrike" kern="1200" cap="none" spc="0" normalizeH="0" baseline="30000" noProof="0">
                <a:ln>
                  <a:noFill/>
                </a:ln>
                <a:solidFill>
                  <a:srgbClr val="FFFFFF"/>
                </a:solidFill>
                <a:effectLst/>
                <a:uLnTx/>
                <a:uFillTx/>
                <a:latin typeface="Arial" panose="020B0604020202020204" pitchFamily="34" charset="0"/>
                <a:ea typeface="+mn-ea"/>
                <a:cs typeface="Arial" panose="020B0604020202020204" pitchFamily="34" charset="0"/>
              </a:rPr>
              <a:t>1</a:t>
            </a:r>
            <a:r>
              <a:rPr kumimoji="0" 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leaderboard and receive a </a:t>
            </a: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retail credit</a:t>
            </a:r>
            <a:r>
              <a:rPr kumimoji="0" lang="en-US" sz="1600" b="0" i="0" u="none" strike="noStrike" kern="1200" cap="none" spc="0" normalizeH="0" baseline="30000" noProof="0">
                <a:ln>
                  <a:noFill/>
                </a:ln>
                <a:solidFill>
                  <a:srgbClr val="FFFFFF"/>
                </a:solidFill>
                <a:effectLst/>
                <a:uLnTx/>
                <a:uFillTx/>
                <a:latin typeface="Arial" panose="020B0604020202020204" pitchFamily="34" charset="0"/>
                <a:ea typeface="+mn-ea"/>
                <a:cs typeface="Arial" panose="020B0604020202020204" pitchFamily="34" charset="0"/>
              </a:rPr>
              <a:t>2</a:t>
            </a: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at the private shopping event, October 6–7. </a:t>
            </a: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Finish in the top 10 </a:t>
            </a:r>
            <a:r>
              <a:rPr kumimoji="0" 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and enjoy a </a:t>
            </a: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premium Balinese-inspired beach hut rental </a:t>
            </a:r>
            <a:r>
              <a:rPr kumimoji="0" 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on </a:t>
            </a: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October 7</a:t>
            </a:r>
            <a:r>
              <a:rPr kumimoji="0" 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a:t>
            </a:r>
          </a:p>
        </p:txBody>
      </p:sp>
      <p:pic>
        <p:nvPicPr>
          <p:cNvPr id="12" name="Picture 11">
            <a:extLst>
              <a:ext uri="{FF2B5EF4-FFF2-40B4-BE49-F238E27FC236}">
                <a16:creationId xmlns:a16="http://schemas.microsoft.com/office/drawing/2014/main" id="{DE09C4B4-56FC-0EB6-B87A-FA913894A4D0}"/>
              </a:ext>
            </a:extLst>
          </p:cNvPr>
          <p:cNvPicPr>
            <a:picLocks noChangeAspect="1"/>
          </p:cNvPicPr>
          <p:nvPr/>
        </p:nvPicPr>
        <p:blipFill>
          <a:blip r:embed="rId3"/>
          <a:srcRect l="9355" t="323" r="8858" b="1"/>
          <a:stretch>
            <a:fillRect/>
          </a:stretch>
        </p:blipFill>
        <p:spPr>
          <a:xfrm>
            <a:off x="7837714" y="2738397"/>
            <a:ext cx="3894034" cy="3163861"/>
          </a:xfrm>
          <a:prstGeom prst="rect">
            <a:avLst/>
          </a:prstGeom>
        </p:spPr>
      </p:pic>
      <p:sp>
        <p:nvSpPr>
          <p:cNvPr id="13" name="Rectangle 12">
            <a:extLst>
              <a:ext uri="{FF2B5EF4-FFF2-40B4-BE49-F238E27FC236}">
                <a16:creationId xmlns:a16="http://schemas.microsoft.com/office/drawing/2014/main" id="{E2BF4D61-8A5F-47DD-4C46-62FE0A3F542B}"/>
              </a:ext>
            </a:extLst>
          </p:cNvPr>
          <p:cNvSpPr/>
          <p:nvPr/>
        </p:nvSpPr>
        <p:spPr bwMode="ltGray">
          <a:xfrm>
            <a:off x="1330231" y="4802579"/>
            <a:ext cx="5298819"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15" name="TextBox 14">
            <a:extLst>
              <a:ext uri="{FF2B5EF4-FFF2-40B4-BE49-F238E27FC236}">
                <a16:creationId xmlns:a16="http://schemas.microsoft.com/office/drawing/2014/main" id="{FFA9E47F-648C-364C-405B-FE966AA84D11}"/>
              </a:ext>
            </a:extLst>
          </p:cNvPr>
          <p:cNvSpPr txBox="1"/>
          <p:nvPr/>
        </p:nvSpPr>
        <p:spPr>
          <a:xfrm>
            <a:off x="1674590" y="4991585"/>
            <a:ext cx="3610153" cy="73866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for complete rules, requirements, qualifying products, and official incentive details.</a:t>
            </a:r>
            <a:endParaRPr kumimoji="0" lang="en-US" sz="1600" b="0" i="0" u="none" strike="noStrike" kern="1200" cap="none" spc="0" normalizeH="0" baseline="0" noProof="0">
              <a:ln>
                <a:noFill/>
              </a:ln>
              <a:solidFill>
                <a:srgbClr val="7FB9FF"/>
              </a:solidFill>
              <a:effectLst/>
              <a:uLnTx/>
              <a:uFillTx/>
              <a:latin typeface="Arial"/>
              <a:ea typeface="+mn-ea"/>
              <a:cs typeface="+mn-cs"/>
            </a:endParaRPr>
          </a:p>
        </p:txBody>
      </p:sp>
      <p:pic>
        <p:nvPicPr>
          <p:cNvPr id="16" name="Picture 15">
            <a:extLst>
              <a:ext uri="{FF2B5EF4-FFF2-40B4-BE49-F238E27FC236}">
                <a16:creationId xmlns:a16="http://schemas.microsoft.com/office/drawing/2014/main" id="{6B953CE5-AEC0-FB93-A3E0-24592B94A3BC}"/>
              </a:ext>
            </a:extLst>
          </p:cNvPr>
          <p:cNvPicPr>
            <a:picLocks noChangeAspect="1"/>
          </p:cNvPicPr>
          <p:nvPr/>
        </p:nvPicPr>
        <p:blipFill>
          <a:blip r:embed="rId4"/>
          <a:srcRect/>
          <a:stretch/>
        </p:blipFill>
        <p:spPr>
          <a:xfrm>
            <a:off x="6093625" y="4802580"/>
            <a:ext cx="1099678" cy="1099678"/>
          </a:xfrm>
          <a:prstGeom prst="rect">
            <a:avLst/>
          </a:prstGeom>
        </p:spPr>
      </p:pic>
      <p:sp>
        <p:nvSpPr>
          <p:cNvPr id="18" name="Star: 24 Points 17">
            <a:extLst>
              <a:ext uri="{FF2B5EF4-FFF2-40B4-BE49-F238E27FC236}">
                <a16:creationId xmlns:a16="http://schemas.microsoft.com/office/drawing/2014/main" id="{AEF369C4-5E28-F038-D310-4AFB278063DF}"/>
              </a:ext>
            </a:extLst>
          </p:cNvPr>
          <p:cNvSpPr/>
          <p:nvPr/>
        </p:nvSpPr>
        <p:spPr>
          <a:xfrm>
            <a:off x="10420457" y="73667"/>
            <a:ext cx="1311291" cy="1311291"/>
          </a:xfrm>
          <a:prstGeom prst="star24">
            <a:avLst>
              <a:gd name="adj" fmla="val 41346"/>
            </a:avLst>
          </a:prstGeom>
          <a:solidFill>
            <a:srgbClr val="4D17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9" name="TextBox 18">
            <a:extLst>
              <a:ext uri="{FF2B5EF4-FFF2-40B4-BE49-F238E27FC236}">
                <a16:creationId xmlns:a16="http://schemas.microsoft.com/office/drawing/2014/main" id="{E01CB278-A765-CF56-D758-5AC16F075F65}"/>
              </a:ext>
            </a:extLst>
          </p:cNvPr>
          <p:cNvSpPr txBox="1"/>
          <p:nvPr/>
        </p:nvSpPr>
        <p:spPr>
          <a:xfrm>
            <a:off x="10481742" y="455401"/>
            <a:ext cx="1188720" cy="553998"/>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Council Perks!</a:t>
            </a:r>
          </a:p>
        </p:txBody>
      </p:sp>
      <p:pic>
        <p:nvPicPr>
          <p:cNvPr id="21" name="Picture 20">
            <a:extLst>
              <a:ext uri="{FF2B5EF4-FFF2-40B4-BE49-F238E27FC236}">
                <a16:creationId xmlns:a16="http://schemas.microsoft.com/office/drawing/2014/main" id="{0A8DAA0E-7E64-4442-F6D9-8A44B0F7348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1601" y="1783671"/>
            <a:ext cx="597183" cy="597183"/>
          </a:xfrm>
          <a:prstGeom prst="rect">
            <a:avLst/>
          </a:prstGeom>
        </p:spPr>
      </p:pic>
      <p:sp>
        <p:nvSpPr>
          <p:cNvPr id="22" name="Isosceles Triangle 21">
            <a:extLst>
              <a:ext uri="{FF2B5EF4-FFF2-40B4-BE49-F238E27FC236}">
                <a16:creationId xmlns:a16="http://schemas.microsoft.com/office/drawing/2014/main" id="{2C35E674-FE6F-707C-668E-1CE5B5F15539}"/>
              </a:ext>
            </a:extLst>
          </p:cNvPr>
          <p:cNvSpPr/>
          <p:nvPr/>
        </p:nvSpPr>
        <p:spPr bwMode="ltGray">
          <a:xfrm rot="5400000">
            <a:off x="5533732" y="5241754"/>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6" name="TextBox 5">
            <a:extLst>
              <a:ext uri="{FF2B5EF4-FFF2-40B4-BE49-F238E27FC236}">
                <a16:creationId xmlns:a16="http://schemas.microsoft.com/office/drawing/2014/main" id="{647CC8A0-1D1E-EDCC-01B5-C8DC70737E40}"/>
              </a:ext>
            </a:extLst>
          </p:cNvPr>
          <p:cNvSpPr txBox="1"/>
          <p:nvPr/>
        </p:nvSpPr>
        <p:spPr>
          <a:xfrm>
            <a:off x="1920130" y="6162299"/>
            <a:ext cx="8268899" cy="48731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00"/>
              </a:spcAft>
              <a:buClrTx/>
              <a:buSzTx/>
              <a:buFontTx/>
              <a:buNone/>
              <a:tabLst>
                <a:tab pos="119063" algn="l"/>
              </a:tabLst>
              <a:defRPr/>
            </a:pPr>
            <a:r>
              <a:rPr kumimoji="0" lang="en-US" sz="1000" b="0" i="0" u="none" strike="noStrike" kern="1200" cap="none" spc="0" normalizeH="0" baseline="30000" noProof="0">
                <a:ln>
                  <a:noFill/>
                </a:ln>
                <a:solidFill>
                  <a:srgbClr val="000962"/>
                </a:solidFill>
                <a:effectLst/>
                <a:uLnTx/>
                <a:uFillTx/>
                <a:latin typeface="Arial"/>
                <a:ea typeface="+mn-ea"/>
                <a:cs typeface="+mn-cs"/>
              </a:rPr>
              <a:t>1</a:t>
            </a:r>
            <a:r>
              <a:rPr kumimoji="0" lang="en-US" sz="1000" b="0" i="0" u="none" strike="noStrike" kern="1200" cap="none" spc="0" normalizeH="0" baseline="0" noProof="0">
                <a:ln>
                  <a:noFill/>
                </a:ln>
                <a:solidFill>
                  <a:srgbClr val="000962"/>
                </a:solidFill>
                <a:effectLst/>
                <a:uLnTx/>
                <a:uFillTx/>
                <a:latin typeface="Arial"/>
                <a:ea typeface="+mn-ea"/>
                <a:cs typeface="+mn-cs"/>
              </a:rPr>
              <a:t>	Includes Life, </a:t>
            </a:r>
            <a:r>
              <a:rPr kumimoji="0" lang="en-US" sz="1000" b="0" i="0" u="none" strike="noStrike" kern="1200" cap="none" spc="0" normalizeH="0" baseline="0" noProof="0" err="1">
                <a:ln>
                  <a:noFill/>
                </a:ln>
                <a:solidFill>
                  <a:srgbClr val="000962"/>
                </a:solidFill>
                <a:effectLst/>
                <a:uLnTx/>
                <a:uFillTx/>
                <a:latin typeface="Arial"/>
                <a:ea typeface="+mn-ea"/>
                <a:cs typeface="+mn-cs"/>
              </a:rPr>
              <a:t>LTCi</a:t>
            </a:r>
            <a:r>
              <a:rPr kumimoji="0" lang="en-US" sz="1000" b="0" i="0" u="none" strike="noStrike" kern="1200" cap="none" spc="0" normalizeH="0" baseline="0" noProof="0">
                <a:ln>
                  <a:noFill/>
                </a:ln>
                <a:solidFill>
                  <a:srgbClr val="000962"/>
                </a:solidFill>
                <a:effectLst/>
                <a:uLnTx/>
                <a:uFillTx/>
                <a:latin typeface="Arial"/>
                <a:ea typeface="+mn-ea"/>
                <a:cs typeface="+mn-cs"/>
              </a:rPr>
              <a:t>, and DI. Recurring base premium and riders are calculated at 100%; OPP and single premium policies are calculated at 10%. </a:t>
            </a:r>
            <a:br>
              <a:rPr kumimoji="0" lang="en-US" sz="1000" b="0" i="0" u="none" strike="noStrike" kern="1200" cap="none" spc="0" normalizeH="0" baseline="0" noProof="0">
                <a:ln>
                  <a:noFill/>
                </a:ln>
                <a:solidFill>
                  <a:srgbClr val="000962"/>
                </a:solidFill>
                <a:effectLst/>
                <a:uLnTx/>
                <a:uFillTx/>
                <a:latin typeface="Arial"/>
                <a:ea typeface="+mn-ea"/>
                <a:cs typeface="+mn-cs"/>
              </a:rPr>
            </a:br>
            <a:r>
              <a:rPr kumimoji="0" lang="en-US" sz="1000" b="0" i="0" u="none" strike="noStrike" kern="1200" cap="none" spc="0" normalizeH="0" baseline="0" noProof="0">
                <a:ln>
                  <a:noFill/>
                </a:ln>
                <a:solidFill>
                  <a:srgbClr val="000962"/>
                </a:solidFill>
                <a:effectLst/>
                <a:uLnTx/>
                <a:uFillTx/>
                <a:latin typeface="Arial"/>
                <a:ea typeface="+mn-ea"/>
                <a:cs typeface="+mn-cs"/>
              </a:rPr>
              <a:t>	Excludes premium from Annuity and COLI/BOLI products, DIOP and Group Insurance cases and LTC in DE state.</a:t>
            </a:r>
          </a:p>
          <a:p>
            <a:pPr marL="0" marR="0" lvl="0" indent="0" algn="l" defTabSz="914400" rtl="0" eaLnBrk="1" fontAlgn="auto" latinLnBrk="0" hangingPunct="1">
              <a:lnSpc>
                <a:spcPct val="100000"/>
              </a:lnSpc>
              <a:spcBef>
                <a:spcPts val="0"/>
              </a:spcBef>
              <a:spcAft>
                <a:spcPts val="200"/>
              </a:spcAft>
              <a:buClrTx/>
              <a:buSzTx/>
              <a:buFontTx/>
              <a:buNone/>
              <a:tabLst>
                <a:tab pos="119063" algn="l"/>
              </a:tabLst>
              <a:defRPr/>
            </a:pPr>
            <a:r>
              <a:rPr kumimoji="0" lang="en-US" sz="1000" b="0" i="0" u="none" strike="noStrike" kern="1200" cap="none" spc="0" normalizeH="0" baseline="30000" noProof="0">
                <a:ln>
                  <a:noFill/>
                </a:ln>
                <a:solidFill>
                  <a:srgbClr val="000962"/>
                </a:solidFill>
                <a:effectLst/>
                <a:uLnTx/>
                <a:uFillTx/>
                <a:latin typeface="Arial"/>
                <a:ea typeface="+mn-ea"/>
                <a:cs typeface="+mn-cs"/>
              </a:rPr>
              <a:t>2</a:t>
            </a:r>
            <a:r>
              <a:rPr kumimoji="0" lang="en-US" sz="1000" b="0" i="0" u="none" strike="noStrike" kern="1200" cap="none" spc="0" normalizeH="0" baseline="0" noProof="0">
                <a:ln>
                  <a:noFill/>
                </a:ln>
                <a:solidFill>
                  <a:srgbClr val="000962"/>
                </a:solidFill>
                <a:effectLst/>
                <a:uLnTx/>
                <a:uFillTx/>
                <a:latin typeface="Arial"/>
                <a:ea typeface="+mn-ea"/>
                <a:cs typeface="+mn-cs"/>
              </a:rPr>
              <a:t> $300 retail credit</a:t>
            </a:r>
          </a:p>
        </p:txBody>
      </p:sp>
    </p:spTree>
    <p:extLst>
      <p:ext uri="{BB962C8B-B14F-4D97-AF65-F5344CB8AC3E}">
        <p14:creationId xmlns:p14="http://schemas.microsoft.com/office/powerpoint/2010/main" val="9345316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4984048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NYL LIGHT BACKGROUND 16&quot;9" val="f6b4XTqc"/>
  <p:tag name="ARTICULATE_DESIGN_ID_1_NYL LIGHT BACKGROUND 16-9" val="BFT0Q3hc"/>
  <p:tag name="ARTICULATE_DESIGN_ID_ELEVATE LIGHT BLUE BACKGROUND 16-9" val="56JHHY8a"/>
  <p:tag name="ARTICULATE_PROJECT_OPEN" val="0"/>
  <p:tag name="ARTICULATE_SLIDE_COUNT" val="3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Light Blue">
  <a:themeElements>
    <a:clrScheme name="NPS">
      <a:dk1>
        <a:srgbClr val="000962"/>
      </a:dk1>
      <a:lt1>
        <a:srgbClr val="FFFFFF"/>
      </a:lt1>
      <a:dk2>
        <a:srgbClr val="000962"/>
      </a:dk2>
      <a:lt2>
        <a:srgbClr val="7FB9FF"/>
      </a:lt2>
      <a:accent1>
        <a:srgbClr val="000962"/>
      </a:accent1>
      <a:accent2>
        <a:srgbClr val="0468FF"/>
      </a:accent2>
      <a:accent3>
        <a:srgbClr val="A4EFBE"/>
      </a:accent3>
      <a:accent4>
        <a:srgbClr val="006254"/>
      </a:accent4>
      <a:accent5>
        <a:srgbClr val="4C1673"/>
      </a:accent5>
      <a:accent6>
        <a:srgbClr val="E2DFDD"/>
      </a:accent6>
      <a:hlink>
        <a:srgbClr val="467886"/>
      </a:hlink>
      <a:folHlink>
        <a:srgbClr val="96607D"/>
      </a:folHlink>
    </a:clrScheme>
    <a:fontScheme name="Custom 1">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anchor="ctr">
        <a:spAutoFit/>
      </a:bodyPr>
      <a:lstStyle>
        <a:defPPr algn="l">
          <a:defRPr sz="2000" dirty="0">
            <a:latin typeface="+mn-lt"/>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Light Blue">
  <a:themeElements>
    <a:clrScheme name="NPS">
      <a:dk1>
        <a:srgbClr val="000962"/>
      </a:dk1>
      <a:lt1>
        <a:srgbClr val="FFFFFF"/>
      </a:lt1>
      <a:dk2>
        <a:srgbClr val="000962"/>
      </a:dk2>
      <a:lt2>
        <a:srgbClr val="7FB9FF"/>
      </a:lt2>
      <a:accent1>
        <a:srgbClr val="000962"/>
      </a:accent1>
      <a:accent2>
        <a:srgbClr val="0468FF"/>
      </a:accent2>
      <a:accent3>
        <a:srgbClr val="A4EFBE"/>
      </a:accent3>
      <a:accent4>
        <a:srgbClr val="006254"/>
      </a:accent4>
      <a:accent5>
        <a:srgbClr val="4C1673"/>
      </a:accent5>
      <a:accent6>
        <a:srgbClr val="E2DFDD"/>
      </a:accent6>
      <a:hlink>
        <a:srgbClr val="467886"/>
      </a:hlink>
      <a:folHlink>
        <a:srgbClr val="96607D"/>
      </a:folHlink>
    </a:clrScheme>
    <a:fontScheme name="Custom 1">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anchor="ctr">
        <a:spAutoFit/>
      </a:bodyPr>
      <a:lstStyle>
        <a:defPPr algn="l">
          <a:defRPr sz="2000" dirty="0">
            <a:latin typeface="+mn-lt"/>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Light Blue">
  <a:themeElements>
    <a:clrScheme name="NPS">
      <a:dk1>
        <a:srgbClr val="000962"/>
      </a:dk1>
      <a:lt1>
        <a:srgbClr val="FFFFFF"/>
      </a:lt1>
      <a:dk2>
        <a:srgbClr val="000962"/>
      </a:dk2>
      <a:lt2>
        <a:srgbClr val="7FB9FF"/>
      </a:lt2>
      <a:accent1>
        <a:srgbClr val="000962"/>
      </a:accent1>
      <a:accent2>
        <a:srgbClr val="0468FF"/>
      </a:accent2>
      <a:accent3>
        <a:srgbClr val="A4EFBE"/>
      </a:accent3>
      <a:accent4>
        <a:srgbClr val="006254"/>
      </a:accent4>
      <a:accent5>
        <a:srgbClr val="4C1673"/>
      </a:accent5>
      <a:accent6>
        <a:srgbClr val="E2DFDD"/>
      </a:accent6>
      <a:hlink>
        <a:srgbClr val="467886"/>
      </a:hlink>
      <a:folHlink>
        <a:srgbClr val="96607D"/>
      </a:folHlink>
    </a:clrScheme>
    <a:fontScheme name="Georgia">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4_Light Blue">
  <a:themeElements>
    <a:clrScheme name="NPS">
      <a:dk1>
        <a:srgbClr val="000962"/>
      </a:dk1>
      <a:lt1>
        <a:srgbClr val="FFFFFF"/>
      </a:lt1>
      <a:dk2>
        <a:srgbClr val="000962"/>
      </a:dk2>
      <a:lt2>
        <a:srgbClr val="7FB9FF"/>
      </a:lt2>
      <a:accent1>
        <a:srgbClr val="000962"/>
      </a:accent1>
      <a:accent2>
        <a:srgbClr val="0468FF"/>
      </a:accent2>
      <a:accent3>
        <a:srgbClr val="A4EFBE"/>
      </a:accent3>
      <a:accent4>
        <a:srgbClr val="006254"/>
      </a:accent4>
      <a:accent5>
        <a:srgbClr val="4C1673"/>
      </a:accent5>
      <a:accent6>
        <a:srgbClr val="E2DFDD"/>
      </a:accent6>
      <a:hlink>
        <a:srgbClr val="467886"/>
      </a:hlink>
      <a:folHlink>
        <a:srgbClr val="96607D"/>
      </a:folHlink>
    </a:clrScheme>
    <a:fontScheme name="Custom 1">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anchor="ctr">
        <a:spAutoFit/>
      </a:bodyPr>
      <a:lstStyle>
        <a:defPPr algn="l">
          <a:defRPr sz="2000" dirty="0">
            <a:latin typeface="+mn-lt"/>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90EC192880CC940BEF50116D54B7C59" ma:contentTypeVersion="15" ma:contentTypeDescription="Create a new document." ma:contentTypeScope="" ma:versionID="e8df92539cb93a60d1f9d35c7ad8f2fc">
  <xsd:schema xmlns:xsd="http://www.w3.org/2001/XMLSchema" xmlns:xs="http://www.w3.org/2001/XMLSchema" xmlns:p="http://schemas.microsoft.com/office/2006/metadata/properties" xmlns:ns2="f7187551-dcd2-4df2-b465-e591e26c4685" xmlns:ns3="879a6a9b-e6a8-4c41-957b-9fddf8c68e29" targetNamespace="http://schemas.microsoft.com/office/2006/metadata/properties" ma:root="true" ma:fieldsID="afa368176db26a36f7bfda52c19dfe8d" ns2:_="" ns3:_="">
    <xsd:import namespace="f7187551-dcd2-4df2-b465-e591e26c4685"/>
    <xsd:import namespace="879a6a9b-e6a8-4c41-957b-9fddf8c68e2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7187551-dcd2-4df2-b465-e591e26c46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2829bdbf-11ca-4188-ad5e-419b837c316a"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79a6a9b-e6a8-4c41-957b-9fddf8c68e2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5d170b91-55c6-426c-83c3-f69fcd712e6d}" ma:internalName="TaxCatchAll" ma:showField="CatchAllData" ma:web="879a6a9b-e6a8-4c41-957b-9fddf8c68e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879a6a9b-e6a8-4c41-957b-9fddf8c68e29">
      <UserInfo>
        <DisplayName>Ferguson, Michael S. (Mike)</DisplayName>
        <AccountId>25</AccountId>
        <AccountType/>
      </UserInfo>
      <UserInfo>
        <DisplayName>Cirrincione, Deborah (Debbie)</DisplayName>
        <AccountId>147</AccountId>
        <AccountType/>
      </UserInfo>
      <UserInfo>
        <DisplayName>Gulisano, James F. (Jamie)</DisplayName>
        <AccountId>28</AccountId>
        <AccountType/>
      </UserInfo>
      <UserInfo>
        <DisplayName>Mariutto, Jennifer M.</DisplayName>
        <AccountId>16</AccountId>
        <AccountType/>
      </UserInfo>
    </SharedWithUsers>
    <lcf76f155ced4ddcb4097134ff3c332f xmlns="f7187551-dcd2-4df2-b465-e591e26c4685">
      <Terms xmlns="http://schemas.microsoft.com/office/infopath/2007/PartnerControls"/>
    </lcf76f155ced4ddcb4097134ff3c332f>
    <TaxCatchAll xmlns="879a6a9b-e6a8-4c41-957b-9fddf8c68e29" xsi:nil="true"/>
  </documentManagement>
</p:properties>
</file>

<file path=customXml/itemProps1.xml><?xml version="1.0" encoding="utf-8"?>
<ds:datastoreItem xmlns:ds="http://schemas.openxmlformats.org/officeDocument/2006/customXml" ds:itemID="{267D0F9E-11A6-4B00-8700-F00E416459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7187551-dcd2-4df2-b465-e591e26c4685"/>
    <ds:schemaRef ds:uri="879a6a9b-e6a8-4c41-957b-9fddf8c68e2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F327CDC-FC1B-45F8-B39E-D812521109CB}">
  <ds:schemaRefs>
    <ds:schemaRef ds:uri="http://schemas.microsoft.com/sharepoint/v3/contenttype/forms"/>
  </ds:schemaRefs>
</ds:datastoreItem>
</file>

<file path=customXml/itemProps3.xml><?xml version="1.0" encoding="utf-8"?>
<ds:datastoreItem xmlns:ds="http://schemas.openxmlformats.org/officeDocument/2006/customXml" ds:itemID="{9C258A8F-586B-499B-90F0-AA26C728EB82}">
  <ds:schemaRefs>
    <ds:schemaRef ds:uri="879a6a9b-e6a8-4c41-957b-9fddf8c68e29"/>
    <ds:schemaRef ds:uri="f7187551-dcd2-4df2-b465-e591e26c468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144</TotalTime>
  <Words>5495</Words>
  <Application>Microsoft Office PowerPoint</Application>
  <PresentationFormat>Widescreen</PresentationFormat>
  <Paragraphs>529</Paragraphs>
  <Slides>23</Slides>
  <Notes>22</Notes>
  <HiddenSlides>0</HiddenSlides>
  <MMClips>0</MMClips>
  <ScaleCrop>false</ScaleCrop>
  <HeadingPairs>
    <vt:vector size="6" baseType="variant">
      <vt:variant>
        <vt:lpstr>Fonts Used</vt:lpstr>
      </vt:variant>
      <vt:variant>
        <vt:i4>13</vt:i4>
      </vt:variant>
      <vt:variant>
        <vt:lpstr>Theme</vt:lpstr>
      </vt:variant>
      <vt:variant>
        <vt:i4>4</vt:i4>
      </vt:variant>
      <vt:variant>
        <vt:lpstr>Slide Titles</vt:lpstr>
      </vt:variant>
      <vt:variant>
        <vt:i4>23</vt:i4>
      </vt:variant>
    </vt:vector>
  </HeadingPairs>
  <TitlesOfParts>
    <vt:vector size="40" baseType="lpstr">
      <vt:lpstr>Alda Pro</vt:lpstr>
      <vt:lpstr>Aptos</vt:lpstr>
      <vt:lpstr>Arial</vt:lpstr>
      <vt:lpstr>Arial Black</vt:lpstr>
      <vt:lpstr>Arial Narrow</vt:lpstr>
      <vt:lpstr>Calibri</vt:lpstr>
      <vt:lpstr>Effra</vt:lpstr>
      <vt:lpstr>Effra Medium</vt:lpstr>
      <vt:lpstr>Effra Pro</vt:lpstr>
      <vt:lpstr>Geneva</vt:lpstr>
      <vt:lpstr>Georgia</vt:lpstr>
      <vt:lpstr>System Font Regular</vt:lpstr>
      <vt:lpstr>Wingdings</vt:lpstr>
      <vt:lpstr>1_Light Blue</vt:lpstr>
      <vt:lpstr>2_Light Blue</vt:lpstr>
      <vt:lpstr>Light Blue</vt:lpstr>
      <vt:lpstr>4_Light Blue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New Org:  What’s important week of  August 17</vt:lpstr>
      <vt:lpstr>New riders expand AD126 SVUL Accumulator II</vt:lpstr>
      <vt:lpstr>12% DCA – Offer ends this week</vt:lpstr>
      <vt:lpstr>Don’t miss the next Advanced Life Sales Series webinar</vt:lpstr>
      <vt:lpstr>September National PLAN Webinar</vt:lpstr>
      <vt:lpstr>3Q Life Fundamentals Series (Final 2 sessions)</vt:lpstr>
      <vt:lpstr>3Q 2026 Registered Rep MasterClass </vt:lpstr>
      <vt:lpstr>Target Markets Upcoming Webinars</vt:lpstr>
      <vt:lpstr>Total Morningstar</vt:lpstr>
      <vt:lpstr>See what’s new with Asset Flex AD126</vt:lpstr>
      <vt:lpstr>Estab:  What’s important week of  August 17</vt:lpstr>
      <vt:lpstr>President’s Council Beachfront Boutique Experience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Mariutto, Jennifer M.</dc:creator>
  <cp:lastModifiedBy>Dave Guilford</cp:lastModifiedBy>
  <cp:revision>4</cp:revision>
  <cp:lastPrinted>2026-05-27T22:34:09Z</cp:lastPrinted>
  <dcterms:created xsi:type="dcterms:W3CDTF">2022-07-12T13:52:57Z</dcterms:created>
  <dcterms:modified xsi:type="dcterms:W3CDTF">2026-08-16T15:30:09Z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0x010100A90EC192880CC940BEF50116D54B7C59</vt:lpwstr>
  </property>
  <property fmtid="{D5CDD505-2E9C-101B-9397-08002B2CF9AE}" pid="3" name="MediaServiceImageTags">
    <vt:lpwstr/>
  </property>
  <property fmtid="{D5CDD505-2E9C-101B-9397-08002B2CF9AE}" pid="4" name="ArticulateGUID">
    <vt:lpwstr>93C0923A-4E14-470D-A1D5-300874841ADD</vt:lpwstr>
  </property>
  <property fmtid="{D5CDD505-2E9C-101B-9397-08002B2CF9AE}" pid="5" name="ArticulatePath">
    <vt:lpwstr>https://newyorklife-my.sharepoint.com/personal/ssubramani07_newyorklife_com/Documents/Desktop/Agency Comms/New Org Slides/New Org and manager slide deck/NewOrgSlides_for_Management_Update</vt:lpwstr>
  </property>
  <property fmtid="{D5CDD505-2E9C-101B-9397-08002B2CF9AE}" pid="6" name="MSIP_Label_8f0b5d98-aa4b-42ad-b5be-1e75bbcbb7d7_ActionId">
    <vt:lpwstr>4c43cdb1-80ab-4e5b-baad-d5201017abba</vt:lpwstr>
  </property>
  <property fmtid="{D5CDD505-2E9C-101B-9397-08002B2CF9AE}" pid="7" name="MSIP_Label_8f0b5d98-aa4b-42ad-b5be-1e75bbcbb7d7_SiteId">
    <vt:lpwstr>a651e8f0-93d2-41c2-88b6-e8c5a1ad2375</vt:lpwstr>
  </property>
  <property fmtid="{D5CDD505-2E9C-101B-9397-08002B2CF9AE}" pid="8" name="MSIP_Label_8f0b5d98-aa4b-42ad-b5be-1e75bbcbb7d7_Method">
    <vt:lpwstr>Standard</vt:lpwstr>
  </property>
  <property fmtid="{D5CDD505-2E9C-101B-9397-08002B2CF9AE}" pid="9" name="MSIP_Label_8f0b5d98-aa4b-42ad-b5be-1e75bbcbb7d7_Name">
    <vt:lpwstr>Internal-pilot</vt:lpwstr>
  </property>
  <property fmtid="{D5CDD505-2E9C-101B-9397-08002B2CF9AE}" pid="10" name="MSIP_Label_8f0b5d98-aa4b-42ad-b5be-1e75bbcbb7d7_ContentBits">
    <vt:lpwstr>0</vt:lpwstr>
  </property>
  <property fmtid="{D5CDD505-2E9C-101B-9397-08002B2CF9AE}" pid="11" name="MSIP_Label_8f0b5d98-aa4b-42ad-b5be-1e75bbcbb7d7_Enabled">
    <vt:lpwstr>true</vt:lpwstr>
  </property>
  <property fmtid="{D5CDD505-2E9C-101B-9397-08002B2CF9AE}" pid="12" name="MSIP_Label_8f0b5d98-aa4b-42ad-b5be-1e75bbcbb7d7_Tag">
    <vt:lpwstr>10, 3, 0, 2</vt:lpwstr>
  </property>
  <property fmtid="{D5CDD505-2E9C-101B-9397-08002B2CF9AE}" pid="13" name="MSIP_Label_8f0b5d98-aa4b-42ad-b5be-1e75bbcbb7d7_SetDate">
    <vt:lpwstr>2025-07-31T18:26:42Z</vt:lpwstr>
  </property>
</Properties>
</file>