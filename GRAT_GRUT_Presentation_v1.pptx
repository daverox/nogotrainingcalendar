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487168"/>
            <a:ext cx="29260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3175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Grantor Retained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 Trusts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GRATs &amp; GRUTs — Planning Insights &amp; Modeling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8600" y="45720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4445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Simone  ·  Dave  ·  Sean     |     Chapter 29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Grantor Retained Interest Trust?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51560"/>
            <a:ext cx="39776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Grantor Retained Annuity Trust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3657600" cy="2468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annuity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Grantor receives same $ amount each year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above IRS 7520 rate passes tax-free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high-growth assets, low-rate environments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3977640" cy="91440"/>
          </a:xfrm>
          <a:prstGeom prst="rect">
            <a:avLst/>
          </a:prstGeom>
          <a:solidFill>
            <a:srgbClr val="4A7BA7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78992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Grantor Retained Unitrust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657600" cy="2468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Percentage-based payout (% of trust value annually)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fluctuates with asset value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benefit in declining markets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suited for stable, income-producing assets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572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pass excess growth to heirs gift-tax free  ·  IRC §2702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for Clients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39776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703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can be exchanged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high-growth assets from estate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payment options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don't have to be the same each year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benefits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Grantor pays income tax — assets grow tax-free inside trust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7764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2412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703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Risk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client dies before term ends, assets may be pulled back into estate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Asset Appreciation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assets don't grow past hurdle rate, trust simply returns them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Change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law changes could reduce or eliminate advantages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for Advisors / Planners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51560"/>
            <a:ext cx="109728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1556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Challenges — Closely Held or Hard-to-Value Stock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valuation disputes can diminish benefits via gift tax implications, penalties, and interest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closely with a qualified appraiser before transferring illiquid or closely held interests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743200"/>
            <a:ext cx="8321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743200"/>
            <a:ext cx="109728" cy="1508760"/>
          </a:xfrm>
          <a:prstGeom prst="rect">
            <a:avLst/>
          </a:prstGeom>
          <a:solidFill>
            <a:srgbClr val="4A7BA7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80720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Drafting — IRC §2702 Compliance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200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must be carefully drafted — grantor relinquishes control of assets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structural error can trigger §2702 penalties and collapse the gift tax advantage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Implementing GRATs &amp; GRUTs in Practice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78892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332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Selection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2578608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High-net-worth clients with taxable estate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expected to significantly appreciate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/ long life expectancy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to receive annuity payments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05840"/>
            <a:ext cx="2788920" cy="91440"/>
          </a:xfrm>
          <a:prstGeom prst="rect">
            <a:avLst/>
          </a:prstGeom>
          <a:solidFill>
            <a:srgbClr val="4A7BA7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0332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Hurdle Rate &amp; Timing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1572768"/>
            <a:ext cx="2578608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§7520 rate sets the hurdle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must grow above hurdle for benefit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Low-rate environments = greater GRAT benefit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rate monthly for optimal timing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00584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005840"/>
            <a:ext cx="2788920" cy="91440"/>
          </a:xfrm>
          <a:prstGeom prst="rect">
            <a:avLst/>
          </a:prstGeom>
          <a:solidFill>
            <a:srgbClr val="5C8A60"/>
          </a:solidFill>
          <a:ln w="12700">
            <a:solidFill>
              <a:srgbClr val="5C8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0332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GRAT Strategy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64808" y="1572768"/>
            <a:ext cx="2578608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new GRAT each year ('rolling')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GRATs just return principal — no downside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GRATs lock in gains estate-tax free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widely in tech IPO planning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GRAT Use Cases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5176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$37B+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value transferred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GRATs by Zuckerberg pre-IPO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65176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0789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17190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tax paid on gains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exceed the hurdle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051560"/>
            <a:ext cx="2651760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0789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3–20 yrs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17190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GRAT term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estate planning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3977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423160"/>
            <a:ext cx="109728" cy="2377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48716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Founder / IPO Planning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2907792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Pre-IPO shares placed in GRAT at low valuation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IPO-driven appreciation passes to heirs gift-tax free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by tech billionaires to transfer wealth during company growth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3977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9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423160"/>
            <a:ext cx="109728" cy="2377440"/>
          </a:xfrm>
          <a:prstGeom prst="rect">
            <a:avLst/>
          </a:prstGeom>
          <a:solidFill>
            <a:srgbClr val="4A7BA7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248716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GRAT — Heads I Win, Tails I Tie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01768" y="2907792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short-term GRAT created each year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market rises: gains locked in estate-tax free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market falls: principal returned, no gift tax cost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many winning years across rolling series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87168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3175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Grantor Retained Annuity Trust Analysis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 Analysis — 10-Year Model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658368"/>
            <a:ext cx="8641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 Summary Table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658368"/>
            <a:ext cx="8641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BA7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87168"/>
            <a:ext cx="2743200" cy="36576"/>
          </a:xfrm>
          <a:prstGeom prst="rect">
            <a:avLst/>
          </a:prstGeom>
          <a:solidFill>
            <a:srgbClr val="4A7BA7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3175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GRUT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Grantor Retained Unitrust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BA7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GRUT Analysis — 10-Year Model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658368"/>
            <a:ext cx="8641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BA7"/>
          </a:solidFill>
          <a:ln w="12700">
            <a:solidFill>
              <a:srgbClr val="4A7B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GRUT Summary Table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658368"/>
            <a:ext cx="8641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3175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noFill/>
          <a:ln/>
        </p:spPr>
        <p:txBody>
          <a:bodyPr wrap="square" lIns="1270" tIns="3175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interest rates rise, how should planners adjust GRAT strategy — and at what point does a GRUT become the stronger tool?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3175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clients in your practice might benefit most from a GRAT right now?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explain the mortality risk tradeoff to a client who is hesitant?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rolling GRAT strategy make sense for a client with concentrated equity positions?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4553712"/>
            <a:ext cx="8686800" cy="347472"/>
          </a:xfrm>
          <a:prstGeom prst="rect">
            <a:avLst/>
          </a:prstGeom>
          <a:noFill/>
          <a:ln/>
        </p:spPr>
        <p:txBody>
          <a:bodyPr wrap="square" lIns="0" tIns="4445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Simone  ·  Dave  ·  Sean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Grantor Retained Interest Trusts</dc:title>
  <dc:subject>PptxGenJS Presentation</dc:subject>
  <dc:creator>Simone, Dave &amp; Sean</dc:creator>
  <cp:lastModifiedBy>Simone, Dave &amp; Sean</cp:lastModifiedBy>
  <cp:revision>1</cp:revision>
  <dcterms:created xsi:type="dcterms:W3CDTF">2026-04-28T01:11:41Z</dcterms:created>
  <dcterms:modified xsi:type="dcterms:W3CDTF">2026-04-28T01:11:41Z</dcterms:modified>
</cp:coreProperties>
</file>