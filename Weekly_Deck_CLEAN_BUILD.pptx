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856" r:id="rId4"/>
    <p:sldMasterId id="2147486133" r:id="rId5"/>
    <p:sldMasterId id="2147486165" r:id="rId6"/>
  </p:sldMasterIdLst>
  <p:notesMasterIdLst>
    <p:notesMasterId r:id="rId41"/>
  </p:notesMasterIdLst>
  <p:handoutMasterIdLst>
    <p:handoutMasterId r:id="rId42"/>
  </p:handoutMasterIdLst>
  <p:sldIdLst>
    <p:sldId id="388" r:id="rId7"/>
    <p:sldId id="2147483647" r:id="rId8"/>
    <p:sldId id="257" r:id="rId9"/>
    <p:sldId id="258" r:id="rId10"/>
    <p:sldId id="261" r:id="rId11"/>
    <p:sldId id="264" r:id="rId12"/>
    <p:sldId id="265" r:id="rId13"/>
    <p:sldId id="266" r:id="rId14"/>
    <p:sldId id="267" r:id="rId15"/>
    <p:sldId id="276" r:id="rId16"/>
    <p:sldId id="256" r:id="rId17"/>
    <p:sldId id="259" r:id="rId18"/>
    <p:sldId id="337" r:id="rId19"/>
    <p:sldId id="422" r:id="rId20"/>
    <p:sldId id="340" r:id="rId21"/>
    <p:sldId id="429" r:id="rId22"/>
    <p:sldId id="260" r:id="rId23"/>
    <p:sldId id="440" r:id="rId24"/>
    <p:sldId id="2147483646" r:id="rId25"/>
    <p:sldId id="262" r:id="rId26"/>
    <p:sldId id="263" r:id="rId27"/>
    <p:sldId id="2147483645" r:id="rId28"/>
    <p:sldId id="319" r:id="rId29"/>
    <p:sldId id="268" r:id="rId30"/>
    <p:sldId id="269" r:id="rId31"/>
    <p:sldId id="270" r:id="rId32"/>
    <p:sldId id="271" r:id="rId33"/>
    <p:sldId id="272" r:id="rId34"/>
    <p:sldId id="273" r:id="rId35"/>
    <p:sldId id="274" r:id="rId36"/>
    <p:sldId id="275" r:id="rId37"/>
    <p:sldId id="277" r:id="rId38"/>
    <p:sldId id="278" r:id="rId39"/>
    <p:sldId id="279" r:id="rId40"/>
  </p:sldIdLst>
  <p:sldSz cx="12192000" cy="6858000"/>
  <p:notesSz cx="7102475" cy="9388475"/>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5B82AEEB-27C9-4347-8BF2-F4521B8C3795}">
          <p14:sldIdLst>
            <p14:sldId id="388"/>
            <p14:sldId id="2147483647"/>
            <p14:sldId id="257"/>
            <p14:sldId id="258"/>
            <p14:sldId id="261"/>
            <p14:sldId id="264"/>
            <p14:sldId id="265"/>
            <p14:sldId id="266"/>
            <p14:sldId id="267"/>
          </p14:sldIdLst>
        </p14:section>
        <p14:section name="Content" id="{7F40F47A-1A74-41D4-A581-0833D369880F}">
          <p14:sldIdLst>
            <p14:sldId id="276"/>
            <p14:sldId id="256"/>
            <p14:sldId id="259"/>
            <p14:sldId id="337"/>
            <p14:sldId id="422"/>
            <p14:sldId id="340"/>
            <p14:sldId id="429"/>
            <p14:sldId id="260"/>
            <p14:sldId id="440"/>
            <p14:sldId id="2147483646"/>
            <p14:sldId id="262"/>
            <p14:sldId id="263"/>
            <p14:sldId id="2147483645"/>
            <p14:sldId id="319"/>
            <p14:sldId id="268"/>
            <p14:sldId id="269"/>
            <p14:sldId id="270"/>
            <p14:sldId id="271"/>
            <p14:sldId id="272"/>
            <p14:sldId id="273"/>
            <p14:sldId id="274"/>
            <p14:sldId id="275"/>
            <p14:sldId id="277"/>
            <p14:sldId id="278"/>
            <p14:sldId id="279"/>
          </p14:sldIdLst>
        </p14:section>
      </p14:sectionLst>
    </p:ext>
    <p:ext uri="{EFAFB233-063F-42B5-8137-9DF3F51BA10A}">
      <p15:sldGuideLst xmlns:p15="http://schemas.microsoft.com/office/powerpoint/2012/main">
        <p15:guide id="1" pos="1248" userDrawn="1">
          <p15:clr>
            <a:srgbClr val="A4A3A4"/>
          </p15:clr>
        </p15:guide>
        <p15:guide id="2" orient="horz" pos="237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88B104-0603-DB14-FB19-8B061BAFB446}" name="Cirrincione, Deborah (Debbie)" initials="DC" userId="S::DCIRRINCI@newyorklife.com::208aada5-06cf-41ed-b292-2a173ac4d61d" providerId="AD"/>
  <p188:author id="{E6325B11-2B13-A17C-AE9E-D23D2ADBA2C1}" name="Scanlan, Dawn M." initials="SD" userId="S::dhamon@newyorklife.com::12c7cd20-34bf-4117-b7b9-e4f7d0c77492" providerId="AD"/>
  <p188:author id="{03F8FB18-B39D-0050-A8EB-A1A2407ED5D9}" name="Oliveira, Maile M." initials="OM" userId="S::mmbrown@newyorklife.com::64802ba7-84bf-436a-b409-1db34b4cff98" providerId="AD"/>
  <p188:author id="{AB61541C-3827-2330-99F1-4B1E43CD5285}" name="Matzko, Donna J." initials="" userId="S::DMATZKO@newyorklife.com::a0ae713f-cc26-46c7-b8b9-c2ba1a6c18be" providerId="AD"/>
  <p188:author id="{A2B39C1C-877D-7914-D47E-BFD3482E12A9}" name="Murphy, Karen A." initials="KM" userId="S::kamurphy@newyorklife.com::e908a998-6e67-445b-bceb-e3f9243fa633" providerId="AD"/>
  <p188:author id="{27656B1E-4F6E-DB6E-9EE4-2BF187666295}" name="Chambers, Maryann" initials="CM" userId="S::mchambers02@newyorklife.com::859f9a9e-0f02-4620-8509-0bbdd26e0cb9" providerId="AD"/>
  <p188:author id="{0512EF21-C40B-D3CF-1B69-C0088690A08D}" name="Roughan, Sarah" initials="SR" userId="S::SROUGHAN@newyorklife.com::8091c5e4-3c9e-4ce8-a969-a2efd2174472" providerId="AD"/>
  <p188:author id="{61F13D22-0E0E-EE5D-D595-8ADB3788527F}" name="Cattan, Lauren E." initials="" userId="S::lecattan@newyorklife.com::ddd6e1fa-c82a-41c8-9d29-262da4981243" providerId="AD"/>
  <p188:author id="{D388B223-0728-409D-78CA-D25481D8D6FC}" name="Getaz, Marjorie V." initials="GV" userId="S::mgetaz@newyorklife.com::ea5e04bc-0316-4f07-ac82-b5c547970c0d" providerId="AD"/>
  <p188:author id="{D8734834-E2EB-99E0-93D8-641F24B0AD46}" name="Falvo, Christopher (Chris)" initials="FC" userId="S::cfalvo@newyorklife.com::ad72e406-7e4b-4df6-bc2b-fdbd41892401" providerId="AD"/>
  <p188:author id="{1D1EE235-820B-D8C7-6AA2-316059E7D001}" name="Rose-Curley, Kelly R." initials="RCKR" userId="S::krosecurley@newyorklife.com::35c7f804-a584-4833-8966-5d1db731baab" providerId="AD"/>
  <p188:author id="{50BFF837-3C3A-0E2C-0ED1-FB27565BFCDC}" name="Mariutto, Jennifer M." initials="MM" userId="S::jiannibel@newyorklife.com::c1f1ff73-0556-4c3e-b648-cf17dbe126d2" providerId="AD"/>
  <p188:author id="{EEDAC642-367D-31E6-1752-92D684194A65}" name="Hourihan, Karla M." initials="KH" userId="S::KSUNDSTRO@newyorklife.com::595e3252-aeba-4609-af9d-4f36f617beb2" providerId="AD"/>
  <p188:author id="{F55A2946-8F83-058E-720D-40DF22326A19}" name="Bueti, Grazia (Grace)" initials="B(" userId="S::gbueti@newyorklife.com::c20da38d-4933-4cf1-8bc7-708859dc483f" providerId="AD"/>
  <p188:author id="{5DDDD84C-5F01-C273-2A72-188E082B6E60}" name="Schwartz, Deborah A." initials="DS" userId="S::daschwartz@newyorklife.com::f76e2373-eaaf-4e13-b974-65290e356216" providerId="AD"/>
  <p188:author id="{0E703F4D-9169-B7B3-CD1E-EB37DC168934}" name="Ura, Edit" initials="UE" userId="S::eura@newyorklife.com::a6f2eeb4-940e-4b7f-893a-1553909b3f48" providerId="AD"/>
  <p188:author id="{BA2DDC52-7CE2-0A0C-F0C4-5916F422448A}" name="Bulk, Andrew H. (Hunter)" initials="AB" userId="S::abulk@newyorklife.com::9ca1aaf4-2bdd-45d0-8ed4-7c68d5a17e49" providerId="AD"/>
  <p188:author id="{9C713C55-CBBA-9A64-B8F3-87D958DADF30}" name="Crimmins, Sheila A." initials="CS" userId="S::scrimmins@newyorklife.com::bf709f57-f968-48e4-ba64-4008d5d65a86" providerId="AD"/>
  <p188:author id="{2F65DD55-5C00-7671-AA59-1964AADD4DB0}" name="Bean, Darla L." initials="" userId="S::DBEAN@newyorklife.com::1cdda7fb-ded0-4ae6-9a0b-8ecf3341de13" providerId="AD"/>
  <p188:author id="{0A64D957-4C8C-1539-6B98-92C68A0D1D4A}" name="Kuzma, Matthew P." initials="" userId="S::mkuzma@newyorklife.com::e3edd6ba-4461-45fe-afc9-84ff9b2b1683" providerId="AD"/>
  <p188:author id="{98F39958-7A0C-819B-092A-654262FBFA68}" name="Nabors, Lisa (Lisa Renee)" initials="" userId="S::lnabors@newyorklife.com::2428def2-c02b-428d-91d0-cc587022f317" providerId="AD"/>
  <p188:author id="{047C695E-CC98-0A8A-B34A-0ECA6D510BB4}" name="Brown, Traci" initials="BT" userId="S::tbrown02@newyorklife.com::dbff7f98-554c-4297-ba8f-c5886a4da67b" providerId="AD"/>
  <p188:author id="{B6F96364-211C-8C43-AE38-CDEBEB04EC9F}" name="Mitra, Debapriya" initials="DM" userId="S::dmitra@newyorklife.com::21b21f98-a826-4455-9c9d-cb7d150c14fb" providerId="AD"/>
  <p188:author id="{C1456E67-7030-936D-33B0-32CE3A81C3D8}" name="Macchia, John" initials="" userId="S::jmacchia01@newyorklife.com::1f860ba1-b7e6-45b3-ba8f-232cf36abb01" providerId="AD"/>
  <p188:author id="{C8928A67-B20B-D87E-5540-087A347196AA}" name="Gilrein, Sean" initials="SG" userId="S::SGILREIN@newyorklife.com::8345e0ee-d86a-4f4d-938c-9dbb6e7c199d" providerId="AD"/>
  <p188:author id="{60874968-7C58-CE39-5BBD-0D797E532F25}" name="Cirrincione, Deborah (Debbie)" initials="dc" userId="Cirrincione, Deborah (Debbie)" providerId="None"/>
  <p188:author id="{7A0C5C6A-4A62-41D9-4F3E-3F1EBCA67392}" name="Klink, Edward E." initials="" userId="S::eeklink@newyorklife.com::d55b7f20-6b1a-488e-bc4e-45dcf68636ce" providerId="AD"/>
  <p188:author id="{9929BA6B-C613-F00B-8D48-206035D02269}" name="Gomes, Ligiane M. (Ligi)" initials="" userId="S::lgomes@newyorklife.com::2f659f96-c90e-4564-93aa-b062b87100ea" providerId="AD"/>
  <p188:author id="{83CD0270-DF0C-A16E-33B4-C536F7B4706C}" name="Essig, Daniel (Danny)" initials="DE" userId="S::DESSIG@newyorklife.com::f32510c9-2efe-4bb9-aa71-daecbbe6a660" providerId="AD"/>
  <p188:author id="{3A22EB70-5E1C-70AC-9010-295C37A89265}" name="Fidz, Anna M." initials="" userId="S::afidz@newyorklife.com::403b62f2-a980-47af-8223-793a05db5331" providerId="AD"/>
  <p188:author id="{4F22687A-C5BE-8C0B-B553-3927C7BEA320}" name="Cook, Erin E." initials="EC" userId="S::eedowney@newyorklife.com::4ccbf6e1-c364-4b3c-a7a8-4026f8918c02" providerId="AD"/>
  <p188:author id="{49D67B7C-B5F7-6980-A774-191BA199960A}" name="Armstrong-Walker, Diana L." initials="DA" userId="S::dlarmstrongw@newyorklife.com::d378a642-fb86-4375-bb7b-45919c3cc48f" providerId="AD"/>
  <p188:author id="{C91B6384-E527-0C03-4389-92D94BB2B7CF}" name="McGuirk, Sheehan M." initials="MS" userId="S::smmcguirk@newyorklife.com::79890cd6-8da1-4f61-9db7-93e67eab352f" providerId="AD"/>
  <p188:author id="{DC977B89-0EAF-5F3D-1266-F0CEED641F58}" name="Gassaway, Debra (Debbie)" initials="" userId="S::dgassaway@newyorklife.com::811452f0-8070-42fd-a663-809a5b3624d3" providerId="AD"/>
  <p188:author id="{5E10B28E-48F4-BFAA-3974-64ECAB236F61}" name="Crimmins, Sheila A." initials="" userId="S::SCRIMMINS@newyorklife.com::bf709f57-f968-48e4-ba64-4008d5d65a86" providerId="AD"/>
  <p188:author id="{BE250D9C-0FC2-4FB7-F358-F4665534E3A1}" name="Shortall, Matthew" initials="SM" userId="S::mshortall@newyorklife.com::d61067b8-2dcf-49a2-837a-c6ef30972e27" providerId="AD"/>
  <p188:author id="{4FE8B29C-AF9E-63CB-0734-2F82018A51EB}" name="Liftman, Stephanie M." initials="" userId="S::smschneider@newyorklife.com::efc14625-f729-4af2-9e74-6b90b22b429d" providerId="AD"/>
  <p188:author id="{0C2A559E-9C6C-0970-3F23-A3AA10F90442}" name="Amendola, Anthony J." initials="AA" userId="S::aamendola@newyorklife.com::8d9d6dd4-fd66-429c-9e35-a7518ede12fb" providerId="AD"/>
  <p188:author id="{670EE99F-FA4B-F0B4-EAEC-1FF4C6FC0808}" name="Niehoff, Elizabeth H. (Liz)" initials="" userId="S::ehniehoff@newyorklife.com::2ad97e79-e416-461d-82b2-97d0b67ac1b1" providerId="AD"/>
  <p188:author id="{8A7325A0-1279-11C4-F94B-A403B22E1209}" name="Belo, Rose Marie" initials="" userId="S::rbelo@newyorklife.com::5312c633-4b08-4e98-985d-c547bb9a124f" providerId="AD"/>
  <p188:author id="{D8E169A0-C7FF-473C-B3AD-1168C85C0385}" name="Laramee, Elaine R." initials="" userId="S::ELARAMEE@newyorklife.com::ed7f34df-5a18-4770-8d58-27343b68b770" providerId="AD"/>
  <p188:author id="{8AA8C5A0-FBF5-2187-E641-BE707A338C8E}" name="Gilrein, Sean" initials="GS" userId="S::sgilrein@newyorklife.com::8345e0ee-d86a-4f4d-938c-9dbb6e7c199d" providerId="AD"/>
  <p188:author id="{E03D09A5-F491-365F-185C-D85A4EE8EFAA}" name="Ruggeri, Renee M." initials="RR" userId="S::rmruggeri@newyorklife.com::8c8a01f5-9c3d-41b4-80e7-fc45fe604ed3" providerId="AD"/>
  <p188:author id="{3DF8EDA6-F86C-B98A-543E-360DCC21BB87}" name="Bean, Darla L." initials="BD" userId="S::dbean@newyorklife.com::1cdda7fb-ded0-4ae6-9a0b-8ecf3341de13" providerId="AD"/>
  <p188:author id="{C9110DAB-FD2B-50BE-50C7-7AD79071ACD7}" name="Petruccelli, Michael R. (Mike)" initials="" userId="S::mpetruccelli@newyorklife.com::6782a3d9-3f74-4bdf-838d-3b731992a725" providerId="AD"/>
  <p188:author id="{44669BAB-D232-6235-700B-B5070BD4784F}" name="Aligaen, Rina M." initials="" userId="S::rmaligaen@newyorklife.com::4d14e425-8ff4-45db-ab59-805e6bbc9a26" providerId="AD"/>
  <p188:author id="{E6EB99AD-729A-A869-0A78-480BA10A9DDD}" name="Weiser, Donna" initials="" userId="S::dweiser@newyorklife.com::8c69d483-485e-4e52-bf1a-586a7cc2347f" providerId="AD"/>
  <p188:author id="{BDA5E4AD-99DB-EE25-F4CE-ADFC14485082}" name="Antoniello, Christopher (Chris)" initials="" userId="S::cantoniello@newyorklife.com::712220fb-5d91-4258-9539-9653d43a755a" providerId="AD"/>
  <p188:author id="{C1B340AF-8CAB-C24A-19FE-71E0B22B6927}" name="Hill-Ries, Lisa N." initials="HL" userId="S::lnhillries@newyorklife.com::ab99e0e4-2b3a-4625-b0e9-1b0cffed9825" providerId="AD"/>
  <p188:author id="{AA45C8AF-5EAE-ED19-6D1B-21528F2279DA}" name="Rubin, Kathleen M. (Kathy)" initials="" userId="S::KRUBIN@newyorklife.com::12ebbc21-f07a-48bc-a611-e3954683d7c0" providerId="AD"/>
  <p188:author id="{80A621B0-98DD-DB02-6DA8-A0C392D002CD}" name="Rubin, Kathleen M. (Kathy)" initials="R(" userId="S::krubin@newyorklife.com::12ebbc21-f07a-48bc-a611-e3954683d7c0" providerId="AD"/>
  <p188:author id="{1D5EECB4-62E1-82F7-98F7-2ABE559C17BD}" name="Hase, Melanie L. (Melli)" initials="MH" userId="S::mlhase@newyorklife.com::97460e0e-4c90-446b-b934-aa22cb2ed870" providerId="AD"/>
  <p188:author id="{252F77B8-3706-DFAE-3C76-A25A02541A7F}" name="Laramee, Elaine R." initials="LE" userId="S::elaramee@newyorklife.com::ed7f34df-5a18-4770-8d58-27343b68b770" providerId="AD"/>
  <p188:author id="{899231BF-295E-7C78-33C6-B9E4F60BE1EF}" name="Parker-Magyar, Alexander V." initials="" userId="S::avparkermagy@newyorklife.com::b2a07cd5-f592-4539-94aa-2a41e6a238e9" providerId="AD"/>
  <p188:author id="{EEF746C8-7549-9BD7-F3D3-EFB000BA5F6C}" name="Holbert, Michelle E. (Shelley)" initials="MH" userId="S::mholbert@newyorklife.com::23f080fe-79e7-4e1e-86a3-fde953166fbf" providerId="AD"/>
  <p188:author id="{24BA49C8-92E0-50E2-A4FA-9651F8610C6E}" name="Roughan, Sarah" initials="RS" userId="S::sroughan@newyorklife.com::8091c5e4-3c9e-4ce8-a969-a2efd2174472" providerId="AD"/>
  <p188:author id="{05C777CA-1AA9-7018-66C4-30CABF602BD9}" name="Brown, Peggy W." initials="BP" userId="S::pwbrown@newyorklife.com::1aecf54a-6bf6-4592-8b93-f373f4acaca2" providerId="AD"/>
  <p188:author id="{23AF9CCA-78FA-50A7-D504-0D454CD01A46}" name="Curtin, Lauren A." initials="" userId="S::lgilmore@newyorklife.com::6f6c4c81-7c45-40a8-b3f5-7e6ddd073395" providerId="AD"/>
  <p188:author id="{4820F8CA-0D7D-75D3-F9C2-5A9B9094B06F}" name="Lombardi, Ronald" initials="" userId="S::rlombardi@newyorklife.com::90020542-9349-4a1c-98f6-ac728adb002c" providerId="AD"/>
  <p188:author id="{EB8FBDCB-B405-9C57-DD28-EC16DFE1FEA5}" name="Falvo, Christopher (Chris)" initials="CF" userId="S::CFALVO@newyorklife.com::ad72e406-7e4b-4df6-bc2b-fdbd41892401" providerId="AD"/>
  <p188:author id="{F01B96D6-87F5-F019-5EB5-4F939888460F}" name="Mariutto, Jennifer M." initials="JM" userId="S::JIANNIBEL@newyorklife.com::c1f1ff73-0556-4c3e-b648-cf17dbe126d2" providerId="AD"/>
  <p188:author id="{68B046DB-94B6-1D44-553A-1D134A7BA8DC}" name="Essig, Daniel (Danny)" initials="ED" userId="S::dessig@newyorklife.com::f32510c9-2efe-4bb9-aa71-daecbbe6a660" providerId="AD"/>
  <p188:author id="{0C2CE8DF-280C-8473-CC3F-0CAA48B56FE8}" name="Gulisano, James F. (Jamie)" initials="" userId="S::JGULISANO@newyorklife.com::9c98f369-4b8b-4fec-acab-a272b9024458" providerId="AD"/>
  <p188:author id="{181863E0-D98D-3C17-17AD-016BAEF37155}" name="Ferguson, Michael S. (Mike)" initials="F(" userId="S::mferguson01@newyorklife.com::3572e4fa-3fa2-48c8-b0ce-39fda1969879" providerId="AD"/>
  <p188:author id="{C0B5DBE0-FF85-AE3E-4531-56962B7CF052}" name="Mcdermott, Patrick B." initials="" userId="S::PMCDERMOT@newyorklife.com::abc56b72-56a0-49c6-bee4-46c6d1d4f69d" providerId="AD"/>
  <p188:author id="{DA07D0E3-359E-887B-A92C-C1E38B730533}" name="Cirrincione, Deborah (Debbie)" initials="CD" userId="S::dcirrinci@newyorklife.com::208aada5-06cf-41ed-b292-2a173ac4d61d" providerId="AD"/>
  <p188:author id="{CF15BEE4-1643-3CCA-D837-251CF4390522}" name="Rowland, Njeri C." initials="NR" userId="S::nrowland@newyorklife.com::7526444e-40cd-4685-9189-6a7ffe474f76" providerId="AD"/>
  <p188:author id="{73371CE5-7D96-BD6C-078D-B3A6D6FAA8B9}" name="Bednarz, Christine A." initials="BCA" userId="S::cabednarz@newyorklife.com::8da3e2fc-0a9f-4d26-abe3-9a25ded5506f" providerId="AD"/>
  <p188:author id="{9D80C2EB-5545-7878-D0C2-C959B1F1ADB7}" name="Ferguson, Michael S. (Mike)" initials="MF" userId="S::MFERGUSON01@newyorklife.com::3572e4fa-3fa2-48c8-b0ce-39fda1969879" providerId="AD"/>
  <p188:author id="{81825AEE-7DF5-D32C-1742-6673EC338428}" name="Hourihan, Karla M." initials="HK" userId="S::ksundstro@newyorklife.com::595e3252-aeba-4609-af9d-4f36f617beb2" providerId="AD"/>
  <p188:author id="{4B87E1EF-0466-3982-449B-38629DF1EE7F}" name="Forand, Patrick W." initials="FP" userId="S::pforand@newyorklife.com::151abf93-ee6a-4408-8c4a-0fc8c7dedff4" providerId="AD"/>
  <p188:author id="{233E4CFA-658D-8295-4ADF-C95E00CF94E1}" name="Csillag, Carmen" initials="" userId="S::ccsillag@newyorklife.com::5bab7689-479a-4c08-9af9-59f51916266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A62"/>
    <a:srgbClr val="0042E8"/>
    <a:srgbClr val="000000"/>
    <a:srgbClr val="E82CC4"/>
    <a:srgbClr val="0A3C53"/>
    <a:srgbClr val="66A7FF"/>
    <a:srgbClr val="7FE9A5"/>
    <a:srgbClr val="0468FF"/>
    <a:srgbClr val="A5CAF4"/>
    <a:srgbClr val="A4C9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770" autoAdjust="0"/>
  </p:normalViewPr>
  <p:slideViewPr>
    <p:cSldViewPr snapToGrid="0">
      <p:cViewPr varScale="1">
        <p:scale>
          <a:sx n="91" d="100"/>
          <a:sy n="91" d="100"/>
        </p:scale>
        <p:origin x="1314" y="78"/>
      </p:cViewPr>
      <p:guideLst>
        <p:guide pos="1248"/>
        <p:guide orient="horz" pos="23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gs" Target="tags/tag1.xml"/><Relationship Id="rId48" Type="http://schemas.microsoft.com/office/2018/10/relationships/authors" Targe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39839A-6710-2204-4CDA-C3A65EC879F4}"/>
              </a:ext>
            </a:extLst>
          </p:cNvPr>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a:extLst>
              <a:ext uri="{FF2B5EF4-FFF2-40B4-BE49-F238E27FC236}">
                <a16:creationId xmlns:a16="http://schemas.microsoft.com/office/drawing/2014/main" id="{E99578DC-03E8-1058-6D53-36643595872A}"/>
              </a:ext>
            </a:extLst>
          </p:cNvPr>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E7A4511B-ADED-4F45-B3F1-92161E2FB2AD}" type="datetimeFigureOut">
              <a:rPr lang="en-US" smtClean="0"/>
              <a:t>7/2/2026</a:t>
            </a:fld>
            <a:endParaRPr lang="en-US"/>
          </a:p>
        </p:txBody>
      </p:sp>
      <p:sp>
        <p:nvSpPr>
          <p:cNvPr id="4" name="Footer Placeholder 3">
            <a:extLst>
              <a:ext uri="{FF2B5EF4-FFF2-40B4-BE49-F238E27FC236}">
                <a16:creationId xmlns:a16="http://schemas.microsoft.com/office/drawing/2014/main" id="{D79651AB-85DF-CC16-069D-ADF98F769CC6}"/>
              </a:ext>
            </a:extLst>
          </p:cNvPr>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D9EB7D0-D96F-0021-E271-E06D345388B0}"/>
              </a:ext>
            </a:extLst>
          </p:cNvPr>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8F3748A2-8B31-4D5F-8B5A-39B51195A439}" type="slidenum">
              <a:rPr lang="en-US" smtClean="0"/>
              <a:t>‹#›</a:t>
            </a:fld>
            <a:endParaRPr lang="en-US"/>
          </a:p>
        </p:txBody>
      </p:sp>
    </p:spTree>
    <p:extLst>
      <p:ext uri="{BB962C8B-B14F-4D97-AF65-F5344CB8AC3E}">
        <p14:creationId xmlns:p14="http://schemas.microsoft.com/office/powerpoint/2010/main" val="23305770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957" userDrawn="1">
          <p15:clr>
            <a:srgbClr val="F26B43"/>
          </p15:clr>
        </p15:guide>
        <p15:guide id="2" pos="2237"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EA976E3E-BBA1-487D-B81E-A53C96360150}" type="datetimeFigureOut">
              <a:t>7/2/2026</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B8F2EEE2-46E2-47E5-8287-018A51779D44}" type="slidenum">
              <a:t>‹#›</a:t>
            </a:fld>
            <a:endParaRPr lang="en-US"/>
          </a:p>
        </p:txBody>
      </p:sp>
    </p:spTree>
    <p:extLst>
      <p:ext uri="{BB962C8B-B14F-4D97-AF65-F5344CB8AC3E}">
        <p14:creationId xmlns:p14="http://schemas.microsoft.com/office/powerpoint/2010/main" val="211381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mailto:anna_m_fidz@newyorklife.com"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mailto:nylsecproduct@newyorklife.com"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a:t>
            </a:fld>
            <a:endParaRPr lang="en-US"/>
          </a:p>
        </p:txBody>
      </p:sp>
    </p:spTree>
    <p:extLst>
      <p:ext uri="{BB962C8B-B14F-4D97-AF65-F5344CB8AC3E}">
        <p14:creationId xmlns:p14="http://schemas.microsoft.com/office/powerpoint/2010/main" val="992921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US" b="1"/>
              <a:t>New Org Section: </a:t>
            </a:r>
            <a:r>
              <a:rPr lang="en-US"/>
              <a:t>For SPs and Partners presenting to </a:t>
            </a:r>
            <a:r>
              <a:rPr lang="en-US" b="1"/>
              <a:t>New Org agents</a:t>
            </a:r>
            <a:r>
              <a:rPr lang="en-US"/>
              <a:t>. These slides are visible to EPs and MPs.</a:t>
            </a:r>
            <a:endParaRPr lang="en-US" b="1"/>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10</a:t>
            </a:fld>
            <a:endParaRPr lang="en-US"/>
          </a:p>
        </p:txBody>
      </p:sp>
    </p:spTree>
    <p:extLst>
      <p:ext uri="{BB962C8B-B14F-4D97-AF65-F5344CB8AC3E}">
        <p14:creationId xmlns:p14="http://schemas.microsoft.com/office/powerpoint/2010/main" val="3982663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E0C87-021D-4750-4984-F992D7555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C7E39-6261-68F4-08FB-D72D93352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B33CF-0D30-B3EB-811C-80A255560F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ea typeface="Calibri"/>
                <a:cs typeface="Arial" panose="020B0604020202020204" pitchFamily="34" charset="0"/>
              </a:rPr>
              <a:t>Start 3Q with Timely Reasons to Connect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ea typeface="Calibri"/>
                <a:cs typeface="Arial" panose="020B0604020202020204" pitchFamily="34" charset="0"/>
              </a:rPr>
              <a:t>This </a:t>
            </a:r>
            <a:r>
              <a:rPr lang="en-US" b="1" dirty="0">
                <a:latin typeface="Arial" panose="020B0604020202020204" pitchFamily="34" charset="0"/>
                <a:ea typeface="Calibri"/>
                <a:cs typeface="Arial" panose="020B0604020202020204" pitchFamily="34" charset="0"/>
              </a:rPr>
              <a:t>national PLAN webinar</a:t>
            </a:r>
            <a:r>
              <a:rPr lang="en-US" b="0" dirty="0">
                <a:latin typeface="Arial" panose="020B0604020202020204" pitchFamily="34" charset="0"/>
                <a:ea typeface="Calibri"/>
                <a:cs typeface="Arial" panose="020B0604020202020204" pitchFamily="34" charset="0"/>
              </a:rPr>
              <a:t> is designed to help agents build momentum early in the third quarter through purposeful activity and relevant reasons to connect with clients. Attendees will gain practical strategies, timely updates and valuable resources that can support client outreach and meaningful conversations.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ea typeface="Calibri"/>
                <a:cs typeface="Arial" panose="020B0604020202020204" pitchFamily="34" charset="0"/>
              </a:rPr>
              <a:t>The session will highlight ideas for identifying opportunities, increasing 3Q activity, important DCA updates and positioning strategies, and leveraging available resources in client discussions. Agents will also receive important updates and actionable next steps to help maintain momentum and support a strong start to the quarter.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ea typeface="Calibri"/>
                <a:cs typeface="Arial" panose="020B0604020202020204" pitchFamily="34" charset="0"/>
              </a:rPr>
              <a:t>Contact:</a:t>
            </a:r>
            <a:r>
              <a:rPr lang="en-US" dirty="0">
                <a:latin typeface="Arial" panose="020B0604020202020204" pitchFamily="34" charset="0"/>
                <a:ea typeface="Calibri"/>
                <a:cs typeface="Arial" panose="020B0604020202020204" pitchFamily="34" charset="0"/>
              </a:rPr>
              <a:t> PLAN@newyorklife.com</a:t>
            </a:r>
            <a:endParaRPr lang="en-US"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Registration link: </a:t>
            </a:r>
            <a:r>
              <a:rPr lang="en-US" b="0" dirty="0">
                <a:latin typeface="Arial" panose="020B0604020202020204" pitchFamily="34" charset="0"/>
                <a:cs typeface="Arial" panose="020B0604020202020204" pitchFamily="34" charset="0"/>
              </a:rPr>
              <a:t>https://nylife.zoom.us/webinar/register/WN_orBUFdlRQqCo8q-UoIxNBA</a:t>
            </a:r>
            <a:endParaRPr lang="en-US" b="0" dirty="0"/>
          </a:p>
        </p:txBody>
      </p:sp>
      <p:sp>
        <p:nvSpPr>
          <p:cNvPr id="4" name="Slide Number Placeholder 3">
            <a:extLst>
              <a:ext uri="{FF2B5EF4-FFF2-40B4-BE49-F238E27FC236}">
                <a16:creationId xmlns:a16="http://schemas.microsoft.com/office/drawing/2014/main" id="{2F006A23-F104-CA10-9BB6-EF769F4682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2684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a:t>
            </a:r>
            <a:r>
              <a:rPr lang="en-US">
                <a:latin typeface="Arial" panose="020B0604020202020204" pitchFamily="34" charset="0"/>
                <a:cs typeface="Arial" panose="020B0604020202020204" pitchFamily="34" charset="0"/>
              </a:rPr>
              <a:t> https://www.today.newyorklife.com/agencyportal/s/article/July-Growth-Bonus</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30000">
                <a:solidFill>
                  <a:schemeClr val="tx1"/>
                </a:solidFill>
                <a:effectLst/>
                <a:latin typeface="Arial" panose="020B0604020202020204" pitchFamily="34" charset="0"/>
                <a:ea typeface="+mn-ea"/>
                <a:cs typeface="Arial" panose="020B0604020202020204" pitchFamily="34" charset="0"/>
              </a:rPr>
              <a:t>1</a:t>
            </a:r>
            <a:r>
              <a:rPr lang="en-US" sz="1200" kern="1200">
                <a:solidFill>
                  <a:schemeClr val="tx1"/>
                </a:solidFill>
                <a:effectLst/>
                <a:latin typeface="Arial" panose="020B0604020202020204" pitchFamily="34" charset="0"/>
                <a:ea typeface="+mn-ea"/>
                <a:cs typeface="Arial" panose="020B0604020202020204" pitchFamily="34" charset="0"/>
              </a:rPr>
              <a:t> Includes Life (EWL 3:1) </a:t>
            </a:r>
            <a:r>
              <a:rPr lang="en-US" sz="1200" kern="1200" err="1">
                <a:solidFill>
                  <a:schemeClr val="tx1"/>
                </a:solidFill>
                <a:effectLst/>
                <a:latin typeface="Arial" panose="020B0604020202020204" pitchFamily="34" charset="0"/>
                <a:ea typeface="+mn-ea"/>
                <a:cs typeface="Arial" panose="020B0604020202020204" pitchFamily="34" charset="0"/>
              </a:rPr>
              <a:t>LTCi</a:t>
            </a:r>
            <a:r>
              <a:rPr lang="en-US" sz="1200" kern="1200">
                <a:solidFill>
                  <a:schemeClr val="tx1"/>
                </a:solidFill>
                <a:effectLst/>
                <a:latin typeface="Arial" panose="020B0604020202020204" pitchFamily="34" charset="0"/>
                <a:ea typeface="+mn-ea"/>
                <a:cs typeface="Arial" panose="020B0604020202020204" pitchFamily="34" charset="0"/>
              </a:rPr>
              <a:t>, and DI. Excludes VUL/Market Wealth Plus, Annuity and COLI/BOLI products, DIOP and Group Insurance cases. </a:t>
            </a:r>
            <a:r>
              <a:rPr lang="en-US" sz="1200" kern="1200" err="1">
                <a:solidFill>
                  <a:schemeClr val="tx1"/>
                </a:solidFill>
                <a:effectLst/>
                <a:latin typeface="Arial" panose="020B0604020202020204" pitchFamily="34" charset="0"/>
                <a:ea typeface="+mn-ea"/>
                <a:cs typeface="Arial" panose="020B0604020202020204" pitchFamily="34" charset="0"/>
              </a:rPr>
              <a:t>LTCi</a:t>
            </a:r>
            <a:r>
              <a:rPr lang="en-US" sz="1200" kern="1200">
                <a:solidFill>
                  <a:schemeClr val="tx1"/>
                </a:solidFill>
                <a:effectLst/>
                <a:latin typeface="Arial" panose="020B0604020202020204" pitchFamily="34" charset="0"/>
                <a:ea typeface="+mn-ea"/>
                <a:cs typeface="Arial" panose="020B0604020202020204" pitchFamily="34" charset="0"/>
              </a:rPr>
              <a:t> excluded in Delaware State.</a:t>
            </a:r>
          </a:p>
          <a:p>
            <a:r>
              <a:rPr lang="en-US" b="1">
                <a:latin typeface="Arial" panose="020B0604020202020204" pitchFamily="34" charset="0"/>
                <a:cs typeface="Arial" panose="020B0604020202020204" pitchFamily="34" charset="0"/>
              </a:rPr>
              <a:t>=============================================================</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Executive Council Rocky Mountain Crocs™ Giveaway Experience – Open to 2026 Executive Council agent qualifiers.</a:t>
            </a:r>
          </a:p>
          <a:p>
            <a:endParaRPr lang="en-US">
              <a:latin typeface="Arial" panose="020B0604020202020204" pitchFamily="34" charset="0"/>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Compete with your Executive Council peers from July 1 through August 14. </a:t>
            </a:r>
          </a:p>
          <a:p>
            <a:endParaRPr lang="en-US" sz="1200" kern="1200">
              <a:solidFill>
                <a:schemeClr val="tx1"/>
              </a:solidFill>
              <a:effectLst/>
              <a:latin typeface="Arial" panose="020B0604020202020204" pitchFamily="34" charset="0"/>
              <a:ea typeface="+mn-ea"/>
              <a:cs typeface="Arial" panose="020B0604020202020204" pitchFamily="34" charset="0"/>
            </a:endParaRPr>
          </a:p>
          <a:p>
            <a:pPr marL="171450" indent="-171450">
              <a:buFont typeface="Arial" panose="020B0604020202020204" pitchFamily="34" charset="0"/>
              <a:buChar char="•"/>
            </a:pPr>
            <a:r>
              <a:rPr lang="en-US" sz="1200" kern="1200">
                <a:solidFill>
                  <a:schemeClr val="tx1"/>
                </a:solidFill>
                <a:effectLst/>
                <a:latin typeface="Arial" panose="020B0604020202020204" pitchFamily="34" charset="0"/>
                <a:ea typeface="+mn-ea"/>
                <a:cs typeface="Arial" panose="020B0604020202020204" pitchFamily="34" charset="0"/>
              </a:rPr>
              <a:t>Agents who finish in the </a:t>
            </a:r>
            <a:r>
              <a:rPr lang="en-US" sz="1200" b="1" kern="1200">
                <a:solidFill>
                  <a:schemeClr val="tx1"/>
                </a:solidFill>
                <a:effectLst/>
                <a:latin typeface="Arial" panose="020B0604020202020204" pitchFamily="34" charset="0"/>
                <a:ea typeface="+mn-ea"/>
                <a:cs typeface="Arial" panose="020B0604020202020204" pitchFamily="34" charset="0"/>
              </a:rPr>
              <a:t>top 200</a:t>
            </a:r>
            <a:r>
              <a:rPr lang="en-US" sz="1200" kern="1200">
                <a:solidFill>
                  <a:schemeClr val="tx1"/>
                </a:solidFill>
                <a:effectLst/>
                <a:latin typeface="Arial" panose="020B0604020202020204" pitchFamily="34" charset="0"/>
                <a:ea typeface="+mn-ea"/>
                <a:cs typeface="Arial" panose="020B0604020202020204" pitchFamily="34" charset="0"/>
              </a:rPr>
              <a:t> on the paid insurance solution cases leaderboard will qualify for an exclusive invitation for themselves and their registered guests to the Rocky Mountain Crocs Giveaway Experience at the Executive Council Meeting on Tuesday, August 25 in Denver, Colorado</a:t>
            </a:r>
          </a:p>
          <a:p>
            <a:pPr marL="171450" indent="-171450">
              <a:buFont typeface="Arial" panose="020B0604020202020204" pitchFamily="34" charset="0"/>
              <a:buChar char="•"/>
            </a:pPr>
            <a:r>
              <a:rPr lang="en-US" sz="1200" kern="1200">
                <a:solidFill>
                  <a:schemeClr val="tx1"/>
                </a:solidFill>
                <a:effectLst/>
                <a:latin typeface="Arial" panose="020B0604020202020204" pitchFamily="34" charset="0"/>
                <a:ea typeface="+mn-ea"/>
                <a:cs typeface="Arial" panose="020B0604020202020204" pitchFamily="34" charset="0"/>
              </a:rPr>
              <a:t>Incentive-eligible solutions Include: Life (EWL 3:1) </a:t>
            </a:r>
            <a:r>
              <a:rPr lang="en-US" sz="1200" kern="1200" err="1">
                <a:solidFill>
                  <a:schemeClr val="tx1"/>
                </a:solidFill>
                <a:effectLst/>
                <a:latin typeface="Arial" panose="020B0604020202020204" pitchFamily="34" charset="0"/>
                <a:ea typeface="+mn-ea"/>
                <a:cs typeface="Arial" panose="020B0604020202020204" pitchFamily="34" charset="0"/>
              </a:rPr>
              <a:t>LTCi</a:t>
            </a:r>
            <a:r>
              <a:rPr lang="en-US" sz="1200" kern="1200">
                <a:solidFill>
                  <a:schemeClr val="tx1"/>
                </a:solidFill>
                <a:effectLst/>
                <a:latin typeface="Arial" panose="020B0604020202020204" pitchFamily="34" charset="0"/>
                <a:ea typeface="+mn-ea"/>
                <a:cs typeface="Arial" panose="020B0604020202020204" pitchFamily="34" charset="0"/>
              </a:rPr>
              <a:t>, and DI cases paid between July 1 and August 14.</a:t>
            </a:r>
          </a:p>
          <a:p>
            <a:pPr marL="628650" lvl="1" indent="-171450">
              <a:buFont typeface="Arial" panose="020B0604020202020204" pitchFamily="34" charset="0"/>
              <a:buChar char="•"/>
            </a:pPr>
            <a:r>
              <a:rPr lang="en-US" sz="1200" kern="1200">
                <a:solidFill>
                  <a:schemeClr val="tx1"/>
                </a:solidFill>
                <a:effectLst/>
                <a:latin typeface="Arial" panose="020B0604020202020204" pitchFamily="34" charset="0"/>
                <a:ea typeface="+mn-ea"/>
                <a:cs typeface="Arial" panose="020B0604020202020204" pitchFamily="34" charset="0"/>
              </a:rPr>
              <a:t>Excludes: annuities, VUL/Market Wealth Plus and DIOP. </a:t>
            </a:r>
            <a:r>
              <a:rPr lang="en-US" sz="1200" kern="1200" err="1">
                <a:solidFill>
                  <a:schemeClr val="tx1"/>
                </a:solidFill>
                <a:effectLst/>
                <a:latin typeface="Arial" panose="020B0604020202020204" pitchFamily="34" charset="0"/>
                <a:ea typeface="+mn-ea"/>
                <a:cs typeface="Arial" panose="020B0604020202020204" pitchFamily="34" charset="0"/>
              </a:rPr>
              <a:t>LTCi</a:t>
            </a:r>
            <a:r>
              <a:rPr lang="en-US" sz="1200" kern="1200">
                <a:solidFill>
                  <a:schemeClr val="tx1"/>
                </a:solidFill>
                <a:effectLst/>
                <a:latin typeface="Arial" panose="020B0604020202020204" pitchFamily="34" charset="0"/>
                <a:ea typeface="+mn-ea"/>
                <a:cs typeface="Arial" panose="020B0604020202020204" pitchFamily="34" charset="0"/>
              </a:rPr>
              <a:t> excluded in Delaware State.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The experience encompasses your choice of one complimentary Crocs bag, either a tote or backpack, a custom New York Life </a:t>
            </a:r>
            <a:r>
              <a:rPr lang="en-US" sz="1200" kern="1200" err="1">
                <a:solidFill>
                  <a:schemeClr val="tx1"/>
                </a:solidFill>
                <a:effectLst/>
                <a:latin typeface="Arial" panose="020B0604020202020204" pitchFamily="34" charset="0"/>
                <a:ea typeface="+mn-ea"/>
                <a:cs typeface="Arial" panose="020B0604020202020204" pitchFamily="34" charset="0"/>
              </a:rPr>
              <a:t>Jibbitz</a:t>
            </a:r>
            <a:r>
              <a:rPr lang="en-US" sz="1200" kern="1200">
                <a:solidFill>
                  <a:schemeClr val="tx1"/>
                </a:solidFill>
                <a:effectLst/>
                <a:latin typeface="Arial" panose="020B0604020202020204" pitchFamily="34" charset="0"/>
                <a:ea typeface="+mn-ea"/>
                <a:cs typeface="Arial" panose="020B0604020202020204" pitchFamily="34" charset="0"/>
              </a:rPr>
              <a:t> charm, and two additional charms selected from the </a:t>
            </a:r>
            <a:r>
              <a:rPr lang="en-US" sz="1200" kern="1200" err="1">
                <a:solidFill>
                  <a:schemeClr val="tx1"/>
                </a:solidFill>
                <a:effectLst/>
                <a:latin typeface="Arial" panose="020B0604020202020204" pitchFamily="34" charset="0"/>
                <a:ea typeface="+mn-ea"/>
                <a:cs typeface="Arial" panose="020B0604020202020204" pitchFamily="34" charset="0"/>
              </a:rPr>
              <a:t>Jibbitz</a:t>
            </a:r>
            <a:r>
              <a:rPr lang="en-US" sz="1200" kern="1200">
                <a:solidFill>
                  <a:schemeClr val="tx1"/>
                </a:solidFill>
                <a:effectLst/>
                <a:latin typeface="Arial" panose="020B0604020202020204" pitchFamily="34" charset="0"/>
                <a:ea typeface="+mn-ea"/>
                <a:cs typeface="Arial" panose="020B0604020202020204" pitchFamily="34" charset="0"/>
              </a:rPr>
              <a:t> Bar. Registered guest are invited to participate in the experience.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Qualifying agents must attend the Executive Council Meeting to patriciate.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a:t>
            </a:r>
            <a:r>
              <a:rPr lang="en-US">
                <a:latin typeface="Arial" panose="020B0604020202020204" pitchFamily="34" charset="0"/>
                <a:cs typeface="Arial" panose="020B0604020202020204" pitchFamily="34" charset="0"/>
              </a:rPr>
              <a:t> https://www.today.newyorklife.com/agencyportal/s/article/Council-Perks-Executive-Council-Rocky-Mountain-Crocs-Giveaway-Experience</a:t>
            </a:r>
          </a:p>
          <a:p>
            <a:endParaRPr lang="en-US" sz="12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1211B-354B-4A5F-BC13-DB9175AC324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2441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30000">
                <a:solidFill>
                  <a:schemeClr val="tx1"/>
                </a:solidFill>
                <a:effectLst/>
                <a:latin typeface="Arial" panose="020B0604020202020204" pitchFamily="34" charset="0"/>
                <a:ea typeface="+mn-ea"/>
                <a:cs typeface="Arial" panose="020B0604020202020204" pitchFamily="34" charset="0"/>
              </a:rPr>
              <a:t>1</a:t>
            </a:r>
            <a:r>
              <a:rPr lang="en-US" sz="1200" kern="1200">
                <a:solidFill>
                  <a:schemeClr val="tx1"/>
                </a:solidFill>
                <a:effectLst/>
                <a:latin typeface="Arial" panose="020B0604020202020204" pitchFamily="34" charset="0"/>
                <a:ea typeface="+mn-ea"/>
                <a:cs typeface="Arial" panose="020B0604020202020204" pitchFamily="34" charset="0"/>
              </a:rPr>
              <a:t> Includes Life, </a:t>
            </a:r>
            <a:r>
              <a:rPr lang="en-US" sz="1200" kern="1200" err="1">
                <a:solidFill>
                  <a:schemeClr val="tx1"/>
                </a:solidFill>
                <a:effectLst/>
                <a:latin typeface="Arial" panose="020B0604020202020204" pitchFamily="34" charset="0"/>
                <a:ea typeface="+mn-ea"/>
                <a:cs typeface="Arial" panose="020B0604020202020204" pitchFamily="34" charset="0"/>
              </a:rPr>
              <a:t>LTCi</a:t>
            </a:r>
            <a:r>
              <a:rPr lang="en-US" sz="1200" kern="1200">
                <a:solidFill>
                  <a:schemeClr val="tx1"/>
                </a:solidFill>
                <a:effectLst/>
                <a:latin typeface="Arial" panose="020B0604020202020204" pitchFamily="34" charset="0"/>
                <a:ea typeface="+mn-ea"/>
                <a:cs typeface="Arial" panose="020B0604020202020204" pitchFamily="34" charset="0"/>
              </a:rPr>
              <a:t>, and DI. Recurring base premium and riders are calculated at 100%; OPP and single premium policies are calculated at 10%. Excludes premium from Annuity and COLI/BOLI products, DIOP and Group Insurance cases and LTC in DE state.</a:t>
            </a:r>
          </a:p>
          <a:p>
            <a:r>
              <a:rPr lang="en-US" sz="1200" kern="1200" baseline="30000">
                <a:solidFill>
                  <a:schemeClr val="tx1"/>
                </a:solidFill>
                <a:effectLst/>
                <a:latin typeface="Arial" panose="020B0604020202020204" pitchFamily="34" charset="0"/>
                <a:ea typeface="+mn-ea"/>
                <a:cs typeface="Arial" panose="020B0604020202020204" pitchFamily="34" charset="0"/>
              </a:rPr>
              <a:t>2 </a:t>
            </a:r>
            <a:r>
              <a:rPr lang="en-US" sz="1200" kern="1200">
                <a:solidFill>
                  <a:schemeClr val="tx1"/>
                </a:solidFill>
                <a:effectLst/>
                <a:latin typeface="Arial" panose="020B0604020202020204" pitchFamily="34" charset="0"/>
                <a:ea typeface="+mn-ea"/>
                <a:cs typeface="Arial" panose="020B0604020202020204" pitchFamily="34" charset="0"/>
              </a:rPr>
              <a:t>$300 retail credit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Arial" panose="020B0604020202020204" pitchFamily="34" charset="0"/>
                <a:ea typeface="+mn-ea"/>
                <a:cs typeface="Arial" panose="020B0604020202020204" pitchFamily="34" charset="0"/>
              </a:rPr>
              <a:t>President's Council Beachfront Boutique Experience – Open to 2026 President’s Council agent qualifiers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Compete with your President’s Council peers during the Third Quarter of 2026 (July 1 –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effectLst/>
                <a:latin typeface="Arial" panose="020B0604020202020204" pitchFamily="34" charset="0"/>
                <a:ea typeface="+mn-ea"/>
                <a:cs typeface="Arial" panose="020B0604020202020204" pitchFamily="34" charset="0"/>
              </a:rPr>
              <a:t>Agents who finish in the 100 on the 3Q paid insurance solution </a:t>
            </a:r>
            <a:r>
              <a:rPr lang="en-US" sz="1200" b="0">
                <a:solidFill>
                  <a:schemeClr val="bg1"/>
                </a:solidFill>
                <a:latin typeface="Arial" panose="020B0604020202020204" pitchFamily="34" charset="0"/>
                <a:cs typeface="Arial" panose="020B0604020202020204" pitchFamily="34" charset="0"/>
              </a:rPr>
              <a:t>premium leaderboard will qualify to receive a retail credit to spend at a private New York Life shopping event at the President’s Council meeting on October 6 &amp; 7.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bg1"/>
                </a:solidFill>
                <a:latin typeface="Arial" panose="020B0604020202020204" pitchFamily="34" charset="0"/>
                <a:cs typeface="Arial" panose="020B0604020202020204" pitchFamily="34" charset="0"/>
              </a:rPr>
              <a:t>The top 10 will also qualify for a premium chickee hut rental on October 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panose="020B0604020202020204" pitchFamily="34" charset="0"/>
                <a:cs typeface="Arial" panose="020B0604020202020204" pitchFamily="34" charset="0"/>
              </a:rPr>
              <a:t>Includes Life, </a:t>
            </a:r>
            <a:r>
              <a:rPr lang="en-US" sz="1200" err="1">
                <a:latin typeface="Arial" panose="020B0604020202020204" pitchFamily="34" charset="0"/>
                <a:cs typeface="Arial" panose="020B0604020202020204" pitchFamily="34" charset="0"/>
              </a:rPr>
              <a:t>LTCi</a:t>
            </a:r>
            <a:r>
              <a:rPr lang="en-US" sz="1200">
                <a:latin typeface="Arial" panose="020B0604020202020204" pitchFamily="34" charset="0"/>
                <a:cs typeface="Arial" panose="020B0604020202020204" pitchFamily="34" charset="0"/>
              </a:rPr>
              <a:t>, and DI. Recurring base premium and riders are calculated at 100%; OPP and single premium policies are calculated at 10%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panose="020B0604020202020204" pitchFamily="34" charset="0"/>
                <a:cs typeface="Arial" panose="020B0604020202020204" pitchFamily="34" charset="0"/>
              </a:rPr>
              <a:t>Excludes premium from Annuity and COLI/BOLI products, DIOP and Group Insurance cases and LTC in DE state.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effectLst/>
                <a:latin typeface="Arial" panose="020B0604020202020204" pitchFamily="34" charset="0"/>
                <a:ea typeface="+mn-ea"/>
                <a:cs typeface="Arial" panose="020B0604020202020204" pitchFamily="34" charset="0"/>
              </a:rPr>
              <a:t>Agents must be </a:t>
            </a:r>
            <a:r>
              <a:rPr lang="en-US" sz="1200" b="0" kern="1200" err="1">
                <a:solidFill>
                  <a:schemeClr val="tx1"/>
                </a:solidFill>
                <a:effectLst/>
                <a:latin typeface="Arial" panose="020B0604020202020204" pitchFamily="34" charset="0"/>
                <a:ea typeface="+mn-ea"/>
                <a:cs typeface="Arial" panose="020B0604020202020204" pitchFamily="34" charset="0"/>
              </a:rPr>
              <a:t>prorata</a:t>
            </a:r>
            <a:r>
              <a:rPr lang="en-US" sz="1200" b="0" kern="1200">
                <a:solidFill>
                  <a:schemeClr val="tx1"/>
                </a:solidFill>
                <a:effectLst/>
                <a:latin typeface="Arial" panose="020B0604020202020204" pitchFamily="34" charset="0"/>
                <a:ea typeface="+mn-ea"/>
                <a:cs typeface="Arial" panose="020B0604020202020204" pitchFamily="34" charset="0"/>
              </a:rPr>
              <a:t> proactive by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experience encompasses an elevated retail shopping event with a $300 retail credit,  complete with refreshments and private access to the resort's premier ladies and gentlemen’s boutiques, </a:t>
            </a:r>
            <a:r>
              <a:rPr lang="en-US" sz="1200" b="1" kern="1200">
                <a:solidFill>
                  <a:schemeClr val="tx1"/>
                </a:solidFill>
                <a:effectLst/>
                <a:latin typeface="Arial" panose="020B0604020202020204" pitchFamily="34" charset="0"/>
                <a:ea typeface="+mn-ea"/>
                <a:cs typeface="Arial" panose="020B0604020202020204" pitchFamily="34" charset="0"/>
              </a:rPr>
              <a:t>Sweet Waters</a:t>
            </a:r>
            <a:r>
              <a:rPr lang="en-US" sz="1200" kern="1200">
                <a:solidFill>
                  <a:schemeClr val="tx1"/>
                </a:solidFill>
                <a:effectLst/>
                <a:latin typeface="Arial" panose="020B0604020202020204" pitchFamily="34" charset="0"/>
                <a:ea typeface="+mn-ea"/>
                <a:cs typeface="Arial" panose="020B0604020202020204" pitchFamily="34" charset="0"/>
              </a:rPr>
              <a:t> and </a:t>
            </a:r>
            <a:r>
              <a:rPr lang="en-US" sz="1200" b="1" kern="1200">
                <a:solidFill>
                  <a:schemeClr val="tx1"/>
                </a:solidFill>
                <a:effectLst/>
                <a:latin typeface="Arial" panose="020B0604020202020204" pitchFamily="34" charset="0"/>
                <a:ea typeface="+mn-ea"/>
                <a:cs typeface="Arial" panose="020B0604020202020204" pitchFamily="34" charset="0"/>
              </a:rPr>
              <a:t>Cross Winds</a:t>
            </a:r>
            <a:r>
              <a:rPr lang="en-US" sz="1200" kern="1200">
                <a:solidFill>
                  <a:schemeClr val="tx1"/>
                </a:solidFill>
                <a:effectLst/>
                <a:latin typeface="Arial" panose="020B0604020202020204" pitchFamily="34" charset="0"/>
                <a:ea typeface="+mn-ea"/>
                <a:cs typeface="Arial" panose="020B0604020202020204" pitchFamily="34" charset="0"/>
              </a:rPr>
              <a:t>. Browse stylish women's apparel, swimwear, and accessories from brands such as </a:t>
            </a:r>
            <a:r>
              <a:rPr lang="en-US" sz="1200" b="1" kern="1200">
                <a:solidFill>
                  <a:schemeClr val="tx1"/>
                </a:solidFill>
                <a:effectLst/>
                <a:latin typeface="Arial" panose="020B0604020202020204" pitchFamily="34" charset="0"/>
                <a:ea typeface="+mn-ea"/>
                <a:cs typeface="Arial" panose="020B0604020202020204" pitchFamily="34" charset="0"/>
              </a:rPr>
              <a:t>Lilly Pulitzer</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lululemon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Versace</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Gucci</a:t>
            </a:r>
            <a:r>
              <a:rPr lang="en-US" sz="1200" kern="1200">
                <a:solidFill>
                  <a:schemeClr val="tx1"/>
                </a:solidFill>
                <a:effectLst/>
                <a:latin typeface="Arial" panose="020B0604020202020204" pitchFamily="34" charset="0"/>
                <a:ea typeface="+mn-ea"/>
                <a:cs typeface="Arial" panose="020B0604020202020204" pitchFamily="34" charset="0"/>
              </a:rPr>
              <a:t>®, or explore the latest men's fashion and accessories from designers including </a:t>
            </a:r>
            <a:r>
              <a:rPr lang="en-US" sz="1200" b="1" kern="1200">
                <a:solidFill>
                  <a:schemeClr val="tx1"/>
                </a:solidFill>
                <a:effectLst/>
                <a:latin typeface="Arial" panose="020B0604020202020204" pitchFamily="34" charset="0"/>
                <a:ea typeface="+mn-ea"/>
                <a:cs typeface="Arial" panose="020B0604020202020204" pitchFamily="34" charset="0"/>
              </a:rPr>
              <a:t>BUGATCHI</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Tommy Bahama</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Maui Jim</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Ray-Ban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lululemon</a:t>
            </a:r>
            <a:r>
              <a:rPr lang="en-US" sz="1200" kern="1200">
                <a:solidFill>
                  <a:schemeClr val="tx1"/>
                </a:solidFill>
                <a:effectLst/>
                <a:latin typeface="Arial" panose="020B0604020202020204" pitchFamily="34" charset="0"/>
                <a:ea typeface="+mn-ea"/>
                <a:cs typeface="Arial" panose="020B0604020202020204" pitchFamily="34" charset="0"/>
              </a:rPr>
              <a:t>®. Personal shoppers will also be available to help agents make the most of their experience.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top 10 leaderboard agents will also qualify for a premium chickee hut rental on the JW Marriott’s breathtaking beach on Wednesday, October 7. This Balinese-inspired shaded retreat accommodates up to six guests and is ideally located between the beach and pool. Rental includes a queen daybed, chairs, and towel service.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Qualifying agents must attend the President’s Council Meeting to receive the retail credit and chickee hut rental.</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a:t>
            </a:r>
            <a:r>
              <a:rPr lang="en-US">
                <a:latin typeface="Arial" panose="020B0604020202020204" pitchFamily="34" charset="0"/>
                <a:cs typeface="Arial" panose="020B0604020202020204" pitchFamily="34" charset="0"/>
              </a:rPr>
              <a:t> https://www.today.newyorklife.com/agencyportal/s/article/Council-Perks-President-s-Council-Beachfront-Boutique-Experience</a:t>
            </a:r>
          </a:p>
          <a:p>
            <a:endParaRPr lang="en-US">
              <a:latin typeface="Arial" panose="020B0604020202020204" pitchFamily="34" charset="0"/>
              <a:cs typeface="Arial" panose="020B0604020202020204" pitchFamily="34" charset="0"/>
            </a:endParaRPr>
          </a:p>
          <a:p>
            <a:endParaRPr lang="en-US" sz="1200" kern="1200">
              <a:solidFill>
                <a:schemeClr val="tx1"/>
              </a:solidFill>
              <a:effectLst/>
              <a:latin typeface="Arial" panose="020B0604020202020204" pitchFamily="34" charset="0"/>
              <a:ea typeface="+mn-ea"/>
              <a:cs typeface="Arial" panose="020B0604020202020204" pitchFamily="34" charset="0"/>
            </a:endParaRPr>
          </a:p>
          <a:p>
            <a:endParaRPr lang="en-US" sz="1200" kern="1200">
              <a:solidFill>
                <a:schemeClr val="tx1"/>
              </a:solidFill>
              <a:effectLst/>
              <a:latin typeface="Arial" panose="020B0604020202020204" pitchFamily="34" charset="0"/>
              <a:ea typeface="+mn-ea"/>
              <a:cs typeface="Arial" panose="020B0604020202020204" pitchFamily="34" charset="0"/>
            </a:endParaRPr>
          </a:p>
          <a:p>
            <a:endParaRPr lang="en-US" sz="1200" kern="1200">
              <a:solidFill>
                <a:schemeClr val="tx1"/>
              </a:solidFill>
              <a:effectLst/>
              <a:latin typeface="Arial" panose="020B0604020202020204" pitchFamily="34" charset="0"/>
              <a:ea typeface="+mn-ea"/>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1211B-354B-4A5F-BC13-DB9175AC324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2940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Contact: </a:t>
            </a:r>
            <a:r>
              <a:rPr lang="en-US">
                <a:latin typeface="Arial" panose="020B0604020202020204" pitchFamily="34" charset="0"/>
                <a:cs typeface="Arial" panose="020B0604020202020204" pitchFamily="34" charset="0"/>
              </a:rPr>
              <a:t>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 </a:t>
            </a:r>
            <a:r>
              <a:rPr lang="en-US">
                <a:latin typeface="Arial" panose="020B0604020202020204" pitchFamily="34" charset="0"/>
                <a:cs typeface="Arial" panose="020B0604020202020204" pitchFamily="34" charset="0"/>
              </a:rPr>
              <a:t>https://www.today.newyorklife.com/agencyportal/s/article/Awards-Your-Way</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815E9C-585E-44A1-B44A-2D99FF74EE6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4756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latin typeface="Arial" panose="020B0604020202020204" pitchFamily="34" charset="0"/>
                <a:cs typeface="Arial" panose="020B0604020202020204" pitchFamily="34" charset="0"/>
              </a:rPr>
              <a:t>Cash bonuses are credited as part of the L&amp;A Expense Allowance Plan (EAP) and subject to Conditional Check. In some instances, cash bonuses may be withheld when an agent has reached the maximum legal allowance under the Conditional Check formula. For more information, see Life and Annuity Expense Allowance Plan on Info Central. </a:t>
            </a:r>
          </a:p>
          <a:p>
            <a:r>
              <a:rPr lang="en-US" sz="1000">
                <a:latin typeface="Arial" panose="020B0604020202020204" pitchFamily="34" charset="0"/>
                <a:cs typeface="Arial" panose="020B0604020202020204" pitchFamily="34" charset="0"/>
              </a:rPr>
              <a:t>TAS agents on the Allowance Builder XP TAS Plan in GOs located in AZ, CA, IL, IA, MT, NV, NH, ND, and SD who are not eligible to enroll in EAP may be eligible for a cash bonus as a one-time payment through TAS, subject to TAS limits. </a:t>
            </a:r>
          </a:p>
          <a:p>
            <a:endParaRPr lang="en-US" sz="1000">
              <a:latin typeface="Arial" panose="020B0604020202020204" pitchFamily="34" charset="0"/>
              <a:cs typeface="Arial" panose="020B0604020202020204" pitchFamily="34" charset="0"/>
            </a:endParaRPr>
          </a:p>
          <a:p>
            <a:endParaRPr lang="en-US" sz="1000">
              <a:latin typeface="Arial" panose="020B0604020202020204" pitchFamily="34" charset="0"/>
              <a:cs typeface="Arial" panose="020B0604020202020204" pitchFamily="34" charset="0"/>
            </a:endParaRPr>
          </a:p>
          <a:p>
            <a:r>
              <a:rPr lang="en-US" sz="1000" b="1">
                <a:latin typeface="Arial" panose="020B0604020202020204" pitchFamily="34" charset="0"/>
                <a:cs typeface="Arial" panose="020B0604020202020204" pitchFamily="34" charset="0"/>
              </a:rPr>
              <a:t>Contact:</a:t>
            </a:r>
            <a:r>
              <a:rPr lang="en-US" sz="1000">
                <a:latin typeface="Arial" panose="020B0604020202020204" pitchFamily="34" charset="0"/>
                <a:cs typeface="Arial" panose="020B0604020202020204" pitchFamily="34" charset="0"/>
              </a:rPr>
              <a:t> PLAN@newyorklife.com</a:t>
            </a:r>
          </a:p>
          <a:p>
            <a:endParaRPr lang="en-US" sz="1000">
              <a:latin typeface="Arial" panose="020B0604020202020204" pitchFamily="34" charset="0"/>
              <a:cs typeface="Arial" panose="020B0604020202020204" pitchFamily="34" charset="0"/>
            </a:endParaRPr>
          </a:p>
          <a:p>
            <a:r>
              <a:rPr lang="en-US" sz="1000" b="1">
                <a:latin typeface="Arial" panose="020B0604020202020204" pitchFamily="34" charset="0"/>
                <a:cs typeface="Arial" panose="020B0604020202020204" pitchFamily="34" charset="0"/>
              </a:rPr>
              <a:t>Info Central Page:</a:t>
            </a:r>
            <a:r>
              <a:rPr lang="en-US" sz="1000">
                <a:latin typeface="Arial" panose="020B0604020202020204" pitchFamily="34" charset="0"/>
                <a:cs typeface="Arial" panose="020B0604020202020204" pitchFamily="34" charset="0"/>
              </a:rPr>
              <a:t> https://www.today.newyorklife.com/agencyportal/s/article/EWL-Momentum-Maker</a:t>
            </a:r>
          </a:p>
          <a:p>
            <a:endParaRPr lang="en-US" sz="1000">
              <a:latin typeface="Arial" panose="020B0604020202020204" pitchFamily="34" charset="0"/>
              <a:cs typeface="Arial" panose="020B0604020202020204" pitchFamily="34" charset="0"/>
            </a:endParaRPr>
          </a:p>
          <a:p>
            <a:endParaRPr lang="en-US" sz="100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1211B-354B-4A5F-BC13-DB9175AC324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95804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3Q 2026 Registered Rep </a:t>
            </a:r>
            <a:r>
              <a:rPr lang="en-US" b="1" err="1">
                <a:latin typeface="Arial" panose="020B0604020202020204" pitchFamily="34" charset="0"/>
                <a:cs typeface="Arial" panose="020B0604020202020204" pitchFamily="34" charset="0"/>
              </a:rPr>
              <a:t>MasterClass</a:t>
            </a:r>
            <a:r>
              <a:rPr lang="en-US" b="1">
                <a:latin typeface="Arial" panose="020B0604020202020204" pitchFamily="34" charset="0"/>
                <a:cs typeface="Arial" panose="020B0604020202020204" pitchFamily="34" charset="0"/>
              </a:rPr>
              <a:t> </a:t>
            </a:r>
          </a:p>
          <a:p>
            <a:endParaRPr lang="en-US" b="1">
              <a:latin typeface="Arial" panose="020B0604020202020204" pitchFamily="34" charset="0"/>
              <a:cs typeface="Arial" panose="020B0604020202020204" pitchFamily="34" charset="0"/>
            </a:endParaRPr>
          </a:p>
          <a:p>
            <a:r>
              <a:rPr lang="en-US" b="0">
                <a:latin typeface="Arial" panose="020B0604020202020204" pitchFamily="34" charset="0"/>
                <a:cs typeface="Arial" panose="020B0604020202020204" pitchFamily="34" charset="0"/>
              </a:rPr>
              <a:t>Starting Tuesday July 14 at 3pm EST running for 10 weeks</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Contact: </a:t>
            </a:r>
            <a:r>
              <a:rPr lang="en-US" b="0">
                <a:latin typeface="Arial" panose="020B0604020202020204" pitchFamily="34" charset="0"/>
                <a:cs typeface="Arial" panose="020B0604020202020204" pitchFamily="34" charset="0"/>
              </a:rPr>
              <a:t>PLAN@newyorklife.com</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https://nylife.zoom.us/webinar/register/WN_Wm0kOIhQTUG-ZypKnrJrVQ#/registration</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39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3Q Life Fundamentals Series</a:t>
            </a:r>
          </a:p>
          <a:p>
            <a:endParaRPr lang="en-US" b="1">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The 3Q Life Fundamentals Series is a seven-session program designed to build confidence and strengthen foundational life insurance knowledge. Sessions are held every </a:t>
            </a:r>
            <a:r>
              <a:rPr lang="en-US" b="1">
                <a:latin typeface="Arial" panose="020B0604020202020204" pitchFamily="34" charset="0"/>
                <a:cs typeface="Arial" panose="020B0604020202020204" pitchFamily="34" charset="0"/>
              </a:rPr>
              <a:t>Tuesday at 1:00 PM ET </a:t>
            </a:r>
            <a:r>
              <a:rPr lang="en-US">
                <a:latin typeface="Arial" panose="020B0604020202020204" pitchFamily="34" charset="0"/>
                <a:cs typeface="Arial" panose="020B0604020202020204" pitchFamily="34" charset="0"/>
              </a:rPr>
              <a:t>and cover key product concepts, sales strategies, and practical applications across the life insurance portfolio.</a:t>
            </a: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Led by product experts, the series is open to agents and managers looking to expand their product expertise and enhance client conversations. Each session is 60 minutes, and registration is available through the QR code.</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https://nylife.zoom.us/webinar/register/WN_4__InmH2QIqT5801tAJuKg</a:t>
            </a: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39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9AF62-4C01-6225-9E63-076FA34C0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BD9A9-B96A-FDC3-DD6A-1D8CFA76111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A5C67A-0C05-F2EF-138D-FF9795384BC3}"/>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Chinese Market Monthly SIE Study Group Sessions</a:t>
            </a:r>
          </a:p>
          <a:p>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Chinese Market will conduct a series of SIE tutorial sessions based on STC study material. All sessions will be conducted primarily in Mandarin Chinese and English. </a:t>
            </a:r>
          </a:p>
          <a:p>
            <a:endParaRPr lang="en-US" sz="1200" b="1"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Contact: </a:t>
            </a:r>
            <a:r>
              <a:rPr lang="en-US" sz="1200" kern="1200">
                <a:solidFill>
                  <a:schemeClr val="tx1"/>
                </a:solidFill>
                <a:effectLst/>
                <a:latin typeface="+mn-lt"/>
                <a:ea typeface="Geneva" charset="0"/>
                <a:cs typeface="Geneva" charset="0"/>
              </a:rPr>
              <a:t>targetmarkets@newyorklife.com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Geneva" charset="0"/>
                <a:cs typeface="+mn-cs"/>
              </a:rPr>
              <a:t>Register: </a:t>
            </a:r>
            <a:r>
              <a:rPr lang="en-US" sz="1200" b="0" i="0" kern="1200">
                <a:solidFill>
                  <a:schemeClr val="tx1"/>
                </a:solidFill>
                <a:effectLst/>
                <a:latin typeface="+mn-lt"/>
                <a:ea typeface="Geneva" charset="0"/>
                <a:cs typeface="+mn-cs"/>
              </a:rPr>
              <a:t>https://nylife.zoom.us/meeting/register/a4UI1WqPQOKCBm1JCZqQoA</a:t>
            </a: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ea typeface="Calibri"/>
                <a:cs typeface="Calibri"/>
              </a:rPr>
              <a:t>Submitted by: John Macchia</a:t>
            </a:r>
          </a:p>
        </p:txBody>
      </p:sp>
      <p:sp>
        <p:nvSpPr>
          <p:cNvPr id="4" name="Slide Number Placeholder 3">
            <a:extLst>
              <a:ext uri="{FF2B5EF4-FFF2-40B4-BE49-F238E27FC236}">
                <a16:creationId xmlns:a16="http://schemas.microsoft.com/office/drawing/2014/main" id="{F26BD2AB-ADF2-D960-CEE5-71A14777A9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F9CFDD-3617-F247-94E7-B6D03232F67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353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B1E7F-F44E-6E9F-0796-F335E29CC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30E04-514A-4FF5-01BF-68F9FC9EE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7E25CE-4525-FF5A-2F98-D9F0E8B4A207}"/>
              </a:ext>
            </a:extLst>
          </p:cNvPr>
          <p:cNvSpPr>
            <a:spLocks noGrp="1"/>
          </p:cNvSpPr>
          <p:nvPr>
            <p:ph type="body" idx="1"/>
          </p:nvPr>
        </p:nvSpPr>
        <p:spPr/>
        <p:txBody>
          <a:bodyPr/>
          <a:lstStyle/>
          <a:p>
            <a:r>
              <a:rPr lang="en-US" b="1"/>
              <a:t>NYLIFE Securities Essentials webinar: “Introduction to </a:t>
            </a:r>
            <a:r>
              <a:rPr lang="en-US" b="1" err="1"/>
              <a:t>Wealthscape</a:t>
            </a:r>
            <a:r>
              <a:rPr lang="en-US" b="1"/>
              <a:t>”</a:t>
            </a:r>
            <a:endParaRPr lang="en-US">
              <a:solidFill>
                <a:srgbClr val="444444"/>
              </a:solidFill>
            </a:endParaRPr>
          </a:p>
          <a:p>
            <a:pPr>
              <a:lnSpc>
                <a:spcPct val="90000"/>
              </a:lnSpc>
              <a:spcBef>
                <a:spcPts val="1000"/>
              </a:spcBef>
            </a:pPr>
            <a:endParaRPr lang="en-US">
              <a:solidFill>
                <a:srgbClr val="444444"/>
              </a:solidFill>
            </a:endParaRPr>
          </a:p>
          <a:p>
            <a:pPr>
              <a:lnSpc>
                <a:spcPct val="90000"/>
              </a:lnSpc>
              <a:spcBef>
                <a:spcPts val="1000"/>
              </a:spcBef>
            </a:pPr>
            <a:r>
              <a:rPr lang="en-US">
                <a:solidFill>
                  <a:srgbClr val="000962"/>
                </a:solidFill>
              </a:rPr>
              <a:t>Join Product experts to earn how to navigate </a:t>
            </a:r>
            <a:r>
              <a:rPr lang="en-US" err="1">
                <a:solidFill>
                  <a:srgbClr val="000962"/>
                </a:solidFill>
              </a:rPr>
              <a:t>Wealthscape's</a:t>
            </a:r>
            <a:r>
              <a:rPr lang="en-US">
                <a:solidFill>
                  <a:srgbClr val="000962"/>
                </a:solidFill>
              </a:rPr>
              <a:t> basic features and tools to effectively service your clients’ brokerage accounts.   </a:t>
            </a:r>
            <a:endParaRPr lang="en-US">
              <a:solidFill>
                <a:srgbClr val="444444"/>
              </a:solidFill>
            </a:endParaRPr>
          </a:p>
          <a:p>
            <a:endParaRPr lang="en-US">
              <a:solidFill>
                <a:srgbClr val="444444"/>
              </a:solidFill>
            </a:endParaRPr>
          </a:p>
          <a:p>
            <a:r>
              <a:rPr lang="en-US">
                <a:solidFill>
                  <a:srgbClr val="ED7D31"/>
                </a:solidFill>
              </a:rPr>
              <a:t>All agents welcome and webinar replay included.</a:t>
            </a:r>
            <a:endParaRPr lang="en-US">
              <a:solidFill>
                <a:srgbClr val="444444"/>
              </a:solidFill>
            </a:endParaRPr>
          </a:p>
          <a:p>
            <a:endParaRPr lang="en-US">
              <a:solidFill>
                <a:srgbClr val="444444"/>
              </a:solidFill>
            </a:endParaRPr>
          </a:p>
          <a:p>
            <a:r>
              <a:rPr lang="en-US" b="1"/>
              <a:t>Wed., July 15th, 2-3pm ET</a:t>
            </a:r>
            <a:endParaRPr lang="en-US">
              <a:solidFill>
                <a:srgbClr val="444444"/>
              </a:solidFill>
            </a:endParaRPr>
          </a:p>
          <a:p>
            <a:endParaRPr lang="en-US">
              <a:solidFill>
                <a:srgbClr val="444444"/>
              </a:solidFill>
            </a:endParaRPr>
          </a:p>
          <a:p>
            <a:r>
              <a:rPr lang="en-US" b="1"/>
              <a:t>Register Here:</a:t>
            </a:r>
            <a:endParaRPr lang="en-US">
              <a:solidFill>
                <a:srgbClr val="444444"/>
              </a:solidFill>
            </a:endParaRPr>
          </a:p>
          <a:p>
            <a:endParaRPr lang="en-US">
              <a:solidFill>
                <a:srgbClr val="444444"/>
              </a:solidFill>
            </a:endParaRPr>
          </a:p>
          <a:p>
            <a:r>
              <a:rPr lang="en-US" b="1"/>
              <a:t>Contact:</a:t>
            </a:r>
            <a:r>
              <a:rPr lang="en-US"/>
              <a:t> </a:t>
            </a:r>
            <a:r>
              <a:rPr lang="en-US">
                <a:hlinkClick r:id="rId3"/>
              </a:rPr>
              <a:t>anna_m_fidz@newyorklife.com</a:t>
            </a:r>
            <a:r>
              <a:rPr lang="en-US"/>
              <a:t> or </a:t>
            </a:r>
            <a:r>
              <a:rPr lang="en-US">
                <a:hlinkClick r:id="rId4"/>
              </a:rPr>
              <a:t>nylsecproduct@newyorklife.com</a:t>
            </a:r>
            <a:endParaRPr lang="en-US">
              <a:solidFill>
                <a:srgbClr val="444444"/>
              </a:solidFill>
            </a:endParaRPr>
          </a:p>
          <a:p>
            <a:endParaRPr lang="en-US">
              <a:solidFill>
                <a:srgbClr val="444444"/>
              </a:solidFill>
            </a:endParaRPr>
          </a:p>
          <a:p>
            <a:r>
              <a:rPr lang="en-US" b="1"/>
              <a:t>SMRU: </a:t>
            </a:r>
            <a:r>
              <a:rPr lang="en-US"/>
              <a:t>8706133.1 One time Use Only.</a:t>
            </a:r>
          </a:p>
        </p:txBody>
      </p:sp>
      <p:sp>
        <p:nvSpPr>
          <p:cNvPr id="4" name="Slide Number Placeholder 3">
            <a:extLst>
              <a:ext uri="{FF2B5EF4-FFF2-40B4-BE49-F238E27FC236}">
                <a16:creationId xmlns:a16="http://schemas.microsoft.com/office/drawing/2014/main" id="{B1E0D089-9A6B-4B0E-406D-59E8E336639D}"/>
              </a:ext>
            </a:extLst>
          </p:cNvPr>
          <p:cNvSpPr>
            <a:spLocks noGrp="1"/>
          </p:cNvSpPr>
          <p:nvPr>
            <p:ph type="sldNum" sz="quarter" idx="5"/>
          </p:nvPr>
        </p:nvSpPr>
        <p:spPr/>
        <p:txBody>
          <a:bodyPr/>
          <a:lstStyle/>
          <a:p>
            <a:fld id="{B8F2EEE2-46E2-47E5-8287-018A51779D44}" type="slidenum">
              <a:rPr lang="en-US" smtClean="0"/>
              <a:t>20</a:t>
            </a:fld>
            <a:endParaRPr lang="en-US"/>
          </a:p>
        </p:txBody>
      </p:sp>
    </p:spTree>
    <p:extLst>
      <p:ext uri="{BB962C8B-B14F-4D97-AF65-F5344CB8AC3E}">
        <p14:creationId xmlns:p14="http://schemas.microsoft.com/office/powerpoint/2010/main" val="3506742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58C90-4203-71BB-E023-5FAE60EEB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C93C0-AE19-6659-0223-47F3CE998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ABF70F-1E57-714C-957A-2CE29954CE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Your name and email address </a:t>
            </a:r>
            <a:br>
              <a:rPr lang="en-US"/>
            </a:br>
            <a:r>
              <a:rPr lang="en-US"/>
              <a:t>1-2 sentences about the slide. </a:t>
            </a:r>
            <a:br>
              <a:rPr lang="en-US"/>
            </a:br>
            <a:r>
              <a:rPr lang="en-US"/>
              <a:t>Hyperlinks </a:t>
            </a:r>
          </a:p>
          <a:p>
            <a:endParaRPr lang="en-US"/>
          </a:p>
        </p:txBody>
      </p:sp>
      <p:sp>
        <p:nvSpPr>
          <p:cNvPr id="4" name="Slide Number Placeholder 3">
            <a:extLst>
              <a:ext uri="{FF2B5EF4-FFF2-40B4-BE49-F238E27FC236}">
                <a16:creationId xmlns:a16="http://schemas.microsoft.com/office/drawing/2014/main" id="{A4E75D4F-45CF-864A-CD34-80C0BAEE971C}"/>
              </a:ext>
            </a:extLst>
          </p:cNvPr>
          <p:cNvSpPr>
            <a:spLocks noGrp="1"/>
          </p:cNvSpPr>
          <p:nvPr>
            <p:ph type="sldNum" sz="quarter" idx="5"/>
          </p:nvPr>
        </p:nvSpPr>
        <p:spPr/>
        <p:txBody>
          <a:bodyPr/>
          <a:lstStyle/>
          <a:p>
            <a:fld id="{B8F2EEE2-46E2-47E5-8287-018A51779D44}" type="slidenum">
              <a:rPr lang="en-US" smtClean="0"/>
              <a:t>21</a:t>
            </a:fld>
            <a:endParaRPr lang="en-US"/>
          </a:p>
        </p:txBody>
      </p:sp>
    </p:spTree>
    <p:extLst>
      <p:ext uri="{BB962C8B-B14F-4D97-AF65-F5344CB8AC3E}">
        <p14:creationId xmlns:p14="http://schemas.microsoft.com/office/powerpoint/2010/main" val="3421556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D96A0-8A42-81B0-5EE4-4F58A45C0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69E41-A2FB-DEF3-593A-549741589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DD6178-2414-8992-7FD9-C2CA97CB4F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Contact: </a:t>
            </a:r>
            <a:r>
              <a:rPr lang="en-US"/>
              <a:t>Debbie Gassaway debra_Gassaway@newyorklife.com</a:t>
            </a:r>
            <a:br>
              <a:rPr lang="en-US"/>
            </a:br>
            <a:r>
              <a:rPr lang="en-US" b="1"/>
              <a:t>Message: </a:t>
            </a:r>
            <a:r>
              <a:rPr lang="en-US"/>
              <a:t>Last chance to promote the Golden Futures Awards program.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Deadline</a:t>
            </a:r>
            <a:r>
              <a:rPr lang="en-US"/>
              <a:t> 7/31/26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Info Central</a:t>
            </a:r>
            <a:r>
              <a:rPr lang="en-US"/>
              <a:t>: https://www.today.newyorklife.com/agencyportal/s/sales-and-marketing/marketing-and-branding/local-event-marketing</a:t>
            </a:r>
          </a:p>
        </p:txBody>
      </p:sp>
      <p:sp>
        <p:nvSpPr>
          <p:cNvPr id="4" name="Slide Number Placeholder 3">
            <a:extLst>
              <a:ext uri="{FF2B5EF4-FFF2-40B4-BE49-F238E27FC236}">
                <a16:creationId xmlns:a16="http://schemas.microsoft.com/office/drawing/2014/main" id="{B050A807-6C36-4113-C3FD-0AC0B7207450}"/>
              </a:ext>
            </a:extLst>
          </p:cNvPr>
          <p:cNvSpPr>
            <a:spLocks noGrp="1"/>
          </p:cNvSpPr>
          <p:nvPr>
            <p:ph type="sldNum" sz="quarter" idx="5"/>
          </p:nvPr>
        </p:nvSpPr>
        <p:spPr/>
        <p:txBody>
          <a:bodyPr/>
          <a:lstStyle/>
          <a:p>
            <a:fld id="{B8F2EEE2-46E2-47E5-8287-018A51779D44}" type="slidenum">
              <a:rPr lang="en-US" smtClean="0"/>
              <a:t>22</a:t>
            </a:fld>
            <a:endParaRPr lang="en-US"/>
          </a:p>
        </p:txBody>
      </p:sp>
    </p:spTree>
    <p:extLst>
      <p:ext uri="{BB962C8B-B14F-4D97-AF65-F5344CB8AC3E}">
        <p14:creationId xmlns:p14="http://schemas.microsoft.com/office/powerpoint/2010/main" val="532382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2091906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1693236738"/>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
        <p:nvSpPr>
          <p:cNvPr id="4" name="TextBox 3">
            <a:extLst>
              <a:ext uri="{FF2B5EF4-FFF2-40B4-BE49-F238E27FC236}">
                <a16:creationId xmlns:a16="http://schemas.microsoft.com/office/drawing/2014/main" id="{324A4B02-5F61-61C6-B6B7-D67C131CE9A7}"/>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823583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Tree>
    <p:extLst>
      <p:ext uri="{BB962C8B-B14F-4D97-AF65-F5344CB8AC3E}">
        <p14:creationId xmlns:p14="http://schemas.microsoft.com/office/powerpoint/2010/main" val="34005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4049539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391920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999082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
        <p:nvSpPr>
          <p:cNvPr id="3" name="TextBox 2">
            <a:extLst>
              <a:ext uri="{FF2B5EF4-FFF2-40B4-BE49-F238E27FC236}">
                <a16:creationId xmlns:a16="http://schemas.microsoft.com/office/drawing/2014/main" id="{B6733DA5-7CEB-156D-B682-AC4F46921F76}"/>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106998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
        <p:nvSpPr>
          <p:cNvPr id="2" name="TextBox 1">
            <a:extLst>
              <a:ext uri="{FF2B5EF4-FFF2-40B4-BE49-F238E27FC236}">
                <a16:creationId xmlns:a16="http://schemas.microsoft.com/office/drawing/2014/main" id="{16E22BEF-0925-1E3B-D20F-77CDF40128C3}"/>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811780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09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Content Light Blue">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83399"/>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38499"/>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7" name="Picture 6">
            <a:extLst>
              <a:ext uri="{FF2B5EF4-FFF2-40B4-BE49-F238E27FC236}">
                <a16:creationId xmlns:a16="http://schemas.microsoft.com/office/drawing/2014/main" id="{E67FCA87-8478-5E28-4661-20EA3D9955E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455563" y="6192317"/>
            <a:ext cx="1343086" cy="226210"/>
          </a:xfrm>
          <a:prstGeom prst="rect">
            <a:avLst/>
          </a:prstGeom>
        </p:spPr>
      </p:pic>
    </p:spTree>
    <p:extLst>
      <p:ext uri="{BB962C8B-B14F-4D97-AF65-F5344CB8AC3E}">
        <p14:creationId xmlns:p14="http://schemas.microsoft.com/office/powerpoint/2010/main" val="2007329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5485F8-9E68-60E9-6BC9-9B7F6C1A3D7F}"/>
              </a:ext>
            </a:extLst>
          </p:cNvPr>
          <p:cNvSpPr>
            <a:spLocks noGrp="1"/>
          </p:cNvSpPr>
          <p:nvPr>
            <p:ph type="body" sz="quarter" idx="13" hasCustomPrompt="1"/>
          </p:nvPr>
        </p:nvSpPr>
        <p:spPr>
          <a:xfrm>
            <a:off x="393350" y="850392"/>
            <a:ext cx="11405302" cy="558800"/>
          </a:xfrm>
          <a:prstGeom prst="rect">
            <a:avLst/>
          </a:prstGeom>
        </p:spPr>
        <p:txBody>
          <a:bodyPr lIns="0" tIns="0" rIns="0" bIns="0"/>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
        <p:nvSpPr>
          <p:cNvPr id="9" name="Text Placeholder 4">
            <a:extLst>
              <a:ext uri="{FF2B5EF4-FFF2-40B4-BE49-F238E27FC236}">
                <a16:creationId xmlns:a16="http://schemas.microsoft.com/office/drawing/2014/main" id="{D1702492-ECB9-C99D-17F0-C5C3BE0BBEB3}"/>
              </a:ext>
            </a:extLst>
          </p:cNvPr>
          <p:cNvSpPr>
            <a:spLocks noGrp="1"/>
          </p:cNvSpPr>
          <p:nvPr>
            <p:ph type="body" sz="quarter" idx="14"/>
          </p:nvPr>
        </p:nvSpPr>
        <p:spPr>
          <a:xfrm>
            <a:off x="393349" y="1560513"/>
            <a:ext cx="5938478" cy="2761230"/>
          </a:xfrm>
          <a:prstGeom prst="rect">
            <a:avLst/>
          </a:prstGeom>
        </p:spPr>
        <p:txBody>
          <a:bodyPr/>
          <a:lstStyle>
            <a:lvl1pPr>
              <a:defRPr sz="20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068AFAD1-74BD-2231-701D-CCA497B9D0AC}"/>
              </a:ext>
            </a:extLst>
          </p:cNvPr>
          <p:cNvSpPr>
            <a:spLocks noGrp="1"/>
          </p:cNvSpPr>
          <p:nvPr>
            <p:ph type="title" hasCustomPrompt="1"/>
          </p:nvPr>
        </p:nvSpPr>
        <p:spPr>
          <a:xfrm>
            <a:off x="393349" y="181536"/>
            <a:ext cx="11392252" cy="682752"/>
          </a:xfrm>
          <a:prstGeom prst="rect">
            <a:avLst/>
          </a:prstGeom>
        </p:spPr>
        <p:txBody>
          <a:bodyPr lIns="0" tIns="0" rIns="0" bIns="0"/>
          <a:lstStyle>
            <a:lvl1pPr>
              <a:defRPr sz="3200"/>
            </a:lvl1pPr>
          </a:lstStyle>
          <a:p>
            <a:r>
              <a:rPr lang="en-US"/>
              <a:t>Main headline 6 words or less (Alda Pro font size 32) </a:t>
            </a:r>
          </a:p>
        </p:txBody>
      </p:sp>
    </p:spTree>
    <p:extLst>
      <p:ext uri="{BB962C8B-B14F-4D97-AF65-F5344CB8AC3E}">
        <p14:creationId xmlns:p14="http://schemas.microsoft.com/office/powerpoint/2010/main" val="3095226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063FD-FFC5-3A35-822D-D11F7749EC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762464-3F9D-5CBA-E306-23726A97FE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25977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50000">
              <a:srgbClr val="80BAFF"/>
            </a:gs>
            <a:gs pos="20000">
              <a:srgbClr val="A9D4FF"/>
            </a:gs>
          </a:gsLst>
          <a:lin ang="54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554480"/>
            <a:ext cx="11118687"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68011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11310706"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11539230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6227185"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5" name="Picture Placeholder 6">
            <a:extLst>
              <a:ext uri="{FF2B5EF4-FFF2-40B4-BE49-F238E27FC236}">
                <a16:creationId xmlns:a16="http://schemas.microsoft.com/office/drawing/2014/main" id="{F3E6C896-7B66-FFF3-FB62-5A0427DB2BE3}"/>
              </a:ext>
            </a:extLst>
          </p:cNvPr>
          <p:cNvSpPr>
            <a:spLocks noGrp="1"/>
          </p:cNvSpPr>
          <p:nvPr>
            <p:ph type="pic" sz="quarter" idx="28"/>
          </p:nvPr>
        </p:nvSpPr>
        <p:spPr>
          <a:xfrm>
            <a:off x="7013986" y="1862651"/>
            <a:ext cx="4717762" cy="4119485"/>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Tree>
    <p:extLst>
      <p:ext uri="{BB962C8B-B14F-4D97-AF65-F5344CB8AC3E}">
        <p14:creationId xmlns:p14="http://schemas.microsoft.com/office/powerpoint/2010/main" val="26875338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49918"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Tree>
    <p:extLst>
      <p:ext uri="{BB962C8B-B14F-4D97-AF65-F5344CB8AC3E}">
        <p14:creationId xmlns:p14="http://schemas.microsoft.com/office/powerpoint/2010/main" val="10612367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20C4-4478-382D-05FF-85794C8C0CCC}"/>
              </a:ext>
            </a:extLst>
          </p:cNvPr>
          <p:cNvSpPr>
            <a:spLocks noGrp="1"/>
          </p:cNvSpPr>
          <p:nvPr>
            <p:ph type="title"/>
          </p:nvPr>
        </p:nvSpPr>
        <p:spPr>
          <a:xfrm>
            <a:off x="421041" y="2112264"/>
            <a:ext cx="11310707" cy="1316736"/>
          </a:xfrm>
        </p:spPr>
        <p:txBody>
          <a:bodyPr lIns="0" anchor="t" anchorCtr="0"/>
          <a:lstStyle>
            <a:lvl1pPr>
              <a:defRPr sz="3600"/>
            </a:lvl1pPr>
          </a:lstStyle>
          <a:p>
            <a:endParaRPr lang="en-US"/>
          </a:p>
        </p:txBody>
      </p:sp>
      <p:sp>
        <p:nvSpPr>
          <p:cNvPr id="7" name="Slide Number Placeholder 6">
            <a:extLst>
              <a:ext uri="{FF2B5EF4-FFF2-40B4-BE49-F238E27FC236}">
                <a16:creationId xmlns:a16="http://schemas.microsoft.com/office/drawing/2014/main" id="{C78F216D-F511-3806-58E4-70B64425F9AC}"/>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5" name="Picture Placeholder 4">
            <a:extLst>
              <a:ext uri="{FF2B5EF4-FFF2-40B4-BE49-F238E27FC236}">
                <a16:creationId xmlns:a16="http://schemas.microsoft.com/office/drawing/2014/main" id="{122546D2-6DCC-4B92-4F74-EEFCF41484C3}"/>
              </a:ext>
            </a:extLst>
          </p:cNvPr>
          <p:cNvSpPr>
            <a:spLocks noGrp="1"/>
          </p:cNvSpPr>
          <p:nvPr>
            <p:ph type="pic" sz="quarter" idx="11"/>
          </p:nvPr>
        </p:nvSpPr>
        <p:spPr>
          <a:xfrm>
            <a:off x="0" y="3429001"/>
            <a:ext cx="12192000" cy="3429000"/>
          </a:xfrm>
          <a:solidFill>
            <a:srgbClr val="A5EFBF">
              <a:alpha val="50104"/>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Rectangle 2">
            <a:extLst>
              <a:ext uri="{FF2B5EF4-FFF2-40B4-BE49-F238E27FC236}">
                <a16:creationId xmlns:a16="http://schemas.microsoft.com/office/drawing/2014/main" id="{5F0A83BD-EA1F-5017-6CEE-A40FC06D4ED6}"/>
              </a:ext>
            </a:extLst>
          </p:cNvPr>
          <p:cNvSpPr/>
          <p:nvPr userDrawn="1"/>
        </p:nvSpPr>
        <p:spPr>
          <a:xfrm>
            <a:off x="0" y="260645"/>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874045E6-C8A5-8E48-4B01-744857D6A0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1041" y="372774"/>
            <a:ext cx="365760" cy="365760"/>
          </a:xfrm>
          <a:prstGeom prst="rect">
            <a:avLst/>
          </a:prstGeom>
          <a:effectLst/>
        </p:spPr>
      </p:pic>
      <p:sp>
        <p:nvSpPr>
          <p:cNvPr id="6" name="Slide Number Placeholder 5">
            <a:extLst>
              <a:ext uri="{FF2B5EF4-FFF2-40B4-BE49-F238E27FC236}">
                <a16:creationId xmlns:a16="http://schemas.microsoft.com/office/drawing/2014/main" id="{BE2371F3-74FC-356C-C3B5-554AFEE46143}"/>
              </a:ext>
            </a:extLst>
          </p:cNvPr>
          <p:cNvSpPr txBox="1">
            <a:spLocks/>
          </p:cNvSpPr>
          <p:nvPr userDrawn="1"/>
        </p:nvSpPr>
        <p:spPr>
          <a:xfrm>
            <a:off x="11590192" y="6232230"/>
            <a:ext cx="430079" cy="365125"/>
          </a:xfrm>
          <a:prstGeom prst="rect">
            <a:avLst/>
          </a:prstGeom>
        </p:spPr>
        <p:txBody>
          <a:bodyPr vert="horz" lIns="0" tIns="0" rIns="0" bIns="0" rtlCol="0" anchor="ctr" anchorCtr="0">
            <a:noAutofit/>
          </a:bodyPr>
          <a:lstStyle>
            <a:defPPr>
              <a:defRPr lang="en-US"/>
            </a:defPPr>
            <a:lvl1pPr marL="0" algn="r" defTabSz="914400" rtl="0" eaLnBrk="1" latinLnBrk="0" hangingPunct="1">
              <a:defRPr sz="800" kern="1200">
                <a:solidFill>
                  <a:srgbClr val="000A62"/>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1371F83-EA4D-3B47-99B9-95D90583DC1D}" type="slidenum">
              <a:rPr lang="en-US" smtClean="0"/>
              <a:pPr/>
              <a:t>‹#›</a:t>
            </a:fld>
            <a:endParaRPr lang="en-US"/>
          </a:p>
        </p:txBody>
      </p:sp>
      <p:pic>
        <p:nvPicPr>
          <p:cNvPr id="8" name="Picture 7" descr="A blue and black logo&#10;&#10;AI-generated content may be incorrect.">
            <a:extLst>
              <a:ext uri="{FF2B5EF4-FFF2-40B4-BE49-F238E27FC236}">
                <a16:creationId xmlns:a16="http://schemas.microsoft.com/office/drawing/2014/main" id="{80845217-587B-A060-7CB9-E345665DF5E4}"/>
              </a:ext>
            </a:extLst>
          </p:cNvPr>
          <p:cNvPicPr>
            <a:picLocks noChangeAspect="1"/>
          </p:cNvPicPr>
          <p:nvPr userDrawn="1"/>
        </p:nvPicPr>
        <p:blipFill>
          <a:blip r:embed="rId3"/>
          <a:stretch>
            <a:fillRect/>
          </a:stretch>
        </p:blipFill>
        <p:spPr>
          <a:xfrm>
            <a:off x="10649018" y="418494"/>
            <a:ext cx="1082730" cy="274320"/>
          </a:xfrm>
          <a:prstGeom prst="rect">
            <a:avLst/>
          </a:prstGeom>
        </p:spPr>
      </p:pic>
    </p:spTree>
    <p:extLst>
      <p:ext uri="{BB962C8B-B14F-4D97-AF65-F5344CB8AC3E}">
        <p14:creationId xmlns:p14="http://schemas.microsoft.com/office/powerpoint/2010/main" val="17250687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pic>
        <p:nvPicPr>
          <p:cNvPr id="4" name="Picture 3" descr="A blue and grey square&#10;&#10;AI-generated content may be incorrect.">
            <a:extLst>
              <a:ext uri="{FF2B5EF4-FFF2-40B4-BE49-F238E27FC236}">
                <a16:creationId xmlns:a16="http://schemas.microsoft.com/office/drawing/2014/main" id="{A45A496B-8688-1C88-8157-65704DD5C56E}"/>
              </a:ext>
            </a:extLst>
          </p:cNvPr>
          <p:cNvPicPr>
            <a:picLocks noChangeAspect="1"/>
          </p:cNvPicPr>
          <p:nvPr userDrawn="1"/>
        </p:nvPicPr>
        <p:blipFill>
          <a:blip r:embed="rId2">
            <a:alphaModFix amt="20000"/>
          </a:blip>
          <a:stretch>
            <a:fillRect/>
          </a:stretch>
        </p:blipFill>
        <p:spPr>
          <a:xfrm>
            <a:off x="0" y="616856"/>
            <a:ext cx="6265333" cy="6241143"/>
          </a:xfrm>
          <a:prstGeom prst="rect">
            <a:avLst/>
          </a:prstGeom>
        </p:spPr>
      </p:pic>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421041" y="2226833"/>
            <a:ext cx="5231052" cy="3494697"/>
          </a:xfrm>
        </p:spPr>
        <p:txBody>
          <a:bodyPr lIns="0" anchor="t" anchorCtr="0"/>
          <a:lstStyle>
            <a:lvl1pPr algn="l">
              <a:defRPr sz="3600"/>
            </a:lvl1pPr>
          </a:lstStyle>
          <a:p>
            <a:endParaRPr lang="en-US"/>
          </a:p>
        </p:txBody>
      </p:sp>
      <p:sp>
        <p:nvSpPr>
          <p:cNvPr id="3" name="Rectangle 2">
            <a:extLst>
              <a:ext uri="{FF2B5EF4-FFF2-40B4-BE49-F238E27FC236}">
                <a16:creationId xmlns:a16="http://schemas.microsoft.com/office/drawing/2014/main" id="{EA7CC410-7E59-D0D1-24AA-F2A7D7F90721}"/>
              </a:ext>
            </a:extLst>
          </p:cNvPr>
          <p:cNvSpPr/>
          <p:nvPr userDrawn="1"/>
        </p:nvSpPr>
        <p:spPr>
          <a:xfrm>
            <a:off x="0" y="6119783"/>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46F51BD7-01B2-6816-2200-76CA08A3A35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21041" y="6231595"/>
            <a:ext cx="365760" cy="365760"/>
          </a:xfrm>
          <a:prstGeom prst="rect">
            <a:avLst/>
          </a:prstGeom>
          <a:effectLst/>
        </p:spPr>
      </p:pic>
      <p:sp>
        <p:nvSpPr>
          <p:cNvPr id="6" name="Slide Number Placeholder 5">
            <a:extLst>
              <a:ext uri="{FF2B5EF4-FFF2-40B4-BE49-F238E27FC236}">
                <a16:creationId xmlns:a16="http://schemas.microsoft.com/office/drawing/2014/main" id="{BB0C9B92-1175-00F8-933D-C77BF2556C5D}"/>
              </a:ext>
            </a:extLst>
          </p:cNvPr>
          <p:cNvSpPr>
            <a:spLocks noGrp="1"/>
          </p:cNvSpPr>
          <p:nvPr>
            <p:ph type="sldNum" sz="quarter" idx="4"/>
          </p:nvPr>
        </p:nvSpPr>
        <p:spPr>
          <a:xfrm>
            <a:off x="11731748" y="6232230"/>
            <a:ext cx="288523" cy="365125"/>
          </a:xfrm>
          <a:prstGeom prst="rect">
            <a:avLst/>
          </a:prstGeom>
        </p:spPr>
        <p:txBody>
          <a:bodyPr vert="horz" lIns="0" tIns="0" rIns="0" bIns="0" rtlCol="0" anchor="ctr" anchorCtr="0">
            <a:noAutofit/>
          </a:bodyPr>
          <a:lstStyle>
            <a:lvl1pPr algn="r">
              <a:defRPr sz="8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sz="800"/>
          </a:p>
        </p:txBody>
      </p:sp>
      <p:pic>
        <p:nvPicPr>
          <p:cNvPr id="8" name="Picture 7" descr="A blue and black logo&#10;&#10;AI-generated content may be incorrect.">
            <a:extLst>
              <a:ext uri="{FF2B5EF4-FFF2-40B4-BE49-F238E27FC236}">
                <a16:creationId xmlns:a16="http://schemas.microsoft.com/office/drawing/2014/main" id="{3EAEFD7F-7EBC-AE96-0954-ED1288FEF9BA}"/>
              </a:ext>
            </a:extLst>
          </p:cNvPr>
          <p:cNvPicPr>
            <a:picLocks noChangeAspect="1"/>
          </p:cNvPicPr>
          <p:nvPr userDrawn="1"/>
        </p:nvPicPr>
        <p:blipFill>
          <a:blip r:embed="rId4"/>
          <a:stretch>
            <a:fillRect/>
          </a:stretch>
        </p:blipFill>
        <p:spPr>
          <a:xfrm>
            <a:off x="10649018" y="6277632"/>
            <a:ext cx="1082730" cy="274320"/>
          </a:xfrm>
          <a:prstGeom prst="rect">
            <a:avLst/>
          </a:prstGeom>
        </p:spPr>
      </p:pic>
    </p:spTree>
    <p:extLst>
      <p:ext uri="{BB962C8B-B14F-4D97-AF65-F5344CB8AC3E}">
        <p14:creationId xmlns:p14="http://schemas.microsoft.com/office/powerpoint/2010/main" val="1591304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402110" y="2485075"/>
            <a:ext cx="1132963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2870931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05574"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3592749"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p:nvPr>
        </p:nvSpPr>
        <p:spPr>
          <a:xfrm>
            <a:off x="6379925"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p:nvPr>
        </p:nvSpPr>
        <p:spPr>
          <a:xfrm>
            <a:off x="9166867"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05574"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3592749"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0" name="Text Placeholder 13">
            <a:extLst>
              <a:ext uri="{FF2B5EF4-FFF2-40B4-BE49-F238E27FC236}">
                <a16:creationId xmlns:a16="http://schemas.microsoft.com/office/drawing/2014/main" id="{94058031-53F3-4D10-D0AF-0FE4EB33A3E6}"/>
              </a:ext>
            </a:extLst>
          </p:cNvPr>
          <p:cNvSpPr>
            <a:spLocks noGrp="1"/>
          </p:cNvSpPr>
          <p:nvPr>
            <p:ph type="body" sz="quarter" idx="25"/>
          </p:nvPr>
        </p:nvSpPr>
        <p:spPr>
          <a:xfrm>
            <a:off x="6379925" y="2889936"/>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1" name="Text Placeholder 13">
            <a:extLst>
              <a:ext uri="{FF2B5EF4-FFF2-40B4-BE49-F238E27FC236}">
                <a16:creationId xmlns:a16="http://schemas.microsoft.com/office/drawing/2014/main" id="{99BE3125-69F9-1FA8-98C5-37BFCFE5524E}"/>
              </a:ext>
            </a:extLst>
          </p:cNvPr>
          <p:cNvSpPr>
            <a:spLocks noGrp="1"/>
          </p:cNvSpPr>
          <p:nvPr>
            <p:ph type="body" sz="quarter" idx="26"/>
          </p:nvPr>
        </p:nvSpPr>
        <p:spPr>
          <a:xfrm>
            <a:off x="9166867"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4" name="Title 3">
            <a:extLst>
              <a:ext uri="{FF2B5EF4-FFF2-40B4-BE49-F238E27FC236}">
                <a16:creationId xmlns:a16="http://schemas.microsoft.com/office/drawing/2014/main" id="{860EC2BC-0ECF-2B5F-26DD-296C059C2687}"/>
              </a:ext>
            </a:extLst>
          </p:cNvPr>
          <p:cNvSpPr>
            <a:spLocks noGrp="1"/>
          </p:cNvSpPr>
          <p:nvPr>
            <p:ph type="title"/>
          </p:nvPr>
        </p:nvSpPr>
        <p:spPr>
          <a:xfrm>
            <a:off x="402110" y="493776"/>
            <a:ext cx="11329638" cy="804672"/>
          </a:xfrm>
        </p:spPr>
        <p:txBody>
          <a:bodyPr/>
          <a:lstStyle/>
          <a:p>
            <a:endParaRPr lang="en-US"/>
          </a:p>
        </p:txBody>
      </p:sp>
    </p:spTree>
    <p:extLst>
      <p:ext uri="{BB962C8B-B14F-4D97-AF65-F5344CB8AC3E}">
        <p14:creationId xmlns:p14="http://schemas.microsoft.com/office/powerpoint/2010/main" val="13563014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4175743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4499031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COL TEXT">
    <p:bg>
      <p:bgPr>
        <a:gradFill flip="none" rotWithShape="1">
          <a:gsLst>
            <a:gs pos="83000">
              <a:srgbClr val="8FC3FF"/>
            </a:gs>
            <a:gs pos="100000">
              <a:srgbClr val="80BAFF"/>
            </a:gs>
            <a:gs pos="26000">
              <a:srgbClr val="A9D4FF"/>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1484"/>
            <a:ext cx="1132963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946683" y="1651477"/>
            <a:ext cx="4892040"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2672" y="1651477"/>
            <a:ext cx="4892644"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cxnSp>
        <p:nvCxnSpPr>
          <p:cNvPr id="3" name="Straight Connector 2">
            <a:extLst>
              <a:ext uri="{FF2B5EF4-FFF2-40B4-BE49-F238E27FC236}">
                <a16:creationId xmlns:a16="http://schemas.microsoft.com/office/drawing/2014/main" id="{27CD526F-4567-7702-B3D6-894A2BD0D911}"/>
              </a:ext>
            </a:extLst>
          </p:cNvPr>
          <p:cNvCxnSpPr>
            <a:cxnSpLocks/>
          </p:cNvCxnSpPr>
          <p:nvPr userDrawn="1"/>
        </p:nvCxnSpPr>
        <p:spPr>
          <a:xfrm>
            <a:off x="6096000" y="1651477"/>
            <a:ext cx="0" cy="3657600"/>
          </a:xfrm>
          <a:prstGeom prst="line">
            <a:avLst/>
          </a:prstGeom>
          <a:ln>
            <a:solidFill>
              <a:schemeClr val="bg1">
                <a:alpha val="75403"/>
              </a:schemeClr>
            </a:solidFill>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B132B79D-72D9-6412-E927-80F98D2ADD81}"/>
              </a:ext>
            </a:extLst>
          </p:cNvPr>
          <p:cNvSpPr>
            <a:spLocks noGrp="1"/>
          </p:cNvSpPr>
          <p:nvPr>
            <p:ph type="title"/>
          </p:nvPr>
        </p:nvSpPr>
        <p:spPr>
          <a:xfrm>
            <a:off x="402110" y="492029"/>
            <a:ext cx="11329638" cy="804672"/>
          </a:xfrm>
        </p:spPr>
        <p:txBody>
          <a:bodyPr/>
          <a:lstStyle/>
          <a:p>
            <a:endParaRPr lang="en-US"/>
          </a:p>
        </p:txBody>
      </p:sp>
    </p:spTree>
    <p:extLst>
      <p:ext uri="{BB962C8B-B14F-4D97-AF65-F5344CB8AC3E}">
        <p14:creationId xmlns:p14="http://schemas.microsoft.com/office/powerpoint/2010/main" val="30723777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2920"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8165588"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402110" y="1342420"/>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8499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348468"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 name="Title 1">
            <a:extLst>
              <a:ext uri="{FF2B5EF4-FFF2-40B4-BE49-F238E27FC236}">
                <a16:creationId xmlns:a16="http://schemas.microsoft.com/office/drawing/2014/main" id="{3B21EAA1-25DB-EC70-28BC-970F59ABF417}"/>
              </a:ext>
            </a:extLst>
          </p:cNvPr>
          <p:cNvSpPr>
            <a:spLocks noGrp="1"/>
          </p:cNvSpPr>
          <p:nvPr>
            <p:ph type="title"/>
          </p:nvPr>
        </p:nvSpPr>
        <p:spPr>
          <a:xfrm>
            <a:off x="402110" y="492029"/>
            <a:ext cx="11329638" cy="804672"/>
          </a:xfrm>
        </p:spPr>
        <p:txBody>
          <a:bodyPr/>
          <a:lstStyle/>
          <a:p>
            <a:endParaRPr lang="en-US"/>
          </a:p>
        </p:txBody>
      </p:sp>
    </p:spTree>
    <p:extLst>
      <p:ext uri="{BB962C8B-B14F-4D97-AF65-F5344CB8AC3E}">
        <p14:creationId xmlns:p14="http://schemas.microsoft.com/office/powerpoint/2010/main" val="30970333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264819"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40400"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9015980"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389238"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121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391060"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2700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138853"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ext Placeholder 15">
            <a:extLst>
              <a:ext uri="{FF2B5EF4-FFF2-40B4-BE49-F238E27FC236}">
                <a16:creationId xmlns:a16="http://schemas.microsoft.com/office/drawing/2014/main" id="{7ADFF41F-5C73-70FE-F753-E671F31D67A0}"/>
              </a:ext>
            </a:extLst>
          </p:cNvPr>
          <p:cNvSpPr>
            <a:spLocks noGrp="1"/>
          </p:cNvSpPr>
          <p:nvPr>
            <p:ph type="body" sz="quarter" idx="11"/>
          </p:nvPr>
        </p:nvSpPr>
        <p:spPr>
          <a:xfrm>
            <a:off x="3391060"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3" name="Text Placeholder 15">
            <a:extLst>
              <a:ext uri="{FF2B5EF4-FFF2-40B4-BE49-F238E27FC236}">
                <a16:creationId xmlns:a16="http://schemas.microsoft.com/office/drawing/2014/main" id="{3BDE4155-1874-CB5D-1ED7-788DA6ACCC68}"/>
              </a:ext>
            </a:extLst>
          </p:cNvPr>
          <p:cNvSpPr>
            <a:spLocks noGrp="1"/>
          </p:cNvSpPr>
          <p:nvPr>
            <p:ph type="body" sz="quarter" idx="12"/>
          </p:nvPr>
        </p:nvSpPr>
        <p:spPr>
          <a:xfrm>
            <a:off x="6270011"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5" name="Text Placeholder 15">
            <a:extLst>
              <a:ext uri="{FF2B5EF4-FFF2-40B4-BE49-F238E27FC236}">
                <a16:creationId xmlns:a16="http://schemas.microsoft.com/office/drawing/2014/main" id="{9C60B4CB-06A4-CB4C-1C9A-05528D708689}"/>
              </a:ext>
            </a:extLst>
          </p:cNvPr>
          <p:cNvSpPr>
            <a:spLocks noGrp="1"/>
          </p:cNvSpPr>
          <p:nvPr>
            <p:ph type="body" sz="quarter" idx="13"/>
          </p:nvPr>
        </p:nvSpPr>
        <p:spPr>
          <a:xfrm>
            <a:off x="512111" y="493776"/>
            <a:ext cx="2468880" cy="738803"/>
          </a:xfrm>
        </p:spPr>
        <p:txBody>
          <a:bodyPr/>
          <a:lstStyle>
            <a:lvl1pPr marL="0" indent="0">
              <a:lnSpc>
                <a:spcPct val="100000"/>
              </a:lnSpc>
              <a:spcBef>
                <a:spcPts val="0"/>
              </a:spcBef>
              <a:buNone/>
              <a:defRPr sz="2400" b="0">
                <a:latin typeface="+mj-lt"/>
              </a:defRPr>
            </a:lvl1pPr>
          </a:lstStyle>
          <a:p>
            <a:pPr lvl="0"/>
            <a:endParaRPr lang="en-US"/>
          </a:p>
        </p:txBody>
      </p:sp>
      <p:sp>
        <p:nvSpPr>
          <p:cNvPr id="16" name="Text Placeholder 15">
            <a:extLst>
              <a:ext uri="{FF2B5EF4-FFF2-40B4-BE49-F238E27FC236}">
                <a16:creationId xmlns:a16="http://schemas.microsoft.com/office/drawing/2014/main" id="{DC1FFA80-C1C7-7395-7E6C-0CE39D3D9B2E}"/>
              </a:ext>
            </a:extLst>
          </p:cNvPr>
          <p:cNvSpPr>
            <a:spLocks noGrp="1"/>
          </p:cNvSpPr>
          <p:nvPr>
            <p:ph type="body" sz="quarter" idx="19"/>
          </p:nvPr>
        </p:nvSpPr>
        <p:spPr>
          <a:xfrm>
            <a:off x="9138853"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Tree>
    <p:extLst>
      <p:ext uri="{BB962C8B-B14F-4D97-AF65-F5344CB8AC3E}">
        <p14:creationId xmlns:p14="http://schemas.microsoft.com/office/powerpoint/2010/main" val="24607537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COL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2419"/>
            <a:ext cx="411480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84991" y="1580164"/>
            <a:ext cx="374903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5158440" y="1342419"/>
            <a:ext cx="6382113" cy="4297680"/>
          </a:xfrm>
        </p:spPr>
        <p:txBody>
          <a:bodyPr/>
          <a:lstStyle/>
          <a:p>
            <a:endParaRPr lang="en-US"/>
          </a:p>
        </p:txBody>
      </p:sp>
      <p:sp>
        <p:nvSpPr>
          <p:cNvPr id="2" name="Title 1">
            <a:extLst>
              <a:ext uri="{FF2B5EF4-FFF2-40B4-BE49-F238E27FC236}">
                <a16:creationId xmlns:a16="http://schemas.microsoft.com/office/drawing/2014/main" id="{41C34C18-9CF5-12C3-5CCD-69AF7F33FF20}"/>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20240338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4296664" y="640080"/>
            <a:ext cx="6714837" cy="4573487"/>
          </a:xfrm>
        </p:spPr>
        <p:txBody>
          <a:bodyPr/>
          <a:lstStyle/>
          <a:p>
            <a:endParaRPr lang="en-US"/>
          </a:p>
        </p:txBody>
      </p:sp>
    </p:spTree>
    <p:extLst>
      <p:ext uri="{BB962C8B-B14F-4D97-AF65-F5344CB8AC3E}">
        <p14:creationId xmlns:p14="http://schemas.microsoft.com/office/powerpoint/2010/main" val="21672042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CHAR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2" name="Rectangle 21">
            <a:extLst>
              <a:ext uri="{FF2B5EF4-FFF2-40B4-BE49-F238E27FC236}">
                <a16:creationId xmlns:a16="http://schemas.microsoft.com/office/drawing/2014/main" id="{86B6F805-150A-A1F2-BDDF-F0ECD943C483}"/>
              </a:ext>
            </a:extLst>
          </p:cNvPr>
          <p:cNvSpPr/>
          <p:nvPr userDrawn="1"/>
        </p:nvSpPr>
        <p:spPr>
          <a:xfrm>
            <a:off x="6316149"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6500204" y="1580168"/>
            <a:ext cx="5047488" cy="3794760"/>
          </a:xfrm>
        </p:spPr>
        <p:txBody>
          <a:bodyPr/>
          <a:lstStyle/>
          <a:p>
            <a:endParaRPr lang="en-US"/>
          </a:p>
        </p:txBody>
      </p:sp>
      <p:sp>
        <p:nvSpPr>
          <p:cNvPr id="2" name="Chart Placeholder 25">
            <a:extLst>
              <a:ext uri="{FF2B5EF4-FFF2-40B4-BE49-F238E27FC236}">
                <a16:creationId xmlns:a16="http://schemas.microsoft.com/office/drawing/2014/main" id="{61C651FA-1AC0-20FA-C672-4990AB30FD96}"/>
              </a:ext>
            </a:extLst>
          </p:cNvPr>
          <p:cNvSpPr>
            <a:spLocks noGrp="1"/>
          </p:cNvSpPr>
          <p:nvPr>
            <p:ph type="chart" sz="quarter" idx="19"/>
          </p:nvPr>
        </p:nvSpPr>
        <p:spPr>
          <a:xfrm>
            <a:off x="586165" y="1580168"/>
            <a:ext cx="5047488" cy="3794760"/>
          </a:xfrm>
        </p:spPr>
        <p:txBody>
          <a:bodyPr/>
          <a:lstStyle/>
          <a:p>
            <a:endParaRPr lang="en-US"/>
          </a:p>
        </p:txBody>
      </p:sp>
      <p:sp>
        <p:nvSpPr>
          <p:cNvPr id="3" name="Title 2">
            <a:extLst>
              <a:ext uri="{FF2B5EF4-FFF2-40B4-BE49-F238E27FC236}">
                <a16:creationId xmlns:a16="http://schemas.microsoft.com/office/drawing/2014/main" id="{AC5761DD-9774-F1E8-E80A-2C2D06D1756E}"/>
              </a:ext>
            </a:extLst>
          </p:cNvPr>
          <p:cNvSpPr>
            <a:spLocks noGrp="1"/>
          </p:cNvSpPr>
          <p:nvPr>
            <p:ph type="title"/>
          </p:nvPr>
        </p:nvSpPr>
        <p:spPr>
          <a:xfrm>
            <a:off x="402110" y="492033"/>
            <a:ext cx="11329638" cy="804672"/>
          </a:xfrm>
        </p:spPr>
        <p:txBody>
          <a:bodyPr/>
          <a:lstStyle/>
          <a:p>
            <a:endParaRPr lang="en-US"/>
          </a:p>
        </p:txBody>
      </p:sp>
    </p:spTree>
    <p:extLst>
      <p:ext uri="{BB962C8B-B14F-4D97-AF65-F5344CB8AC3E}">
        <p14:creationId xmlns:p14="http://schemas.microsoft.com/office/powerpoint/2010/main" val="3262714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02110" y="493776"/>
            <a:ext cx="508429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33825215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SECTION">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0" y="3429000"/>
            <a:ext cx="12192000" cy="3429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02110" y="2280621"/>
            <a:ext cx="11188082" cy="1042318"/>
          </a:xfrm>
        </p:spPr>
        <p:txBody>
          <a:bodyPr/>
          <a:lstStyle>
            <a:lvl1pPr>
              <a:defRPr sz="3600"/>
            </a:lvl1pPr>
          </a:lstStyle>
          <a:p>
            <a:endParaRPr lang="en-US"/>
          </a:p>
        </p:txBody>
      </p:sp>
      <p:pic>
        <p:nvPicPr>
          <p:cNvPr id="9" name="Graphic 8">
            <a:extLst>
              <a:ext uri="{FF2B5EF4-FFF2-40B4-BE49-F238E27FC236}">
                <a16:creationId xmlns:a16="http://schemas.microsoft.com/office/drawing/2014/main" id="{7A6D5DA3-EFC1-742C-A22F-4583CA13D7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2110" y="457200"/>
            <a:ext cx="868683" cy="868683"/>
          </a:xfrm>
          <a:prstGeom prst="rect">
            <a:avLst/>
          </a:prstGeom>
        </p:spPr>
      </p:pic>
      <p:pic>
        <p:nvPicPr>
          <p:cNvPr id="15" name="Picture 14" descr="A blue and black logo&#10;&#10;AI-generated content may be incorrect.">
            <a:extLst>
              <a:ext uri="{FF2B5EF4-FFF2-40B4-BE49-F238E27FC236}">
                <a16:creationId xmlns:a16="http://schemas.microsoft.com/office/drawing/2014/main" id="{EF0F2233-C1DA-DC3C-977B-89CAB353B3AA}"/>
              </a:ext>
            </a:extLst>
          </p:cNvPr>
          <p:cNvPicPr>
            <a:picLocks noChangeAspect="1"/>
          </p:cNvPicPr>
          <p:nvPr userDrawn="1"/>
        </p:nvPicPr>
        <p:blipFill>
          <a:blip r:embed="rId4"/>
          <a:stretch>
            <a:fillRect/>
          </a:stretch>
        </p:blipFill>
        <p:spPr>
          <a:xfrm>
            <a:off x="10415751" y="457200"/>
            <a:ext cx="1315997" cy="333421"/>
          </a:xfrm>
          <a:prstGeom prst="rect">
            <a:avLst/>
          </a:prstGeom>
        </p:spPr>
      </p:pic>
    </p:spTree>
    <p:extLst>
      <p:ext uri="{BB962C8B-B14F-4D97-AF65-F5344CB8AC3E}">
        <p14:creationId xmlns:p14="http://schemas.microsoft.com/office/powerpoint/2010/main" val="27641277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524E236F-CC73-E2D0-C020-8D995727944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64973" y="1960256"/>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864973" y="3643093"/>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64973" y="2799164"/>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864973" y="4482001"/>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5274B7-679A-8613-5BC3-023EF3052A36}"/>
              </a:ext>
            </a:extLst>
          </p:cNvPr>
          <p:cNvSpPr>
            <a:spLocks noGrp="1"/>
          </p:cNvSpPr>
          <p:nvPr>
            <p:ph type="pic" sz="quarter" idx="28"/>
          </p:nvPr>
        </p:nvSpPr>
        <p:spPr>
          <a:xfrm>
            <a:off x="6270625" y="1517515"/>
            <a:ext cx="5143500" cy="3657600"/>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Title 3">
            <a:extLst>
              <a:ext uri="{FF2B5EF4-FFF2-40B4-BE49-F238E27FC236}">
                <a16:creationId xmlns:a16="http://schemas.microsoft.com/office/drawing/2014/main" id="{E059A8AE-FA6A-9E41-D199-5D700F8750AF}"/>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17592021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COL MIX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6073"/>
            <a:ext cx="5843016"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5039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3" name="Picture Placeholder 4">
            <a:extLst>
              <a:ext uri="{FF2B5EF4-FFF2-40B4-BE49-F238E27FC236}">
                <a16:creationId xmlns:a16="http://schemas.microsoft.com/office/drawing/2014/main" id="{73CE8AA2-1ED4-00D8-F3A4-6E085E753FE3}"/>
              </a:ext>
            </a:extLst>
          </p:cNvPr>
          <p:cNvSpPr>
            <a:spLocks noGrp="1"/>
          </p:cNvSpPr>
          <p:nvPr>
            <p:ph type="pic" sz="quarter" idx="16"/>
          </p:nvPr>
        </p:nvSpPr>
        <p:spPr>
          <a:xfrm>
            <a:off x="6492240" y="1342236"/>
            <a:ext cx="5047488" cy="4297680"/>
          </a:xfrm>
          <a:solidFill>
            <a:srgbClr val="A5EFBF">
              <a:alpha val="50016"/>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24" name="Text Placeholder 13">
            <a:extLst>
              <a:ext uri="{FF2B5EF4-FFF2-40B4-BE49-F238E27FC236}">
                <a16:creationId xmlns:a16="http://schemas.microsoft.com/office/drawing/2014/main" id="{77249610-5178-9FDD-8DC2-AAD1391462B3}"/>
              </a:ext>
            </a:extLst>
          </p:cNvPr>
          <p:cNvSpPr>
            <a:spLocks noGrp="1"/>
          </p:cNvSpPr>
          <p:nvPr>
            <p:ph type="body" sz="quarter" idx="17"/>
          </p:nvPr>
        </p:nvSpPr>
        <p:spPr>
          <a:xfrm>
            <a:off x="377647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3" name="Title 2">
            <a:extLst>
              <a:ext uri="{FF2B5EF4-FFF2-40B4-BE49-F238E27FC236}">
                <a16:creationId xmlns:a16="http://schemas.microsoft.com/office/drawing/2014/main" id="{DD52571E-88FD-10EE-A2C6-754293C0DC78}"/>
              </a:ext>
            </a:extLst>
          </p:cNvPr>
          <p:cNvSpPr>
            <a:spLocks noGrp="1"/>
          </p:cNvSpPr>
          <p:nvPr>
            <p:ph type="title"/>
          </p:nvPr>
        </p:nvSpPr>
        <p:spPr>
          <a:xfrm>
            <a:off x="402110" y="492027"/>
            <a:ext cx="11329638" cy="804672"/>
          </a:xfrm>
        </p:spPr>
        <p:txBody>
          <a:bodyPr/>
          <a:lstStyle/>
          <a:p>
            <a:endParaRPr lang="en-US"/>
          </a:p>
        </p:txBody>
      </p:sp>
      <p:cxnSp>
        <p:nvCxnSpPr>
          <p:cNvPr id="5" name="Straight Connector 4">
            <a:extLst>
              <a:ext uri="{FF2B5EF4-FFF2-40B4-BE49-F238E27FC236}">
                <a16:creationId xmlns:a16="http://schemas.microsoft.com/office/drawing/2014/main" id="{E6BB2486-B7E2-2B4A-1796-A7E1717418CE}"/>
              </a:ext>
            </a:extLst>
          </p:cNvPr>
          <p:cNvCxnSpPr>
            <a:cxnSpLocks/>
          </p:cNvCxnSpPr>
          <p:nvPr userDrawn="1"/>
        </p:nvCxnSpPr>
        <p:spPr>
          <a:xfrm>
            <a:off x="3549289" y="1580163"/>
            <a:ext cx="0" cy="3749039"/>
          </a:xfrm>
          <a:prstGeom prst="line">
            <a:avLst/>
          </a:prstGeom>
          <a:ln>
            <a:solidFill>
              <a:schemeClr val="bg1">
                <a:alpha val="75096"/>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9335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59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32104"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4495800"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8156448"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7" name="Title 6">
            <a:extLst>
              <a:ext uri="{FF2B5EF4-FFF2-40B4-BE49-F238E27FC236}">
                <a16:creationId xmlns:a16="http://schemas.microsoft.com/office/drawing/2014/main" id="{84689C92-8851-0117-5163-F217DA8C9D35}"/>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34423173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306928"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211746"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911656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402110"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566702"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3478485"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6358308"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2297C1E0-0407-DD10-8E51-CDCC6D0EB569}"/>
              </a:ext>
            </a:extLst>
          </p:cNvPr>
          <p:cNvSpPr>
            <a:spLocks noGrp="1"/>
          </p:cNvSpPr>
          <p:nvPr>
            <p:ph type="pic" sz="quarter" idx="14"/>
          </p:nvPr>
        </p:nvSpPr>
        <p:spPr>
          <a:xfrm>
            <a:off x="928115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66702"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478485"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8308"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28115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itle 11">
            <a:extLst>
              <a:ext uri="{FF2B5EF4-FFF2-40B4-BE49-F238E27FC236}">
                <a16:creationId xmlns:a16="http://schemas.microsoft.com/office/drawing/2014/main" id="{4997C2CC-41A2-BC8E-5F1C-6E00E82B39D8}"/>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31388553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FIL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C96B32D9-F8CD-542A-2195-7D4080183F9E}"/>
              </a:ext>
            </a:extLst>
          </p:cNvPr>
          <p:cNvSpPr>
            <a:spLocks noGrp="1"/>
          </p:cNvSpPr>
          <p:nvPr>
            <p:ph type="pic" sz="quarter" idx="11"/>
          </p:nvPr>
        </p:nvSpPr>
        <p:spPr>
          <a:xfrm>
            <a:off x="1315442"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Picture Placeholder 4">
            <a:extLst>
              <a:ext uri="{FF2B5EF4-FFF2-40B4-BE49-F238E27FC236}">
                <a16:creationId xmlns:a16="http://schemas.microsoft.com/office/drawing/2014/main" id="{7004F6B9-BCB9-ED24-F5EE-BBBA9CECD9F8}"/>
              </a:ext>
            </a:extLst>
          </p:cNvPr>
          <p:cNvSpPr>
            <a:spLocks noGrp="1"/>
          </p:cNvSpPr>
          <p:nvPr>
            <p:ph type="pic" sz="quarter" idx="12"/>
          </p:nvPr>
        </p:nvSpPr>
        <p:spPr>
          <a:xfrm>
            <a:off x="3897379"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3B4A5297-598E-E3C8-0A95-51540BC3D260}"/>
              </a:ext>
            </a:extLst>
          </p:cNvPr>
          <p:cNvSpPr>
            <a:spLocks noGrp="1"/>
          </p:cNvSpPr>
          <p:nvPr>
            <p:ph type="pic" sz="quarter" idx="13"/>
          </p:nvPr>
        </p:nvSpPr>
        <p:spPr>
          <a:xfrm>
            <a:off x="6479316"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E7B78071-5E94-8078-4AD2-0AE8834DEAB9}"/>
              </a:ext>
            </a:extLst>
          </p:cNvPr>
          <p:cNvSpPr>
            <a:spLocks noGrp="1"/>
          </p:cNvSpPr>
          <p:nvPr>
            <p:ph type="pic" sz="quarter" idx="14"/>
          </p:nvPr>
        </p:nvSpPr>
        <p:spPr>
          <a:xfrm>
            <a:off x="9061254"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A0A893A3-72C6-A8CF-AB7E-ED43F26A18DB}"/>
              </a:ext>
            </a:extLst>
          </p:cNvPr>
          <p:cNvSpPr>
            <a:spLocks noGrp="1"/>
          </p:cNvSpPr>
          <p:nvPr>
            <p:ph type="body" sz="quarter" idx="15" hasCustomPrompt="1"/>
          </p:nvPr>
        </p:nvSpPr>
        <p:spPr>
          <a:xfrm>
            <a:off x="852727"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hasCustomPrompt="1"/>
          </p:nvPr>
        </p:nvSpPr>
        <p:spPr>
          <a:xfrm>
            <a:off x="852727"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6" name="Text Placeholder 13">
            <a:extLst>
              <a:ext uri="{FF2B5EF4-FFF2-40B4-BE49-F238E27FC236}">
                <a16:creationId xmlns:a16="http://schemas.microsoft.com/office/drawing/2014/main" id="{58854FFC-2A65-06A1-12DD-C2777EFB103C}"/>
              </a:ext>
            </a:extLst>
          </p:cNvPr>
          <p:cNvSpPr>
            <a:spLocks noGrp="1"/>
          </p:cNvSpPr>
          <p:nvPr>
            <p:ph type="body" sz="quarter" idx="17" hasCustomPrompt="1"/>
          </p:nvPr>
        </p:nvSpPr>
        <p:spPr>
          <a:xfrm>
            <a:off x="3434664"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hasCustomPrompt="1"/>
          </p:nvPr>
        </p:nvSpPr>
        <p:spPr>
          <a:xfrm>
            <a:off x="3434664"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8" name="Text Placeholder 13">
            <a:extLst>
              <a:ext uri="{FF2B5EF4-FFF2-40B4-BE49-F238E27FC236}">
                <a16:creationId xmlns:a16="http://schemas.microsoft.com/office/drawing/2014/main" id="{42F73FA2-C232-05D4-4B8C-ACE371E4B843}"/>
              </a:ext>
            </a:extLst>
          </p:cNvPr>
          <p:cNvSpPr>
            <a:spLocks noGrp="1"/>
          </p:cNvSpPr>
          <p:nvPr>
            <p:ph type="body" sz="quarter" idx="19" hasCustomPrompt="1"/>
          </p:nvPr>
        </p:nvSpPr>
        <p:spPr>
          <a:xfrm>
            <a:off x="6016601"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hasCustomPrompt="1"/>
          </p:nvPr>
        </p:nvSpPr>
        <p:spPr>
          <a:xfrm>
            <a:off x="6016601"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20" name="Text Placeholder 13">
            <a:extLst>
              <a:ext uri="{FF2B5EF4-FFF2-40B4-BE49-F238E27FC236}">
                <a16:creationId xmlns:a16="http://schemas.microsoft.com/office/drawing/2014/main" id="{6DBE7ACC-CAA4-1F8B-5784-8A7C4DB08D46}"/>
              </a:ext>
            </a:extLst>
          </p:cNvPr>
          <p:cNvSpPr>
            <a:spLocks noGrp="1"/>
          </p:cNvSpPr>
          <p:nvPr>
            <p:ph type="body" sz="quarter" idx="21" hasCustomPrompt="1"/>
          </p:nvPr>
        </p:nvSpPr>
        <p:spPr>
          <a:xfrm>
            <a:off x="8598539"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hasCustomPrompt="1"/>
          </p:nvPr>
        </p:nvSpPr>
        <p:spPr>
          <a:xfrm>
            <a:off x="8598539"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Tree>
    <p:extLst>
      <p:ext uri="{BB962C8B-B14F-4D97-AF65-F5344CB8AC3E}">
        <p14:creationId xmlns:p14="http://schemas.microsoft.com/office/powerpoint/2010/main" val="36096860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FULL PIC">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54E264-2E68-0859-A429-BDAC7C8826B9}"/>
              </a:ext>
            </a:extLst>
          </p:cNvPr>
          <p:cNvSpPr>
            <a:spLocks noGrp="1"/>
          </p:cNvSpPr>
          <p:nvPr>
            <p:ph type="pic" idx="1"/>
          </p:nvPr>
        </p:nvSpPr>
        <p:spPr>
          <a:xfrm>
            <a:off x="0" y="0"/>
            <a:ext cx="12191999" cy="6858000"/>
          </a:xfrm>
          <a:solidFill>
            <a:srgbClr val="A5EFBF">
              <a:alpha val="49884"/>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5CEA0256-834D-1158-7BFE-3BB66AB3ACD8}"/>
              </a:ext>
            </a:extLst>
          </p:cNvPr>
          <p:cNvSpPr>
            <a:spLocks noGrp="1"/>
          </p:cNvSpPr>
          <p:nvPr>
            <p:ph type="sldNum" sz="quarter" idx="12"/>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40997503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27057424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9639283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27539797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over No Im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F75F61-2287-D7E7-AD82-03153BB900E0}"/>
              </a:ext>
            </a:extLst>
          </p:cNvPr>
          <p:cNvPicPr>
            <a:picLocks noChangeAspect="1"/>
          </p:cNvPicPr>
          <p:nvPr userDrawn="1"/>
        </p:nvPicPr>
        <p:blipFill>
          <a:blip r:embed="rId2"/>
          <a:srcRect/>
          <a:stretch/>
        </p:blipFill>
        <p:spPr>
          <a:xfrm>
            <a:off x="458530" y="462713"/>
            <a:ext cx="11274939" cy="5932574"/>
          </a:xfrm>
          <a:prstGeom prst="rect">
            <a:avLst/>
          </a:prstGeom>
        </p:spPr>
      </p:pic>
      <p:pic>
        <p:nvPicPr>
          <p:cNvPr id="19" name="Graphic 18">
            <a:extLst>
              <a:ext uri="{FF2B5EF4-FFF2-40B4-BE49-F238E27FC236}">
                <a16:creationId xmlns:a16="http://schemas.microsoft.com/office/drawing/2014/main" id="{1DFD2D1D-3ADB-0050-2627-4DDDD1607E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457200"/>
            <a:ext cx="868683" cy="868683"/>
          </a:xfrm>
          <a:prstGeom prst="rect">
            <a:avLst/>
          </a:prstGeom>
        </p:spPr>
      </p:pic>
      <p:sp>
        <p:nvSpPr>
          <p:cNvPr id="3" name="Content Placeholder 2">
            <a:extLst>
              <a:ext uri="{FF2B5EF4-FFF2-40B4-BE49-F238E27FC236}">
                <a16:creationId xmlns:a16="http://schemas.microsoft.com/office/drawing/2014/main" id="{3FA7034E-0EB8-678B-611F-573F36D3C2CD}"/>
              </a:ext>
            </a:extLst>
          </p:cNvPr>
          <p:cNvSpPr>
            <a:spLocks noGrp="1"/>
          </p:cNvSpPr>
          <p:nvPr>
            <p:ph idx="14" hasCustomPrompt="1"/>
          </p:nvPr>
        </p:nvSpPr>
        <p:spPr>
          <a:xfrm>
            <a:off x="5300132" y="4408061"/>
            <a:ext cx="5969000" cy="364204"/>
          </a:xfrm>
          <a:prstGeom prst="rect">
            <a:avLst/>
          </a:prstGeom>
        </p:spPr>
        <p:txBody>
          <a:bodyPr lIns="0" tIns="0" rIns="0" bIns="0" anchor="b" anchorCtr="0"/>
          <a:lstStyle>
            <a:lvl1pPr marL="0" indent="0">
              <a:lnSpc>
                <a:spcPct val="120000"/>
              </a:lnSpc>
              <a:spcBef>
                <a:spcPts val="600"/>
              </a:spcBef>
              <a:buNone/>
              <a:defRPr sz="1600">
                <a:solidFill>
                  <a:schemeClr val="tx1"/>
                </a:solidFill>
                <a:latin typeface="+mj-lt"/>
              </a:defRPr>
            </a:lvl1pPr>
            <a:lvl2pPr marL="457200" indent="0">
              <a:lnSpc>
                <a:spcPct val="120000"/>
              </a:lnSpc>
              <a:spcBef>
                <a:spcPts val="600"/>
              </a:spcBef>
              <a:buFont typeface="Arial" panose="020B0604020202020204" pitchFamily="34" charset="0"/>
              <a:buNone/>
              <a:defRPr sz="1800">
                <a:solidFill>
                  <a:schemeClr val="accent3"/>
                </a:solidFill>
              </a:defRPr>
            </a:lvl2pPr>
            <a:lvl3pPr marL="914400" indent="0">
              <a:lnSpc>
                <a:spcPct val="120000"/>
              </a:lnSpc>
              <a:spcBef>
                <a:spcPts val="600"/>
              </a:spcBef>
              <a:buNone/>
              <a:defRPr sz="1600"/>
            </a:lvl3pPr>
            <a:lvl4pPr marL="1371600" indent="0">
              <a:lnSpc>
                <a:spcPct val="120000"/>
              </a:lnSpc>
              <a:spcBef>
                <a:spcPts val="600"/>
              </a:spcBef>
              <a:buNone/>
              <a:defRPr sz="1400"/>
            </a:lvl4pPr>
            <a:lvl5pPr marL="1828800" indent="0">
              <a:lnSpc>
                <a:spcPct val="120000"/>
              </a:lnSpc>
              <a:spcBef>
                <a:spcPts val="600"/>
              </a:spcBef>
              <a:buNone/>
              <a:defRPr sz="1400"/>
            </a:lvl5pPr>
          </a:lstStyle>
          <a:p>
            <a:pPr lvl="0"/>
            <a:r>
              <a:rPr lang="en-US"/>
              <a:t>Optional Subheading</a:t>
            </a:r>
          </a:p>
        </p:txBody>
      </p:sp>
      <p:sp>
        <p:nvSpPr>
          <p:cNvPr id="4" name="Title 1">
            <a:extLst>
              <a:ext uri="{FF2B5EF4-FFF2-40B4-BE49-F238E27FC236}">
                <a16:creationId xmlns:a16="http://schemas.microsoft.com/office/drawing/2014/main" id="{3B14B21E-98B1-E57D-4A00-0F38F24ADDC0}"/>
              </a:ext>
            </a:extLst>
          </p:cNvPr>
          <p:cNvSpPr>
            <a:spLocks noGrp="1"/>
          </p:cNvSpPr>
          <p:nvPr>
            <p:ph type="title" hasCustomPrompt="1"/>
          </p:nvPr>
        </p:nvSpPr>
        <p:spPr>
          <a:xfrm>
            <a:off x="5300132" y="2870648"/>
            <a:ext cx="5969000" cy="1354217"/>
          </a:xfrm>
          <a:prstGeom prst="rect">
            <a:avLst/>
          </a:prstGeom>
        </p:spPr>
        <p:txBody>
          <a:bodyPr lIns="0" tIns="0" rIns="0" bIns="0" anchor="b" anchorCtr="0"/>
          <a:lstStyle>
            <a:lvl1pPr marL="0" indent="0">
              <a:lnSpc>
                <a:spcPct val="100000"/>
              </a:lnSpc>
              <a:tabLst>
                <a:tab pos="2225675" algn="l"/>
              </a:tabLst>
              <a:defRPr sz="4400">
                <a:solidFill>
                  <a:schemeClr val="tx1"/>
                </a:solidFill>
              </a:defRPr>
            </a:lvl1pPr>
          </a:lstStyle>
          <a:p>
            <a:r>
              <a:rPr lang="en-US"/>
              <a:t>Presentation</a:t>
            </a:r>
            <a:br>
              <a:rPr lang="en-US"/>
            </a:br>
            <a:r>
              <a:rPr lang="en-US"/>
              <a:t>Heading</a:t>
            </a:r>
          </a:p>
        </p:txBody>
      </p:sp>
      <p:sp>
        <p:nvSpPr>
          <p:cNvPr id="5" name="Content Placeholder 2">
            <a:extLst>
              <a:ext uri="{FF2B5EF4-FFF2-40B4-BE49-F238E27FC236}">
                <a16:creationId xmlns:a16="http://schemas.microsoft.com/office/drawing/2014/main" id="{8E86221C-59C6-093A-D248-6D5255DF9984}"/>
              </a:ext>
            </a:extLst>
          </p:cNvPr>
          <p:cNvSpPr>
            <a:spLocks noGrp="1"/>
          </p:cNvSpPr>
          <p:nvPr>
            <p:ph idx="15" hasCustomPrompt="1"/>
          </p:nvPr>
        </p:nvSpPr>
        <p:spPr>
          <a:xfrm>
            <a:off x="5300132" y="4878902"/>
            <a:ext cx="5969000" cy="158763"/>
          </a:xfrm>
          <a:prstGeom prst="rect">
            <a:avLst/>
          </a:prstGeom>
        </p:spPr>
        <p:txBody>
          <a:bodyPr lIns="0" tIns="0" rIns="0" bIns="0" anchor="b" anchorCtr="0"/>
          <a:lstStyle>
            <a:lvl1pPr marL="0" indent="0">
              <a:lnSpc>
                <a:spcPct val="120000"/>
              </a:lnSpc>
              <a:spcBef>
                <a:spcPts val="600"/>
              </a:spcBef>
              <a:buNone/>
              <a:defRPr sz="1050">
                <a:solidFill>
                  <a:schemeClr val="tx1"/>
                </a:solidFill>
              </a:defRPr>
            </a:lvl1pPr>
            <a:lvl2pPr marL="457200" indent="0">
              <a:lnSpc>
                <a:spcPct val="120000"/>
              </a:lnSpc>
              <a:spcBef>
                <a:spcPts val="600"/>
              </a:spcBef>
              <a:buFont typeface="Arial" panose="020B0604020202020204" pitchFamily="34" charset="0"/>
              <a:buNone/>
              <a:defRPr sz="1800">
                <a:solidFill>
                  <a:schemeClr val="accent3"/>
                </a:solidFill>
              </a:defRPr>
            </a:lvl2pPr>
            <a:lvl3pPr marL="914400" indent="0">
              <a:lnSpc>
                <a:spcPct val="120000"/>
              </a:lnSpc>
              <a:spcBef>
                <a:spcPts val="600"/>
              </a:spcBef>
              <a:buNone/>
              <a:defRPr sz="1600"/>
            </a:lvl3pPr>
            <a:lvl4pPr marL="1371600" indent="0">
              <a:lnSpc>
                <a:spcPct val="120000"/>
              </a:lnSpc>
              <a:spcBef>
                <a:spcPts val="600"/>
              </a:spcBef>
              <a:buNone/>
              <a:defRPr sz="1400"/>
            </a:lvl4pPr>
            <a:lvl5pPr marL="1828800" indent="0">
              <a:lnSpc>
                <a:spcPct val="120000"/>
              </a:lnSpc>
              <a:spcBef>
                <a:spcPts val="600"/>
              </a:spcBef>
              <a:buNone/>
              <a:defRPr sz="1400"/>
            </a:lvl5pPr>
          </a:lstStyle>
          <a:p>
            <a:pPr lvl="0"/>
            <a:r>
              <a:rPr lang="en-US"/>
              <a:t>Date</a:t>
            </a:r>
          </a:p>
        </p:txBody>
      </p:sp>
    </p:spTree>
    <p:extLst>
      <p:ext uri="{BB962C8B-B14F-4D97-AF65-F5344CB8AC3E}">
        <p14:creationId xmlns:p14="http://schemas.microsoft.com/office/powerpoint/2010/main" val="1826603208"/>
      </p:ext>
    </p:extLst>
  </p:cSld>
  <p:clrMapOvr>
    <a:masterClrMapping/>
  </p:clrMapOvr>
  <p:extLst>
    <p:ext uri="{DCECCB84-F9BA-43D5-87BE-67443E8EF086}">
      <p15:sldGuideLst xmlns:p15="http://schemas.microsoft.com/office/powerpoint/2012/main">
        <p15:guide id="1" pos="3360">
          <p15:clr>
            <a:srgbClr val="A4A3A4"/>
          </p15:clr>
        </p15:guide>
        <p15:guide id="2" pos="7104">
          <p15:clr>
            <a:srgbClr val="A4A3A4"/>
          </p15:clr>
        </p15:guide>
        <p15:guide id="3" orient="horz" pos="1344">
          <p15:clr>
            <a:srgbClr val="A4A3A4"/>
          </p15:clr>
        </p15:guide>
        <p15:guide id="4" orient="horz" pos="3744">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p:bg>
      <p:bgPr>
        <a:gradFill>
          <a:gsLst>
            <a:gs pos="83000">
              <a:srgbClr val="8FC3FF"/>
            </a:gs>
            <a:gs pos="100000">
              <a:srgbClr val="80BAFF"/>
            </a:gs>
            <a:gs pos="26000">
              <a:srgbClr val="A9D4FF"/>
            </a:gs>
          </a:gsLst>
          <a:path path="circle">
            <a:fillToRect l="50000" t="50000" r="50000" b="5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21008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Blank">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027319"/>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40801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1660493126"/>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41664404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24193086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6288483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17830449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18483051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2668587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2962439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a:xfrm>
            <a:off x="11650342" y="6232230"/>
            <a:ext cx="430079" cy="365125"/>
          </a:xfrm>
          <a:prstGeom prst="rect">
            <a:avLst/>
          </a:prstGeom>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3918272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34" Type="http://schemas.openxmlformats.org/officeDocument/2006/relationships/image" Target="../media/image6.svg"/><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image" Target="../media/image4.png"/><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theme" Target="../theme/theme2.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image" Target="../media/image3.png"/><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image" Target="../media/image2.emf"/><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3.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image" Target="../media/image6.svg"/><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image" Target="../media/image2.emf"/><Relationship Id="rId5" Type="http://schemas.openxmlformats.org/officeDocument/2006/relationships/slideLayout" Target="../slideLayouts/slideLayout49.xml"/><Relationship Id="rId10" Type="http://schemas.openxmlformats.org/officeDocument/2006/relationships/theme" Target="../theme/theme3.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15"/>
          <a:srcRect/>
          <a:stretch/>
        </p:blipFill>
        <p:spPr>
          <a:xfrm>
            <a:off x="457200"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200" y="493776"/>
            <a:ext cx="11275835"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275834"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16"/>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Rectangle 9">
            <a:extLst>
              <a:ext uri="{FF2B5EF4-FFF2-40B4-BE49-F238E27FC236}">
                <a16:creationId xmlns:a16="http://schemas.microsoft.com/office/drawing/2014/main" id="{F3B603B8-6657-DBEA-8218-6D5AF03436ED}"/>
              </a:ext>
            </a:extLst>
          </p:cNvPr>
          <p:cNvSpPr/>
          <p:nvPr userDrawn="1"/>
        </p:nvSpPr>
        <p:spPr>
          <a:xfrm>
            <a:off x="0" y="6128899"/>
            <a:ext cx="12192000" cy="559648"/>
          </a:xfrm>
          <a:prstGeom prst="rect">
            <a:avLst/>
          </a:prstGeom>
          <a:gradFill flip="none" rotWithShape="1">
            <a:gsLst>
              <a:gs pos="96000">
                <a:schemeClr val="bg1">
                  <a:alpha val="50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ue and black logo&#10;&#10;AI-generated content may be incorrect.">
            <a:extLst>
              <a:ext uri="{FF2B5EF4-FFF2-40B4-BE49-F238E27FC236}">
                <a16:creationId xmlns:a16="http://schemas.microsoft.com/office/drawing/2014/main" id="{16D4158C-5B8E-5DB6-2358-80EF43FEA6C9}"/>
              </a:ext>
            </a:extLst>
          </p:cNvPr>
          <p:cNvPicPr>
            <a:picLocks noChangeAspect="1"/>
          </p:cNvPicPr>
          <p:nvPr userDrawn="1"/>
        </p:nvPicPr>
        <p:blipFill>
          <a:blip r:embed="rId17"/>
          <a:stretch>
            <a:fillRect/>
          </a:stretch>
        </p:blipFill>
        <p:spPr>
          <a:xfrm>
            <a:off x="10064218" y="6251684"/>
            <a:ext cx="1239653" cy="314078"/>
          </a:xfrm>
          <a:prstGeom prst="rect">
            <a:avLst/>
          </a:prstGeom>
        </p:spPr>
      </p:pic>
      <p:sp>
        <p:nvSpPr>
          <p:cNvPr id="4" name="TextBox 3">
            <a:extLst>
              <a:ext uri="{FF2B5EF4-FFF2-40B4-BE49-F238E27FC236}">
                <a16:creationId xmlns:a16="http://schemas.microsoft.com/office/drawing/2014/main" id="{9C1E0DA9-3015-34A0-4456-518524F4A5A9}"/>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754868560"/>
      </p:ext>
    </p:extLst>
  </p:cSld>
  <p:clrMap bg1="lt1" tx1="dk1" bg2="lt2" tx2="dk2" accent1="accent1" accent2="accent2" accent3="accent3" accent4="accent4" accent5="accent5" accent6="accent6" hlink="hlink" folHlink="folHlink"/>
  <p:sldLayoutIdLst>
    <p:sldLayoutId id="2147485857" r:id="rId1"/>
    <p:sldLayoutId id="2147486010" r:id="rId2"/>
    <p:sldLayoutId id="2147485862" r:id="rId3"/>
    <p:sldLayoutId id="2147485863" r:id="rId4"/>
    <p:sldLayoutId id="2147485865" r:id="rId5"/>
    <p:sldLayoutId id="2147485866" r:id="rId6"/>
    <p:sldLayoutId id="2147485873" r:id="rId7"/>
    <p:sldLayoutId id="2147485881" r:id="rId8"/>
    <p:sldLayoutId id="2147485882" r:id="rId9"/>
    <p:sldLayoutId id="2147485883" r:id="rId10"/>
    <p:sldLayoutId id="2147486060" r:id="rId11"/>
    <p:sldLayoutId id="2147486095" r:id="rId12"/>
    <p:sldLayoutId id="2147486175" r:id="rId13"/>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396">
          <p15:clr>
            <a:srgbClr val="F26B43"/>
          </p15:clr>
        </p15:guide>
        <p15:guide id="3" pos="7287">
          <p15:clr>
            <a:srgbClr val="F26B43"/>
          </p15:clr>
        </p15:guide>
        <p15:guide id="4" orient="horz" pos="37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8000">
              <a:srgbClr val="80BAFF"/>
            </a:gs>
            <a:gs pos="25000">
              <a:srgbClr val="A9D4FF"/>
            </a:gs>
          </a:gsLst>
          <a:lin ang="5400000" scaled="0"/>
          <a:tileRect/>
        </a:gradFill>
        <a:effectLst/>
      </p:bgPr>
    </p:bg>
    <p:spTree>
      <p:nvGrpSpPr>
        <p:cNvPr id="1" name=""/>
        <p:cNvGrpSpPr/>
        <p:nvPr/>
      </p:nvGrpSpPr>
      <p:grpSpPr>
        <a:xfrm>
          <a:off x="0" y="0"/>
          <a:ext cx="0" cy="0"/>
          <a:chOff x="0" y="0"/>
          <a:chExt cx="0" cy="0"/>
        </a:xfrm>
      </p:grpSpPr>
      <p:pic>
        <p:nvPicPr>
          <p:cNvPr id="8" name="Picture 7" descr="A blue and grey square&#10;&#10;AI-generated content may be incorrect.">
            <a:extLst>
              <a:ext uri="{FF2B5EF4-FFF2-40B4-BE49-F238E27FC236}">
                <a16:creationId xmlns:a16="http://schemas.microsoft.com/office/drawing/2014/main" id="{1BAEFFD2-ADD9-0474-2C25-1F659BFAB753}"/>
              </a:ext>
            </a:extLst>
          </p:cNvPr>
          <p:cNvPicPr>
            <a:picLocks noChangeAspect="1"/>
          </p:cNvPicPr>
          <p:nvPr userDrawn="1"/>
        </p:nvPicPr>
        <p:blipFill>
          <a:blip r:embed="rId33">
            <a:alphaModFix amt="20000"/>
          </a:blip>
          <a:stretch>
            <a:fillRect/>
          </a:stretch>
        </p:blipFill>
        <p:spPr>
          <a:xfrm>
            <a:off x="0" y="616856"/>
            <a:ext cx="6265333" cy="6241143"/>
          </a:xfrm>
          <a:prstGeom prst="rect">
            <a:avLst/>
          </a:prstGeom>
        </p:spPr>
      </p:pic>
      <p:sp>
        <p:nvSpPr>
          <p:cNvPr id="9" name="Rectangle 8">
            <a:extLst>
              <a:ext uri="{FF2B5EF4-FFF2-40B4-BE49-F238E27FC236}">
                <a16:creationId xmlns:a16="http://schemas.microsoft.com/office/drawing/2014/main" id="{FC7AA6F5-31A9-7FB9-F6A6-7406C891135F}"/>
              </a:ext>
            </a:extLst>
          </p:cNvPr>
          <p:cNvSpPr/>
          <p:nvPr userDrawn="1"/>
        </p:nvSpPr>
        <p:spPr>
          <a:xfrm>
            <a:off x="0" y="6119783"/>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D6E1EB6D-4C6D-F8AF-9DF9-BFB90AC7B602}"/>
              </a:ext>
            </a:extLst>
          </p:cNvPr>
          <p:cNvPicPr>
            <a:picLocks noChangeAspect="1"/>
          </p:cNvPicPr>
          <p:nvPr userDrawn="1"/>
        </p:nvPicPr>
        <p:blipFill>
          <a:blip>
            <a:extLst>
              <a:ext uri="{96DAC541-7B7A-43D3-8B79-37D633B846F1}">
                <asvg:svgBlip xmlns:asvg="http://schemas.microsoft.com/office/drawing/2016/SVG/main" r:embed="rId34"/>
              </a:ext>
            </a:extLst>
          </a:blip>
          <a:stretch>
            <a:fillRect/>
          </a:stretch>
        </p:blipFill>
        <p:spPr>
          <a:xfrm>
            <a:off x="402110" y="6231912"/>
            <a:ext cx="365760" cy="36576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21041" y="493776"/>
            <a:ext cx="11310707"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21041" y="1554480"/>
            <a:ext cx="11310707"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25DD03-798E-DA9C-D9CE-8905DBA17BC8}"/>
              </a:ext>
            </a:extLst>
          </p:cNvPr>
          <p:cNvSpPr>
            <a:spLocks noGrp="1"/>
          </p:cNvSpPr>
          <p:nvPr userDrawn="1">
            <p:ph type="sldNum" sz="quarter" idx="4"/>
          </p:nvPr>
        </p:nvSpPr>
        <p:spPr>
          <a:xfrm>
            <a:off x="11731748" y="6232230"/>
            <a:ext cx="288523" cy="365125"/>
          </a:xfrm>
          <a:prstGeom prst="rect">
            <a:avLst/>
          </a:prstGeom>
        </p:spPr>
        <p:txBody>
          <a:bodyPr vert="horz" lIns="0" tIns="0" rIns="0" bIns="0" rtlCol="0" anchor="ctr" anchorCtr="0">
            <a:noAutofit/>
          </a:bodyPr>
          <a:lstStyle>
            <a:lvl1pPr algn="r">
              <a:defRPr sz="8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sz="800"/>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35"/>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A blue and black logo&#10;&#10;AI-generated content may be incorrect.">
            <a:extLst>
              <a:ext uri="{FF2B5EF4-FFF2-40B4-BE49-F238E27FC236}">
                <a16:creationId xmlns:a16="http://schemas.microsoft.com/office/drawing/2014/main" id="{F237A442-77B1-39AF-2F30-661CC1C646CD}"/>
              </a:ext>
            </a:extLst>
          </p:cNvPr>
          <p:cNvPicPr>
            <a:picLocks noChangeAspect="1"/>
          </p:cNvPicPr>
          <p:nvPr userDrawn="1"/>
        </p:nvPicPr>
        <p:blipFill>
          <a:blip r:embed="rId36"/>
          <a:stretch>
            <a:fillRect/>
          </a:stretch>
        </p:blipFill>
        <p:spPr>
          <a:xfrm>
            <a:off x="10649018" y="6277632"/>
            <a:ext cx="1082730" cy="274320"/>
          </a:xfrm>
          <a:prstGeom prst="rect">
            <a:avLst/>
          </a:prstGeom>
        </p:spPr>
      </p:pic>
    </p:spTree>
    <p:extLst>
      <p:ext uri="{BB962C8B-B14F-4D97-AF65-F5344CB8AC3E}">
        <p14:creationId xmlns:p14="http://schemas.microsoft.com/office/powerpoint/2010/main" val="2441195467"/>
      </p:ext>
    </p:extLst>
  </p:cSld>
  <p:clrMap bg1="lt1" tx1="dk1" bg2="lt2" tx2="dk2" accent1="accent1" accent2="accent2" accent3="accent3" accent4="accent4" accent5="accent5" accent6="accent6" hlink="hlink" folHlink="folHlink"/>
  <p:sldLayoutIdLst>
    <p:sldLayoutId id="2147486134" r:id="rId1"/>
    <p:sldLayoutId id="2147486135" r:id="rId2"/>
    <p:sldLayoutId id="2147486136" r:id="rId3"/>
    <p:sldLayoutId id="2147486137" r:id="rId4"/>
    <p:sldLayoutId id="2147486138" r:id="rId5"/>
    <p:sldLayoutId id="2147486139" r:id="rId6"/>
    <p:sldLayoutId id="2147486140" r:id="rId7"/>
    <p:sldLayoutId id="2147486141" r:id="rId8"/>
    <p:sldLayoutId id="2147486142" r:id="rId9"/>
    <p:sldLayoutId id="2147486143" r:id="rId10"/>
    <p:sldLayoutId id="2147486144" r:id="rId11"/>
    <p:sldLayoutId id="2147486145" r:id="rId12"/>
    <p:sldLayoutId id="2147486146" r:id="rId13"/>
    <p:sldLayoutId id="2147486147" r:id="rId14"/>
    <p:sldLayoutId id="2147486148" r:id="rId15"/>
    <p:sldLayoutId id="2147486149" r:id="rId16"/>
    <p:sldLayoutId id="2147486150" r:id="rId17"/>
    <p:sldLayoutId id="2147486151" r:id="rId18"/>
    <p:sldLayoutId id="2147486152" r:id="rId19"/>
    <p:sldLayoutId id="2147486153" r:id="rId20"/>
    <p:sldLayoutId id="2147486154" r:id="rId21"/>
    <p:sldLayoutId id="2147486155" r:id="rId22"/>
    <p:sldLayoutId id="2147486156" r:id="rId23"/>
    <p:sldLayoutId id="2147486157" r:id="rId24"/>
    <p:sldLayoutId id="2147486158" r:id="rId25"/>
    <p:sldLayoutId id="2147486159" r:id="rId26"/>
    <p:sldLayoutId id="2147486160" r:id="rId27"/>
    <p:sldLayoutId id="2147486161" r:id="rId28"/>
    <p:sldLayoutId id="2147486162" r:id="rId29"/>
    <p:sldLayoutId id="2147486163" r:id="rId30"/>
    <p:sldLayoutId id="2147486164" r:id="rId31"/>
  </p:sldLayoutIdLst>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199" y="493776"/>
            <a:ext cx="11336693"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336692"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11"/>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Rectangle 7">
            <a:extLst>
              <a:ext uri="{FF2B5EF4-FFF2-40B4-BE49-F238E27FC236}">
                <a16:creationId xmlns:a16="http://schemas.microsoft.com/office/drawing/2014/main" id="{C138A1B3-3BF3-59B5-BC62-D71A42E3DCAE}"/>
              </a:ext>
            </a:extLst>
          </p:cNvPr>
          <p:cNvSpPr/>
          <p:nvPr userDrawn="1"/>
        </p:nvSpPr>
        <p:spPr>
          <a:xfrm>
            <a:off x="0" y="6119783"/>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A4EF89E6-B423-961F-9EA6-282EA3254A55}"/>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402110" y="6231912"/>
            <a:ext cx="365760" cy="365760"/>
          </a:xfrm>
          <a:prstGeom prst="rect">
            <a:avLst/>
          </a:prstGeom>
          <a:effectLst/>
        </p:spPr>
      </p:pic>
      <p:sp>
        <p:nvSpPr>
          <p:cNvPr id="10" name="Slide Number Placeholder 5">
            <a:extLst>
              <a:ext uri="{FF2B5EF4-FFF2-40B4-BE49-F238E27FC236}">
                <a16:creationId xmlns:a16="http://schemas.microsoft.com/office/drawing/2014/main" id="{1D245A44-8C53-1922-627A-B81AD5688085}"/>
              </a:ext>
            </a:extLst>
          </p:cNvPr>
          <p:cNvSpPr>
            <a:spLocks noGrp="1"/>
          </p:cNvSpPr>
          <p:nvPr>
            <p:ph type="sldNum" sz="quarter" idx="4"/>
          </p:nvPr>
        </p:nvSpPr>
        <p:spPr>
          <a:xfrm>
            <a:off x="11731748" y="6232230"/>
            <a:ext cx="288523" cy="365125"/>
          </a:xfrm>
          <a:prstGeom prst="rect">
            <a:avLst/>
          </a:prstGeom>
        </p:spPr>
        <p:txBody>
          <a:bodyPr vert="horz" lIns="0" tIns="0" rIns="0" bIns="0" rtlCol="0" anchor="ctr" anchorCtr="0">
            <a:noAutofit/>
          </a:bodyPr>
          <a:lstStyle>
            <a:lvl1pPr algn="r">
              <a:defRPr sz="8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sz="800"/>
          </a:p>
        </p:txBody>
      </p:sp>
      <p:pic>
        <p:nvPicPr>
          <p:cNvPr id="11" name="Picture 10" descr="A blue and black logo&#10;&#10;AI-generated content may be incorrect.">
            <a:extLst>
              <a:ext uri="{FF2B5EF4-FFF2-40B4-BE49-F238E27FC236}">
                <a16:creationId xmlns:a16="http://schemas.microsoft.com/office/drawing/2014/main" id="{4F45A68D-EFC0-33D2-D772-6ECD1B4C7C71}"/>
              </a:ext>
            </a:extLst>
          </p:cNvPr>
          <p:cNvPicPr>
            <a:picLocks noChangeAspect="1"/>
          </p:cNvPicPr>
          <p:nvPr userDrawn="1"/>
        </p:nvPicPr>
        <p:blipFill>
          <a:blip r:embed="rId13"/>
          <a:stretch>
            <a:fillRect/>
          </a:stretch>
        </p:blipFill>
        <p:spPr>
          <a:xfrm>
            <a:off x="10649018" y="6277632"/>
            <a:ext cx="1082730" cy="274320"/>
          </a:xfrm>
          <a:prstGeom prst="rect">
            <a:avLst/>
          </a:prstGeom>
        </p:spPr>
      </p:pic>
    </p:spTree>
    <p:extLst>
      <p:ext uri="{BB962C8B-B14F-4D97-AF65-F5344CB8AC3E}">
        <p14:creationId xmlns:p14="http://schemas.microsoft.com/office/powerpoint/2010/main" val="1118523855"/>
      </p:ext>
    </p:extLst>
  </p:cSld>
  <p:clrMap bg1="lt1" tx1="dk1" bg2="lt2" tx2="dk2" accent1="accent1" accent2="accent2" accent3="accent3" accent4="accent4" accent5="accent5" accent6="accent6" hlink="hlink" folHlink="folHlink"/>
  <p:sldLayoutIdLst>
    <p:sldLayoutId id="2147486166" r:id="rId1"/>
    <p:sldLayoutId id="2147486167" r:id="rId2"/>
    <p:sldLayoutId id="2147486168" r:id="rId3"/>
    <p:sldLayoutId id="2147486169" r:id="rId4"/>
    <p:sldLayoutId id="2147486170" r:id="rId5"/>
    <p:sldLayoutId id="2147486171" r:id="rId6"/>
    <p:sldLayoutId id="2147486172" r:id="rId7"/>
    <p:sldLayoutId id="2147486173" r:id="rId8"/>
    <p:sldLayoutId id="2147486174" r:id="rId9"/>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288">
          <p15:clr>
            <a:srgbClr val="F26B43"/>
          </p15:clr>
        </p15:guide>
        <p15:guide id="3" pos="7287">
          <p15:clr>
            <a:srgbClr val="F26B43"/>
          </p15:clr>
        </p15:guide>
        <p15:guide id="4" orient="horz" pos="37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2.png"/><Relationship Id="rId2" Type="http://schemas.openxmlformats.org/officeDocument/2006/relationships/slideLayout" Target="../slideLayouts/slideLayout45.xml"/><Relationship Id="rId1" Type="http://schemas.openxmlformats.org/officeDocument/2006/relationships/themeOverride" Target="../theme/themeOverride1.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4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45.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45.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0.xml.rels><?xml version="1.0" encoding="UTF-8" standalone="yes"?>
<Relationships xmlns="http://schemas.openxmlformats.org/package/2006/relationships"><Relationship Id="rId3" Type="http://schemas.openxmlformats.org/officeDocument/2006/relationships/image" Target="../media/image31.jpe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jpe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jpe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2DE8A6-7F5D-DA8D-6277-B03F5352FC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916" y="457171"/>
            <a:ext cx="11272168" cy="5610254"/>
          </a:xfrm>
          <a:prstGeom prst="rect">
            <a:avLst/>
          </a:prstGeom>
        </p:spPr>
      </p:pic>
      <p:sp>
        <p:nvSpPr>
          <p:cNvPr id="4" name="Title 2">
            <a:extLst>
              <a:ext uri="{FF2B5EF4-FFF2-40B4-BE49-F238E27FC236}">
                <a16:creationId xmlns:a16="http://schemas.microsoft.com/office/drawing/2014/main" id="{6FBE3A7A-2278-7A8C-92B9-784ED78AA5D5}"/>
              </a:ext>
            </a:extLst>
          </p:cNvPr>
          <p:cNvSpPr txBox="1">
            <a:spLocks/>
          </p:cNvSpPr>
          <p:nvPr/>
        </p:nvSpPr>
        <p:spPr>
          <a:xfrm>
            <a:off x="411483" y="4324124"/>
            <a:ext cx="3868058" cy="1107996"/>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3200" kern="1200">
                <a:solidFill>
                  <a:schemeClr val="bg1"/>
                </a:solidFill>
                <a:latin typeface="+mj-lt"/>
                <a:ea typeface="+mj-ea"/>
                <a:cs typeface="+mj-cs"/>
              </a:defRPr>
            </a:lvl1pPr>
          </a:lstStyle>
          <a:p>
            <a:r>
              <a:rPr lang="en-US" sz="3600">
                <a:solidFill>
                  <a:schemeClr val="tx1"/>
                </a:solidFill>
              </a:rPr>
              <a:t>What’s important this week</a:t>
            </a:r>
          </a:p>
        </p:txBody>
      </p:sp>
      <p:pic>
        <p:nvPicPr>
          <p:cNvPr id="10" name="Graphic 9">
            <a:extLst>
              <a:ext uri="{FF2B5EF4-FFF2-40B4-BE49-F238E27FC236}">
                <a16:creationId xmlns:a16="http://schemas.microsoft.com/office/drawing/2014/main" id="{1E2BA9F7-3E19-DF27-0E67-641BC67A60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457200"/>
            <a:ext cx="868683" cy="868683"/>
          </a:xfrm>
          <a:prstGeom prst="rect">
            <a:avLst/>
          </a:prstGeom>
        </p:spPr>
      </p:pic>
    </p:spTree>
    <p:extLst>
      <p:ext uri="{BB962C8B-B14F-4D97-AF65-F5344CB8AC3E}">
        <p14:creationId xmlns:p14="http://schemas.microsoft.com/office/powerpoint/2010/main" val="1095865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86BFF-119C-D61E-9A13-9B956CD91759}"/>
              </a:ext>
            </a:extLst>
          </p:cNvPr>
          <p:cNvSpPr>
            <a:spLocks noGrp="1"/>
          </p:cNvSpPr>
          <p:nvPr>
            <p:ph type="ctrTitle"/>
          </p:nvPr>
        </p:nvSpPr>
        <p:spPr/>
        <p:txBody>
          <a:bodyPr/>
          <a:lstStyle/>
          <a:p>
            <a:r>
              <a:rPr lang="en-US"/>
              <a:t>TOP PERFORMERS</a:t>
            </a:r>
          </a:p>
        </p:txBody>
      </p:sp>
      <p:sp>
        <p:nvSpPr>
          <p:cNvPr id="3" name="Subtitle 2">
            <a:extLst>
              <a:ext uri="{FF2B5EF4-FFF2-40B4-BE49-F238E27FC236}">
                <a16:creationId xmlns:a16="http://schemas.microsoft.com/office/drawing/2014/main" id="{0D5ACA46-5EF3-8CAE-4529-4C25B229BBA8}"/>
              </a:ext>
            </a:extLst>
          </p:cNvPr>
          <p:cNvSpPr>
            <a:spLocks noGrp="1"/>
          </p:cNvSpPr>
          <p:nvPr>
            <p:ph type="subTitle" idx="1"/>
          </p:nvPr>
        </p:nvSpPr>
        <p:spPr/>
        <p:txBody>
          <a:bodyPr/>
          <a:lstStyle/>
          <a:p>
            <a:r>
              <a:rPr lang="en-US"/>
              <a:t>[Fill in before Monday meeting]
1. [Agent Name] — [Achievement]
2. [Agent Name] — [Achievement]
3. [Agent Name] — [Achievement]
Weekly Production: $[Amount]
Life Cases: [#]
Bonus Eligible: [#] agents
Council Credits: $[Amount]</a:t>
            </a:r>
          </a:p>
        </p:txBody>
      </p:sp>
    </p:spTree>
    <p:extLst>
      <p:ext uri="{BB962C8B-B14F-4D97-AF65-F5344CB8AC3E}">
        <p14:creationId xmlns:p14="http://schemas.microsoft.com/office/powerpoint/2010/main" val="4097629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39454-E496-283E-E58C-F3EC7AE7B331}"/>
              </a:ext>
            </a:extLst>
          </p:cNvPr>
          <p:cNvSpPr>
            <a:spLocks noGrp="1"/>
          </p:cNvSpPr>
          <p:nvPr>
            <p:ph type="ctrTitle"/>
          </p:nvPr>
        </p:nvSpPr>
        <p:spPr/>
        <p:txBody>
          <a:bodyPr/>
          <a:lstStyle/>
          <a:p>
            <a:r>
              <a:rPr lang="en-US"/>
              <a:t>MARKET WEEK OVERVIEW
Week Ended: July 2, 2026</a:t>
            </a:r>
          </a:p>
        </p:txBody>
      </p:sp>
      <p:sp>
        <p:nvSpPr>
          <p:cNvPr id="3" name="Subtitle 2">
            <a:extLst>
              <a:ext uri="{FF2B5EF4-FFF2-40B4-BE49-F238E27FC236}">
                <a16:creationId xmlns:a16="http://schemas.microsoft.com/office/drawing/2014/main" id="{55BB2A5C-D4FB-3FF1-7268-9611E52807D7}"/>
              </a:ext>
            </a:extLst>
          </p:cNvPr>
          <p:cNvSpPr>
            <a:spLocks noGrp="1"/>
          </p:cNvSpPr>
          <p:nvPr>
            <p:ph type="subTitle" idx="1"/>
          </p:nvPr>
        </p:nvSpPr>
        <p:spPr/>
        <p:txBody>
          <a:bodyPr/>
          <a:lstStyle/>
          <a:p>
            <a:r>
              <a:rPr lang="en-US"/>
              <a:t>• Dow Jones: 52,900.07 (+1.14% for week)
• S&amp;P 500: 7,483.24 (Flat for week)
• Nasdaq Composite: 25,832.67 (-0.80% for week)
• Russell 2000: 2,996.11 (-0.55% for week)
Key Themes:
→ Record Dow divergence from tech weakness
→ June jobs show labor market cooling
→ Fed remains patient on rates
→ Oil stabilizes around $68/barrel</a:t>
            </a:r>
          </a:p>
        </p:txBody>
      </p:sp>
    </p:spTree>
    <p:extLst>
      <p:ext uri="{BB962C8B-B14F-4D97-AF65-F5344CB8AC3E}">
        <p14:creationId xmlns:p14="http://schemas.microsoft.com/office/powerpoint/2010/main" val="4009208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9E944-6924-57D2-0A0C-AC48D64D56DA}"/>
              </a:ext>
            </a:extLst>
          </p:cNvPr>
          <p:cNvSpPr>
            <a:spLocks noGrp="1"/>
          </p:cNvSpPr>
          <p:nvPr>
            <p:ph type="ctrTitle"/>
          </p:nvPr>
        </p:nvSpPr>
        <p:spPr>
          <a:xfrm>
            <a:off x="1524000" y="1122363"/>
            <a:ext cx="9144000" cy="1021747"/>
          </a:xfrm>
        </p:spPr>
        <p:txBody>
          <a:bodyPr/>
          <a:lstStyle/>
          <a:p>
            <a:r>
              <a:rPr lang="en-US" dirty="0"/>
              <a:t>KEY ECONOMIC DATA</a:t>
            </a:r>
          </a:p>
        </p:txBody>
      </p:sp>
      <p:sp>
        <p:nvSpPr>
          <p:cNvPr id="3" name="Subtitle 2">
            <a:extLst>
              <a:ext uri="{FF2B5EF4-FFF2-40B4-BE49-F238E27FC236}">
                <a16:creationId xmlns:a16="http://schemas.microsoft.com/office/drawing/2014/main" id="{C97D0E88-5921-1A7F-22D8-B9C9EFD8FD0A}"/>
              </a:ext>
            </a:extLst>
          </p:cNvPr>
          <p:cNvSpPr>
            <a:spLocks noGrp="1"/>
          </p:cNvSpPr>
          <p:nvPr>
            <p:ph type="subTitle" idx="1"/>
          </p:nvPr>
        </p:nvSpPr>
        <p:spPr>
          <a:xfrm>
            <a:off x="1524000" y="2144110"/>
            <a:ext cx="9144000" cy="1655762"/>
          </a:xfrm>
        </p:spPr>
        <p:txBody>
          <a:bodyPr/>
          <a:lstStyle/>
          <a:p>
            <a:r>
              <a:rPr lang="en-US" dirty="0"/>
              <a:t>June Jobs Report (Released July 3):
• Nonfarm Payrolls: +150K (est. +190K)
• Unemployment Rate: 4.0% (est. 4.0%)
• Avg Hourly Earnings: +0.2% MoM
Other Data Points:
• ISM Manufacturing: 48.7 (contraction)
• Consumer Confidence: 100.2 (steady)
• PCE Inflation: +2.6% YoY (Fed's target)
Takeaway: Labor market softening, inflation progress continues</a:t>
            </a:r>
          </a:p>
        </p:txBody>
      </p:sp>
    </p:spTree>
    <p:extLst>
      <p:ext uri="{BB962C8B-B14F-4D97-AF65-F5344CB8AC3E}">
        <p14:creationId xmlns:p14="http://schemas.microsoft.com/office/powerpoint/2010/main" val="2082663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2F17E-C078-54CA-C437-6CA2EB42EA7F}"/>
              </a:ext>
            </a:extLst>
          </p:cNvPr>
          <p:cNvSpPr>
            <a:spLocks noGrp="1"/>
          </p:cNvSpPr>
          <p:nvPr>
            <p:ph type="ctrTitle"/>
          </p:nvPr>
        </p:nvSpPr>
        <p:spPr>
          <a:xfrm>
            <a:off x="1524000" y="1122363"/>
            <a:ext cx="9144000" cy="853582"/>
          </a:xfrm>
        </p:spPr>
        <p:txBody>
          <a:bodyPr/>
          <a:lstStyle/>
          <a:p>
            <a:r>
              <a:rPr lang="en-US" dirty="0"/>
              <a:t>NOTABLE EARNINGS</a:t>
            </a:r>
          </a:p>
        </p:txBody>
      </p:sp>
      <p:sp>
        <p:nvSpPr>
          <p:cNvPr id="3" name="Subtitle 2">
            <a:extLst>
              <a:ext uri="{FF2B5EF4-FFF2-40B4-BE49-F238E27FC236}">
                <a16:creationId xmlns:a16="http://schemas.microsoft.com/office/drawing/2014/main" id="{AA8153C1-AAC8-163C-65C0-62811018B75E}"/>
              </a:ext>
            </a:extLst>
          </p:cNvPr>
          <p:cNvSpPr>
            <a:spLocks noGrp="1"/>
          </p:cNvSpPr>
          <p:nvPr>
            <p:ph type="subTitle" idx="1"/>
          </p:nvPr>
        </p:nvSpPr>
        <p:spPr>
          <a:xfrm>
            <a:off x="1524000" y="1975945"/>
            <a:ext cx="9144000" cy="1655762"/>
          </a:xfrm>
        </p:spPr>
        <p:txBody>
          <a:bodyPr/>
          <a:lstStyle/>
          <a:p>
            <a:r>
              <a:rPr lang="en-US" dirty="0"/>
              <a:t>This Week's Standouts:
• Tesla (TSLA): -12% on delivery miss
  Q2 deliveries: 438K vs est. 445K
• Lockheed Martin (LMT): +8% on defense demand
  Backlog hits record $161B
• Constellation Brands (STZ): +5% on beer strength
  Modelo continues market share gains
• Micron (MU): -4% on memory price concerns</a:t>
            </a:r>
          </a:p>
        </p:txBody>
      </p:sp>
    </p:spTree>
    <p:extLst>
      <p:ext uri="{BB962C8B-B14F-4D97-AF65-F5344CB8AC3E}">
        <p14:creationId xmlns:p14="http://schemas.microsoft.com/office/powerpoint/2010/main" val="1975674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B25A-4E55-F3CC-C653-DD2A7415454F}"/>
              </a:ext>
            </a:extLst>
          </p:cNvPr>
          <p:cNvSpPr>
            <a:spLocks noGrp="1"/>
          </p:cNvSpPr>
          <p:nvPr>
            <p:ph type="ctrTitle"/>
          </p:nvPr>
        </p:nvSpPr>
        <p:spPr/>
        <p:txBody>
          <a:bodyPr/>
          <a:lstStyle/>
          <a:p>
            <a:r>
              <a:rPr lang="en-US"/>
              <a:t>ECONOMIC CALENDAR
Week of July 6-10, 2026</a:t>
            </a:r>
          </a:p>
        </p:txBody>
      </p:sp>
      <p:sp>
        <p:nvSpPr>
          <p:cNvPr id="3" name="Subtitle 2">
            <a:extLst>
              <a:ext uri="{FF2B5EF4-FFF2-40B4-BE49-F238E27FC236}">
                <a16:creationId xmlns:a16="http://schemas.microsoft.com/office/drawing/2014/main" id="{539C2063-046A-4885-9BAC-9FD1ED187429}"/>
              </a:ext>
            </a:extLst>
          </p:cNvPr>
          <p:cNvSpPr>
            <a:spLocks noGrp="1"/>
          </p:cNvSpPr>
          <p:nvPr>
            <p:ph type="subTitle" idx="1"/>
          </p:nvPr>
        </p:nvSpPr>
        <p:spPr/>
        <p:txBody>
          <a:bodyPr/>
          <a:lstStyle/>
          <a:p>
            <a:r>
              <a:rPr lang="en-US"/>
              <a:t>Monday, July 6:
• ISM Services Index: 10:00 AM ET
• Markets reopen after holiday
Tuesday, July 7:
• JOLTS Job Openings: 10:00 AM ET
• Fed's Bowman speaks: 12:30 PM ET
Wednesday, July 8:
• Consumer Credit: 3:00 PM ET
Thursday, July 9:
• Initial Jobless Claims: 8:30 AM ET
Friday, July 10:
• PPI Final Demand: 8:30 AM ET
• Consumer Sentiment: 10:00 AM ET</a:t>
            </a:r>
          </a:p>
        </p:txBody>
      </p:sp>
    </p:spTree>
    <p:extLst>
      <p:ext uri="{BB962C8B-B14F-4D97-AF65-F5344CB8AC3E}">
        <p14:creationId xmlns:p14="http://schemas.microsoft.com/office/powerpoint/2010/main" val="1138986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4C425-A4DE-E6EE-5355-1BE76D84163E}"/>
              </a:ext>
            </a:extLst>
          </p:cNvPr>
          <p:cNvSpPr>
            <a:spLocks noGrp="1"/>
          </p:cNvSpPr>
          <p:nvPr>
            <p:ph type="ctrTitle"/>
          </p:nvPr>
        </p:nvSpPr>
        <p:spPr/>
        <p:txBody>
          <a:bodyPr/>
          <a:lstStyle/>
          <a:p>
            <a:r>
              <a:rPr lang="en-US"/>
              <a:t>EARNINGS CALENDAR
Week of July 6-10, 2026</a:t>
            </a:r>
          </a:p>
        </p:txBody>
      </p:sp>
      <p:sp>
        <p:nvSpPr>
          <p:cNvPr id="3" name="Subtitle 2">
            <a:extLst>
              <a:ext uri="{FF2B5EF4-FFF2-40B4-BE49-F238E27FC236}">
                <a16:creationId xmlns:a16="http://schemas.microsoft.com/office/drawing/2014/main" id="{301F67F9-CEE1-FC7B-1F4D-0AB6FB9D10BC}"/>
              </a:ext>
            </a:extLst>
          </p:cNvPr>
          <p:cNvSpPr>
            <a:spLocks noGrp="1"/>
          </p:cNvSpPr>
          <p:nvPr>
            <p:ph type="subTitle" idx="1"/>
          </p:nvPr>
        </p:nvSpPr>
        <p:spPr/>
        <p:txBody>
          <a:bodyPr/>
          <a:lstStyle/>
          <a:p>
            <a:r>
              <a:rPr lang="en-US"/>
              <a:t>Tuesday, July 7:
• PepsiCo (PEP): Before market open
• JPMorgan Chase (JPM): Before market open
Wednesday, July 8:
• Citigroup (C): Before market open
• Wells Fargo (WFC): Before market open
• Delta Air Lines (DAL): Before market open
Thursday, July 9:
• UnitedHealth (UNH): Before market open
• BlackRock (BLK): Before market open
Focus: Bank earnings for consumer health signals</a:t>
            </a:r>
          </a:p>
        </p:txBody>
      </p:sp>
    </p:spTree>
    <p:extLst>
      <p:ext uri="{BB962C8B-B14F-4D97-AF65-F5344CB8AC3E}">
        <p14:creationId xmlns:p14="http://schemas.microsoft.com/office/powerpoint/2010/main" val="545799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B6618-F609-9EF3-A550-B2D15B8220E6}"/>
              </a:ext>
            </a:extLst>
          </p:cNvPr>
          <p:cNvSpPr>
            <a:spLocks noGrp="1"/>
          </p:cNvSpPr>
          <p:nvPr>
            <p:ph type="ctrTitle"/>
          </p:nvPr>
        </p:nvSpPr>
        <p:spPr/>
        <p:txBody>
          <a:bodyPr/>
          <a:lstStyle/>
          <a:p>
            <a:r>
              <a:rPr lang="en-US"/>
              <a:t>FED, RATES &amp; MACRO WATCH</a:t>
            </a:r>
          </a:p>
        </p:txBody>
      </p:sp>
      <p:sp>
        <p:nvSpPr>
          <p:cNvPr id="3" name="Subtitle 2">
            <a:extLst>
              <a:ext uri="{FF2B5EF4-FFF2-40B4-BE49-F238E27FC236}">
                <a16:creationId xmlns:a16="http://schemas.microsoft.com/office/drawing/2014/main" id="{B825304D-552F-9AD8-ACAC-B4629B47B3D2}"/>
              </a:ext>
            </a:extLst>
          </p:cNvPr>
          <p:cNvSpPr>
            <a:spLocks noGrp="1"/>
          </p:cNvSpPr>
          <p:nvPr>
            <p:ph type="subTitle" idx="1"/>
          </p:nvPr>
        </p:nvSpPr>
        <p:spPr/>
        <p:txBody>
          <a:bodyPr/>
          <a:lstStyle/>
          <a:p>
            <a:r>
              <a:rPr lang="en-US"/>
              <a:t>Current State:
• Fed remains 'data dependent'
• No immediate rate cuts expected
• PCE inflation at 2.6% (Fed's target)
• Higher rates = fixed annuity opportunity
Market Levels:
• 10Y Treasury yield: 4.32%
• Mortgage rates: ~6.5%
• Dollar index: 104.5 (moderately strong)
NYLIM View: Diversification across asset classes remains key</a:t>
            </a:r>
          </a:p>
        </p:txBody>
      </p:sp>
    </p:spTree>
    <p:extLst>
      <p:ext uri="{BB962C8B-B14F-4D97-AF65-F5344CB8AC3E}">
        <p14:creationId xmlns:p14="http://schemas.microsoft.com/office/powerpoint/2010/main" val="3834555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903B2-9ADE-808A-9A1D-4DC93C4BA300}"/>
              </a:ext>
            </a:extLst>
          </p:cNvPr>
          <p:cNvSpPr>
            <a:spLocks noGrp="1"/>
          </p:cNvSpPr>
          <p:nvPr>
            <p:ph type="ctrTitle"/>
          </p:nvPr>
        </p:nvSpPr>
        <p:spPr/>
        <p:txBody>
          <a:bodyPr/>
          <a:lstStyle/>
          <a:p>
            <a:r>
              <a:rPr lang="en-US"/>
              <a:t>CLIENT TALKING POINTS</a:t>
            </a:r>
          </a:p>
        </p:txBody>
      </p:sp>
      <p:sp>
        <p:nvSpPr>
          <p:cNvPr id="3" name="Subtitle 2">
            <a:extLst>
              <a:ext uri="{FF2B5EF4-FFF2-40B4-BE49-F238E27FC236}">
                <a16:creationId xmlns:a16="http://schemas.microsoft.com/office/drawing/2014/main" id="{93EDD912-A554-1AC8-BA62-953716A4176D}"/>
              </a:ext>
            </a:extLst>
          </p:cNvPr>
          <p:cNvSpPr>
            <a:spLocks noGrp="1"/>
          </p:cNvSpPr>
          <p:nvPr>
            <p:ph type="subTitle" idx="1"/>
          </p:nvPr>
        </p:nvSpPr>
        <p:spPr/>
        <p:txBody>
          <a:bodyPr/>
          <a:lstStyle/>
          <a:p>
            <a:r>
              <a:rPr lang="en-US"/>
              <a:t>For client conversations this week:
1. 'The Dow hit a record high while tech stocks cooled off. That's market rotation, not a market problem.'
2. 'The Fed is being patient with rates. Higher rates still make guaranteed income products worth a serious look.'
3. 'This is a good time to check if your plan is on track. We review, we adjust if needed, but we stick to the plan.'
4. 'Remember: The plan is the point. We don't make long-term decisions based on one week's headlines.'</a:t>
            </a:r>
          </a:p>
        </p:txBody>
      </p:sp>
    </p:spTree>
    <p:extLst>
      <p:ext uri="{BB962C8B-B14F-4D97-AF65-F5344CB8AC3E}">
        <p14:creationId xmlns:p14="http://schemas.microsoft.com/office/powerpoint/2010/main" val="742403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188B79-DFBA-30A1-4A8A-02C3307CF19D}"/>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2" name="Title 1">
            <a:extLst>
              <a:ext uri="{FF2B5EF4-FFF2-40B4-BE49-F238E27FC236}">
                <a16:creationId xmlns:a16="http://schemas.microsoft.com/office/drawing/2014/main" id="{E45B6932-9BA9-2103-14A2-C3C2D1AFD3D1}"/>
              </a:ext>
            </a:extLst>
          </p:cNvPr>
          <p:cNvSpPr>
            <a:spLocks noGrp="1"/>
          </p:cNvSpPr>
          <p:nvPr>
            <p:ph type="title"/>
          </p:nvPr>
        </p:nvSpPr>
        <p:spPr>
          <a:xfrm>
            <a:off x="457200" y="2390819"/>
            <a:ext cx="7988157" cy="1828193"/>
          </a:xfrm>
        </p:spPr>
        <p:txBody>
          <a:bodyPr wrap="square" lIns="0" tIns="0" rIns="0" bIns="0" anchor="t">
            <a:spAutoFit/>
          </a:bodyPr>
          <a:lstStyle/>
          <a:p>
            <a:r>
              <a:rPr lang="en-US" sz="4400">
                <a:latin typeface="Georgia"/>
              </a:rPr>
              <a:t>New Org: </a:t>
            </a:r>
            <a:br>
              <a:rPr lang="en-US" sz="4400"/>
            </a:br>
            <a:r>
              <a:rPr lang="en-US" sz="4400">
                <a:latin typeface="Georgia"/>
              </a:rPr>
              <a:t>What’s important week of </a:t>
            </a:r>
            <a:br>
              <a:rPr lang="en-US" sz="4400">
                <a:latin typeface="Georgia"/>
              </a:rPr>
            </a:br>
            <a:r>
              <a:rPr lang="en-US" sz="4400">
                <a:latin typeface="Georgia"/>
              </a:rPr>
              <a:t>July 6</a:t>
            </a:r>
            <a:endParaRPr lang="en-US" sz="4400"/>
          </a:p>
        </p:txBody>
      </p:sp>
    </p:spTree>
    <p:custDataLst>
      <p:tags r:id="rId1"/>
    </p:custDataLst>
    <p:extLst>
      <p:ext uri="{BB962C8B-B14F-4D97-AF65-F5344CB8AC3E}">
        <p14:creationId xmlns:p14="http://schemas.microsoft.com/office/powerpoint/2010/main" val="350097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a:extLst>
            <a:ext uri="{FF2B5EF4-FFF2-40B4-BE49-F238E27FC236}">
              <a16:creationId xmlns:a16="http://schemas.microsoft.com/office/drawing/2014/main" id="{336F27AA-89C9-B25D-7B01-2FE3259B8C94}"/>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C0B26A4C-71B9-2A16-BB3E-AF17A8028518}"/>
              </a:ext>
            </a:extLst>
          </p:cNvPr>
          <p:cNvSpPr/>
          <p:nvPr/>
        </p:nvSpPr>
        <p:spPr>
          <a:xfrm>
            <a:off x="6726010" y="1532300"/>
            <a:ext cx="5008790" cy="4372457"/>
          </a:xfrm>
          <a:prstGeom prst="rect">
            <a:avLst/>
          </a:prstGeom>
          <a:solidFill>
            <a:schemeClr val="accent2">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Rectangle 4">
            <a:extLst>
              <a:ext uri="{FF2B5EF4-FFF2-40B4-BE49-F238E27FC236}">
                <a16:creationId xmlns:a16="http://schemas.microsoft.com/office/drawing/2014/main" id="{B4F47EF1-A51E-A90E-70C8-AA67F2D7FF4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30C287F9-2401-3C1D-E800-95E890C696BB}"/>
              </a:ext>
            </a:extLst>
          </p:cNvPr>
          <p:cNvSpPr>
            <a:spLocks noGrp="1"/>
          </p:cNvSpPr>
          <p:nvPr>
            <p:ph type="title"/>
          </p:nvPr>
        </p:nvSpPr>
        <p:spPr/>
        <p:txBody>
          <a:bodyPr/>
          <a:lstStyle/>
          <a:p>
            <a:r>
              <a:rPr lang="en-US">
                <a:latin typeface="Georgia"/>
              </a:rPr>
              <a:t>Start 3Q with timely reasons to connect</a:t>
            </a:r>
          </a:p>
        </p:txBody>
      </p:sp>
      <p:sp>
        <p:nvSpPr>
          <p:cNvPr id="3" name="Content Placeholder 2">
            <a:extLst>
              <a:ext uri="{FF2B5EF4-FFF2-40B4-BE49-F238E27FC236}">
                <a16:creationId xmlns:a16="http://schemas.microsoft.com/office/drawing/2014/main" id="{EAB7057C-A5B9-0073-7A2A-1A6C632CE082}"/>
              </a:ext>
            </a:extLst>
          </p:cNvPr>
          <p:cNvSpPr>
            <a:spLocks noGrp="1"/>
          </p:cNvSpPr>
          <p:nvPr>
            <p:ph idx="1"/>
          </p:nvPr>
        </p:nvSpPr>
        <p:spPr>
          <a:xfrm>
            <a:off x="457199" y="2541068"/>
            <a:ext cx="6019343" cy="2191081"/>
          </a:xfrm>
        </p:spPr>
        <p:txBody>
          <a:bodyPr/>
          <a:lstStyle/>
          <a:p>
            <a:pPr marL="0" indent="0">
              <a:lnSpc>
                <a:spcPct val="100000"/>
              </a:lnSpc>
              <a:spcBef>
                <a:spcPts val="0"/>
              </a:spcBef>
              <a:spcAft>
                <a:spcPts val="600"/>
              </a:spcAft>
              <a:buNone/>
              <a:tabLst>
                <a:tab pos="4233863" algn="l"/>
              </a:tabLst>
            </a:pPr>
            <a:r>
              <a:rPr lang="en-US" sz="1800" dirty="0"/>
              <a:t>Build momentum early in the third quarter with practical strategies, timely updates and resources you can use to support meaningful client conversations.</a:t>
            </a:r>
          </a:p>
          <a:p>
            <a:pPr marL="457200">
              <a:lnSpc>
                <a:spcPct val="100000"/>
              </a:lnSpc>
              <a:spcBef>
                <a:spcPts val="0"/>
              </a:spcBef>
              <a:spcAft>
                <a:spcPts val="400"/>
              </a:spcAft>
            </a:pPr>
            <a:r>
              <a:rPr lang="en-US" sz="1600" dirty="0"/>
              <a:t>Timely information to support client outreach</a:t>
            </a:r>
          </a:p>
          <a:p>
            <a:pPr marL="457200">
              <a:lnSpc>
                <a:spcPct val="100000"/>
              </a:lnSpc>
              <a:spcBef>
                <a:spcPts val="0"/>
              </a:spcBef>
              <a:spcAft>
                <a:spcPts val="400"/>
              </a:spcAft>
            </a:pPr>
            <a:r>
              <a:rPr lang="en-US" sz="1600" dirty="0"/>
              <a:t>Strategies and resources to help build 3Q activity</a:t>
            </a:r>
          </a:p>
          <a:p>
            <a:pPr marL="457200">
              <a:lnSpc>
                <a:spcPct val="100000"/>
              </a:lnSpc>
              <a:spcBef>
                <a:spcPts val="0"/>
              </a:spcBef>
              <a:spcAft>
                <a:spcPts val="400"/>
              </a:spcAft>
            </a:pPr>
            <a:r>
              <a:rPr lang="en-US" sz="1600" dirty="0"/>
              <a:t>Latest DCA updates for client conversations</a:t>
            </a:r>
          </a:p>
          <a:p>
            <a:pPr marL="457200">
              <a:lnSpc>
                <a:spcPct val="100000"/>
              </a:lnSpc>
              <a:spcBef>
                <a:spcPts val="0"/>
              </a:spcBef>
              <a:spcAft>
                <a:spcPts val="400"/>
              </a:spcAft>
            </a:pPr>
            <a:r>
              <a:rPr lang="en-US" sz="1600" dirty="0"/>
              <a:t>DCA strategies and language from an expert DCA agent</a:t>
            </a:r>
          </a:p>
          <a:p>
            <a:pPr marL="457200">
              <a:lnSpc>
                <a:spcPct val="100000"/>
              </a:lnSpc>
              <a:spcBef>
                <a:spcPts val="0"/>
              </a:spcBef>
              <a:spcAft>
                <a:spcPts val="400"/>
              </a:spcAft>
            </a:pPr>
            <a:endParaRPr lang="en-US" sz="1600" dirty="0"/>
          </a:p>
        </p:txBody>
      </p:sp>
      <p:sp>
        <p:nvSpPr>
          <p:cNvPr id="4" name="Text Placeholder 3">
            <a:extLst>
              <a:ext uri="{FF2B5EF4-FFF2-40B4-BE49-F238E27FC236}">
                <a16:creationId xmlns:a16="http://schemas.microsoft.com/office/drawing/2014/main" id="{22563939-052F-FD80-5D9A-7025A36F3B73}"/>
              </a:ext>
            </a:extLst>
          </p:cNvPr>
          <p:cNvSpPr>
            <a:spLocks noGrp="1"/>
          </p:cNvSpPr>
          <p:nvPr>
            <p:ph type="body" sz="quarter" idx="12"/>
          </p:nvPr>
        </p:nvSpPr>
        <p:spPr/>
        <p:txBody>
          <a:bodyPr/>
          <a:lstStyle/>
          <a:p>
            <a:r>
              <a:rPr lang="en-US" sz="2200" dirty="0"/>
              <a:t>A national PLAN webinar for a solid Council start</a:t>
            </a:r>
          </a:p>
        </p:txBody>
      </p:sp>
      <p:sp>
        <p:nvSpPr>
          <p:cNvPr id="7" name="Rectangle 6">
            <a:extLst>
              <a:ext uri="{FF2B5EF4-FFF2-40B4-BE49-F238E27FC236}">
                <a16:creationId xmlns:a16="http://schemas.microsoft.com/office/drawing/2014/main" id="{95459F82-32A6-EF99-D4D5-1F1741224273}"/>
              </a:ext>
            </a:extLst>
          </p:cNvPr>
          <p:cNvSpPr/>
          <p:nvPr/>
        </p:nvSpPr>
        <p:spPr bwMode="ltGray">
          <a:xfrm>
            <a:off x="726311" y="4827466"/>
            <a:ext cx="5405121" cy="109230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2" name="Isosceles Triangle 11">
            <a:extLst>
              <a:ext uri="{FF2B5EF4-FFF2-40B4-BE49-F238E27FC236}">
                <a16:creationId xmlns:a16="http://schemas.microsoft.com/office/drawing/2014/main" id="{EA46D9B2-51EB-2FC5-F76C-EEB03E5BC3B0}"/>
              </a:ext>
            </a:extLst>
          </p:cNvPr>
          <p:cNvSpPr/>
          <p:nvPr/>
        </p:nvSpPr>
        <p:spPr bwMode="ltGray">
          <a:xfrm rot="5400000">
            <a:off x="4823006"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EB8657F9-46AD-3AC9-E85A-C88108D526BD}"/>
              </a:ext>
            </a:extLst>
          </p:cNvPr>
          <p:cNvSpPr txBox="1"/>
          <p:nvPr/>
        </p:nvSpPr>
        <p:spPr>
          <a:xfrm>
            <a:off x="965925" y="5088926"/>
            <a:ext cx="3573632" cy="5693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965"/>
                </a:solidFill>
                <a:effectLst/>
                <a:uLnTx/>
                <a:uFillTx/>
                <a:latin typeface="Arial"/>
                <a:ea typeface="+mn-ea"/>
                <a:cs typeface="+mn-cs"/>
              </a:rPr>
              <a:t>Register today</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reserve your spot.</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901A5A26-3D86-FC70-6B26-D2F77686FC19}"/>
              </a:ext>
            </a:extLst>
          </p:cNvPr>
          <p:cNvSpPr/>
          <p:nvPr/>
        </p:nvSpPr>
        <p:spPr bwMode="ltGray">
          <a:xfrm>
            <a:off x="457199" y="1535039"/>
            <a:ext cx="6019343" cy="840171"/>
          </a:xfrm>
          <a:prstGeom prst="rect">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6FDDC1B6-CF18-814C-9CEE-6AC7C92BD0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11504613-C0D0-CB4F-DAD3-F381F5723493}"/>
              </a:ext>
            </a:extLst>
          </p:cNvPr>
          <p:cNvSpPr txBox="1"/>
          <p:nvPr/>
        </p:nvSpPr>
        <p:spPr>
          <a:xfrm>
            <a:off x="1512438" y="1678125"/>
            <a:ext cx="3899788" cy="55399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Date: </a:t>
            </a:r>
            <a:r>
              <a:rPr kumimoji="0" lang="en-US" sz="1800" b="0" i="0" u="none" strike="noStrike" kern="1200" cap="none" spc="0" normalizeH="0" baseline="0" noProof="0" dirty="0">
                <a:ln>
                  <a:noFill/>
                </a:ln>
                <a:solidFill>
                  <a:srgbClr val="FFFFFF"/>
                </a:solidFill>
                <a:effectLst/>
                <a:uLnTx/>
                <a:uFillTx/>
                <a:latin typeface="Arial"/>
                <a:ea typeface="+mn-ea"/>
                <a:cs typeface="+mn-cs"/>
              </a:rPr>
              <a:t>Wednesday, July 8,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Time: </a:t>
            </a:r>
            <a:r>
              <a:rPr lang="en-US">
                <a:solidFill>
                  <a:srgbClr val="FFFFFF"/>
                </a:solidFill>
                <a:latin typeface="Arial"/>
              </a:rPr>
              <a:t>3</a:t>
            </a: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lang="en-US">
                <a:solidFill>
                  <a:srgbClr val="FFFFFF"/>
                </a:solidFill>
                <a:latin typeface="Arial"/>
              </a:rPr>
              <a:t>pm</a:t>
            </a:r>
            <a:r>
              <a:rPr kumimoji="0" lang="en-US" sz="1800" b="0" i="0" u="none" strike="noStrike" kern="1200" cap="none" spc="0" normalizeH="0" baseline="0" noProof="0" dirty="0">
                <a:ln>
                  <a:noFill/>
                </a:ln>
                <a:solidFill>
                  <a:srgbClr val="FFFFFF"/>
                </a:solidFill>
                <a:effectLst/>
                <a:uLnTx/>
                <a:uFillTx/>
                <a:latin typeface="Arial"/>
                <a:ea typeface="+mn-ea"/>
                <a:cs typeface="+mn-cs"/>
              </a:rPr>
              <a:t> ET*</a:t>
            </a:r>
            <a:endParaRPr kumimoji="0" lang="en-US" sz="1800" b="0" i="0" u="none" strike="noStrike" kern="1200" cap="none" spc="0" normalizeH="0" baseline="30000" noProof="0" dirty="0">
              <a:ln>
                <a:noFill/>
              </a:ln>
              <a:solidFill>
                <a:srgbClr val="FFFFFF"/>
              </a:solidFill>
              <a:effectLst/>
              <a:uLnTx/>
              <a:uFillTx/>
              <a:latin typeface="Arial"/>
              <a:ea typeface="+mn-ea"/>
              <a:cs typeface="+mn-cs"/>
            </a:endParaRPr>
          </a:p>
        </p:txBody>
      </p:sp>
      <p:sp>
        <p:nvSpPr>
          <p:cNvPr id="14" name="TextBox 13">
            <a:extLst>
              <a:ext uri="{FF2B5EF4-FFF2-40B4-BE49-F238E27FC236}">
                <a16:creationId xmlns:a16="http://schemas.microsoft.com/office/drawing/2014/main" id="{05AFE435-B12B-1F6F-C38C-CAEF96573430}"/>
              </a:ext>
            </a:extLst>
          </p:cNvPr>
          <p:cNvSpPr txBox="1"/>
          <p:nvPr/>
        </p:nvSpPr>
        <p:spPr>
          <a:xfrm>
            <a:off x="2934712" y="6330088"/>
            <a:ext cx="6097656" cy="183320"/>
          </a:xfrm>
          <a:prstGeom prst="rect">
            <a:avLst/>
          </a:prstGeom>
          <a:noFill/>
        </p:spPr>
        <p:txBody>
          <a:bodyPr wrap="square" lIns="0" tIns="0" rIns="0" bIns="0">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panose="020B0604020202020204" pitchFamily="34" charset="0"/>
                <a:ea typeface="Aptos" panose="020B0004020202020204" pitchFamily="34" charset="0"/>
                <a:cs typeface="Arial" panose="020B0604020202020204" pitchFamily="34" charset="0"/>
              </a:rPr>
              <a:t>*2 pm CT, 1 pm MT, 12 pm PT, 11 am Alaska, 9 am Hawaii</a:t>
            </a:r>
          </a:p>
        </p:txBody>
      </p:sp>
      <p:pic>
        <p:nvPicPr>
          <p:cNvPr id="20" name="Picture 19">
            <a:extLst>
              <a:ext uri="{FF2B5EF4-FFF2-40B4-BE49-F238E27FC236}">
                <a16:creationId xmlns:a16="http://schemas.microsoft.com/office/drawing/2014/main" id="{36748A09-5135-3040-0DAD-3A705F703A3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1610" y="4827467"/>
            <a:ext cx="1084932" cy="1084932"/>
          </a:xfrm>
          <a:prstGeom prst="rect">
            <a:avLst/>
          </a:prstGeom>
        </p:spPr>
      </p:pic>
      <p:sp>
        <p:nvSpPr>
          <p:cNvPr id="25" name="TextBox 24">
            <a:extLst>
              <a:ext uri="{FF2B5EF4-FFF2-40B4-BE49-F238E27FC236}">
                <a16:creationId xmlns:a16="http://schemas.microsoft.com/office/drawing/2014/main" id="{85222C6B-5324-A69A-438E-8C485F06CEAC}"/>
              </a:ext>
            </a:extLst>
          </p:cNvPr>
          <p:cNvSpPr txBox="1"/>
          <p:nvPr/>
        </p:nvSpPr>
        <p:spPr>
          <a:xfrm>
            <a:off x="9536660" y="4783182"/>
            <a:ext cx="1883885" cy="55399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965"/>
                </a:solidFill>
                <a:effectLst/>
                <a:uLnTx/>
                <a:uFillTx/>
                <a:latin typeface="Arial"/>
                <a:ea typeface="+mn-ea"/>
                <a:cs typeface="+mn-cs"/>
              </a:rPr>
              <a:t>Daryl Havrish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5"/>
                </a:solidFill>
                <a:effectLst/>
                <a:uLnTx/>
                <a:uFillTx/>
                <a:latin typeface="Arial"/>
                <a:ea typeface="+mn-ea"/>
                <a:cs typeface="+mn-cs"/>
              </a:rPr>
              <a:t>Executive Council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5"/>
                </a:solidFill>
                <a:effectLst/>
                <a:uLnTx/>
                <a:uFillTx/>
                <a:latin typeface="Arial"/>
                <a:ea typeface="+mn-ea"/>
                <a:cs typeface="+mn-cs"/>
              </a:rPr>
              <a:t>Chicago North Shore GO</a:t>
            </a:r>
            <a:endParaRPr kumimoji="0" lang="en-IN" sz="1200" b="0" i="0" u="none" strike="noStrike" kern="1200" cap="none" spc="0" normalizeH="0" baseline="0" noProof="0">
              <a:ln>
                <a:noFill/>
              </a:ln>
              <a:solidFill>
                <a:srgbClr val="000965"/>
              </a:solidFill>
              <a:effectLst/>
              <a:uLnTx/>
              <a:uFillTx/>
              <a:latin typeface="Arial"/>
              <a:ea typeface="+mn-ea"/>
              <a:cs typeface="+mn-cs"/>
            </a:endParaRPr>
          </a:p>
        </p:txBody>
      </p:sp>
      <p:pic>
        <p:nvPicPr>
          <p:cNvPr id="26" name="Picture 25">
            <a:extLst>
              <a:ext uri="{FF2B5EF4-FFF2-40B4-BE49-F238E27FC236}">
                <a16:creationId xmlns:a16="http://schemas.microsoft.com/office/drawing/2014/main" id="{1546BE2E-F73E-8D37-336D-9298A6441C58}"/>
              </a:ext>
            </a:extLst>
          </p:cNvPr>
          <p:cNvPicPr>
            <a:picLocks noChangeAspect="1"/>
          </p:cNvPicPr>
          <p:nvPr/>
        </p:nvPicPr>
        <p:blipFill>
          <a:blip r:embed="rId6">
            <a:extLst>
              <a:ext uri="{28A0092B-C50C-407E-A947-70E740481C1C}">
                <a14:useLocalDpi xmlns:a14="http://schemas.microsoft.com/office/drawing/2010/main" val="0"/>
              </a:ext>
            </a:extLst>
          </a:blip>
          <a:srcRect l="12053" t="842" r="12065" b="23278"/>
          <a:stretch>
            <a:fillRect/>
          </a:stretch>
        </p:blipFill>
        <p:spPr>
          <a:xfrm>
            <a:off x="9355140" y="2377123"/>
            <a:ext cx="2246925" cy="2246925"/>
          </a:xfrm>
          <a:prstGeom prst="rect">
            <a:avLst/>
          </a:prstGeom>
        </p:spPr>
      </p:pic>
      <p:sp>
        <p:nvSpPr>
          <p:cNvPr id="18" name="TextBox 17">
            <a:extLst>
              <a:ext uri="{FF2B5EF4-FFF2-40B4-BE49-F238E27FC236}">
                <a16:creationId xmlns:a16="http://schemas.microsoft.com/office/drawing/2014/main" id="{416FC872-E1D5-F97D-CEC6-1567FF8ED084}"/>
              </a:ext>
            </a:extLst>
          </p:cNvPr>
          <p:cNvSpPr txBox="1"/>
          <p:nvPr/>
        </p:nvSpPr>
        <p:spPr>
          <a:xfrm>
            <a:off x="6726010" y="1538317"/>
            <a:ext cx="5008790"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speakers:</a:t>
            </a:r>
          </a:p>
        </p:txBody>
      </p:sp>
      <p:sp>
        <p:nvSpPr>
          <p:cNvPr id="19" name="TextBox 18">
            <a:extLst>
              <a:ext uri="{FF2B5EF4-FFF2-40B4-BE49-F238E27FC236}">
                <a16:creationId xmlns:a16="http://schemas.microsoft.com/office/drawing/2014/main" id="{FBC7A7A0-D7C6-05BA-2AEA-044ED766DB80}"/>
              </a:ext>
            </a:extLst>
          </p:cNvPr>
          <p:cNvSpPr txBox="1"/>
          <p:nvPr/>
        </p:nvSpPr>
        <p:spPr>
          <a:xfrm>
            <a:off x="7032265" y="4799252"/>
            <a:ext cx="1883885" cy="55399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965"/>
                </a:solidFill>
                <a:effectLst/>
                <a:uLnTx/>
                <a:uFillTx/>
                <a:latin typeface="Arial"/>
                <a:ea typeface="+mn-ea"/>
                <a:cs typeface="+mn-cs"/>
              </a:rPr>
              <a:t>Sonali Virendra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5"/>
                </a:solidFill>
                <a:effectLst/>
                <a:uLnTx/>
                <a:uFillTx/>
                <a:latin typeface="Arial"/>
                <a:ea typeface="+mn-ea"/>
                <a:cs typeface="+mn-cs"/>
              </a:rPr>
              <a:t>Senior Vice President and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5"/>
                </a:solidFill>
                <a:effectLst/>
                <a:uLnTx/>
                <a:uFillTx/>
                <a:latin typeface="Arial"/>
                <a:ea typeface="+mn-ea"/>
                <a:cs typeface="+mn-cs"/>
              </a:rPr>
              <a:t>Head of Agency</a:t>
            </a:r>
          </a:p>
        </p:txBody>
      </p:sp>
      <p:pic>
        <p:nvPicPr>
          <p:cNvPr id="27" name="Picture 26">
            <a:extLst>
              <a:ext uri="{FF2B5EF4-FFF2-40B4-BE49-F238E27FC236}">
                <a16:creationId xmlns:a16="http://schemas.microsoft.com/office/drawing/2014/main" id="{880922E7-A03B-34CD-6ECA-2F1EBBEC59B1}"/>
              </a:ext>
            </a:extLst>
          </p:cNvPr>
          <p:cNvPicPr>
            <a:picLocks noChangeAspect="1"/>
          </p:cNvPicPr>
          <p:nvPr/>
        </p:nvPicPr>
        <p:blipFill>
          <a:blip r:embed="rId7">
            <a:extLst>
              <a:ext uri="{28A0092B-C50C-407E-A947-70E740481C1C}">
                <a14:useLocalDpi xmlns:a14="http://schemas.microsoft.com/office/drawing/2010/main" val="0"/>
              </a:ext>
            </a:extLst>
          </a:blip>
          <a:srcRect l="8980" r="8372" b="11395"/>
          <a:stretch>
            <a:fillRect/>
          </a:stretch>
        </p:blipFill>
        <p:spPr>
          <a:xfrm>
            <a:off x="6850746" y="2375210"/>
            <a:ext cx="2246925" cy="2246925"/>
          </a:xfrm>
          <a:prstGeom prst="rect">
            <a:avLst/>
          </a:prstGeom>
        </p:spPr>
      </p:pic>
    </p:spTree>
    <p:extLst>
      <p:ext uri="{BB962C8B-B14F-4D97-AF65-F5344CB8AC3E}">
        <p14:creationId xmlns:p14="http://schemas.microsoft.com/office/powerpoint/2010/main" val="65095614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447A6A21-7E4D-ACEE-A29D-8C5A8F14037B}"/>
              </a:ext>
            </a:extLst>
          </p:cNvPr>
          <p:cNvSpPr/>
          <p:nvPr/>
        </p:nvSpPr>
        <p:spPr>
          <a:xfrm>
            <a:off x="5231983" y="2509259"/>
            <a:ext cx="6538975" cy="1849331"/>
          </a:xfrm>
          <a:prstGeom prst="roundRect">
            <a:avLst>
              <a:gd name="adj" fmla="val 89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5" name="Shape 10">
            <a:extLst>
              <a:ext uri="{FF2B5EF4-FFF2-40B4-BE49-F238E27FC236}">
                <a16:creationId xmlns:a16="http://schemas.microsoft.com/office/drawing/2014/main" id="{EECF4514-FB6A-B75A-757F-1F7351872E96}"/>
              </a:ext>
            </a:extLst>
          </p:cNvPr>
          <p:cNvSpPr/>
          <p:nvPr/>
        </p:nvSpPr>
        <p:spPr>
          <a:xfrm>
            <a:off x="5396241" y="3078760"/>
            <a:ext cx="958898" cy="973531"/>
          </a:xfrm>
          <a:prstGeom prst="ellipse">
            <a:avLst/>
          </a:prstGeom>
          <a:solidFill>
            <a:srgbClr val="80BAFF"/>
          </a:solidFill>
          <a:ln w="38100">
            <a:solidFill>
              <a:srgbClr val="0468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43" name="Rectangle: Rounded Corners 42">
            <a:extLst>
              <a:ext uri="{FF2B5EF4-FFF2-40B4-BE49-F238E27FC236}">
                <a16:creationId xmlns:a16="http://schemas.microsoft.com/office/drawing/2014/main" id="{3923E5CD-EA38-A530-E4E9-489686DC3099}"/>
              </a:ext>
            </a:extLst>
          </p:cNvPr>
          <p:cNvSpPr/>
          <p:nvPr/>
        </p:nvSpPr>
        <p:spPr>
          <a:xfrm>
            <a:off x="5226223" y="550498"/>
            <a:ext cx="6538975" cy="1849331"/>
          </a:xfrm>
          <a:prstGeom prst="roundRect">
            <a:avLst>
              <a:gd name="adj" fmla="val 89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9" name="Shape 13"/>
          <p:cNvSpPr/>
          <p:nvPr/>
        </p:nvSpPr>
        <p:spPr>
          <a:xfrm>
            <a:off x="5220462" y="549888"/>
            <a:ext cx="6550496" cy="267211"/>
          </a:xfrm>
          <a:prstGeom prst="roundRect">
            <a:avLst>
              <a:gd name="adj" fmla="val 50000"/>
            </a:avLst>
          </a:prstGeom>
          <a:solidFill>
            <a:srgbClr val="016355"/>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39" name="Rectangle: Rounded Corners 38">
            <a:extLst>
              <a:ext uri="{FF2B5EF4-FFF2-40B4-BE49-F238E27FC236}">
                <a16:creationId xmlns:a16="http://schemas.microsoft.com/office/drawing/2014/main" id="{D974301C-C60A-99E9-E541-53352C837DDB}"/>
              </a:ext>
            </a:extLst>
          </p:cNvPr>
          <p:cNvSpPr/>
          <p:nvPr/>
        </p:nvSpPr>
        <p:spPr>
          <a:xfrm>
            <a:off x="5257801" y="4481554"/>
            <a:ext cx="6513157" cy="1171980"/>
          </a:xfrm>
          <a:prstGeom prst="roundRect">
            <a:avLst>
              <a:gd name="adj" fmla="val 13416"/>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33" name="Rectangle: Rounded Corners 32">
            <a:extLst>
              <a:ext uri="{FF2B5EF4-FFF2-40B4-BE49-F238E27FC236}">
                <a16:creationId xmlns:a16="http://schemas.microsoft.com/office/drawing/2014/main" id="{37E80440-BB67-ACE1-8224-02E268945CEB}"/>
              </a:ext>
            </a:extLst>
          </p:cNvPr>
          <p:cNvSpPr/>
          <p:nvPr/>
        </p:nvSpPr>
        <p:spPr>
          <a:xfrm>
            <a:off x="421041" y="2498665"/>
            <a:ext cx="4518705" cy="3157270"/>
          </a:xfrm>
          <a:prstGeom prst="roundRect">
            <a:avLst>
              <a:gd name="adj" fmla="val 4087"/>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 name="Rectangle: Rounded Corners 1">
            <a:extLst>
              <a:ext uri="{FF2B5EF4-FFF2-40B4-BE49-F238E27FC236}">
                <a16:creationId xmlns:a16="http://schemas.microsoft.com/office/drawing/2014/main" id="{5E9EAE42-B5A6-8E11-0F12-218C66AD60A6}"/>
              </a:ext>
            </a:extLst>
          </p:cNvPr>
          <p:cNvSpPr/>
          <p:nvPr/>
        </p:nvSpPr>
        <p:spPr>
          <a:xfrm>
            <a:off x="421041" y="2498665"/>
            <a:ext cx="4518705" cy="753150"/>
          </a:xfrm>
          <a:prstGeom prst="roundRect">
            <a:avLst/>
          </a:prstGeom>
          <a:solidFill>
            <a:srgbClr val="000A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 name="Text 1"/>
          <p:cNvSpPr txBox="1"/>
          <p:nvPr/>
        </p:nvSpPr>
        <p:spPr>
          <a:xfrm>
            <a:off x="421041" y="553904"/>
            <a:ext cx="4127601" cy="354529"/>
          </a:xfrm>
          <a:prstGeom prst="rect">
            <a:avLst/>
          </a:prstGeom>
          <a:noFill/>
          <a:ln/>
        </p:spPr>
        <p:txBody>
          <a:bodyPr wrap="none"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002C6C"/>
                </a:solidFill>
                <a:effectLst/>
                <a:uLnTx/>
                <a:uFillTx/>
                <a:latin typeface="Arial" panose="020B0604020202020204" pitchFamily="34" charset="0"/>
                <a:ea typeface="Inter" pitchFamily="34" charset="-122"/>
                <a:cs typeface="Arial" panose="020B0604020202020204" pitchFamily="34" charset="0"/>
              </a:rPr>
              <a:t>NEW ORG AGENTS</a:t>
            </a:r>
            <a:endParaRPr kumimoji="0" lang="en-US" sz="20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5" name="Text 2"/>
          <p:cNvSpPr txBox="1"/>
          <p:nvPr/>
        </p:nvSpPr>
        <p:spPr>
          <a:xfrm>
            <a:off x="421041" y="1008004"/>
            <a:ext cx="4127601" cy="112112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0" cap="none" spc="-72" normalizeH="0" baseline="0" noProof="0" dirty="0">
                <a:ln>
                  <a:noFill/>
                </a:ln>
                <a:solidFill>
                  <a:srgbClr val="002C6C"/>
                </a:solidFill>
                <a:effectLst/>
                <a:uLnTx/>
                <a:uFillTx/>
                <a:latin typeface="Georgia" panose="02040502050405020303"/>
                <a:ea typeface="Inter" pitchFamily="34" charset="-122"/>
                <a:cs typeface="Inter" pitchFamily="34" charset="-120"/>
              </a:rPr>
              <a:t>July Growth Bonus</a:t>
            </a:r>
            <a:endParaRPr kumimoji="0" lang="en-US" sz="4000" b="0" i="0" u="none" strike="noStrike" kern="1200" cap="none" spc="0" normalizeH="0" baseline="0" noProof="0" dirty="0">
              <a:ln>
                <a:noFill/>
              </a:ln>
              <a:solidFill>
                <a:srgbClr val="000962"/>
              </a:solidFill>
              <a:effectLst/>
              <a:uLnTx/>
              <a:uFillTx/>
              <a:latin typeface="Georgia" panose="02040502050405020303"/>
              <a:ea typeface="+mn-ea"/>
              <a:cs typeface="+mn-cs"/>
            </a:endParaRPr>
          </a:p>
        </p:txBody>
      </p:sp>
      <p:sp>
        <p:nvSpPr>
          <p:cNvPr id="6" name="Text 3"/>
          <p:cNvSpPr txBox="1"/>
          <p:nvPr/>
        </p:nvSpPr>
        <p:spPr>
          <a:xfrm>
            <a:off x="1359509" y="2662081"/>
            <a:ext cx="3316190" cy="4450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Inter" pitchFamily="34" charset="-122"/>
                <a:cs typeface="Arial" panose="020B0604020202020204" pitchFamily="34" charset="0"/>
              </a:rPr>
              <a:t>Qualify for a cash bonus based on paid life cases in the month of July</a:t>
            </a:r>
            <a:r>
              <a:rPr kumimoji="0" lang="en-US" sz="1600" b="0" i="0" u="none" strike="noStrike" kern="1200" cap="none" spc="0" normalizeH="0" baseline="30000" noProof="0">
                <a:ln>
                  <a:noFill/>
                </a:ln>
                <a:solidFill>
                  <a:srgbClr val="FFFFFF"/>
                </a:solidFill>
                <a:effectLst/>
                <a:uLnTx/>
                <a:uFillTx/>
                <a:latin typeface="Arial" panose="020B0604020202020204" pitchFamily="34" charset="0"/>
                <a:ea typeface="Inter" pitchFamily="34" charset="-122"/>
                <a:cs typeface="Arial" panose="020B0604020202020204" pitchFamily="34" charset="0"/>
              </a:rPr>
              <a:t>1</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Inter" pitchFamily="34" charset="-122"/>
                <a:cs typeface="Arial" panose="020B0604020202020204" pitchFamily="34" charset="0"/>
              </a:rPr>
              <a:t>.</a:t>
            </a:r>
            <a:endPar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8" name="Text 4"/>
          <p:cNvSpPr txBox="1"/>
          <p:nvPr/>
        </p:nvSpPr>
        <p:spPr>
          <a:xfrm>
            <a:off x="786327" y="3384655"/>
            <a:ext cx="4127601" cy="1083948"/>
          </a:xfrm>
          <a:prstGeom prst="rect">
            <a:avLst/>
          </a:prstGeom>
          <a:noFill/>
          <a:ln/>
        </p:spPr>
        <p:txBody>
          <a:bodyPr wrap="none" lIns="0" tIns="0" rIns="0" bIns="0"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Includes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E2DFDD">
                    <a:lumMod val="10000"/>
                  </a:srgbClr>
                </a:solidFill>
                <a:effectLst/>
                <a:uLnTx/>
                <a:uFillTx/>
                <a:latin typeface="Arial" panose="020B0604020202020204" pitchFamily="34" charset="0"/>
                <a:ea typeface="Inter" pitchFamily="34" charset="-122"/>
                <a:cs typeface="Arial" panose="020B0604020202020204" pitchFamily="34" charset="0"/>
              </a:rPr>
              <a:t>Life (EWL 3:1)</a:t>
            </a:r>
            <a:endParaRPr kumimoji="0" lang="en-US" sz="16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10" name="Text 5"/>
          <p:cNvSpPr txBox="1"/>
          <p:nvPr/>
        </p:nvSpPr>
        <p:spPr>
          <a:xfrm>
            <a:off x="786327" y="4341108"/>
            <a:ext cx="4127601" cy="1225376"/>
          </a:xfrm>
          <a:prstGeom prst="rect">
            <a:avLst/>
          </a:prstGeom>
          <a:noFill/>
          <a:ln/>
        </p:spPr>
        <p:txBody>
          <a:bodyPr wrap="none" lIns="0" tIns="0" rIns="0" bIns="0"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Excludes</a:t>
            </a:r>
          </a:p>
          <a:p>
            <a:pPr marL="285750" marR="0" lvl="0" indent="-2857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E2DFDD">
                    <a:lumMod val="10000"/>
                  </a:srgbClr>
                </a:solidFill>
                <a:effectLst/>
                <a:uLnTx/>
                <a:uFillTx/>
                <a:latin typeface="Arial" panose="020B0604020202020204" pitchFamily="34" charset="0"/>
                <a:ea typeface="Inter" pitchFamily="34" charset="-122"/>
                <a:cs typeface="Arial" panose="020B0604020202020204" pitchFamily="34" charset="0"/>
              </a:rPr>
              <a:t>VUL/MWP</a:t>
            </a:r>
          </a:p>
          <a:p>
            <a:pPr marL="285750" marR="0" lvl="0" indent="-2857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COLI/BOLI</a:t>
            </a:r>
          </a:p>
          <a:p>
            <a:pPr marL="285750" marR="0" lvl="0" indent="-2857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Policies issued in New York State</a:t>
            </a:r>
          </a:p>
        </p:txBody>
      </p:sp>
      <p:sp>
        <p:nvSpPr>
          <p:cNvPr id="16" name="Shape 10"/>
          <p:cNvSpPr/>
          <p:nvPr/>
        </p:nvSpPr>
        <p:spPr>
          <a:xfrm>
            <a:off x="5396241" y="1101680"/>
            <a:ext cx="958898" cy="973531"/>
          </a:xfrm>
          <a:prstGeom prst="ellipse">
            <a:avLst/>
          </a:prstGeom>
          <a:solidFill>
            <a:srgbClr val="A5EFBF"/>
          </a:solidFill>
          <a:ln w="38100">
            <a:solidFill>
              <a:srgbClr val="0163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17" name="Text 11"/>
          <p:cNvSpPr txBox="1"/>
          <p:nvPr/>
        </p:nvSpPr>
        <p:spPr>
          <a:xfrm>
            <a:off x="5691286" y="1301662"/>
            <a:ext cx="368808" cy="108509"/>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Bonus</a:t>
            </a:r>
            <a:endParaRPr kumimoji="0" lang="en-US" sz="1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18" name="Text 12"/>
          <p:cNvSpPr txBox="1"/>
          <p:nvPr/>
        </p:nvSpPr>
        <p:spPr>
          <a:xfrm>
            <a:off x="5480908" y="1513993"/>
            <a:ext cx="749808" cy="279807"/>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3000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a:t>
            </a:r>
            <a:r>
              <a:rPr kumimoji="0" lang="en-US" sz="3200" b="1"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250</a:t>
            </a:r>
            <a:endParaRPr kumimoji="0" lang="en-US" sz="3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0" name="Text 14"/>
          <p:cNvSpPr/>
          <p:nvPr/>
        </p:nvSpPr>
        <p:spPr>
          <a:xfrm>
            <a:off x="5487163" y="590599"/>
            <a:ext cx="533400" cy="203607"/>
          </a:xfrm>
          <a:prstGeom prst="rect">
            <a:avLst/>
          </a:prstGeom>
          <a:solidFill>
            <a:srgbClr val="FFFFFF">
              <a:alpha val="0"/>
            </a:srgbClr>
          </a:solidFill>
          <a:ln>
            <a:solidFill>
              <a:srgbClr val="FFFFFF">
                <a:alpha val="0"/>
              </a:srgbClr>
            </a:solid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rial" panose="020B0604020202020204" pitchFamily="34" charset="0"/>
                <a:ea typeface="Inter" pitchFamily="34" charset="-122"/>
                <a:cs typeface="Arial" panose="020B0604020202020204" pitchFamily="34" charset="0"/>
              </a:rPr>
              <a:t>Tier 1</a:t>
            </a:r>
            <a:endPar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1" name="Text 15"/>
          <p:cNvSpPr txBox="1"/>
          <p:nvPr/>
        </p:nvSpPr>
        <p:spPr>
          <a:xfrm>
            <a:off x="6476997" y="1105653"/>
            <a:ext cx="1897075" cy="216408"/>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Initial Bonus Level</a:t>
            </a:r>
            <a:endParaRPr kumimoji="0" lang="en-US" sz="1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2" name="Text 16"/>
          <p:cNvSpPr txBox="1"/>
          <p:nvPr/>
        </p:nvSpPr>
        <p:spPr>
          <a:xfrm>
            <a:off x="6476997" y="1551417"/>
            <a:ext cx="4627808" cy="439905"/>
          </a:xfrm>
          <a:prstGeom prst="rect">
            <a:avLst/>
          </a:prstGeom>
          <a:noFill/>
          <a:ln/>
        </p:spPr>
        <p:txBody>
          <a:bodyPr wrap="none"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F2937"/>
                </a:solidFill>
                <a:effectLst/>
                <a:uLnTx/>
                <a:uFillTx/>
                <a:latin typeface="Arial" panose="020B0604020202020204" pitchFamily="34" charset="0"/>
                <a:ea typeface="Inter" pitchFamily="34" charset="-122"/>
                <a:cs typeface="Arial" panose="020B0604020202020204" pitchFamily="34" charset="0"/>
              </a:rPr>
              <a:t>Pay for </a:t>
            </a:r>
            <a:r>
              <a:rPr kumimoji="0" lang="en-US" sz="1800" b="1" i="0" u="none" strike="noStrike" kern="1200" cap="none" spc="0" normalizeH="0" baseline="0" noProof="0">
                <a:ln>
                  <a:noFill/>
                </a:ln>
                <a:solidFill>
                  <a:srgbClr val="002C6C"/>
                </a:solidFill>
                <a:effectLst/>
                <a:uLnTx/>
                <a:uFillTx/>
                <a:latin typeface="Arial" panose="020B0604020202020204" pitchFamily="34" charset="0"/>
                <a:ea typeface="Inter" pitchFamily="34" charset="-122"/>
                <a:cs typeface="Arial" panose="020B0604020202020204" pitchFamily="34" charset="0"/>
              </a:rPr>
              <a:t>3 life cases</a:t>
            </a:r>
            <a:r>
              <a:rPr kumimoji="0" lang="en-US" sz="1800" b="0" i="0" u="none" strike="noStrike" kern="1200" cap="none" spc="0" normalizeH="0" baseline="0" noProof="0">
                <a:ln>
                  <a:noFill/>
                </a:ln>
                <a:solidFill>
                  <a:srgbClr val="1F2937"/>
                </a:solidFill>
                <a:effectLst/>
                <a:uLnTx/>
                <a:uFillTx/>
                <a:latin typeface="Arial" panose="020B0604020202020204" pitchFamily="34" charset="0"/>
                <a:ea typeface="Inter" pitchFamily="34" charset="-122"/>
                <a:cs typeface="Arial" panose="020B0604020202020204" pitchFamily="34" charset="0"/>
              </a:rPr>
              <a:t> in the month of July.</a:t>
            </a:r>
            <a:endParaRPr kumimoji="0" lang="en-US" sz="18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25" name="Text 18"/>
          <p:cNvSpPr txBox="1"/>
          <p:nvPr/>
        </p:nvSpPr>
        <p:spPr>
          <a:xfrm>
            <a:off x="5665988" y="3290735"/>
            <a:ext cx="419405" cy="108509"/>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Double</a:t>
            </a:r>
            <a:endParaRPr kumimoji="0" lang="en-US" sz="11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6" name="Text 19"/>
          <p:cNvSpPr txBox="1"/>
          <p:nvPr/>
        </p:nvSpPr>
        <p:spPr>
          <a:xfrm>
            <a:off x="5471460" y="3513392"/>
            <a:ext cx="768705" cy="279807"/>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3000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a:t>
            </a:r>
            <a:r>
              <a:rPr kumimoji="0" lang="en-US" sz="3200" b="1"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500</a:t>
            </a:r>
            <a:endParaRPr kumimoji="0" lang="en-US" sz="3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9" name="Text 22"/>
          <p:cNvSpPr txBox="1"/>
          <p:nvPr/>
        </p:nvSpPr>
        <p:spPr>
          <a:xfrm>
            <a:off x="6476997" y="3078760"/>
            <a:ext cx="1940967" cy="216408"/>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Double Your Bonus</a:t>
            </a:r>
            <a:endParaRPr kumimoji="0" lang="en-US" sz="1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30" name="Text 23"/>
          <p:cNvSpPr txBox="1"/>
          <p:nvPr/>
        </p:nvSpPr>
        <p:spPr>
          <a:xfrm>
            <a:off x="6476997" y="3524593"/>
            <a:ext cx="4939294" cy="746385"/>
          </a:xfrm>
          <a:prstGeom prst="rect">
            <a:avLst/>
          </a:prstGeom>
          <a:noFill/>
          <a:ln/>
        </p:spPr>
        <p:txBody>
          <a:bodyPr wrap="square"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F2937"/>
                </a:solidFill>
                <a:effectLst/>
                <a:uLnTx/>
                <a:uFillTx/>
                <a:latin typeface="Arial" panose="020B0604020202020204" pitchFamily="34" charset="0"/>
                <a:ea typeface="Inter" pitchFamily="34" charset="-122"/>
                <a:cs typeface="Arial" panose="020B0604020202020204" pitchFamily="34" charset="0"/>
              </a:rPr>
              <a:t>Grow by </a:t>
            </a:r>
            <a:r>
              <a:rPr kumimoji="0" lang="en-US" sz="1800" b="1" i="0" u="none" strike="noStrike" kern="1200" cap="none" spc="0" normalizeH="0" baseline="0" noProof="0">
                <a:ln>
                  <a:noFill/>
                </a:ln>
                <a:solidFill>
                  <a:srgbClr val="002C6C"/>
                </a:solidFill>
                <a:effectLst/>
                <a:uLnTx/>
                <a:uFillTx/>
                <a:latin typeface="Arial" panose="020B0604020202020204" pitchFamily="34" charset="0"/>
                <a:ea typeface="Inter" pitchFamily="34" charset="-122"/>
                <a:cs typeface="Arial" panose="020B0604020202020204" pitchFamily="34" charset="0"/>
              </a:rPr>
              <a:t>1 life case over July 2025</a:t>
            </a:r>
            <a:r>
              <a:rPr kumimoji="0" lang="en-US" sz="1800" b="0" i="0" u="none" strike="noStrike" kern="1200" cap="none" spc="0" normalizeH="0" baseline="0" noProof="0">
                <a:ln>
                  <a:noFill/>
                </a:ln>
                <a:solidFill>
                  <a:srgbClr val="1F2937"/>
                </a:solidFill>
                <a:effectLst/>
                <a:uLnTx/>
                <a:uFillTx/>
                <a:latin typeface="Arial" panose="020B0604020202020204" pitchFamily="34" charset="0"/>
                <a:ea typeface="Inter" pitchFamily="34" charset="-122"/>
                <a:cs typeface="Arial" panose="020B0604020202020204" pitchFamily="34" charset="0"/>
              </a:rPr>
              <a:t>, with a minimum of </a:t>
            </a:r>
            <a:r>
              <a:rPr kumimoji="0" lang="en-US" sz="1800" b="1" i="0" u="none" strike="noStrike" kern="1200" cap="none" spc="0" normalizeH="0" baseline="0" noProof="0">
                <a:ln>
                  <a:noFill/>
                </a:ln>
                <a:solidFill>
                  <a:srgbClr val="002C6C"/>
                </a:solidFill>
                <a:effectLst/>
                <a:uLnTx/>
                <a:uFillTx/>
                <a:latin typeface="Arial" panose="020B0604020202020204" pitchFamily="34" charset="0"/>
                <a:ea typeface="Inter" pitchFamily="34" charset="-122"/>
                <a:cs typeface="Arial" panose="020B0604020202020204" pitchFamily="34" charset="0"/>
              </a:rPr>
              <a:t>5 life cases</a:t>
            </a:r>
            <a:r>
              <a:rPr kumimoji="0" lang="en-US" sz="1800" b="0" i="0" u="none" strike="noStrike" kern="1200" cap="none" spc="0" normalizeH="0" baseline="0" noProof="0">
                <a:ln>
                  <a:noFill/>
                </a:ln>
                <a:solidFill>
                  <a:srgbClr val="1F2937"/>
                </a:solidFill>
                <a:effectLst/>
                <a:uLnTx/>
                <a:uFillTx/>
                <a:latin typeface="Arial" panose="020B0604020202020204" pitchFamily="34" charset="0"/>
                <a:ea typeface="Inter" pitchFamily="34" charset="-122"/>
                <a:cs typeface="Arial" panose="020B0604020202020204" pitchFamily="34" charset="0"/>
              </a:rPr>
              <a:t> to double your bonus.</a:t>
            </a:r>
            <a:endParaRPr kumimoji="0" lang="en-US" sz="18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32" name="Text 24"/>
          <p:cNvSpPr txBox="1"/>
          <p:nvPr/>
        </p:nvSpPr>
        <p:spPr>
          <a:xfrm>
            <a:off x="6476997" y="4747415"/>
            <a:ext cx="5293961" cy="719770"/>
          </a:xfrm>
          <a:prstGeom prst="rect">
            <a:avLst/>
          </a:prstGeom>
          <a:noFill/>
          <a:ln/>
        </p:spPr>
        <p:txBody>
          <a:bodyPr wrap="square"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New York State Provision:</a:t>
            </a:r>
            <a:r>
              <a:rPr kumimoji="0" lang="en-US" sz="1400" b="0"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 Agents who meet the qualifications with paid life cases issued in New York State will receive bonus Council Credits in lieu of a cash bonus.</a:t>
            </a:r>
            <a:endParaRPr kumimoji="0" lang="en-US" sz="14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cxnSp>
        <p:nvCxnSpPr>
          <p:cNvPr id="36" name="Straight Connector 35">
            <a:extLst>
              <a:ext uri="{FF2B5EF4-FFF2-40B4-BE49-F238E27FC236}">
                <a16:creationId xmlns:a16="http://schemas.microsoft.com/office/drawing/2014/main" id="{14454A29-8AC0-49A6-61F3-C64F4BCB3560}"/>
              </a:ext>
            </a:extLst>
          </p:cNvPr>
          <p:cNvCxnSpPr>
            <a:cxnSpLocks/>
          </p:cNvCxnSpPr>
          <p:nvPr/>
        </p:nvCxnSpPr>
        <p:spPr>
          <a:xfrm>
            <a:off x="786132" y="4146875"/>
            <a:ext cx="3788523" cy="0"/>
          </a:xfrm>
          <a:prstGeom prst="line">
            <a:avLst/>
          </a:prstGeom>
          <a:ln>
            <a:solidFill>
              <a:srgbClr val="000A62"/>
            </a:solidFill>
          </a:ln>
        </p:spPr>
        <p:style>
          <a:lnRef idx="2">
            <a:schemeClr val="accent1"/>
          </a:lnRef>
          <a:fillRef idx="0">
            <a:schemeClr val="accent1"/>
          </a:fillRef>
          <a:effectRef idx="1">
            <a:schemeClr val="accent1"/>
          </a:effectRef>
          <a:fontRef idx="minor">
            <a:schemeClr val="tx1"/>
          </a:fontRef>
        </p:style>
      </p:cxnSp>
      <p:pic>
        <p:nvPicPr>
          <p:cNvPr id="38" name="Picture 37">
            <a:extLst>
              <a:ext uri="{FF2B5EF4-FFF2-40B4-BE49-F238E27FC236}">
                <a16:creationId xmlns:a16="http://schemas.microsoft.com/office/drawing/2014/main" id="{6F16CA7E-9512-EBB0-CEAC-022A1805A1AF}"/>
              </a:ext>
            </a:extLst>
          </p:cNvPr>
          <p:cNvPicPr>
            <a:picLocks noChangeAspect="1"/>
          </p:cNvPicPr>
          <p:nvPr/>
        </p:nvPicPr>
        <p:blipFill>
          <a:blip r:embed="rId3"/>
          <a:stretch>
            <a:fillRect/>
          </a:stretch>
        </p:blipFill>
        <p:spPr>
          <a:xfrm>
            <a:off x="755531" y="2662081"/>
            <a:ext cx="445007" cy="445007"/>
          </a:xfrm>
          <a:prstGeom prst="rect">
            <a:avLst/>
          </a:prstGeom>
        </p:spPr>
      </p:pic>
      <p:sp>
        <p:nvSpPr>
          <p:cNvPr id="40" name="Oval 39">
            <a:extLst>
              <a:ext uri="{FF2B5EF4-FFF2-40B4-BE49-F238E27FC236}">
                <a16:creationId xmlns:a16="http://schemas.microsoft.com/office/drawing/2014/main" id="{366BD3C1-3F01-C695-4D81-2854D4C1AE7A}"/>
              </a:ext>
            </a:extLst>
          </p:cNvPr>
          <p:cNvSpPr/>
          <p:nvPr/>
        </p:nvSpPr>
        <p:spPr>
          <a:xfrm>
            <a:off x="5403461" y="4595315"/>
            <a:ext cx="944458" cy="944458"/>
          </a:xfrm>
          <a:prstGeom prst="ellipse">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pic>
        <p:nvPicPr>
          <p:cNvPr id="42" name="Picture 41">
            <a:extLst>
              <a:ext uri="{FF2B5EF4-FFF2-40B4-BE49-F238E27FC236}">
                <a16:creationId xmlns:a16="http://schemas.microsoft.com/office/drawing/2014/main" id="{82B10680-889A-9AC8-1700-AE3D12F9BDEA}"/>
              </a:ext>
            </a:extLst>
          </p:cNvPr>
          <p:cNvPicPr>
            <a:picLocks noChangeAspect="1"/>
          </p:cNvPicPr>
          <p:nvPr/>
        </p:nvPicPr>
        <p:blipFill>
          <a:blip r:embed="rId4"/>
          <a:srcRect/>
          <a:stretch/>
        </p:blipFill>
        <p:spPr>
          <a:xfrm>
            <a:off x="5469906" y="4776222"/>
            <a:ext cx="811569" cy="582644"/>
          </a:xfrm>
          <a:prstGeom prst="rect">
            <a:avLst/>
          </a:prstGeom>
        </p:spPr>
      </p:pic>
      <p:sp>
        <p:nvSpPr>
          <p:cNvPr id="46" name="Shape 13">
            <a:extLst>
              <a:ext uri="{FF2B5EF4-FFF2-40B4-BE49-F238E27FC236}">
                <a16:creationId xmlns:a16="http://schemas.microsoft.com/office/drawing/2014/main" id="{A4F0EE3B-D852-4311-3114-CA997D835ABE}"/>
              </a:ext>
            </a:extLst>
          </p:cNvPr>
          <p:cNvSpPr/>
          <p:nvPr/>
        </p:nvSpPr>
        <p:spPr>
          <a:xfrm>
            <a:off x="5220462" y="2503651"/>
            <a:ext cx="6550496" cy="267211"/>
          </a:xfrm>
          <a:prstGeom prst="roundRect">
            <a:avLst>
              <a:gd name="adj" fmla="val 50000"/>
            </a:avLst>
          </a:prstGeom>
          <a:solidFill>
            <a:srgbClr val="0468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47" name="Text 14">
            <a:extLst>
              <a:ext uri="{FF2B5EF4-FFF2-40B4-BE49-F238E27FC236}">
                <a16:creationId xmlns:a16="http://schemas.microsoft.com/office/drawing/2014/main" id="{9F51FD5A-1E21-AD93-351D-14B86A840287}"/>
              </a:ext>
            </a:extLst>
          </p:cNvPr>
          <p:cNvSpPr/>
          <p:nvPr/>
        </p:nvSpPr>
        <p:spPr>
          <a:xfrm>
            <a:off x="5487163" y="2544362"/>
            <a:ext cx="533400" cy="203607"/>
          </a:xfrm>
          <a:prstGeom prst="rect">
            <a:avLst/>
          </a:prstGeom>
          <a:solidFill>
            <a:srgbClr val="FFFFFF">
              <a:alpha val="0"/>
            </a:srgbClr>
          </a:solidFill>
          <a:ln>
            <a:solidFill>
              <a:srgbClr val="FFFFFF">
                <a:alpha val="0"/>
              </a:srgbClr>
            </a:solid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rial" panose="020B0604020202020204" pitchFamily="34" charset="0"/>
                <a:ea typeface="Inter" pitchFamily="34" charset="-122"/>
                <a:cs typeface="Arial" panose="020B0604020202020204" pitchFamily="34" charset="0"/>
              </a:rPr>
              <a:t>Tier 2</a:t>
            </a:r>
            <a:endPar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9" name="Straight Connector 48">
            <a:extLst>
              <a:ext uri="{FF2B5EF4-FFF2-40B4-BE49-F238E27FC236}">
                <a16:creationId xmlns:a16="http://schemas.microsoft.com/office/drawing/2014/main" id="{FFFE4CCD-E01D-CAEB-B837-C04D287BC7FC}"/>
              </a:ext>
            </a:extLst>
          </p:cNvPr>
          <p:cNvCxnSpPr/>
          <p:nvPr/>
        </p:nvCxnSpPr>
        <p:spPr>
          <a:xfrm>
            <a:off x="6476997" y="1455285"/>
            <a:ext cx="4939294" cy="0"/>
          </a:xfrm>
          <a:prstGeom prst="line">
            <a:avLst/>
          </a:prstGeom>
          <a:ln w="12700">
            <a:solidFill>
              <a:srgbClr val="016355"/>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BEF11DFD-2323-7644-C5B6-C6007431F117}"/>
              </a:ext>
            </a:extLst>
          </p:cNvPr>
          <p:cNvCxnSpPr/>
          <p:nvPr/>
        </p:nvCxnSpPr>
        <p:spPr>
          <a:xfrm>
            <a:off x="6476997" y="3423985"/>
            <a:ext cx="4939294" cy="0"/>
          </a:xfrm>
          <a:prstGeom prst="line">
            <a:avLst/>
          </a:prstGeom>
          <a:ln w="12700">
            <a:solidFill>
              <a:srgbClr val="0468FF"/>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FE9868B4-7B61-6E1D-0137-EFA1D351D5CF}"/>
              </a:ext>
            </a:extLst>
          </p:cNvPr>
          <p:cNvSpPr txBox="1"/>
          <p:nvPr/>
        </p:nvSpPr>
        <p:spPr>
          <a:xfrm>
            <a:off x="421041" y="5754770"/>
            <a:ext cx="736587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3000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1</a:t>
            </a:r>
            <a:r>
              <a:rPr kumimoji="0" lang="en-US" sz="1000" b="0" i="0" u="none" strike="noStrike" kern="1200" cap="none" spc="0" normalizeH="0" baseline="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Agents eligible to enroll in the Life and Annuity Expense Allowance Program must enroll by July 31, 2026, to receive a cash bonus.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Arial" panose="020B0604020202020204" pitchFamily="34" charset="0"/>
              </a:rPr>
              <a:t>Pending NYS Dept. of Financial Services approval.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76C0C99F-F23C-719A-EA1A-CF55F8C0D14F}"/>
              </a:ext>
            </a:extLst>
          </p:cNvPr>
          <p:cNvPicPr>
            <a:picLocks noChangeAspect="1"/>
          </p:cNvPicPr>
          <p:nvPr/>
        </p:nvPicPr>
        <p:blipFill>
          <a:blip r:embed="rId3"/>
          <a:srcRect l="4577" t="22398" r="16917" b="1734"/>
          <a:stretch>
            <a:fillRect/>
          </a:stretch>
        </p:blipFill>
        <p:spPr>
          <a:xfrm>
            <a:off x="6499375" y="2569823"/>
            <a:ext cx="5271584" cy="3397340"/>
          </a:xfrm>
          <a:prstGeom prst="rect">
            <a:avLst/>
          </a:prstGeom>
        </p:spPr>
      </p:pic>
      <p:sp>
        <p:nvSpPr>
          <p:cNvPr id="23" name="Rectangle 22">
            <a:extLst>
              <a:ext uri="{FF2B5EF4-FFF2-40B4-BE49-F238E27FC236}">
                <a16:creationId xmlns:a16="http://schemas.microsoft.com/office/drawing/2014/main" id="{51C83C6B-4B08-D6E0-543E-95E4DCFD8005}"/>
              </a:ext>
            </a:extLst>
          </p:cNvPr>
          <p:cNvSpPr/>
          <p:nvPr/>
        </p:nvSpPr>
        <p:spPr>
          <a:xfrm>
            <a:off x="10045213" y="3052910"/>
            <a:ext cx="1610759" cy="2484858"/>
          </a:xfrm>
          <a:prstGeom prst="rect">
            <a:avLst/>
          </a:prstGeom>
          <a:solidFill>
            <a:schemeClr val="bg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0" name="Rectangle: Rounded Corners 9">
            <a:extLst>
              <a:ext uri="{FF2B5EF4-FFF2-40B4-BE49-F238E27FC236}">
                <a16:creationId xmlns:a16="http://schemas.microsoft.com/office/drawing/2014/main" id="{E8BE548D-1795-3FA3-B174-B13AB58A8BBB}"/>
              </a:ext>
            </a:extLst>
          </p:cNvPr>
          <p:cNvSpPr/>
          <p:nvPr/>
        </p:nvSpPr>
        <p:spPr>
          <a:xfrm>
            <a:off x="421040" y="1484622"/>
            <a:ext cx="11349918" cy="873826"/>
          </a:xfrm>
          <a:prstGeom prst="roundRect">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 name="Title 1">
            <a:extLst>
              <a:ext uri="{FF2B5EF4-FFF2-40B4-BE49-F238E27FC236}">
                <a16:creationId xmlns:a16="http://schemas.microsoft.com/office/drawing/2014/main" id="{11E5C9F2-C9DF-581D-5875-2E1C1A4FD5FE}"/>
              </a:ext>
            </a:extLst>
          </p:cNvPr>
          <p:cNvSpPr>
            <a:spLocks noGrp="1"/>
          </p:cNvSpPr>
          <p:nvPr>
            <p:ph type="title"/>
          </p:nvPr>
        </p:nvSpPr>
        <p:spPr/>
        <p:txBody>
          <a:bodyPr/>
          <a:lstStyle/>
          <a:p>
            <a:r>
              <a:rPr lang="en-US" sz="3100"/>
              <a:t>Executive Council Rocky Mountain Crocs</a:t>
            </a:r>
            <a:r>
              <a:rPr lang="en-US" sz="3100" baseline="30000"/>
              <a:t>™</a:t>
            </a:r>
            <a:r>
              <a:rPr lang="en-US" sz="3100"/>
              <a:t> Giveaway Experience</a:t>
            </a:r>
          </a:p>
        </p:txBody>
      </p:sp>
      <p:sp>
        <p:nvSpPr>
          <p:cNvPr id="3" name="Content Placeholder 2">
            <a:extLst>
              <a:ext uri="{FF2B5EF4-FFF2-40B4-BE49-F238E27FC236}">
                <a16:creationId xmlns:a16="http://schemas.microsoft.com/office/drawing/2014/main" id="{426B9D3B-5AC5-C9E4-3D12-B4753C329FBC}"/>
              </a:ext>
            </a:extLst>
          </p:cNvPr>
          <p:cNvSpPr>
            <a:spLocks noGrp="1"/>
          </p:cNvSpPr>
          <p:nvPr>
            <p:ph idx="1"/>
          </p:nvPr>
        </p:nvSpPr>
        <p:spPr>
          <a:xfrm>
            <a:off x="616369" y="2569823"/>
            <a:ext cx="5746504" cy="2108917"/>
          </a:xfrm>
        </p:spPr>
        <p:txBody>
          <a:bodyPr/>
          <a:lstStyle/>
          <a:p>
            <a:pPr marL="0" indent="0">
              <a:spcBef>
                <a:spcPts val="0"/>
              </a:spcBef>
              <a:spcAft>
                <a:spcPts val="600"/>
              </a:spcAft>
              <a:buNone/>
            </a:pPr>
            <a:r>
              <a:rPr lang="en-US" sz="1600" b="1">
                <a:solidFill>
                  <a:schemeClr val="accent6">
                    <a:lumMod val="10000"/>
                  </a:schemeClr>
                </a:solidFill>
              </a:rPr>
              <a:t>Highlights</a:t>
            </a:r>
          </a:p>
          <a:p>
            <a:pPr>
              <a:spcBef>
                <a:spcPts val="0"/>
              </a:spcBef>
              <a:spcAft>
                <a:spcPts val="400"/>
              </a:spcAft>
            </a:pPr>
            <a:r>
              <a:rPr lang="en-US" sz="1600">
                <a:solidFill>
                  <a:schemeClr val="accent6">
                    <a:lumMod val="10000"/>
                  </a:schemeClr>
                </a:solidFill>
              </a:rPr>
              <a:t>Qualification period: </a:t>
            </a:r>
            <a:r>
              <a:rPr lang="en-US" sz="1600" b="1">
                <a:solidFill>
                  <a:schemeClr val="accent6">
                    <a:lumMod val="10000"/>
                  </a:schemeClr>
                </a:solidFill>
              </a:rPr>
              <a:t>July 1 – August 14</a:t>
            </a:r>
          </a:p>
          <a:p>
            <a:pPr>
              <a:spcBef>
                <a:spcPts val="0"/>
              </a:spcBef>
              <a:spcAft>
                <a:spcPts val="400"/>
              </a:spcAft>
            </a:pPr>
            <a:r>
              <a:rPr lang="en-US" sz="1600">
                <a:solidFill>
                  <a:schemeClr val="accent6">
                    <a:lumMod val="10000"/>
                  </a:schemeClr>
                </a:solidFill>
              </a:rPr>
              <a:t>Open to 2026 Executive Council qualifiers</a:t>
            </a:r>
          </a:p>
          <a:p>
            <a:pPr>
              <a:spcBef>
                <a:spcPts val="0"/>
              </a:spcBef>
              <a:spcAft>
                <a:spcPts val="400"/>
              </a:spcAft>
            </a:pPr>
            <a:r>
              <a:rPr lang="en-US" sz="1600">
                <a:solidFill>
                  <a:schemeClr val="accent6">
                    <a:lumMod val="10000"/>
                  </a:schemeClr>
                </a:solidFill>
              </a:rPr>
              <a:t>Rank in the top 200 on the paid insurance solution </a:t>
            </a:r>
            <a:br>
              <a:rPr lang="en-US" sz="1600">
                <a:solidFill>
                  <a:schemeClr val="accent6">
                    <a:lumMod val="10000"/>
                  </a:schemeClr>
                </a:solidFill>
              </a:rPr>
            </a:br>
            <a:r>
              <a:rPr lang="en-US" sz="1600">
                <a:solidFill>
                  <a:schemeClr val="accent6">
                    <a:lumMod val="10000"/>
                  </a:schemeClr>
                </a:solidFill>
              </a:rPr>
              <a:t>cases</a:t>
            </a:r>
            <a:r>
              <a:rPr lang="en-US" sz="1600" baseline="30000">
                <a:solidFill>
                  <a:srgbClr val="002060"/>
                </a:solidFill>
              </a:rPr>
              <a:t>1</a:t>
            </a:r>
            <a:r>
              <a:rPr lang="en-US" sz="1600">
                <a:solidFill>
                  <a:schemeClr val="accent6">
                    <a:lumMod val="10000"/>
                  </a:schemeClr>
                </a:solidFill>
              </a:rPr>
              <a:t> leaderboard</a:t>
            </a:r>
          </a:p>
          <a:p>
            <a:pPr>
              <a:spcBef>
                <a:spcPts val="0"/>
              </a:spcBef>
              <a:spcAft>
                <a:spcPts val="400"/>
              </a:spcAft>
            </a:pPr>
            <a:r>
              <a:rPr lang="en-US" sz="1600">
                <a:solidFill>
                  <a:schemeClr val="accent6">
                    <a:lumMod val="10000"/>
                  </a:schemeClr>
                </a:solidFill>
              </a:rPr>
              <a:t>Must attend 2026 Executive Council meeting to receive prize</a:t>
            </a:r>
          </a:p>
          <a:p>
            <a:pPr>
              <a:spcBef>
                <a:spcPts val="0"/>
              </a:spcBef>
              <a:spcAft>
                <a:spcPts val="400"/>
              </a:spcAft>
            </a:pPr>
            <a:r>
              <a:rPr lang="en-US" sz="1600">
                <a:solidFill>
                  <a:schemeClr val="accent6">
                    <a:lumMod val="10000"/>
                  </a:schemeClr>
                </a:solidFill>
              </a:rPr>
              <a:t>Registered guests may attend</a:t>
            </a:r>
          </a:p>
        </p:txBody>
      </p:sp>
      <p:sp>
        <p:nvSpPr>
          <p:cNvPr id="4" name="Content Placeholder 3">
            <a:extLst>
              <a:ext uri="{FF2B5EF4-FFF2-40B4-BE49-F238E27FC236}">
                <a16:creationId xmlns:a16="http://schemas.microsoft.com/office/drawing/2014/main" id="{8BE445BF-F926-55CD-F199-356B243B164C}"/>
              </a:ext>
            </a:extLst>
          </p:cNvPr>
          <p:cNvSpPr>
            <a:spLocks noGrp="1"/>
          </p:cNvSpPr>
          <p:nvPr>
            <p:ph sz="quarter" idx="11"/>
          </p:nvPr>
        </p:nvSpPr>
        <p:spPr>
          <a:xfrm>
            <a:off x="421042" y="1048018"/>
            <a:ext cx="11310706" cy="544803"/>
          </a:xfrm>
        </p:spPr>
        <p:txBody>
          <a:bodyPr/>
          <a:lstStyle/>
          <a:p>
            <a:r>
              <a:rPr lang="en-US" sz="2000"/>
              <a:t>Exclusive Denver giveaway for top-performing Executive Council agents</a:t>
            </a:r>
          </a:p>
        </p:txBody>
      </p:sp>
      <p:sp>
        <p:nvSpPr>
          <p:cNvPr id="5" name="Slide Number Placeholder 2">
            <a:extLst>
              <a:ext uri="{FF2B5EF4-FFF2-40B4-BE49-F238E27FC236}">
                <a16:creationId xmlns:a16="http://schemas.microsoft.com/office/drawing/2014/main" id="{0DAC5F02-D993-B08D-44D4-7139245FAEE7}"/>
              </a:ext>
            </a:extLst>
          </p:cNvPr>
          <p:cNvSpPr>
            <a:spLocks noGrp="1"/>
          </p:cNvSpPr>
          <p:nvPr>
            <p:ph type="sldNum" sz="quarter" idx="10"/>
          </p:nvPr>
        </p:nvSpPr>
        <p:spPr>
          <a:xfrm>
            <a:off x="11579107" y="6232230"/>
            <a:ext cx="430079" cy="365125"/>
          </a:xfr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8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7" name="TextBox 6">
            <a:extLst>
              <a:ext uri="{FF2B5EF4-FFF2-40B4-BE49-F238E27FC236}">
                <a16:creationId xmlns:a16="http://schemas.microsoft.com/office/drawing/2014/main" id="{1F42E124-E051-BB2D-C3D9-A30431AC2F44}"/>
              </a:ext>
            </a:extLst>
          </p:cNvPr>
          <p:cNvSpPr txBox="1"/>
          <p:nvPr/>
        </p:nvSpPr>
        <p:spPr>
          <a:xfrm>
            <a:off x="616370" y="1613759"/>
            <a:ext cx="11260320" cy="615553"/>
          </a:xfrm>
          <a:prstGeom prst="rect">
            <a:avLst/>
          </a:prstGeom>
          <a:noFill/>
        </p:spPr>
        <p:txBody>
          <a:bodyPr wrap="square" lIns="0" tIns="91440" rIns="27432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tab pos="3090863" algn="l"/>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Be among the top </a:t>
            </a:r>
            <a:r>
              <a:rPr kumimoji="0" 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200 agents </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on the paid insurance solution cases</a:t>
            </a:r>
            <a:r>
              <a:rPr kumimoji="0" lang="en-US" sz="1400" b="0"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1</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leaderboard and qualify for an exclusive invitation to the </a:t>
            </a:r>
            <a:r>
              <a:rPr kumimoji="0" 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Executive Council Rocky Mountain Crocs</a:t>
            </a:r>
            <a:r>
              <a:rPr kumimoji="0" lang="en-US" sz="1400" b="1"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a:t>
            </a:r>
            <a:r>
              <a:rPr kumimoji="0" 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Giveaway Experience </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at the Executive Council Meeting on Tuesday, August 25. </a:t>
            </a:r>
          </a:p>
        </p:txBody>
      </p:sp>
      <p:sp>
        <p:nvSpPr>
          <p:cNvPr id="19" name="TextBox 18">
            <a:extLst>
              <a:ext uri="{FF2B5EF4-FFF2-40B4-BE49-F238E27FC236}">
                <a16:creationId xmlns:a16="http://schemas.microsoft.com/office/drawing/2014/main" id="{E7BF08E0-F728-EC30-D697-150FB2E41EBE}"/>
              </a:ext>
            </a:extLst>
          </p:cNvPr>
          <p:cNvSpPr txBox="1"/>
          <p:nvPr/>
        </p:nvSpPr>
        <p:spPr>
          <a:xfrm>
            <a:off x="10174132" y="3194354"/>
            <a:ext cx="1404975" cy="215443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rPr>
              <a:t>Choose  a complimentary Crocs bag adorned with a custom NYL </a:t>
            </a:r>
            <a:r>
              <a:rPr kumimoji="0" lang="en-US" sz="1400" b="0" i="0" u="none" strike="noStrike" kern="1200" cap="none" spc="0" normalizeH="0" baseline="0" noProof="0" err="1">
                <a:ln>
                  <a:noFill/>
                </a:ln>
                <a:solidFill>
                  <a:srgbClr val="000A62"/>
                </a:solidFill>
                <a:effectLst/>
                <a:uLnTx/>
                <a:uFillTx/>
                <a:latin typeface="Arial" panose="020B0604020202020204" pitchFamily="34" charset="0"/>
                <a:ea typeface="+mn-ea"/>
                <a:cs typeface="Arial" panose="020B0604020202020204" pitchFamily="34" charset="0"/>
              </a:rPr>
              <a:t>Jibbitz</a:t>
            </a:r>
            <a:r>
              <a:rPr kumimoji="0" lang="en-US" sz="1400" b="0" i="0" u="none" strike="noStrike" kern="1200" cap="none" spc="0" normalizeH="0" baseline="30000" noProof="0" err="1">
                <a:ln>
                  <a:noFill/>
                </a:ln>
                <a:solidFill>
                  <a:srgbClr val="000A62"/>
                </a:solidFill>
                <a:effectLst/>
                <a:uLnTx/>
                <a:uFillTx/>
                <a:latin typeface="Arial" panose="020B0604020202020204" pitchFamily="34" charset="0"/>
                <a:ea typeface="+mn-ea"/>
                <a:cs typeface="Arial" panose="020B0604020202020204" pitchFamily="34" charset="0"/>
              </a:rPr>
              <a:t>TM</a:t>
            </a:r>
            <a:r>
              <a:rPr kumimoji="0" lang="en-US" sz="14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rPr>
              <a:t> charm. Personalize it with your choice of two additional charms!</a:t>
            </a:r>
            <a:endParaRPr kumimoji="0" lang="en-US" sz="1400" b="0" i="0" u="none" strike="noStrike" kern="1200" cap="none" spc="0" normalizeH="0" baseline="0" noProof="0">
              <a:ln>
                <a:noFill/>
              </a:ln>
              <a:solidFill>
                <a:srgbClr val="000A62"/>
              </a:solidFill>
              <a:effectLst/>
              <a:uLnTx/>
              <a:uFillTx/>
              <a:latin typeface="Georgia" panose="02040502050405020303"/>
              <a:ea typeface="+mn-ea"/>
              <a:cs typeface="+mn-cs"/>
            </a:endParaRPr>
          </a:p>
        </p:txBody>
      </p:sp>
      <p:sp>
        <p:nvSpPr>
          <p:cNvPr id="24" name="TextBox 23">
            <a:extLst>
              <a:ext uri="{FF2B5EF4-FFF2-40B4-BE49-F238E27FC236}">
                <a16:creationId xmlns:a16="http://schemas.microsoft.com/office/drawing/2014/main" id="{99051F0E-4468-93D0-E5EC-C8E0AB7B756C}"/>
              </a:ext>
            </a:extLst>
          </p:cNvPr>
          <p:cNvSpPr txBox="1"/>
          <p:nvPr/>
        </p:nvSpPr>
        <p:spPr>
          <a:xfrm>
            <a:off x="421040" y="179267"/>
            <a:ext cx="2464088"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468FF"/>
                </a:solidFill>
                <a:effectLst/>
                <a:uLnTx/>
                <a:uFillTx/>
                <a:latin typeface="Arial" panose="020B0604020202020204" pitchFamily="34" charset="0"/>
                <a:ea typeface="+mn-ea"/>
                <a:cs typeface="Arial" panose="020B0604020202020204" pitchFamily="34" charset="0"/>
              </a:rPr>
              <a:t>COUNCIL PERKS</a:t>
            </a:r>
          </a:p>
        </p:txBody>
      </p:sp>
      <p:sp>
        <p:nvSpPr>
          <p:cNvPr id="25" name="Rectangle 24">
            <a:extLst>
              <a:ext uri="{FF2B5EF4-FFF2-40B4-BE49-F238E27FC236}">
                <a16:creationId xmlns:a16="http://schemas.microsoft.com/office/drawing/2014/main" id="{F6D49D36-A32A-29BD-D783-E145ED2C909E}"/>
              </a:ext>
            </a:extLst>
          </p:cNvPr>
          <p:cNvSpPr/>
          <p:nvPr/>
        </p:nvSpPr>
        <p:spPr bwMode="ltGray">
          <a:xfrm>
            <a:off x="421040" y="4869906"/>
            <a:ext cx="5298819"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6" name="Isosceles Triangle 25">
            <a:extLst>
              <a:ext uri="{FF2B5EF4-FFF2-40B4-BE49-F238E27FC236}">
                <a16:creationId xmlns:a16="http://schemas.microsoft.com/office/drawing/2014/main" id="{31E8863B-3D94-57CA-E4C1-470D9CC03134}"/>
              </a:ext>
            </a:extLst>
          </p:cNvPr>
          <p:cNvSpPr/>
          <p:nvPr/>
        </p:nvSpPr>
        <p:spPr bwMode="ltGray">
          <a:xfrm rot="5400000">
            <a:off x="4809606" y="5301729"/>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7" name="TextBox 26">
            <a:extLst>
              <a:ext uri="{FF2B5EF4-FFF2-40B4-BE49-F238E27FC236}">
                <a16:creationId xmlns:a16="http://schemas.microsoft.com/office/drawing/2014/main" id="{C6A5E325-8630-E88F-A95D-BE389CDC546A}"/>
              </a:ext>
            </a:extLst>
          </p:cNvPr>
          <p:cNvSpPr txBox="1"/>
          <p:nvPr/>
        </p:nvSpPr>
        <p:spPr>
          <a:xfrm>
            <a:off x="616369" y="5204302"/>
            <a:ext cx="4169083"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code for complete rules, requirements, qualifying products, and official incentive details.</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93B44E6E-7E90-3D43-5311-59EC1D4E1FD6}"/>
              </a:ext>
            </a:extLst>
          </p:cNvPr>
          <p:cNvPicPr>
            <a:picLocks noChangeAspect="1"/>
          </p:cNvPicPr>
          <p:nvPr/>
        </p:nvPicPr>
        <p:blipFill>
          <a:blip r:embed="rId4"/>
          <a:srcRect/>
          <a:stretch/>
        </p:blipFill>
        <p:spPr>
          <a:xfrm>
            <a:off x="5186856" y="4869907"/>
            <a:ext cx="1097256" cy="1097256"/>
          </a:xfrm>
          <a:prstGeom prst="rect">
            <a:avLst/>
          </a:prstGeom>
        </p:spPr>
      </p:pic>
    </p:spTree>
    <p:extLst>
      <p:ext uri="{BB962C8B-B14F-4D97-AF65-F5344CB8AC3E}">
        <p14:creationId xmlns:p14="http://schemas.microsoft.com/office/powerpoint/2010/main" val="2912619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4140E-8C27-69F2-6EDE-17807EEF6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AB183-7478-8AEB-84EA-53251EB1B61F}"/>
              </a:ext>
            </a:extLst>
          </p:cNvPr>
          <p:cNvSpPr>
            <a:spLocks noGrp="1"/>
          </p:cNvSpPr>
          <p:nvPr>
            <p:ph type="title"/>
          </p:nvPr>
        </p:nvSpPr>
        <p:spPr/>
        <p:txBody>
          <a:bodyPr/>
          <a:lstStyle/>
          <a:p>
            <a:r>
              <a:rPr lang="en-US" sz="3100"/>
              <a:t>President's Council Beachfront Boutique Experience</a:t>
            </a:r>
          </a:p>
        </p:txBody>
      </p:sp>
      <p:sp>
        <p:nvSpPr>
          <p:cNvPr id="4" name="Content Placeholder 3">
            <a:extLst>
              <a:ext uri="{FF2B5EF4-FFF2-40B4-BE49-F238E27FC236}">
                <a16:creationId xmlns:a16="http://schemas.microsoft.com/office/drawing/2014/main" id="{140CDF30-CA54-B3C9-0A53-35401214DD3C}"/>
              </a:ext>
            </a:extLst>
          </p:cNvPr>
          <p:cNvSpPr>
            <a:spLocks noGrp="1"/>
          </p:cNvSpPr>
          <p:nvPr>
            <p:ph sz="quarter" idx="11"/>
          </p:nvPr>
        </p:nvSpPr>
        <p:spPr>
          <a:xfrm>
            <a:off x="421042" y="1047585"/>
            <a:ext cx="11310706" cy="544803"/>
          </a:xfrm>
        </p:spPr>
        <p:txBody>
          <a:bodyPr/>
          <a:lstStyle/>
          <a:p>
            <a:r>
              <a:rPr lang="en-US" sz="2000"/>
              <a:t>Private shopping event for top-performing President's Council agents</a:t>
            </a:r>
          </a:p>
        </p:txBody>
      </p:sp>
      <p:sp>
        <p:nvSpPr>
          <p:cNvPr id="5" name="Slide Number Placeholder 2">
            <a:extLst>
              <a:ext uri="{FF2B5EF4-FFF2-40B4-BE49-F238E27FC236}">
                <a16:creationId xmlns:a16="http://schemas.microsoft.com/office/drawing/2014/main" id="{78CF1531-932B-5CF1-8445-0D5B7E63BB49}"/>
              </a:ext>
            </a:extLst>
          </p:cNvPr>
          <p:cNvSpPr>
            <a:spLocks noGrp="1"/>
          </p:cNvSpPr>
          <p:nvPr>
            <p:ph type="sldNum" sz="quarter" idx="10"/>
          </p:nvPr>
        </p:nvSpPr>
        <p:spPr>
          <a:xfrm>
            <a:off x="11579107" y="6232230"/>
            <a:ext cx="430079" cy="365125"/>
          </a:xfr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8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8" name="TextBox 7">
            <a:extLst>
              <a:ext uri="{FF2B5EF4-FFF2-40B4-BE49-F238E27FC236}">
                <a16:creationId xmlns:a16="http://schemas.microsoft.com/office/drawing/2014/main" id="{E7B26A67-5FA0-A08A-F90D-46AA3F315A13}"/>
              </a:ext>
            </a:extLst>
          </p:cNvPr>
          <p:cNvSpPr txBox="1"/>
          <p:nvPr/>
        </p:nvSpPr>
        <p:spPr>
          <a:xfrm>
            <a:off x="421040" y="179267"/>
            <a:ext cx="2464088"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468FF"/>
                </a:solidFill>
                <a:effectLst/>
                <a:uLnTx/>
                <a:uFillTx/>
                <a:latin typeface="Arial" panose="020B0604020202020204" pitchFamily="34" charset="0"/>
                <a:ea typeface="+mn-ea"/>
                <a:cs typeface="Arial" panose="020B0604020202020204" pitchFamily="34" charset="0"/>
              </a:rPr>
              <a:t>COUNCIL PERKS</a:t>
            </a:r>
          </a:p>
        </p:txBody>
      </p:sp>
      <p:sp>
        <p:nvSpPr>
          <p:cNvPr id="14" name="Content Placeholder 2">
            <a:extLst>
              <a:ext uri="{FF2B5EF4-FFF2-40B4-BE49-F238E27FC236}">
                <a16:creationId xmlns:a16="http://schemas.microsoft.com/office/drawing/2014/main" id="{2D4A9A55-3863-1372-0DE0-3BC2E7739D4E}"/>
              </a:ext>
            </a:extLst>
          </p:cNvPr>
          <p:cNvSpPr>
            <a:spLocks noGrp="1"/>
          </p:cNvSpPr>
          <p:nvPr>
            <p:ph idx="1"/>
          </p:nvPr>
        </p:nvSpPr>
        <p:spPr>
          <a:xfrm>
            <a:off x="616368" y="2449667"/>
            <a:ext cx="8006522" cy="2438366"/>
          </a:xfrm>
        </p:spPr>
        <p:txBody>
          <a:bodyPr/>
          <a:lstStyle/>
          <a:p>
            <a:pPr marL="0" indent="0">
              <a:spcBef>
                <a:spcPts val="0"/>
              </a:spcBef>
              <a:spcAft>
                <a:spcPts val="400"/>
              </a:spcAft>
              <a:buNone/>
            </a:pPr>
            <a:r>
              <a:rPr lang="en-US" sz="1600" b="1">
                <a:solidFill>
                  <a:schemeClr val="accent6">
                    <a:lumMod val="10000"/>
                  </a:schemeClr>
                </a:solidFill>
              </a:rPr>
              <a:t>Highlights</a:t>
            </a:r>
          </a:p>
          <a:p>
            <a:pPr>
              <a:spcBef>
                <a:spcPts val="0"/>
              </a:spcBef>
              <a:spcAft>
                <a:spcPts val="400"/>
              </a:spcAft>
            </a:pPr>
            <a:r>
              <a:rPr lang="en-US" sz="1500">
                <a:solidFill>
                  <a:schemeClr val="accent6">
                    <a:lumMod val="10000"/>
                  </a:schemeClr>
                </a:solidFill>
              </a:rPr>
              <a:t>Qualification period: </a:t>
            </a:r>
            <a:r>
              <a:rPr lang="en-US" sz="1500" b="1">
                <a:solidFill>
                  <a:schemeClr val="accent6">
                    <a:lumMod val="10000"/>
                  </a:schemeClr>
                </a:solidFill>
              </a:rPr>
              <a:t>July 1 – September 30</a:t>
            </a:r>
          </a:p>
          <a:p>
            <a:pPr>
              <a:spcBef>
                <a:spcPts val="0"/>
              </a:spcBef>
              <a:spcAft>
                <a:spcPts val="400"/>
              </a:spcAft>
            </a:pPr>
            <a:r>
              <a:rPr lang="en-US" sz="1500">
                <a:solidFill>
                  <a:schemeClr val="accent6">
                    <a:lumMod val="10000"/>
                  </a:schemeClr>
                </a:solidFill>
              </a:rPr>
              <a:t>Open to 2026 President's Council qualifiers</a:t>
            </a:r>
          </a:p>
          <a:p>
            <a:pPr>
              <a:spcBef>
                <a:spcPts val="0"/>
              </a:spcBef>
              <a:spcAft>
                <a:spcPts val="400"/>
              </a:spcAft>
            </a:pPr>
            <a:r>
              <a:rPr lang="en-US" sz="1500">
                <a:solidFill>
                  <a:schemeClr val="accent6">
                    <a:lumMod val="10000"/>
                  </a:schemeClr>
                </a:solidFill>
              </a:rPr>
              <a:t>Rank in the top 100 on the paid insurance solution premium¹ leaderboard</a:t>
            </a:r>
          </a:p>
          <a:p>
            <a:pPr>
              <a:spcBef>
                <a:spcPts val="0"/>
              </a:spcBef>
              <a:spcAft>
                <a:spcPts val="400"/>
              </a:spcAft>
            </a:pPr>
            <a:r>
              <a:rPr lang="en-US" sz="1500">
                <a:solidFill>
                  <a:schemeClr val="accent6">
                    <a:lumMod val="10000"/>
                  </a:schemeClr>
                </a:solidFill>
              </a:rPr>
              <a:t>Must attend 2026 President's Council meeting to receive prize</a:t>
            </a:r>
          </a:p>
          <a:p>
            <a:pPr>
              <a:spcBef>
                <a:spcPts val="0"/>
              </a:spcBef>
              <a:spcAft>
                <a:spcPts val="400"/>
              </a:spcAft>
            </a:pPr>
            <a:r>
              <a:rPr lang="en-US" sz="1500">
                <a:solidFill>
                  <a:schemeClr val="accent6">
                    <a:lumMod val="10000"/>
                  </a:schemeClr>
                </a:solidFill>
              </a:rPr>
              <a:t>Must be prorata proactive by September 30</a:t>
            </a:r>
          </a:p>
          <a:p>
            <a:pPr>
              <a:spcBef>
                <a:spcPts val="0"/>
              </a:spcBef>
              <a:spcAft>
                <a:spcPts val="400"/>
              </a:spcAft>
            </a:pPr>
            <a:r>
              <a:rPr lang="en-US" sz="1500">
                <a:solidFill>
                  <a:schemeClr val="accent6">
                    <a:lumMod val="10000"/>
                  </a:schemeClr>
                </a:solidFill>
              </a:rPr>
              <a:t>Registered guests may attend </a:t>
            </a:r>
          </a:p>
          <a:p>
            <a:pPr>
              <a:spcBef>
                <a:spcPts val="0"/>
              </a:spcBef>
              <a:spcAft>
                <a:spcPts val="400"/>
              </a:spcAft>
            </a:pPr>
            <a:r>
              <a:rPr lang="en-US" sz="1500">
                <a:solidFill>
                  <a:schemeClr val="accent6">
                    <a:lumMod val="10000"/>
                  </a:schemeClr>
                </a:solidFill>
              </a:rPr>
              <a:t>Top 10 also qualify for a premium Balinese-inspired chickee beach hut rental*</a:t>
            </a:r>
          </a:p>
        </p:txBody>
      </p:sp>
      <p:sp>
        <p:nvSpPr>
          <p:cNvPr id="20" name="TextBox 19">
            <a:extLst>
              <a:ext uri="{FF2B5EF4-FFF2-40B4-BE49-F238E27FC236}">
                <a16:creationId xmlns:a16="http://schemas.microsoft.com/office/drawing/2014/main" id="{2B764147-2098-ADF3-8221-52E6BABB3052}"/>
              </a:ext>
            </a:extLst>
          </p:cNvPr>
          <p:cNvSpPr txBox="1"/>
          <p:nvPr/>
        </p:nvSpPr>
        <p:spPr>
          <a:xfrm>
            <a:off x="421040" y="5977124"/>
            <a:ext cx="7551868"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tab pos="53975"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Arial" panose="020B0604020202020204" pitchFamily="34" charset="0"/>
              </a:rPr>
              <a:t>*Pending NYS Dept. of Financial Services approval.</a:t>
            </a:r>
          </a:p>
        </p:txBody>
      </p:sp>
      <p:pic>
        <p:nvPicPr>
          <p:cNvPr id="29" name="Picture 28">
            <a:extLst>
              <a:ext uri="{FF2B5EF4-FFF2-40B4-BE49-F238E27FC236}">
                <a16:creationId xmlns:a16="http://schemas.microsoft.com/office/drawing/2014/main" id="{00CAEEAF-7FD4-E33C-8AA9-6D62CFBABC8C}"/>
              </a:ext>
            </a:extLst>
          </p:cNvPr>
          <p:cNvPicPr>
            <a:picLocks noChangeAspect="1"/>
          </p:cNvPicPr>
          <p:nvPr/>
        </p:nvPicPr>
        <p:blipFill>
          <a:blip r:embed="rId3"/>
          <a:srcRect l="9355" t="323" r="8858" b="1"/>
          <a:stretch>
            <a:fillRect/>
          </a:stretch>
        </p:blipFill>
        <p:spPr>
          <a:xfrm>
            <a:off x="7482348" y="2449667"/>
            <a:ext cx="4249400" cy="3452592"/>
          </a:xfrm>
          <a:prstGeom prst="rect">
            <a:avLst/>
          </a:prstGeom>
        </p:spPr>
      </p:pic>
      <p:sp>
        <p:nvSpPr>
          <p:cNvPr id="3" name="Rectangle: Rounded Corners 2">
            <a:extLst>
              <a:ext uri="{FF2B5EF4-FFF2-40B4-BE49-F238E27FC236}">
                <a16:creationId xmlns:a16="http://schemas.microsoft.com/office/drawing/2014/main" id="{3BC1E20F-5DAF-AD9B-AC01-6E439B5C764A}"/>
              </a:ext>
            </a:extLst>
          </p:cNvPr>
          <p:cNvSpPr/>
          <p:nvPr/>
        </p:nvSpPr>
        <p:spPr>
          <a:xfrm>
            <a:off x="421040" y="1453800"/>
            <a:ext cx="11349918" cy="873826"/>
          </a:xfrm>
          <a:prstGeom prst="roundRect">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6" name="TextBox 5">
            <a:extLst>
              <a:ext uri="{FF2B5EF4-FFF2-40B4-BE49-F238E27FC236}">
                <a16:creationId xmlns:a16="http://schemas.microsoft.com/office/drawing/2014/main" id="{B95D15CB-2E12-1393-C16C-96C7C9A346F7}"/>
              </a:ext>
            </a:extLst>
          </p:cNvPr>
          <p:cNvSpPr txBox="1"/>
          <p:nvPr/>
        </p:nvSpPr>
        <p:spPr>
          <a:xfrm>
            <a:off x="616369" y="1478176"/>
            <a:ext cx="11115380" cy="830997"/>
          </a:xfrm>
          <a:prstGeom prst="rect">
            <a:avLst/>
          </a:prstGeom>
          <a:noFill/>
        </p:spPr>
        <p:txBody>
          <a:bodyPr wrap="square" lIns="0" tIns="91440" rIns="27432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tab pos="3090863" algn="l"/>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Be among the top 100 President's Council agents on the 3Q paid insurance solution premium</a:t>
            </a:r>
            <a:r>
              <a:rPr kumimoji="0" lang="en-US" sz="1400" b="0"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1</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leaderboard and qualify to receive a retail credit</a:t>
            </a:r>
            <a:r>
              <a:rPr kumimoji="0" lang="en-US" sz="1400" b="0"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2</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to spend at a private New York Life shopping event at the President’s Council meeting on October 6 and 7. Top 10 will also qualify for a Balinese-inspired premium chickee hut rental on October 7!</a:t>
            </a:r>
          </a:p>
        </p:txBody>
      </p:sp>
      <p:sp>
        <p:nvSpPr>
          <p:cNvPr id="7" name="Rectangle 6">
            <a:extLst>
              <a:ext uri="{FF2B5EF4-FFF2-40B4-BE49-F238E27FC236}">
                <a16:creationId xmlns:a16="http://schemas.microsoft.com/office/drawing/2014/main" id="{83C403F3-83D5-6295-4080-070657FC873A}"/>
              </a:ext>
            </a:extLst>
          </p:cNvPr>
          <p:cNvSpPr/>
          <p:nvPr/>
        </p:nvSpPr>
        <p:spPr bwMode="ltGray">
          <a:xfrm>
            <a:off x="421040" y="4864393"/>
            <a:ext cx="5298819"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9" name="Isosceles Triangle 8">
            <a:extLst>
              <a:ext uri="{FF2B5EF4-FFF2-40B4-BE49-F238E27FC236}">
                <a16:creationId xmlns:a16="http://schemas.microsoft.com/office/drawing/2014/main" id="{EB971B6A-B9AD-98A8-F5D6-8103EDB27F96}"/>
              </a:ext>
            </a:extLst>
          </p:cNvPr>
          <p:cNvSpPr/>
          <p:nvPr/>
        </p:nvSpPr>
        <p:spPr bwMode="ltGray">
          <a:xfrm rot="5400000">
            <a:off x="4809606" y="5296216"/>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0" name="TextBox 9">
            <a:extLst>
              <a:ext uri="{FF2B5EF4-FFF2-40B4-BE49-F238E27FC236}">
                <a16:creationId xmlns:a16="http://schemas.microsoft.com/office/drawing/2014/main" id="{54D182DA-3005-F15B-287F-18D107CEB064}"/>
              </a:ext>
            </a:extLst>
          </p:cNvPr>
          <p:cNvSpPr txBox="1"/>
          <p:nvPr/>
        </p:nvSpPr>
        <p:spPr>
          <a:xfrm>
            <a:off x="616369" y="5198789"/>
            <a:ext cx="4169083"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code for complete rules, requirements, qualifying products, and official incentive details.</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7253CFC5-DBBC-B9BE-22A6-BBC2EB72BD2F}"/>
              </a:ext>
            </a:extLst>
          </p:cNvPr>
          <p:cNvPicPr>
            <a:picLocks noChangeAspect="1"/>
          </p:cNvPicPr>
          <p:nvPr/>
        </p:nvPicPr>
        <p:blipFill>
          <a:blip r:embed="rId4"/>
          <a:srcRect/>
          <a:stretch/>
        </p:blipFill>
        <p:spPr>
          <a:xfrm>
            <a:off x="5184434" y="4864394"/>
            <a:ext cx="1099678" cy="1099678"/>
          </a:xfrm>
          <a:prstGeom prst="rect">
            <a:avLst/>
          </a:prstGeom>
        </p:spPr>
      </p:pic>
    </p:spTree>
    <p:extLst>
      <p:ext uri="{BB962C8B-B14F-4D97-AF65-F5344CB8AC3E}">
        <p14:creationId xmlns:p14="http://schemas.microsoft.com/office/powerpoint/2010/main" val="2168006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6C9DD-8A79-FF8B-FA75-508853B6789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7D27E53-0DE5-AA05-D656-17D55C5D0C03}"/>
              </a:ext>
            </a:extLst>
          </p:cNvPr>
          <p:cNvSpPr/>
          <p:nvPr/>
        </p:nvSpPr>
        <p:spPr>
          <a:xfrm rot="16200000">
            <a:off x="1774267" y="250266"/>
            <a:ext cx="2952631" cy="5690833"/>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 name="Title 1">
            <a:extLst>
              <a:ext uri="{FF2B5EF4-FFF2-40B4-BE49-F238E27FC236}">
                <a16:creationId xmlns:a16="http://schemas.microsoft.com/office/drawing/2014/main" id="{2615E96C-E714-9AFF-4602-6C11C184F34E}"/>
              </a:ext>
            </a:extLst>
          </p:cNvPr>
          <p:cNvSpPr>
            <a:spLocks noGrp="1"/>
          </p:cNvSpPr>
          <p:nvPr>
            <p:ph type="title"/>
          </p:nvPr>
        </p:nvSpPr>
        <p:spPr>
          <a:xfrm>
            <a:off x="421042" y="503661"/>
            <a:ext cx="11365791" cy="544803"/>
          </a:xfrm>
        </p:spPr>
        <p:txBody>
          <a:bodyPr/>
          <a:lstStyle/>
          <a:p>
            <a:r>
              <a:rPr lang="en-US" sz="3100"/>
              <a:t>Awards Your Way</a:t>
            </a:r>
          </a:p>
        </p:txBody>
      </p:sp>
      <p:sp>
        <p:nvSpPr>
          <p:cNvPr id="3" name="Slide Number Placeholder 5">
            <a:extLst>
              <a:ext uri="{FF2B5EF4-FFF2-40B4-BE49-F238E27FC236}">
                <a16:creationId xmlns:a16="http://schemas.microsoft.com/office/drawing/2014/main" id="{5216B0BA-72FC-336B-4D70-D484820F3E21}"/>
              </a:ext>
            </a:extLst>
          </p:cNvPr>
          <p:cNvSpPr txBox="1">
            <a:spLocks/>
          </p:cNvSpPr>
          <p:nvPr/>
        </p:nvSpPr>
        <p:spPr>
          <a:xfrm>
            <a:off x="11590192" y="6232230"/>
            <a:ext cx="430079" cy="365125"/>
          </a:xfrm>
          <a:prstGeom prst="rect">
            <a:avLst/>
          </a:prstGeom>
        </p:spPr>
        <p:txBody>
          <a:bodyPr vert="horz" lIns="0" tIns="0" rIns="0" bIns="0" rtlCol="0" anchor="ctr" anchorCtr="0">
            <a:noAutofit/>
          </a:bodyPr>
          <a:lstStyle>
            <a:defPPr>
              <a:defRPr lang="en-US"/>
            </a:defPPr>
            <a:lvl1pPr marL="0" algn="r" defTabSz="914400" rtl="0" eaLnBrk="1" latinLnBrk="0" hangingPunct="1">
              <a:defRPr sz="800" kern="1200">
                <a:solidFill>
                  <a:srgbClr val="000A62"/>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8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10" name="TextBox 9">
            <a:extLst>
              <a:ext uri="{FF2B5EF4-FFF2-40B4-BE49-F238E27FC236}">
                <a16:creationId xmlns:a16="http://schemas.microsoft.com/office/drawing/2014/main" id="{4029D518-8426-7022-E34F-7F359B222869}"/>
              </a:ext>
            </a:extLst>
          </p:cNvPr>
          <p:cNvSpPr txBox="1"/>
          <p:nvPr/>
        </p:nvSpPr>
        <p:spPr>
          <a:xfrm>
            <a:off x="519981" y="1800463"/>
            <a:ext cx="5450513" cy="2626360"/>
          </a:xfrm>
          <a:prstGeom prst="rect">
            <a:avLst/>
          </a:prstGeom>
          <a:noFill/>
        </p:spPr>
        <p:txBody>
          <a:bodyPr wrap="square" lIns="0" tIns="0" rIns="0" bIns="0">
            <a:spAutoFit/>
          </a:bodyPr>
          <a:lstStyle/>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Open to 2026 Council agents (QC &amp; higher)</a:t>
            </a:r>
            <a:r>
              <a:rPr kumimoji="0" lang="en-US" sz="1800" b="0" i="0" u="none" strike="noStrike" kern="1200" cap="none" spc="0" normalizeH="0" baseline="3000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1</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Qualification period: </a:t>
            </a: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July 1 – December 31, 2026</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A digital rewards marketplace where agents </a:t>
            </a:r>
            <a:b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b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choose from travel, merchandise, gift cards, tickets, and experiences.</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Points are awarded through insurance production, growth and designations.</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Agents must opt in by September 30, 2026.</a:t>
            </a:r>
          </a:p>
        </p:txBody>
      </p:sp>
      <p:sp>
        <p:nvSpPr>
          <p:cNvPr id="19" name="Content Placeholder 3">
            <a:extLst>
              <a:ext uri="{FF2B5EF4-FFF2-40B4-BE49-F238E27FC236}">
                <a16:creationId xmlns:a16="http://schemas.microsoft.com/office/drawing/2014/main" id="{4EB1A58F-11F3-9AE8-E3CD-37AE03FEE886}"/>
              </a:ext>
            </a:extLst>
          </p:cNvPr>
          <p:cNvSpPr txBox="1">
            <a:spLocks/>
          </p:cNvSpPr>
          <p:nvPr/>
        </p:nvSpPr>
        <p:spPr>
          <a:xfrm>
            <a:off x="421042" y="1178214"/>
            <a:ext cx="11310706" cy="544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7E450849-EFAA-9F5D-A26F-D85D81CDBAF4}"/>
              </a:ext>
            </a:extLst>
          </p:cNvPr>
          <p:cNvSpPr txBox="1"/>
          <p:nvPr/>
        </p:nvSpPr>
        <p:spPr>
          <a:xfrm>
            <a:off x="387989" y="1034862"/>
            <a:ext cx="1037549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962"/>
                </a:solidFill>
                <a:effectLst/>
                <a:uLnTx/>
                <a:uFillTx/>
                <a:latin typeface="Georgia" panose="02040502050405020303"/>
                <a:ea typeface="+mn-ea"/>
                <a:cs typeface="+mn-cs"/>
              </a:rPr>
              <a:t>A new choice-based incentive program for Council agents</a:t>
            </a:r>
          </a:p>
        </p:txBody>
      </p:sp>
      <p:sp>
        <p:nvSpPr>
          <p:cNvPr id="5" name="Rectangle 4">
            <a:extLst>
              <a:ext uri="{FF2B5EF4-FFF2-40B4-BE49-F238E27FC236}">
                <a16:creationId xmlns:a16="http://schemas.microsoft.com/office/drawing/2014/main" id="{91F89F75-762A-7FEB-15EE-E28BCA75A464}"/>
              </a:ext>
            </a:extLst>
          </p:cNvPr>
          <p:cNvSpPr/>
          <p:nvPr/>
        </p:nvSpPr>
        <p:spPr bwMode="ltGray">
          <a:xfrm>
            <a:off x="421040" y="4741051"/>
            <a:ext cx="4999417"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Isosceles Triangle 7">
            <a:extLst>
              <a:ext uri="{FF2B5EF4-FFF2-40B4-BE49-F238E27FC236}">
                <a16:creationId xmlns:a16="http://schemas.microsoft.com/office/drawing/2014/main" id="{71061361-35FD-18EC-2833-FF8D86DCC48C}"/>
              </a:ext>
            </a:extLst>
          </p:cNvPr>
          <p:cNvSpPr/>
          <p:nvPr/>
        </p:nvSpPr>
        <p:spPr bwMode="ltGray">
          <a:xfrm rot="5400000">
            <a:off x="4392418" y="517287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9" name="TextBox 8">
            <a:extLst>
              <a:ext uri="{FF2B5EF4-FFF2-40B4-BE49-F238E27FC236}">
                <a16:creationId xmlns:a16="http://schemas.microsoft.com/office/drawing/2014/main" id="{3116A1DF-FFF3-B2D8-947E-09F555F83F0E}"/>
              </a:ext>
            </a:extLst>
          </p:cNvPr>
          <p:cNvSpPr txBox="1"/>
          <p:nvPr/>
        </p:nvSpPr>
        <p:spPr>
          <a:xfrm>
            <a:off x="731521" y="4967725"/>
            <a:ext cx="3420931"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code to learn more about the new </a:t>
            </a:r>
            <a:r>
              <a:rPr kumimoji="0" lang="en-US" sz="1400" b="1" i="0" u="none" strike="noStrike" kern="1200" cap="none" spc="0" normalizeH="0" baseline="0" noProof="0">
                <a:ln>
                  <a:noFill/>
                </a:ln>
                <a:solidFill>
                  <a:srgbClr val="000965"/>
                </a:solidFill>
                <a:effectLst/>
                <a:uLnTx/>
                <a:uFillTx/>
                <a:latin typeface="Arial"/>
                <a:ea typeface="+mn-ea"/>
                <a:cs typeface="+mn-cs"/>
              </a:rPr>
              <a:t>Awards Your Way</a:t>
            </a:r>
            <a:r>
              <a:rPr kumimoji="0" lang="en-US" sz="1400" b="0" i="0" u="none" strike="noStrike" kern="1200" cap="none" spc="0" normalizeH="0" baseline="0" noProof="0">
                <a:ln>
                  <a:noFill/>
                </a:ln>
                <a:solidFill>
                  <a:srgbClr val="000965"/>
                </a:solidFill>
                <a:effectLst/>
                <a:uLnTx/>
                <a:uFillTx/>
                <a:latin typeface="Arial"/>
                <a:ea typeface="+mn-ea"/>
                <a:cs typeface="+mn-cs"/>
              </a:rPr>
              <a:t> recognition program on Info Central.</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7C783581-AB64-01DE-7086-97220B16262E}"/>
              </a:ext>
            </a:extLst>
          </p:cNvPr>
          <p:cNvPicPr>
            <a:picLocks noChangeAspect="1"/>
          </p:cNvPicPr>
          <p:nvPr/>
        </p:nvPicPr>
        <p:blipFill>
          <a:blip r:embed="rId3"/>
          <a:srcRect/>
          <a:stretch/>
        </p:blipFill>
        <p:spPr>
          <a:xfrm>
            <a:off x="4998743" y="4742262"/>
            <a:ext cx="1097256" cy="1097256"/>
          </a:xfrm>
          <a:prstGeom prst="rect">
            <a:avLst/>
          </a:prstGeom>
        </p:spPr>
      </p:pic>
      <p:pic>
        <p:nvPicPr>
          <p:cNvPr id="16" name="Picture 15">
            <a:extLst>
              <a:ext uri="{FF2B5EF4-FFF2-40B4-BE49-F238E27FC236}">
                <a16:creationId xmlns:a16="http://schemas.microsoft.com/office/drawing/2014/main" id="{8BE8B8F6-CD72-D826-1243-874EC1D0366B}"/>
              </a:ext>
            </a:extLst>
          </p:cNvPr>
          <p:cNvPicPr>
            <a:picLocks noChangeAspect="1"/>
          </p:cNvPicPr>
          <p:nvPr/>
        </p:nvPicPr>
        <p:blipFill>
          <a:blip r:embed="rId4"/>
          <a:stretch>
            <a:fillRect/>
          </a:stretch>
        </p:blipFill>
        <p:spPr>
          <a:xfrm>
            <a:off x="6185609" y="1619369"/>
            <a:ext cx="5625254" cy="4218940"/>
          </a:xfrm>
          <a:prstGeom prst="rect">
            <a:avLst/>
          </a:prstGeom>
        </p:spPr>
      </p:pic>
      <p:sp>
        <p:nvSpPr>
          <p:cNvPr id="4" name="TextBox 3">
            <a:extLst>
              <a:ext uri="{FF2B5EF4-FFF2-40B4-BE49-F238E27FC236}">
                <a16:creationId xmlns:a16="http://schemas.microsoft.com/office/drawing/2014/main" id="{F957ED26-F7E9-921D-D2AC-8F729B685821}"/>
              </a:ext>
            </a:extLst>
          </p:cNvPr>
          <p:cNvSpPr txBox="1"/>
          <p:nvPr/>
        </p:nvSpPr>
        <p:spPr>
          <a:xfrm>
            <a:off x="2287557" y="6232230"/>
            <a:ext cx="736587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3000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1</a:t>
            </a:r>
            <a:r>
              <a:rPr kumimoji="0" lang="en-US" sz="1000" b="0" i="0" u="none" strike="noStrike" kern="1200" cap="none" spc="0" normalizeH="0" baseline="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Agents eligible to enroll in the Life and Annuity Expense Allowance Program must enroll by July 31,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Arial" panose="020B0604020202020204" pitchFamily="34" charset="0"/>
              </a:rPr>
              <a:t>Pending NYS Dept. of Financial Services approval. </a:t>
            </a:r>
          </a:p>
        </p:txBody>
      </p:sp>
    </p:spTree>
    <p:extLst>
      <p:ext uri="{BB962C8B-B14F-4D97-AF65-F5344CB8AC3E}">
        <p14:creationId xmlns:p14="http://schemas.microsoft.com/office/powerpoint/2010/main" val="1632842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1AC1F-07D1-BD50-C780-F6C946DBE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F99A7-5EEB-4B17-6D6A-D5CDB70B194E}"/>
              </a:ext>
            </a:extLst>
          </p:cNvPr>
          <p:cNvSpPr>
            <a:spLocks noGrp="1"/>
          </p:cNvSpPr>
          <p:nvPr>
            <p:ph type="title"/>
          </p:nvPr>
        </p:nvSpPr>
        <p:spPr/>
        <p:txBody>
          <a:bodyPr/>
          <a:lstStyle/>
          <a:p>
            <a:r>
              <a:rPr lang="en-US" sz="3100"/>
              <a:t>EWL Momentum Maker continues through July 31</a:t>
            </a:r>
          </a:p>
        </p:txBody>
      </p:sp>
      <p:sp>
        <p:nvSpPr>
          <p:cNvPr id="4" name="Content Placeholder 3">
            <a:extLst>
              <a:ext uri="{FF2B5EF4-FFF2-40B4-BE49-F238E27FC236}">
                <a16:creationId xmlns:a16="http://schemas.microsoft.com/office/drawing/2014/main" id="{18FD62EF-B060-D06B-2069-8ED7D925544D}"/>
              </a:ext>
            </a:extLst>
          </p:cNvPr>
          <p:cNvSpPr>
            <a:spLocks noGrp="1"/>
          </p:cNvSpPr>
          <p:nvPr>
            <p:ph sz="quarter" idx="11"/>
          </p:nvPr>
        </p:nvSpPr>
        <p:spPr>
          <a:xfrm>
            <a:off x="421042" y="1178214"/>
            <a:ext cx="11310706" cy="365125"/>
          </a:xfrm>
        </p:spPr>
        <p:txBody>
          <a:bodyPr/>
          <a:lstStyle/>
          <a:p>
            <a:r>
              <a:rPr lang="en-US" sz="2200"/>
              <a:t>Qualify for up to $3,000 for Employee’s Whole Life (EWL) new group activity!</a:t>
            </a:r>
          </a:p>
        </p:txBody>
      </p:sp>
      <p:sp>
        <p:nvSpPr>
          <p:cNvPr id="5" name="Slide Number Placeholder 2">
            <a:extLst>
              <a:ext uri="{FF2B5EF4-FFF2-40B4-BE49-F238E27FC236}">
                <a16:creationId xmlns:a16="http://schemas.microsoft.com/office/drawing/2014/main" id="{B0181890-6163-A97C-56AB-76559945928F}"/>
              </a:ext>
            </a:extLst>
          </p:cNvPr>
          <p:cNvSpPr>
            <a:spLocks noGrp="1"/>
          </p:cNvSpPr>
          <p:nvPr>
            <p:ph type="sldNum" sz="quarter" idx="10"/>
          </p:nvPr>
        </p:nvSpPr>
        <p:spPr>
          <a:xfrm>
            <a:off x="11579107" y="6232230"/>
            <a:ext cx="430079" cy="365125"/>
          </a:xfr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8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15" name="Rectangle: Rounded Corners 14">
            <a:extLst>
              <a:ext uri="{FF2B5EF4-FFF2-40B4-BE49-F238E27FC236}">
                <a16:creationId xmlns:a16="http://schemas.microsoft.com/office/drawing/2014/main" id="{6AEBD3F9-722A-32DD-9322-E4C6508C6727}"/>
              </a:ext>
            </a:extLst>
          </p:cNvPr>
          <p:cNvSpPr/>
          <p:nvPr/>
        </p:nvSpPr>
        <p:spPr>
          <a:xfrm>
            <a:off x="8133056" y="1699298"/>
            <a:ext cx="3598692" cy="4335597"/>
          </a:xfrm>
          <a:prstGeom prst="roundRect">
            <a:avLst>
              <a:gd name="adj" fmla="val 2282"/>
            </a:avLst>
          </a:prstGeom>
          <a:solidFill>
            <a:srgbClr val="E3E0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pic>
        <p:nvPicPr>
          <p:cNvPr id="16" name="Picture 15">
            <a:extLst>
              <a:ext uri="{FF2B5EF4-FFF2-40B4-BE49-F238E27FC236}">
                <a16:creationId xmlns:a16="http://schemas.microsoft.com/office/drawing/2014/main" id="{1F669C56-D9B2-29BA-4546-47DC7E164C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35114" y="3853629"/>
            <a:ext cx="1718604" cy="594026"/>
          </a:xfrm>
          <a:prstGeom prst="rect">
            <a:avLst/>
          </a:prstGeom>
        </p:spPr>
      </p:pic>
      <p:pic>
        <p:nvPicPr>
          <p:cNvPr id="17" name="Picture 16">
            <a:extLst>
              <a:ext uri="{FF2B5EF4-FFF2-40B4-BE49-F238E27FC236}">
                <a16:creationId xmlns:a16="http://schemas.microsoft.com/office/drawing/2014/main" id="{7A75FAE8-0915-9D00-948F-CA5DAF5056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48833" y="4868985"/>
            <a:ext cx="997840" cy="997840"/>
          </a:xfrm>
          <a:prstGeom prst="rect">
            <a:avLst/>
          </a:prstGeom>
        </p:spPr>
      </p:pic>
      <p:pic>
        <p:nvPicPr>
          <p:cNvPr id="18" name="Picture 17">
            <a:extLst>
              <a:ext uri="{FF2B5EF4-FFF2-40B4-BE49-F238E27FC236}">
                <a16:creationId xmlns:a16="http://schemas.microsoft.com/office/drawing/2014/main" id="{044823B7-A5B5-44B7-0A3B-75000F2594F4}"/>
              </a:ext>
            </a:extLst>
          </p:cNvPr>
          <p:cNvPicPr>
            <a:picLocks noChangeAspect="1"/>
          </p:cNvPicPr>
          <p:nvPr/>
        </p:nvPicPr>
        <p:blipFill>
          <a:blip r:embed="rId5" cstate="print">
            <a:extLst>
              <a:ext uri="{28A0092B-C50C-407E-A947-70E740481C1C}">
                <a14:useLocalDpi xmlns:a14="http://schemas.microsoft.com/office/drawing/2010/main" val="0"/>
              </a:ext>
            </a:extLst>
          </a:blip>
          <a:srcRect l="11594" t="13376" r="5173" b="16940"/>
          <a:stretch>
            <a:fillRect/>
          </a:stretch>
        </p:blipFill>
        <p:spPr>
          <a:xfrm>
            <a:off x="8326622" y="1896216"/>
            <a:ext cx="3220051" cy="1815244"/>
          </a:xfrm>
          <a:prstGeom prst="rect">
            <a:avLst/>
          </a:prstGeom>
        </p:spPr>
      </p:pic>
      <p:sp>
        <p:nvSpPr>
          <p:cNvPr id="19" name="TextBox 18">
            <a:extLst>
              <a:ext uri="{FF2B5EF4-FFF2-40B4-BE49-F238E27FC236}">
                <a16:creationId xmlns:a16="http://schemas.microsoft.com/office/drawing/2014/main" id="{49EC2F8D-D5B2-98F0-BC6D-FDFE56012BCF}"/>
              </a:ext>
            </a:extLst>
          </p:cNvPr>
          <p:cNvSpPr txBox="1"/>
          <p:nvPr/>
        </p:nvSpPr>
        <p:spPr>
          <a:xfrm>
            <a:off x="8335114" y="4830233"/>
            <a:ext cx="1920662"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rPr>
              <a:t>Scan the QR code to learn more about the EWL Momentum Maker sales incentive on Info Central.</a:t>
            </a:r>
          </a:p>
        </p:txBody>
      </p:sp>
      <p:sp>
        <p:nvSpPr>
          <p:cNvPr id="20" name="Isosceles Triangle 19">
            <a:extLst>
              <a:ext uri="{FF2B5EF4-FFF2-40B4-BE49-F238E27FC236}">
                <a16:creationId xmlns:a16="http://schemas.microsoft.com/office/drawing/2014/main" id="{0631A962-EFDF-B651-30BB-1610468F747D}"/>
              </a:ext>
            </a:extLst>
          </p:cNvPr>
          <p:cNvSpPr/>
          <p:nvPr/>
        </p:nvSpPr>
        <p:spPr>
          <a:xfrm rot="5400000">
            <a:off x="10241796" y="5112189"/>
            <a:ext cx="202711" cy="174751"/>
          </a:xfrm>
          <a:prstGeom prst="triangle">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cxnSp>
        <p:nvCxnSpPr>
          <p:cNvPr id="21" name="Straight Connector 20">
            <a:extLst>
              <a:ext uri="{FF2B5EF4-FFF2-40B4-BE49-F238E27FC236}">
                <a16:creationId xmlns:a16="http://schemas.microsoft.com/office/drawing/2014/main" id="{5E30A220-175F-AE68-4F18-520B95D560E1}"/>
              </a:ext>
            </a:extLst>
          </p:cNvPr>
          <p:cNvCxnSpPr>
            <a:cxnSpLocks/>
          </p:cNvCxnSpPr>
          <p:nvPr/>
        </p:nvCxnSpPr>
        <p:spPr>
          <a:xfrm>
            <a:off x="8326622" y="4579409"/>
            <a:ext cx="3211559" cy="0"/>
          </a:xfrm>
          <a:prstGeom prst="line">
            <a:avLst/>
          </a:prstGeom>
          <a:ln w="15875">
            <a:solidFill>
              <a:srgbClr val="0468FF"/>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B6E389D-63A9-F36D-6A4C-FA413BC92F64}"/>
              </a:ext>
            </a:extLst>
          </p:cNvPr>
          <p:cNvSpPr txBox="1"/>
          <p:nvPr/>
        </p:nvSpPr>
        <p:spPr>
          <a:xfrm>
            <a:off x="626269" y="1703002"/>
            <a:ext cx="7288021" cy="2908681"/>
          </a:xfrm>
          <a:prstGeom prst="rect">
            <a:avLst/>
          </a:prstGeom>
          <a:noFill/>
        </p:spPr>
        <p:txBody>
          <a:bodyPr wrap="square" lIns="0" tIns="0" rIns="0" bIns="0">
            <a:spAutoFit/>
          </a:bodyPr>
          <a:lstStyle/>
          <a:p>
            <a:pPr marL="231775" marR="0" lvl="0" indent="-231775"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Agents will receive a </a:t>
            </a: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$600 credit </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for each EWL group that receives an arrangement number between </a:t>
            </a: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May 1 and July 31, capped at 5 new groups</a:t>
            </a:r>
          </a:p>
          <a:p>
            <a:pPr marL="231775" marR="0" lvl="0" indent="-231775"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Dormant SI groups that convert to GI between May 1 – July 31, 2026, will be eligible</a:t>
            </a:r>
          </a:p>
          <a:p>
            <a:pPr marL="231775" marR="0" lvl="0" indent="-231775"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Group credit is awarded to the primary agent of record </a:t>
            </a:r>
          </a:p>
          <a:p>
            <a:pPr marL="231775" marR="0" lvl="0" indent="-231775"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Only groups that enroll and </a:t>
            </a: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meet EWL application strength requirements by 9/30/26 </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will contribute to an agent’s EWL new group count </a:t>
            </a:r>
          </a:p>
          <a:p>
            <a:pPr marL="231775" marR="0" lvl="0" indent="-231775"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Growth Requirements </a:t>
            </a:r>
            <a:b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b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Based on EWL new group activity during the prior-year period (May 1 – July 31, 2025)</a:t>
            </a:r>
          </a:p>
          <a:p>
            <a:pPr marL="914400" marR="0" lvl="1" indent="0" algn="l" defTabSz="914400" rtl="0" eaLnBrk="1" fontAlgn="auto" latinLnBrk="0" hangingPunct="1">
              <a:lnSpc>
                <a:spcPct val="105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0 new groups:</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 Must establish a minimum of 2 new groups</a:t>
            </a:r>
          </a:p>
          <a:p>
            <a:pPr marL="914400" marR="0" lvl="1" indent="0" algn="l" defTabSz="914400" rtl="0" eaLnBrk="1" fontAlgn="auto" latinLnBrk="0" hangingPunct="1">
              <a:lnSpc>
                <a:spcPct val="105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1–4 new groups:</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 Must establish at least 1 additional group</a:t>
            </a:r>
          </a:p>
          <a:p>
            <a:pPr marL="914400" marR="0" lvl="1" indent="0" algn="l" defTabSz="914400" rtl="0" eaLnBrk="1" fontAlgn="auto" latinLnBrk="0" hangingPunct="1">
              <a:lnSpc>
                <a:spcPct val="105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5+ new groups: </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Must establish 5 new groups during the incentive period</a:t>
            </a:r>
          </a:p>
        </p:txBody>
      </p:sp>
      <p:sp>
        <p:nvSpPr>
          <p:cNvPr id="27" name="Rectangle: Rounded Corners 26">
            <a:extLst>
              <a:ext uri="{FF2B5EF4-FFF2-40B4-BE49-F238E27FC236}">
                <a16:creationId xmlns:a16="http://schemas.microsoft.com/office/drawing/2014/main" id="{F08ADA52-A0D9-8663-A457-B833CE89E572}"/>
              </a:ext>
            </a:extLst>
          </p:cNvPr>
          <p:cNvSpPr/>
          <p:nvPr/>
        </p:nvSpPr>
        <p:spPr>
          <a:xfrm>
            <a:off x="626269" y="4811070"/>
            <a:ext cx="7288020" cy="1223826"/>
          </a:xfrm>
          <a:prstGeom prst="roundRect">
            <a:avLst>
              <a:gd name="adj" fmla="val 8721"/>
            </a:avLst>
          </a:prstGeom>
          <a:solidFill>
            <a:srgbClr val="0468FF"/>
          </a:solidFill>
          <a:ln w="1905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E76D6913-9A24-B047-08E9-7B8EAF6B229B}"/>
              </a:ext>
            </a:extLst>
          </p:cNvPr>
          <p:cNvSpPr txBox="1"/>
          <p:nvPr/>
        </p:nvSpPr>
        <p:spPr>
          <a:xfrm>
            <a:off x="626269" y="4868985"/>
            <a:ext cx="7288021" cy="1107996"/>
          </a:xfrm>
          <a:prstGeom prst="rect">
            <a:avLst/>
          </a:prstGeom>
          <a:noFill/>
        </p:spPr>
        <p:txBody>
          <a:bodyPr wrap="square" lIns="182880" tIns="91440" bIns="91440">
            <a:spAutoFit/>
          </a:bodyPr>
          <a:lstStyle/>
          <a:p>
            <a:pPr marL="742950" marR="0" lvl="0" indent="0" algn="l" defTabSz="914400" rtl="0" eaLnBrk="1" fontAlgn="base" latinLnBrk="0" hangingPunct="1">
              <a:lnSpc>
                <a:spcPct val="100000"/>
              </a:lnSpc>
              <a:spcBef>
                <a:spcPct val="0"/>
              </a:spcBef>
              <a:spcAft>
                <a:spcPts val="400"/>
              </a:spcAft>
              <a:buClrTx/>
              <a:buSzTx/>
              <a:buFontTx/>
              <a:buNone/>
              <a:tabLst>
                <a:tab pos="5834063" algn="l"/>
              </a:tabLst>
              <a:defRPr/>
            </a:pPr>
            <a:r>
              <a:rPr kumimoji="0" lang="en-US" sz="1400" b="0" i="0" u="none" strike="noStrike" kern="1200" cap="none" spc="0" normalizeH="0" baseline="0" noProof="0">
                <a:ln>
                  <a:noFill/>
                </a:ln>
                <a:solidFill>
                  <a:srgbClr val="FFFFFF"/>
                </a:solidFill>
                <a:effectLst/>
                <a:uLnTx/>
                <a:uFillTx/>
                <a:latin typeface="Georgia" panose="02040502050405020303"/>
                <a:ea typeface="Geneva" pitchFamily="-109" charset="-128"/>
                <a:cs typeface="+mn-cs"/>
              </a:rPr>
              <a:t>Requirements</a:t>
            </a:r>
          </a:p>
          <a:p>
            <a:pPr marL="914400" marR="0" lvl="0" indent="-171450" algn="l" defTabSz="914400" rtl="0" eaLnBrk="1" fontAlgn="base" latinLnBrk="0" hangingPunct="1">
              <a:lnSpc>
                <a:spcPct val="100000"/>
              </a:lnSpc>
              <a:spcBef>
                <a:spcPct val="0"/>
              </a:spcBef>
              <a:spcAft>
                <a:spcPts val="400"/>
              </a:spcAft>
              <a:buClrTx/>
              <a:buSzTx/>
              <a:buFont typeface="Wingdings" panose="05000000000000000000" pitchFamily="2" charset="2"/>
              <a:buChar char="ü"/>
              <a:tabLst/>
              <a:defRPr/>
            </a:pPr>
            <a:r>
              <a:rPr kumimoji="0" lang="en-US" sz="1200" b="0" i="0" u="none" strike="noStrike" kern="1200" cap="none" spc="0" normalizeH="0" baseline="0" noProof="0">
                <a:ln>
                  <a:noFill/>
                </a:ln>
                <a:solidFill>
                  <a:srgbClr val="FFFFFF"/>
                </a:solidFill>
                <a:effectLst/>
                <a:uLnTx/>
                <a:uFillTx/>
                <a:latin typeface="Arial"/>
                <a:ea typeface="Geneva" pitchFamily="-109" charset="-128"/>
                <a:cs typeface="+mn-cs"/>
              </a:rPr>
              <a:t>Must be enrolled in </a:t>
            </a:r>
            <a:r>
              <a:rPr kumimoji="0" lang="en-US" sz="1200" b="1" i="0" u="none" strike="noStrike" kern="1200" cap="none" spc="0" normalizeH="0" baseline="0" noProof="0">
                <a:ln>
                  <a:noFill/>
                </a:ln>
                <a:solidFill>
                  <a:srgbClr val="FFFFFF"/>
                </a:solidFill>
                <a:effectLst/>
                <a:uLnTx/>
                <a:uFillTx/>
                <a:latin typeface="Arial"/>
                <a:ea typeface="Geneva" pitchFamily="-109" charset="-128"/>
                <a:cs typeface="+mn-cs"/>
              </a:rPr>
              <a:t>EAP by 5/31/26</a:t>
            </a:r>
            <a:endParaRPr kumimoji="0" lang="en-US" sz="1200" b="0" i="0" u="none" strike="noStrike" kern="1200" cap="none" spc="0" normalizeH="0" baseline="0" noProof="0">
              <a:ln>
                <a:noFill/>
              </a:ln>
              <a:solidFill>
                <a:srgbClr val="FFFFFF"/>
              </a:solidFill>
              <a:effectLst/>
              <a:uLnTx/>
              <a:uFillTx/>
              <a:latin typeface="Arial"/>
              <a:ea typeface="Geneva" pitchFamily="-109" charset="-128"/>
              <a:cs typeface="+mn-cs"/>
            </a:endParaRPr>
          </a:p>
          <a:p>
            <a:pPr marL="914400" marR="0" lvl="0" indent="-171450" algn="l" defTabSz="914400" rtl="0" eaLnBrk="1" fontAlgn="base" latinLnBrk="0" hangingPunct="1">
              <a:lnSpc>
                <a:spcPct val="100000"/>
              </a:lnSpc>
              <a:spcBef>
                <a:spcPct val="0"/>
              </a:spcBef>
              <a:spcAft>
                <a:spcPts val="400"/>
              </a:spcAft>
              <a:buClrTx/>
              <a:buSzTx/>
              <a:buFont typeface="Wingdings" panose="05000000000000000000" pitchFamily="2" charset="2"/>
              <a:buChar char="ü"/>
              <a:tabLst/>
              <a:defRPr/>
            </a:pPr>
            <a:r>
              <a:rPr kumimoji="0" lang="en-US" sz="1200" b="0" i="0" u="none" strike="noStrike" kern="1200" cap="none" spc="0" normalizeH="0" baseline="0" noProof="0">
                <a:ln>
                  <a:noFill/>
                </a:ln>
                <a:solidFill>
                  <a:srgbClr val="FFFFFF"/>
                </a:solidFill>
                <a:effectLst/>
                <a:uLnTx/>
                <a:uFillTx/>
                <a:latin typeface="Arial"/>
                <a:ea typeface="Geneva" pitchFamily="-109" charset="-128"/>
                <a:cs typeface="+mn-cs"/>
              </a:rPr>
              <a:t>Bonuses credited via </a:t>
            </a:r>
            <a:r>
              <a:rPr kumimoji="0" lang="en-US" sz="1200" b="1" i="0" u="none" strike="noStrike" kern="1200" cap="none" spc="0" normalizeH="0" baseline="0" noProof="0">
                <a:ln>
                  <a:noFill/>
                </a:ln>
                <a:solidFill>
                  <a:srgbClr val="FFFFFF"/>
                </a:solidFill>
                <a:effectLst/>
                <a:uLnTx/>
                <a:uFillTx/>
                <a:latin typeface="Arial"/>
                <a:ea typeface="Geneva" pitchFamily="-109" charset="-128"/>
                <a:cs typeface="+mn-cs"/>
              </a:rPr>
              <a:t>Life &amp; Annuity Expense Allowance Plan</a:t>
            </a:r>
            <a:r>
              <a:rPr kumimoji="0" lang="en-US" sz="1200" b="0" i="0" u="none" strike="noStrike" kern="1200" cap="none" spc="0" normalizeH="0" baseline="0" noProof="0">
                <a:ln>
                  <a:noFill/>
                </a:ln>
                <a:solidFill>
                  <a:srgbClr val="FFFFFF"/>
                </a:solidFill>
                <a:effectLst/>
                <a:uLnTx/>
                <a:uFillTx/>
                <a:latin typeface="Arial"/>
                <a:ea typeface="Geneva" pitchFamily="-109" charset="-128"/>
                <a:cs typeface="+mn-cs"/>
              </a:rPr>
              <a:t> (subject to NYS limits)</a:t>
            </a:r>
          </a:p>
          <a:p>
            <a:pPr marL="914400" marR="0" lvl="0" indent="-171450" algn="l" defTabSz="914400" rtl="0" eaLnBrk="1" fontAlgn="base" latinLnBrk="0" hangingPunct="1">
              <a:lnSpc>
                <a:spcPct val="100000"/>
              </a:lnSpc>
              <a:spcBef>
                <a:spcPct val="0"/>
              </a:spcBef>
              <a:spcAft>
                <a:spcPts val="400"/>
              </a:spcAft>
              <a:buClrTx/>
              <a:buSzTx/>
              <a:buFont typeface="Wingdings" panose="05000000000000000000" pitchFamily="2" charset="2"/>
              <a:buChar char="ü"/>
              <a:tabLst/>
              <a:defRPr/>
            </a:pPr>
            <a:r>
              <a:rPr kumimoji="0" lang="en-US" sz="1200" b="1" i="0" u="none" strike="noStrike" kern="1200" cap="none" spc="0" normalizeH="0" baseline="0" noProof="0">
                <a:ln>
                  <a:noFill/>
                </a:ln>
                <a:solidFill>
                  <a:srgbClr val="FFFFFF"/>
                </a:solidFill>
                <a:effectLst/>
                <a:uLnTx/>
                <a:uFillTx/>
                <a:latin typeface="Arial"/>
                <a:ea typeface="Geneva" pitchFamily="-109" charset="-128"/>
                <a:cs typeface="+mn-cs"/>
              </a:rPr>
              <a:t>TAS Agents</a:t>
            </a:r>
            <a:r>
              <a:rPr kumimoji="0" lang="en-US" sz="1200" b="0" i="0" u="none" strike="noStrike" kern="1200" cap="none" spc="0" normalizeH="0" baseline="0" noProof="0">
                <a:ln>
                  <a:noFill/>
                </a:ln>
                <a:solidFill>
                  <a:srgbClr val="FFFFFF"/>
                </a:solidFill>
                <a:effectLst/>
                <a:uLnTx/>
                <a:uFillTx/>
                <a:latin typeface="Arial"/>
                <a:ea typeface="Geneva" pitchFamily="-109" charset="-128"/>
                <a:cs typeface="+mn-cs"/>
              </a:rPr>
              <a:t> in AZ, CA, IL, IA, MT, NV, NH, ND, SD may qualify for </a:t>
            </a:r>
            <a:r>
              <a:rPr kumimoji="0" lang="en-US" sz="1200" b="1" i="0" u="none" strike="noStrike" kern="1200" cap="none" spc="0" normalizeH="0" baseline="0" noProof="0">
                <a:ln>
                  <a:noFill/>
                </a:ln>
                <a:solidFill>
                  <a:srgbClr val="FFFFFF"/>
                </a:solidFill>
                <a:effectLst/>
                <a:uLnTx/>
                <a:uFillTx/>
                <a:latin typeface="Arial"/>
                <a:ea typeface="Geneva" pitchFamily="-109" charset="-128"/>
                <a:cs typeface="+mn-cs"/>
              </a:rPr>
              <a:t>TAS bonus</a:t>
            </a:r>
            <a:endParaRPr kumimoji="0" lang="en-US" sz="12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29" name="Picture 28">
            <a:extLst>
              <a:ext uri="{FF2B5EF4-FFF2-40B4-BE49-F238E27FC236}">
                <a16:creationId xmlns:a16="http://schemas.microsoft.com/office/drawing/2014/main" id="{27F1FAF2-F805-FA26-1D04-2718DA7346C7}"/>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864068" y="5010204"/>
            <a:ext cx="454987" cy="605550"/>
          </a:xfrm>
          <a:prstGeom prst="rect">
            <a:avLst/>
          </a:prstGeom>
        </p:spPr>
      </p:pic>
      <p:cxnSp>
        <p:nvCxnSpPr>
          <p:cNvPr id="30" name="Straight Connector 29">
            <a:extLst>
              <a:ext uri="{FF2B5EF4-FFF2-40B4-BE49-F238E27FC236}">
                <a16:creationId xmlns:a16="http://schemas.microsoft.com/office/drawing/2014/main" id="{D4EDF7D6-7DEB-A815-C219-0DA3ED7450D6}"/>
              </a:ext>
            </a:extLst>
          </p:cNvPr>
          <p:cNvCxnSpPr/>
          <p:nvPr/>
        </p:nvCxnSpPr>
        <p:spPr>
          <a:xfrm>
            <a:off x="2764711" y="5125063"/>
            <a:ext cx="4776396" cy="0"/>
          </a:xfrm>
          <a:prstGeom prst="line">
            <a:avLst/>
          </a:prstGeom>
          <a:noFill/>
          <a:ln w="9525" cap="flat" cmpd="sng" algn="ctr">
            <a:solidFill>
              <a:srgbClr val="FFFFFF"/>
            </a:solidFill>
            <a:prstDash val="solid"/>
            <a:miter lim="800000"/>
          </a:ln>
          <a:effectLst/>
        </p:spPr>
      </p:cxnSp>
    </p:spTree>
    <p:extLst>
      <p:ext uri="{BB962C8B-B14F-4D97-AF65-F5344CB8AC3E}">
        <p14:creationId xmlns:p14="http://schemas.microsoft.com/office/powerpoint/2010/main" val="2636801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049483"/>
            <a:ext cx="12192000" cy="4965608"/>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p:txBody>
          <a:bodyPr/>
          <a:lstStyle/>
          <a:p>
            <a:r>
              <a:rPr lang="en-US"/>
              <a:t>3Q 2026 Registered Rep </a:t>
            </a:r>
            <a:r>
              <a:rPr lang="en-US" err="1"/>
              <a:t>MasterClass</a:t>
            </a:r>
            <a:r>
              <a:rPr lang="en-US"/>
              <a:t> </a:t>
            </a:r>
          </a:p>
        </p:txBody>
      </p:sp>
      <p:sp>
        <p:nvSpPr>
          <p:cNvPr id="17" name="Content Placeholder 3">
            <a:extLst>
              <a:ext uri="{FF2B5EF4-FFF2-40B4-BE49-F238E27FC236}">
                <a16:creationId xmlns:a16="http://schemas.microsoft.com/office/drawing/2014/main" id="{FF79574C-DD52-1545-8D02-144F14EBBA23}"/>
              </a:ext>
            </a:extLst>
          </p:cNvPr>
          <p:cNvSpPr>
            <a:spLocks noGrp="1"/>
          </p:cNvSpPr>
          <p:nvPr>
            <p:ph idx="1"/>
          </p:nvPr>
        </p:nvSpPr>
        <p:spPr>
          <a:xfrm>
            <a:off x="439946" y="1288815"/>
            <a:ext cx="7304275" cy="4556400"/>
          </a:xfrm>
        </p:spPr>
        <p:txBody>
          <a:bodyPr/>
          <a:lstStyle/>
          <a:p>
            <a:pPr marL="0" indent="0">
              <a:lnSpc>
                <a:spcPct val="100000"/>
              </a:lnSpc>
              <a:spcBef>
                <a:spcPts val="0"/>
              </a:spcBef>
              <a:spcAft>
                <a:spcPts val="1900"/>
              </a:spcAft>
              <a:buNone/>
              <a:tabLst>
                <a:tab pos="1319213" algn="l"/>
                <a:tab pos="5715000" algn="l"/>
              </a:tabLst>
            </a:pPr>
            <a:r>
              <a:rPr lang="en-US" sz="1600" b="1">
                <a:latin typeface="+mn-lt"/>
              </a:rPr>
              <a:t>Session 1	</a:t>
            </a:r>
            <a:r>
              <a:rPr lang="en-US" sz="1600">
                <a:latin typeface="+mn-lt"/>
              </a:rPr>
              <a:t>NYLIFE Securities and Mutual Funds 	</a:t>
            </a:r>
            <a:r>
              <a:rPr lang="en-US" sz="1600" b="1">
                <a:latin typeface="+mn-lt"/>
              </a:rPr>
              <a:t>July 14</a:t>
            </a:r>
            <a:endParaRPr lang="en-US" sz="1600">
              <a:latin typeface="+mn-lt"/>
            </a:endParaRPr>
          </a:p>
          <a:p>
            <a:pPr marL="0" indent="0">
              <a:lnSpc>
                <a:spcPct val="100000"/>
              </a:lnSpc>
              <a:spcBef>
                <a:spcPts val="0"/>
              </a:spcBef>
              <a:spcAft>
                <a:spcPts val="1900"/>
              </a:spcAft>
              <a:buNone/>
              <a:tabLst>
                <a:tab pos="1319213" algn="l"/>
                <a:tab pos="5715000" algn="l"/>
              </a:tabLst>
            </a:pPr>
            <a:r>
              <a:rPr lang="en-US" sz="1600" b="1">
                <a:latin typeface="+mn-lt"/>
              </a:rPr>
              <a:t>Session 2 	</a:t>
            </a:r>
            <a:r>
              <a:rPr lang="en-US" sz="1600">
                <a:latin typeface="+mn-lt"/>
              </a:rPr>
              <a:t>Variable Annuities, What You Need to Know	</a:t>
            </a:r>
            <a:r>
              <a:rPr lang="en-US" sz="1600" b="1">
                <a:latin typeface="+mn-lt"/>
              </a:rPr>
              <a:t>July 21</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3 	</a:t>
            </a:r>
            <a:r>
              <a:rPr lang="en-US" sz="1600">
                <a:latin typeface="+mn-lt"/>
              </a:rPr>
              <a:t>Positioning </a:t>
            </a:r>
            <a:r>
              <a:rPr lang="en-US" sz="1600" err="1">
                <a:latin typeface="+mn-lt"/>
              </a:rPr>
              <a:t>IndexFlex</a:t>
            </a:r>
            <a:r>
              <a:rPr lang="en-US" sz="1600">
                <a:latin typeface="+mn-lt"/>
              </a:rPr>
              <a:t> 	</a:t>
            </a:r>
            <a:r>
              <a:rPr lang="en-US" sz="1600" b="1">
                <a:latin typeface="+mn-lt"/>
              </a:rPr>
              <a:t>July 28</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4 	</a:t>
            </a:r>
            <a:r>
              <a:rPr lang="en-US" sz="1600">
                <a:latin typeface="+mn-lt"/>
              </a:rPr>
              <a:t>Variable Annuity Riders	</a:t>
            </a:r>
            <a:r>
              <a:rPr lang="en-US" sz="1600" b="1">
                <a:latin typeface="+mn-lt"/>
              </a:rPr>
              <a:t>August 4</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5 	</a:t>
            </a:r>
            <a:r>
              <a:rPr lang="en-US" sz="1600">
                <a:latin typeface="+mn-lt"/>
              </a:rPr>
              <a:t>Working in the Rollover Market 	</a:t>
            </a:r>
            <a:r>
              <a:rPr lang="en-US" sz="1600" b="1">
                <a:latin typeface="+mn-lt"/>
              </a:rPr>
              <a:t>August 11</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6 	</a:t>
            </a:r>
            <a:r>
              <a:rPr lang="en-US" sz="1600">
                <a:latin typeface="+mn-lt"/>
              </a:rPr>
              <a:t>Positioning VUL 	</a:t>
            </a:r>
            <a:r>
              <a:rPr lang="en-US" sz="1600" b="1">
                <a:latin typeface="+mn-lt"/>
              </a:rPr>
              <a:t>August 18</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7 	</a:t>
            </a:r>
            <a:r>
              <a:rPr lang="en-US" sz="1600">
                <a:latin typeface="+mn-lt"/>
              </a:rPr>
              <a:t>Understanding IRA Opportunities 	</a:t>
            </a:r>
            <a:r>
              <a:rPr lang="en-US" sz="1600" b="1">
                <a:latin typeface="+mn-lt"/>
              </a:rPr>
              <a:t>August 25</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8 	</a:t>
            </a:r>
            <a:r>
              <a:rPr lang="en-US" sz="1600">
                <a:latin typeface="+mn-lt"/>
              </a:rPr>
              <a:t>Annuity New Business and Suitability 	</a:t>
            </a:r>
            <a:r>
              <a:rPr lang="en-US" sz="1600" b="1">
                <a:latin typeface="+mn-lt"/>
              </a:rPr>
              <a:t>September 1</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9 	</a:t>
            </a:r>
            <a:r>
              <a:rPr lang="en-US" sz="1600">
                <a:latin typeface="+mn-lt"/>
              </a:rPr>
              <a:t>Small Business Solutions 	</a:t>
            </a:r>
            <a:r>
              <a:rPr lang="en-US" sz="1600" b="1">
                <a:latin typeface="+mn-lt"/>
              </a:rPr>
              <a:t>September 8</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10 	</a:t>
            </a:r>
            <a:r>
              <a:rPr lang="en-US" sz="1600">
                <a:latin typeface="+mn-lt"/>
              </a:rPr>
              <a:t>Morningstar: Researching Funds	</a:t>
            </a:r>
            <a:r>
              <a:rPr lang="en-US" sz="1600" b="1">
                <a:latin typeface="+mn-lt"/>
              </a:rPr>
              <a:t>September 15</a:t>
            </a:r>
            <a:endParaRPr lang="en-US" sz="1600">
              <a:latin typeface="+mn-lt"/>
            </a:endParaRPr>
          </a:p>
        </p:txBody>
      </p:sp>
      <p:sp>
        <p:nvSpPr>
          <p:cNvPr id="18" name="Rectangle: Rounded Corners 17">
            <a:extLst>
              <a:ext uri="{FF2B5EF4-FFF2-40B4-BE49-F238E27FC236}">
                <a16:creationId xmlns:a16="http://schemas.microsoft.com/office/drawing/2014/main" id="{324F6DF4-0086-A451-ED23-21830850EEB3}"/>
              </a:ext>
            </a:extLst>
          </p:cNvPr>
          <p:cNvSpPr>
            <a:spLocks/>
          </p:cNvSpPr>
          <p:nvPr/>
        </p:nvSpPr>
        <p:spPr bwMode="ltGray">
          <a:xfrm>
            <a:off x="7778187" y="1258625"/>
            <a:ext cx="4230999" cy="4586590"/>
          </a:xfrm>
          <a:prstGeom prst="roundRect">
            <a:avLst>
              <a:gd name="adj" fmla="val 0"/>
            </a:avLst>
          </a:prstGeom>
          <a:solidFill>
            <a:srgbClr val="A5EFBF">
              <a:alpha val="70000"/>
            </a:srgb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962"/>
              </a:solidFill>
              <a:effectLst/>
              <a:uLnTx/>
              <a:uFillTx/>
              <a:latin typeface="Georgia" panose="02040502050405020303"/>
              <a:ea typeface="+mn-ea"/>
              <a:cs typeface="+mn-cs"/>
            </a:endParaRPr>
          </a:p>
        </p:txBody>
      </p:sp>
      <p:sp>
        <p:nvSpPr>
          <p:cNvPr id="19" name="TextBox 18">
            <a:extLst>
              <a:ext uri="{FF2B5EF4-FFF2-40B4-BE49-F238E27FC236}">
                <a16:creationId xmlns:a16="http://schemas.microsoft.com/office/drawing/2014/main" id="{AB88AD48-1343-C6FD-A829-0F4286BEB371}"/>
              </a:ext>
            </a:extLst>
          </p:cNvPr>
          <p:cNvSpPr txBox="1"/>
          <p:nvPr/>
        </p:nvSpPr>
        <p:spPr>
          <a:xfrm>
            <a:off x="7916261" y="4058202"/>
            <a:ext cx="2282533" cy="1631216"/>
          </a:xfrm>
          <a:prstGeom prst="rect">
            <a:avLst/>
          </a:prstGeom>
          <a:noFill/>
        </p:spPr>
        <p:txBody>
          <a:bodyPr wrap="square" lIns="0" tIns="0" rIns="0" bIns="0" rtlCol="0" anchor="t">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080" rtl="0" eaLnBrk="1" fontAlgn="base" latinLnBrk="0" hangingPunct="1">
              <a:lnSpc>
                <a:spcPct val="100000"/>
              </a:lnSpc>
              <a:spcBef>
                <a:spcPct val="0"/>
              </a:spcBef>
              <a:spcAft>
                <a:spcPts val="1200"/>
              </a:spcAft>
              <a:buClrTx/>
              <a:buSzTx/>
              <a:buFontTx/>
              <a:buNone/>
              <a:tabLst/>
              <a:defRPr/>
            </a:pPr>
            <a:r>
              <a:rPr kumimoji="0" lang="en-US" sz="1600" b="0"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Register today to ensure prompt access to these highly anticipated events.</a:t>
            </a:r>
          </a:p>
          <a:p>
            <a:pPr marL="0" marR="0" lvl="1" indent="0" algn="l" defTabSz="1219080" rtl="0" eaLnBrk="1" fontAlgn="base" latinLnBrk="0" hangingPunct="1">
              <a:lnSpc>
                <a:spcPct val="100000"/>
              </a:lnSpc>
              <a:spcBef>
                <a:spcPct val="0"/>
              </a:spcBef>
              <a:spcAft>
                <a:spcPts val="800"/>
              </a:spcAft>
              <a:buClrTx/>
              <a:buSzTx/>
              <a:buFontTx/>
              <a:buNone/>
              <a:tabLst/>
              <a:defRPr/>
            </a:pPr>
            <a:r>
              <a:rPr kumimoji="0" lang="en-US" sz="1600" b="1" i="0" u="none" strike="noStrike" kern="1200" cap="none" spc="0" normalizeH="0" baseline="0" noProof="0">
                <a:ln>
                  <a:noFill/>
                </a:ln>
                <a:solidFill>
                  <a:srgbClr val="000962"/>
                </a:solidFill>
                <a:effectLst/>
                <a:uLnTx/>
                <a:uFillTx/>
                <a:latin typeface="Arial"/>
                <a:ea typeface="Geneva"/>
                <a:cs typeface="Arial"/>
              </a:rPr>
              <a:t>Events start at </a:t>
            </a:r>
            <a:br>
              <a:rPr lang="en-US" sz="1600" b="1" i="0" u="none" strike="noStrike" kern="1200" cap="none" spc="0" normalizeH="0" baseline="0" noProof="0">
                <a:ln>
                  <a:noFill/>
                </a:ln>
                <a:effectLst/>
                <a:uLnTx/>
                <a:uFillTx/>
                <a:latin typeface="Arial" panose="020B0604020202020204" pitchFamily="34" charset="0"/>
                <a:ea typeface="Geneva" pitchFamily="-109" charset="-128"/>
                <a:cs typeface="Arial" panose="020B0604020202020204" pitchFamily="34" charset="0"/>
              </a:rPr>
            </a:br>
            <a:r>
              <a:rPr kumimoji="0" lang="en-US" sz="1600" b="1" i="0" u="none" strike="noStrike" kern="1200" cap="none" spc="0" normalizeH="0" baseline="0" noProof="0">
                <a:ln>
                  <a:noFill/>
                </a:ln>
                <a:solidFill>
                  <a:srgbClr val="000962"/>
                </a:solidFill>
                <a:effectLst/>
                <a:uLnTx/>
                <a:uFillTx/>
                <a:latin typeface="Arial"/>
                <a:ea typeface="Geneva"/>
                <a:cs typeface="Arial"/>
              </a:rPr>
              <a:t>3pm </a:t>
            </a:r>
            <a:r>
              <a:rPr lang="en-US" sz="1600" b="1">
                <a:solidFill>
                  <a:srgbClr val="000962"/>
                </a:solidFill>
                <a:latin typeface="Arial"/>
                <a:ea typeface="Geneva"/>
                <a:cs typeface="Arial"/>
              </a:rPr>
              <a:t>ET</a:t>
            </a:r>
            <a:r>
              <a:rPr kumimoji="0" lang="en-US" sz="1600" b="1" i="0" u="none" strike="noStrike" kern="1200" cap="none" spc="0" normalizeH="0" baseline="0" noProof="0">
                <a:ln>
                  <a:noFill/>
                </a:ln>
                <a:solidFill>
                  <a:srgbClr val="000962"/>
                </a:solidFill>
                <a:effectLst/>
                <a:uLnTx/>
                <a:uFillTx/>
                <a:latin typeface="Arial"/>
                <a:ea typeface="Geneva"/>
                <a:cs typeface="Arial"/>
              </a:rPr>
              <a:t> and run </a:t>
            </a:r>
            <a:br>
              <a:rPr lang="en-US" sz="1600" b="1" i="0" u="none" strike="noStrike" kern="1200" cap="none" spc="0" normalizeH="0" baseline="0" noProof="0">
                <a:ln>
                  <a:noFill/>
                </a:ln>
                <a:effectLst/>
                <a:uLnTx/>
                <a:uFillTx/>
                <a:latin typeface="Arial" panose="020B0604020202020204" pitchFamily="34" charset="0"/>
                <a:ea typeface="Geneva" pitchFamily="-109" charset="-128"/>
                <a:cs typeface="Arial" panose="020B0604020202020204" pitchFamily="34" charset="0"/>
              </a:rPr>
            </a:br>
            <a:r>
              <a:rPr kumimoji="0" lang="en-US" sz="1600" b="1" i="0" u="none" strike="noStrike" kern="1200" cap="none" spc="0" normalizeH="0" baseline="0" noProof="0">
                <a:ln>
                  <a:noFill/>
                </a:ln>
                <a:solidFill>
                  <a:srgbClr val="000962"/>
                </a:solidFill>
                <a:effectLst/>
                <a:uLnTx/>
                <a:uFillTx/>
                <a:latin typeface="Arial"/>
                <a:ea typeface="Geneva"/>
                <a:cs typeface="Arial"/>
              </a:rPr>
              <a:t>60 minutes.</a:t>
            </a:r>
            <a:endParaRPr lang="en-US" sz="1600" b="1" i="0" u="none" strike="noStrike" kern="1200" cap="none" spc="0" normalizeH="0" baseline="0" noProof="0">
              <a:ln>
                <a:noFill/>
              </a:ln>
              <a:solidFill>
                <a:srgbClr val="000962"/>
              </a:solidFill>
              <a:effectLst/>
              <a:uLnTx/>
              <a:uFillTx/>
              <a:latin typeface="Arial"/>
              <a:ea typeface="Geneva"/>
              <a:cs typeface="Arial"/>
            </a:endParaRPr>
          </a:p>
        </p:txBody>
      </p:sp>
      <p:sp>
        <p:nvSpPr>
          <p:cNvPr id="20" name="TextBox 19">
            <a:extLst>
              <a:ext uri="{FF2B5EF4-FFF2-40B4-BE49-F238E27FC236}">
                <a16:creationId xmlns:a16="http://schemas.microsoft.com/office/drawing/2014/main" id="{754B7A9E-FAA5-21F6-F137-C961834A84FA}"/>
              </a:ext>
            </a:extLst>
          </p:cNvPr>
          <p:cNvSpPr txBox="1"/>
          <p:nvPr/>
        </p:nvSpPr>
        <p:spPr>
          <a:xfrm>
            <a:off x="7916261" y="2355648"/>
            <a:ext cx="4025191" cy="1215717"/>
          </a:xfrm>
          <a:prstGeom prst="rect">
            <a:avLst/>
          </a:prstGeom>
          <a:noFill/>
        </p:spPr>
        <p:txBody>
          <a:bodyPr wrap="square" lIns="0" tIns="0" rIns="0" bIns="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10-part quarterly series - Tuesdays at 3pm EST</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Educates on NYL products</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Interactive sessions with product experts</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Provides ongoing education</a:t>
            </a:r>
          </a:p>
        </p:txBody>
      </p:sp>
      <p:sp>
        <p:nvSpPr>
          <p:cNvPr id="21" name="TextBox 20">
            <a:extLst>
              <a:ext uri="{FF2B5EF4-FFF2-40B4-BE49-F238E27FC236}">
                <a16:creationId xmlns:a16="http://schemas.microsoft.com/office/drawing/2014/main" id="{E3DFB1B1-15B3-8A27-60CE-8E847B48FC86}"/>
              </a:ext>
            </a:extLst>
          </p:cNvPr>
          <p:cNvSpPr txBox="1"/>
          <p:nvPr/>
        </p:nvSpPr>
        <p:spPr>
          <a:xfrm>
            <a:off x="7916261" y="1471251"/>
            <a:ext cx="1963321" cy="615553"/>
          </a:xfrm>
          <a:prstGeom prst="rect">
            <a:avLst/>
          </a:prstGeom>
          <a:noFill/>
        </p:spPr>
        <p:txBody>
          <a:bodyPr wrap="square" lIns="0" tIns="0" rIns="0" bIns="0" rtlCol="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11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Strengthening </a:t>
            </a:r>
            <a:b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br>
            <a: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the foundation</a:t>
            </a:r>
          </a:p>
        </p:txBody>
      </p:sp>
      <p:pic>
        <p:nvPicPr>
          <p:cNvPr id="23" name="Picture 22">
            <a:extLst>
              <a:ext uri="{FF2B5EF4-FFF2-40B4-BE49-F238E27FC236}">
                <a16:creationId xmlns:a16="http://schemas.microsoft.com/office/drawing/2014/main" id="{71ACF039-36BF-73CA-217C-F0225B2106E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336139" y="4111185"/>
            <a:ext cx="1535702" cy="1535702"/>
          </a:xfrm>
          <a:prstGeom prst="rect">
            <a:avLst/>
          </a:prstGeom>
        </p:spPr>
      </p:pic>
      <p:sp>
        <p:nvSpPr>
          <p:cNvPr id="24" name="Oval 23">
            <a:extLst>
              <a:ext uri="{FF2B5EF4-FFF2-40B4-BE49-F238E27FC236}">
                <a16:creationId xmlns:a16="http://schemas.microsoft.com/office/drawing/2014/main" id="{DCA4BDAC-5B8E-B537-63A2-6FC2E8D29CC2}"/>
              </a:ext>
            </a:extLst>
          </p:cNvPr>
          <p:cNvSpPr/>
          <p:nvPr/>
        </p:nvSpPr>
        <p:spPr>
          <a:xfrm>
            <a:off x="10051608" y="148766"/>
            <a:ext cx="2014099" cy="201409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22" name="Picture 21" descr="A blue and white circle with a briefcase and pen&#10;&#10;AI-generated content may be incorrect.">
            <a:extLst>
              <a:ext uri="{FF2B5EF4-FFF2-40B4-BE49-F238E27FC236}">
                <a16:creationId xmlns:a16="http://schemas.microsoft.com/office/drawing/2014/main" id="{C5B1EE9C-2B23-DF11-22FF-DB25340CFD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46626" y="243784"/>
            <a:ext cx="1824062" cy="1824062"/>
          </a:xfrm>
          <a:prstGeom prst="rect">
            <a:avLst/>
          </a:prstGeom>
        </p:spPr>
      </p:pic>
      <p:cxnSp>
        <p:nvCxnSpPr>
          <p:cNvPr id="26" name="Straight Connector 25">
            <a:extLst>
              <a:ext uri="{FF2B5EF4-FFF2-40B4-BE49-F238E27FC236}">
                <a16:creationId xmlns:a16="http://schemas.microsoft.com/office/drawing/2014/main" id="{28ECE000-F42B-463A-60EE-414C9AB93711}"/>
              </a:ext>
            </a:extLst>
          </p:cNvPr>
          <p:cNvCxnSpPr/>
          <p:nvPr/>
        </p:nvCxnSpPr>
        <p:spPr>
          <a:xfrm>
            <a:off x="7916261" y="3792681"/>
            <a:ext cx="3957462"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56409CE8-508C-0FA5-FC66-6A89527F87C7}"/>
              </a:ext>
            </a:extLst>
          </p:cNvPr>
          <p:cNvCxnSpPr>
            <a:cxnSpLocks/>
          </p:cNvCxnSpPr>
          <p:nvPr/>
        </p:nvCxnSpPr>
        <p:spPr>
          <a:xfrm>
            <a:off x="439946" y="1641763"/>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D1B138C-FF22-B2BB-5AEC-E5808BAC91F7}"/>
              </a:ext>
            </a:extLst>
          </p:cNvPr>
          <p:cNvCxnSpPr>
            <a:cxnSpLocks/>
          </p:cNvCxnSpPr>
          <p:nvPr/>
        </p:nvCxnSpPr>
        <p:spPr>
          <a:xfrm>
            <a:off x="439946" y="2131692"/>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518D576-C74B-3D19-6CFD-8321970E82D2}"/>
              </a:ext>
            </a:extLst>
          </p:cNvPr>
          <p:cNvCxnSpPr>
            <a:cxnSpLocks/>
          </p:cNvCxnSpPr>
          <p:nvPr/>
        </p:nvCxnSpPr>
        <p:spPr>
          <a:xfrm>
            <a:off x="439946" y="2620065"/>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5BBB6C1-C395-883E-2769-4C24E020C37F}"/>
              </a:ext>
            </a:extLst>
          </p:cNvPr>
          <p:cNvCxnSpPr>
            <a:cxnSpLocks/>
          </p:cNvCxnSpPr>
          <p:nvPr/>
        </p:nvCxnSpPr>
        <p:spPr>
          <a:xfrm>
            <a:off x="439946" y="3108438"/>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43F1467E-70F0-C2D9-333D-287C7D290097}"/>
              </a:ext>
            </a:extLst>
          </p:cNvPr>
          <p:cNvCxnSpPr>
            <a:cxnSpLocks/>
          </p:cNvCxnSpPr>
          <p:nvPr/>
        </p:nvCxnSpPr>
        <p:spPr>
          <a:xfrm>
            <a:off x="439946" y="3589353"/>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BFB5270-800E-D12C-74BE-724FCE781B62}"/>
              </a:ext>
            </a:extLst>
          </p:cNvPr>
          <p:cNvCxnSpPr>
            <a:cxnSpLocks/>
          </p:cNvCxnSpPr>
          <p:nvPr/>
        </p:nvCxnSpPr>
        <p:spPr>
          <a:xfrm>
            <a:off x="439946" y="4058202"/>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84C31F94-D1A1-E7A3-7D6B-6A96933CCD1B}"/>
              </a:ext>
            </a:extLst>
          </p:cNvPr>
          <p:cNvCxnSpPr>
            <a:cxnSpLocks/>
          </p:cNvCxnSpPr>
          <p:nvPr/>
        </p:nvCxnSpPr>
        <p:spPr>
          <a:xfrm>
            <a:off x="439946" y="4546575"/>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D762039-FAF6-691C-76A5-7A552CA2AD65}"/>
              </a:ext>
            </a:extLst>
          </p:cNvPr>
          <p:cNvCxnSpPr>
            <a:cxnSpLocks/>
          </p:cNvCxnSpPr>
          <p:nvPr/>
        </p:nvCxnSpPr>
        <p:spPr>
          <a:xfrm>
            <a:off x="439946" y="5034948"/>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9E1525A8-5451-835F-D171-D6DAA1D0FF21}"/>
              </a:ext>
            </a:extLst>
          </p:cNvPr>
          <p:cNvCxnSpPr>
            <a:cxnSpLocks/>
          </p:cNvCxnSpPr>
          <p:nvPr/>
        </p:nvCxnSpPr>
        <p:spPr>
          <a:xfrm>
            <a:off x="439946" y="5523321"/>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0615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a:xfrm>
            <a:off x="439946" y="381000"/>
            <a:ext cx="11097657" cy="496033"/>
          </a:xfrm>
        </p:spPr>
        <p:txBody>
          <a:bodyPr/>
          <a:lstStyle/>
          <a:p>
            <a:r>
              <a:rPr lang="en-US"/>
              <a:t>3Q Life Fundamentals Series</a:t>
            </a:r>
          </a:p>
        </p:txBody>
      </p:sp>
      <p:sp>
        <p:nvSpPr>
          <p:cNvPr id="4" name="Text Placeholder 3">
            <a:extLst>
              <a:ext uri="{FF2B5EF4-FFF2-40B4-BE49-F238E27FC236}">
                <a16:creationId xmlns:a16="http://schemas.microsoft.com/office/drawing/2014/main" id="{A142F558-0E18-23AD-47E0-7C51F9F19FCB}"/>
              </a:ext>
            </a:extLst>
          </p:cNvPr>
          <p:cNvSpPr>
            <a:spLocks noGrp="1"/>
          </p:cNvSpPr>
          <p:nvPr>
            <p:ph type="body" sz="quarter" idx="12"/>
          </p:nvPr>
        </p:nvSpPr>
        <p:spPr>
          <a:xfrm>
            <a:off x="439946" y="953242"/>
            <a:ext cx="11294854" cy="496033"/>
          </a:xfrm>
        </p:spPr>
        <p:txBody>
          <a:bodyPr/>
          <a:lstStyle/>
          <a:p>
            <a:r>
              <a:rPr lang="en-US" sz="2200"/>
              <a:t>Strengthening the foundation for confident life </a:t>
            </a:r>
            <a:r>
              <a:rPr lang="en-US"/>
              <a:t>i</a:t>
            </a:r>
            <a:r>
              <a:rPr lang="en-US" sz="2200"/>
              <a:t>nsurance </a:t>
            </a:r>
            <a:r>
              <a:rPr lang="en-US"/>
              <a:t>c</a:t>
            </a:r>
            <a:r>
              <a:rPr lang="en-US" sz="2200"/>
              <a:t>onversations</a:t>
            </a:r>
          </a:p>
        </p:txBody>
      </p:sp>
      <p:sp>
        <p:nvSpPr>
          <p:cNvPr id="5" name="Rectangle 4">
            <a:extLst>
              <a:ext uri="{FF2B5EF4-FFF2-40B4-BE49-F238E27FC236}">
                <a16:creationId xmlns:a16="http://schemas.microsoft.com/office/drawing/2014/main" id="{AC012B3C-DF93-962F-D695-B41961C41222}"/>
              </a:ext>
            </a:extLst>
          </p:cNvPr>
          <p:cNvSpPr/>
          <p:nvPr/>
        </p:nvSpPr>
        <p:spPr>
          <a:xfrm>
            <a:off x="7472662" y="1525483"/>
            <a:ext cx="4279392" cy="2735145"/>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0C68089D-4E7B-E2AE-1BE9-9DDDEFA0195F}"/>
              </a:ext>
            </a:extLst>
          </p:cNvPr>
          <p:cNvSpPr/>
          <p:nvPr/>
        </p:nvSpPr>
        <p:spPr bwMode="ltGray">
          <a:xfrm>
            <a:off x="7467684" y="4330108"/>
            <a:ext cx="4279392" cy="158437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2" name="TextBox 11">
            <a:extLst>
              <a:ext uri="{FF2B5EF4-FFF2-40B4-BE49-F238E27FC236}">
                <a16:creationId xmlns:a16="http://schemas.microsoft.com/office/drawing/2014/main" id="{487B3734-2EE0-8E3C-1107-A4E6ADCF5D27}"/>
              </a:ext>
            </a:extLst>
          </p:cNvPr>
          <p:cNvSpPr txBox="1"/>
          <p:nvPr/>
        </p:nvSpPr>
        <p:spPr>
          <a:xfrm>
            <a:off x="7705656" y="4545215"/>
            <a:ext cx="2033814" cy="115416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A62"/>
                </a:solidFill>
                <a:effectLst/>
                <a:uLnTx/>
                <a:uFillTx/>
                <a:latin typeface="Arial"/>
                <a:ea typeface="+mn-ea"/>
                <a:cs typeface="+mn-cs"/>
              </a:rPr>
              <a:t>Register today to ensure prompt access to these highly anticipated events.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A62"/>
                </a:solidFill>
                <a:effectLst/>
                <a:uLnTx/>
                <a:uFillTx/>
                <a:latin typeface="Arial"/>
                <a:ea typeface="+mn-ea"/>
                <a:cs typeface="+mn-cs"/>
              </a:rPr>
              <a:t>Events start at 1 pm ET* and run for 60 minutes</a:t>
            </a:r>
            <a:r>
              <a:rPr kumimoji="0" lang="en-US" sz="1400" b="0" i="0" u="none" strike="noStrike" kern="1200" cap="none" spc="0" normalizeH="0" baseline="0" noProof="0">
                <a:ln>
                  <a:noFill/>
                </a:ln>
                <a:solidFill>
                  <a:srgbClr val="000A62"/>
                </a:solidFill>
                <a:effectLst/>
                <a:uLnTx/>
                <a:uFillTx/>
                <a:latin typeface="Arial"/>
                <a:ea typeface="+mn-ea"/>
                <a:cs typeface="+mn-cs"/>
              </a:rPr>
              <a:t>.</a:t>
            </a:r>
            <a:endParaRPr kumimoji="0" lang="en-US" sz="1400" b="0" i="0" u="none" strike="noStrike" kern="1200" cap="none" spc="0" normalizeH="0" baseline="0" noProof="0">
              <a:ln>
                <a:noFill/>
              </a:ln>
              <a:solidFill>
                <a:srgbClr val="000A62"/>
              </a:solidFill>
              <a:effectLst/>
              <a:uLnTx/>
              <a:uFillTx/>
              <a:latin typeface="Arial"/>
              <a:ea typeface="+mn-ea"/>
              <a:cs typeface="Arial"/>
            </a:endParaRPr>
          </a:p>
        </p:txBody>
      </p:sp>
      <p:sp>
        <p:nvSpPr>
          <p:cNvPr id="13" name="Isosceles Triangle 12">
            <a:extLst>
              <a:ext uri="{FF2B5EF4-FFF2-40B4-BE49-F238E27FC236}">
                <a16:creationId xmlns:a16="http://schemas.microsoft.com/office/drawing/2014/main" id="{C49E910D-8AFE-EFDD-D605-0F37D98CD327}"/>
              </a:ext>
            </a:extLst>
          </p:cNvPr>
          <p:cNvSpPr/>
          <p:nvPr/>
        </p:nvSpPr>
        <p:spPr bwMode="ltGray">
          <a:xfrm rot="5400000">
            <a:off x="9842380" y="5004280"/>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20" name="TextBox 19">
            <a:extLst>
              <a:ext uri="{FF2B5EF4-FFF2-40B4-BE49-F238E27FC236}">
                <a16:creationId xmlns:a16="http://schemas.microsoft.com/office/drawing/2014/main" id="{FAE8E11C-1283-DDBA-25BF-891F6AB7D4CC}"/>
              </a:ext>
            </a:extLst>
          </p:cNvPr>
          <p:cNvSpPr txBox="1"/>
          <p:nvPr/>
        </p:nvSpPr>
        <p:spPr>
          <a:xfrm>
            <a:off x="7705656" y="1845816"/>
            <a:ext cx="3936520" cy="2174954"/>
          </a:xfrm>
          <a:prstGeom prst="rect">
            <a:avLst/>
          </a:prstGeom>
          <a:noFill/>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7-part quarterly series (Tuesdays)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Educates on NYL life products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Interactive sessions with </a:t>
            </a:r>
            <a:br>
              <a:rPr kumimoji="0" lang="en-US" sz="1800" b="0" i="0" u="none" strike="noStrike" kern="1200" cap="none" spc="0" normalizeH="0" baseline="0" noProof="0">
                <a:ln>
                  <a:noFill/>
                </a:ln>
                <a:solidFill>
                  <a:srgbClr val="FFFFFF"/>
                </a:solidFill>
                <a:effectLst/>
                <a:uLnTx/>
                <a:uFillTx/>
                <a:latin typeface="Arial"/>
                <a:ea typeface="+mn-ea"/>
                <a:cs typeface="+mn-cs"/>
              </a:rPr>
            </a:br>
            <a:r>
              <a:rPr kumimoji="0" lang="en-US" sz="1800" b="0" i="0" u="none" strike="noStrike" kern="1200" cap="none" spc="0" normalizeH="0" baseline="0" noProof="0">
                <a:ln>
                  <a:noFill/>
                </a:ln>
                <a:solidFill>
                  <a:srgbClr val="FFFFFF"/>
                </a:solidFill>
                <a:effectLst/>
                <a:uLnTx/>
                <a:uFillTx/>
                <a:latin typeface="Arial"/>
                <a:ea typeface="+mn-ea"/>
                <a:cs typeface="+mn-cs"/>
              </a:rPr>
              <a:t>product experts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Provides ongoing education</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Open to agents and managers</a:t>
            </a:r>
          </a:p>
        </p:txBody>
      </p:sp>
      <p:graphicFrame>
        <p:nvGraphicFramePr>
          <p:cNvPr id="21" name="Table 20">
            <a:extLst>
              <a:ext uri="{FF2B5EF4-FFF2-40B4-BE49-F238E27FC236}">
                <a16:creationId xmlns:a16="http://schemas.microsoft.com/office/drawing/2014/main" id="{8D183E16-590B-51F4-1C8E-3E21D2EF3934}"/>
              </a:ext>
            </a:extLst>
          </p:cNvPr>
          <p:cNvGraphicFramePr>
            <a:graphicFrameLocks noGrp="1"/>
          </p:cNvGraphicFramePr>
          <p:nvPr/>
        </p:nvGraphicFramePr>
        <p:xfrm>
          <a:off x="438121" y="1525484"/>
          <a:ext cx="6925954" cy="4389004"/>
        </p:xfrm>
        <a:graphic>
          <a:graphicData uri="http://schemas.openxmlformats.org/drawingml/2006/table">
            <a:tbl>
              <a:tblPr/>
              <a:tblGrid>
                <a:gridCol w="615387">
                  <a:extLst>
                    <a:ext uri="{9D8B030D-6E8A-4147-A177-3AD203B41FA5}">
                      <a16:colId xmlns:a16="http://schemas.microsoft.com/office/drawing/2014/main" val="2782655341"/>
                    </a:ext>
                  </a:extLst>
                </a:gridCol>
                <a:gridCol w="1063796">
                  <a:extLst>
                    <a:ext uri="{9D8B030D-6E8A-4147-A177-3AD203B41FA5}">
                      <a16:colId xmlns:a16="http://schemas.microsoft.com/office/drawing/2014/main" val="1710925411"/>
                    </a:ext>
                  </a:extLst>
                </a:gridCol>
                <a:gridCol w="5246771">
                  <a:extLst>
                    <a:ext uri="{9D8B030D-6E8A-4147-A177-3AD203B41FA5}">
                      <a16:colId xmlns:a16="http://schemas.microsoft.com/office/drawing/2014/main" val="398805613"/>
                    </a:ext>
                  </a:extLst>
                </a:gridCol>
              </a:tblGrid>
              <a:tr h="538780">
                <a:tc gridSpan="3">
                  <a:txBody>
                    <a:bodyPr/>
                    <a:lstStyle/>
                    <a:p>
                      <a:pPr algn="l" fontAlgn="b">
                        <a:buNone/>
                      </a:pPr>
                      <a:r>
                        <a:rPr lang="en-US" sz="1800" b="1" i="0" u="none" strike="noStrike">
                          <a:solidFill>
                            <a:srgbClr val="80BAFF"/>
                          </a:solidFill>
                          <a:effectLst/>
                          <a:latin typeface="Georgia"/>
                          <a:cs typeface="Arial"/>
                        </a:rPr>
                        <a:t> </a:t>
                      </a:r>
                      <a:r>
                        <a:rPr lang="en-US" sz="1800" b="0" i="0" u="none" strike="noStrike">
                          <a:solidFill>
                            <a:schemeClr val="bg1"/>
                          </a:solidFill>
                          <a:effectLst/>
                          <a:latin typeface="Georgia"/>
                          <a:cs typeface="Arial"/>
                        </a:rPr>
                        <a:t>Life Insurance </a:t>
                      </a:r>
                    </a:p>
                  </a:txBody>
                  <a:tcPr marL="27432" marR="182880"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8FF"/>
                    </a:solidFill>
                  </a:tcPr>
                </a:tc>
                <a:tc hMerge="1">
                  <a:txBody>
                    <a:bodyPr/>
                    <a:lstStyle/>
                    <a:p>
                      <a:pPr algn="l" fontAlgn="b">
                        <a:buNone/>
                      </a:pP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tc hMerge="1">
                  <a:txBody>
                    <a:bodyPr/>
                    <a:lstStyle/>
                    <a:p>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339364757"/>
                  </a:ext>
                </a:extLst>
              </a:tr>
              <a:tr h="550032">
                <a:tc>
                  <a:txBody>
                    <a:bodyPr/>
                    <a:lstStyle/>
                    <a:p>
                      <a:pPr algn="l" fontAlgn="b">
                        <a:buNone/>
                      </a:pPr>
                      <a:r>
                        <a:rPr lang="en-US" sz="1400" b="1" i="0" u="none" strike="noStrike">
                          <a:solidFill>
                            <a:schemeClr val="tx1"/>
                          </a:solidFill>
                          <a:effectLst/>
                          <a:latin typeface="Arial"/>
                          <a:cs typeface="Arial"/>
                        </a:rPr>
                        <a:t>7/14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a:solidFill>
                            <a:schemeClr val="tx1"/>
                          </a:solidFill>
                          <a:effectLst/>
                          <a:latin typeface="Arial"/>
                          <a:cs typeface="Arial"/>
                        </a:rPr>
                        <a:t>Term Life Overview and Key Concepts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909707572"/>
                  </a:ext>
                </a:extLst>
              </a:tr>
              <a:tr h="550032">
                <a:tc>
                  <a:txBody>
                    <a:bodyPr/>
                    <a:lstStyle/>
                    <a:p>
                      <a:pPr algn="l" fontAlgn="b">
                        <a:buNone/>
                      </a:pPr>
                      <a:r>
                        <a:rPr lang="en-US" sz="1400" b="1" i="0" u="none" strike="noStrike">
                          <a:solidFill>
                            <a:schemeClr val="tx1"/>
                          </a:solidFill>
                          <a:effectLst/>
                          <a:latin typeface="Arial"/>
                          <a:cs typeface="Arial"/>
                        </a:rPr>
                        <a:t>7/21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2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lvl="0" algn="l">
                        <a:buNone/>
                      </a:pPr>
                      <a:r>
                        <a:rPr lang="en-US" sz="1400" b="0" i="0" u="none" strike="noStrike" baseline="0" noProof="0">
                          <a:solidFill>
                            <a:srgbClr val="000962"/>
                          </a:solidFill>
                          <a:effectLst/>
                          <a:latin typeface="Arial"/>
                          <a:cs typeface="Arial"/>
                        </a:rPr>
                        <a:t>Integrating WL into Planning </a:t>
                      </a:r>
                      <a:r>
                        <a:rPr lang="en-US" sz="1400" b="0" i="0" u="none" strike="noStrike">
                          <a:solidFill>
                            <a:schemeClr val="tx1"/>
                          </a:solidFill>
                          <a:effectLst/>
                          <a:latin typeface="Arial"/>
                          <a:cs typeface="Arial"/>
                        </a:rPr>
                        <a:t>Guest Speaker: Allen Hensley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1381813382"/>
                  </a:ext>
                </a:extLst>
              </a:tr>
              <a:tr h="550032">
                <a:tc>
                  <a:txBody>
                    <a:bodyPr/>
                    <a:lstStyle/>
                    <a:p>
                      <a:pPr algn="l" fontAlgn="b">
                        <a:buNone/>
                      </a:pPr>
                      <a:r>
                        <a:rPr lang="en-US" sz="1400" b="1" i="0" u="none" strike="noStrike">
                          <a:solidFill>
                            <a:schemeClr val="tx1"/>
                          </a:solidFill>
                          <a:effectLst/>
                          <a:latin typeface="Arial"/>
                          <a:cs typeface="Arial"/>
                        </a:rPr>
                        <a:t>7/28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a:solidFill>
                            <a:schemeClr val="tx1"/>
                          </a:solidFill>
                          <a:effectLst/>
                          <a:latin typeface="Arial"/>
                          <a:cs typeface="Arial"/>
                        </a:rPr>
                        <a:t>Whole Life Product Overview &amp; Riders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1868455849"/>
                  </a:ext>
                </a:extLst>
              </a:tr>
              <a:tr h="550032">
                <a:tc>
                  <a:txBody>
                    <a:bodyPr/>
                    <a:lstStyle/>
                    <a:p>
                      <a:pPr algn="l" fontAlgn="b">
                        <a:buNone/>
                      </a:pPr>
                      <a:r>
                        <a:rPr lang="en-US" sz="1400" b="1" i="0" u="none" strike="noStrike">
                          <a:solidFill>
                            <a:schemeClr val="tx1"/>
                          </a:solidFill>
                          <a:effectLst/>
                          <a:latin typeface="Arial"/>
                          <a:cs typeface="Arial"/>
                        </a:rPr>
                        <a:t>8/4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a:solidFill>
                            <a:schemeClr val="tx1"/>
                          </a:solidFill>
                          <a:effectLst/>
                          <a:latin typeface="Arial"/>
                          <a:cs typeface="Arial"/>
                        </a:rPr>
                        <a:t>Whole Life Key Sales Concepts: SLIRP, BOWL, &amp; FIR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3317296599"/>
                  </a:ext>
                </a:extLst>
              </a:tr>
              <a:tr h="550032">
                <a:tc>
                  <a:txBody>
                    <a:bodyPr/>
                    <a:lstStyle/>
                    <a:p>
                      <a:pPr algn="l" fontAlgn="b">
                        <a:buNone/>
                      </a:pPr>
                      <a:r>
                        <a:rPr lang="en-US" sz="1400" b="1" i="0" u="none" strike="noStrike">
                          <a:solidFill>
                            <a:schemeClr val="tx1"/>
                          </a:solidFill>
                          <a:effectLst/>
                          <a:latin typeface="Arial"/>
                          <a:cs typeface="Arial"/>
                        </a:rPr>
                        <a:t>8/11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a:solidFill>
                            <a:schemeClr val="tx1"/>
                          </a:solidFill>
                          <a:effectLst/>
                          <a:latin typeface="Arial"/>
                          <a:cs typeface="Arial"/>
                        </a:rPr>
                        <a:t>Variable Universal Life Product Overview &amp; Key Concepts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1325359472"/>
                  </a:ext>
                </a:extLst>
              </a:tr>
              <a:tr h="550032">
                <a:tc>
                  <a:txBody>
                    <a:bodyPr/>
                    <a:lstStyle/>
                    <a:p>
                      <a:pPr algn="l" fontAlgn="b">
                        <a:buNone/>
                      </a:pPr>
                      <a:r>
                        <a:rPr lang="en-US" sz="1400" b="1" i="0" u="none" strike="noStrike">
                          <a:solidFill>
                            <a:schemeClr val="tx1"/>
                          </a:solidFill>
                          <a:effectLst/>
                          <a:latin typeface="Arial"/>
                          <a:cs typeface="Arial"/>
                        </a:rPr>
                        <a:t>8/18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lvl="0" algn="l">
                        <a:buNone/>
                      </a:pPr>
                      <a:r>
                        <a:rPr lang="en-US" sz="1400" b="0" i="0" u="none" strike="noStrike" baseline="0" noProof="0">
                          <a:solidFill>
                            <a:srgbClr val="000962"/>
                          </a:solidFill>
                          <a:effectLst/>
                          <a:latin typeface="Arial"/>
                          <a:cs typeface="Arial"/>
                        </a:rPr>
                        <a:t>Universal Life Product Overview &amp; Key Concepts </a:t>
                      </a:r>
                      <a:endParaRPr 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4257307086"/>
                  </a:ext>
                </a:extLst>
              </a:tr>
              <a:tr h="550032">
                <a:tc>
                  <a:txBody>
                    <a:bodyPr/>
                    <a:lstStyle/>
                    <a:p>
                      <a:pPr algn="l" fontAlgn="b">
                        <a:buNone/>
                      </a:pPr>
                      <a:r>
                        <a:rPr lang="en-US" sz="1400" b="1" i="0" u="none" strike="noStrike">
                          <a:solidFill>
                            <a:schemeClr val="tx1"/>
                          </a:solidFill>
                          <a:effectLst/>
                          <a:latin typeface="Arial"/>
                          <a:cs typeface="Arial"/>
                        </a:rPr>
                        <a:t>8/25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noProof="0">
                          <a:solidFill>
                            <a:schemeClr val="tx1"/>
                          </a:solidFill>
                          <a:effectLst/>
                          <a:latin typeface="Arial"/>
                          <a:cs typeface="Arial"/>
                        </a:rPr>
                        <a:t>Universal Life Product Case Study Live Demonstration</a:t>
                      </a:r>
                      <a:endParaRPr lang="en-US" sz="1400" b="0" i="0" u="none" strike="noStrike">
                        <a:solidFill>
                          <a:schemeClr val="tx1"/>
                        </a:solidFill>
                        <a:effectLst/>
                        <a:latin typeface="Arial"/>
                        <a:cs typeface="Aria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4045166931"/>
                  </a:ext>
                </a:extLst>
              </a:tr>
            </a:tbl>
          </a:graphicData>
        </a:graphic>
      </p:graphicFrame>
      <p:sp>
        <p:nvSpPr>
          <p:cNvPr id="22" name="Oval 21">
            <a:extLst>
              <a:ext uri="{FF2B5EF4-FFF2-40B4-BE49-F238E27FC236}">
                <a16:creationId xmlns:a16="http://schemas.microsoft.com/office/drawing/2014/main" id="{368C2503-4095-733D-F6B7-7AFEC5322E0D}"/>
              </a:ext>
            </a:extLst>
          </p:cNvPr>
          <p:cNvSpPr/>
          <p:nvPr/>
        </p:nvSpPr>
        <p:spPr>
          <a:xfrm>
            <a:off x="10102924" y="177378"/>
            <a:ext cx="1633728" cy="16337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15" name="Picture 14">
            <a:extLst>
              <a:ext uri="{FF2B5EF4-FFF2-40B4-BE49-F238E27FC236}">
                <a16:creationId xmlns:a16="http://schemas.microsoft.com/office/drawing/2014/main" id="{0836EDC6-54CF-DB6A-C196-5918BC7605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37634" y="212088"/>
            <a:ext cx="1564308" cy="1564308"/>
          </a:xfrm>
          <a:prstGeom prst="rect">
            <a:avLst/>
          </a:prstGeom>
        </p:spPr>
      </p:pic>
      <p:sp>
        <p:nvSpPr>
          <p:cNvPr id="24" name="TextBox 23">
            <a:extLst>
              <a:ext uri="{FF2B5EF4-FFF2-40B4-BE49-F238E27FC236}">
                <a16:creationId xmlns:a16="http://schemas.microsoft.com/office/drawing/2014/main" id="{AD07A7B6-C5E1-11C2-D863-133019FB6B09}"/>
              </a:ext>
            </a:extLst>
          </p:cNvPr>
          <p:cNvSpPr txBox="1"/>
          <p:nvPr/>
        </p:nvSpPr>
        <p:spPr>
          <a:xfrm>
            <a:off x="2939918" y="6294493"/>
            <a:ext cx="60977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962"/>
                </a:solidFill>
                <a:effectLst/>
                <a:uLnTx/>
                <a:uFillTx/>
                <a:latin typeface="Arial"/>
                <a:ea typeface="+mn-ea"/>
                <a:cs typeface="+mn-cs"/>
              </a:rPr>
              <a:t>*12 pm CT, 11 am MT, 10 am PT, 9 am Alaska, 7 am Hawaii</a:t>
            </a:r>
            <a:endParaRPr kumimoji="0" lang="en-US" sz="1200" b="0" i="0" u="none" strike="noStrike" kern="1200" cap="none" spc="0" normalizeH="0" baseline="0" noProof="0">
              <a:ln>
                <a:noFill/>
              </a:ln>
              <a:solidFill>
                <a:srgbClr val="000962"/>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CB72208E-D156-0E31-463F-6BEC63D197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30510" y="4409402"/>
            <a:ext cx="1425787" cy="1425787"/>
          </a:xfrm>
          <a:prstGeom prst="rect">
            <a:avLst/>
          </a:prstGeom>
        </p:spPr>
      </p:pic>
    </p:spTree>
    <p:extLst>
      <p:ext uri="{BB962C8B-B14F-4D97-AF65-F5344CB8AC3E}">
        <p14:creationId xmlns:p14="http://schemas.microsoft.com/office/powerpoint/2010/main" val="2929852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B697B-5DB0-964D-EF02-FA5A5E22A00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F79A2E6-6829-53F4-EB31-9AAD898D3012}"/>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6CDDEF40-D36F-0AB1-9987-9CDC077184EB}"/>
              </a:ext>
            </a:extLst>
          </p:cNvPr>
          <p:cNvSpPr>
            <a:spLocks noGrp="1"/>
          </p:cNvSpPr>
          <p:nvPr>
            <p:ph type="title"/>
          </p:nvPr>
        </p:nvSpPr>
        <p:spPr/>
        <p:txBody>
          <a:bodyPr/>
          <a:lstStyle/>
          <a:p>
            <a:r>
              <a:rPr lang="en-US"/>
              <a:t>Target Markets Upcoming Webinars</a:t>
            </a:r>
          </a:p>
        </p:txBody>
      </p:sp>
      <p:sp>
        <p:nvSpPr>
          <p:cNvPr id="3" name="Content Placeholder 2">
            <a:extLst>
              <a:ext uri="{FF2B5EF4-FFF2-40B4-BE49-F238E27FC236}">
                <a16:creationId xmlns:a16="http://schemas.microsoft.com/office/drawing/2014/main" id="{05D9CF6A-368F-73C3-9D8B-BB785BFFBCAD}"/>
              </a:ext>
            </a:extLst>
          </p:cNvPr>
          <p:cNvSpPr>
            <a:spLocks noGrp="1"/>
          </p:cNvSpPr>
          <p:nvPr>
            <p:ph idx="1"/>
          </p:nvPr>
        </p:nvSpPr>
        <p:spPr>
          <a:xfrm>
            <a:off x="457200" y="1698295"/>
            <a:ext cx="5369869" cy="4375179"/>
          </a:xfrm>
        </p:spPr>
        <p:txBody>
          <a:bodyPr/>
          <a:lstStyle/>
          <a:p>
            <a:pPr marL="0" lvl="0" indent="0">
              <a:lnSpc>
                <a:spcPct val="100000"/>
              </a:lnSpc>
              <a:spcBef>
                <a:spcPts val="0"/>
              </a:spcBef>
              <a:buNone/>
              <a:defRPr/>
            </a:pPr>
            <a:r>
              <a:rPr lang="en-US" b="1">
                <a:solidFill>
                  <a:schemeClr val="tx1"/>
                </a:solidFill>
              </a:rPr>
              <a:t>Chinese Market </a:t>
            </a:r>
            <a:br>
              <a:rPr lang="en-US" b="1">
                <a:solidFill>
                  <a:schemeClr val="tx1"/>
                </a:solidFill>
              </a:rPr>
            </a:br>
            <a:r>
              <a:rPr lang="en-US" b="1">
                <a:solidFill>
                  <a:schemeClr val="tx1"/>
                </a:solidFill>
              </a:rPr>
              <a:t>Monthly SIE Study Group Sessions</a:t>
            </a: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r>
              <a:rPr lang="fr-FR">
                <a:solidFill>
                  <a:schemeClr val="tx1"/>
                </a:solidFill>
              </a:rPr>
              <a:t>Monday, July 6, 4 pm ET</a:t>
            </a: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r>
              <a:rPr lang="en-US">
                <a:solidFill>
                  <a:schemeClr val="tx1"/>
                </a:solidFill>
              </a:rPr>
              <a:t>Chinese Market will conduct a series of SIE tutorial sessions based on STC study material. All sessions will be conducted primarily in Mandarin Chinese and English. </a:t>
            </a: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endParaRPr lang="en-US">
              <a:solidFill>
                <a:schemeClr val="tx1"/>
              </a:solidFill>
            </a:endParaRPr>
          </a:p>
        </p:txBody>
      </p:sp>
      <p:sp>
        <p:nvSpPr>
          <p:cNvPr id="6" name="Rectangle 5">
            <a:extLst>
              <a:ext uri="{FF2B5EF4-FFF2-40B4-BE49-F238E27FC236}">
                <a16:creationId xmlns:a16="http://schemas.microsoft.com/office/drawing/2014/main" id="{4D7208B3-53AF-3BF2-A1A8-0EEF8F5F503E}"/>
              </a:ext>
            </a:extLst>
          </p:cNvPr>
          <p:cNvSpPr/>
          <p:nvPr/>
        </p:nvSpPr>
        <p:spPr bwMode="ltGray">
          <a:xfrm>
            <a:off x="6246343" y="4820094"/>
            <a:ext cx="5488452"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Isosceles Triangle 6">
            <a:extLst>
              <a:ext uri="{FF2B5EF4-FFF2-40B4-BE49-F238E27FC236}">
                <a16:creationId xmlns:a16="http://schemas.microsoft.com/office/drawing/2014/main" id="{57BC37D7-EDE5-D8D5-DD74-A4E5C720507B}"/>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8" name="TextBox 7">
            <a:extLst>
              <a:ext uri="{FF2B5EF4-FFF2-40B4-BE49-F238E27FC236}">
                <a16:creationId xmlns:a16="http://schemas.microsoft.com/office/drawing/2014/main" id="{9C16E1A6-2CDA-A802-FEE5-8139062F4A1D}"/>
              </a:ext>
            </a:extLst>
          </p:cNvPr>
          <p:cNvSpPr txBox="1"/>
          <p:nvPr/>
        </p:nvSpPr>
        <p:spPr>
          <a:xfrm>
            <a:off x="6652910" y="5123712"/>
            <a:ext cx="3358157"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Monthly SIE Study Group Sessions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965"/>
              </a:solidFill>
              <a:effectLst/>
              <a:uLnTx/>
              <a:uFillTx/>
              <a:latin typeface="Arial"/>
              <a:ea typeface="+mn-ea"/>
              <a:cs typeface="+mn-cs"/>
            </a:endParaRPr>
          </a:p>
        </p:txBody>
      </p:sp>
      <p:sp>
        <p:nvSpPr>
          <p:cNvPr id="9" name="Rectangle 8">
            <a:extLst>
              <a:ext uri="{FF2B5EF4-FFF2-40B4-BE49-F238E27FC236}">
                <a16:creationId xmlns:a16="http://schemas.microsoft.com/office/drawing/2014/main" id="{27E98B80-7557-E59F-A567-D80966DB553C}"/>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4">
            <a:extLst>
              <a:ext uri="{FF2B5EF4-FFF2-40B4-BE49-F238E27FC236}">
                <a16:creationId xmlns:a16="http://schemas.microsoft.com/office/drawing/2014/main" id="{2EAC52D3-2C4B-EA6C-9C2B-6A86C521D7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0721213" y="4898445"/>
            <a:ext cx="942975" cy="9429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BD680F16-BD40-7162-CF30-C3E90C058FA2}"/>
              </a:ext>
            </a:extLst>
          </p:cNvPr>
          <p:cNvPicPr>
            <a:picLocks noChangeAspect="1"/>
          </p:cNvPicPr>
          <p:nvPr/>
        </p:nvPicPr>
        <p:blipFill>
          <a:blip r:embed="rId4" cstate="print">
            <a:extLst>
              <a:ext uri="{28A0092B-C50C-407E-A947-70E740481C1C}">
                <a14:useLocalDpi xmlns:a14="http://schemas.microsoft.com/office/drawing/2010/main" val="0"/>
              </a:ext>
            </a:extLst>
          </a:blip>
          <a:srcRect t="6221" b="6221"/>
          <a:stretch/>
        </p:blipFill>
        <p:spPr>
          <a:xfrm>
            <a:off x="6284279" y="1546476"/>
            <a:ext cx="5450516" cy="3181999"/>
          </a:xfrm>
          <a:prstGeom prst="rect">
            <a:avLst/>
          </a:prstGeom>
        </p:spPr>
      </p:pic>
    </p:spTree>
    <p:extLst>
      <p:ext uri="{BB962C8B-B14F-4D97-AF65-F5344CB8AC3E}">
        <p14:creationId xmlns:p14="http://schemas.microsoft.com/office/powerpoint/2010/main" val="3170635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9E139-AC6F-897E-6504-36A5F0103BA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A908A21-86A5-41B8-90BC-F8D29F1E5107}"/>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25F33DE8-F48A-DD21-A904-C942BB301D5B}"/>
              </a:ext>
            </a:extLst>
          </p:cNvPr>
          <p:cNvSpPr>
            <a:spLocks noGrp="1"/>
          </p:cNvSpPr>
          <p:nvPr>
            <p:ph type="title"/>
          </p:nvPr>
        </p:nvSpPr>
        <p:spPr/>
        <p:txBody>
          <a:bodyPr/>
          <a:lstStyle/>
          <a:p>
            <a:r>
              <a:rPr lang="en-US">
                <a:latin typeface="Georgia"/>
              </a:rPr>
              <a:t>NYLIFE Securities Essentials Webinar</a:t>
            </a:r>
            <a:endParaRPr lang="en-US"/>
          </a:p>
        </p:txBody>
      </p:sp>
      <p:sp>
        <p:nvSpPr>
          <p:cNvPr id="4" name="Text Placeholder 3">
            <a:extLst>
              <a:ext uri="{FF2B5EF4-FFF2-40B4-BE49-F238E27FC236}">
                <a16:creationId xmlns:a16="http://schemas.microsoft.com/office/drawing/2014/main" id="{372DEA9A-5452-0418-BB07-F297E1BE2090}"/>
              </a:ext>
            </a:extLst>
          </p:cNvPr>
          <p:cNvSpPr>
            <a:spLocks noGrp="1"/>
          </p:cNvSpPr>
          <p:nvPr>
            <p:ph type="body" sz="quarter" idx="12"/>
          </p:nvPr>
        </p:nvSpPr>
        <p:spPr>
          <a:xfrm>
            <a:off x="439946" y="953242"/>
            <a:ext cx="11294854" cy="496033"/>
          </a:xfrm>
        </p:spPr>
        <p:txBody>
          <a:bodyPr/>
          <a:lstStyle/>
          <a:p>
            <a:r>
              <a:rPr lang="en-US">
                <a:cs typeface="Arial"/>
              </a:rPr>
              <a:t>"Introduction to </a:t>
            </a:r>
            <a:r>
              <a:rPr lang="en-US" err="1">
                <a:cs typeface="Arial"/>
              </a:rPr>
              <a:t>Wealthscape</a:t>
            </a:r>
            <a:r>
              <a:rPr lang="en-US">
                <a:cs typeface="Arial"/>
              </a:rPr>
              <a:t>"</a:t>
            </a:r>
            <a:endParaRPr lang="en-US" err="1"/>
          </a:p>
        </p:txBody>
      </p:sp>
      <p:sp>
        <p:nvSpPr>
          <p:cNvPr id="7" name="Rectangle 6">
            <a:extLst>
              <a:ext uri="{FF2B5EF4-FFF2-40B4-BE49-F238E27FC236}">
                <a16:creationId xmlns:a16="http://schemas.microsoft.com/office/drawing/2014/main" id="{16AC05F5-C1A3-7230-E3F7-4D44310E8281}"/>
              </a:ext>
            </a:extLst>
          </p:cNvPr>
          <p:cNvSpPr/>
          <p:nvPr/>
        </p:nvSpPr>
        <p:spPr bwMode="ltGray">
          <a:xfrm>
            <a:off x="7391395" y="4820094"/>
            <a:ext cx="4343400"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26CB9B0A-10C1-AADC-305B-989ADF6A017B}"/>
              </a:ext>
            </a:extLst>
          </p:cNvPr>
          <p:cNvSpPr/>
          <p:nvPr/>
        </p:nvSpPr>
        <p:spPr>
          <a:xfrm>
            <a:off x="7391400" y="1535039"/>
            <a:ext cx="4343400"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CD918BB2-0C40-2E3A-B87B-0635129754F6}"/>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18D82D59-732A-67BC-F09D-C0848022D4DD}"/>
              </a:ext>
            </a:extLst>
          </p:cNvPr>
          <p:cNvSpPr txBox="1"/>
          <p:nvPr/>
        </p:nvSpPr>
        <p:spPr>
          <a:xfrm>
            <a:off x="7716137" y="5000601"/>
            <a:ext cx="2048126"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this event or webinar</a:t>
            </a:r>
            <a:r>
              <a:rPr kumimoji="0" lang="en-US" sz="1600" b="0" i="0" u="none" strike="noStrike" kern="1200" cap="none" spc="0" normalizeH="0" baseline="0" noProof="0">
                <a:ln>
                  <a:noFill/>
                </a:ln>
                <a:solidFill>
                  <a:srgbClr val="7FB9FF"/>
                </a:solidFill>
                <a:effectLst/>
                <a:uLnTx/>
                <a:uFillTx/>
                <a:latin typeface="Arial"/>
                <a:ea typeface="+mn-ea"/>
                <a:cs typeface="+mn-cs"/>
              </a:rPr>
              <a:t>. </a:t>
            </a:r>
          </a:p>
        </p:txBody>
      </p:sp>
      <p:sp>
        <p:nvSpPr>
          <p:cNvPr id="15" name="Rectangle 14">
            <a:extLst>
              <a:ext uri="{FF2B5EF4-FFF2-40B4-BE49-F238E27FC236}">
                <a16:creationId xmlns:a16="http://schemas.microsoft.com/office/drawing/2014/main" id="{1639C18B-DE97-68B7-5192-737C70C06FF2}"/>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Add </a:t>
            </a:r>
            <a:br>
              <a:rPr kumimoji="0" lang="en-US" sz="1600" b="0" i="0" u="none" strike="noStrike" kern="1200" cap="none" spc="0" normalizeH="0" baseline="0" noProof="0">
                <a:ln>
                  <a:noFill/>
                </a:ln>
                <a:solidFill>
                  <a:srgbClr val="000000"/>
                </a:solidFill>
                <a:effectLst/>
                <a:uLnTx/>
                <a:uFillTx/>
                <a:latin typeface="Arial"/>
                <a:ea typeface="+mn-ea"/>
                <a:cs typeface="+mn-cs"/>
              </a:rPr>
            </a:br>
            <a:r>
              <a:rPr kumimoji="0" lang="en-US" sz="1600" b="0" i="0" u="none" strike="noStrike" kern="1200" cap="none" spc="0" normalizeH="0" baseline="0" noProof="0">
                <a:ln>
                  <a:noFill/>
                </a:ln>
                <a:solidFill>
                  <a:srgbClr val="000000"/>
                </a:solidFill>
                <a:effectLst/>
                <a:uLnTx/>
                <a:uFillTx/>
                <a:latin typeface="Arial"/>
                <a:ea typeface="+mn-ea"/>
                <a:cs typeface="+mn-cs"/>
              </a:rPr>
              <a:t>QR code here</a:t>
            </a:r>
          </a:p>
        </p:txBody>
      </p:sp>
      <p:sp>
        <p:nvSpPr>
          <p:cNvPr id="16" name="TextBox 15">
            <a:extLst>
              <a:ext uri="{FF2B5EF4-FFF2-40B4-BE49-F238E27FC236}">
                <a16:creationId xmlns:a16="http://schemas.microsoft.com/office/drawing/2014/main" id="{AA3EC8B2-8E9B-B397-6467-F95967E41B1E}"/>
              </a:ext>
            </a:extLst>
          </p:cNvPr>
          <p:cNvSpPr txBox="1"/>
          <p:nvPr/>
        </p:nvSpPr>
        <p:spPr>
          <a:xfrm>
            <a:off x="7402287" y="1541055"/>
            <a:ext cx="4325112"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speakers</a:t>
            </a:r>
          </a:p>
        </p:txBody>
      </p:sp>
      <p:sp>
        <p:nvSpPr>
          <p:cNvPr id="26" name="TextBox 25">
            <a:extLst>
              <a:ext uri="{FF2B5EF4-FFF2-40B4-BE49-F238E27FC236}">
                <a16:creationId xmlns:a16="http://schemas.microsoft.com/office/drawing/2014/main" id="{749580FE-1218-1306-1514-DB64F0D4A128}"/>
              </a:ext>
            </a:extLst>
          </p:cNvPr>
          <p:cNvSpPr txBox="1"/>
          <p:nvPr/>
        </p:nvSpPr>
        <p:spPr>
          <a:xfrm>
            <a:off x="7686364" y="3966616"/>
            <a:ext cx="1653064" cy="630942"/>
          </a:xfrm>
          <a:prstGeom prst="rect">
            <a:avLst/>
          </a:prstGeom>
          <a:noFill/>
        </p:spPr>
        <p:txBody>
          <a:bodyPr wrap="square" lIns="0" tIns="0" rIns="0" bIns="0" rtlCol="0" anchor="ctr">
            <a:spAutoFit/>
          </a:bodyPr>
          <a:lstStyle/>
          <a:p>
            <a:pPr algn="ctr">
              <a:spcBef>
                <a:spcPts val="300"/>
              </a:spcBef>
              <a:defRPr/>
            </a:pPr>
            <a:r>
              <a:rPr lang="en-IN" sz="1200" b="1">
                <a:solidFill>
                  <a:srgbClr val="000965"/>
                </a:solidFill>
                <a:latin typeface="Arial"/>
              </a:rPr>
              <a:t>Samir Parikh</a:t>
            </a:r>
            <a:endParaRPr kumimoji="0" lang="en-IN" sz="1200" b="1" i="0" u="none" strike="noStrike" kern="1200" cap="none" spc="0" normalizeH="0" baseline="0" noProof="0">
              <a:ln>
                <a:noFill/>
              </a:ln>
              <a:solidFill>
                <a:srgbClr val="000965"/>
              </a:solidFill>
              <a:effectLst/>
              <a:uLnTx/>
              <a:uFillTx/>
              <a:latin typeface="Arial"/>
              <a:ea typeface="+mn-ea"/>
              <a:cs typeface="+mn-cs"/>
            </a:endParaRPr>
          </a:p>
          <a:p>
            <a:pPr algn="ctr">
              <a:spcBef>
                <a:spcPts val="300"/>
              </a:spcBef>
              <a:defRPr/>
            </a:pPr>
            <a:r>
              <a:rPr lang="en-IN" sz="1200">
                <a:solidFill>
                  <a:srgbClr val="000965"/>
                </a:solidFill>
                <a:latin typeface="Arial"/>
              </a:rPr>
              <a:t> Investor Relations</a:t>
            </a:r>
          </a:p>
          <a:p>
            <a:pPr algn="ctr">
              <a:spcBef>
                <a:spcPts val="300"/>
              </a:spcBef>
              <a:defRPr/>
            </a:pPr>
            <a:r>
              <a:rPr lang="en-IN" sz="1200">
                <a:solidFill>
                  <a:srgbClr val="000965"/>
                </a:solidFill>
                <a:latin typeface="Arial"/>
                <a:cs typeface="Arial"/>
              </a:rPr>
              <a:t>NYLIFE Securities</a:t>
            </a:r>
          </a:p>
        </p:txBody>
      </p:sp>
      <p:sp>
        <p:nvSpPr>
          <p:cNvPr id="27" name="TextBox 26">
            <a:extLst>
              <a:ext uri="{FF2B5EF4-FFF2-40B4-BE49-F238E27FC236}">
                <a16:creationId xmlns:a16="http://schemas.microsoft.com/office/drawing/2014/main" id="{121ADAAE-4BEA-B525-8382-28F23C4DA2BB}"/>
              </a:ext>
            </a:extLst>
          </p:cNvPr>
          <p:cNvSpPr txBox="1"/>
          <p:nvPr/>
        </p:nvSpPr>
        <p:spPr>
          <a:xfrm>
            <a:off x="9757119" y="3966616"/>
            <a:ext cx="1653064" cy="630942"/>
          </a:xfrm>
          <a:prstGeom prst="rect">
            <a:avLst/>
          </a:prstGeom>
          <a:noFill/>
        </p:spPr>
        <p:txBody>
          <a:bodyPr wrap="square" lIns="0" tIns="0" rIns="0" bIns="0" rtlCol="0" anchor="ctr">
            <a:spAutoFit/>
          </a:bodyPr>
          <a:lstStyle/>
          <a:p>
            <a:pPr algn="ctr">
              <a:spcBef>
                <a:spcPts val="300"/>
              </a:spcBef>
              <a:defRPr/>
            </a:pPr>
            <a:r>
              <a:rPr lang="en-IN" sz="1200" b="1">
                <a:solidFill>
                  <a:srgbClr val="000965"/>
                </a:solidFill>
                <a:latin typeface="Arial"/>
              </a:rPr>
              <a:t>Brian Davis</a:t>
            </a:r>
            <a:endParaRPr lang="en-US">
              <a:ea typeface="+mn-ea"/>
              <a:cs typeface="+mn-cs"/>
            </a:endParaRPr>
          </a:p>
          <a:p>
            <a:pPr marL="0" marR="0" lvl="0" indent="0" algn="ctr" defTabSz="914400">
              <a:lnSpc>
                <a:spcPct val="100000"/>
              </a:lnSpc>
              <a:spcBef>
                <a:spcPts val="300"/>
              </a:spcBef>
              <a:spcAft>
                <a:spcPts val="0"/>
              </a:spcAft>
              <a:buNone/>
              <a:tabLst/>
              <a:defRPr/>
            </a:pPr>
            <a:r>
              <a:rPr lang="en-IN" sz="1200">
                <a:solidFill>
                  <a:srgbClr val="000965"/>
                </a:solidFill>
                <a:latin typeface="Arial"/>
              </a:rPr>
              <a:t>Product</a:t>
            </a:r>
          </a:p>
          <a:p>
            <a:pPr algn="ctr">
              <a:spcBef>
                <a:spcPts val="300"/>
              </a:spcBef>
              <a:defRPr/>
            </a:pPr>
            <a:r>
              <a:rPr lang="en-IN" sz="1200">
                <a:solidFill>
                  <a:srgbClr val="000965"/>
                </a:solidFill>
                <a:cs typeface="Arial"/>
              </a:rPr>
              <a:t>NYLIFE Securities</a:t>
            </a:r>
          </a:p>
        </p:txBody>
      </p:sp>
      <p:pic>
        <p:nvPicPr>
          <p:cNvPr id="30" name="Picture 29">
            <a:extLst>
              <a:ext uri="{FF2B5EF4-FFF2-40B4-BE49-F238E27FC236}">
                <a16:creationId xmlns:a16="http://schemas.microsoft.com/office/drawing/2014/main" id="{F45FF371-68CF-DED4-99D4-FA3A5A51EA1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688425" y="2067259"/>
            <a:ext cx="1645920" cy="1828800"/>
          </a:xfrm>
          <a:prstGeom prst="rect">
            <a:avLst/>
          </a:prstGeom>
        </p:spPr>
      </p:pic>
      <p:pic>
        <p:nvPicPr>
          <p:cNvPr id="31" name="Picture 30">
            <a:extLst>
              <a:ext uri="{FF2B5EF4-FFF2-40B4-BE49-F238E27FC236}">
                <a16:creationId xmlns:a16="http://schemas.microsoft.com/office/drawing/2014/main" id="{E8BA9169-4BAC-2214-97C0-A57FA654D81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764263" y="2067259"/>
            <a:ext cx="1645920" cy="1828800"/>
          </a:xfrm>
          <a:prstGeom prst="rect">
            <a:avLst/>
          </a:prstGeom>
        </p:spPr>
      </p:pic>
      <p:sp>
        <p:nvSpPr>
          <p:cNvPr id="6" name="Rectangle 5">
            <a:extLst>
              <a:ext uri="{FF2B5EF4-FFF2-40B4-BE49-F238E27FC236}">
                <a16:creationId xmlns:a16="http://schemas.microsoft.com/office/drawing/2014/main" id="{F2BAA0B4-6883-B405-9FA5-7AF18126FA89}"/>
              </a:ext>
            </a:extLst>
          </p:cNvPr>
          <p:cNvSpPr/>
          <p:nvPr/>
        </p:nvSpPr>
        <p:spPr bwMode="ltGray">
          <a:xfrm>
            <a:off x="457199" y="1535039"/>
            <a:ext cx="4955027"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0F0C7B4D-6E36-0C92-A2E4-EFF26DE453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91414743-F651-64C6-CA45-21C774F76C47}"/>
              </a:ext>
            </a:extLst>
          </p:cNvPr>
          <p:cNvSpPr txBox="1"/>
          <p:nvPr/>
        </p:nvSpPr>
        <p:spPr>
          <a:xfrm>
            <a:off x="1512438" y="1678125"/>
            <a:ext cx="3899788" cy="553998"/>
          </a:xfrm>
          <a:prstGeom prst="rect">
            <a:avLst/>
          </a:prstGeom>
          <a:noFill/>
        </p:spPr>
        <p:txBody>
          <a:bodyPr wrap="square" lIns="0" tIns="0" rIns="0" bIns="0" anchor="t">
            <a:spAutoFit/>
          </a:bodyPr>
          <a:lstStyle/>
          <a:p>
            <a:pPr>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lang="en-US" b="1">
                <a:solidFill>
                  <a:srgbClr val="FFFFFF"/>
                </a:solidFill>
                <a:latin typeface="Arial"/>
              </a:rPr>
              <a:t>Wed., July 15, 2026 </a:t>
            </a:r>
            <a:br>
              <a:rPr lang="en-US" sz="1800" b="0" i="0" u="none" strike="noStrike" kern="1200" cap="none" spc="0" normalizeH="0" baseline="0" noProof="0">
                <a:ln>
                  <a:noFill/>
                </a:ln>
                <a:effectLst/>
                <a:uLnTx/>
                <a:uFillTx/>
                <a:latin typeface="Arial"/>
              </a:rPr>
            </a:br>
            <a:r>
              <a:rPr kumimoji="0" lang="en-US" sz="1800" b="0" i="0" u="none" strike="noStrike" kern="1200" cap="none" spc="0" normalizeH="0" baseline="0" noProof="0">
                <a:ln>
                  <a:noFill/>
                </a:ln>
                <a:solidFill>
                  <a:srgbClr val="FFFFFF"/>
                </a:solidFill>
                <a:effectLst/>
                <a:uLnTx/>
                <a:uFillTx/>
                <a:latin typeface="Arial"/>
                <a:ea typeface="+mn-ea"/>
                <a:cs typeface="+mn-cs"/>
              </a:rPr>
              <a:t>Time: </a:t>
            </a:r>
            <a:r>
              <a:rPr lang="en-US" b="1">
                <a:solidFill>
                  <a:srgbClr val="FFFFFF"/>
                </a:solidFill>
                <a:latin typeface="Arial"/>
              </a:rPr>
              <a:t>2</a:t>
            </a:r>
            <a:r>
              <a:rPr kumimoji="0" lang="en-US" sz="1800" b="1" i="0" u="none" strike="noStrike" kern="1200" cap="none" spc="0" normalizeH="0" baseline="0" noProof="0">
                <a:ln>
                  <a:noFill/>
                </a:ln>
                <a:solidFill>
                  <a:srgbClr val="FFFFFF"/>
                </a:solidFill>
                <a:effectLst/>
                <a:uLnTx/>
                <a:uFillTx/>
                <a:latin typeface="Arial"/>
                <a:ea typeface="+mn-ea"/>
                <a:cs typeface="+mn-cs"/>
              </a:rPr>
              <a:t> </a:t>
            </a:r>
            <a:r>
              <a:rPr lang="en-US" b="1">
                <a:solidFill>
                  <a:srgbClr val="FFFFFF"/>
                </a:solidFill>
                <a:latin typeface="Arial"/>
              </a:rPr>
              <a:t>pm</a:t>
            </a:r>
            <a:r>
              <a:rPr kumimoji="0" lang="en-US" sz="1800" b="1" i="0" u="none" strike="noStrike" kern="1200" cap="none" spc="0" normalizeH="0" baseline="0" noProof="0">
                <a:ln>
                  <a:noFill/>
                </a:ln>
                <a:solidFill>
                  <a:srgbClr val="FFFFFF"/>
                </a:solidFill>
                <a:effectLst/>
                <a:uLnTx/>
                <a:uFillTx/>
                <a:latin typeface="Arial"/>
                <a:ea typeface="+mn-ea"/>
                <a:cs typeface="+mn-cs"/>
              </a:rPr>
              <a:t>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
        <p:nvSpPr>
          <p:cNvPr id="17" name="Content Placeholder 2">
            <a:extLst>
              <a:ext uri="{FF2B5EF4-FFF2-40B4-BE49-F238E27FC236}">
                <a16:creationId xmlns:a16="http://schemas.microsoft.com/office/drawing/2014/main" id="{AB933FB7-9815-99D1-0F4C-B1771B80635D}"/>
              </a:ext>
            </a:extLst>
          </p:cNvPr>
          <p:cNvSpPr>
            <a:spLocks noGrp="1"/>
          </p:cNvSpPr>
          <p:nvPr>
            <p:ph idx="1"/>
          </p:nvPr>
        </p:nvSpPr>
        <p:spPr>
          <a:xfrm>
            <a:off x="457199" y="2638782"/>
            <a:ext cx="4961925" cy="3354536"/>
          </a:xfrm>
        </p:spPr>
        <p:txBody>
          <a:bodyPr/>
          <a:lstStyle/>
          <a:p>
            <a:pPr marL="0" indent="0">
              <a:buNone/>
            </a:pPr>
            <a:r>
              <a:rPr lang="en-US">
                <a:latin typeface="Arial"/>
                <a:cs typeface="Arial"/>
              </a:rPr>
              <a:t>Join Product Experts to learn how to navigate </a:t>
            </a:r>
            <a:r>
              <a:rPr lang="en-US" err="1">
                <a:latin typeface="Arial"/>
                <a:cs typeface="Arial"/>
              </a:rPr>
              <a:t>Wealthscape's</a:t>
            </a:r>
            <a:r>
              <a:rPr lang="en-US">
                <a:latin typeface="Arial"/>
                <a:cs typeface="Arial"/>
              </a:rPr>
              <a:t> basic features and tools to effectively service your clients' brokerage accounts. Live Q&amp;A included.</a:t>
            </a:r>
            <a:endParaRPr lang="en-US"/>
          </a:p>
          <a:p>
            <a:pPr marL="457200"/>
            <a:endParaRPr lang="en-US" sz="1800"/>
          </a:p>
          <a:p>
            <a:endParaRPr lang="en-US"/>
          </a:p>
          <a:p>
            <a:pPr marL="0" indent="0">
              <a:buNone/>
            </a:pPr>
            <a:endParaRPr lang="en-US"/>
          </a:p>
          <a:p>
            <a:pPr marL="0" indent="0">
              <a:buNone/>
            </a:pPr>
            <a:endParaRPr lang="en-US"/>
          </a:p>
        </p:txBody>
      </p:sp>
      <p:pic>
        <p:nvPicPr>
          <p:cNvPr id="11" name="Picture 10" descr="A screenshot of a computer&#10;&#10;Description automatically generated">
            <a:extLst>
              <a:ext uri="{FF2B5EF4-FFF2-40B4-BE49-F238E27FC236}">
                <a16:creationId xmlns:a16="http://schemas.microsoft.com/office/drawing/2014/main" id="{5C25CF85-5FD8-F923-32ED-9D16742B65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0112" y="2047186"/>
            <a:ext cx="1696326" cy="185648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A person in a suit and tie&#10;&#10;AI-generated content may be incorrect.">
            <a:extLst>
              <a:ext uri="{FF2B5EF4-FFF2-40B4-BE49-F238E27FC236}">
                <a16:creationId xmlns:a16="http://schemas.microsoft.com/office/drawing/2014/main" id="{04E5033C-F59B-1805-FF82-B7D74085E680}"/>
              </a:ext>
            </a:extLst>
          </p:cNvPr>
          <p:cNvPicPr>
            <a:picLocks noChangeAspect="1"/>
          </p:cNvPicPr>
          <p:nvPr/>
        </p:nvPicPr>
        <p:blipFill>
          <a:blip r:embed="rId6"/>
          <a:srcRect l="11251" r="16005"/>
          <a:stretch>
            <a:fillRect/>
          </a:stretch>
        </p:blipFill>
        <p:spPr>
          <a:xfrm>
            <a:off x="9759753" y="2053398"/>
            <a:ext cx="1655981" cy="1843016"/>
          </a:xfrm>
          <a:prstGeom prst="rect">
            <a:avLst/>
          </a:prstGeom>
        </p:spPr>
      </p:pic>
      <p:pic>
        <p:nvPicPr>
          <p:cNvPr id="20" name="Picture 19" descr="A qr code with a few black squares&#10;&#10;AI-generated content may be incorrect.">
            <a:extLst>
              <a:ext uri="{FF2B5EF4-FFF2-40B4-BE49-F238E27FC236}">
                <a16:creationId xmlns:a16="http://schemas.microsoft.com/office/drawing/2014/main" id="{08D1053F-E302-9C50-95BB-F228CFBC393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34905" y="4809096"/>
            <a:ext cx="1089154" cy="1110925"/>
          </a:xfrm>
          <a:prstGeom prst="rect">
            <a:avLst/>
          </a:prstGeom>
        </p:spPr>
      </p:pic>
    </p:spTree>
    <p:extLst>
      <p:ext uri="{BB962C8B-B14F-4D97-AF65-F5344CB8AC3E}">
        <p14:creationId xmlns:p14="http://schemas.microsoft.com/office/powerpoint/2010/main" val="2270836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AA4D2-EB40-5EAC-44B8-F2307152B74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5EBAC7E-3C07-9FDE-15FF-F05EC1F7DFEA}"/>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2299052A-E8D3-0F22-A2C5-862C9A298E5E}"/>
              </a:ext>
            </a:extLst>
          </p:cNvPr>
          <p:cNvSpPr>
            <a:spLocks noGrp="1"/>
          </p:cNvSpPr>
          <p:nvPr>
            <p:ph type="title"/>
          </p:nvPr>
        </p:nvSpPr>
        <p:spPr/>
        <p:txBody>
          <a:bodyPr/>
          <a:lstStyle/>
          <a:p>
            <a:r>
              <a:rPr lang="en-US">
                <a:latin typeface="Georgia"/>
              </a:rPr>
              <a:t>Join us July 8 for the new agent educational call</a:t>
            </a:r>
          </a:p>
        </p:txBody>
      </p:sp>
      <p:sp>
        <p:nvSpPr>
          <p:cNvPr id="4" name="Text Placeholder 3">
            <a:extLst>
              <a:ext uri="{FF2B5EF4-FFF2-40B4-BE49-F238E27FC236}">
                <a16:creationId xmlns:a16="http://schemas.microsoft.com/office/drawing/2014/main" id="{C78D961D-F860-D984-1ADA-BEDADE68AC5D}"/>
              </a:ext>
            </a:extLst>
          </p:cNvPr>
          <p:cNvSpPr>
            <a:spLocks noGrp="1"/>
          </p:cNvSpPr>
          <p:nvPr>
            <p:ph type="body" sz="quarter" idx="12"/>
          </p:nvPr>
        </p:nvSpPr>
        <p:spPr>
          <a:xfrm>
            <a:off x="439946" y="953242"/>
            <a:ext cx="11294854" cy="496033"/>
          </a:xfrm>
        </p:spPr>
        <p:txBody>
          <a:bodyPr/>
          <a:lstStyle/>
          <a:p>
            <a:r>
              <a:rPr lang="en-US">
                <a:cs typeface="Arial"/>
              </a:rPr>
              <a:t>How to present solutions and handle objections</a:t>
            </a:r>
          </a:p>
        </p:txBody>
      </p:sp>
      <p:sp>
        <p:nvSpPr>
          <p:cNvPr id="7" name="Rectangle 6">
            <a:extLst>
              <a:ext uri="{FF2B5EF4-FFF2-40B4-BE49-F238E27FC236}">
                <a16:creationId xmlns:a16="http://schemas.microsoft.com/office/drawing/2014/main" id="{32C3B3E2-3757-5A12-A4CD-ED3C3736BE7E}"/>
              </a:ext>
            </a:extLst>
          </p:cNvPr>
          <p:cNvSpPr/>
          <p:nvPr/>
        </p:nvSpPr>
        <p:spPr bwMode="ltGray">
          <a:xfrm>
            <a:off x="7391395" y="4820094"/>
            <a:ext cx="4343400"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3E74977C-8155-9FDC-948E-F97BE9DBAEB9}"/>
              </a:ext>
            </a:extLst>
          </p:cNvPr>
          <p:cNvSpPr/>
          <p:nvPr/>
        </p:nvSpPr>
        <p:spPr>
          <a:xfrm>
            <a:off x="7391400" y="1535039"/>
            <a:ext cx="4343400"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17E116DD-4E88-0B95-5BCD-B423969DFE91}"/>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C9E596F7-56DB-C365-62BB-0D68E001CA98}"/>
              </a:ext>
            </a:extLst>
          </p:cNvPr>
          <p:cNvSpPr txBox="1"/>
          <p:nvPr/>
        </p:nvSpPr>
        <p:spPr>
          <a:xfrm>
            <a:off x="7716137" y="5000601"/>
            <a:ext cx="2048126"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this event or webinar</a:t>
            </a:r>
            <a:r>
              <a:rPr kumimoji="0" lang="en-US" sz="1600" b="0" i="0" u="none" strike="noStrike" kern="1200" cap="none" spc="0" normalizeH="0" baseline="0" noProof="0">
                <a:ln>
                  <a:noFill/>
                </a:ln>
                <a:solidFill>
                  <a:srgbClr val="7FB9FF"/>
                </a:solidFill>
                <a:effectLst/>
                <a:uLnTx/>
                <a:uFillTx/>
                <a:latin typeface="Arial"/>
                <a:ea typeface="+mn-ea"/>
                <a:cs typeface="+mn-cs"/>
              </a:rPr>
              <a:t>. </a:t>
            </a:r>
          </a:p>
        </p:txBody>
      </p:sp>
      <p:sp>
        <p:nvSpPr>
          <p:cNvPr id="16" name="TextBox 15">
            <a:extLst>
              <a:ext uri="{FF2B5EF4-FFF2-40B4-BE49-F238E27FC236}">
                <a16:creationId xmlns:a16="http://schemas.microsoft.com/office/drawing/2014/main" id="{7A40866E-8861-E9EA-3C4C-AA78EB11F2B6}"/>
              </a:ext>
            </a:extLst>
          </p:cNvPr>
          <p:cNvSpPr txBox="1"/>
          <p:nvPr/>
        </p:nvSpPr>
        <p:spPr>
          <a:xfrm>
            <a:off x="7402287" y="1541055"/>
            <a:ext cx="4325112"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speakers</a:t>
            </a:r>
          </a:p>
        </p:txBody>
      </p:sp>
      <p:sp>
        <p:nvSpPr>
          <p:cNvPr id="26" name="TextBox 25">
            <a:extLst>
              <a:ext uri="{FF2B5EF4-FFF2-40B4-BE49-F238E27FC236}">
                <a16:creationId xmlns:a16="http://schemas.microsoft.com/office/drawing/2014/main" id="{8A7C5B8C-258A-56BD-01B3-B5C8F16ABE17}"/>
              </a:ext>
            </a:extLst>
          </p:cNvPr>
          <p:cNvSpPr txBox="1"/>
          <p:nvPr/>
        </p:nvSpPr>
        <p:spPr>
          <a:xfrm>
            <a:off x="7536007" y="3941758"/>
            <a:ext cx="2110270" cy="738664"/>
          </a:xfrm>
          <a:prstGeom prst="rect">
            <a:avLst/>
          </a:prstGeom>
          <a:noFill/>
        </p:spPr>
        <p:txBody>
          <a:bodyPr wrap="square" lIns="0" tIns="0" rIns="0" bIns="0" rtlCol="0" anchor="ctr">
            <a:spAutoFit/>
          </a:bodyPr>
          <a:lstStyle/>
          <a:p>
            <a:pPr algn="ctr"/>
            <a:r>
              <a:rPr lang="en-US" sz="1200" b="1"/>
              <a:t>Lyndsey Jackson, </a:t>
            </a:r>
            <a:r>
              <a:rPr lang="en-US" sz="1200"/>
              <a:t>MBA </a:t>
            </a:r>
          </a:p>
          <a:p>
            <a:pPr algn="ctr"/>
            <a:r>
              <a:rPr lang="en-US" sz="1200"/>
              <a:t>RICP</a:t>
            </a:r>
            <a:r>
              <a:rPr lang="en-US" sz="1200" baseline="30000"/>
              <a:t>®</a:t>
            </a:r>
            <a:r>
              <a:rPr lang="en-US" sz="1200"/>
              <a:t>, ChFC</a:t>
            </a:r>
            <a:r>
              <a:rPr lang="en-US" sz="1200" baseline="30000"/>
              <a:t>®</a:t>
            </a:r>
            <a:r>
              <a:rPr lang="en-US" sz="1200"/>
              <a:t>, CLU</a:t>
            </a:r>
            <a:r>
              <a:rPr lang="en-US" sz="1200" baseline="30000"/>
              <a:t>®</a:t>
            </a:r>
            <a:r>
              <a:rPr lang="en-US" sz="1200"/>
              <a:t>, CLTC</a:t>
            </a:r>
            <a:r>
              <a:rPr lang="en-US" sz="1200" baseline="30000"/>
              <a:t>®</a:t>
            </a:r>
            <a:br>
              <a:rPr lang="en-US" sz="1200"/>
            </a:br>
            <a:r>
              <a:rPr lang="en-US" sz="1200"/>
              <a:t>Senior Associate</a:t>
            </a:r>
          </a:p>
          <a:p>
            <a:pPr algn="ctr"/>
            <a:r>
              <a:rPr lang="en-US" sz="1200"/>
              <a:t>National Development Faculty​</a:t>
            </a:r>
            <a:endParaRPr lang="en-US" sz="1200">
              <a:cs typeface="Arial"/>
            </a:endParaRPr>
          </a:p>
        </p:txBody>
      </p:sp>
      <p:sp>
        <p:nvSpPr>
          <p:cNvPr id="27" name="TextBox 26">
            <a:extLst>
              <a:ext uri="{FF2B5EF4-FFF2-40B4-BE49-F238E27FC236}">
                <a16:creationId xmlns:a16="http://schemas.microsoft.com/office/drawing/2014/main" id="{4BE257E5-1155-9772-A569-7CE32F609312}"/>
              </a:ext>
            </a:extLst>
          </p:cNvPr>
          <p:cNvSpPr txBox="1"/>
          <p:nvPr/>
        </p:nvSpPr>
        <p:spPr>
          <a:xfrm>
            <a:off x="9646277" y="3962130"/>
            <a:ext cx="1977675" cy="553998"/>
          </a:xfrm>
          <a:prstGeom prst="rect">
            <a:avLst/>
          </a:prstGeom>
          <a:noFill/>
        </p:spPr>
        <p:txBody>
          <a:bodyPr wrap="square" lIns="0" tIns="0" rIns="0" bIns="0" rtlCol="0" anchor="ctr">
            <a:spAutoFit/>
          </a:bodyPr>
          <a:lstStyle/>
          <a:p>
            <a:pPr algn="ctr"/>
            <a:r>
              <a:rPr lang="en-US" sz="1200" b="1"/>
              <a:t>Nicola (Nick) D’Ambrosio</a:t>
            </a:r>
          </a:p>
          <a:p>
            <a:pPr algn="ctr"/>
            <a:r>
              <a:rPr lang="en-US" sz="1200"/>
              <a:t>Registered Representative</a:t>
            </a:r>
          </a:p>
          <a:p>
            <a:pPr algn="ctr"/>
            <a:r>
              <a:rPr lang="en-US" sz="1200"/>
              <a:t>Nassau GO</a:t>
            </a:r>
            <a:endParaRPr kumimoji="0" lang="en-IN" sz="1200" b="0" i="0" u="none" strike="noStrike" kern="1200" cap="none" spc="0" normalizeH="0" baseline="0" noProof="0">
              <a:ln>
                <a:noFill/>
              </a:ln>
              <a:solidFill>
                <a:srgbClr val="000965"/>
              </a:solidFill>
              <a:effectLst/>
              <a:uLnTx/>
              <a:uFillTx/>
              <a:latin typeface="Arial"/>
              <a:ea typeface="+mn-ea"/>
              <a:cs typeface="+mn-cs"/>
            </a:endParaRPr>
          </a:p>
        </p:txBody>
      </p:sp>
      <p:sp>
        <p:nvSpPr>
          <p:cNvPr id="6" name="Rectangle 5">
            <a:extLst>
              <a:ext uri="{FF2B5EF4-FFF2-40B4-BE49-F238E27FC236}">
                <a16:creationId xmlns:a16="http://schemas.microsoft.com/office/drawing/2014/main" id="{59A0BF9C-C95A-D69F-696A-7C96380F18DE}"/>
              </a:ext>
            </a:extLst>
          </p:cNvPr>
          <p:cNvSpPr/>
          <p:nvPr/>
        </p:nvSpPr>
        <p:spPr bwMode="ltGray">
          <a:xfrm>
            <a:off x="328613" y="1783055"/>
            <a:ext cx="4955027"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4880AD43-095B-5375-8C83-D3A73711DC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7725" y="1948912"/>
            <a:ext cx="508694" cy="508456"/>
          </a:xfrm>
          <a:prstGeom prst="rect">
            <a:avLst/>
          </a:prstGeom>
        </p:spPr>
      </p:pic>
      <p:sp>
        <p:nvSpPr>
          <p:cNvPr id="10" name="TextBox 9">
            <a:extLst>
              <a:ext uri="{FF2B5EF4-FFF2-40B4-BE49-F238E27FC236}">
                <a16:creationId xmlns:a16="http://schemas.microsoft.com/office/drawing/2014/main" id="{50982CD1-1579-7787-25DE-9979136DD8EE}"/>
              </a:ext>
            </a:extLst>
          </p:cNvPr>
          <p:cNvSpPr txBox="1"/>
          <p:nvPr/>
        </p:nvSpPr>
        <p:spPr>
          <a:xfrm>
            <a:off x="1383852" y="1926141"/>
            <a:ext cx="3899788" cy="55399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Wednesday, July 8, 2026</a:t>
            </a:r>
            <a:br>
              <a:rPr lang="en-US" sz="1800" b="0" i="0" u="none" strike="noStrike" kern="1200" cap="none" spc="0" normalizeH="0" baseline="0" noProof="0">
                <a:ln>
                  <a:noFill/>
                </a:ln>
                <a:effectLst/>
                <a:uLnTx/>
                <a:uFillTx/>
                <a:latin typeface="Arial"/>
              </a:rPr>
            </a:br>
            <a:r>
              <a:rPr kumimoji="0" lang="en-US" sz="1800" b="0" i="0" u="none" strike="noStrike" kern="1200" cap="none" spc="0" normalizeH="0" baseline="0" noProof="0">
                <a:ln>
                  <a:noFill/>
                </a:ln>
                <a:solidFill>
                  <a:srgbClr val="FFFFFF"/>
                </a:solidFill>
                <a:effectLst/>
                <a:uLnTx/>
                <a:uFillTx/>
                <a:latin typeface="Arial"/>
                <a:ea typeface="+mn-ea"/>
                <a:cs typeface="+mn-cs"/>
              </a:rPr>
              <a:t>Time: </a:t>
            </a:r>
            <a:r>
              <a:rPr lang="en-US" b="1">
                <a:solidFill>
                  <a:srgbClr val="FFFFFF"/>
                </a:solidFill>
                <a:latin typeface="Arial"/>
              </a:rPr>
              <a:t>1</a:t>
            </a:r>
            <a:r>
              <a:rPr kumimoji="0" lang="en-US" sz="1800" b="1" i="0" u="none" strike="noStrike" kern="1200" cap="none" spc="0" normalizeH="0" baseline="0" noProof="0">
                <a:ln>
                  <a:noFill/>
                </a:ln>
                <a:solidFill>
                  <a:srgbClr val="FFFFFF"/>
                </a:solidFill>
                <a:effectLst/>
                <a:uLnTx/>
                <a:uFillTx/>
                <a:latin typeface="Arial"/>
                <a:ea typeface="+mn-ea"/>
                <a:cs typeface="+mn-cs"/>
              </a:rPr>
              <a:t> </a:t>
            </a:r>
            <a:r>
              <a:rPr lang="en-US" b="1">
                <a:solidFill>
                  <a:srgbClr val="FFFFFF"/>
                </a:solidFill>
                <a:latin typeface="Arial"/>
              </a:rPr>
              <a:t>pm</a:t>
            </a:r>
            <a:r>
              <a:rPr kumimoji="0" lang="en-US" sz="1800" b="1" i="0" u="none" strike="noStrike" kern="1200" cap="none" spc="0" normalizeH="0" baseline="0" noProof="0">
                <a:ln>
                  <a:noFill/>
                </a:ln>
                <a:solidFill>
                  <a:srgbClr val="FFFFFF"/>
                </a:solidFill>
                <a:effectLst/>
                <a:uLnTx/>
                <a:uFillTx/>
                <a:latin typeface="Arial"/>
                <a:ea typeface="+mn-ea"/>
                <a:cs typeface="+mn-cs"/>
              </a:rPr>
              <a:t>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
        <p:nvSpPr>
          <p:cNvPr id="17" name="Content Placeholder 2">
            <a:extLst>
              <a:ext uri="{FF2B5EF4-FFF2-40B4-BE49-F238E27FC236}">
                <a16:creationId xmlns:a16="http://schemas.microsoft.com/office/drawing/2014/main" id="{C1B73E09-54CD-0FF1-826E-191AA816D76D}"/>
              </a:ext>
            </a:extLst>
          </p:cNvPr>
          <p:cNvSpPr>
            <a:spLocks noGrp="1"/>
          </p:cNvSpPr>
          <p:nvPr>
            <p:ph idx="1"/>
          </p:nvPr>
        </p:nvSpPr>
        <p:spPr>
          <a:xfrm>
            <a:off x="328613" y="2871243"/>
            <a:ext cx="6349317" cy="2769943"/>
          </a:xfrm>
        </p:spPr>
        <p:txBody>
          <a:bodyPr/>
          <a:lstStyle/>
          <a:p>
            <a:pPr marL="0" lvl="0" indent="0" eaLnBrk="0" fontAlgn="base" hangingPunct="0">
              <a:lnSpc>
                <a:spcPct val="150000"/>
              </a:lnSpc>
              <a:spcBef>
                <a:spcPct val="0"/>
              </a:spcBef>
              <a:spcAft>
                <a:spcPct val="0"/>
              </a:spcAft>
              <a:buNone/>
            </a:pPr>
            <a:r>
              <a:rPr lang="en-US" altLang="en-US"/>
              <a:t>Learn how to:</a:t>
            </a:r>
          </a:p>
          <a:p>
            <a:pPr lvl="1" eaLnBrk="0" fontAlgn="base" hangingPunct="0">
              <a:lnSpc>
                <a:spcPct val="150000"/>
              </a:lnSpc>
              <a:spcBef>
                <a:spcPct val="0"/>
              </a:spcBef>
              <a:spcAft>
                <a:spcPct val="0"/>
              </a:spcAft>
              <a:buFontTx/>
              <a:buChar char="•"/>
            </a:pPr>
            <a:r>
              <a:rPr lang="en-US" altLang="en-US" sz="1700"/>
              <a:t>present recommendations clearly and concisely </a:t>
            </a:r>
          </a:p>
          <a:p>
            <a:pPr lvl="1" eaLnBrk="0" fontAlgn="base" hangingPunct="0">
              <a:lnSpc>
                <a:spcPct val="150000"/>
              </a:lnSpc>
              <a:spcBef>
                <a:spcPct val="0"/>
              </a:spcBef>
              <a:spcAft>
                <a:spcPct val="0"/>
              </a:spcAft>
              <a:buFontTx/>
              <a:buChar char="•"/>
            </a:pPr>
            <a:r>
              <a:rPr lang="en-US" altLang="en-US" sz="1700"/>
              <a:t>support solutions with data and examples</a:t>
            </a:r>
          </a:p>
          <a:p>
            <a:pPr lvl="1" eaLnBrk="0" fontAlgn="base" hangingPunct="0">
              <a:lnSpc>
                <a:spcPct val="150000"/>
              </a:lnSpc>
              <a:spcBef>
                <a:spcPct val="0"/>
              </a:spcBef>
              <a:spcAft>
                <a:spcPct val="0"/>
              </a:spcAft>
              <a:buFontTx/>
              <a:buChar char="•"/>
            </a:pPr>
            <a:r>
              <a:rPr lang="en-US" altLang="en-US" sz="1700"/>
              <a:t> listen carefully to objections</a:t>
            </a:r>
          </a:p>
          <a:p>
            <a:pPr lvl="1" eaLnBrk="0" fontAlgn="base" hangingPunct="0">
              <a:lnSpc>
                <a:spcPct val="150000"/>
              </a:lnSpc>
              <a:spcBef>
                <a:spcPct val="0"/>
              </a:spcBef>
              <a:spcAft>
                <a:spcPct val="0"/>
              </a:spcAft>
              <a:buFontTx/>
              <a:buChar char="•"/>
            </a:pPr>
            <a:r>
              <a:rPr lang="en-US" altLang="en-US" sz="1700"/>
              <a:t> respond with confidence and professionalism</a:t>
            </a:r>
          </a:p>
          <a:p>
            <a:pPr lvl="1" eaLnBrk="0" fontAlgn="base" hangingPunct="0">
              <a:lnSpc>
                <a:spcPct val="150000"/>
              </a:lnSpc>
              <a:spcBef>
                <a:spcPct val="0"/>
              </a:spcBef>
              <a:spcAft>
                <a:spcPct val="0"/>
              </a:spcAft>
              <a:buFontTx/>
              <a:buChar char="•"/>
            </a:pPr>
            <a:r>
              <a:rPr lang="en-US" altLang="en-US" sz="1700"/>
              <a:t> focus on solutions, not challenges</a:t>
            </a:r>
            <a:endParaRPr lang="en-US" sz="1700"/>
          </a:p>
          <a:p>
            <a:pPr marL="0" indent="0">
              <a:buNone/>
            </a:pPr>
            <a:endParaRPr lang="en-US"/>
          </a:p>
          <a:p>
            <a:pPr marL="0" indent="0">
              <a:buNone/>
            </a:pPr>
            <a:endParaRPr lang="en-US"/>
          </a:p>
        </p:txBody>
      </p:sp>
      <p:pic>
        <p:nvPicPr>
          <p:cNvPr id="3" name="Picture 2">
            <a:extLst>
              <a:ext uri="{FF2B5EF4-FFF2-40B4-BE49-F238E27FC236}">
                <a16:creationId xmlns:a16="http://schemas.microsoft.com/office/drawing/2014/main" id="{A10FE3E0-5F58-C08F-F7F9-F3B44A2702F9}"/>
              </a:ext>
            </a:extLst>
          </p:cNvPr>
          <p:cNvPicPr>
            <a:picLocks noChangeAspect="1"/>
          </p:cNvPicPr>
          <p:nvPr/>
        </p:nvPicPr>
        <p:blipFill>
          <a:blip r:embed="rId4"/>
          <a:srcRect l="9651" t="-2452" r="3321" b="4686"/>
          <a:stretch>
            <a:fillRect/>
          </a:stretch>
        </p:blipFill>
        <p:spPr>
          <a:xfrm>
            <a:off x="7664593" y="2086292"/>
            <a:ext cx="1716156" cy="1769702"/>
          </a:xfrm>
          <a:prstGeom prst="rect">
            <a:avLst/>
          </a:prstGeom>
        </p:spPr>
      </p:pic>
      <p:pic>
        <p:nvPicPr>
          <p:cNvPr id="11" name="Picture 10">
            <a:extLst>
              <a:ext uri="{FF2B5EF4-FFF2-40B4-BE49-F238E27FC236}">
                <a16:creationId xmlns:a16="http://schemas.microsoft.com/office/drawing/2014/main" id="{B2A99E35-05D8-7FD7-5D7E-96B52DBE5E4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64263" y="2139839"/>
            <a:ext cx="1716155" cy="1716155"/>
          </a:xfrm>
          <a:prstGeom prst="rect">
            <a:avLst/>
          </a:prstGeom>
        </p:spPr>
      </p:pic>
      <p:pic>
        <p:nvPicPr>
          <p:cNvPr id="14" name="Picture 13">
            <a:extLst>
              <a:ext uri="{FF2B5EF4-FFF2-40B4-BE49-F238E27FC236}">
                <a16:creationId xmlns:a16="http://schemas.microsoft.com/office/drawing/2014/main" id="{6D9E4244-D723-92D9-CD44-BFA03E2298E8}"/>
              </a:ext>
            </a:extLst>
          </p:cNvPr>
          <p:cNvPicPr>
            <a:picLocks noChangeAspect="1"/>
          </p:cNvPicPr>
          <p:nvPr/>
        </p:nvPicPr>
        <p:blipFill>
          <a:blip r:embed="rId6"/>
          <a:stretch>
            <a:fillRect/>
          </a:stretch>
        </p:blipFill>
        <p:spPr>
          <a:xfrm>
            <a:off x="10638524" y="4852868"/>
            <a:ext cx="1053284" cy="1068161"/>
          </a:xfrm>
          <a:prstGeom prst="rect">
            <a:avLst/>
          </a:prstGeom>
        </p:spPr>
      </p:pic>
    </p:spTree>
    <p:extLst>
      <p:ext uri="{BB962C8B-B14F-4D97-AF65-F5344CB8AC3E}">
        <p14:creationId xmlns:p14="http://schemas.microsoft.com/office/powerpoint/2010/main" val="1613280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2D5F-ED60-650E-4E37-B0FF790286A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8BE9040-41D3-E4E8-4EFF-00FB5B37050F}"/>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22A0218A-68C8-4B1E-22BC-8184062CBD07}"/>
              </a:ext>
            </a:extLst>
          </p:cNvPr>
          <p:cNvSpPr>
            <a:spLocks noGrp="1"/>
          </p:cNvSpPr>
          <p:nvPr>
            <p:ph type="title"/>
          </p:nvPr>
        </p:nvSpPr>
        <p:spPr/>
        <p:txBody>
          <a:bodyPr/>
          <a:lstStyle/>
          <a:p>
            <a:r>
              <a:rPr lang="en-US"/>
              <a:t>Golden Futures Awards Program</a:t>
            </a:r>
          </a:p>
        </p:txBody>
      </p:sp>
      <p:sp>
        <p:nvSpPr>
          <p:cNvPr id="3" name="Content Placeholder 2">
            <a:extLst>
              <a:ext uri="{FF2B5EF4-FFF2-40B4-BE49-F238E27FC236}">
                <a16:creationId xmlns:a16="http://schemas.microsoft.com/office/drawing/2014/main" id="{6BCB9ACD-5A6F-DB44-76AF-5B27561E1E18}"/>
              </a:ext>
            </a:extLst>
          </p:cNvPr>
          <p:cNvSpPr>
            <a:spLocks noGrp="1"/>
          </p:cNvSpPr>
          <p:nvPr>
            <p:ph idx="1"/>
          </p:nvPr>
        </p:nvSpPr>
        <p:spPr>
          <a:xfrm>
            <a:off x="457200" y="1536370"/>
            <a:ext cx="5578443" cy="4375179"/>
          </a:xfrm>
        </p:spPr>
        <p:txBody>
          <a:bodyPr/>
          <a:lstStyle/>
          <a:p>
            <a:pPr marL="0" indent="0">
              <a:spcBef>
                <a:spcPts val="0"/>
              </a:spcBef>
              <a:spcAft>
                <a:spcPts val="600"/>
              </a:spcAft>
              <a:buNone/>
            </a:pPr>
            <a:r>
              <a:rPr lang="en-US" b="1"/>
              <a:t>Use Marketing Central to promote the Golden Future Awards today through July 31</a:t>
            </a:r>
            <a:r>
              <a:rPr lang="en-US" b="1" baseline="30000"/>
              <a:t>st</a:t>
            </a:r>
            <a:r>
              <a:rPr lang="en-US" b="1"/>
              <a:t>:</a:t>
            </a:r>
          </a:p>
          <a:p>
            <a:pPr marL="457200">
              <a:lnSpc>
                <a:spcPct val="100000"/>
              </a:lnSpc>
              <a:spcBef>
                <a:spcPts val="0"/>
              </a:spcBef>
              <a:spcAft>
                <a:spcPts val="600"/>
              </a:spcAft>
            </a:pPr>
            <a:r>
              <a:rPr lang="en-US"/>
              <a:t>Email (ID: 3246498)</a:t>
            </a:r>
          </a:p>
          <a:p>
            <a:pPr marL="457200">
              <a:lnSpc>
                <a:spcPct val="100000"/>
              </a:lnSpc>
              <a:spcBef>
                <a:spcPts val="0"/>
              </a:spcBef>
              <a:spcAft>
                <a:spcPts val="200"/>
              </a:spcAft>
            </a:pPr>
            <a:r>
              <a:rPr lang="en-US"/>
              <a:t>Social Post (ID: 3184567) </a:t>
            </a:r>
          </a:p>
          <a:p>
            <a:pPr marL="0" indent="0">
              <a:buNone/>
            </a:pPr>
            <a:endParaRPr lang="en-US"/>
          </a:p>
          <a:p>
            <a:pPr marL="0" indent="0">
              <a:buNone/>
            </a:pPr>
            <a:r>
              <a:rPr lang="en-US" b="1"/>
              <a:t>$100,000 in awards available for kids ages 5 through 16 nationwide:</a:t>
            </a:r>
          </a:p>
          <a:p>
            <a:r>
              <a:rPr lang="en-US"/>
              <a:t>50 $1,000 awards for kids 5-10</a:t>
            </a:r>
          </a:p>
          <a:p>
            <a:r>
              <a:rPr lang="en-US"/>
              <a:t>50 $1,000 awards for kids 11-16</a:t>
            </a:r>
          </a:p>
        </p:txBody>
      </p:sp>
      <p:sp>
        <p:nvSpPr>
          <p:cNvPr id="4" name="Text Placeholder 3">
            <a:extLst>
              <a:ext uri="{FF2B5EF4-FFF2-40B4-BE49-F238E27FC236}">
                <a16:creationId xmlns:a16="http://schemas.microsoft.com/office/drawing/2014/main" id="{9FE6800C-EE32-D9E2-CE3A-F4FA1763E43F}"/>
              </a:ext>
            </a:extLst>
          </p:cNvPr>
          <p:cNvSpPr>
            <a:spLocks noGrp="1"/>
          </p:cNvSpPr>
          <p:nvPr>
            <p:ph type="body" sz="quarter" idx="12"/>
          </p:nvPr>
        </p:nvSpPr>
        <p:spPr>
          <a:xfrm>
            <a:off x="439946" y="953242"/>
            <a:ext cx="11294854" cy="496033"/>
          </a:xfrm>
        </p:spPr>
        <p:txBody>
          <a:bodyPr/>
          <a:lstStyle/>
          <a:p>
            <a:r>
              <a:rPr lang="en-US" sz="2200"/>
              <a:t>Deadline is July 31, 2026</a:t>
            </a:r>
          </a:p>
        </p:txBody>
      </p:sp>
      <p:sp>
        <p:nvSpPr>
          <p:cNvPr id="6" name="Rectangle 5">
            <a:extLst>
              <a:ext uri="{FF2B5EF4-FFF2-40B4-BE49-F238E27FC236}">
                <a16:creationId xmlns:a16="http://schemas.microsoft.com/office/drawing/2014/main" id="{2F455505-341B-E25D-8D63-1A776F806ACB}"/>
              </a:ext>
            </a:extLst>
          </p:cNvPr>
          <p:cNvSpPr/>
          <p:nvPr/>
        </p:nvSpPr>
        <p:spPr bwMode="ltGray">
          <a:xfrm>
            <a:off x="6246343" y="4820094"/>
            <a:ext cx="5488452"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Isosceles Triangle 6">
            <a:extLst>
              <a:ext uri="{FF2B5EF4-FFF2-40B4-BE49-F238E27FC236}">
                <a16:creationId xmlns:a16="http://schemas.microsoft.com/office/drawing/2014/main" id="{D6B89B5A-5F08-C9B0-C76F-B63C3E86080F}"/>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8" name="TextBox 7">
            <a:extLst>
              <a:ext uri="{FF2B5EF4-FFF2-40B4-BE49-F238E27FC236}">
                <a16:creationId xmlns:a16="http://schemas.microsoft.com/office/drawing/2014/main" id="{4CC5132D-88EB-15CD-2FA5-F23AD559989B}"/>
              </a:ext>
            </a:extLst>
          </p:cNvPr>
          <p:cNvSpPr txBox="1"/>
          <p:nvPr/>
        </p:nvSpPr>
        <p:spPr>
          <a:xfrm>
            <a:off x="6652910" y="5123712"/>
            <a:ext cx="313631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for more details on Info Central</a:t>
            </a:r>
            <a:r>
              <a:rPr kumimoji="0" lang="en-US" sz="1600" b="0" i="0" u="none" strike="noStrike" kern="1200" cap="none" spc="0" normalizeH="0" baseline="0" noProof="0">
                <a:ln>
                  <a:noFill/>
                </a:ln>
                <a:solidFill>
                  <a:srgbClr val="7FB9FF"/>
                </a:solidFill>
                <a:effectLst/>
                <a:uLnTx/>
                <a:uFillTx/>
                <a:latin typeface="Arial"/>
                <a:ea typeface="+mn-ea"/>
                <a:cs typeface="+mn-cs"/>
              </a:rPr>
              <a:t>. </a:t>
            </a:r>
          </a:p>
        </p:txBody>
      </p:sp>
      <p:sp>
        <p:nvSpPr>
          <p:cNvPr id="9" name="Rectangle 8">
            <a:extLst>
              <a:ext uri="{FF2B5EF4-FFF2-40B4-BE49-F238E27FC236}">
                <a16:creationId xmlns:a16="http://schemas.microsoft.com/office/drawing/2014/main" id="{141BD906-0268-BDD4-476F-77385B3CBDB5}"/>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4" name="Picture 13">
            <a:extLst>
              <a:ext uri="{FF2B5EF4-FFF2-40B4-BE49-F238E27FC236}">
                <a16:creationId xmlns:a16="http://schemas.microsoft.com/office/drawing/2014/main" id="{745F5475-1603-6C04-7CA1-9E097ED1E56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46343" y="1763084"/>
            <a:ext cx="5486400" cy="2743200"/>
          </a:xfrm>
          <a:prstGeom prst="rect">
            <a:avLst/>
          </a:prstGeom>
        </p:spPr>
      </p:pic>
      <p:pic>
        <p:nvPicPr>
          <p:cNvPr id="5" name="Picture 4" descr="A qr code with a white text&#10;&#10;AI-generated content may be incorrect.">
            <a:extLst>
              <a:ext uri="{FF2B5EF4-FFF2-40B4-BE49-F238E27FC236}">
                <a16:creationId xmlns:a16="http://schemas.microsoft.com/office/drawing/2014/main" id="{6DBED330-59A9-932F-295E-A703646887A1}"/>
              </a:ext>
            </a:extLst>
          </p:cNvPr>
          <p:cNvPicPr>
            <a:picLocks noChangeAspect="1"/>
          </p:cNvPicPr>
          <p:nvPr/>
        </p:nvPicPr>
        <p:blipFill>
          <a:blip r:embed="rId4"/>
          <a:stretch>
            <a:fillRect/>
          </a:stretch>
        </p:blipFill>
        <p:spPr>
          <a:xfrm>
            <a:off x="10610158" y="4820093"/>
            <a:ext cx="1122586" cy="1122586"/>
          </a:xfrm>
          <a:prstGeom prst="rect">
            <a:avLst/>
          </a:prstGeom>
        </p:spPr>
      </p:pic>
    </p:spTree>
    <p:extLst>
      <p:ext uri="{BB962C8B-B14F-4D97-AF65-F5344CB8AC3E}">
        <p14:creationId xmlns:p14="http://schemas.microsoft.com/office/powerpoint/2010/main" val="503561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D4757F-A3BB-EAF7-80FD-0DA192D5B250}"/>
              </a:ext>
            </a:extLst>
          </p:cNvPr>
          <p:cNvSpPr>
            <a:spLocks noGrp="1"/>
          </p:cNvSpPr>
          <p:nvPr>
            <p:ph type="sldNum" sz="quarter" idx="4294967295"/>
          </p:nvPr>
        </p:nvSpPr>
        <p:spPr>
          <a:xfrm>
            <a:off x="11579107" y="6232230"/>
            <a:ext cx="430079" cy="365125"/>
          </a:xfrm>
          <a:prstGeom prst="rect">
            <a:avLst/>
          </a:prstGeom>
        </p:spPr>
        <p:txBody>
          <a:bodyPr lIns="91440" tIns="45720" rIns="91440" bIns="45720" anchor="t"/>
          <a:lstStyle/>
          <a:p>
            <a:endParaRPr lang="en-US">
              <a:cs typeface="Arial"/>
            </a:endParaRPr>
          </a:p>
        </p:txBody>
      </p:sp>
    </p:spTree>
    <p:custDataLst>
      <p:tags r:id="rId1"/>
    </p:custDataLst>
    <p:extLst>
      <p:ext uri="{BB962C8B-B14F-4D97-AF65-F5344CB8AC3E}">
        <p14:creationId xmlns:p14="http://schemas.microsoft.com/office/powerpoint/2010/main" val="2498404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6633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4AE0F-079C-B817-8060-C99E48795407}"/>
              </a:ext>
            </a:extLst>
          </p:cNvPr>
          <p:cNvSpPr>
            <a:spLocks noGrp="1"/>
          </p:cNvSpPr>
          <p:nvPr>
            <p:ph type="ctrTitle"/>
          </p:nvPr>
        </p:nvSpPr>
        <p:spPr/>
        <p:txBody>
          <a:bodyPr/>
          <a:lstStyle/>
          <a:p>
            <a:r>
              <a:rPr lang="en-US">
                <a:solidFill>
                  <a:srgbClr val="FFFFFF"/>
                </a:solidFill>
              </a:rPr>
              <a:t>THIS WEEK'S TRAINING</a:t>
            </a:r>
          </a:p>
        </p:txBody>
      </p:sp>
      <p:sp>
        <p:nvSpPr>
          <p:cNvPr id="3" name="Subtitle 2">
            <a:extLst>
              <a:ext uri="{FF2B5EF4-FFF2-40B4-BE49-F238E27FC236}">
                <a16:creationId xmlns:a16="http://schemas.microsoft.com/office/drawing/2014/main" id="{875BBB97-0704-4A5A-FDB3-8BC217C99A4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21239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3D43B-9300-5A26-111D-1D1F4F477B3B}"/>
              </a:ext>
            </a:extLst>
          </p:cNvPr>
          <p:cNvSpPr>
            <a:spLocks noGrp="1"/>
          </p:cNvSpPr>
          <p:nvPr>
            <p:ph type="ctrTitle"/>
          </p:nvPr>
        </p:nvSpPr>
        <p:spPr/>
        <p:txBody>
          <a:bodyPr/>
          <a:lstStyle/>
          <a:p>
            <a:r>
              <a:rPr lang="en-US"/>
              <a:t>What is a Center of Influence?</a:t>
            </a:r>
          </a:p>
        </p:txBody>
      </p:sp>
      <p:sp>
        <p:nvSpPr>
          <p:cNvPr id="3" name="Subtitle 2">
            <a:extLst>
              <a:ext uri="{FF2B5EF4-FFF2-40B4-BE49-F238E27FC236}">
                <a16:creationId xmlns:a16="http://schemas.microsoft.com/office/drawing/2014/main" id="{8AB0E16E-DA5F-3B05-8537-4B69065C786C}"/>
              </a:ext>
            </a:extLst>
          </p:cNvPr>
          <p:cNvSpPr>
            <a:spLocks noGrp="1"/>
          </p:cNvSpPr>
          <p:nvPr>
            <p:ph type="subTitle" idx="1"/>
          </p:nvPr>
        </p:nvSpPr>
        <p:spPr/>
        <p:txBody>
          <a:bodyPr/>
          <a:lstStyle/>
          <a:p>
            <a:r>
              <a:rPr lang="en-US"/>
              <a:t>Professionals who:
• Have access to people who need financial advice
• Already have the trust of their clients or contacts
• Can refer business without 'selling'
Common COIs for financial advisors:
→ Attorneys (estate planning, business)
→ Accountants and CPAs
→ Real estate agents
→ Business brokers
→ Other financial advisors
→ Doctors and medical professionals
→ Community leaders</a:t>
            </a:r>
          </a:p>
        </p:txBody>
      </p:sp>
    </p:spTree>
    <p:extLst>
      <p:ext uri="{BB962C8B-B14F-4D97-AF65-F5344CB8AC3E}">
        <p14:creationId xmlns:p14="http://schemas.microsoft.com/office/powerpoint/2010/main" val="4012567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795B1-E7B8-1BE4-FA42-D7998676E419}"/>
              </a:ext>
            </a:extLst>
          </p:cNvPr>
          <p:cNvSpPr>
            <a:spLocks noGrp="1"/>
          </p:cNvSpPr>
          <p:nvPr>
            <p:ph type="ctrTitle"/>
          </p:nvPr>
        </p:nvSpPr>
        <p:spPr/>
        <p:txBody>
          <a:bodyPr/>
          <a:lstStyle/>
          <a:p>
            <a:r>
              <a:rPr lang="en-US"/>
              <a:t>The 5-Step COI Framework</a:t>
            </a:r>
          </a:p>
        </p:txBody>
      </p:sp>
      <p:sp>
        <p:nvSpPr>
          <p:cNvPr id="3" name="Subtitle 2">
            <a:extLst>
              <a:ext uri="{FF2B5EF4-FFF2-40B4-BE49-F238E27FC236}">
                <a16:creationId xmlns:a16="http://schemas.microsoft.com/office/drawing/2014/main" id="{63BCD20F-22A0-129F-1645-9C0867A9B148}"/>
              </a:ext>
            </a:extLst>
          </p:cNvPr>
          <p:cNvSpPr>
            <a:spLocks noGrp="1"/>
          </p:cNvSpPr>
          <p:nvPr>
            <p:ph type="subTitle" idx="1"/>
          </p:nvPr>
        </p:nvSpPr>
        <p:spPr/>
        <p:txBody>
          <a:bodyPr/>
          <a:lstStyle/>
          <a:p>
            <a:r>
              <a:rPr lang="en-US"/>
              <a:t>Step 1: IDENTIFY
  Make a list of 20 potential COIs in your area
Step 2: RESEARCH
  Learn about their business before reaching out
Step 3: CONNECT
  Offer value first (not a pitch)
Step 4: NURTURE
  Build the relationship over 2-3 touchpoints
Step 5: ASK
  Then — and only then — ask for referrals
Success Metric: Maintain 10 active COI relationships</a:t>
            </a:r>
          </a:p>
        </p:txBody>
      </p:sp>
    </p:spTree>
    <p:extLst>
      <p:ext uri="{BB962C8B-B14F-4D97-AF65-F5344CB8AC3E}">
        <p14:creationId xmlns:p14="http://schemas.microsoft.com/office/powerpoint/2010/main" val="2162210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06C64-E5F1-E3E0-D88F-44B577C1B577}"/>
              </a:ext>
            </a:extLst>
          </p:cNvPr>
          <p:cNvSpPr>
            <a:spLocks noGrp="1"/>
          </p:cNvSpPr>
          <p:nvPr>
            <p:ph type="ctrTitle"/>
          </p:nvPr>
        </p:nvSpPr>
        <p:spPr/>
        <p:txBody>
          <a:bodyPr/>
          <a:lstStyle/>
          <a:p>
            <a:r>
              <a:rPr lang="en-US"/>
              <a:t>Step 1: Identify Your COIs</a:t>
            </a:r>
          </a:p>
        </p:txBody>
      </p:sp>
      <p:sp>
        <p:nvSpPr>
          <p:cNvPr id="3" name="Subtitle 2">
            <a:extLst>
              <a:ext uri="{FF2B5EF4-FFF2-40B4-BE49-F238E27FC236}">
                <a16:creationId xmlns:a16="http://schemas.microsoft.com/office/drawing/2014/main" id="{7160D159-35F0-BE6A-1F2C-1C8334E79FE6}"/>
              </a:ext>
            </a:extLst>
          </p:cNvPr>
          <p:cNvSpPr>
            <a:spLocks noGrp="1"/>
          </p:cNvSpPr>
          <p:nvPr>
            <p:ph type="subTitle" idx="1"/>
          </p:nvPr>
        </p:nvSpPr>
        <p:spPr/>
        <p:txBody>
          <a:bodyPr/>
          <a:lstStyle/>
          <a:p>
            <a:r>
              <a:rPr lang="en-US"/>
              <a:t>Where to find potential COIs:
• Local bar association — Estate planning attorneys
• CPA society — Tax accountants
• Real estate agent associations
• Business networking groups (Rotary, Lions, etc.)
• Chamber of Commerce
• LinkedIn searches by industry and location
Your Assignment This Week:
Write down 20 potential COIs with:
• Name
• Profession
• How you know them (or could be introduced)</a:t>
            </a:r>
          </a:p>
        </p:txBody>
      </p:sp>
    </p:spTree>
    <p:extLst>
      <p:ext uri="{BB962C8B-B14F-4D97-AF65-F5344CB8AC3E}">
        <p14:creationId xmlns:p14="http://schemas.microsoft.com/office/powerpoint/2010/main" val="2962219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04AB8-BA9D-0FCA-D84F-4D9E5FC39123}"/>
              </a:ext>
            </a:extLst>
          </p:cNvPr>
          <p:cNvSpPr>
            <a:spLocks noGrp="1"/>
          </p:cNvSpPr>
          <p:nvPr>
            <p:ph type="ctrTitle"/>
          </p:nvPr>
        </p:nvSpPr>
        <p:spPr/>
        <p:txBody>
          <a:bodyPr/>
          <a:lstStyle/>
          <a:p>
            <a:r>
              <a:rPr lang="en-US"/>
              <a:t>Step 2: Research Before Connecting</a:t>
            </a:r>
          </a:p>
        </p:txBody>
      </p:sp>
      <p:sp>
        <p:nvSpPr>
          <p:cNvPr id="3" name="Subtitle 2">
            <a:extLst>
              <a:ext uri="{FF2B5EF4-FFF2-40B4-BE49-F238E27FC236}">
                <a16:creationId xmlns:a16="http://schemas.microsoft.com/office/drawing/2014/main" id="{8E6C1889-ED21-9809-1E38-0260CC0EC6CF}"/>
              </a:ext>
            </a:extLst>
          </p:cNvPr>
          <p:cNvSpPr>
            <a:spLocks noGrp="1"/>
          </p:cNvSpPr>
          <p:nvPr>
            <p:ph type="subTitle" idx="1"/>
          </p:nvPr>
        </p:nvSpPr>
        <p:spPr/>
        <p:txBody>
          <a:bodyPr/>
          <a:lstStyle/>
          <a:p>
            <a:r>
              <a:rPr lang="en-US"/>
              <a:t>Before you reach out, learn about them:
• Visit their website — What services do they offer?
• Check their LinkedIn — What content do they share?
• Read their bio — What's their background?
• Look for common ground — Same college? Same community?
• Find recent news — Did they win an award?
Why it matters:
'I read your article about...' stands out from
'Hey, wanna partner up?'</a:t>
            </a:r>
          </a:p>
        </p:txBody>
      </p:sp>
    </p:spTree>
    <p:extLst>
      <p:ext uri="{BB962C8B-B14F-4D97-AF65-F5344CB8AC3E}">
        <p14:creationId xmlns:p14="http://schemas.microsoft.com/office/powerpoint/2010/main" val="24939285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103FE-CB8F-1DB3-1D80-24A91CE28929}"/>
              </a:ext>
            </a:extLst>
          </p:cNvPr>
          <p:cNvSpPr>
            <a:spLocks noGrp="1"/>
          </p:cNvSpPr>
          <p:nvPr>
            <p:ph type="ctrTitle"/>
          </p:nvPr>
        </p:nvSpPr>
        <p:spPr/>
        <p:txBody>
          <a:bodyPr/>
          <a:lstStyle/>
          <a:p>
            <a:r>
              <a:rPr lang="en-US"/>
              <a:t>Step 3: Connect with Value</a:t>
            </a:r>
          </a:p>
        </p:txBody>
      </p:sp>
      <p:sp>
        <p:nvSpPr>
          <p:cNvPr id="3" name="Subtitle 2">
            <a:extLst>
              <a:ext uri="{FF2B5EF4-FFF2-40B4-BE49-F238E27FC236}">
                <a16:creationId xmlns:a16="http://schemas.microsoft.com/office/drawing/2014/main" id="{5A8215E6-6DDD-AED2-9CCB-8EB0DEB01D01}"/>
              </a:ext>
            </a:extLst>
          </p:cNvPr>
          <p:cNvSpPr>
            <a:spLocks noGrp="1"/>
          </p:cNvSpPr>
          <p:nvPr>
            <p:ph type="subTitle" idx="1"/>
          </p:nvPr>
        </p:nvSpPr>
        <p:spPr/>
        <p:txBody>
          <a:bodyPr/>
          <a:lstStyle/>
          <a:p>
            <a:r>
              <a:rPr lang="en-US"/>
              <a:t>Never lead with a pitch. Lead with value:
Option A: Share useful information
'I saw your post about estate planning. I work with clients on similar issues and thought this article might be helpful for your clients.'
Option B: Offer a free resource
'We put together a retirement planning guide that your clients might find useful. Happy to drop off a few copies.'
Option C: Suggest a meeting
'I'm building relationships with professionals in the area. Would you be open to a 15-minute coffee chat?'</a:t>
            </a:r>
          </a:p>
        </p:txBody>
      </p:sp>
    </p:spTree>
    <p:extLst>
      <p:ext uri="{BB962C8B-B14F-4D97-AF65-F5344CB8AC3E}">
        <p14:creationId xmlns:p14="http://schemas.microsoft.com/office/powerpoint/2010/main" val="607871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ADF78-23EB-470F-F010-DB84DF9EBD60}"/>
              </a:ext>
            </a:extLst>
          </p:cNvPr>
          <p:cNvSpPr>
            <a:spLocks noGrp="1"/>
          </p:cNvSpPr>
          <p:nvPr>
            <p:ph type="ctrTitle"/>
          </p:nvPr>
        </p:nvSpPr>
        <p:spPr/>
        <p:txBody>
          <a:bodyPr/>
          <a:lstStyle/>
          <a:p>
            <a:r>
              <a:rPr lang="en-US"/>
              <a:t>Step 4: Nurture the Relationship</a:t>
            </a:r>
          </a:p>
        </p:txBody>
      </p:sp>
      <p:sp>
        <p:nvSpPr>
          <p:cNvPr id="3" name="Subtitle 2">
            <a:extLst>
              <a:ext uri="{FF2B5EF4-FFF2-40B4-BE49-F238E27FC236}">
                <a16:creationId xmlns:a16="http://schemas.microsoft.com/office/drawing/2014/main" id="{77750474-25BD-D92C-0777-9BE12FA836EF}"/>
              </a:ext>
            </a:extLst>
          </p:cNvPr>
          <p:cNvSpPr>
            <a:spLocks noGrp="1"/>
          </p:cNvSpPr>
          <p:nvPr>
            <p:ph type="subTitle" idx="1"/>
          </p:nvPr>
        </p:nvSpPr>
        <p:spPr/>
        <p:txBody>
          <a:bodyPr/>
          <a:lstStyle/>
          <a:p>
            <a:r>
              <a:rPr lang="en-US"/>
              <a:t>Relationships aren't built in one meeting. Nurture them:
• Connect on LinkedIn — Engage with their posts
• Send relevant articles — 'Saw this and thought of you'
• Invite to events — Webinars, lunch-and-learns
• Personal notes — Birthday, holiday cards
• Refer business to them — Before you ask for anything
Rule: Give 3 times before you ask once.
Make referrals to them without expecting anything in return.</a:t>
            </a:r>
          </a:p>
        </p:txBody>
      </p:sp>
    </p:spTree>
    <p:extLst>
      <p:ext uri="{BB962C8B-B14F-4D97-AF65-F5344CB8AC3E}">
        <p14:creationId xmlns:p14="http://schemas.microsoft.com/office/powerpoint/2010/main" val="19802588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C1AF0-A133-0038-BB88-3880FABE1EA2}"/>
              </a:ext>
            </a:extLst>
          </p:cNvPr>
          <p:cNvSpPr>
            <a:spLocks noGrp="1"/>
          </p:cNvSpPr>
          <p:nvPr>
            <p:ph type="ctrTitle"/>
          </p:nvPr>
        </p:nvSpPr>
        <p:spPr/>
        <p:txBody>
          <a:bodyPr/>
          <a:lstStyle/>
          <a:p>
            <a:r>
              <a:rPr lang="en-US"/>
              <a:t>Step 5: Ask for Referrals</a:t>
            </a:r>
          </a:p>
        </p:txBody>
      </p:sp>
      <p:sp>
        <p:nvSpPr>
          <p:cNvPr id="3" name="Subtitle 2">
            <a:extLst>
              <a:ext uri="{FF2B5EF4-FFF2-40B4-BE49-F238E27FC236}">
                <a16:creationId xmlns:a16="http://schemas.microsoft.com/office/drawing/2014/main" id="{51E6EB79-8C8A-89D6-DEB9-3D73666EB662}"/>
              </a:ext>
            </a:extLst>
          </p:cNvPr>
          <p:cNvSpPr>
            <a:spLocks noGrp="1"/>
          </p:cNvSpPr>
          <p:nvPr>
            <p:ph type="subTitle" idx="1"/>
          </p:nvPr>
        </p:nvSpPr>
        <p:spPr/>
        <p:txBody>
          <a:bodyPr/>
          <a:lstStyle/>
          <a:p>
            <a:r>
              <a:rPr lang="en-US"/>
              <a:t>When to ask:
• After a positive interaction
• When they've mentioned a client with a need
• After you've referred business to them
The exact words:
'I've really enjoyed getting to know you. I'm looking to help more [business owners / families / retirees] in the area. Do you know anyone who might benefit from a conversation about [specific need]?'
Get two names:
'Who else do you know who might find this helpful? I'd be happy to handle the introduction.'</a:t>
            </a:r>
          </a:p>
        </p:txBody>
      </p:sp>
    </p:spTree>
    <p:extLst>
      <p:ext uri="{BB962C8B-B14F-4D97-AF65-F5344CB8AC3E}">
        <p14:creationId xmlns:p14="http://schemas.microsoft.com/office/powerpoint/2010/main" val="21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0739A-9378-127A-9634-5E4AC5306A95}"/>
              </a:ext>
            </a:extLst>
          </p:cNvPr>
          <p:cNvSpPr>
            <a:spLocks noGrp="1"/>
          </p:cNvSpPr>
          <p:nvPr>
            <p:ph type="ctrTitle"/>
          </p:nvPr>
        </p:nvSpPr>
        <p:spPr/>
        <p:txBody>
          <a:bodyPr/>
          <a:lstStyle/>
          <a:p>
            <a:r>
              <a:rPr lang="en-US"/>
              <a:t>Common COI Mistakes to Avoid</a:t>
            </a:r>
          </a:p>
        </p:txBody>
      </p:sp>
      <p:sp>
        <p:nvSpPr>
          <p:cNvPr id="3" name="Subtitle 2">
            <a:extLst>
              <a:ext uri="{FF2B5EF4-FFF2-40B4-BE49-F238E27FC236}">
                <a16:creationId xmlns:a16="http://schemas.microsoft.com/office/drawing/2014/main" id="{97C66D75-6839-C080-65B4-8CE2A06D4C3C}"/>
              </a:ext>
            </a:extLst>
          </p:cNvPr>
          <p:cNvSpPr>
            <a:spLocks noGrp="1"/>
          </p:cNvSpPr>
          <p:nvPr>
            <p:ph type="subTitle" idx="1"/>
          </p:nvPr>
        </p:nvSpPr>
        <p:spPr/>
        <p:txBody>
          <a:bodyPr/>
          <a:lstStyle/>
          <a:p>
            <a:r>
              <a:rPr lang="en-US"/>
              <a:t>Mistake #1: Asking too soon
  → Don't ask for referrals in the first meeting
Mistake #2: Being vague
  → Say exactly who you're looking for
Mistake #3: Not following up
  → Set a specific follow-up date
Mistake #4: Taking without giving
  → Refer to them first. Be a source, not just a taker.
Mistake #5: Giving up too fast
  → COI relationships take 3-6 months to mature</a:t>
            </a:r>
          </a:p>
        </p:txBody>
      </p:sp>
    </p:spTree>
    <p:extLst>
      <p:ext uri="{BB962C8B-B14F-4D97-AF65-F5344CB8AC3E}">
        <p14:creationId xmlns:p14="http://schemas.microsoft.com/office/powerpoint/2010/main" val="834662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9F8AC-03A6-B2D6-66DD-26D84146292A}"/>
              </a:ext>
            </a:extLst>
          </p:cNvPr>
          <p:cNvSpPr>
            <a:spLocks noGrp="1"/>
          </p:cNvSpPr>
          <p:nvPr>
            <p:ph type="ctrTitle"/>
          </p:nvPr>
        </p:nvSpPr>
        <p:spPr/>
        <p:txBody>
          <a:bodyPr/>
          <a:lstStyle/>
          <a:p>
            <a:r>
              <a:rPr lang="en-US"/>
              <a:t>Participant Exercise</a:t>
            </a:r>
          </a:p>
        </p:txBody>
      </p:sp>
      <p:sp>
        <p:nvSpPr>
          <p:cNvPr id="3" name="Subtitle 2">
            <a:extLst>
              <a:ext uri="{FF2B5EF4-FFF2-40B4-BE49-F238E27FC236}">
                <a16:creationId xmlns:a16="http://schemas.microsoft.com/office/drawing/2014/main" id="{8A16173E-7519-3AF0-1DBB-1570145AC18C}"/>
              </a:ext>
            </a:extLst>
          </p:cNvPr>
          <p:cNvSpPr>
            <a:spLocks noGrp="1"/>
          </p:cNvSpPr>
          <p:nvPr>
            <p:ph type="subTitle" idx="1"/>
          </p:nvPr>
        </p:nvSpPr>
        <p:spPr/>
        <p:txBody>
          <a:bodyPr/>
          <a:lstStyle/>
          <a:p>
            <a:r>
              <a:rPr lang="en-US"/>
              <a:t>Your Assignment This Week:
1. IDENTIFY: Write down 20 potential COIs in your area
   (Attorneys, CPAs, real estate agents, business owners)
2. RESEARCH: Pick 5 to start. Learn about their business.
3. CONNECT: Reach out to at least 3 this week with value.
4. SCHEDULE: Set up at least 1 coffee meeting.
Be specific: Write down names, how you'll reach out, and when.</a:t>
            </a:r>
          </a:p>
        </p:txBody>
      </p:sp>
    </p:spTree>
    <p:extLst>
      <p:ext uri="{BB962C8B-B14F-4D97-AF65-F5344CB8AC3E}">
        <p14:creationId xmlns:p14="http://schemas.microsoft.com/office/powerpoint/2010/main" val="5055459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7B52-7D2E-450D-8B8D-6A663549620A}"/>
              </a:ext>
            </a:extLst>
          </p:cNvPr>
          <p:cNvSpPr>
            <a:spLocks noGrp="1"/>
          </p:cNvSpPr>
          <p:nvPr>
            <p:ph type="ctrTitle"/>
          </p:nvPr>
        </p:nvSpPr>
        <p:spPr/>
        <p:txBody>
          <a:bodyPr/>
          <a:lstStyle/>
          <a:p>
            <a:r>
              <a:rPr lang="en-US"/>
              <a:t>Coach's Takeaway</a:t>
            </a:r>
          </a:p>
        </p:txBody>
      </p:sp>
      <p:sp>
        <p:nvSpPr>
          <p:cNvPr id="3" name="Subtitle 2">
            <a:extLst>
              <a:ext uri="{FF2B5EF4-FFF2-40B4-BE49-F238E27FC236}">
                <a16:creationId xmlns:a16="http://schemas.microsoft.com/office/drawing/2014/main" id="{99857906-05A5-7CFA-753C-CB9F5268B43F}"/>
              </a:ext>
            </a:extLst>
          </p:cNvPr>
          <p:cNvSpPr>
            <a:spLocks noGrp="1"/>
          </p:cNvSpPr>
          <p:nvPr>
            <p:ph type="subTitle" idx="1"/>
          </p:nvPr>
        </p:nvSpPr>
        <p:spPr/>
        <p:txBody>
          <a:bodyPr/>
          <a:lstStyle/>
          <a:p>
            <a:r>
              <a:rPr lang="en-US"/>
              <a:t>'Your network is your net worth. The advisors who build strong COI relationships never have to worry about where their next lead is coming from.'
Your next action:
Open LinkedIn right now and send connection requests to 5 potential COIs in your area.</a:t>
            </a:r>
          </a:p>
        </p:txBody>
      </p:sp>
    </p:spTree>
    <p:extLst>
      <p:ext uri="{BB962C8B-B14F-4D97-AF65-F5344CB8AC3E}">
        <p14:creationId xmlns:p14="http://schemas.microsoft.com/office/powerpoint/2010/main" val="3971285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NYL LIGHT BACKGROUND 16&quot;9" val="f6b4XTqc"/>
  <p:tag name="ARTICULATE_DESIGN_ID_1_NYL LIGHT BACKGROUND 16-9" val="BFT0Q3hc"/>
  <p:tag name="ARTICULATE_DESIGN_ID_ELEVATE LIGHT BLUE BACKGROUND 16-9" val="56JHHY8a"/>
  <p:tag name="ARTICULATE_PROJECT_OPEN" val="0"/>
  <p:tag name="ARTICULATE_SLIDE_COUNT" val="3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47f6b69-869e-4c41-9d5e-fe8f13ced780">
      <UserInfo>
        <DisplayName>Ferguson, Michael S. (Mike)</DisplayName>
        <AccountId>25</AccountId>
        <AccountType/>
      </UserInfo>
      <UserInfo>
        <DisplayName>Cirrincione, Deborah (Debbie)</DisplayName>
        <AccountId>147</AccountId>
        <AccountType/>
      </UserInfo>
      <UserInfo>
        <DisplayName>Gulisano, James F. (Jamie)</DisplayName>
        <AccountId>28</AccountId>
        <AccountType/>
      </UserInfo>
      <UserInfo>
        <DisplayName>Mariutto, Jennifer M.</DisplayName>
        <AccountId>16</AccountId>
        <AccountType/>
      </UserInfo>
    </SharedWithUsers>
    <lcf76f155ced4ddcb4097134ff3c332f xmlns="abd4c5a8-5e9b-4ebb-86d5-bd1c985aa943">
      <Terms xmlns="http://schemas.microsoft.com/office/infopath/2007/PartnerControls"/>
    </lcf76f155ced4ddcb4097134ff3c332f>
    <TaxCatchAll xmlns="647f6b69-869e-4c41-9d5e-fe8f13ced78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0FF98AD7B18894893F9BA7B26E8F221" ma:contentTypeVersion="16" ma:contentTypeDescription="Create a new document." ma:contentTypeScope="" ma:versionID="5630d7bc11b528ee56e498a81dee2f34">
  <xsd:schema xmlns:xsd="http://www.w3.org/2001/XMLSchema" xmlns:xs="http://www.w3.org/2001/XMLSchema" xmlns:p="http://schemas.microsoft.com/office/2006/metadata/properties" xmlns:ns2="abd4c5a8-5e9b-4ebb-86d5-bd1c985aa943" xmlns:ns3="647f6b69-869e-4c41-9d5e-fe8f13ced780" targetNamespace="http://schemas.microsoft.com/office/2006/metadata/properties" ma:root="true" ma:fieldsID="f33788119400f79395c509cf4b427a15" ns2:_="" ns3:_="">
    <xsd:import namespace="abd4c5a8-5e9b-4ebb-86d5-bd1c985aa943"/>
    <xsd:import namespace="647f6b69-869e-4c41-9d5e-fe8f13ced78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4c5a8-5e9b-4ebb-86d5-bd1c985aa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829bdbf-11ca-4188-ad5e-419b837c316a"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7f6b69-869e-4c41-9d5e-fe8f13ced78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ca427226-213a-430f-b387-c3c8fb506ff3}" ma:internalName="TaxCatchAll" ma:showField="CatchAllData" ma:web="647f6b69-869e-4c41-9d5e-fe8f13ced7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258A8F-586B-499B-90F0-AA26C728EB82}">
  <ds:schemaRefs>
    <ds:schemaRef ds:uri="http://schemas.microsoft.com/office/2006/metadata/properties"/>
    <ds:schemaRef ds:uri="http://schemas.microsoft.com/office/2006/documentManagement/types"/>
    <ds:schemaRef ds:uri="http://purl.org/dc/terms/"/>
    <ds:schemaRef ds:uri="http://purl.org/dc/dcmitype/"/>
    <ds:schemaRef ds:uri="http://www.w3.org/XML/1998/namespace"/>
    <ds:schemaRef ds:uri="http://purl.org/dc/elements/1.1/"/>
    <ds:schemaRef ds:uri="647f6b69-869e-4c41-9d5e-fe8f13ced780"/>
    <ds:schemaRef ds:uri="http://schemas.microsoft.com/office/infopath/2007/PartnerControls"/>
    <ds:schemaRef ds:uri="http://schemas.openxmlformats.org/package/2006/metadata/core-properties"/>
    <ds:schemaRef ds:uri="abd4c5a8-5e9b-4ebb-86d5-bd1c985aa943"/>
  </ds:schemaRefs>
</ds:datastoreItem>
</file>

<file path=customXml/itemProps2.xml><?xml version="1.0" encoding="utf-8"?>
<ds:datastoreItem xmlns:ds="http://schemas.openxmlformats.org/officeDocument/2006/customXml" ds:itemID="{EF327CDC-FC1B-45F8-B39E-D812521109CB}">
  <ds:schemaRefs>
    <ds:schemaRef ds:uri="http://schemas.microsoft.com/sharepoint/v3/contenttype/forms"/>
  </ds:schemaRefs>
</ds:datastoreItem>
</file>

<file path=customXml/itemProps3.xml><?xml version="1.0" encoding="utf-8"?>
<ds:datastoreItem xmlns:ds="http://schemas.openxmlformats.org/officeDocument/2006/customXml" ds:itemID="{05059A10-470E-4EB6-85FC-05DF2D468150}">
  <ds:schemaRefs>
    <ds:schemaRef ds:uri="647f6b69-869e-4c41-9d5e-fe8f13ced780"/>
    <ds:schemaRef ds:uri="abd4c5a8-5e9b-4ebb-86d5-bd1c985aa94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180</TotalTime>
  <Words>4670</Words>
  <Application>Microsoft Office PowerPoint</Application>
  <PresentationFormat>Widescreen</PresentationFormat>
  <Paragraphs>356</Paragraphs>
  <Slides>34</Slides>
  <Notes>14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34</vt:i4>
      </vt:variant>
    </vt:vector>
  </HeadingPairs>
  <TitlesOfParts>
    <vt:vector size="48" baseType="lpstr">
      <vt:lpstr>Alda Pro</vt:lpstr>
      <vt:lpstr>Aptos</vt:lpstr>
      <vt:lpstr>Arial</vt:lpstr>
      <vt:lpstr>Arial Narrow</vt:lpstr>
      <vt:lpstr>Calibri</vt:lpstr>
      <vt:lpstr>Effra</vt:lpstr>
      <vt:lpstr>Effra Medium</vt:lpstr>
      <vt:lpstr>Effra Pro</vt:lpstr>
      <vt:lpstr>Georgia</vt:lpstr>
      <vt:lpstr>System Font Regular</vt:lpstr>
      <vt:lpstr>Wingdings</vt:lpstr>
      <vt:lpstr>1_Light Blue</vt:lpstr>
      <vt:lpstr>Light Blue</vt:lpstr>
      <vt:lpstr>2_Light Blue</vt:lpstr>
      <vt:lpstr>PowerPoint Presentation</vt:lpstr>
      <vt:lpstr>TOP PERFORMERS</vt:lpstr>
      <vt:lpstr>MARKET WEEK OVERVIEW
Week Ended: July 2, 2026</vt:lpstr>
      <vt:lpstr>KEY ECONOMIC DATA</vt:lpstr>
      <vt:lpstr>NOTABLE EARNINGS</vt:lpstr>
      <vt:lpstr>ECONOMIC CALENDAR
Week of July 6-10, 2026</vt:lpstr>
      <vt:lpstr>EARNINGS CALENDAR
Week of July 6-10, 2026</vt:lpstr>
      <vt:lpstr>FED, RATES &amp; MACRO WATCH</vt:lpstr>
      <vt:lpstr>CLIENT TALKING POINTS</vt:lpstr>
      <vt:lpstr>New Org:  What’s important week of  July 6</vt:lpstr>
      <vt:lpstr>Start 3Q with timely reasons to connect</vt:lpstr>
      <vt:lpstr>PowerPoint Presentation</vt:lpstr>
      <vt:lpstr>Executive Council Rocky Mountain Crocs™ Giveaway Experience</vt:lpstr>
      <vt:lpstr>President's Council Beachfront Boutique Experience</vt:lpstr>
      <vt:lpstr>Awards Your Way</vt:lpstr>
      <vt:lpstr>EWL Momentum Maker continues through July 31</vt:lpstr>
      <vt:lpstr>3Q 2026 Registered Rep MasterClass </vt:lpstr>
      <vt:lpstr>3Q Life Fundamentals Series</vt:lpstr>
      <vt:lpstr>Target Markets Upcoming Webinars</vt:lpstr>
      <vt:lpstr>NYLIFE Securities Essentials Webinar</vt:lpstr>
      <vt:lpstr>Join us July 8 for the new agent educational call</vt:lpstr>
      <vt:lpstr>Golden Futures Awards Program</vt:lpstr>
      <vt:lpstr>PowerPoint Presentation</vt:lpstr>
      <vt:lpstr>THIS WEEK'S TRAINING</vt:lpstr>
      <vt:lpstr>What is a Center of Influence?</vt:lpstr>
      <vt:lpstr>The 5-Step COI Framework</vt:lpstr>
      <vt:lpstr>Step 1: Identify Your COIs</vt:lpstr>
      <vt:lpstr>Step 2: Research Before Connecting</vt:lpstr>
      <vt:lpstr>Step 3: Connect with Value</vt:lpstr>
      <vt:lpstr>Step 4: Nurture the Relationship</vt:lpstr>
      <vt:lpstr>Step 5: Ask for Referrals</vt:lpstr>
      <vt:lpstr>Common COI Mistakes to Avoid</vt:lpstr>
      <vt:lpstr>Participant Exercise</vt:lpstr>
      <vt:lpstr>Coach's Takeaway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Mariutto, Jennifer M.</dc:creator>
  <cp:lastModifiedBy>Dave Guilford</cp:lastModifiedBy>
  <cp:revision>19</cp:revision>
  <cp:lastPrinted>2026-05-27T22:34:09Z</cp:lastPrinted>
  <dcterms:created xsi:type="dcterms:W3CDTF">2022-07-12T13:52:57Z</dcterms:created>
  <dcterms:modified xsi:type="dcterms:W3CDTF">2026-07-03T03:54:38Z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0x01010080FF98AD7B18894893F9BA7B26E8F221</vt:lpwstr>
  </property>
  <property fmtid="{D5CDD505-2E9C-101B-9397-08002B2CF9AE}" pid="3" name="MediaServiceImageTags">
    <vt:lpwstr/>
  </property>
  <property fmtid="{D5CDD505-2E9C-101B-9397-08002B2CF9AE}" pid="4" name="ArticulateGUID">
    <vt:lpwstr>93C0923A-4E14-470D-A1D5-300874841ADD</vt:lpwstr>
  </property>
  <property fmtid="{D5CDD505-2E9C-101B-9397-08002B2CF9AE}" pid="5" name="ArticulatePath">
    <vt:lpwstr>https://newyorklife-my.sharepoint.com/personal/ssubramani07_newyorklife_com/Documents/Desktop/Agency Comms/New Org Slides/New Org and manager slide deck/NewOrgSlides_for_Management_Update</vt:lpwstr>
  </property>
  <property fmtid="{D5CDD505-2E9C-101B-9397-08002B2CF9AE}" pid="6" name="MSIP_Label_8f0b5d98-aa4b-42ad-b5be-1e75bbcbb7d7_ActionId">
    <vt:lpwstr>4c43cdb1-80ab-4e5b-baad-d5201017abba</vt:lpwstr>
  </property>
  <property fmtid="{D5CDD505-2E9C-101B-9397-08002B2CF9AE}" pid="7" name="MSIP_Label_8f0b5d98-aa4b-42ad-b5be-1e75bbcbb7d7_SiteId">
    <vt:lpwstr>a651e8f0-93d2-41c2-88b6-e8c5a1ad2375</vt:lpwstr>
  </property>
  <property fmtid="{D5CDD505-2E9C-101B-9397-08002B2CF9AE}" pid="8" name="MSIP_Label_8f0b5d98-aa4b-42ad-b5be-1e75bbcbb7d7_Method">
    <vt:lpwstr>Standard</vt:lpwstr>
  </property>
  <property fmtid="{D5CDD505-2E9C-101B-9397-08002B2CF9AE}" pid="9" name="MSIP_Label_8f0b5d98-aa4b-42ad-b5be-1e75bbcbb7d7_Name">
    <vt:lpwstr>Internal-pilot</vt:lpwstr>
  </property>
  <property fmtid="{D5CDD505-2E9C-101B-9397-08002B2CF9AE}" pid="10" name="MSIP_Label_8f0b5d98-aa4b-42ad-b5be-1e75bbcbb7d7_ContentBits">
    <vt:lpwstr>0</vt:lpwstr>
  </property>
  <property fmtid="{D5CDD505-2E9C-101B-9397-08002B2CF9AE}" pid="11" name="MSIP_Label_8f0b5d98-aa4b-42ad-b5be-1e75bbcbb7d7_Enabled">
    <vt:lpwstr>true</vt:lpwstr>
  </property>
  <property fmtid="{D5CDD505-2E9C-101B-9397-08002B2CF9AE}" pid="12" name="MSIP_Label_8f0b5d98-aa4b-42ad-b5be-1e75bbcbb7d7_Tag">
    <vt:lpwstr>10, 3, 0, 2</vt:lpwstr>
  </property>
  <property fmtid="{D5CDD505-2E9C-101B-9397-08002B2CF9AE}" pid="13" name="MSIP_Label_8f0b5d98-aa4b-42ad-b5be-1e75bbcbb7d7_SetDate">
    <vt:lpwstr>2025-07-31T18:26:42Z</vt:lpwstr>
  </property>
</Properties>
</file>